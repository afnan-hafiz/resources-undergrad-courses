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6" roundtripDataSignature="AMtx7mhHFR+tQLaXDLkh4xPWos+a5JWZ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9" name="Google Shape;5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8" name="Google Shape;6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7" name="Google Shape;8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9" name="Google Shape;9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8" name="Google Shape;11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9" name="Google Shape;12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6" name="Google Shape;16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6" name="Google Shape;18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4" name="Google Shape;20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3" name="Google Shape;22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2" name="Google Shape;2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5" name="Google Shape;26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0" name="Google Shape;28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1" name="Google Shape;29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9" name="Google Shape;29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4" name="Google Shape;31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9" name="Google Shape;3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48" name="Google Shape;34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9" name="Google Shape;3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70" name="Google Shape;37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89" name="Google Shape;38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7" name="Google Shape;40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39" name="Google Shape;43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47" name="Google Shape;44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65" name="Google Shape;46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84" name="Google Shape;48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03" name="Google Shape;50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19" name="Google Shape;51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31" name="Google Shape;53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52" name="Google Shape;55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63" name="Google Shape;56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74" name="Google Shape;57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85" name="Google Shape;58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96" name="Google Shape;59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22" name="Google Shape;62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42" name="Google Shape;64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61" name="Google Shape;66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80" name="Google Shape;68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88" name="Google Shape;68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 name="Google Shape;689;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00" name="Google Shape;70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15" name="Google Shape;71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30" name="Google Shape;73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1" name="Google Shape;73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46" name="Google Shape;74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62" name="Google Shape;76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3" name="Google Shape;763;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77" name="Google Shape;77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2" name="Google Shape;79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99" name="Google Shape;79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19" name="Google Shape;81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0" name="Google Shape;82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39" name="Google Shape;839;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1b77600437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4" name="Google Shape;854;g1b77600437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1b776004378_0_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62" name="Google Shape;862;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1" name="Shape 11"/>
        <p:cNvGrpSpPr/>
        <p:nvPr/>
      </p:nvGrpSpPr>
      <p:grpSpPr>
        <a:xfrm>
          <a:off x="0" y="0"/>
          <a:ext cx="0" cy="0"/>
          <a:chOff x="0" y="0"/>
          <a:chExt cx="0" cy="0"/>
        </a:xfrm>
      </p:grpSpPr>
      <p:sp>
        <p:nvSpPr>
          <p:cNvPr id="12" name="Google Shape;12;p62"/>
          <p:cNvSpPr txBox="1"/>
          <p:nvPr>
            <p:ph idx="1" type="body"/>
          </p:nvPr>
        </p:nvSpPr>
        <p:spPr>
          <a:xfrm>
            <a:off x="628650" y="365125"/>
            <a:ext cx="7886700" cy="58118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3" name="Google Shape;13;p62"/>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63"/>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64"/>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8" name="Google Shape;18;p6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9" name="Google Shape;19;p64"/>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65"/>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2" name="Google Shape;22;p65"/>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65"/>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6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6" name="Google Shape;26;p6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7" name="Google Shape;27;p66"/>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6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0" name="Google Shape;30;p67"/>
          <p:cNvSpPr/>
          <p:nvPr>
            <p:ph idx="2" type="pic"/>
          </p:nvPr>
        </p:nvSpPr>
        <p:spPr>
          <a:xfrm>
            <a:off x="3887788" y="987425"/>
            <a:ext cx="4629150" cy="4873625"/>
          </a:xfrm>
          <a:prstGeom prst="rect">
            <a:avLst/>
          </a:prstGeom>
          <a:noFill/>
          <a:ln>
            <a:noFill/>
          </a:ln>
        </p:spPr>
      </p:sp>
      <p:sp>
        <p:nvSpPr>
          <p:cNvPr id="31" name="Google Shape;31;p67"/>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2" name="Google Shape;32;p67"/>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68"/>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5" name="Google Shape;35;p68"/>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36" name="Google Shape;36;p68"/>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7" name="Google Shape;37;p68"/>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0" name="Google Shape;40;p69"/>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0"/>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3" name="Google Shape;43;p70"/>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4" name="Google Shape;44;p70"/>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5" name="Google Shape;45;p70"/>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6" name="Google Shape;46;p70"/>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70"/>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1"/>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0" name="Google Shape;50;p71"/>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1" name="Google Shape;51;p71"/>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2" name="Google Shape;52;p71"/>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72"/>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5" name="Google Shape;55;p72"/>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56" name="Google Shape;56;p72"/>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1"/>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10.</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Forouzan4e07_banner" id="63" name="Google Shape;63;p1"/>
          <p:cNvPicPr preferRelativeResize="0"/>
          <p:nvPr>
            <p:ph idx="1" type="body"/>
          </p:nvPr>
        </p:nvPicPr>
        <p:blipFill rotWithShape="1">
          <a:blip r:embed="rId3">
            <a:alphaModFix/>
          </a:blip>
          <a:srcRect b="0" l="0" r="0" t="0"/>
          <a:stretch/>
        </p:blipFill>
        <p:spPr>
          <a:xfrm>
            <a:off x="0" y="0"/>
            <a:ext cx="9144000" cy="1096962"/>
          </a:xfrm>
          <a:prstGeom prst="rect">
            <a:avLst/>
          </a:prstGeom>
          <a:noFill/>
          <a:ln>
            <a:noFill/>
          </a:ln>
        </p:spPr>
      </p:pic>
      <p:sp>
        <p:nvSpPr>
          <p:cNvPr id="64" name="Google Shape;64;p1"/>
          <p:cNvSpPr txBox="1"/>
          <p:nvPr/>
        </p:nvSpPr>
        <p:spPr>
          <a:xfrm>
            <a:off x="1143000" y="2514600"/>
            <a:ext cx="6858000" cy="30765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Chapter 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Arial"/>
                <a:ea typeface="Arial"/>
                <a:cs typeface="Arial"/>
                <a:sym typeface="Arial"/>
              </a:rPr>
              <a:t>Error Detection </a:t>
            </a:r>
            <a:br>
              <a:rPr b="1" i="0" lang="en-US" sz="4400" u="none" cap="none" strike="noStrike">
                <a:solidFill>
                  <a:schemeClr val="dk1"/>
                </a:solidFill>
                <a:latin typeface="Arial"/>
                <a:ea typeface="Arial"/>
                <a:cs typeface="Arial"/>
                <a:sym typeface="Arial"/>
              </a:rPr>
            </a:br>
            <a:r>
              <a:rPr b="1" i="0" lang="en-US" sz="4400" u="none" cap="none" strike="noStrike">
                <a:solidFill>
                  <a:schemeClr val="dk1"/>
                </a:solidFill>
                <a:latin typeface="Arial"/>
                <a:ea typeface="Arial"/>
                <a:cs typeface="Arial"/>
                <a:sym typeface="Arial"/>
              </a:rPr>
              <a:t>and </a:t>
            </a:r>
            <a:br>
              <a:rPr b="1" i="0" lang="en-US" sz="4400" u="none" cap="none" strike="noStrike">
                <a:solidFill>
                  <a:schemeClr val="dk1"/>
                </a:solidFill>
                <a:latin typeface="Arial"/>
                <a:ea typeface="Arial"/>
                <a:cs typeface="Arial"/>
                <a:sym typeface="Arial"/>
              </a:rPr>
            </a:br>
            <a:r>
              <a:rPr b="1" i="0" lang="en-US" sz="4400" u="none" cap="none" strike="noStrike">
                <a:solidFill>
                  <a:schemeClr val="dk1"/>
                </a:solidFill>
                <a:latin typeface="Arial"/>
                <a:ea typeface="Arial"/>
                <a:cs typeface="Arial"/>
                <a:sym typeface="Arial"/>
              </a:rPr>
              <a:t>Correction</a:t>
            </a:r>
            <a:endParaRPr b="0" i="0" sz="1400" u="none" cap="none" strike="noStrike">
              <a:solidFill>
                <a:srgbClr val="000000"/>
              </a:solidFill>
              <a:latin typeface="Arial"/>
              <a:ea typeface="Arial"/>
              <a:cs typeface="Arial"/>
              <a:sym typeface="Arial"/>
            </a:endParaRPr>
          </a:p>
        </p:txBody>
      </p:sp>
      <p:sp>
        <p:nvSpPr>
          <p:cNvPr id="65" name="Google Shape;65;p1"/>
          <p:cNvSpPr txBox="1"/>
          <p:nvPr/>
        </p:nvSpPr>
        <p:spPr>
          <a:xfrm>
            <a:off x="0" y="6507162"/>
            <a:ext cx="914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Copyright © The McGraw-Hill Companies, Inc. Permission required for reproduction or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2" name="Google Shape;72;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 name="Google Shape;73;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4" name="Google Shape;74;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 name="Google Shape;75;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6" name="Google Shape;76;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7" name="Google Shape;77;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 name="Google Shape;78;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79" name="Google Shape;79;p2"/>
          <p:cNvCxnSpPr/>
          <p:nvPr/>
        </p:nvCxnSpPr>
        <p:spPr>
          <a:xfrm>
            <a:off x="531812" y="19812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80" name="Google Shape;80;p2"/>
          <p:cNvCxnSpPr/>
          <p:nvPr/>
        </p:nvCxnSpPr>
        <p:spPr>
          <a:xfrm>
            <a:off x="533400" y="47244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81" name="Google Shape;81;p2"/>
          <p:cNvSpPr txBox="1"/>
          <p:nvPr/>
        </p:nvSpPr>
        <p:spPr>
          <a:xfrm>
            <a:off x="569912" y="2073275"/>
            <a:ext cx="8077200" cy="2528887"/>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Data can be corrupted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during transmission.</a:t>
            </a:r>
            <a:br>
              <a:rPr b="1" i="0" lang="en-US" sz="32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Some applications require that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errors be detected and corrected.</a:t>
            </a:r>
            <a:endParaRPr b="0" i="0" sz="1400" u="none" cap="none" strike="noStrike">
              <a:solidFill>
                <a:srgbClr val="000000"/>
              </a:solidFill>
              <a:latin typeface="Arial"/>
              <a:ea typeface="Arial"/>
              <a:cs typeface="Arial"/>
              <a:sym typeface="Arial"/>
            </a:endParaRPr>
          </a:p>
        </p:txBody>
      </p:sp>
      <p:grpSp>
        <p:nvGrpSpPr>
          <p:cNvPr id="82" name="Google Shape;82;p2"/>
          <p:cNvGrpSpPr/>
          <p:nvPr/>
        </p:nvGrpSpPr>
        <p:grpSpPr>
          <a:xfrm>
            <a:off x="533400" y="1338262"/>
            <a:ext cx="1143000" cy="566737"/>
            <a:chOff x="1200" y="1248"/>
            <a:chExt cx="720" cy="357"/>
          </a:xfrm>
        </p:grpSpPr>
        <p:pic>
          <p:nvPicPr>
            <p:cNvPr id="83" name="Google Shape;83;p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4" name="Google Shape;84;p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1" name="Google Shape;91;p3"/>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92" name="Google Shape;92;p3"/>
          <p:cNvSpPr txBox="1"/>
          <p:nvPr/>
        </p:nvSpPr>
        <p:spPr>
          <a:xfrm>
            <a:off x="228600" y="406400"/>
            <a:ext cx="44878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10-1   INTRODUCTION</a:t>
            </a:r>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94" name="Google Shape;94;p3"/>
          <p:cNvSpPr txBox="1"/>
          <p:nvPr/>
        </p:nvSpPr>
        <p:spPr>
          <a:xfrm>
            <a:off x="304800" y="1600200"/>
            <a:ext cx="82296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first discuss some issues related, directly or indirectly, to error detection and correction.</a:t>
            </a:r>
            <a:endParaRPr b="0" i="0" sz="1400" u="none" cap="none" strike="noStrike">
              <a:solidFill>
                <a:srgbClr val="000000"/>
              </a:solidFill>
              <a:latin typeface="Arial"/>
              <a:ea typeface="Arial"/>
              <a:cs typeface="Arial"/>
              <a:sym typeface="Arial"/>
            </a:endParaRPr>
          </a:p>
        </p:txBody>
      </p:sp>
      <p:sp>
        <p:nvSpPr>
          <p:cNvPr id="95" name="Google Shape;95;p3"/>
          <p:cNvSpPr txBox="1"/>
          <p:nvPr/>
        </p:nvSpPr>
        <p:spPr>
          <a:xfrm>
            <a:off x="152400" y="3371850"/>
            <a:ext cx="8382000" cy="2282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Types of Errors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Redundancy</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Detection Versus Correction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Forward Error Correction Versus Retransmission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Coding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Modular Arithmetic</a:t>
            </a:r>
            <a:endParaRPr b="0" i="0" sz="1400" u="none" cap="none" strike="noStrike">
              <a:solidFill>
                <a:srgbClr val="000000"/>
              </a:solidFill>
              <a:latin typeface="Arial"/>
              <a:ea typeface="Arial"/>
              <a:cs typeface="Arial"/>
              <a:sym typeface="Arial"/>
            </a:endParaRPr>
          </a:p>
        </p:txBody>
      </p:sp>
      <p:sp>
        <p:nvSpPr>
          <p:cNvPr id="96" name="Google Shape;96;p3"/>
          <p:cNvSpPr txBox="1"/>
          <p:nvPr/>
        </p:nvSpPr>
        <p:spPr>
          <a:xfrm>
            <a:off x="165100" y="28956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4" name="Google Shape;104;p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5" name="Google Shape;105;p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6" name="Google Shape;106;p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7" name="Google Shape;107;p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8" name="Google Shape;108;p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9" name="Google Shape;109;p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110" name="Google Shape;110;p4"/>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11" name="Google Shape;111;p4"/>
          <p:cNvCxnSpPr/>
          <p:nvPr/>
        </p:nvCxnSpPr>
        <p:spPr>
          <a:xfrm>
            <a:off x="458787" y="3886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12" name="Google Shape;112;p4"/>
          <p:cNvSpPr txBox="1"/>
          <p:nvPr/>
        </p:nvSpPr>
        <p:spPr>
          <a:xfrm>
            <a:off x="495300" y="2759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a single-bit error, only 1 bit in the data unit has changed.</a:t>
            </a:r>
            <a:endParaRPr b="0" i="0" sz="1400" u="none" cap="none" strike="noStrike">
              <a:solidFill>
                <a:srgbClr val="000000"/>
              </a:solidFill>
              <a:latin typeface="Arial"/>
              <a:ea typeface="Arial"/>
              <a:cs typeface="Arial"/>
              <a:sym typeface="Arial"/>
            </a:endParaRPr>
          </a:p>
        </p:txBody>
      </p:sp>
      <p:grpSp>
        <p:nvGrpSpPr>
          <p:cNvPr id="113" name="Google Shape;113;p4"/>
          <p:cNvGrpSpPr/>
          <p:nvPr/>
        </p:nvGrpSpPr>
        <p:grpSpPr>
          <a:xfrm>
            <a:off x="533400" y="1947862"/>
            <a:ext cx="1143000" cy="566737"/>
            <a:chOff x="1200" y="1248"/>
            <a:chExt cx="720" cy="357"/>
          </a:xfrm>
        </p:grpSpPr>
        <p:pic>
          <p:nvPicPr>
            <p:cNvPr id="114" name="Google Shape;114;p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15" name="Google Shape;115;p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22" name="Google Shape;122;p5"/>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23" name="Google Shape;123;p5"/>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24" name="Google Shape;124;p5"/>
          <p:cNvSpPr txBox="1"/>
          <p:nvPr/>
        </p:nvSpPr>
        <p:spPr>
          <a:xfrm>
            <a:off x="304800" y="762000"/>
            <a:ext cx="3419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10.1  </a:t>
            </a:r>
            <a:r>
              <a:rPr b="1" i="1" lang="en-US" sz="2000" u="none" cap="none" strike="noStrike">
                <a:solidFill>
                  <a:schemeClr val="dk1"/>
                </a:solidFill>
                <a:latin typeface="Times New Roman"/>
                <a:ea typeface="Times New Roman"/>
                <a:cs typeface="Times New Roman"/>
                <a:sym typeface="Times New Roman"/>
              </a:rPr>
              <a:t>Single-bit error</a:t>
            </a:r>
            <a:endParaRPr b="0" i="0" sz="1400" u="none" cap="none" strike="noStrike">
              <a:solidFill>
                <a:srgbClr val="000000"/>
              </a:solidFill>
              <a:latin typeface="Arial"/>
              <a:ea typeface="Arial"/>
              <a:cs typeface="Arial"/>
              <a:sym typeface="Arial"/>
            </a:endParaRPr>
          </a:p>
        </p:txBody>
      </p:sp>
      <p:cxnSp>
        <p:nvCxnSpPr>
          <p:cNvPr id="125" name="Google Shape;125;p5"/>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26" name="Google Shape;126;p5"/>
          <p:cNvPicPr preferRelativeResize="0"/>
          <p:nvPr/>
        </p:nvPicPr>
        <p:blipFill rotWithShape="1">
          <a:blip r:embed="rId3">
            <a:alphaModFix/>
          </a:blip>
          <a:srcRect b="0" l="0" r="0" t="0"/>
          <a:stretch/>
        </p:blipFill>
        <p:spPr>
          <a:xfrm>
            <a:off x="495300" y="2587625"/>
            <a:ext cx="8153400" cy="1682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3" name="Google Shape;133;p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4" name="Google Shape;134;p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5" name="Google Shape;135;p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6" name="Google Shape;136;p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7" name="Google Shape;137;p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8" name="Google Shape;138;p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39" name="Google Shape;139;p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140" name="Google Shape;140;p6"/>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41" name="Google Shape;141;p6"/>
          <p:cNvCxnSpPr/>
          <p:nvPr/>
        </p:nvCxnSpPr>
        <p:spPr>
          <a:xfrm>
            <a:off x="458787" y="3886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42" name="Google Shape;142;p6"/>
          <p:cNvSpPr txBox="1"/>
          <p:nvPr/>
        </p:nvSpPr>
        <p:spPr>
          <a:xfrm>
            <a:off x="495300" y="2759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 burst error means that 2 or more bits in the data unit have changed.</a:t>
            </a:r>
            <a:endParaRPr b="0" i="0" sz="1400" u="none" cap="none" strike="noStrike">
              <a:solidFill>
                <a:srgbClr val="000000"/>
              </a:solidFill>
              <a:latin typeface="Arial"/>
              <a:ea typeface="Arial"/>
              <a:cs typeface="Arial"/>
              <a:sym typeface="Arial"/>
            </a:endParaRPr>
          </a:p>
        </p:txBody>
      </p:sp>
      <p:grpSp>
        <p:nvGrpSpPr>
          <p:cNvPr id="143" name="Google Shape;143;p6"/>
          <p:cNvGrpSpPr/>
          <p:nvPr/>
        </p:nvGrpSpPr>
        <p:grpSpPr>
          <a:xfrm>
            <a:off x="533400" y="2024062"/>
            <a:ext cx="1143000" cy="566737"/>
            <a:chOff x="1200" y="1248"/>
            <a:chExt cx="720" cy="357"/>
          </a:xfrm>
        </p:grpSpPr>
        <p:pic>
          <p:nvPicPr>
            <p:cNvPr id="144" name="Google Shape;144;p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45" name="Google Shape;145;p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52" name="Google Shape;152;p7"/>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53" name="Google Shape;153;p7"/>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54" name="Google Shape;154;p7"/>
          <p:cNvSpPr txBox="1"/>
          <p:nvPr/>
        </p:nvSpPr>
        <p:spPr>
          <a:xfrm>
            <a:off x="304800" y="762000"/>
            <a:ext cx="41751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10.2  </a:t>
            </a:r>
            <a:r>
              <a:rPr b="1" i="1" lang="en-US" sz="2000" u="none" cap="none" strike="noStrike">
                <a:solidFill>
                  <a:schemeClr val="dk1"/>
                </a:solidFill>
                <a:latin typeface="Times New Roman"/>
                <a:ea typeface="Times New Roman"/>
                <a:cs typeface="Times New Roman"/>
                <a:sym typeface="Times New Roman"/>
              </a:rPr>
              <a:t>Burst error of length 8</a:t>
            </a:r>
            <a:endParaRPr b="0" i="0" sz="1400" u="none" cap="none" strike="noStrike">
              <a:solidFill>
                <a:srgbClr val="000000"/>
              </a:solidFill>
              <a:latin typeface="Arial"/>
              <a:ea typeface="Arial"/>
              <a:cs typeface="Arial"/>
              <a:sym typeface="Arial"/>
            </a:endParaRPr>
          </a:p>
        </p:txBody>
      </p:sp>
      <p:cxnSp>
        <p:nvCxnSpPr>
          <p:cNvPr id="155" name="Google Shape;155;p7"/>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56" name="Google Shape;156;p7"/>
          <p:cNvPicPr preferRelativeResize="0"/>
          <p:nvPr/>
        </p:nvPicPr>
        <p:blipFill rotWithShape="1">
          <a:blip r:embed="rId3">
            <a:alphaModFix/>
          </a:blip>
          <a:srcRect b="0" l="0" r="0" t="0"/>
          <a:stretch/>
        </p:blipFill>
        <p:spPr>
          <a:xfrm>
            <a:off x="987425" y="1698625"/>
            <a:ext cx="7167562" cy="34591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Redundancy</a:t>
            </a:r>
            <a:endParaRPr/>
          </a:p>
        </p:txBody>
      </p:sp>
      <p:sp>
        <p:nvSpPr>
          <p:cNvPr id="162" name="Google Shape;162;p8"/>
          <p:cNvSpPr txBox="1"/>
          <p:nvPr>
            <p:ph idx="1" type="body"/>
          </p:nvPr>
        </p:nvSpPr>
        <p:spPr>
          <a:xfrm>
            <a:off x="533400" y="1371600"/>
            <a:ext cx="7886700"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The central concept in error detection and correction</a:t>
            </a:r>
            <a:endParaRPr/>
          </a:p>
          <a:p>
            <a:pPr indent="-220980" lvl="0" marL="342900" marR="0" rtl="0" algn="l">
              <a:lnSpc>
                <a:spcPct val="100000"/>
              </a:lnSpc>
              <a:spcBef>
                <a:spcPts val="640"/>
              </a:spcBef>
              <a:spcAft>
                <a:spcPts val="0"/>
              </a:spcAft>
              <a:buClr>
                <a:schemeClr val="folHlink"/>
              </a:buClr>
              <a:buSzPts val="1920"/>
              <a:buFont typeface="Noto Sans Symbols"/>
              <a:buNone/>
            </a:pPr>
            <a:r>
              <a:t/>
            </a:r>
            <a:endParaRPr b="0"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The redundant bits are added by the sender and removed by the receiver</a:t>
            </a:r>
            <a:endParaRPr/>
          </a:p>
          <a:p>
            <a:pPr indent="-220980" lvl="0" marL="342900" marR="0" rtl="0" algn="l">
              <a:lnSpc>
                <a:spcPct val="100000"/>
              </a:lnSpc>
              <a:spcBef>
                <a:spcPts val="640"/>
              </a:spcBef>
              <a:spcAft>
                <a:spcPts val="0"/>
              </a:spcAft>
              <a:buClr>
                <a:schemeClr val="folHlink"/>
              </a:buClr>
              <a:buSzPts val="1920"/>
              <a:buFont typeface="Noto Sans Symbols"/>
              <a:buNone/>
            </a:pPr>
            <a:r>
              <a:t/>
            </a:r>
            <a:endParaRPr b="0"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Their presence helps the receiver to detect and correct corrupted bits</a:t>
            </a:r>
            <a:endParaRPr/>
          </a:p>
        </p:txBody>
      </p:sp>
      <p:sp>
        <p:nvSpPr>
          <p:cNvPr id="163" name="Google Shape;163;p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br>
              <a:rPr b="0" i="0" lang="en-US" sz="4400" u="none">
                <a:solidFill>
                  <a:schemeClr val="dk2"/>
                </a:solidFill>
                <a:latin typeface="tahoma"/>
                <a:ea typeface="tahoma"/>
                <a:cs typeface="tahoma"/>
                <a:sym typeface="tahoma"/>
              </a:rPr>
            </a:br>
            <a:r>
              <a:rPr b="0" i="0" lang="en-US" sz="4400" u="none">
                <a:solidFill>
                  <a:schemeClr val="dk2"/>
                </a:solidFill>
                <a:latin typeface="tahoma"/>
                <a:ea typeface="tahoma"/>
                <a:cs typeface="tahoma"/>
                <a:sym typeface="tahoma"/>
              </a:rPr>
              <a:t>Redundancy</a:t>
            </a:r>
            <a:endParaRPr/>
          </a:p>
        </p:txBody>
      </p:sp>
      <p:sp>
        <p:nvSpPr>
          <p:cNvPr id="170" name="Google Shape;170;p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1" name="Google Shape;171;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2" name="Google Shape;172;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3" name="Google Shape;173;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4" name="Google Shape;174;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5" name="Google Shape;175;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6" name="Google Shape;176;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7" name="Google Shape;177;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178" name="Google Shape;178;p9"/>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79" name="Google Shape;179;p9"/>
          <p:cNvCxnSpPr/>
          <p:nvPr/>
        </p:nvCxnSpPr>
        <p:spPr>
          <a:xfrm>
            <a:off x="458787" y="3886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80" name="Google Shape;180;p9"/>
          <p:cNvSpPr txBox="1"/>
          <p:nvPr/>
        </p:nvSpPr>
        <p:spPr>
          <a:xfrm>
            <a:off x="495300" y="2759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To detect or correct errors, we need to send extra (redundant) bits with data.</a:t>
            </a:r>
            <a:endParaRPr b="0" i="0" sz="1400" u="none" cap="none" strike="noStrike">
              <a:solidFill>
                <a:srgbClr val="000000"/>
              </a:solidFill>
              <a:latin typeface="Arial"/>
              <a:ea typeface="Arial"/>
              <a:cs typeface="Arial"/>
              <a:sym typeface="Arial"/>
            </a:endParaRPr>
          </a:p>
        </p:txBody>
      </p:sp>
      <p:grpSp>
        <p:nvGrpSpPr>
          <p:cNvPr id="181" name="Google Shape;181;p9"/>
          <p:cNvGrpSpPr/>
          <p:nvPr/>
        </p:nvGrpSpPr>
        <p:grpSpPr>
          <a:xfrm>
            <a:off x="533400" y="2024062"/>
            <a:ext cx="1143000" cy="566737"/>
            <a:chOff x="1200" y="1248"/>
            <a:chExt cx="720" cy="357"/>
          </a:xfrm>
        </p:grpSpPr>
        <p:pic>
          <p:nvPicPr>
            <p:cNvPr id="182" name="Google Shape;182;p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83" name="Google Shape;183;p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90" name="Google Shape;190;p10"/>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91" name="Google Shape;191;p10"/>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92" name="Google Shape;192;p10"/>
          <p:cNvSpPr txBox="1"/>
          <p:nvPr/>
        </p:nvSpPr>
        <p:spPr>
          <a:xfrm>
            <a:off x="304800" y="762000"/>
            <a:ext cx="57340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10.3  </a:t>
            </a:r>
            <a:r>
              <a:rPr b="1" i="1" lang="en-US" sz="2000" u="none" cap="none" strike="noStrike">
                <a:solidFill>
                  <a:schemeClr val="dk1"/>
                </a:solidFill>
                <a:latin typeface="Times New Roman"/>
                <a:ea typeface="Times New Roman"/>
                <a:cs typeface="Times New Roman"/>
                <a:sym typeface="Times New Roman"/>
              </a:rPr>
              <a:t>The structure of encoder and decoder</a:t>
            </a:r>
            <a:endParaRPr b="0" i="0" sz="1400" u="none" cap="none" strike="noStrike">
              <a:solidFill>
                <a:srgbClr val="000000"/>
              </a:solidFill>
              <a:latin typeface="Arial"/>
              <a:ea typeface="Arial"/>
              <a:cs typeface="Arial"/>
              <a:sym typeface="Arial"/>
            </a:endParaRPr>
          </a:p>
        </p:txBody>
      </p:sp>
      <p:cxnSp>
        <p:nvCxnSpPr>
          <p:cNvPr id="193" name="Google Shape;193;p1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94" name="Google Shape;194;p10"/>
          <p:cNvPicPr preferRelativeResize="0"/>
          <p:nvPr/>
        </p:nvPicPr>
        <p:blipFill rotWithShape="1">
          <a:blip r:embed="rId3">
            <a:alphaModFix/>
          </a:blip>
          <a:srcRect b="0" l="0" r="0" t="0"/>
          <a:stretch/>
        </p:blipFill>
        <p:spPr>
          <a:xfrm>
            <a:off x="130175" y="1943100"/>
            <a:ext cx="8785225" cy="3543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Coding</a:t>
            </a:r>
            <a:endParaRPr/>
          </a:p>
        </p:txBody>
      </p:sp>
      <p:sp>
        <p:nvSpPr>
          <p:cNvPr id="200" name="Google Shape;200;p11"/>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Redundancy is achieved through various coding schemes</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The coding schemes are divided into two broad categories</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Block coding</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Convolution coding</a:t>
            </a:r>
            <a:endParaRPr/>
          </a:p>
          <a:p>
            <a:pPr indent="-220980" lvl="0" marL="342900" marR="0" rtl="0" algn="l">
              <a:lnSpc>
                <a:spcPct val="100000"/>
              </a:lnSpc>
              <a:spcBef>
                <a:spcPts val="64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p:txBody>
      </p:sp>
      <p:sp>
        <p:nvSpPr>
          <p:cNvPr id="201" name="Google Shape;201;p1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8" name="Google Shape;208;p1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09" name="Google Shape;209;p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0" name="Google Shape;210;p1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1" name="Google Shape;211;p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2" name="Google Shape;212;p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3" name="Google Shape;213;p1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4" name="Google Shape;214;p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215" name="Google Shape;215;p12"/>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216" name="Google Shape;216;p12"/>
          <p:cNvCxnSpPr/>
          <p:nvPr/>
        </p:nvCxnSpPr>
        <p:spPr>
          <a:xfrm>
            <a:off x="458787" y="4419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217" name="Google Shape;217;p12"/>
          <p:cNvSpPr txBox="1"/>
          <p:nvPr/>
        </p:nvSpPr>
        <p:spPr>
          <a:xfrm>
            <a:off x="495300" y="2759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this book, we concentrate on block codes; we leave convolution codes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to advanced texts.</a:t>
            </a:r>
            <a:endParaRPr b="0" i="0" sz="1400" u="none" cap="none" strike="noStrike">
              <a:solidFill>
                <a:srgbClr val="000000"/>
              </a:solidFill>
              <a:latin typeface="Arial"/>
              <a:ea typeface="Arial"/>
              <a:cs typeface="Arial"/>
              <a:sym typeface="Arial"/>
            </a:endParaRPr>
          </a:p>
        </p:txBody>
      </p:sp>
      <p:grpSp>
        <p:nvGrpSpPr>
          <p:cNvPr id="218" name="Google Shape;218;p12"/>
          <p:cNvGrpSpPr/>
          <p:nvPr/>
        </p:nvGrpSpPr>
        <p:grpSpPr>
          <a:xfrm>
            <a:off x="533400" y="2024062"/>
            <a:ext cx="1143000" cy="566737"/>
            <a:chOff x="1200" y="1248"/>
            <a:chExt cx="720" cy="357"/>
          </a:xfrm>
        </p:grpSpPr>
        <p:pic>
          <p:nvPicPr>
            <p:cNvPr id="219" name="Google Shape;219;p1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20" name="Google Shape;220;p1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 name="Shape 225"/>
        <p:cNvGrpSpPr/>
        <p:nvPr/>
      </p:nvGrpSpPr>
      <p:grpSpPr>
        <a:xfrm>
          <a:off x="0" y="0"/>
          <a:ext cx="0" cy="0"/>
          <a:chOff x="0" y="0"/>
          <a:chExt cx="0" cy="0"/>
        </a:xfrm>
      </p:grpSpPr>
      <p:sp>
        <p:nvSpPr>
          <p:cNvPr id="226" name="Google Shape;226;p1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7" name="Google Shape;227;p1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28" name="Google Shape;228;p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29" name="Google Shape;229;p1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30" name="Google Shape;230;p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31" name="Google Shape;231;p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32" name="Google Shape;232;p1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33" name="Google Shape;233;p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234" name="Google Shape;234;p13"/>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235" name="Google Shape;235;p13"/>
          <p:cNvCxnSpPr/>
          <p:nvPr/>
        </p:nvCxnSpPr>
        <p:spPr>
          <a:xfrm>
            <a:off x="458787" y="3886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236" name="Google Shape;236;p13"/>
          <p:cNvSpPr txBox="1"/>
          <p:nvPr/>
        </p:nvSpPr>
        <p:spPr>
          <a:xfrm>
            <a:off x="495300" y="2759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modulo-N arithmetic, we use only the integers in the range 0 to N −1, inclusive.</a:t>
            </a:r>
            <a:endParaRPr b="0" i="0" sz="1400" u="none" cap="none" strike="noStrike">
              <a:solidFill>
                <a:srgbClr val="000000"/>
              </a:solidFill>
              <a:latin typeface="Arial"/>
              <a:ea typeface="Arial"/>
              <a:cs typeface="Arial"/>
              <a:sym typeface="Arial"/>
            </a:endParaRPr>
          </a:p>
        </p:txBody>
      </p:sp>
      <p:grpSp>
        <p:nvGrpSpPr>
          <p:cNvPr id="237" name="Google Shape;237;p13"/>
          <p:cNvGrpSpPr/>
          <p:nvPr/>
        </p:nvGrpSpPr>
        <p:grpSpPr>
          <a:xfrm>
            <a:off x="533400" y="2024062"/>
            <a:ext cx="1143000" cy="566737"/>
            <a:chOff x="1200" y="1248"/>
            <a:chExt cx="720" cy="357"/>
          </a:xfrm>
        </p:grpSpPr>
        <p:pic>
          <p:nvPicPr>
            <p:cNvPr id="238" name="Google Shape;238;p1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39" name="Google Shape;239;p13"/>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6" name="Google Shape;246;p14"/>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47" name="Google Shape;247;p14"/>
          <p:cNvSpPr txBox="1"/>
          <p:nvPr/>
        </p:nvSpPr>
        <p:spPr>
          <a:xfrm>
            <a:off x="228600" y="406400"/>
            <a:ext cx="44751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10-2   BLOCK CODING</a:t>
            </a:r>
            <a:endParaRPr b="0" i="0" sz="1400" u="none" cap="none" strike="noStrike">
              <a:solidFill>
                <a:srgbClr val="000000"/>
              </a:solidFill>
              <a:latin typeface="Arial"/>
              <a:ea typeface="Arial"/>
              <a:cs typeface="Arial"/>
              <a:sym typeface="Arial"/>
            </a:endParaRPr>
          </a:p>
        </p:txBody>
      </p:sp>
      <p:sp>
        <p:nvSpPr>
          <p:cNvPr id="248" name="Google Shape;248;p1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49" name="Google Shape;249;p14"/>
          <p:cNvSpPr txBox="1"/>
          <p:nvPr/>
        </p:nvSpPr>
        <p:spPr>
          <a:xfrm>
            <a:off x="304800" y="1377950"/>
            <a:ext cx="82296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In block coding, we divide our message into blocks, each of k bits, called </a:t>
            </a:r>
            <a:r>
              <a:rPr b="1" i="1" lang="en-US" sz="2800" u="none" cap="none" strike="noStrike">
                <a:solidFill>
                  <a:schemeClr val="hlink"/>
                </a:solidFill>
                <a:latin typeface="Times New Roman"/>
                <a:ea typeface="Times New Roman"/>
                <a:cs typeface="Times New Roman"/>
                <a:sym typeface="Times New Roman"/>
              </a:rPr>
              <a:t>datawords</a:t>
            </a:r>
            <a:r>
              <a:rPr b="1" i="1" lang="en-US" sz="2800" u="none" cap="none" strike="noStrike">
                <a:solidFill>
                  <a:schemeClr val="dk1"/>
                </a:solidFill>
                <a:latin typeface="Times New Roman"/>
                <a:ea typeface="Times New Roman"/>
                <a:cs typeface="Times New Roman"/>
                <a:sym typeface="Times New Roman"/>
              </a:rPr>
              <a:t>. We add r redundant bits to each block to make the length n = k + r. The resulting n-bit blocks are called </a:t>
            </a:r>
            <a:r>
              <a:rPr b="1" i="1" lang="en-US" sz="2800" u="none" cap="none" strike="noStrike">
                <a:solidFill>
                  <a:schemeClr val="hlink"/>
                </a:solidFill>
                <a:latin typeface="Times New Roman"/>
                <a:ea typeface="Times New Roman"/>
                <a:cs typeface="Times New Roman"/>
                <a:sym typeface="Times New Roman"/>
              </a:rPr>
              <a:t>codewords</a:t>
            </a:r>
            <a:r>
              <a:rPr b="1"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50" name="Google Shape;250;p14"/>
          <p:cNvSpPr txBox="1"/>
          <p:nvPr/>
        </p:nvSpPr>
        <p:spPr>
          <a:xfrm>
            <a:off x="152400" y="4679950"/>
            <a:ext cx="670560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Error Detection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Error Correction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Hamming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Minimum Hamming Distance</a:t>
            </a:r>
            <a:endParaRPr b="0" i="0" sz="1400" u="none" cap="none" strike="noStrike">
              <a:solidFill>
                <a:srgbClr val="000000"/>
              </a:solidFill>
              <a:latin typeface="Arial"/>
              <a:ea typeface="Arial"/>
              <a:cs typeface="Arial"/>
              <a:sym typeface="Arial"/>
            </a:endParaRPr>
          </a:p>
        </p:txBody>
      </p:sp>
      <p:sp>
        <p:nvSpPr>
          <p:cNvPr id="251" name="Google Shape;251;p14"/>
          <p:cNvSpPr txBox="1"/>
          <p:nvPr/>
        </p:nvSpPr>
        <p:spPr>
          <a:xfrm>
            <a:off x="165100" y="42037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258" name="Google Shape;258;p15"/>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259" name="Google Shape;259;p15"/>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260" name="Google Shape;260;p15"/>
          <p:cNvSpPr txBox="1"/>
          <p:nvPr/>
        </p:nvSpPr>
        <p:spPr>
          <a:xfrm>
            <a:off x="304800" y="762000"/>
            <a:ext cx="62293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10.5  </a:t>
            </a:r>
            <a:r>
              <a:rPr b="1" i="1" lang="en-US" sz="2000" u="none" cap="none" strike="noStrike">
                <a:solidFill>
                  <a:schemeClr val="dk1"/>
                </a:solidFill>
                <a:latin typeface="Times New Roman"/>
                <a:ea typeface="Times New Roman"/>
                <a:cs typeface="Times New Roman"/>
                <a:sym typeface="Times New Roman"/>
              </a:rPr>
              <a:t>Datawords and codewords in block coding</a:t>
            </a:r>
            <a:endParaRPr b="0" i="0" sz="1400" u="none" cap="none" strike="noStrike">
              <a:solidFill>
                <a:srgbClr val="000000"/>
              </a:solidFill>
              <a:latin typeface="Arial"/>
              <a:ea typeface="Arial"/>
              <a:cs typeface="Arial"/>
              <a:sym typeface="Arial"/>
            </a:endParaRPr>
          </a:p>
        </p:txBody>
      </p:sp>
      <p:cxnSp>
        <p:nvCxnSpPr>
          <p:cNvPr id="261" name="Google Shape;261;p15"/>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262" name="Google Shape;262;p15"/>
          <p:cNvPicPr preferRelativeResize="0"/>
          <p:nvPr/>
        </p:nvPicPr>
        <p:blipFill rotWithShape="1">
          <a:blip r:embed="rId3">
            <a:alphaModFix/>
          </a:blip>
          <a:srcRect b="0" l="0" r="0" t="0"/>
          <a:stretch/>
        </p:blipFill>
        <p:spPr>
          <a:xfrm>
            <a:off x="915987" y="2479675"/>
            <a:ext cx="7085012" cy="2625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0" name="Google Shape;270;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1" name="Google Shape;271;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2" name="Google Shape;272;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3" name="Google Shape;273;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4" name="Google Shape;274;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5" name="Google Shape;275;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6" name="Google Shape;276;p16"/>
          <p:cNvSpPr txBox="1"/>
          <p:nvPr/>
        </p:nvSpPr>
        <p:spPr>
          <a:xfrm>
            <a:off x="228600" y="1143000"/>
            <a:ext cx="8686800" cy="2654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4B/5B block coding discussed in Chapter 4 is a good example of this type of coding. In this coding scheme, </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k = 4 and n = 5. As we saw, we have 2</a:t>
            </a:r>
            <a:r>
              <a:rPr b="1" baseline="30000" i="1" lang="en-US" sz="2800" u="none" cap="none" strike="noStrike">
                <a:solidFill>
                  <a:schemeClr val="dk1"/>
                </a:solidFill>
                <a:latin typeface="Times New Roman"/>
                <a:ea typeface="Times New Roman"/>
                <a:cs typeface="Times New Roman"/>
                <a:sym typeface="Times New Roman"/>
              </a:rPr>
              <a:t>k</a:t>
            </a:r>
            <a:r>
              <a:rPr b="1" i="1" lang="en-US" sz="2800" u="none" cap="none" strike="noStrike">
                <a:solidFill>
                  <a:schemeClr val="dk1"/>
                </a:solidFill>
                <a:latin typeface="Times New Roman"/>
                <a:ea typeface="Times New Roman"/>
                <a:cs typeface="Times New Roman"/>
                <a:sym typeface="Times New Roman"/>
              </a:rPr>
              <a:t> = 16 datawords and 2</a:t>
            </a:r>
            <a:r>
              <a:rPr b="1" baseline="30000" i="1" lang="en-US" sz="2800" u="none" cap="none" strike="noStrike">
                <a:solidFill>
                  <a:schemeClr val="dk1"/>
                </a:solidFill>
                <a:latin typeface="Times New Roman"/>
                <a:ea typeface="Times New Roman"/>
                <a:cs typeface="Times New Roman"/>
                <a:sym typeface="Times New Roman"/>
              </a:rPr>
              <a:t>n</a:t>
            </a:r>
            <a:r>
              <a:rPr b="1" i="1" lang="en-US" sz="2800" u="none" cap="none" strike="noStrike">
                <a:solidFill>
                  <a:schemeClr val="dk1"/>
                </a:solidFill>
                <a:latin typeface="Times New Roman"/>
                <a:ea typeface="Times New Roman"/>
                <a:cs typeface="Times New Roman"/>
                <a:sym typeface="Times New Roman"/>
              </a:rPr>
              <a:t> = 32 codewords. We saw that 16 out of 32 codewords are used for message transfer and the rest are either used for other purposes or unused.</a:t>
            </a:r>
            <a:endParaRPr b="0" i="0" sz="1400" u="none" cap="none" strike="noStrike">
              <a:solidFill>
                <a:srgbClr val="000000"/>
              </a:solidFill>
              <a:latin typeface="Arial"/>
              <a:ea typeface="Arial"/>
              <a:cs typeface="Arial"/>
              <a:sym typeface="Arial"/>
            </a:endParaRPr>
          </a:p>
        </p:txBody>
      </p:sp>
      <p:sp>
        <p:nvSpPr>
          <p:cNvPr id="277" name="Google Shape;277;p16"/>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284" name="Google Shape;284;p17"/>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285" name="Google Shape;285;p17"/>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286" name="Google Shape;286;p17"/>
          <p:cNvSpPr txBox="1"/>
          <p:nvPr/>
        </p:nvSpPr>
        <p:spPr>
          <a:xfrm>
            <a:off x="304800" y="762000"/>
            <a:ext cx="8084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10.6  </a:t>
            </a:r>
            <a:r>
              <a:rPr b="1" i="1" lang="en-US" sz="2000" u="none" cap="none" strike="noStrike">
                <a:solidFill>
                  <a:schemeClr val="dk1"/>
                </a:solidFill>
                <a:latin typeface="Times New Roman"/>
                <a:ea typeface="Times New Roman"/>
                <a:cs typeface="Times New Roman"/>
                <a:sym typeface="Times New Roman"/>
              </a:rPr>
              <a:t>Process of error detection in block coding</a:t>
            </a:r>
            <a:endParaRPr b="0" i="0" sz="1400" u="none" cap="none" strike="noStrike">
              <a:solidFill>
                <a:srgbClr val="000000"/>
              </a:solidFill>
              <a:latin typeface="Arial"/>
              <a:ea typeface="Arial"/>
              <a:cs typeface="Arial"/>
              <a:sym typeface="Arial"/>
            </a:endParaRPr>
          </a:p>
        </p:txBody>
      </p:sp>
      <p:cxnSp>
        <p:nvCxnSpPr>
          <p:cNvPr id="287" name="Google Shape;287;p17"/>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288" name="Google Shape;288;p17"/>
          <p:cNvPicPr preferRelativeResize="0"/>
          <p:nvPr/>
        </p:nvPicPr>
        <p:blipFill rotWithShape="1">
          <a:blip r:embed="rId3">
            <a:alphaModFix/>
          </a:blip>
          <a:srcRect b="0" l="0" r="0" t="0"/>
          <a:stretch/>
        </p:blipFill>
        <p:spPr>
          <a:xfrm>
            <a:off x="188912" y="1873250"/>
            <a:ext cx="8802687" cy="3536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5" name="Google Shape;295;p18"/>
          <p:cNvSpPr txBox="1"/>
          <p:nvPr/>
        </p:nvSpPr>
        <p:spPr>
          <a:xfrm>
            <a:off x="654050" y="914400"/>
            <a:ext cx="6051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10.1  </a:t>
            </a:r>
            <a:r>
              <a:rPr b="1" i="1" lang="en-US" sz="2000" u="none" cap="none" strike="noStrike">
                <a:solidFill>
                  <a:schemeClr val="dk1"/>
                </a:solidFill>
                <a:latin typeface="Times New Roman"/>
                <a:ea typeface="Times New Roman"/>
                <a:cs typeface="Times New Roman"/>
                <a:sym typeface="Times New Roman"/>
              </a:rPr>
              <a:t>A code for error detection (Example 10.2)</a:t>
            </a:r>
            <a:endParaRPr b="0" i="0" sz="1400" u="none" cap="none" strike="noStrike">
              <a:solidFill>
                <a:srgbClr val="000000"/>
              </a:solidFill>
              <a:latin typeface="Arial"/>
              <a:ea typeface="Arial"/>
              <a:cs typeface="Arial"/>
              <a:sym typeface="Arial"/>
            </a:endParaRPr>
          </a:p>
        </p:txBody>
      </p:sp>
      <p:pic>
        <p:nvPicPr>
          <p:cNvPr id="296" name="Google Shape;296;p18"/>
          <p:cNvPicPr preferRelativeResize="0"/>
          <p:nvPr/>
        </p:nvPicPr>
        <p:blipFill rotWithShape="1">
          <a:blip r:embed="rId3">
            <a:alphaModFix/>
          </a:blip>
          <a:srcRect b="0" l="0" r="0" t="0"/>
          <a:stretch/>
        </p:blipFill>
        <p:spPr>
          <a:xfrm>
            <a:off x="225425" y="1374775"/>
            <a:ext cx="8537575" cy="3536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3" name="Google Shape;303;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4" name="Google Shape;304;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5" name="Google Shape;305;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6" name="Google Shape;306;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7" name="Google Shape;307;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8" name="Google Shape;308;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09" name="Google Shape;309;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10" name="Google Shape;310;p19"/>
          <p:cNvSpPr txBox="1"/>
          <p:nvPr/>
        </p:nvSpPr>
        <p:spPr>
          <a:xfrm>
            <a:off x="228600" y="1143000"/>
            <a:ext cx="8686800" cy="43624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assume that k = 2 and n = 3. Table 10.1 shows the list of datawords and codewords. Later, we will see how to derive a codeword from a dataword. </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Assume the sender encodes the dataword 01 as 011 and</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sends it to the receiver. Consider the following cases: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1.</a:t>
            </a:r>
            <a:r>
              <a:rPr b="1" i="1" lang="en-US" sz="2800" u="none" cap="none" strike="noStrike">
                <a:solidFill>
                  <a:schemeClr val="dk1"/>
                </a:solidFill>
                <a:latin typeface="Times New Roman"/>
                <a:ea typeface="Times New Roman"/>
                <a:cs typeface="Times New Roman"/>
                <a:sym typeface="Times New Roman"/>
              </a:rPr>
              <a:t> The receiver receives 011. It is a valid codeword. The   </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receiver extracts the dataword 01 from it.</a:t>
            </a:r>
            <a:endParaRPr b="0" i="0" sz="1400" u="none" cap="none" strike="noStrike">
              <a:solidFill>
                <a:srgbClr val="000000"/>
              </a:solidFill>
              <a:latin typeface="Arial"/>
              <a:ea typeface="Arial"/>
              <a:cs typeface="Arial"/>
              <a:sym typeface="Arial"/>
            </a:endParaRPr>
          </a:p>
        </p:txBody>
      </p:sp>
      <p:sp>
        <p:nvSpPr>
          <p:cNvPr id="311" name="Google Shape;311;p19"/>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8" name="Google Shape;318;p2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19" name="Google Shape;319;p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0" name="Google Shape;320;p2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1" name="Google Shape;321;p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2" name="Google Shape;322;p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3" name="Google Shape;323;p2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4" name="Google Shape;324;p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25" name="Google Shape;325;p20"/>
          <p:cNvSpPr txBox="1"/>
          <p:nvPr/>
        </p:nvSpPr>
        <p:spPr>
          <a:xfrm>
            <a:off x="228600" y="1143000"/>
            <a:ext cx="8686800" cy="44005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2.</a:t>
            </a:r>
            <a:r>
              <a:rPr b="1" i="1" lang="en-US" sz="2800" u="none" cap="none" strike="noStrike">
                <a:solidFill>
                  <a:schemeClr val="dk1"/>
                </a:solidFill>
                <a:latin typeface="Times New Roman"/>
                <a:ea typeface="Times New Roman"/>
                <a:cs typeface="Times New Roman"/>
                <a:sym typeface="Times New Roman"/>
              </a:rPr>
              <a:t> The codeword is corrupted during transmission, and</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     111 is received. This is not a valid codeword and is</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     discarded.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3.</a:t>
            </a:r>
            <a:r>
              <a:rPr b="1" i="1" lang="en-US" sz="2800" u="none" cap="none" strike="noStrike">
                <a:solidFill>
                  <a:schemeClr val="dk1"/>
                </a:solidFill>
                <a:latin typeface="Times New Roman"/>
                <a:ea typeface="Times New Roman"/>
                <a:cs typeface="Times New Roman"/>
                <a:sym typeface="Times New Roman"/>
              </a:rPr>
              <a:t> The codeword is corrupted during transmission, and</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     000 is received. This is a valid codeword. The receiver</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     incorrectly extracts the dataword 00.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	Thus two corrupted bits have made the error 	undetectable.</a:t>
            </a:r>
            <a:endParaRPr b="0" i="0" sz="1400" u="none" cap="none" strike="noStrike">
              <a:solidFill>
                <a:srgbClr val="000000"/>
              </a:solidFill>
              <a:latin typeface="Arial"/>
              <a:ea typeface="Arial"/>
              <a:cs typeface="Arial"/>
              <a:sym typeface="Arial"/>
            </a:endParaRPr>
          </a:p>
        </p:txBody>
      </p:sp>
      <p:sp>
        <p:nvSpPr>
          <p:cNvPr id="326" name="Google Shape;326;p20"/>
          <p:cNvSpPr txBox="1"/>
          <p:nvPr/>
        </p:nvSpPr>
        <p:spPr>
          <a:xfrm>
            <a:off x="1143000" y="0"/>
            <a:ext cx="45291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 (continued)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3" name="Google Shape;333;p2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4" name="Google Shape;334;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5" name="Google Shape;335;p2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6" name="Google Shape;336;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7" name="Google Shape;337;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8" name="Google Shape;338;p2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39" name="Google Shape;339;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340" name="Google Shape;340;p21"/>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41" name="Google Shape;341;p21"/>
          <p:cNvCxnSpPr/>
          <p:nvPr/>
        </p:nvCxnSpPr>
        <p:spPr>
          <a:xfrm>
            <a:off x="458787" y="4876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42" name="Google Shape;342;p21"/>
          <p:cNvSpPr txBox="1"/>
          <p:nvPr/>
        </p:nvSpPr>
        <p:spPr>
          <a:xfrm>
            <a:off x="495300" y="2759075"/>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An error-detecting code can detect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only the types of errors for which it is designed; other types of errors may remain undetected.</a:t>
            </a:r>
            <a:endParaRPr b="0" i="0" sz="1400" u="none" cap="none" strike="noStrike">
              <a:solidFill>
                <a:srgbClr val="000000"/>
              </a:solidFill>
              <a:latin typeface="Arial"/>
              <a:ea typeface="Arial"/>
              <a:cs typeface="Arial"/>
              <a:sym typeface="Arial"/>
            </a:endParaRPr>
          </a:p>
        </p:txBody>
      </p:sp>
      <p:grpSp>
        <p:nvGrpSpPr>
          <p:cNvPr id="343" name="Google Shape;343;p21"/>
          <p:cNvGrpSpPr/>
          <p:nvPr/>
        </p:nvGrpSpPr>
        <p:grpSpPr>
          <a:xfrm>
            <a:off x="533400" y="2024062"/>
            <a:ext cx="1143000" cy="566737"/>
            <a:chOff x="1200" y="1248"/>
            <a:chExt cx="720" cy="357"/>
          </a:xfrm>
        </p:grpSpPr>
        <p:pic>
          <p:nvPicPr>
            <p:cNvPr id="344" name="Google Shape;344;p2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45" name="Google Shape;345;p2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52" name="Google Shape;352;p22"/>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53" name="Google Shape;353;p22"/>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54" name="Google Shape;354;p22"/>
          <p:cNvSpPr txBox="1"/>
          <p:nvPr/>
        </p:nvSpPr>
        <p:spPr>
          <a:xfrm>
            <a:off x="304800" y="762000"/>
            <a:ext cx="8481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10.7  </a:t>
            </a:r>
            <a:r>
              <a:rPr b="1" i="1" lang="en-US" sz="2000" u="none" cap="none" strike="noStrike">
                <a:solidFill>
                  <a:schemeClr val="dk1"/>
                </a:solidFill>
                <a:latin typeface="Times New Roman"/>
                <a:ea typeface="Times New Roman"/>
                <a:cs typeface="Times New Roman"/>
                <a:sym typeface="Times New Roman"/>
              </a:rPr>
              <a:t>Structure of encoder and decoder in error correction</a:t>
            </a:r>
            <a:endParaRPr b="0" i="0" sz="1400" u="none" cap="none" strike="noStrike">
              <a:solidFill>
                <a:srgbClr val="000000"/>
              </a:solidFill>
              <a:latin typeface="Arial"/>
              <a:ea typeface="Arial"/>
              <a:cs typeface="Arial"/>
              <a:sym typeface="Arial"/>
            </a:endParaRPr>
          </a:p>
        </p:txBody>
      </p:sp>
      <p:cxnSp>
        <p:nvCxnSpPr>
          <p:cNvPr id="355" name="Google Shape;355;p22"/>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56" name="Google Shape;356;p22"/>
          <p:cNvPicPr preferRelativeResize="0"/>
          <p:nvPr/>
        </p:nvPicPr>
        <p:blipFill rotWithShape="1">
          <a:blip r:embed="rId3">
            <a:alphaModFix/>
          </a:blip>
          <a:srcRect b="0" l="0" r="0" t="0"/>
          <a:stretch/>
        </p:blipFill>
        <p:spPr>
          <a:xfrm>
            <a:off x="152400" y="1981200"/>
            <a:ext cx="8785225" cy="3543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63" name="Google Shape;363;p23"/>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64" name="Google Shape;364;p23"/>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65" name="Google Shape;365;p23"/>
          <p:cNvSpPr txBox="1"/>
          <p:nvPr/>
        </p:nvSpPr>
        <p:spPr>
          <a:xfrm>
            <a:off x="304800" y="762000"/>
            <a:ext cx="5889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10.4  </a:t>
            </a:r>
            <a:r>
              <a:rPr b="1" i="1" lang="en-US" sz="2000" u="none" cap="none" strike="noStrike">
                <a:solidFill>
                  <a:schemeClr val="dk1"/>
                </a:solidFill>
                <a:latin typeface="Times New Roman"/>
                <a:ea typeface="Times New Roman"/>
                <a:cs typeface="Times New Roman"/>
                <a:sym typeface="Times New Roman"/>
              </a:rPr>
              <a:t>XORing of two single bits or two words</a:t>
            </a:r>
            <a:endParaRPr b="0" i="0" sz="1400" u="none" cap="none" strike="noStrike">
              <a:solidFill>
                <a:srgbClr val="000000"/>
              </a:solidFill>
              <a:latin typeface="Arial"/>
              <a:ea typeface="Arial"/>
              <a:cs typeface="Arial"/>
              <a:sym typeface="Arial"/>
            </a:endParaRPr>
          </a:p>
        </p:txBody>
      </p:sp>
      <p:cxnSp>
        <p:nvCxnSpPr>
          <p:cNvPr id="366" name="Google Shape;366;p23"/>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67" name="Google Shape;367;p23"/>
          <p:cNvPicPr preferRelativeResize="0"/>
          <p:nvPr/>
        </p:nvPicPr>
        <p:blipFill rotWithShape="1">
          <a:blip r:embed="rId3">
            <a:alphaModFix/>
          </a:blip>
          <a:srcRect b="0" l="0" r="0" t="0"/>
          <a:stretch/>
        </p:blipFill>
        <p:spPr>
          <a:xfrm>
            <a:off x="239712" y="2373312"/>
            <a:ext cx="8675687" cy="212248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74" name="Google Shape;374;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75" name="Google Shape;375;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76" name="Google Shape;376;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77" name="Google Shape;377;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78" name="Google Shape;378;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79" name="Google Shape;379;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80" name="Google Shape;380;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381" name="Google Shape;381;p24"/>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82" name="Google Shape;382;p24"/>
          <p:cNvCxnSpPr/>
          <p:nvPr/>
        </p:nvCxnSpPr>
        <p:spPr>
          <a:xfrm>
            <a:off x="458787" y="4419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83" name="Google Shape;383;p24"/>
          <p:cNvSpPr txBox="1"/>
          <p:nvPr/>
        </p:nvSpPr>
        <p:spPr>
          <a:xfrm>
            <a:off x="495300" y="2759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The Hamming distance between two words is the number of differences between corresponding bits.</a:t>
            </a:r>
            <a:endParaRPr b="0" i="0" sz="1400" u="none" cap="none" strike="noStrike">
              <a:solidFill>
                <a:srgbClr val="000000"/>
              </a:solidFill>
              <a:latin typeface="Arial"/>
              <a:ea typeface="Arial"/>
              <a:cs typeface="Arial"/>
              <a:sym typeface="Arial"/>
            </a:endParaRPr>
          </a:p>
        </p:txBody>
      </p:sp>
      <p:grpSp>
        <p:nvGrpSpPr>
          <p:cNvPr id="384" name="Google Shape;384;p24"/>
          <p:cNvGrpSpPr/>
          <p:nvPr/>
        </p:nvGrpSpPr>
        <p:grpSpPr>
          <a:xfrm>
            <a:off x="533400" y="2024062"/>
            <a:ext cx="1143000" cy="566737"/>
            <a:chOff x="1200" y="1248"/>
            <a:chExt cx="720" cy="357"/>
          </a:xfrm>
        </p:grpSpPr>
        <p:pic>
          <p:nvPicPr>
            <p:cNvPr id="385" name="Google Shape;385;p2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86" name="Google Shape;386;p2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5"/>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3" name="Google Shape;393;p2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4" name="Google Shape;394;p2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5" name="Google Shape;395;p2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6" name="Google Shape;396;p2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7" name="Google Shape;397;p2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8" name="Google Shape;398;p2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99" name="Google Shape;399;p2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00" name="Google Shape;400;p25"/>
          <p:cNvSpPr txBox="1"/>
          <p:nvPr/>
        </p:nvSpPr>
        <p:spPr>
          <a:xfrm>
            <a:off x="228600" y="1143000"/>
            <a:ext cx="8686800" cy="22272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find the Hamming distance between two pairs of words.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1</a:t>
            </a:r>
            <a:r>
              <a:rPr b="1" i="1" lang="en-US" sz="2800" u="none" cap="none" strike="noStrike">
                <a:solidFill>
                  <a:schemeClr val="dk1"/>
                </a:solidFill>
                <a:latin typeface="Times New Roman"/>
                <a:ea typeface="Times New Roman"/>
                <a:cs typeface="Times New Roman"/>
                <a:sym typeface="Times New Roman"/>
              </a:rPr>
              <a:t>. The Hamming distance d(000, 011) is 2 because </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401" name="Google Shape;401;p25"/>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10.4</a:t>
            </a:r>
            <a:endParaRPr b="0" i="0" sz="1400" u="none" cap="none" strike="noStrike">
              <a:solidFill>
                <a:srgbClr val="000000"/>
              </a:solidFill>
              <a:latin typeface="Arial"/>
              <a:ea typeface="Arial"/>
              <a:cs typeface="Arial"/>
              <a:sym typeface="Arial"/>
            </a:endParaRPr>
          </a:p>
        </p:txBody>
      </p:sp>
      <p:sp>
        <p:nvSpPr>
          <p:cNvPr id="402" name="Google Shape;402;p25"/>
          <p:cNvSpPr txBox="1"/>
          <p:nvPr/>
        </p:nvSpPr>
        <p:spPr>
          <a:xfrm>
            <a:off x="304800" y="4114800"/>
            <a:ext cx="86868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2.</a:t>
            </a:r>
            <a:r>
              <a:rPr b="1" i="1" lang="en-US" sz="2800" u="none" cap="none" strike="noStrike">
                <a:solidFill>
                  <a:schemeClr val="dk1"/>
                </a:solidFill>
                <a:latin typeface="Times New Roman"/>
                <a:ea typeface="Times New Roman"/>
                <a:cs typeface="Times New Roman"/>
                <a:sym typeface="Times New Roman"/>
              </a:rPr>
              <a:t> The Hamming distance d(10101, 11110) is 3 because</a:t>
            </a:r>
            <a:endParaRPr b="0" i="0" sz="1400" u="none" cap="none" strike="noStrike">
              <a:solidFill>
                <a:srgbClr val="000000"/>
              </a:solidFill>
              <a:latin typeface="Arial"/>
              <a:ea typeface="Arial"/>
              <a:cs typeface="Arial"/>
              <a:sym typeface="Arial"/>
            </a:endParaRPr>
          </a:p>
        </p:txBody>
      </p:sp>
      <p:pic>
        <p:nvPicPr>
          <p:cNvPr id="403" name="Google Shape;403;p25"/>
          <p:cNvPicPr preferRelativeResize="0"/>
          <p:nvPr/>
        </p:nvPicPr>
        <p:blipFill rotWithShape="1">
          <a:blip r:embed="rId3">
            <a:alphaModFix/>
          </a:blip>
          <a:srcRect b="0" l="0" r="0" t="0"/>
          <a:stretch/>
        </p:blipFill>
        <p:spPr>
          <a:xfrm>
            <a:off x="3189287" y="3257550"/>
            <a:ext cx="2906712" cy="341312"/>
          </a:xfrm>
          <a:prstGeom prst="rect">
            <a:avLst/>
          </a:prstGeom>
          <a:noFill/>
          <a:ln cap="flat" cmpd="thickThin" w="57150">
            <a:solidFill>
              <a:schemeClr val="folHlink"/>
            </a:solidFill>
            <a:prstDash val="solid"/>
            <a:miter lim="800000"/>
            <a:headEnd len="sm" w="sm" type="none"/>
            <a:tailEnd len="sm" w="sm" type="none"/>
          </a:ln>
        </p:spPr>
      </p:pic>
      <p:pic>
        <p:nvPicPr>
          <p:cNvPr id="404" name="Google Shape;404;p25"/>
          <p:cNvPicPr preferRelativeResize="0"/>
          <p:nvPr/>
        </p:nvPicPr>
        <p:blipFill rotWithShape="1">
          <a:blip r:embed="rId4">
            <a:alphaModFix/>
          </a:blip>
          <a:srcRect b="0" l="0" r="0" t="0"/>
          <a:stretch/>
        </p:blipFill>
        <p:spPr>
          <a:xfrm>
            <a:off x="2667000" y="5027612"/>
            <a:ext cx="3811587" cy="307975"/>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11" name="Google Shape;411;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2" name="Google Shape;412;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3" name="Google Shape;413;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4" name="Google Shape;414;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5" name="Google Shape;415;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6" name="Google Shape;416;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17" name="Google Shape;417;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418" name="Google Shape;418;p26"/>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419" name="Google Shape;419;p26"/>
          <p:cNvCxnSpPr/>
          <p:nvPr/>
        </p:nvCxnSpPr>
        <p:spPr>
          <a:xfrm>
            <a:off x="458787" y="4419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420" name="Google Shape;420;p26"/>
          <p:cNvSpPr txBox="1"/>
          <p:nvPr/>
        </p:nvSpPr>
        <p:spPr>
          <a:xfrm>
            <a:off x="495300" y="2759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The minimum Hamming distance is the smallest Hamming distance between</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 all possible pairs in a set of words.</a:t>
            </a:r>
            <a:endParaRPr b="0" i="0" sz="1400" u="none" cap="none" strike="noStrike">
              <a:solidFill>
                <a:srgbClr val="000000"/>
              </a:solidFill>
              <a:latin typeface="Arial"/>
              <a:ea typeface="Arial"/>
              <a:cs typeface="Arial"/>
              <a:sym typeface="Arial"/>
            </a:endParaRPr>
          </a:p>
        </p:txBody>
      </p:sp>
      <p:grpSp>
        <p:nvGrpSpPr>
          <p:cNvPr id="421" name="Google Shape;421;p26"/>
          <p:cNvGrpSpPr/>
          <p:nvPr/>
        </p:nvGrpSpPr>
        <p:grpSpPr>
          <a:xfrm>
            <a:off x="533400" y="2024062"/>
            <a:ext cx="1143000" cy="566737"/>
            <a:chOff x="1200" y="1248"/>
            <a:chExt cx="720" cy="357"/>
          </a:xfrm>
        </p:grpSpPr>
        <p:pic>
          <p:nvPicPr>
            <p:cNvPr id="422" name="Google Shape;422;p2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23" name="Google Shape;423;p2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7"/>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4400">
              <a:solidFill>
                <a:schemeClr val="dk2"/>
              </a:solidFill>
              <a:latin typeface="tahoma"/>
              <a:ea typeface="tahoma"/>
              <a:cs typeface="tahoma"/>
              <a:sym typeface="tahoma"/>
            </a:endParaRPr>
          </a:p>
        </p:txBody>
      </p:sp>
      <p:pic>
        <p:nvPicPr>
          <p:cNvPr id="429" name="Google Shape;429;p27"/>
          <p:cNvPicPr preferRelativeResize="0"/>
          <p:nvPr>
            <p:ph idx="1" type="body"/>
          </p:nvPr>
        </p:nvPicPr>
        <p:blipFill rotWithShape="1">
          <a:blip r:embed="rId3">
            <a:alphaModFix/>
          </a:blip>
          <a:srcRect b="0" l="0" r="0" t="0"/>
          <a:stretch/>
        </p:blipFill>
        <p:spPr>
          <a:xfrm>
            <a:off x="1295400" y="1690687"/>
            <a:ext cx="6184900" cy="4638675"/>
          </a:xfrm>
          <a:prstGeom prst="rect">
            <a:avLst/>
          </a:prstGeom>
          <a:noFill/>
          <a:ln>
            <a:noFill/>
          </a:ln>
        </p:spPr>
      </p:pic>
      <p:sp>
        <p:nvSpPr>
          <p:cNvPr id="430" name="Google Shape;430;p2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8"/>
          <p:cNvSpPr txBox="1"/>
          <p:nvPr>
            <p:ph idx="1" type="body"/>
          </p:nvPr>
        </p:nvSpPr>
        <p:spPr>
          <a:xfrm>
            <a:off x="762000" y="685800"/>
            <a:ext cx="7886700"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There are four different codewords which can have 6 possible pairs</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(000, 011)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(000, 101)</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(000, 110)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(011, 101)</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(011, 110)</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(101.110)</a:t>
            </a:r>
            <a:endParaRPr/>
          </a:p>
          <a:p>
            <a:pPr indent="-220980" lvl="0" marL="342900" marR="0" rtl="0" algn="l">
              <a:lnSpc>
                <a:spcPct val="100000"/>
              </a:lnSpc>
              <a:spcBef>
                <a:spcPts val="64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p:txBody>
      </p:sp>
      <p:sp>
        <p:nvSpPr>
          <p:cNvPr id="436" name="Google Shape;436;p2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3" name="Google Shape;443;p29"/>
          <p:cNvSpPr txBox="1"/>
          <p:nvPr/>
        </p:nvSpPr>
        <p:spPr>
          <a:xfrm>
            <a:off x="533400" y="1295400"/>
            <a:ext cx="6184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10.2  </a:t>
            </a:r>
            <a:r>
              <a:rPr b="1" i="1" lang="en-US" sz="2000" u="none" cap="none" strike="noStrike">
                <a:solidFill>
                  <a:schemeClr val="dk1"/>
                </a:solidFill>
                <a:latin typeface="Times New Roman"/>
                <a:ea typeface="Times New Roman"/>
                <a:cs typeface="Times New Roman"/>
                <a:sym typeface="Times New Roman"/>
              </a:rPr>
              <a:t>A code for error correction (Example 10.3)</a:t>
            </a:r>
            <a:endParaRPr b="0" i="0" sz="1400" u="none" cap="none" strike="noStrike">
              <a:solidFill>
                <a:srgbClr val="000000"/>
              </a:solidFill>
              <a:latin typeface="Arial"/>
              <a:ea typeface="Arial"/>
              <a:cs typeface="Arial"/>
              <a:sym typeface="Arial"/>
            </a:endParaRPr>
          </a:p>
        </p:txBody>
      </p:sp>
      <p:pic>
        <p:nvPicPr>
          <p:cNvPr id="444" name="Google Shape;444;p29"/>
          <p:cNvPicPr preferRelativeResize="0"/>
          <p:nvPr/>
        </p:nvPicPr>
        <p:blipFill rotWithShape="1">
          <a:blip r:embed="rId3">
            <a:alphaModFix/>
          </a:blip>
          <a:srcRect b="0" l="0" r="0" t="0"/>
          <a:stretch/>
        </p:blipFill>
        <p:spPr>
          <a:xfrm>
            <a:off x="276225" y="1728787"/>
            <a:ext cx="8410575" cy="31480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1" name="Google Shape;451;p3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2" name="Google Shape;452;p3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3" name="Google Shape;453;p3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4" name="Google Shape;454;p3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5" name="Google Shape;455;p3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6" name="Google Shape;456;p3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7" name="Google Shape;457;p3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58" name="Google Shape;458;p30"/>
          <p:cNvSpPr txBox="1"/>
          <p:nvPr/>
        </p:nvSpPr>
        <p:spPr>
          <a:xfrm>
            <a:off x="228600" y="1143000"/>
            <a:ext cx="86868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Find the minimum Hamming distance of the coding scheme in Table 10.2.</a:t>
            </a:r>
            <a:endParaRPr b="0" i="0" sz="1400" u="none" cap="none" strike="noStrike">
              <a:solidFill>
                <a:srgbClr val="000000"/>
              </a:solidFill>
              <a:latin typeface="Arial"/>
              <a:ea typeface="Arial"/>
              <a:cs typeface="Arial"/>
              <a:sym typeface="Arial"/>
            </a:endParaRPr>
          </a:p>
        </p:txBody>
      </p:sp>
      <p:sp>
        <p:nvSpPr>
          <p:cNvPr id="459" name="Google Shape;459;p30"/>
          <p:cNvSpPr txBox="1"/>
          <p:nvPr/>
        </p:nvSpPr>
        <p:spPr>
          <a:xfrm>
            <a:off x="228600" y="2438400"/>
            <a:ext cx="86868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We first find all the Hamming distances.</a:t>
            </a:r>
            <a:endParaRPr b="0" i="0" sz="1400" u="none" cap="none" strike="noStrike">
              <a:solidFill>
                <a:srgbClr val="000000"/>
              </a:solidFill>
              <a:latin typeface="Arial"/>
              <a:ea typeface="Arial"/>
              <a:cs typeface="Arial"/>
              <a:sym typeface="Arial"/>
            </a:endParaRPr>
          </a:p>
        </p:txBody>
      </p:sp>
      <p:sp>
        <p:nvSpPr>
          <p:cNvPr id="460" name="Google Shape;460;p30"/>
          <p:cNvSpPr txBox="1"/>
          <p:nvPr/>
        </p:nvSpPr>
        <p:spPr>
          <a:xfrm>
            <a:off x="304800" y="4724400"/>
            <a:ext cx="868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d</a:t>
            </a:r>
            <a:r>
              <a:rPr b="1" baseline="-25000" i="1" lang="en-US" sz="2800" u="none" cap="none" strike="noStrike">
                <a:solidFill>
                  <a:schemeClr val="dk1"/>
                </a:solidFill>
                <a:latin typeface="Times New Roman"/>
                <a:ea typeface="Times New Roman"/>
                <a:cs typeface="Times New Roman"/>
                <a:sym typeface="Times New Roman"/>
              </a:rPr>
              <a:t>min</a:t>
            </a:r>
            <a:r>
              <a:rPr b="1" i="1" lang="en-US" sz="2800" u="none" cap="none" strike="noStrike">
                <a:solidFill>
                  <a:schemeClr val="dk1"/>
                </a:solidFill>
                <a:latin typeface="Times New Roman"/>
                <a:ea typeface="Times New Roman"/>
                <a:cs typeface="Times New Roman"/>
                <a:sym typeface="Times New Roman"/>
              </a:rPr>
              <a:t> in this case is 3.</a:t>
            </a:r>
            <a:endParaRPr b="0" i="0" sz="1400" u="none" cap="none" strike="noStrike">
              <a:solidFill>
                <a:srgbClr val="000000"/>
              </a:solidFill>
              <a:latin typeface="Arial"/>
              <a:ea typeface="Arial"/>
              <a:cs typeface="Arial"/>
              <a:sym typeface="Arial"/>
            </a:endParaRPr>
          </a:p>
        </p:txBody>
      </p:sp>
      <p:sp>
        <p:nvSpPr>
          <p:cNvPr id="461" name="Google Shape;461;p30"/>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10.6</a:t>
            </a:r>
            <a:endParaRPr b="0" i="0" sz="1400" u="none" cap="none" strike="noStrike">
              <a:solidFill>
                <a:srgbClr val="000000"/>
              </a:solidFill>
              <a:latin typeface="Arial"/>
              <a:ea typeface="Arial"/>
              <a:cs typeface="Arial"/>
              <a:sym typeface="Arial"/>
            </a:endParaRPr>
          </a:p>
        </p:txBody>
      </p:sp>
      <p:pic>
        <p:nvPicPr>
          <p:cNvPr id="462" name="Google Shape;462;p30"/>
          <p:cNvPicPr preferRelativeResize="0"/>
          <p:nvPr/>
        </p:nvPicPr>
        <p:blipFill rotWithShape="1">
          <a:blip r:embed="rId3">
            <a:alphaModFix/>
          </a:blip>
          <a:srcRect b="0" l="0" r="0" t="0"/>
          <a:stretch/>
        </p:blipFill>
        <p:spPr>
          <a:xfrm>
            <a:off x="598487" y="3771900"/>
            <a:ext cx="7945437" cy="647700"/>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9" name="Google Shape;469;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0" name="Google Shape;470;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1" name="Google Shape;471;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2" name="Google Shape;472;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3" name="Google Shape;473;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4" name="Google Shape;474;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5" name="Google Shape;475;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476" name="Google Shape;476;p31"/>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477" name="Google Shape;477;p31"/>
          <p:cNvCxnSpPr/>
          <p:nvPr/>
        </p:nvCxnSpPr>
        <p:spPr>
          <a:xfrm>
            <a:off x="458787" y="4876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478" name="Google Shape;478;p31"/>
          <p:cNvSpPr txBox="1"/>
          <p:nvPr/>
        </p:nvSpPr>
        <p:spPr>
          <a:xfrm>
            <a:off x="495300" y="2759075"/>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To guarantee the detection of up to s errors in all cases, the minimum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Hamming distance in a block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code must be d</a:t>
            </a:r>
            <a:r>
              <a:rPr b="1" baseline="-25000" i="0" lang="en-US" sz="3200" u="none" cap="none" strike="noStrike">
                <a:solidFill>
                  <a:schemeClr val="dk1"/>
                </a:solidFill>
                <a:latin typeface="Arial"/>
                <a:ea typeface="Arial"/>
                <a:cs typeface="Arial"/>
                <a:sym typeface="Arial"/>
              </a:rPr>
              <a:t>min</a:t>
            </a:r>
            <a:r>
              <a:rPr b="1" i="0" lang="en-US" sz="3200" u="none" cap="none" strike="noStrike">
                <a:solidFill>
                  <a:schemeClr val="dk1"/>
                </a:solidFill>
                <a:latin typeface="Arial"/>
                <a:ea typeface="Arial"/>
                <a:cs typeface="Arial"/>
                <a:sym typeface="Arial"/>
              </a:rPr>
              <a:t> = s + 1.</a:t>
            </a:r>
            <a:endParaRPr b="0" i="0" sz="1400" u="none" cap="none" strike="noStrike">
              <a:solidFill>
                <a:srgbClr val="000000"/>
              </a:solidFill>
              <a:latin typeface="Arial"/>
              <a:ea typeface="Arial"/>
              <a:cs typeface="Arial"/>
              <a:sym typeface="Arial"/>
            </a:endParaRPr>
          </a:p>
        </p:txBody>
      </p:sp>
      <p:grpSp>
        <p:nvGrpSpPr>
          <p:cNvPr id="479" name="Google Shape;479;p31"/>
          <p:cNvGrpSpPr/>
          <p:nvPr/>
        </p:nvGrpSpPr>
        <p:grpSpPr>
          <a:xfrm>
            <a:off x="533400" y="2024062"/>
            <a:ext cx="1143000" cy="566737"/>
            <a:chOff x="1200" y="1248"/>
            <a:chExt cx="720" cy="357"/>
          </a:xfrm>
        </p:grpSpPr>
        <p:pic>
          <p:nvPicPr>
            <p:cNvPr id="480" name="Google Shape;480;p3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81" name="Google Shape;481;p3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8" name="Google Shape;488;p3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89" name="Google Shape;489;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90" name="Google Shape;490;p3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91" name="Google Shape;491;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92" name="Google Shape;492;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93" name="Google Shape;493;p3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94" name="Google Shape;494;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495" name="Google Shape;495;p32"/>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496" name="Google Shape;496;p32"/>
          <p:cNvCxnSpPr/>
          <p:nvPr/>
        </p:nvCxnSpPr>
        <p:spPr>
          <a:xfrm>
            <a:off x="458787" y="4876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497" name="Google Shape;497;p32"/>
          <p:cNvSpPr txBox="1"/>
          <p:nvPr/>
        </p:nvSpPr>
        <p:spPr>
          <a:xfrm>
            <a:off x="495300" y="2759075"/>
            <a:ext cx="8077200" cy="2062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To guarantee the correction of up to t errors in all cases, the minimum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Hamming distance in a block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code must be d</a:t>
            </a:r>
            <a:r>
              <a:rPr b="1" baseline="-25000" i="0" lang="en-US" sz="3200" u="none" cap="none" strike="noStrike">
                <a:solidFill>
                  <a:schemeClr val="dk1"/>
                </a:solidFill>
                <a:latin typeface="Arial"/>
                <a:ea typeface="Arial"/>
                <a:cs typeface="Arial"/>
                <a:sym typeface="Arial"/>
              </a:rPr>
              <a:t>min</a:t>
            </a:r>
            <a:r>
              <a:rPr b="1" i="0" lang="en-US" sz="3200" u="none" cap="none" strike="noStrike">
                <a:solidFill>
                  <a:schemeClr val="dk1"/>
                </a:solidFill>
                <a:latin typeface="Arial"/>
                <a:ea typeface="Arial"/>
                <a:cs typeface="Arial"/>
                <a:sym typeface="Arial"/>
              </a:rPr>
              <a:t> = 2t + 1.</a:t>
            </a:r>
            <a:endParaRPr b="0" i="0" sz="1400" u="none" cap="none" strike="noStrike">
              <a:solidFill>
                <a:srgbClr val="000000"/>
              </a:solidFill>
              <a:latin typeface="Arial"/>
              <a:ea typeface="Arial"/>
              <a:cs typeface="Arial"/>
              <a:sym typeface="Arial"/>
            </a:endParaRPr>
          </a:p>
        </p:txBody>
      </p:sp>
      <p:grpSp>
        <p:nvGrpSpPr>
          <p:cNvPr id="498" name="Google Shape;498;p32"/>
          <p:cNvGrpSpPr/>
          <p:nvPr/>
        </p:nvGrpSpPr>
        <p:grpSpPr>
          <a:xfrm>
            <a:off x="533400" y="2024062"/>
            <a:ext cx="1143000" cy="566737"/>
            <a:chOff x="1200" y="1248"/>
            <a:chExt cx="720" cy="357"/>
          </a:xfrm>
        </p:grpSpPr>
        <p:pic>
          <p:nvPicPr>
            <p:cNvPr id="499" name="Google Shape;499;p3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00" name="Google Shape;500;p3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07" name="Google Shape;507;p3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08" name="Google Shape;508;p3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09" name="Google Shape;509;p3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10" name="Google Shape;510;p3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11" name="Google Shape;511;p3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12" name="Google Shape;512;p3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13" name="Google Shape;513;p3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14" name="Google Shape;514;p33"/>
          <p:cNvSpPr txBox="1"/>
          <p:nvPr/>
        </p:nvSpPr>
        <p:spPr>
          <a:xfrm>
            <a:off x="228600" y="1143000"/>
            <a:ext cx="86868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code scheme has a Hamming distance d</a:t>
            </a:r>
            <a:r>
              <a:rPr b="1" baseline="-25000" i="1" lang="en-US" sz="2800" u="none" cap="none" strike="noStrike">
                <a:solidFill>
                  <a:schemeClr val="dk1"/>
                </a:solidFill>
                <a:latin typeface="Times New Roman"/>
                <a:ea typeface="Times New Roman"/>
                <a:cs typeface="Times New Roman"/>
                <a:sym typeface="Times New Roman"/>
              </a:rPr>
              <a:t>min</a:t>
            </a:r>
            <a:r>
              <a:rPr b="1" i="1" lang="en-US" sz="2800" u="none" cap="none" strike="noStrike">
                <a:solidFill>
                  <a:schemeClr val="dk1"/>
                </a:solidFill>
                <a:latin typeface="Times New Roman"/>
                <a:ea typeface="Times New Roman"/>
                <a:cs typeface="Times New Roman"/>
                <a:sym typeface="Times New Roman"/>
              </a:rPr>
              <a:t> = 4. What is the error detection and correction capability of this scheme?</a:t>
            </a:r>
            <a:endParaRPr b="0" i="0" sz="1400" u="none" cap="none" strike="noStrike">
              <a:solidFill>
                <a:srgbClr val="000000"/>
              </a:solidFill>
              <a:latin typeface="Arial"/>
              <a:ea typeface="Arial"/>
              <a:cs typeface="Arial"/>
              <a:sym typeface="Arial"/>
            </a:endParaRPr>
          </a:p>
        </p:txBody>
      </p:sp>
      <p:sp>
        <p:nvSpPr>
          <p:cNvPr id="515" name="Google Shape;515;p33"/>
          <p:cNvSpPr txBox="1"/>
          <p:nvPr/>
        </p:nvSpPr>
        <p:spPr>
          <a:xfrm>
            <a:off x="152400" y="3106737"/>
            <a:ext cx="8915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This code guarantees the detection of up to </a:t>
            </a:r>
            <a:r>
              <a:rPr b="1" i="1" lang="en-US" sz="2800" u="none" cap="none" strike="noStrike">
                <a:solidFill>
                  <a:schemeClr val="hlink"/>
                </a:solidFill>
                <a:latin typeface="Times"/>
                <a:ea typeface="Times"/>
                <a:cs typeface="Times"/>
                <a:sym typeface="Times"/>
              </a:rPr>
              <a:t>three</a:t>
            </a:r>
            <a:r>
              <a:rPr b="1" i="1" lang="en-US" sz="2800" u="none" cap="none" strike="noStrike">
                <a:solidFill>
                  <a:schemeClr val="dk1"/>
                </a:solidFill>
                <a:latin typeface="Times"/>
                <a:ea typeface="Times"/>
                <a:cs typeface="Times"/>
                <a:sym typeface="Times"/>
              </a:rPr>
              <a:t> errors</a:t>
            </a:r>
            <a:br>
              <a:rPr b="1" i="1" lang="en-US" sz="2800" u="none" cap="none" strike="noStrike">
                <a:solidFill>
                  <a:schemeClr val="dk1"/>
                </a:solidFill>
                <a:latin typeface="Times"/>
                <a:ea typeface="Times"/>
                <a:cs typeface="Times"/>
                <a:sym typeface="Times"/>
              </a:rPr>
            </a:br>
            <a:r>
              <a:rPr b="1" i="1" lang="en-US" sz="2800" u="none" cap="none" strike="noStrike">
                <a:solidFill>
                  <a:schemeClr val="dk1"/>
                </a:solidFill>
                <a:latin typeface="Times"/>
                <a:ea typeface="Times"/>
                <a:cs typeface="Times"/>
                <a:sym typeface="Times"/>
              </a:rPr>
              <a:t>(s = 3), but it can correct up to </a:t>
            </a:r>
            <a:r>
              <a:rPr b="1" i="1" lang="en-US" sz="2800" u="none" cap="none" strike="noStrike">
                <a:solidFill>
                  <a:schemeClr val="hlink"/>
                </a:solidFill>
                <a:latin typeface="Times"/>
                <a:ea typeface="Times"/>
                <a:cs typeface="Times"/>
                <a:sym typeface="Times"/>
              </a:rPr>
              <a:t>one</a:t>
            </a:r>
            <a:r>
              <a:rPr b="1" i="1" lang="en-US" sz="2800" u="none" cap="none" strike="noStrike">
                <a:solidFill>
                  <a:schemeClr val="dk1"/>
                </a:solidFill>
                <a:latin typeface="Times"/>
                <a:ea typeface="Times"/>
                <a:cs typeface="Times"/>
                <a:sym typeface="Times"/>
              </a:rPr>
              <a:t> error. In other words, </a:t>
            </a:r>
            <a:br>
              <a:rPr b="1" i="1" lang="en-US" sz="2800" u="none" cap="none" strike="noStrike">
                <a:solidFill>
                  <a:schemeClr val="dk1"/>
                </a:solidFill>
                <a:latin typeface="Times"/>
                <a:ea typeface="Times"/>
                <a:cs typeface="Times"/>
                <a:sym typeface="Times"/>
              </a:rPr>
            </a:br>
            <a:r>
              <a:rPr b="1" i="1" lang="en-US" sz="2800" u="none" cap="none" strike="noStrike">
                <a:solidFill>
                  <a:schemeClr val="dk1"/>
                </a:solidFill>
                <a:latin typeface="Times"/>
                <a:ea typeface="Times"/>
                <a:cs typeface="Times"/>
                <a:sym typeface="Times"/>
              </a:rPr>
              <a:t>if this code is used for error correction, part of its capability is wasted. Error correction codes need to have an odd minimum distance (3, 5, 7, . . . ). </a:t>
            </a:r>
            <a:endParaRPr b="0" i="0" sz="1400" u="none" cap="none" strike="noStrike">
              <a:solidFill>
                <a:srgbClr val="000000"/>
              </a:solidFill>
              <a:latin typeface="Arial"/>
              <a:ea typeface="Arial"/>
              <a:cs typeface="Arial"/>
              <a:sym typeface="Arial"/>
            </a:endParaRPr>
          </a:p>
        </p:txBody>
      </p:sp>
      <p:sp>
        <p:nvSpPr>
          <p:cNvPr id="516" name="Google Shape;516;p33"/>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3" name="Google Shape;523;p34"/>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24" name="Google Shape;524;p34"/>
          <p:cNvSpPr txBox="1"/>
          <p:nvPr/>
        </p:nvSpPr>
        <p:spPr>
          <a:xfrm>
            <a:off x="228600" y="406400"/>
            <a:ext cx="43402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10-4   CYCLIC CODES</a:t>
            </a:r>
            <a:endParaRPr b="0" i="0" sz="1400" u="none" cap="none" strike="noStrike">
              <a:solidFill>
                <a:srgbClr val="000000"/>
              </a:solidFill>
              <a:latin typeface="Arial"/>
              <a:ea typeface="Arial"/>
              <a:cs typeface="Arial"/>
              <a:sym typeface="Arial"/>
            </a:endParaRPr>
          </a:p>
        </p:txBody>
      </p:sp>
      <p:sp>
        <p:nvSpPr>
          <p:cNvPr id="525" name="Google Shape;525;p3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26" name="Google Shape;526;p34"/>
          <p:cNvSpPr txBox="1"/>
          <p:nvPr/>
        </p:nvSpPr>
        <p:spPr>
          <a:xfrm>
            <a:off x="304800" y="1476375"/>
            <a:ext cx="82296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Cyclic codes</a:t>
            </a:r>
            <a:r>
              <a:rPr b="1" i="1" lang="en-US" sz="2800" u="none" cap="none" strike="noStrike">
                <a:solidFill>
                  <a:schemeClr val="dk1"/>
                </a:solidFill>
                <a:latin typeface="Times New Roman"/>
                <a:ea typeface="Times New Roman"/>
                <a:cs typeface="Times New Roman"/>
                <a:sym typeface="Times New Roman"/>
              </a:rPr>
              <a:t> are special linear block codes with one extra property. In a cyclic code, if a codeword is cyclically shifted (rotated), the result is another codeword.</a:t>
            </a:r>
            <a:endParaRPr b="0" i="0" sz="1400" u="none" cap="none" strike="noStrike">
              <a:solidFill>
                <a:srgbClr val="000000"/>
              </a:solidFill>
              <a:latin typeface="Arial"/>
              <a:ea typeface="Arial"/>
              <a:cs typeface="Arial"/>
              <a:sym typeface="Arial"/>
            </a:endParaRPr>
          </a:p>
        </p:txBody>
      </p:sp>
      <p:sp>
        <p:nvSpPr>
          <p:cNvPr id="527" name="Google Shape;527;p34"/>
          <p:cNvSpPr txBox="1"/>
          <p:nvPr/>
        </p:nvSpPr>
        <p:spPr>
          <a:xfrm>
            <a:off x="304800" y="3981450"/>
            <a:ext cx="6705600" cy="2282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Cyclic Redundancy Check</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Hardware Implementation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Polynomials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Cyclic Code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Advantages of Cyclic Codes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Other Cyclic Codes</a:t>
            </a:r>
            <a:endParaRPr b="0" i="0" sz="1400" u="none" cap="none" strike="noStrike">
              <a:solidFill>
                <a:srgbClr val="000000"/>
              </a:solidFill>
              <a:latin typeface="Arial"/>
              <a:ea typeface="Arial"/>
              <a:cs typeface="Arial"/>
              <a:sym typeface="Arial"/>
            </a:endParaRPr>
          </a:p>
        </p:txBody>
      </p:sp>
      <p:sp>
        <p:nvSpPr>
          <p:cNvPr id="528" name="Google Shape;528;p34"/>
          <p:cNvSpPr txBox="1"/>
          <p:nvPr/>
        </p:nvSpPr>
        <p:spPr>
          <a:xfrm>
            <a:off x="317500" y="35052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5"/>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5" name="Google Shape;535;p35"/>
          <p:cNvSpPr txBox="1"/>
          <p:nvPr/>
        </p:nvSpPr>
        <p:spPr>
          <a:xfrm>
            <a:off x="533400" y="685800"/>
            <a:ext cx="4273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10.6  </a:t>
            </a:r>
            <a:r>
              <a:rPr b="1" i="1" lang="en-US" sz="2000" u="none" cap="none" strike="noStrike">
                <a:solidFill>
                  <a:schemeClr val="dk1"/>
                </a:solidFill>
                <a:latin typeface="Times New Roman"/>
                <a:ea typeface="Times New Roman"/>
                <a:cs typeface="Times New Roman"/>
                <a:sym typeface="Times New Roman"/>
              </a:rPr>
              <a:t>A CRC code with C(7, 4)</a:t>
            </a:r>
            <a:endParaRPr b="0" i="0" sz="1400" u="none" cap="none" strike="noStrike">
              <a:solidFill>
                <a:srgbClr val="000000"/>
              </a:solidFill>
              <a:latin typeface="Arial"/>
              <a:ea typeface="Arial"/>
              <a:cs typeface="Arial"/>
              <a:sym typeface="Arial"/>
            </a:endParaRPr>
          </a:p>
        </p:txBody>
      </p:sp>
      <p:pic>
        <p:nvPicPr>
          <p:cNvPr id="536" name="Google Shape;536;p35"/>
          <p:cNvPicPr preferRelativeResize="0"/>
          <p:nvPr/>
        </p:nvPicPr>
        <p:blipFill rotWithShape="1">
          <a:blip r:embed="rId3">
            <a:alphaModFix/>
          </a:blip>
          <a:srcRect b="0" l="0" r="0" t="0"/>
          <a:stretch/>
        </p:blipFill>
        <p:spPr>
          <a:xfrm>
            <a:off x="328612" y="1201737"/>
            <a:ext cx="8739187" cy="428466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p36"/>
          <p:cNvPicPr preferRelativeResize="0"/>
          <p:nvPr>
            <p:ph idx="1" type="body"/>
          </p:nvPr>
        </p:nvPicPr>
        <p:blipFill rotWithShape="1">
          <a:blip r:embed="rId3">
            <a:alphaModFix/>
          </a:blip>
          <a:srcRect b="0" l="0" r="0" t="0"/>
          <a:stretch/>
        </p:blipFill>
        <p:spPr>
          <a:xfrm>
            <a:off x="-76200" y="596900"/>
            <a:ext cx="8955087" cy="5664200"/>
          </a:xfrm>
          <a:prstGeom prst="rect">
            <a:avLst/>
          </a:prstGeom>
          <a:noFill/>
          <a:ln>
            <a:noFill/>
          </a:ln>
        </p:spPr>
      </p:pic>
      <p:sp>
        <p:nvSpPr>
          <p:cNvPr id="542" name="Google Shape;542;p3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7"/>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4400">
              <a:solidFill>
                <a:schemeClr val="dk2"/>
              </a:solidFill>
              <a:latin typeface="tahoma"/>
              <a:ea typeface="tahoma"/>
              <a:cs typeface="tahoma"/>
              <a:sym typeface="tahoma"/>
            </a:endParaRPr>
          </a:p>
        </p:txBody>
      </p:sp>
      <p:pic>
        <p:nvPicPr>
          <p:cNvPr id="548" name="Google Shape;548;p37"/>
          <p:cNvPicPr preferRelativeResize="0"/>
          <p:nvPr>
            <p:ph idx="1" type="body"/>
          </p:nvPr>
        </p:nvPicPr>
        <p:blipFill rotWithShape="1">
          <a:blip r:embed="rId3">
            <a:alphaModFix/>
          </a:blip>
          <a:srcRect b="0" l="0" r="0" t="0"/>
          <a:stretch/>
        </p:blipFill>
        <p:spPr>
          <a:xfrm>
            <a:off x="0" y="1447800"/>
            <a:ext cx="9086850" cy="4800600"/>
          </a:xfrm>
          <a:prstGeom prst="rect">
            <a:avLst/>
          </a:prstGeom>
          <a:noFill/>
          <a:ln>
            <a:noFill/>
          </a:ln>
        </p:spPr>
      </p:pic>
      <p:sp>
        <p:nvSpPr>
          <p:cNvPr id="549" name="Google Shape;549;p3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56" name="Google Shape;556;p38"/>
          <p:cNvCxnSpPr/>
          <p:nvPr/>
        </p:nvCxnSpPr>
        <p:spPr>
          <a:xfrm>
            <a:off x="152400" y="762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57" name="Google Shape;557;p38"/>
          <p:cNvCxnSpPr/>
          <p:nvPr/>
        </p:nvCxnSpPr>
        <p:spPr>
          <a:xfrm>
            <a:off x="152400" y="9144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58" name="Google Shape;558;p38"/>
          <p:cNvSpPr txBox="1"/>
          <p:nvPr/>
        </p:nvSpPr>
        <p:spPr>
          <a:xfrm>
            <a:off x="304800" y="304800"/>
            <a:ext cx="45767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10.15  </a:t>
            </a:r>
            <a:r>
              <a:rPr b="1" i="1" lang="en-US" sz="2000" u="none" cap="none" strike="noStrike">
                <a:solidFill>
                  <a:schemeClr val="dk1"/>
                </a:solidFill>
                <a:latin typeface="Times New Roman"/>
                <a:ea typeface="Times New Roman"/>
                <a:cs typeface="Times New Roman"/>
                <a:sym typeface="Times New Roman"/>
              </a:rPr>
              <a:t>Division in CRC encoder</a:t>
            </a:r>
            <a:endParaRPr b="0" i="0" sz="1400" u="none" cap="none" strike="noStrike">
              <a:solidFill>
                <a:srgbClr val="000000"/>
              </a:solidFill>
              <a:latin typeface="Arial"/>
              <a:ea typeface="Arial"/>
              <a:cs typeface="Arial"/>
              <a:sym typeface="Arial"/>
            </a:endParaRPr>
          </a:p>
        </p:txBody>
      </p:sp>
      <p:cxnSp>
        <p:nvCxnSpPr>
          <p:cNvPr id="559" name="Google Shape;559;p38"/>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60" name="Google Shape;560;p38"/>
          <p:cNvPicPr preferRelativeResize="0"/>
          <p:nvPr/>
        </p:nvPicPr>
        <p:blipFill rotWithShape="1">
          <a:blip r:embed="rId3">
            <a:alphaModFix/>
          </a:blip>
          <a:srcRect b="0" l="0" r="0" t="0"/>
          <a:stretch/>
        </p:blipFill>
        <p:spPr>
          <a:xfrm>
            <a:off x="1698625" y="1000125"/>
            <a:ext cx="4854575" cy="5019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67" name="Google Shape;567;p39"/>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68" name="Google Shape;568;p39"/>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69" name="Google Shape;569;p39"/>
          <p:cNvSpPr txBox="1"/>
          <p:nvPr/>
        </p:nvSpPr>
        <p:spPr>
          <a:xfrm>
            <a:off x="304800" y="762000"/>
            <a:ext cx="6365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10.16  </a:t>
            </a:r>
            <a:r>
              <a:rPr b="1" i="1" lang="en-US" sz="2000" u="none" cap="none" strike="noStrike">
                <a:solidFill>
                  <a:schemeClr val="dk1"/>
                </a:solidFill>
                <a:latin typeface="Times New Roman"/>
                <a:ea typeface="Times New Roman"/>
                <a:cs typeface="Times New Roman"/>
                <a:sym typeface="Times New Roman"/>
              </a:rPr>
              <a:t>Division in the CRC decoder for two cases</a:t>
            </a:r>
            <a:endParaRPr b="0" i="0" sz="1400" u="none" cap="none" strike="noStrike">
              <a:solidFill>
                <a:srgbClr val="000000"/>
              </a:solidFill>
              <a:latin typeface="Arial"/>
              <a:ea typeface="Arial"/>
              <a:cs typeface="Arial"/>
              <a:sym typeface="Arial"/>
            </a:endParaRPr>
          </a:p>
        </p:txBody>
      </p:sp>
      <p:cxnSp>
        <p:nvCxnSpPr>
          <p:cNvPr id="570" name="Google Shape;570;p39"/>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71" name="Google Shape;571;p39"/>
          <p:cNvPicPr preferRelativeResize="0"/>
          <p:nvPr/>
        </p:nvPicPr>
        <p:blipFill rotWithShape="1">
          <a:blip r:embed="rId3">
            <a:alphaModFix/>
          </a:blip>
          <a:srcRect b="0" l="0" r="0" t="0"/>
          <a:stretch/>
        </p:blipFill>
        <p:spPr>
          <a:xfrm>
            <a:off x="493712" y="1550987"/>
            <a:ext cx="7659687" cy="45450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78" name="Google Shape;578;p40"/>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79" name="Google Shape;579;p40"/>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80" name="Google Shape;580;p40"/>
          <p:cNvSpPr txBox="1"/>
          <p:nvPr/>
        </p:nvSpPr>
        <p:spPr>
          <a:xfrm>
            <a:off x="304800" y="762000"/>
            <a:ext cx="8620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10.21   </a:t>
            </a:r>
            <a:r>
              <a:rPr b="1" i="1" lang="en-US" sz="2400" u="none" cap="none" strike="noStrike">
                <a:solidFill>
                  <a:schemeClr val="folHlink"/>
                </a:solidFill>
                <a:latin typeface="Times New Roman"/>
                <a:ea typeface="Times New Roman"/>
                <a:cs typeface="Times New Roman"/>
                <a:sym typeface="Times New Roman"/>
              </a:rPr>
              <a:t>A</a:t>
            </a:r>
            <a:r>
              <a:rPr b="1" i="0" lang="en-US" sz="2400" u="none" cap="none" strike="noStrike">
                <a:solidFill>
                  <a:schemeClr val="folHlink"/>
                </a:solidFill>
                <a:latin typeface="Times New Roman"/>
                <a:ea typeface="Times New Roman"/>
                <a:cs typeface="Times New Roman"/>
                <a:sym typeface="Times New Roman"/>
              </a:rPr>
              <a:t> </a:t>
            </a:r>
            <a:r>
              <a:rPr b="1" i="1" lang="en-US" sz="2000" u="none" cap="none" strike="noStrike">
                <a:solidFill>
                  <a:schemeClr val="dk1"/>
                </a:solidFill>
                <a:latin typeface="Times New Roman"/>
                <a:ea typeface="Times New Roman"/>
                <a:cs typeface="Times New Roman"/>
                <a:sym typeface="Times New Roman"/>
              </a:rPr>
              <a:t>polynomial to represent a binary word</a:t>
            </a:r>
            <a:endParaRPr b="0" i="0" sz="1400" u="none" cap="none" strike="noStrike">
              <a:solidFill>
                <a:srgbClr val="000000"/>
              </a:solidFill>
              <a:latin typeface="Arial"/>
              <a:ea typeface="Arial"/>
              <a:cs typeface="Arial"/>
              <a:sym typeface="Arial"/>
            </a:endParaRPr>
          </a:p>
        </p:txBody>
      </p:sp>
      <p:cxnSp>
        <p:nvCxnSpPr>
          <p:cNvPr id="581" name="Google Shape;581;p4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82" name="Google Shape;582;p40"/>
          <p:cNvPicPr preferRelativeResize="0"/>
          <p:nvPr/>
        </p:nvPicPr>
        <p:blipFill rotWithShape="1">
          <a:blip r:embed="rId3">
            <a:alphaModFix/>
          </a:blip>
          <a:srcRect b="0" l="0" r="0" t="0"/>
          <a:stretch/>
        </p:blipFill>
        <p:spPr>
          <a:xfrm>
            <a:off x="76200" y="2560637"/>
            <a:ext cx="8848725" cy="239236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89" name="Google Shape;589;p41"/>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90" name="Google Shape;590;p41"/>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91" name="Google Shape;591;p41"/>
          <p:cNvSpPr txBox="1"/>
          <p:nvPr/>
        </p:nvSpPr>
        <p:spPr>
          <a:xfrm>
            <a:off x="304800" y="381000"/>
            <a:ext cx="861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10.22  </a:t>
            </a:r>
            <a:r>
              <a:rPr b="1" i="1" lang="en-US" sz="2000" u="none" cap="none" strike="noStrike">
                <a:solidFill>
                  <a:schemeClr val="dk1"/>
                </a:solidFill>
                <a:latin typeface="Times New Roman"/>
                <a:ea typeface="Times New Roman"/>
                <a:cs typeface="Times New Roman"/>
                <a:sym typeface="Times New Roman"/>
              </a:rPr>
              <a:t>CRC division using polynomials</a:t>
            </a:r>
            <a:endParaRPr b="0" i="0" sz="1400" u="none" cap="none" strike="noStrike">
              <a:solidFill>
                <a:srgbClr val="000000"/>
              </a:solidFill>
              <a:latin typeface="Arial"/>
              <a:ea typeface="Arial"/>
              <a:cs typeface="Arial"/>
              <a:sym typeface="Arial"/>
            </a:endParaRPr>
          </a:p>
        </p:txBody>
      </p:sp>
      <p:cxnSp>
        <p:nvCxnSpPr>
          <p:cNvPr id="592" name="Google Shape;592;p41"/>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93" name="Google Shape;593;p41"/>
          <p:cNvPicPr preferRelativeResize="0"/>
          <p:nvPr/>
        </p:nvPicPr>
        <p:blipFill rotWithShape="1">
          <a:blip r:embed="rId3">
            <a:alphaModFix/>
          </a:blip>
          <a:srcRect b="0" l="0" r="0" t="0"/>
          <a:stretch/>
        </p:blipFill>
        <p:spPr>
          <a:xfrm>
            <a:off x="1446212" y="1524000"/>
            <a:ext cx="6097587" cy="429736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00" name="Google Shape;600;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1" name="Google Shape;601;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2" name="Google Shape;602;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3" name="Google Shape;603;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4" name="Google Shape;604;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5" name="Google Shape;605;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6" name="Google Shape;606;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607" name="Google Shape;607;p42"/>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608" name="Google Shape;608;p42"/>
          <p:cNvCxnSpPr/>
          <p:nvPr/>
        </p:nvCxnSpPr>
        <p:spPr>
          <a:xfrm>
            <a:off x="458787" y="4419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609" name="Google Shape;609;p42"/>
          <p:cNvSpPr txBox="1"/>
          <p:nvPr/>
        </p:nvSpPr>
        <p:spPr>
          <a:xfrm>
            <a:off x="495300" y="2759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The divisor in a cyclic code is normally called the generator polynomial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or simply the generator.</a:t>
            </a:r>
            <a:endParaRPr b="0" i="0" sz="1400" u="none" cap="none" strike="noStrike">
              <a:solidFill>
                <a:srgbClr val="000000"/>
              </a:solidFill>
              <a:latin typeface="Arial"/>
              <a:ea typeface="Arial"/>
              <a:cs typeface="Arial"/>
              <a:sym typeface="Arial"/>
            </a:endParaRPr>
          </a:p>
        </p:txBody>
      </p:sp>
      <p:grpSp>
        <p:nvGrpSpPr>
          <p:cNvPr id="610" name="Google Shape;610;p42"/>
          <p:cNvGrpSpPr/>
          <p:nvPr/>
        </p:nvGrpSpPr>
        <p:grpSpPr>
          <a:xfrm>
            <a:off x="533400" y="2024062"/>
            <a:ext cx="1143000" cy="566737"/>
            <a:chOff x="1200" y="1248"/>
            <a:chExt cx="720" cy="357"/>
          </a:xfrm>
        </p:grpSpPr>
        <p:pic>
          <p:nvPicPr>
            <p:cNvPr id="611" name="Google Shape;611;p4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12" name="Google Shape;612;p4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43"/>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4400">
              <a:solidFill>
                <a:schemeClr val="dk2"/>
              </a:solidFill>
              <a:latin typeface="tahoma"/>
              <a:ea typeface="tahoma"/>
              <a:cs typeface="tahoma"/>
              <a:sym typeface="tahoma"/>
            </a:endParaRPr>
          </a:p>
        </p:txBody>
      </p:sp>
      <p:sp>
        <p:nvSpPr>
          <p:cNvPr id="618" name="Google Shape;618;p4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Dataword: d(x)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Syndrome: s(x)</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Codeword: c(x)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Error: e(x)</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Generator: g(x)</a:t>
            </a:r>
            <a:endParaRPr/>
          </a:p>
          <a:p>
            <a:pPr indent="-220980" lvl="0" marL="342900" marR="0" rtl="0" algn="l">
              <a:lnSpc>
                <a:spcPct val="100000"/>
              </a:lnSpc>
              <a:spcBef>
                <a:spcPts val="64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p:txBody>
      </p:sp>
      <p:sp>
        <p:nvSpPr>
          <p:cNvPr id="619" name="Google Shape;619;p4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6" name="Google Shape;626;p4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27" name="Google Shape;627;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28" name="Google Shape;628;p4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29" name="Google Shape;629;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30" name="Google Shape;630;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31" name="Google Shape;631;p4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32" name="Google Shape;632;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nvGrpSpPr>
          <p:cNvPr id="633" name="Google Shape;633;p44"/>
          <p:cNvGrpSpPr/>
          <p:nvPr/>
        </p:nvGrpSpPr>
        <p:grpSpPr>
          <a:xfrm>
            <a:off x="228600" y="2057400"/>
            <a:ext cx="8686800" cy="3657600"/>
            <a:chOff x="192" y="1440"/>
            <a:chExt cx="5137" cy="2016"/>
          </a:xfrm>
        </p:grpSpPr>
        <p:cxnSp>
          <p:nvCxnSpPr>
            <p:cNvPr id="634" name="Google Shape;634;p44"/>
            <p:cNvCxnSpPr/>
            <p:nvPr/>
          </p:nvCxnSpPr>
          <p:spPr>
            <a:xfrm>
              <a:off x="192" y="1440"/>
              <a:ext cx="5136" cy="0"/>
            </a:xfrm>
            <a:prstGeom prst="straightConnector1">
              <a:avLst/>
            </a:prstGeom>
            <a:noFill/>
            <a:ln cap="flat" cmpd="sng" w="76200">
              <a:solidFill>
                <a:srgbClr val="009900"/>
              </a:solidFill>
              <a:prstDash val="solid"/>
              <a:miter lim="800000"/>
              <a:headEnd len="sm" w="sm" type="none"/>
              <a:tailEnd len="sm" w="sm" type="none"/>
            </a:ln>
          </p:spPr>
        </p:cxnSp>
        <p:cxnSp>
          <p:nvCxnSpPr>
            <p:cNvPr id="635" name="Google Shape;635;p44"/>
            <p:cNvCxnSpPr/>
            <p:nvPr/>
          </p:nvCxnSpPr>
          <p:spPr>
            <a:xfrm>
              <a:off x="193" y="3456"/>
              <a:ext cx="5136" cy="0"/>
            </a:xfrm>
            <a:prstGeom prst="straightConnector1">
              <a:avLst/>
            </a:prstGeom>
            <a:noFill/>
            <a:ln cap="flat" cmpd="sng" w="76200">
              <a:solidFill>
                <a:srgbClr val="009900"/>
              </a:solidFill>
              <a:prstDash val="solid"/>
              <a:miter lim="800000"/>
              <a:headEnd len="sm" w="sm" type="none"/>
              <a:tailEnd len="sm" w="sm" type="none"/>
            </a:ln>
          </p:spPr>
        </p:cxnSp>
      </p:grpSp>
      <p:sp>
        <p:nvSpPr>
          <p:cNvPr id="636" name="Google Shape;636;p44"/>
          <p:cNvSpPr txBox="1"/>
          <p:nvPr/>
        </p:nvSpPr>
        <p:spPr>
          <a:xfrm>
            <a:off x="342900" y="2149475"/>
            <a:ext cx="8496300" cy="350361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a cyclic 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If </a:t>
            </a:r>
            <a:r>
              <a:rPr b="1" i="1" lang="en-US" sz="3200" u="none" cap="none" strike="noStrike">
                <a:solidFill>
                  <a:schemeClr val="dk1"/>
                </a:solidFill>
                <a:latin typeface="Arial"/>
                <a:ea typeface="Arial"/>
                <a:cs typeface="Arial"/>
                <a:sym typeface="Arial"/>
              </a:rPr>
              <a:t>s</a:t>
            </a:r>
            <a:r>
              <a:rPr b="1" i="0" lang="en-US" sz="3200" u="none" cap="none" strike="noStrike">
                <a:solidFill>
                  <a:schemeClr val="dk1"/>
                </a:solidFill>
                <a:latin typeface="Arial"/>
                <a:ea typeface="Arial"/>
                <a:cs typeface="Arial"/>
                <a:sym typeface="Arial"/>
              </a:rPr>
              <a:t>(x) ≠ 0, one or more bits is corrupted.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If </a:t>
            </a:r>
            <a:r>
              <a:rPr b="1" i="1" lang="en-US" sz="3200" u="none" cap="none" strike="noStrike">
                <a:solidFill>
                  <a:schemeClr val="dk1"/>
                </a:solidFill>
                <a:latin typeface="Arial"/>
                <a:ea typeface="Arial"/>
                <a:cs typeface="Arial"/>
                <a:sym typeface="Arial"/>
              </a:rPr>
              <a:t>s</a:t>
            </a:r>
            <a:r>
              <a:rPr b="1" i="0" lang="en-US" sz="3200" u="none" cap="none" strike="noStrike">
                <a:solidFill>
                  <a:schemeClr val="dk1"/>
                </a:solidFill>
                <a:latin typeface="Arial"/>
                <a:ea typeface="Arial"/>
                <a:cs typeface="Arial"/>
                <a:sym typeface="Arial"/>
              </a:rPr>
              <a:t>(x) = 0, either</a:t>
            </a:r>
            <a:br>
              <a:rPr b="1" i="0" lang="en-US" sz="32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a:t>
            </a:r>
            <a:r>
              <a:rPr b="1" i="0" lang="en-US" sz="3200" u="none" cap="none" strike="noStrike">
                <a:solidFill>
                  <a:schemeClr val="hlink"/>
                </a:solidFill>
                <a:latin typeface="Arial"/>
                <a:ea typeface="Arial"/>
                <a:cs typeface="Arial"/>
                <a:sym typeface="Arial"/>
              </a:rPr>
              <a:t>a.</a:t>
            </a:r>
            <a:r>
              <a:rPr b="1" i="0" lang="en-US" sz="3200" u="none" cap="none" strike="noStrike">
                <a:solidFill>
                  <a:schemeClr val="dk1"/>
                </a:solidFill>
                <a:latin typeface="Arial"/>
                <a:ea typeface="Arial"/>
                <a:cs typeface="Arial"/>
                <a:sym typeface="Arial"/>
              </a:rPr>
              <a:t> No bit is corrupted. 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a:t>
            </a:r>
            <a:r>
              <a:rPr b="1" i="0" lang="en-US" sz="3200" u="none" cap="none" strike="noStrike">
                <a:solidFill>
                  <a:schemeClr val="hlink"/>
                </a:solidFill>
                <a:latin typeface="Arial"/>
                <a:ea typeface="Arial"/>
                <a:cs typeface="Arial"/>
                <a:sym typeface="Arial"/>
              </a:rPr>
              <a:t>b.</a:t>
            </a:r>
            <a:r>
              <a:rPr b="1" i="0" lang="en-US" sz="3200" u="none" cap="none" strike="noStrike">
                <a:solidFill>
                  <a:schemeClr val="dk1"/>
                </a:solidFill>
                <a:latin typeface="Arial"/>
                <a:ea typeface="Arial"/>
                <a:cs typeface="Arial"/>
                <a:sym typeface="Arial"/>
              </a:rPr>
              <a:t> Some bits are corrupted, but the</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       decoder failed to detect them.</a:t>
            </a:r>
            <a:endParaRPr b="0" i="0" sz="1400" u="none" cap="none" strike="noStrike">
              <a:solidFill>
                <a:srgbClr val="000000"/>
              </a:solidFill>
              <a:latin typeface="Arial"/>
              <a:ea typeface="Arial"/>
              <a:cs typeface="Arial"/>
              <a:sym typeface="Arial"/>
            </a:endParaRPr>
          </a:p>
        </p:txBody>
      </p:sp>
      <p:grpSp>
        <p:nvGrpSpPr>
          <p:cNvPr id="637" name="Google Shape;637;p44"/>
          <p:cNvGrpSpPr/>
          <p:nvPr/>
        </p:nvGrpSpPr>
        <p:grpSpPr>
          <a:xfrm>
            <a:off x="304800" y="1371600"/>
            <a:ext cx="1143000" cy="566737"/>
            <a:chOff x="1200" y="1248"/>
            <a:chExt cx="720" cy="357"/>
          </a:xfrm>
        </p:grpSpPr>
        <p:pic>
          <p:nvPicPr>
            <p:cNvPr id="638" name="Google Shape;638;p4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39" name="Google Shape;639;p4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5"/>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6" name="Google Shape;646;p4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47" name="Google Shape;647;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48" name="Google Shape;648;p4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49" name="Google Shape;649;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50" name="Google Shape;650;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51" name="Google Shape;651;p4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52" name="Google Shape;652;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653" name="Google Shape;653;p45"/>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654" name="Google Shape;654;p45"/>
          <p:cNvCxnSpPr/>
          <p:nvPr/>
        </p:nvCxnSpPr>
        <p:spPr>
          <a:xfrm>
            <a:off x="458787" y="3886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655" name="Google Shape;655;p45"/>
          <p:cNvSpPr txBox="1"/>
          <p:nvPr/>
        </p:nvSpPr>
        <p:spPr>
          <a:xfrm>
            <a:off x="495300" y="2759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a cyclic code, those </a:t>
            </a:r>
            <a:r>
              <a:rPr b="1" i="1" lang="en-US" sz="3200" u="none" cap="none" strike="noStrike">
                <a:solidFill>
                  <a:schemeClr val="dk1"/>
                </a:solidFill>
                <a:latin typeface="Arial"/>
                <a:ea typeface="Arial"/>
                <a:cs typeface="Arial"/>
                <a:sym typeface="Arial"/>
              </a:rPr>
              <a:t>e</a:t>
            </a:r>
            <a:r>
              <a:rPr b="1" i="0" lang="en-US" sz="3200" u="none" cap="none" strike="noStrike">
                <a:solidFill>
                  <a:schemeClr val="dk1"/>
                </a:solidFill>
                <a:latin typeface="Arial"/>
                <a:ea typeface="Arial"/>
                <a:cs typeface="Arial"/>
                <a:sym typeface="Arial"/>
              </a:rPr>
              <a:t>(x) errors that are divisible by </a:t>
            </a:r>
            <a:r>
              <a:rPr b="1" i="1" lang="en-US" sz="3200" u="none" cap="none" strike="noStrike">
                <a:solidFill>
                  <a:schemeClr val="dk1"/>
                </a:solidFill>
                <a:latin typeface="Arial"/>
                <a:ea typeface="Arial"/>
                <a:cs typeface="Arial"/>
                <a:sym typeface="Arial"/>
              </a:rPr>
              <a:t>g</a:t>
            </a:r>
            <a:r>
              <a:rPr b="1" i="0" lang="en-US" sz="3200" u="none" cap="none" strike="noStrike">
                <a:solidFill>
                  <a:schemeClr val="dk1"/>
                </a:solidFill>
                <a:latin typeface="Arial"/>
                <a:ea typeface="Arial"/>
                <a:cs typeface="Arial"/>
                <a:sym typeface="Arial"/>
              </a:rPr>
              <a:t>(x) are not caught.</a:t>
            </a:r>
            <a:endParaRPr b="0" i="0" sz="1400" u="none" cap="none" strike="noStrike">
              <a:solidFill>
                <a:srgbClr val="000000"/>
              </a:solidFill>
              <a:latin typeface="Arial"/>
              <a:ea typeface="Arial"/>
              <a:cs typeface="Arial"/>
              <a:sym typeface="Arial"/>
            </a:endParaRPr>
          </a:p>
        </p:txBody>
      </p:sp>
      <p:grpSp>
        <p:nvGrpSpPr>
          <p:cNvPr id="656" name="Google Shape;656;p45"/>
          <p:cNvGrpSpPr/>
          <p:nvPr/>
        </p:nvGrpSpPr>
        <p:grpSpPr>
          <a:xfrm>
            <a:off x="533400" y="2024062"/>
            <a:ext cx="1143000" cy="566737"/>
            <a:chOff x="1200" y="1248"/>
            <a:chExt cx="720" cy="357"/>
          </a:xfrm>
        </p:grpSpPr>
        <p:pic>
          <p:nvPicPr>
            <p:cNvPr id="657" name="Google Shape;657;p4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58" name="Google Shape;658;p45"/>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3" name="Shape 663"/>
        <p:cNvGrpSpPr/>
        <p:nvPr/>
      </p:nvGrpSpPr>
      <p:grpSpPr>
        <a:xfrm>
          <a:off x="0" y="0"/>
          <a:ext cx="0" cy="0"/>
          <a:chOff x="0" y="0"/>
          <a:chExt cx="0" cy="0"/>
        </a:xfrm>
      </p:grpSpPr>
      <p:sp>
        <p:nvSpPr>
          <p:cNvPr id="664" name="Google Shape;664;p4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65" name="Google Shape;665;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66" name="Google Shape;666;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67" name="Google Shape;667;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68" name="Google Shape;668;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69" name="Google Shape;669;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70" name="Google Shape;670;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71" name="Google Shape;671;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672" name="Google Shape;672;p46"/>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673" name="Google Shape;673;p46"/>
          <p:cNvCxnSpPr/>
          <p:nvPr/>
        </p:nvCxnSpPr>
        <p:spPr>
          <a:xfrm>
            <a:off x="458787" y="4419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674" name="Google Shape;674;p46"/>
          <p:cNvSpPr txBox="1"/>
          <p:nvPr/>
        </p:nvSpPr>
        <p:spPr>
          <a:xfrm>
            <a:off x="495300" y="2759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If the generator has more than one term and the coefficient of x</a:t>
            </a:r>
            <a:r>
              <a:rPr b="1" baseline="30000" i="0" lang="en-US" sz="3200" u="none" cap="none" strike="noStrike">
                <a:solidFill>
                  <a:schemeClr val="dk1"/>
                </a:solidFill>
                <a:latin typeface="Arial"/>
                <a:ea typeface="Arial"/>
                <a:cs typeface="Arial"/>
                <a:sym typeface="Arial"/>
              </a:rPr>
              <a:t>0</a:t>
            </a:r>
            <a:r>
              <a:rPr b="1" i="0" lang="en-US" sz="3200" u="none" cap="none" strike="noStrike">
                <a:solidFill>
                  <a:schemeClr val="dk1"/>
                </a:solidFill>
                <a:latin typeface="Arial"/>
                <a:ea typeface="Arial"/>
                <a:cs typeface="Arial"/>
                <a:sym typeface="Arial"/>
              </a:rPr>
              <a:t> is 1,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all single errors can be caught.</a:t>
            </a:r>
            <a:endParaRPr b="0" i="0" sz="1400" u="none" cap="none" strike="noStrike">
              <a:solidFill>
                <a:srgbClr val="000000"/>
              </a:solidFill>
              <a:latin typeface="Arial"/>
              <a:ea typeface="Arial"/>
              <a:cs typeface="Arial"/>
              <a:sym typeface="Arial"/>
            </a:endParaRPr>
          </a:p>
        </p:txBody>
      </p:sp>
      <p:grpSp>
        <p:nvGrpSpPr>
          <p:cNvPr id="675" name="Google Shape;675;p46"/>
          <p:cNvGrpSpPr/>
          <p:nvPr/>
        </p:nvGrpSpPr>
        <p:grpSpPr>
          <a:xfrm>
            <a:off x="533400" y="2024062"/>
            <a:ext cx="1143000" cy="566737"/>
            <a:chOff x="1200" y="1248"/>
            <a:chExt cx="720" cy="357"/>
          </a:xfrm>
        </p:grpSpPr>
        <p:pic>
          <p:nvPicPr>
            <p:cNvPr id="676" name="Google Shape;676;p4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77" name="Google Shape;677;p4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4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84" name="Google Shape;684;p47"/>
          <p:cNvSpPr txBox="1"/>
          <p:nvPr/>
        </p:nvSpPr>
        <p:spPr>
          <a:xfrm>
            <a:off x="152400" y="1295400"/>
            <a:ext cx="39798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10.7  </a:t>
            </a:r>
            <a:r>
              <a:rPr b="1" i="1" lang="en-US" sz="2000" u="none" cap="none" strike="noStrike">
                <a:solidFill>
                  <a:schemeClr val="dk1"/>
                </a:solidFill>
                <a:latin typeface="Times New Roman"/>
                <a:ea typeface="Times New Roman"/>
                <a:cs typeface="Times New Roman"/>
                <a:sym typeface="Times New Roman"/>
              </a:rPr>
              <a:t>Standard polynomials</a:t>
            </a:r>
            <a:endParaRPr b="0" i="0" sz="1400" u="none" cap="none" strike="noStrike">
              <a:solidFill>
                <a:srgbClr val="000000"/>
              </a:solidFill>
              <a:latin typeface="Arial"/>
              <a:ea typeface="Arial"/>
              <a:cs typeface="Arial"/>
              <a:sym typeface="Arial"/>
            </a:endParaRPr>
          </a:p>
        </p:txBody>
      </p:sp>
      <p:pic>
        <p:nvPicPr>
          <p:cNvPr id="685" name="Google Shape;685;p47"/>
          <p:cNvPicPr preferRelativeResize="0"/>
          <p:nvPr/>
        </p:nvPicPr>
        <p:blipFill rotWithShape="1">
          <a:blip r:embed="rId3">
            <a:alphaModFix/>
          </a:blip>
          <a:srcRect b="0" l="0" r="0" t="0"/>
          <a:stretch/>
        </p:blipFill>
        <p:spPr>
          <a:xfrm>
            <a:off x="73025" y="1703387"/>
            <a:ext cx="8994775" cy="27924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4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92" name="Google Shape;692;p48"/>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93" name="Google Shape;693;p48"/>
          <p:cNvSpPr txBox="1"/>
          <p:nvPr/>
        </p:nvSpPr>
        <p:spPr>
          <a:xfrm>
            <a:off x="228600" y="406400"/>
            <a:ext cx="36274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10-5   CHECKSUM</a:t>
            </a:r>
            <a:endParaRPr b="0" i="0" sz="1400" u="none" cap="none" strike="noStrike">
              <a:solidFill>
                <a:srgbClr val="000000"/>
              </a:solidFill>
              <a:latin typeface="Arial"/>
              <a:ea typeface="Arial"/>
              <a:cs typeface="Arial"/>
              <a:sym typeface="Arial"/>
            </a:endParaRPr>
          </a:p>
        </p:txBody>
      </p:sp>
      <p:sp>
        <p:nvSpPr>
          <p:cNvPr id="694" name="Google Shape;694;p4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95" name="Google Shape;695;p48"/>
          <p:cNvSpPr txBox="1"/>
          <p:nvPr/>
        </p:nvSpPr>
        <p:spPr>
          <a:xfrm>
            <a:off x="152400" y="1524000"/>
            <a:ext cx="82296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last error detection method we discuss here is called the checksum. The checksum is used in the Internet by several protocols although not at the data link layer. However, we briefly discuss it here to complete our discussion on error checking</a:t>
            </a:r>
            <a:endParaRPr b="0" i="0" sz="1400" u="none" cap="none" strike="noStrike">
              <a:solidFill>
                <a:srgbClr val="000000"/>
              </a:solidFill>
              <a:latin typeface="Arial"/>
              <a:ea typeface="Arial"/>
              <a:cs typeface="Arial"/>
              <a:sym typeface="Arial"/>
            </a:endParaRPr>
          </a:p>
        </p:txBody>
      </p:sp>
      <p:sp>
        <p:nvSpPr>
          <p:cNvPr id="696" name="Google Shape;696;p48"/>
          <p:cNvSpPr txBox="1"/>
          <p:nvPr/>
        </p:nvSpPr>
        <p:spPr>
          <a:xfrm>
            <a:off x="152400" y="4679950"/>
            <a:ext cx="67056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Idea</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One’s Complement</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Internet Checksum</a:t>
            </a:r>
            <a:endParaRPr b="0" i="0" sz="1400" u="none" cap="none" strike="noStrike">
              <a:solidFill>
                <a:srgbClr val="000000"/>
              </a:solidFill>
              <a:latin typeface="Arial"/>
              <a:ea typeface="Arial"/>
              <a:cs typeface="Arial"/>
              <a:sym typeface="Arial"/>
            </a:endParaRPr>
          </a:p>
        </p:txBody>
      </p:sp>
      <p:sp>
        <p:nvSpPr>
          <p:cNvPr id="697" name="Google Shape;697;p48"/>
          <p:cNvSpPr txBox="1"/>
          <p:nvPr/>
        </p:nvSpPr>
        <p:spPr>
          <a:xfrm>
            <a:off x="165100" y="42037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04" name="Google Shape;704;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5" name="Google Shape;705;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6" name="Google Shape;706;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7" name="Google Shape;707;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8" name="Google Shape;708;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9" name="Google Shape;709;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10" name="Google Shape;710;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11" name="Google Shape;711;p49"/>
          <p:cNvSpPr txBox="1"/>
          <p:nvPr/>
        </p:nvSpPr>
        <p:spPr>
          <a:xfrm>
            <a:off x="228600" y="1143000"/>
            <a:ext cx="8686800" cy="4362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Suppose our data is a list of five 4-bit numbers that we want to send to a destination. In addition to sending these numbers, we send the sum of the numbers. For example, if the set of numbers is (7, 11, 12, 0, 6), we send (7, 11, 12, 0, 6, </a:t>
            </a:r>
            <a:r>
              <a:rPr b="1" i="1" lang="en-US" sz="2800" u="none" cap="none" strike="noStrike">
                <a:solidFill>
                  <a:schemeClr val="hlink"/>
                </a:solidFill>
                <a:latin typeface="Times New Roman"/>
                <a:ea typeface="Times New Roman"/>
                <a:cs typeface="Times New Roman"/>
                <a:sym typeface="Times New Roman"/>
              </a:rPr>
              <a:t>36</a:t>
            </a:r>
            <a:r>
              <a:rPr b="1" i="1" lang="en-US" sz="2800" u="none" cap="none" strike="noStrike">
                <a:solidFill>
                  <a:schemeClr val="dk1"/>
                </a:solidFill>
                <a:latin typeface="Times New Roman"/>
                <a:ea typeface="Times New Roman"/>
                <a:cs typeface="Times New Roman"/>
                <a:sym typeface="Times New Roman"/>
              </a:rPr>
              <a:t>), where 36 is the sum of the original numbers. The receiver adds the five numbers and compares the result with the sum. If the two are the same, the receiver assumes no error, accepts the five numbers, and discards the sum. Otherwise, there is an error somewhere and the data are not accepted.</a:t>
            </a:r>
            <a:endParaRPr b="0" i="0" sz="1400" u="none" cap="none" strike="noStrike">
              <a:solidFill>
                <a:srgbClr val="000000"/>
              </a:solidFill>
              <a:latin typeface="Arial"/>
              <a:ea typeface="Arial"/>
              <a:cs typeface="Arial"/>
              <a:sym typeface="Arial"/>
            </a:endParaRPr>
          </a:p>
        </p:txBody>
      </p:sp>
      <p:sp>
        <p:nvSpPr>
          <p:cNvPr id="712" name="Google Shape;712;p49"/>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10.18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19" name="Google Shape;719;p5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0" name="Google Shape;720;p5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1" name="Google Shape;721;p5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2" name="Google Shape;722;p5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3" name="Google Shape;723;p5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4" name="Google Shape;724;p5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5" name="Google Shape;725;p5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6" name="Google Shape;726;p50"/>
          <p:cNvSpPr txBox="1"/>
          <p:nvPr/>
        </p:nvSpPr>
        <p:spPr>
          <a:xfrm>
            <a:off x="228600" y="1143000"/>
            <a:ext cx="86868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make the job of the receiver easier if we send the negative (complement) of the sum, called the </a:t>
            </a:r>
            <a:r>
              <a:rPr b="1" i="1" lang="en-US" sz="2800" u="none" cap="none" strike="noStrike">
                <a:solidFill>
                  <a:schemeClr val="hlink"/>
                </a:solidFill>
                <a:latin typeface="Times New Roman"/>
                <a:ea typeface="Times New Roman"/>
                <a:cs typeface="Times New Roman"/>
                <a:sym typeface="Times New Roman"/>
              </a:rPr>
              <a:t>checksum</a:t>
            </a:r>
            <a:r>
              <a:rPr b="1" i="1" lang="en-US" sz="2800" u="none" cap="none" strike="noStrike">
                <a:solidFill>
                  <a:schemeClr val="dk1"/>
                </a:solidFill>
                <a:latin typeface="Times New Roman"/>
                <a:ea typeface="Times New Roman"/>
                <a:cs typeface="Times New Roman"/>
                <a:sym typeface="Times New Roman"/>
              </a:rPr>
              <a:t>. In this case, we send (7, 11, 12, 0, 6, </a:t>
            </a:r>
            <a:r>
              <a:rPr b="1" i="1" lang="en-US" sz="2800" u="none" cap="none" strike="noStrike">
                <a:solidFill>
                  <a:schemeClr val="hlink"/>
                </a:solidFill>
                <a:latin typeface="Times New Roman"/>
                <a:ea typeface="Times New Roman"/>
                <a:cs typeface="Times New Roman"/>
                <a:sym typeface="Times New Roman"/>
              </a:rPr>
              <a:t>−36</a:t>
            </a:r>
            <a:r>
              <a:rPr b="1" i="1" lang="en-US" sz="2800" u="none" cap="none" strike="noStrike">
                <a:solidFill>
                  <a:schemeClr val="dk1"/>
                </a:solidFill>
                <a:latin typeface="Times New Roman"/>
                <a:ea typeface="Times New Roman"/>
                <a:cs typeface="Times New Roman"/>
                <a:sym typeface="Times New Roman"/>
              </a:rPr>
              <a:t>). The receiver can add all the numbers received (including the checksum). If the result is 0, it assumes no error; otherwise, there is an error.</a:t>
            </a:r>
            <a:endParaRPr b="0" i="0" sz="1400" u="none" cap="none" strike="noStrike">
              <a:solidFill>
                <a:srgbClr val="000000"/>
              </a:solidFill>
              <a:latin typeface="Arial"/>
              <a:ea typeface="Arial"/>
              <a:cs typeface="Arial"/>
              <a:sym typeface="Arial"/>
            </a:endParaRPr>
          </a:p>
        </p:txBody>
      </p:sp>
      <p:sp>
        <p:nvSpPr>
          <p:cNvPr id="727" name="Google Shape;727;p50"/>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1"/>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34" name="Google Shape;734;p5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5" name="Google Shape;735;p5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6" name="Google Shape;736;p5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7" name="Google Shape;737;p5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8" name="Google Shape;738;p5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9" name="Google Shape;739;p5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40" name="Google Shape;740;p5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41" name="Google Shape;741;p51"/>
          <p:cNvSpPr txBox="1"/>
          <p:nvPr/>
        </p:nvSpPr>
        <p:spPr>
          <a:xfrm>
            <a:off x="228600" y="1143000"/>
            <a:ext cx="83058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How can we represent the number 21 in </a:t>
            </a:r>
            <a:r>
              <a:rPr b="1" i="1" lang="en-US" sz="2800" u="none" cap="none" strike="noStrike">
                <a:solidFill>
                  <a:schemeClr val="hlink"/>
                </a:solidFill>
                <a:latin typeface="Times New Roman"/>
                <a:ea typeface="Times New Roman"/>
                <a:cs typeface="Times New Roman"/>
                <a:sym typeface="Times New Roman"/>
              </a:rPr>
              <a:t>one’s complement arithmetic</a:t>
            </a:r>
            <a:r>
              <a:rPr b="1" i="1" lang="en-US" sz="2800" u="none" cap="none" strike="noStrike">
                <a:solidFill>
                  <a:schemeClr val="dk1"/>
                </a:solidFill>
                <a:latin typeface="Times New Roman"/>
                <a:ea typeface="Times New Roman"/>
                <a:cs typeface="Times New Roman"/>
                <a:sym typeface="Times New Roman"/>
              </a:rPr>
              <a:t> using only four bits?</a:t>
            </a:r>
            <a:endParaRPr b="0" i="0" sz="1400" u="none" cap="none" strike="noStrike">
              <a:solidFill>
                <a:srgbClr val="000000"/>
              </a:solidFill>
              <a:latin typeface="Arial"/>
              <a:ea typeface="Arial"/>
              <a:cs typeface="Arial"/>
              <a:sym typeface="Arial"/>
            </a:endParaRPr>
          </a:p>
        </p:txBody>
      </p:sp>
      <p:sp>
        <p:nvSpPr>
          <p:cNvPr id="742" name="Google Shape;742;p51"/>
          <p:cNvSpPr txBox="1"/>
          <p:nvPr/>
        </p:nvSpPr>
        <p:spPr>
          <a:xfrm>
            <a:off x="228600" y="3106737"/>
            <a:ext cx="86868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The number 21 in binary is 10101 (it needs five bits). We can wrap the leftmost bit and add it to the four rightmost bits. We have (0101 + 1) = 0110 or </a:t>
            </a:r>
            <a:r>
              <a:rPr b="1" i="1" lang="en-US" sz="2800" u="none" cap="none" strike="noStrike">
                <a:solidFill>
                  <a:schemeClr val="hlink"/>
                </a:solidFill>
                <a:latin typeface="Times"/>
                <a:ea typeface="Times"/>
                <a:cs typeface="Times"/>
                <a:sym typeface="Times"/>
              </a:rPr>
              <a:t>6</a:t>
            </a:r>
            <a:r>
              <a:rPr b="1" i="1" lang="en-US" sz="28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743" name="Google Shape;743;p51"/>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2"/>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50" name="Google Shape;750;p5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1" name="Google Shape;751;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2" name="Google Shape;752;p5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3" name="Google Shape;753;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4" name="Google Shape;754;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5" name="Google Shape;755;p5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6" name="Google Shape;756;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7" name="Google Shape;757;p52"/>
          <p:cNvSpPr txBox="1"/>
          <p:nvPr/>
        </p:nvSpPr>
        <p:spPr>
          <a:xfrm>
            <a:off x="228600" y="1143000"/>
            <a:ext cx="8458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How can we represent the number −6 in one’s complement arithmetic using only four bits?</a:t>
            </a:r>
            <a:endParaRPr b="0" i="0" sz="1400" u="none" cap="none" strike="noStrike">
              <a:solidFill>
                <a:srgbClr val="000000"/>
              </a:solidFill>
              <a:latin typeface="Arial"/>
              <a:ea typeface="Arial"/>
              <a:cs typeface="Arial"/>
              <a:sym typeface="Arial"/>
            </a:endParaRPr>
          </a:p>
        </p:txBody>
      </p:sp>
      <p:sp>
        <p:nvSpPr>
          <p:cNvPr id="758" name="Google Shape;758;p52"/>
          <p:cNvSpPr txBox="1"/>
          <p:nvPr/>
        </p:nvSpPr>
        <p:spPr>
          <a:xfrm>
            <a:off x="228600" y="2286000"/>
            <a:ext cx="8686800" cy="3508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In one’s complement arithmetic, the negative or complement of a number is found by inverting all bits. Positive 6 is 0110; negative 6 is 1001. If we consider only unsigned numbers, this is 9. In other words, the complement of 6 is 9. Another way to find the complement of a number in one’s complement arithmetic is to subtract the number from 2</a:t>
            </a:r>
            <a:r>
              <a:rPr b="1" baseline="30000" i="1" lang="en-US" sz="2800" u="none" cap="none" strike="noStrike">
                <a:solidFill>
                  <a:schemeClr val="dk1"/>
                </a:solidFill>
                <a:latin typeface="Times"/>
                <a:ea typeface="Times"/>
                <a:cs typeface="Times"/>
                <a:sym typeface="Times"/>
              </a:rPr>
              <a:t>n</a:t>
            </a:r>
            <a:r>
              <a:rPr b="1" i="1" lang="en-US" sz="2800" u="none" cap="none" strike="noStrike">
                <a:solidFill>
                  <a:schemeClr val="dk1"/>
                </a:solidFill>
                <a:latin typeface="Times"/>
                <a:ea typeface="Times"/>
                <a:cs typeface="Times"/>
                <a:sym typeface="Times"/>
              </a:rPr>
              <a:t> − 1 (16 − 1 in this case).</a:t>
            </a:r>
            <a:endParaRPr b="0" i="0" sz="1400" u="none" cap="none" strike="noStrike">
              <a:solidFill>
                <a:srgbClr val="000000"/>
              </a:solidFill>
              <a:latin typeface="Arial"/>
              <a:ea typeface="Arial"/>
              <a:cs typeface="Arial"/>
              <a:sym typeface="Arial"/>
            </a:endParaRPr>
          </a:p>
        </p:txBody>
      </p:sp>
      <p:sp>
        <p:nvSpPr>
          <p:cNvPr id="759" name="Google Shape;759;p52"/>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53"/>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66" name="Google Shape;766;p5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67" name="Google Shape;767;p5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68" name="Google Shape;768;p5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69" name="Google Shape;769;p5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70" name="Google Shape;770;p5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71" name="Google Shape;771;p5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72" name="Google Shape;772;p5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73" name="Google Shape;773;p53"/>
          <p:cNvSpPr txBox="1"/>
          <p:nvPr/>
        </p:nvSpPr>
        <p:spPr>
          <a:xfrm>
            <a:off x="228600" y="990600"/>
            <a:ext cx="8534400" cy="5216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redo Exercise 10.19 using one’s complement arithmetic. Figure 10.24 shows the process at the sender and at the receiver. The sender initializes the checksum to 0 and adds all data items and the checksum (the checksum is considered as one data item and is shown in color). The result is 36. However, 36 cannot be expressed in 4 bits. The extra two bits are wrapped and added with the sum to create the wrapped sum value 6. In the figure, we have shown the details in binary. The sum is then complemented, resulting in the checksum value 9 (15 − 6 = 9). The sender now sends six data items to the receiver including the checksum 9. </a:t>
            </a:r>
            <a:endParaRPr b="0" i="0" sz="1400" u="none" cap="none" strike="noStrike">
              <a:solidFill>
                <a:srgbClr val="000000"/>
              </a:solidFill>
              <a:latin typeface="Arial"/>
              <a:ea typeface="Arial"/>
              <a:cs typeface="Arial"/>
              <a:sym typeface="Arial"/>
            </a:endParaRPr>
          </a:p>
        </p:txBody>
      </p:sp>
      <p:sp>
        <p:nvSpPr>
          <p:cNvPr id="774" name="Google Shape;774;p53"/>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54"/>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81" name="Google Shape;781;p5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2" name="Google Shape;782;p5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3" name="Google Shape;783;p5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4" name="Google Shape;784;p5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5" name="Google Shape;785;p5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6" name="Google Shape;786;p5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7" name="Google Shape;787;p5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88" name="Google Shape;788;p54"/>
          <p:cNvSpPr txBox="1"/>
          <p:nvPr/>
        </p:nvSpPr>
        <p:spPr>
          <a:xfrm>
            <a:off x="228600" y="1143000"/>
            <a:ext cx="8534400" cy="3508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receiver follows the same procedure as the sender. It adds all data items (including the checksum); the result is 45. The sum is wrapped and becomes 15. The wrapped sum is complemented and becomes 0. Since the value of the checksum is 0, this means that the data is not corrupted. The receiver drops the checksum and keeps the other data items. If the checksum is not zero, the entire packet is dropped.</a:t>
            </a:r>
            <a:endParaRPr b="0" i="0" sz="1400" u="none" cap="none" strike="noStrike">
              <a:solidFill>
                <a:srgbClr val="000000"/>
              </a:solidFill>
              <a:latin typeface="Arial"/>
              <a:ea typeface="Arial"/>
              <a:cs typeface="Arial"/>
              <a:sym typeface="Arial"/>
            </a:endParaRPr>
          </a:p>
        </p:txBody>
      </p:sp>
      <p:sp>
        <p:nvSpPr>
          <p:cNvPr id="789" name="Google Shape;789;p54"/>
          <p:cNvSpPr txBox="1"/>
          <p:nvPr/>
        </p:nvSpPr>
        <p:spPr>
          <a:xfrm>
            <a:off x="1143000" y="0"/>
            <a:ext cx="4732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10.22 (continued)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6"/>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95" name="Google Shape;795;p56"/>
          <p:cNvSpPr txBox="1"/>
          <p:nvPr/>
        </p:nvSpPr>
        <p:spPr>
          <a:xfrm>
            <a:off x="304800" y="304800"/>
            <a:ext cx="35258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10.24  </a:t>
            </a:r>
            <a:r>
              <a:rPr b="1" i="1" lang="en-US" sz="2000" u="none" cap="none" strike="noStrike">
                <a:solidFill>
                  <a:schemeClr val="dk1"/>
                </a:solidFill>
                <a:latin typeface="Times New Roman"/>
                <a:ea typeface="Times New Roman"/>
                <a:cs typeface="Times New Roman"/>
                <a:sym typeface="Times New Roman"/>
              </a:rPr>
              <a:t>Example 10.22</a:t>
            </a:r>
            <a:endParaRPr b="0" i="0" sz="1400" u="none" cap="none" strike="noStrike">
              <a:solidFill>
                <a:srgbClr val="000000"/>
              </a:solidFill>
              <a:latin typeface="Arial"/>
              <a:ea typeface="Arial"/>
              <a:cs typeface="Arial"/>
              <a:sym typeface="Arial"/>
            </a:endParaRPr>
          </a:p>
        </p:txBody>
      </p:sp>
      <p:pic>
        <p:nvPicPr>
          <p:cNvPr id="796" name="Google Shape;796;p56"/>
          <p:cNvPicPr preferRelativeResize="0"/>
          <p:nvPr/>
        </p:nvPicPr>
        <p:blipFill rotWithShape="1">
          <a:blip r:embed="rId3">
            <a:alphaModFix/>
          </a:blip>
          <a:srcRect b="0" l="0" r="0" t="0"/>
          <a:stretch/>
        </p:blipFill>
        <p:spPr>
          <a:xfrm>
            <a:off x="1243012" y="1285875"/>
            <a:ext cx="6657975" cy="42862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7"/>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03" name="Google Shape;803;p5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4" name="Google Shape;804;p5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5" name="Google Shape;805;p5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6" name="Google Shape;806;p5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7" name="Google Shape;807;p5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8" name="Google Shape;808;p5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9" name="Google Shape;809;p5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810" name="Google Shape;810;p57"/>
          <p:cNvCxnSpPr/>
          <p:nvPr/>
        </p:nvCxnSpPr>
        <p:spPr>
          <a:xfrm>
            <a:off x="457200" y="1828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811" name="Google Shape;811;p57"/>
          <p:cNvCxnSpPr/>
          <p:nvPr/>
        </p:nvCxnSpPr>
        <p:spPr>
          <a:xfrm>
            <a:off x="458787" y="5562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812" name="Google Shape;812;p57"/>
          <p:cNvSpPr txBox="1"/>
          <p:nvPr/>
        </p:nvSpPr>
        <p:spPr>
          <a:xfrm>
            <a:off x="495300" y="1892300"/>
            <a:ext cx="8077200" cy="35687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Sender site: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1.</a:t>
            </a:r>
            <a:r>
              <a:rPr b="1" i="0" lang="en-US" sz="2800" u="none" cap="none" strike="noStrike">
                <a:solidFill>
                  <a:schemeClr val="dk1"/>
                </a:solidFill>
                <a:latin typeface="Arial"/>
                <a:ea typeface="Arial"/>
                <a:cs typeface="Arial"/>
                <a:sym typeface="Arial"/>
              </a:rPr>
              <a:t> The message is divided into 16-bit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2.</a:t>
            </a:r>
            <a:r>
              <a:rPr b="1" i="0" lang="en-US" sz="2800" u="none" cap="none" strike="noStrike">
                <a:solidFill>
                  <a:schemeClr val="dk1"/>
                </a:solidFill>
                <a:latin typeface="Arial"/>
                <a:ea typeface="Arial"/>
                <a:cs typeface="Arial"/>
                <a:sym typeface="Arial"/>
              </a:rPr>
              <a:t> The value of the checksum word is set to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3.</a:t>
            </a:r>
            <a:r>
              <a:rPr b="1" i="0" lang="en-US" sz="2800" u="none" cap="none" strike="noStrike">
                <a:solidFill>
                  <a:schemeClr val="dk1"/>
                </a:solidFill>
                <a:latin typeface="Arial"/>
                <a:ea typeface="Arial"/>
                <a:cs typeface="Arial"/>
                <a:sym typeface="Arial"/>
              </a:rPr>
              <a:t> All words including the checksum are</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added using one’s complement addition.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4.</a:t>
            </a:r>
            <a:r>
              <a:rPr b="1" i="0" lang="en-US" sz="2800" u="none" cap="none" strike="noStrike">
                <a:solidFill>
                  <a:schemeClr val="dk1"/>
                </a:solidFill>
                <a:latin typeface="Arial"/>
                <a:ea typeface="Arial"/>
                <a:cs typeface="Arial"/>
                <a:sym typeface="Arial"/>
              </a:rPr>
              <a:t> The sum is complemented and becomes the</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checksum.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5.</a:t>
            </a:r>
            <a:r>
              <a:rPr b="1" i="0" lang="en-US" sz="2800" u="none" cap="none" strike="noStrike">
                <a:solidFill>
                  <a:schemeClr val="dk1"/>
                </a:solidFill>
                <a:latin typeface="Arial"/>
                <a:ea typeface="Arial"/>
                <a:cs typeface="Arial"/>
                <a:sym typeface="Arial"/>
              </a:rPr>
              <a:t> The checksum is sent with the data.</a:t>
            </a:r>
            <a:endParaRPr b="0" i="0" sz="1400" u="none" cap="none" strike="noStrike">
              <a:solidFill>
                <a:srgbClr val="000000"/>
              </a:solidFill>
              <a:latin typeface="Arial"/>
              <a:ea typeface="Arial"/>
              <a:cs typeface="Arial"/>
              <a:sym typeface="Arial"/>
            </a:endParaRPr>
          </a:p>
        </p:txBody>
      </p:sp>
      <p:grpSp>
        <p:nvGrpSpPr>
          <p:cNvPr id="813" name="Google Shape;813;p57"/>
          <p:cNvGrpSpPr/>
          <p:nvPr/>
        </p:nvGrpSpPr>
        <p:grpSpPr>
          <a:xfrm>
            <a:off x="533400" y="1185862"/>
            <a:ext cx="1143000" cy="566737"/>
            <a:chOff x="1200" y="1248"/>
            <a:chExt cx="720" cy="357"/>
          </a:xfrm>
        </p:grpSpPr>
        <p:pic>
          <p:nvPicPr>
            <p:cNvPr id="814" name="Google Shape;814;p5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15" name="Google Shape;815;p5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
        <p:nvSpPr>
          <p:cNvPr id="816" name="Google Shape;816;p57"/>
          <p:cNvSpPr txBox="1"/>
          <p:nvPr/>
        </p:nvSpPr>
        <p:spPr>
          <a:xfrm>
            <a:off x="2590800" y="0"/>
            <a:ext cx="38735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Internet Checksum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8"/>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23" name="Google Shape;823;p5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4" name="Google Shape;824;p5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5" name="Google Shape;825;p5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6" name="Google Shape;826;p5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7" name="Google Shape;827;p5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8" name="Google Shape;828;p5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9" name="Google Shape;829;p5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cxnSp>
        <p:nvCxnSpPr>
          <p:cNvPr id="830" name="Google Shape;830;p58"/>
          <p:cNvCxnSpPr/>
          <p:nvPr/>
        </p:nvCxnSpPr>
        <p:spPr>
          <a:xfrm>
            <a:off x="457200" y="1828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831" name="Google Shape;831;p58"/>
          <p:cNvCxnSpPr/>
          <p:nvPr/>
        </p:nvCxnSpPr>
        <p:spPr>
          <a:xfrm>
            <a:off x="458787" y="6019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832" name="Google Shape;832;p58"/>
          <p:cNvSpPr txBox="1"/>
          <p:nvPr/>
        </p:nvSpPr>
        <p:spPr>
          <a:xfrm>
            <a:off x="495300" y="1920875"/>
            <a:ext cx="8077200" cy="3995737"/>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Receiver site: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1.</a:t>
            </a:r>
            <a:r>
              <a:rPr b="1" i="0" lang="en-US" sz="2800" u="none" cap="none" strike="noStrike">
                <a:solidFill>
                  <a:schemeClr val="dk1"/>
                </a:solidFill>
                <a:latin typeface="Arial"/>
                <a:ea typeface="Arial"/>
                <a:cs typeface="Arial"/>
                <a:sym typeface="Arial"/>
              </a:rPr>
              <a:t> The message (including checksum) is</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divided into 16-bit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2.</a:t>
            </a:r>
            <a:r>
              <a:rPr b="1" i="0" lang="en-US" sz="2800" u="none" cap="none" strike="noStrike">
                <a:solidFill>
                  <a:schemeClr val="dk1"/>
                </a:solidFill>
                <a:latin typeface="Arial"/>
                <a:ea typeface="Arial"/>
                <a:cs typeface="Arial"/>
                <a:sym typeface="Arial"/>
              </a:rPr>
              <a:t> All words are added using one’s</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complement addition.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3.</a:t>
            </a:r>
            <a:r>
              <a:rPr b="1" i="0" lang="en-US" sz="2800" u="none" cap="none" strike="noStrike">
                <a:solidFill>
                  <a:schemeClr val="dk1"/>
                </a:solidFill>
                <a:latin typeface="Arial"/>
                <a:ea typeface="Arial"/>
                <a:cs typeface="Arial"/>
                <a:sym typeface="Arial"/>
              </a:rPr>
              <a:t> The sum is complemented and becomes the</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new checksum.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4.</a:t>
            </a:r>
            <a:r>
              <a:rPr b="1" i="0" lang="en-US" sz="2800" u="none" cap="none" strike="noStrike">
                <a:solidFill>
                  <a:schemeClr val="dk1"/>
                </a:solidFill>
                <a:latin typeface="Arial"/>
                <a:ea typeface="Arial"/>
                <a:cs typeface="Arial"/>
                <a:sym typeface="Arial"/>
              </a:rPr>
              <a:t> If the value of checksum is 0, the message</a:t>
            </a:r>
            <a:br>
              <a:rPr b="1"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    is accepted; otherwise, it is rejected.</a:t>
            </a:r>
            <a:endParaRPr b="0" i="0" sz="1400" u="none" cap="none" strike="noStrike">
              <a:solidFill>
                <a:srgbClr val="000000"/>
              </a:solidFill>
              <a:latin typeface="Arial"/>
              <a:ea typeface="Arial"/>
              <a:cs typeface="Arial"/>
              <a:sym typeface="Arial"/>
            </a:endParaRPr>
          </a:p>
        </p:txBody>
      </p:sp>
      <p:grpSp>
        <p:nvGrpSpPr>
          <p:cNvPr id="833" name="Google Shape;833;p58"/>
          <p:cNvGrpSpPr/>
          <p:nvPr/>
        </p:nvGrpSpPr>
        <p:grpSpPr>
          <a:xfrm>
            <a:off x="533400" y="1185862"/>
            <a:ext cx="1143000" cy="566737"/>
            <a:chOff x="1200" y="1248"/>
            <a:chExt cx="720" cy="357"/>
          </a:xfrm>
        </p:grpSpPr>
        <p:pic>
          <p:nvPicPr>
            <p:cNvPr id="834" name="Google Shape;834;p5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35" name="Google Shape;835;p5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
        <p:nvSpPr>
          <p:cNvPr id="836" name="Google Shape;836;p58"/>
          <p:cNvSpPr txBox="1"/>
          <p:nvPr/>
        </p:nvSpPr>
        <p:spPr>
          <a:xfrm>
            <a:off x="2590800" y="0"/>
            <a:ext cx="38735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Internet Checksum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59"/>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43" name="Google Shape;843;p5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4" name="Google Shape;844;p5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5" name="Google Shape;845;p5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6" name="Google Shape;846;p5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7" name="Google Shape;847;p5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8" name="Google Shape;848;p5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9" name="Google Shape;849;p5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50" name="Google Shape;850;p59"/>
          <p:cNvSpPr txBox="1"/>
          <p:nvPr/>
        </p:nvSpPr>
        <p:spPr>
          <a:xfrm>
            <a:off x="228600" y="914400"/>
            <a:ext cx="8686800" cy="56435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calculate the checksum for a text of 8 characters (“Forouzan”). The text needs to be divided into 2-byte (16-bit) words. We use ASCII (see Appendix A) to change each byte to a 2-digit hexadecimal number. For example, F is represented as 0x46 and o is represented as 0x6F. Figure 10.25 shows how the checksum is calculated at the sender and receiver sites. In part a of the figure, the value of partial sum for the first column is 0x36. We keep the rightmost digit (6) and insert the leftmost digit (3) as the carry in the second column. The process is repeated for each column. Note that if there is any corruption, the checksum recalculated by the receiver is not all 0s. We leave this an exercise.</a:t>
            </a:r>
            <a:endParaRPr b="0" i="0" sz="1400" u="none" cap="none" strike="noStrike">
              <a:solidFill>
                <a:srgbClr val="000000"/>
              </a:solidFill>
              <a:latin typeface="Arial"/>
              <a:ea typeface="Arial"/>
              <a:cs typeface="Arial"/>
              <a:sym typeface="Arial"/>
            </a:endParaRPr>
          </a:p>
        </p:txBody>
      </p:sp>
      <p:sp>
        <p:nvSpPr>
          <p:cNvPr id="851" name="Google Shape;851;p59"/>
          <p:cNvSpPr txBox="1"/>
          <p:nvPr/>
        </p:nvSpPr>
        <p:spPr>
          <a:xfrm>
            <a:off x="1143000" y="0"/>
            <a:ext cx="26908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10.23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1b776004378_0_0"/>
          <p:cNvSpPr txBox="1"/>
          <p:nvPr>
            <p:ph idx="12" type="sldNum"/>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2000"/>
              <a:buFont typeface="Arial"/>
              <a:buNone/>
            </a:pPr>
            <a:r>
              <a:rPr lang="en-US"/>
              <a:t>10.</a:t>
            </a:r>
            <a:fld id="{00000000-1234-1234-1234-123412341234}" type="slidenum">
              <a:rPr lang="en-US"/>
              <a:t>‹#›</a:t>
            </a:fld>
            <a:endParaRPr/>
          </a:p>
        </p:txBody>
      </p:sp>
      <p:pic>
        <p:nvPicPr>
          <p:cNvPr id="858" name="Google Shape;858;g1b776004378_0_0"/>
          <p:cNvPicPr preferRelativeResize="0"/>
          <p:nvPr/>
        </p:nvPicPr>
        <p:blipFill rotWithShape="1">
          <a:blip r:embed="rId3">
            <a:alphaModFix/>
          </a:blip>
          <a:srcRect b="0" l="0" r="0" t="0"/>
          <a:stretch/>
        </p:blipFill>
        <p:spPr>
          <a:xfrm>
            <a:off x="2172217" y="152400"/>
            <a:ext cx="4799566" cy="6096000"/>
          </a:xfrm>
          <a:prstGeom prst="rect">
            <a:avLst/>
          </a:prstGeom>
          <a:noFill/>
          <a:ln>
            <a:noFill/>
          </a:ln>
        </p:spPr>
      </p:pic>
      <p:sp>
        <p:nvSpPr>
          <p:cNvPr id="859" name="Google Shape;859;g1b776004378_0_0"/>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Appendix 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60"/>
          <p:cNvSpPr txBox="1"/>
          <p:nvPr/>
        </p:nvSpPr>
        <p:spPr>
          <a:xfrm>
            <a:off x="-76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10.</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866" name="Google Shape;866;p60"/>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867" name="Google Shape;867;p60"/>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868" name="Google Shape;868;p60"/>
          <p:cNvSpPr txBox="1"/>
          <p:nvPr/>
        </p:nvSpPr>
        <p:spPr>
          <a:xfrm>
            <a:off x="304800" y="762000"/>
            <a:ext cx="35258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10.25  </a:t>
            </a:r>
            <a:r>
              <a:rPr b="1" i="1" lang="en-US" sz="2000" u="none" cap="none" strike="noStrike">
                <a:solidFill>
                  <a:schemeClr val="dk1"/>
                </a:solidFill>
                <a:latin typeface="Times New Roman"/>
                <a:ea typeface="Times New Roman"/>
                <a:cs typeface="Times New Roman"/>
                <a:sym typeface="Times New Roman"/>
              </a:rPr>
              <a:t>Example 10.23</a:t>
            </a:r>
            <a:endParaRPr b="0" i="0" sz="1400" u="none" cap="none" strike="noStrike">
              <a:solidFill>
                <a:srgbClr val="000000"/>
              </a:solidFill>
              <a:latin typeface="Arial"/>
              <a:ea typeface="Arial"/>
              <a:cs typeface="Arial"/>
              <a:sym typeface="Arial"/>
            </a:endParaRPr>
          </a:p>
        </p:txBody>
      </p:sp>
      <p:cxnSp>
        <p:nvCxnSpPr>
          <p:cNvPr id="869" name="Google Shape;869;p6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870" name="Google Shape;870;p60"/>
          <p:cNvCxnSpPr/>
          <p:nvPr/>
        </p:nvCxnSpPr>
        <p:spPr>
          <a:xfrm>
            <a:off x="1828800" y="2743200"/>
            <a:ext cx="0" cy="152400"/>
          </a:xfrm>
          <a:prstGeom prst="straightConnector1">
            <a:avLst/>
          </a:prstGeom>
          <a:noFill/>
          <a:ln cap="flat" cmpd="sng" w="9525">
            <a:solidFill>
              <a:schemeClr val="dk1"/>
            </a:solidFill>
            <a:prstDash val="solid"/>
            <a:miter lim="800000"/>
            <a:headEnd len="sm" w="sm" type="none"/>
            <a:tailEnd len="sm" w="sm" type="none"/>
          </a:ln>
        </p:spPr>
      </p:cxnSp>
      <p:pic>
        <p:nvPicPr>
          <p:cNvPr id="871" name="Google Shape;871;p60"/>
          <p:cNvPicPr preferRelativeResize="0"/>
          <p:nvPr/>
        </p:nvPicPr>
        <p:blipFill rotWithShape="1">
          <a:blip r:embed="rId3">
            <a:alphaModFix/>
          </a:blip>
          <a:srcRect b="0" l="0" r="0" t="0"/>
          <a:stretch/>
        </p:blipFill>
        <p:spPr>
          <a:xfrm>
            <a:off x="406400" y="1631950"/>
            <a:ext cx="8255000" cy="4203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