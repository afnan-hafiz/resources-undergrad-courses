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embeddedFontLst>
    <p:embeddedFont>
      <p:font typeface="Tahoma"/>
      <p:regular r:id="rId30"/>
      <p:bold r:id="rId31"/>
    </p:embeddedFont>
    <p:embeddedFont>
      <p:font typeface="Noto Sans Symbol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gJqcHydoeT8ChRybEROyZjzMXJ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Tahoma-bold.fntdata"/><Relationship Id="rId30" Type="http://schemas.openxmlformats.org/officeDocument/2006/relationships/font" Target="fonts/Tahoma-regular.fntdata"/><Relationship Id="rId11" Type="http://schemas.openxmlformats.org/officeDocument/2006/relationships/slide" Target="slides/slide5.xml"/><Relationship Id="rId33" Type="http://schemas.openxmlformats.org/officeDocument/2006/relationships/font" Target="fonts/NotoSansSymbols-bold.fntdata"/><Relationship Id="rId10" Type="http://schemas.openxmlformats.org/officeDocument/2006/relationships/slide" Target="slides/slide4.xml"/><Relationship Id="rId32" Type="http://schemas.openxmlformats.org/officeDocument/2006/relationships/font" Target="fonts/NotoSansSymbols-regular.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baseline="-25000" i="0" sz="20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6" name="Google Shape;11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5" name="Google Shape;13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f00d8e3c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1f00d8e3c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0" name="Google Shape;16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9" name="Google Shape;17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90" name="Google Shape;19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6b4fba6a6_1_8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5" name="Google Shape;205;g3a6b4fba6a6_1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a6b4fba6a6_1_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6b4fba6a6_1_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6" name="Google Shape;216;g3a6b4fba6a6_1_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g3a6b4fba6a6_1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6b4fba6a6_1_10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1" name="Google Shape;231;g3a6b4fba6a6_1_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3a6b4fba6a6_1_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2" name="Google Shape;2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7" name="Google Shape;25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73" name="Google Shape;27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6f60e44da3_0_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7" name="Google Shape;317;g36f60e44da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g36f60e44da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29" name="Google Shape;32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7508d97ae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a7508d97a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7508d97ae_1_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47" name="Google Shape;347;g3a7508d97ae_1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g3a7508d97ae_1_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11" name="Shape 11"/>
        <p:cNvGrpSpPr/>
        <p:nvPr/>
      </p:nvGrpSpPr>
      <p:grpSpPr>
        <a:xfrm>
          <a:off x="0" y="0"/>
          <a:ext cx="0" cy="0"/>
          <a:chOff x="0" y="0"/>
          <a:chExt cx="0" cy="0"/>
        </a:xfrm>
      </p:grpSpPr>
      <p:sp>
        <p:nvSpPr>
          <p:cNvPr id="12" name="Google Shape;12;p31"/>
          <p:cNvSpPr txBox="1"/>
          <p:nvPr>
            <p:ph idx="1" type="body"/>
          </p:nvPr>
        </p:nvSpPr>
        <p:spPr>
          <a:xfrm>
            <a:off x="628650" y="365125"/>
            <a:ext cx="7886700" cy="58118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3" name="Google Shape;13;p3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3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3"/>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8" name="Google Shape;18;p3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9" name="Google Shape;19;p3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 name="Shape 20"/>
        <p:cNvGrpSpPr/>
        <p:nvPr/>
      </p:nvGrpSpPr>
      <p:grpSpPr>
        <a:xfrm>
          <a:off x="0" y="0"/>
          <a:ext cx="0" cy="0"/>
          <a:chOff x="0" y="0"/>
          <a:chExt cx="0" cy="0"/>
        </a:xfrm>
      </p:grpSpPr>
      <p:sp>
        <p:nvSpPr>
          <p:cNvPr id="21" name="Google Shape;21;p34"/>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2" name="Google Shape;22;p34"/>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3" name="Google Shape;23;p3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 name="Shape 24"/>
        <p:cNvGrpSpPr/>
        <p:nvPr/>
      </p:nvGrpSpPr>
      <p:grpSpPr>
        <a:xfrm>
          <a:off x="0" y="0"/>
          <a:ext cx="0" cy="0"/>
          <a:chOff x="0" y="0"/>
          <a:chExt cx="0" cy="0"/>
        </a:xfrm>
      </p:grpSpPr>
      <p:sp>
        <p:nvSpPr>
          <p:cNvPr id="25" name="Google Shape;25;p35"/>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6" name="Google Shape;26;p3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7" name="Google Shape;27;p3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36"/>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0" name="Google Shape;30;p36"/>
          <p:cNvSpPr/>
          <p:nvPr>
            <p:ph idx="2" type="pic"/>
          </p:nvPr>
        </p:nvSpPr>
        <p:spPr>
          <a:xfrm>
            <a:off x="3887788" y="987425"/>
            <a:ext cx="4629150" cy="4873625"/>
          </a:xfrm>
          <a:prstGeom prst="rect">
            <a:avLst/>
          </a:prstGeom>
          <a:noFill/>
          <a:ln>
            <a:noFill/>
          </a:ln>
        </p:spPr>
      </p:sp>
      <p:sp>
        <p:nvSpPr>
          <p:cNvPr id="31" name="Google Shape;31;p36"/>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2" name="Google Shape;32;p3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 name="Shape 33"/>
        <p:cNvGrpSpPr/>
        <p:nvPr/>
      </p:nvGrpSpPr>
      <p:grpSpPr>
        <a:xfrm>
          <a:off x="0" y="0"/>
          <a:ext cx="0" cy="0"/>
          <a:chOff x="0" y="0"/>
          <a:chExt cx="0" cy="0"/>
        </a:xfrm>
      </p:grpSpPr>
      <p:sp>
        <p:nvSpPr>
          <p:cNvPr id="34" name="Google Shape;34;p37"/>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5" name="Google Shape;35;p37"/>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36" name="Google Shape;36;p37"/>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7" name="Google Shape;37;p3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38"/>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0" name="Google Shape;40;p3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9"/>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3" name="Google Shape;43;p39"/>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4" name="Google Shape;44;p39"/>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5" name="Google Shape;45;p39"/>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6" name="Google Shape;46;p39"/>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7" name="Google Shape;47;p3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40"/>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0" name="Google Shape;50;p40"/>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1" name="Google Shape;51;p40"/>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2" name="Google Shape;52;p4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41"/>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5" name="Google Shape;55;p41"/>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56" name="Google Shape;56;p4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59" name="Shape 59"/>
        <p:cNvGrpSpPr/>
        <p:nvPr/>
      </p:nvGrpSpPr>
      <p:grpSpPr>
        <a:xfrm>
          <a:off x="0" y="0"/>
          <a:ext cx="0" cy="0"/>
          <a:chOff x="0" y="0"/>
          <a:chExt cx="0" cy="0"/>
        </a:xfrm>
      </p:grpSpPr>
      <p:sp>
        <p:nvSpPr>
          <p:cNvPr id="60" name="Google Shape;60;g3a6b4fba6a6_1_118"/>
          <p:cNvSpPr txBox="1"/>
          <p:nvPr>
            <p:ph idx="1" type="body"/>
          </p:nvPr>
        </p:nvSpPr>
        <p:spPr>
          <a:xfrm>
            <a:off x="628650" y="365125"/>
            <a:ext cx="7886700" cy="58119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1" name="Google Shape;61;g3a6b4fba6a6_1_11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g3a6b4fba6a6_1_12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g3a6b4fba6a6_1_123"/>
          <p:cNvSpPr txBox="1"/>
          <p:nvPr>
            <p:ph type="title"/>
          </p:nvPr>
        </p:nvSpPr>
        <p:spPr>
          <a:xfrm>
            <a:off x="628650" y="365125"/>
            <a:ext cx="78867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6" name="Google Shape;66;g3a6b4fba6a6_1_12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7" name="Google Shape;67;g3a6b4fba6a6_1_12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g3a6b4fba6a6_1_127"/>
          <p:cNvSpPr txBox="1"/>
          <p:nvPr>
            <p:ph type="title"/>
          </p:nvPr>
        </p:nvSpPr>
        <p:spPr>
          <a:xfrm rot="5400000">
            <a:off x="4623600" y="2285275"/>
            <a:ext cx="5811900" cy="19716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0" name="Google Shape;70;g3a6b4fba6a6_1_127"/>
          <p:cNvSpPr txBox="1"/>
          <p:nvPr>
            <p:ph idx="1" type="body"/>
          </p:nvPr>
        </p:nvSpPr>
        <p:spPr>
          <a:xfrm rot="5400000">
            <a:off x="603975" y="389725"/>
            <a:ext cx="5811900" cy="57627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1" name="Google Shape;71;g3a6b4fba6a6_1_12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g3a6b4fba6a6_1_131"/>
          <p:cNvSpPr txBox="1"/>
          <p:nvPr>
            <p:ph type="title"/>
          </p:nvPr>
        </p:nvSpPr>
        <p:spPr>
          <a:xfrm>
            <a:off x="628650" y="365125"/>
            <a:ext cx="78867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4" name="Google Shape;74;g3a6b4fba6a6_1_131"/>
          <p:cNvSpPr txBox="1"/>
          <p:nvPr>
            <p:ph idx="1" type="body"/>
          </p:nvPr>
        </p:nvSpPr>
        <p:spPr>
          <a:xfrm rot="5400000">
            <a:off x="2396400" y="57875"/>
            <a:ext cx="4351200" cy="78867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5" name="Google Shape;75;g3a6b4fba6a6_1_13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g3a6b4fba6a6_1_135"/>
          <p:cNvSpPr txBox="1"/>
          <p:nvPr>
            <p:ph type="title"/>
          </p:nvPr>
        </p:nvSpPr>
        <p:spPr>
          <a:xfrm>
            <a:off x="630238" y="457200"/>
            <a:ext cx="2949600" cy="16002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8" name="Google Shape;78;g3a6b4fba6a6_1_135"/>
          <p:cNvSpPr/>
          <p:nvPr>
            <p:ph idx="2" type="pic"/>
          </p:nvPr>
        </p:nvSpPr>
        <p:spPr>
          <a:xfrm>
            <a:off x="3887788" y="987425"/>
            <a:ext cx="4629300" cy="4873500"/>
          </a:xfrm>
          <a:prstGeom prst="rect">
            <a:avLst/>
          </a:prstGeom>
          <a:noFill/>
          <a:ln>
            <a:noFill/>
          </a:ln>
        </p:spPr>
      </p:sp>
      <p:sp>
        <p:nvSpPr>
          <p:cNvPr id="79" name="Google Shape;79;g3a6b4fba6a6_1_135"/>
          <p:cNvSpPr txBox="1"/>
          <p:nvPr>
            <p:ph idx="1" type="body"/>
          </p:nvPr>
        </p:nvSpPr>
        <p:spPr>
          <a:xfrm>
            <a:off x="630238" y="2057400"/>
            <a:ext cx="2949600" cy="3811500"/>
          </a:xfrm>
          <a:prstGeom prst="rect">
            <a:avLst/>
          </a:prstGeom>
          <a:noFill/>
          <a:ln>
            <a:noFill/>
          </a:ln>
        </p:spPr>
        <p:txBody>
          <a:bodyPr anchorCtr="0" anchor="t" bIns="45700" lIns="91425" spcFirstLastPara="1" rIns="91425" wrap="square" tIns="45700">
            <a:noAutofit/>
          </a:bodyPr>
          <a:lstStyle>
            <a:lvl1pPr indent="-228600" lvl="0" marL="457200" marR="0" algn="l">
              <a:spcBef>
                <a:spcPts val="320"/>
              </a:spcBef>
              <a:spcAft>
                <a:spcPts val="0"/>
              </a:spcAft>
              <a:buClr>
                <a:schemeClr val="folHlink"/>
              </a:buClr>
              <a:buSzPts val="960"/>
              <a:buFont typeface="Noto Sans Symbols"/>
              <a:buNone/>
              <a:defRPr sz="1600">
                <a:solidFill>
                  <a:schemeClr val="dk1"/>
                </a:solidFill>
                <a:latin typeface="Tahoma"/>
                <a:ea typeface="Tahoma"/>
                <a:cs typeface="Tahoma"/>
                <a:sym typeface="Tahoma"/>
              </a:defRPr>
            </a:lvl1pPr>
            <a:lvl2pPr indent="-228600" lvl="1" marL="914400" marR="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80" name="Google Shape;80;g3a6b4fba6a6_1_13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g3a6b4fba6a6_1_140"/>
          <p:cNvSpPr txBox="1"/>
          <p:nvPr>
            <p:ph type="title"/>
          </p:nvPr>
        </p:nvSpPr>
        <p:spPr>
          <a:xfrm>
            <a:off x="630238" y="457200"/>
            <a:ext cx="2949600" cy="16002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83" name="Google Shape;83;g3a6b4fba6a6_1_140"/>
          <p:cNvSpPr txBox="1"/>
          <p:nvPr>
            <p:ph idx="1" type="body"/>
          </p:nvPr>
        </p:nvSpPr>
        <p:spPr>
          <a:xfrm>
            <a:off x="3887788" y="987425"/>
            <a:ext cx="4629300" cy="48735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84" name="Google Shape;84;g3a6b4fba6a6_1_140"/>
          <p:cNvSpPr txBox="1"/>
          <p:nvPr>
            <p:ph idx="2" type="body"/>
          </p:nvPr>
        </p:nvSpPr>
        <p:spPr>
          <a:xfrm>
            <a:off x="630238" y="2057400"/>
            <a:ext cx="2949600" cy="3811500"/>
          </a:xfrm>
          <a:prstGeom prst="rect">
            <a:avLst/>
          </a:prstGeom>
          <a:noFill/>
          <a:ln>
            <a:noFill/>
          </a:ln>
        </p:spPr>
        <p:txBody>
          <a:bodyPr anchorCtr="0" anchor="t" bIns="45700" lIns="91425" spcFirstLastPara="1" rIns="91425" wrap="square" tIns="45700">
            <a:noAutofit/>
          </a:bodyPr>
          <a:lstStyle>
            <a:lvl1pPr indent="-228600" lvl="0" marL="457200" marR="0" algn="l">
              <a:spcBef>
                <a:spcPts val="320"/>
              </a:spcBef>
              <a:spcAft>
                <a:spcPts val="0"/>
              </a:spcAft>
              <a:buClr>
                <a:schemeClr val="folHlink"/>
              </a:buClr>
              <a:buSzPts val="960"/>
              <a:buFont typeface="Noto Sans Symbols"/>
              <a:buNone/>
              <a:defRPr sz="1600">
                <a:solidFill>
                  <a:schemeClr val="dk1"/>
                </a:solidFill>
                <a:latin typeface="Tahoma"/>
                <a:ea typeface="Tahoma"/>
                <a:cs typeface="Tahoma"/>
                <a:sym typeface="Tahoma"/>
              </a:defRPr>
            </a:lvl1pPr>
            <a:lvl2pPr indent="-228600" lvl="1" marL="914400" marR="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85" name="Google Shape;85;g3a6b4fba6a6_1_14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g3a6b4fba6a6_1_145"/>
          <p:cNvSpPr txBox="1"/>
          <p:nvPr>
            <p:ph type="title"/>
          </p:nvPr>
        </p:nvSpPr>
        <p:spPr>
          <a:xfrm>
            <a:off x="628650" y="365125"/>
            <a:ext cx="78867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88" name="Google Shape;88;g3a6b4fba6a6_1_14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9" name="Shape 89"/>
        <p:cNvGrpSpPr/>
        <p:nvPr/>
      </p:nvGrpSpPr>
      <p:grpSpPr>
        <a:xfrm>
          <a:off x="0" y="0"/>
          <a:ext cx="0" cy="0"/>
          <a:chOff x="0" y="0"/>
          <a:chExt cx="0" cy="0"/>
        </a:xfrm>
      </p:grpSpPr>
      <p:sp>
        <p:nvSpPr>
          <p:cNvPr id="90" name="Google Shape;90;g3a6b4fba6a6_1_148"/>
          <p:cNvSpPr txBox="1"/>
          <p:nvPr>
            <p:ph type="title"/>
          </p:nvPr>
        </p:nvSpPr>
        <p:spPr>
          <a:xfrm>
            <a:off x="630238" y="365125"/>
            <a:ext cx="78867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1" name="Google Shape;91;g3a6b4fba6a6_1_148"/>
          <p:cNvSpPr txBox="1"/>
          <p:nvPr>
            <p:ph idx="1" type="body"/>
          </p:nvPr>
        </p:nvSpPr>
        <p:spPr>
          <a:xfrm>
            <a:off x="630238" y="1681163"/>
            <a:ext cx="3868800" cy="823800"/>
          </a:xfrm>
          <a:prstGeom prst="rect">
            <a:avLst/>
          </a:prstGeom>
          <a:noFill/>
          <a:ln>
            <a:noFill/>
          </a:ln>
        </p:spPr>
        <p:txBody>
          <a:bodyPr anchorCtr="0" anchor="b"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1" sz="2400">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92" name="Google Shape;92;g3a6b4fba6a6_1_148"/>
          <p:cNvSpPr txBox="1"/>
          <p:nvPr>
            <p:ph idx="2" type="body"/>
          </p:nvPr>
        </p:nvSpPr>
        <p:spPr>
          <a:xfrm>
            <a:off x="630238" y="2505075"/>
            <a:ext cx="3868800" cy="3684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3" name="Google Shape;93;g3a6b4fba6a6_1_148"/>
          <p:cNvSpPr txBox="1"/>
          <p:nvPr>
            <p:ph idx="3" type="body"/>
          </p:nvPr>
        </p:nvSpPr>
        <p:spPr>
          <a:xfrm>
            <a:off x="4629150" y="1681163"/>
            <a:ext cx="3887700" cy="823800"/>
          </a:xfrm>
          <a:prstGeom prst="rect">
            <a:avLst/>
          </a:prstGeom>
          <a:noFill/>
          <a:ln>
            <a:noFill/>
          </a:ln>
        </p:spPr>
        <p:txBody>
          <a:bodyPr anchorCtr="0" anchor="b"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b="1" sz="2400">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94" name="Google Shape;94;g3a6b4fba6a6_1_148"/>
          <p:cNvSpPr txBox="1"/>
          <p:nvPr>
            <p:ph idx="4" type="body"/>
          </p:nvPr>
        </p:nvSpPr>
        <p:spPr>
          <a:xfrm>
            <a:off x="4629150" y="2505075"/>
            <a:ext cx="3887700" cy="36846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5" name="Google Shape;95;g3a6b4fba6a6_1_14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6" name="Shape 96"/>
        <p:cNvGrpSpPr/>
        <p:nvPr/>
      </p:nvGrpSpPr>
      <p:grpSpPr>
        <a:xfrm>
          <a:off x="0" y="0"/>
          <a:ext cx="0" cy="0"/>
          <a:chOff x="0" y="0"/>
          <a:chExt cx="0" cy="0"/>
        </a:xfrm>
      </p:grpSpPr>
      <p:sp>
        <p:nvSpPr>
          <p:cNvPr id="97" name="Google Shape;97;g3a6b4fba6a6_1_155"/>
          <p:cNvSpPr txBox="1"/>
          <p:nvPr>
            <p:ph type="title"/>
          </p:nvPr>
        </p:nvSpPr>
        <p:spPr>
          <a:xfrm>
            <a:off x="628650" y="365125"/>
            <a:ext cx="7886700" cy="13257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8" name="Google Shape;98;g3a6b4fba6a6_1_155"/>
          <p:cNvSpPr txBox="1"/>
          <p:nvPr>
            <p:ph idx="1" type="body"/>
          </p:nvPr>
        </p:nvSpPr>
        <p:spPr>
          <a:xfrm>
            <a:off x="628650" y="1825625"/>
            <a:ext cx="38673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9" name="Google Shape;99;g3a6b4fba6a6_1_155"/>
          <p:cNvSpPr txBox="1"/>
          <p:nvPr>
            <p:ph idx="2" type="body"/>
          </p:nvPr>
        </p:nvSpPr>
        <p:spPr>
          <a:xfrm>
            <a:off x="4648200" y="1825625"/>
            <a:ext cx="3867300" cy="4351200"/>
          </a:xfrm>
          <a:prstGeom prst="rect">
            <a:avLst/>
          </a:prstGeom>
          <a:noFill/>
          <a:ln>
            <a:noFill/>
          </a:ln>
        </p:spPr>
        <p:txBody>
          <a:bodyPr anchorCtr="0" anchor="t" bIns="45700" lIns="91425" spcFirstLastPara="1" rIns="91425" wrap="square" tIns="45700">
            <a:noAutofit/>
          </a:bodyPr>
          <a:lstStyle>
            <a:lvl1pPr indent="-350520" lvl="0" marL="457200" marR="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00" name="Google Shape;100;g3a6b4fba6a6_1_15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 name="Shape 101"/>
        <p:cNvGrpSpPr/>
        <p:nvPr/>
      </p:nvGrpSpPr>
      <p:grpSpPr>
        <a:xfrm>
          <a:off x="0" y="0"/>
          <a:ext cx="0" cy="0"/>
          <a:chOff x="0" y="0"/>
          <a:chExt cx="0" cy="0"/>
        </a:xfrm>
      </p:grpSpPr>
      <p:sp>
        <p:nvSpPr>
          <p:cNvPr id="102" name="Google Shape;102;g3a6b4fba6a6_1_160"/>
          <p:cNvSpPr txBox="1"/>
          <p:nvPr>
            <p:ph type="title"/>
          </p:nvPr>
        </p:nvSpPr>
        <p:spPr>
          <a:xfrm>
            <a:off x="623888" y="1709738"/>
            <a:ext cx="7886700" cy="2852700"/>
          </a:xfrm>
          <a:prstGeom prst="rect">
            <a:avLst/>
          </a:prstGeom>
          <a:noFill/>
          <a:ln>
            <a:noFill/>
          </a:ln>
        </p:spPr>
        <p:txBody>
          <a:bodyPr anchorCtr="0" anchor="b" bIns="45700" lIns="91425" spcFirstLastPara="1" rIns="91425" wrap="square" tIns="45700">
            <a:noAutofit/>
          </a:bodyPr>
          <a:lstStyle>
            <a:lvl1pPr lvl="0" marR="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03" name="Google Shape;103;g3a6b4fba6a6_1_160"/>
          <p:cNvSpPr txBox="1"/>
          <p:nvPr>
            <p:ph idx="1" type="body"/>
          </p:nvPr>
        </p:nvSpPr>
        <p:spPr>
          <a:xfrm>
            <a:off x="623888" y="4589463"/>
            <a:ext cx="7886700" cy="1500300"/>
          </a:xfrm>
          <a:prstGeom prst="rect">
            <a:avLst/>
          </a:prstGeom>
          <a:noFill/>
          <a:ln>
            <a:noFill/>
          </a:ln>
        </p:spPr>
        <p:txBody>
          <a:bodyPr anchorCtr="0" anchor="t" bIns="45700" lIns="91425" spcFirstLastPara="1" rIns="91425" wrap="square" tIns="45700">
            <a:noAutofit/>
          </a:bodyPr>
          <a:lstStyle>
            <a:lvl1pPr indent="-228600" lvl="0" marL="457200" marR="0" algn="l">
              <a:spcBef>
                <a:spcPts val="480"/>
              </a:spcBef>
              <a:spcAft>
                <a:spcPts val="0"/>
              </a:spcAft>
              <a:buClr>
                <a:schemeClr val="folHlink"/>
              </a:buClr>
              <a:buSzPts val="1440"/>
              <a:buFont typeface="Noto Sans Symbols"/>
              <a:buNone/>
              <a:defRPr sz="2400">
                <a:solidFill>
                  <a:schemeClr val="dk1"/>
                </a:solidFill>
                <a:latin typeface="Tahoma"/>
                <a:ea typeface="Tahoma"/>
                <a:cs typeface="Tahoma"/>
                <a:sym typeface="Tahoma"/>
              </a:defRPr>
            </a:lvl1pPr>
            <a:lvl2pPr indent="-228600" lvl="1" marL="914400" marR="0" algn="l">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algn="l">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algn="l">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algn="l">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104" name="Google Shape;104;g3a6b4fba6a6_1_16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rtl="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sp>
        <p:nvSpPr>
          <p:cNvPr id="58" name="Google Shape;58;g3a6b4fba6a6_1_11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chemeClr val="lt2"/>
              </a:buClr>
              <a:buSzPts val="2000"/>
              <a:buFont typeface="Arial"/>
              <a:buNone/>
              <a:defRPr b="1" i="0" sz="2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4.</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11" name="Google Shape;111;p1"/>
          <p:cNvPicPr preferRelativeResize="0"/>
          <p:nvPr>
            <p:ph idx="1" type="body"/>
          </p:nvPr>
        </p:nvPicPr>
        <p:blipFill rotWithShape="1">
          <a:blip r:embed="rId3">
            <a:alphaModFix/>
          </a:blip>
          <a:srcRect b="0" l="0" r="0" t="0"/>
          <a:stretch/>
        </p:blipFill>
        <p:spPr>
          <a:xfrm>
            <a:off x="0" y="0"/>
            <a:ext cx="9144000" cy="1096962"/>
          </a:xfrm>
          <a:prstGeom prst="rect">
            <a:avLst/>
          </a:prstGeom>
          <a:noFill/>
          <a:ln>
            <a:noFill/>
          </a:ln>
        </p:spPr>
      </p:pic>
      <p:sp>
        <p:nvSpPr>
          <p:cNvPr id="112" name="Google Shape;112;p1"/>
          <p:cNvSpPr txBox="1"/>
          <p:nvPr/>
        </p:nvSpPr>
        <p:spPr>
          <a:xfrm>
            <a:off x="1143000" y="2514600"/>
            <a:ext cx="6858000" cy="17367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Chapter 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Times New Roman"/>
              <a:buNone/>
            </a:pPr>
            <a:r>
              <a:t/>
            </a:r>
            <a:endParaRPr b="1"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Arial"/>
                <a:ea typeface="Arial"/>
                <a:cs typeface="Arial"/>
                <a:sym typeface="Arial"/>
              </a:rPr>
              <a:t>Digital Transmission</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0" y="6507162"/>
            <a:ext cx="914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Copyright © The McGraw-Hill Companies, Inc. Permission required for reproduction or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0" name="Google Shape;120;p2"/>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21" name="Google Shape;121;p2"/>
          <p:cNvSpPr txBox="1"/>
          <p:nvPr/>
        </p:nvSpPr>
        <p:spPr>
          <a:xfrm>
            <a:off x="228600" y="406400"/>
            <a:ext cx="828992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4-2   ANALOG-TO-DIGITAL CONVERSION</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23" name="Google Shape;123;p2"/>
          <p:cNvSpPr txBox="1"/>
          <p:nvPr/>
        </p:nvSpPr>
        <p:spPr>
          <a:xfrm>
            <a:off x="304800" y="1311275"/>
            <a:ext cx="8229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digital signal is superior to an analog signal because it is more robust to noise and can easily be recovered, corrected and amplified. For this reason, the tendency today is to change an analog signal to digital data. In this section we describe two techniques, </a:t>
            </a:r>
            <a:r>
              <a:rPr b="1" i="1" lang="en-US" sz="2800" u="none" cap="none" strike="noStrike">
                <a:solidFill>
                  <a:schemeClr val="hlink"/>
                </a:solidFill>
                <a:latin typeface="Times New Roman"/>
                <a:ea typeface="Times New Roman"/>
                <a:cs typeface="Times New Roman"/>
                <a:sym typeface="Times New Roman"/>
              </a:rPr>
              <a:t>pulse code modulation</a:t>
            </a:r>
            <a:r>
              <a:rPr b="1" i="1" lang="en-US" sz="2800" u="none" cap="none" strike="noStrike">
                <a:solidFill>
                  <a:schemeClr val="dk1"/>
                </a:solidFill>
                <a:latin typeface="Times New Roman"/>
                <a:ea typeface="Times New Roman"/>
                <a:cs typeface="Times New Roman"/>
                <a:sym typeface="Times New Roman"/>
              </a:rPr>
              <a:t> and </a:t>
            </a:r>
            <a:r>
              <a:rPr b="1" i="1" lang="en-US" sz="2800" u="none" cap="none" strike="noStrike">
                <a:solidFill>
                  <a:schemeClr val="hlink"/>
                </a:solidFill>
                <a:latin typeface="Times New Roman"/>
                <a:ea typeface="Times New Roman"/>
                <a:cs typeface="Times New Roman"/>
                <a:sym typeface="Times New Roman"/>
              </a:rPr>
              <a:t>delta modulation</a:t>
            </a:r>
            <a:r>
              <a:rPr b="1" i="1"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124" name="Google Shape;124;p2"/>
          <p:cNvSpPr txBox="1"/>
          <p:nvPr/>
        </p:nvSpPr>
        <p:spPr>
          <a:xfrm>
            <a:off x="152400" y="4892675"/>
            <a:ext cx="6705600" cy="822325"/>
          </a:xfrm>
          <a:prstGeom prst="rect">
            <a:avLst/>
          </a:prstGeom>
          <a:noFill/>
          <a:ln>
            <a:noFill/>
          </a:ln>
        </p:spPr>
        <p:txBody>
          <a:bodyPr anchorCtr="0" anchor="t" bIns="45700" lIns="91425" spcFirstLastPara="1" rIns="91425" wrap="square" tIns="45700">
            <a:spAutoFit/>
          </a:bodyPr>
          <a:lstStyle/>
          <a:p>
            <a:pPr indent="-178308" lvl="0" marL="0" marR="0" rtl="0" algn="l">
              <a:lnSpc>
                <a:spcPct val="100000"/>
              </a:lnSpc>
              <a:spcBef>
                <a:spcPts val="0"/>
              </a:spcBef>
              <a:spcAft>
                <a:spcPts val="0"/>
              </a:spcAft>
              <a:buClr>
                <a:schemeClr val="dk1"/>
              </a:buClr>
              <a:buSzPts val="2808"/>
              <a:buFont typeface="Noto Sans Symbols"/>
              <a:buChar char="▪"/>
            </a:pPr>
            <a:r>
              <a:rPr b="1" i="0" lang="en-US" sz="2400" u="none" cap="none" strike="noStrike">
                <a:solidFill>
                  <a:srgbClr val="0033CC"/>
                </a:solidFill>
                <a:latin typeface="Times New Roman"/>
                <a:ea typeface="Times New Roman"/>
                <a:cs typeface="Times New Roman"/>
                <a:sym typeface="Times New Roman"/>
              </a:rPr>
              <a:t> Pulse Code Modulation (PCM)</a:t>
            </a:r>
            <a:endParaRPr b="0" i="0" sz="1400" u="none" cap="none" strike="noStrike">
              <a:solidFill>
                <a:srgbClr val="000000"/>
              </a:solidFill>
              <a:latin typeface="Arial"/>
              <a:ea typeface="Arial"/>
              <a:cs typeface="Arial"/>
              <a:sym typeface="Arial"/>
            </a:endParaRPr>
          </a:p>
          <a:p>
            <a:pPr indent="-178308" lvl="0" marL="0" marR="0" rtl="0" algn="l">
              <a:lnSpc>
                <a:spcPct val="100000"/>
              </a:lnSpc>
              <a:spcBef>
                <a:spcPts val="0"/>
              </a:spcBef>
              <a:spcAft>
                <a:spcPts val="0"/>
              </a:spcAft>
              <a:buClr>
                <a:schemeClr val="dk1"/>
              </a:buClr>
              <a:buSzPts val="2808"/>
              <a:buFont typeface="Noto Sans Symbols"/>
              <a:buChar char="▪"/>
            </a:pPr>
            <a:r>
              <a:rPr b="1" i="0" lang="en-US" sz="2400" u="none" cap="none" strike="noStrike">
                <a:solidFill>
                  <a:srgbClr val="0033CC"/>
                </a:solidFill>
                <a:latin typeface="Times New Roman"/>
                <a:ea typeface="Times New Roman"/>
                <a:cs typeface="Times New Roman"/>
                <a:sym typeface="Times New Roman"/>
              </a:rPr>
              <a:t> Delta Modulation (DM)</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163512" y="4416425"/>
            <a:ext cx="4867275"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1" name="Google Shape;131;p3"/>
          <p:cNvSpPr txBox="1"/>
          <p:nvPr>
            <p:ph type="title"/>
          </p:nvPr>
        </p:nvSpPr>
        <p:spPr>
          <a:xfrm>
            <a:off x="685800" y="609600"/>
            <a:ext cx="7772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rgbClr val="FF0000"/>
                </a:solidFill>
                <a:latin typeface="Tahoma"/>
                <a:ea typeface="Tahoma"/>
                <a:cs typeface="Tahoma"/>
                <a:sym typeface="Tahoma"/>
              </a:rPr>
              <a:t>PCM</a:t>
            </a:r>
            <a:endParaRPr>
              <a:solidFill>
                <a:srgbClr val="FF0000"/>
              </a:solidFill>
            </a:endParaRPr>
          </a:p>
        </p:txBody>
      </p:sp>
      <p:sp>
        <p:nvSpPr>
          <p:cNvPr id="132" name="Google Shape;132;p3"/>
          <p:cNvSpPr txBox="1"/>
          <p:nvPr>
            <p:ph idx="1" type="body"/>
          </p:nvPr>
        </p:nvSpPr>
        <p:spPr>
          <a:xfrm>
            <a:off x="685800" y="1447800"/>
            <a:ext cx="7772400" cy="4648200"/>
          </a:xfrm>
          <a:prstGeom prst="rect">
            <a:avLst/>
          </a:prstGeom>
          <a:noFill/>
          <a:ln>
            <a:noFill/>
          </a:ln>
        </p:spPr>
        <p:txBody>
          <a:bodyPr anchorCtr="0" anchor="t" bIns="45700" lIns="91425" spcFirstLastPara="1" rIns="91425" wrap="square" tIns="45700">
            <a:noAutofit/>
          </a:bodyPr>
          <a:lstStyle/>
          <a:p>
            <a:pPr indent="-609600" lvl="0" marL="6096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PCM consists of three steps to digitize an analog signal:</a:t>
            </a:r>
            <a:endParaRPr/>
          </a:p>
          <a:p>
            <a:pPr indent="-533400" lvl="1" marL="990600" rtl="0" algn="l">
              <a:lnSpc>
                <a:spcPct val="90000"/>
              </a:lnSpc>
              <a:spcBef>
                <a:spcPts val="480"/>
              </a:spcBef>
              <a:spcAft>
                <a:spcPts val="0"/>
              </a:spcAft>
              <a:buClr>
                <a:schemeClr val="hlink"/>
              </a:buClr>
              <a:buSzPts val="1320"/>
              <a:buFont typeface="Arial"/>
              <a:buAutoNum type="arabicPeriod"/>
            </a:pPr>
            <a:r>
              <a:rPr b="0" i="0" lang="en-US" sz="2400" u="none">
                <a:solidFill>
                  <a:schemeClr val="dk1"/>
                </a:solidFill>
                <a:latin typeface="Tahoma"/>
                <a:ea typeface="Tahoma"/>
                <a:cs typeface="Tahoma"/>
                <a:sym typeface="Tahoma"/>
              </a:rPr>
              <a:t>Sampling</a:t>
            </a:r>
            <a:endParaRPr/>
          </a:p>
          <a:p>
            <a:pPr indent="-533400" lvl="1" marL="990600" rtl="0" algn="l">
              <a:lnSpc>
                <a:spcPct val="90000"/>
              </a:lnSpc>
              <a:spcBef>
                <a:spcPts val="480"/>
              </a:spcBef>
              <a:spcAft>
                <a:spcPts val="0"/>
              </a:spcAft>
              <a:buClr>
                <a:schemeClr val="hlink"/>
              </a:buClr>
              <a:buSzPts val="1320"/>
              <a:buFont typeface="Arial"/>
              <a:buAutoNum type="arabicPeriod"/>
            </a:pPr>
            <a:r>
              <a:rPr b="0" i="0" lang="en-US" sz="2400" u="none">
                <a:solidFill>
                  <a:schemeClr val="dk1"/>
                </a:solidFill>
                <a:latin typeface="Tahoma"/>
                <a:ea typeface="Tahoma"/>
                <a:cs typeface="Tahoma"/>
                <a:sym typeface="Tahoma"/>
              </a:rPr>
              <a:t>Quantization</a:t>
            </a:r>
            <a:endParaRPr/>
          </a:p>
          <a:p>
            <a:pPr indent="-533400" lvl="1" marL="990600" rtl="0" algn="l">
              <a:lnSpc>
                <a:spcPct val="90000"/>
              </a:lnSpc>
              <a:spcBef>
                <a:spcPts val="480"/>
              </a:spcBef>
              <a:spcAft>
                <a:spcPts val="0"/>
              </a:spcAft>
              <a:buClr>
                <a:schemeClr val="hlink"/>
              </a:buClr>
              <a:buSzPts val="1320"/>
              <a:buFont typeface="Arial"/>
              <a:buAutoNum type="arabicPeriod"/>
            </a:pPr>
            <a:r>
              <a:rPr b="0" i="0" lang="en-US" sz="2400" u="none">
                <a:solidFill>
                  <a:schemeClr val="dk1"/>
                </a:solidFill>
                <a:latin typeface="Tahoma"/>
                <a:ea typeface="Tahoma"/>
                <a:cs typeface="Tahoma"/>
                <a:sym typeface="Tahoma"/>
              </a:rPr>
              <a:t>Binary encoding</a:t>
            </a:r>
            <a:endParaRPr/>
          </a:p>
          <a:p>
            <a:pPr indent="-609600" lvl="0" marL="6096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Before we sample, we have to filter the signal to limit the maximum frequency of the signal as it affects the sampling rate.</a:t>
            </a:r>
            <a:endParaRPr/>
          </a:p>
          <a:p>
            <a:pPr indent="-609600" lvl="0" marL="6096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Filtering should ensure that we do not distort the signal, ie remove high frequency components that affect the signal shape.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39" name="Google Shape;139;p4"/>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40" name="Google Shape;140;p4"/>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41" name="Google Shape;141;p4"/>
          <p:cNvSpPr txBox="1"/>
          <p:nvPr/>
        </p:nvSpPr>
        <p:spPr>
          <a:xfrm>
            <a:off x="304800" y="762000"/>
            <a:ext cx="4907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4.21  </a:t>
            </a:r>
            <a:r>
              <a:rPr b="1" i="1" lang="en-US" sz="2000" u="none" cap="none" strike="noStrike">
                <a:solidFill>
                  <a:srgbClr val="FF0000"/>
                </a:solidFill>
                <a:latin typeface="Times New Roman"/>
                <a:ea typeface="Times New Roman"/>
                <a:cs typeface="Times New Roman"/>
                <a:sym typeface="Times New Roman"/>
              </a:rPr>
              <a:t>Components of PCM encoder</a:t>
            </a:r>
            <a:endParaRPr b="0" i="0" sz="1400" u="none" cap="none" strike="noStrike">
              <a:solidFill>
                <a:srgbClr val="FF0000"/>
              </a:solidFill>
              <a:latin typeface="Arial"/>
              <a:ea typeface="Arial"/>
              <a:cs typeface="Arial"/>
              <a:sym typeface="Arial"/>
            </a:endParaRPr>
          </a:p>
        </p:txBody>
      </p:sp>
      <p:cxnSp>
        <p:nvCxnSpPr>
          <p:cNvPr id="142" name="Google Shape;142;p4"/>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43" name="Google Shape;143;p4"/>
          <p:cNvPicPr preferRelativeResize="0"/>
          <p:nvPr/>
        </p:nvPicPr>
        <p:blipFill rotWithShape="1">
          <a:blip r:embed="rId3">
            <a:alphaModFix/>
          </a:blip>
          <a:srcRect b="0" l="0" r="0" t="0"/>
          <a:stretch/>
        </p:blipFill>
        <p:spPr>
          <a:xfrm>
            <a:off x="169862" y="1728787"/>
            <a:ext cx="8821737" cy="39862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1f00d8e3c3_0_0"/>
          <p:cNvSpPr txBox="1"/>
          <p:nvPr>
            <p:ph type="title"/>
          </p:nvPr>
        </p:nvSpPr>
        <p:spPr>
          <a:xfrm>
            <a:off x="685800" y="304800"/>
            <a:ext cx="7772400"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Sampling</a:t>
            </a:r>
            <a:endParaRPr/>
          </a:p>
        </p:txBody>
      </p:sp>
      <p:pic>
        <p:nvPicPr>
          <p:cNvPr id="149" name="Google Shape;149;g31f00d8e3c3_0_0" title="analog_signal.png"/>
          <p:cNvPicPr preferRelativeResize="0"/>
          <p:nvPr/>
        </p:nvPicPr>
        <p:blipFill rotWithShape="1">
          <a:blip r:embed="rId3">
            <a:alphaModFix/>
          </a:blip>
          <a:srcRect b="0" l="0" r="0" t="0"/>
          <a:stretch/>
        </p:blipFill>
        <p:spPr>
          <a:xfrm>
            <a:off x="533400" y="2133600"/>
            <a:ext cx="4175301" cy="2783524"/>
          </a:xfrm>
          <a:prstGeom prst="rect">
            <a:avLst/>
          </a:prstGeom>
          <a:noFill/>
          <a:ln>
            <a:noFill/>
          </a:ln>
        </p:spPr>
      </p:pic>
      <p:pic>
        <p:nvPicPr>
          <p:cNvPr id="150" name="Google Shape;150;g31f00d8e3c3_0_0" title="analog_signal_sampled.png"/>
          <p:cNvPicPr preferRelativeResize="0"/>
          <p:nvPr/>
        </p:nvPicPr>
        <p:blipFill rotWithShape="1">
          <a:blip r:embed="rId4">
            <a:alphaModFix/>
          </a:blip>
          <a:srcRect b="0" l="0" r="0" t="0"/>
          <a:stretch/>
        </p:blipFill>
        <p:spPr>
          <a:xfrm>
            <a:off x="4710475" y="1570575"/>
            <a:ext cx="3900124" cy="39001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6" name="Google Shape;156;p5"/>
          <p:cNvSpPr txBox="1"/>
          <p:nvPr>
            <p:ph type="title"/>
          </p:nvPr>
        </p:nvSpPr>
        <p:spPr>
          <a:xfrm>
            <a:off x="685800" y="304800"/>
            <a:ext cx="7772400" cy="91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rgbClr val="FF0000"/>
                </a:solidFill>
                <a:latin typeface="Tahoma"/>
                <a:ea typeface="Tahoma"/>
                <a:cs typeface="Tahoma"/>
                <a:sym typeface="Tahoma"/>
              </a:rPr>
              <a:t>Sampling</a:t>
            </a:r>
            <a:endParaRPr>
              <a:solidFill>
                <a:srgbClr val="FF0000"/>
              </a:solidFill>
            </a:endParaRPr>
          </a:p>
        </p:txBody>
      </p:sp>
      <p:sp>
        <p:nvSpPr>
          <p:cNvPr id="157" name="Google Shape;157;p5"/>
          <p:cNvSpPr txBox="1"/>
          <p:nvPr>
            <p:ph idx="1" type="body"/>
          </p:nvPr>
        </p:nvSpPr>
        <p:spPr>
          <a:xfrm>
            <a:off x="685800" y="1143000"/>
            <a:ext cx="7772400" cy="5486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Analog signal is sampled every T</a:t>
            </a:r>
            <a:r>
              <a:rPr b="0" baseline="-25000" i="0" lang="en-US" sz="2800" u="none">
                <a:solidFill>
                  <a:schemeClr val="dk1"/>
                </a:solidFill>
                <a:latin typeface="Tahoma"/>
                <a:ea typeface="Tahoma"/>
                <a:cs typeface="Tahoma"/>
                <a:sym typeface="Tahoma"/>
              </a:rPr>
              <a:t>S</a:t>
            </a:r>
            <a:r>
              <a:rPr b="0" i="0" lang="en-US" sz="2800" u="none">
                <a:solidFill>
                  <a:schemeClr val="dk1"/>
                </a:solidFill>
                <a:latin typeface="Tahoma"/>
                <a:ea typeface="Tahoma"/>
                <a:cs typeface="Tahoma"/>
                <a:sym typeface="Tahoma"/>
              </a:rPr>
              <a:t> secs.</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a:t>
            </a:r>
            <a:r>
              <a:rPr b="0" baseline="-25000" i="0" lang="en-US" sz="2800" u="none">
                <a:solidFill>
                  <a:schemeClr val="dk1"/>
                </a:solidFill>
                <a:latin typeface="Tahoma"/>
                <a:ea typeface="Tahoma"/>
                <a:cs typeface="Tahoma"/>
                <a:sym typeface="Tahoma"/>
              </a:rPr>
              <a:t>s</a:t>
            </a:r>
            <a:r>
              <a:rPr b="0" i="0" lang="en-US" sz="2800" u="none">
                <a:solidFill>
                  <a:schemeClr val="dk1"/>
                </a:solidFill>
                <a:latin typeface="Tahoma"/>
                <a:ea typeface="Tahoma"/>
                <a:cs typeface="Tahoma"/>
                <a:sym typeface="Tahoma"/>
              </a:rPr>
              <a:t> is referred to as the sampling interval. </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f</a:t>
            </a:r>
            <a:r>
              <a:rPr b="0" baseline="-25000" i="0" lang="en-US" sz="2800" u="none">
                <a:solidFill>
                  <a:schemeClr val="dk1"/>
                </a:solidFill>
                <a:latin typeface="Tahoma"/>
                <a:ea typeface="Tahoma"/>
                <a:cs typeface="Tahoma"/>
                <a:sym typeface="Tahoma"/>
              </a:rPr>
              <a:t>s</a:t>
            </a:r>
            <a:r>
              <a:rPr b="0" i="0" lang="en-US" sz="2800" u="none">
                <a:solidFill>
                  <a:schemeClr val="dk1"/>
                </a:solidFill>
                <a:latin typeface="Tahoma"/>
                <a:ea typeface="Tahoma"/>
                <a:cs typeface="Tahoma"/>
                <a:sym typeface="Tahoma"/>
              </a:rPr>
              <a:t> = 1/T</a:t>
            </a:r>
            <a:r>
              <a:rPr b="0" baseline="-25000" i="0" lang="en-US" sz="2800" u="none">
                <a:solidFill>
                  <a:schemeClr val="dk1"/>
                </a:solidFill>
                <a:latin typeface="Tahoma"/>
                <a:ea typeface="Tahoma"/>
                <a:cs typeface="Tahoma"/>
                <a:sym typeface="Tahoma"/>
              </a:rPr>
              <a:t>s</a:t>
            </a:r>
            <a:r>
              <a:rPr b="0" i="0" lang="en-US" sz="2800" u="none">
                <a:solidFill>
                  <a:schemeClr val="dk1"/>
                </a:solidFill>
                <a:latin typeface="Tahoma"/>
                <a:ea typeface="Tahoma"/>
                <a:cs typeface="Tahoma"/>
                <a:sym typeface="Tahoma"/>
              </a:rPr>
              <a:t> is called the sampling rate or sampling frequency.</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There are 3 sampling methods:</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Ideal - an impulse at each sampling instant</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Natural - a pulse of short width with varying amplitude</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Flattop - sample and hold, like natural but with single amplitude value</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The process is referred to as pulse amplitude modulation PAM and the outcome is a signal with analog (non integer) values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65" name="Google Shape;165;p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66" name="Google Shape;166;p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67" name="Google Shape;167;p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68" name="Google Shape;168;p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69" name="Google Shape;169;p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70" name="Google Shape;170;p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cxnSp>
        <p:nvCxnSpPr>
          <p:cNvPr id="171" name="Google Shape;171;p7"/>
          <p:cNvCxnSpPr/>
          <p:nvPr/>
        </p:nvCxnSpPr>
        <p:spPr>
          <a:xfrm>
            <a:off x="457200" y="2667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72" name="Google Shape;172;p7"/>
          <p:cNvCxnSpPr/>
          <p:nvPr/>
        </p:nvCxnSpPr>
        <p:spPr>
          <a:xfrm>
            <a:off x="458787" y="48768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73" name="Google Shape;173;p7"/>
          <p:cNvSpPr txBox="1"/>
          <p:nvPr/>
        </p:nvSpPr>
        <p:spPr>
          <a:xfrm>
            <a:off x="495300" y="2759075"/>
            <a:ext cx="8077200" cy="204152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According to the Nyquist theorem, the sampling rate must be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at least 2 times the highest frequency contained in the signal.</a:t>
            </a:r>
            <a:endParaRPr b="0" i="0" sz="1400" u="none" cap="none" strike="noStrike">
              <a:solidFill>
                <a:srgbClr val="000000"/>
              </a:solidFill>
              <a:latin typeface="Arial"/>
              <a:ea typeface="Arial"/>
              <a:cs typeface="Arial"/>
              <a:sym typeface="Arial"/>
            </a:endParaRPr>
          </a:p>
        </p:txBody>
      </p:sp>
      <p:grpSp>
        <p:nvGrpSpPr>
          <p:cNvPr id="174" name="Google Shape;174;p7"/>
          <p:cNvGrpSpPr/>
          <p:nvPr/>
        </p:nvGrpSpPr>
        <p:grpSpPr>
          <a:xfrm>
            <a:off x="457200" y="1981200"/>
            <a:ext cx="1143000" cy="566737"/>
            <a:chOff x="1200" y="1248"/>
            <a:chExt cx="720" cy="357"/>
          </a:xfrm>
        </p:grpSpPr>
        <p:pic>
          <p:nvPicPr>
            <p:cNvPr id="175" name="Google Shape;175;p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76" name="Google Shape;176;p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83" name="Google Shape;183;p8"/>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84" name="Google Shape;184;p8"/>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85" name="Google Shape;185;p8"/>
          <p:cNvSpPr txBox="1"/>
          <p:nvPr/>
        </p:nvSpPr>
        <p:spPr>
          <a:xfrm>
            <a:off x="304800" y="762000"/>
            <a:ext cx="7743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rgbClr val="FF0000"/>
                </a:solidFill>
                <a:latin typeface="Times New Roman"/>
                <a:ea typeface="Times New Roman"/>
                <a:cs typeface="Times New Roman"/>
                <a:sym typeface="Times New Roman"/>
              </a:rPr>
              <a:t>Figure 4.23  </a:t>
            </a:r>
            <a:r>
              <a:rPr b="1" i="1" lang="en-US" sz="2000" u="none" cap="none" strike="noStrike">
                <a:solidFill>
                  <a:srgbClr val="FF0000"/>
                </a:solidFill>
                <a:latin typeface="Times New Roman"/>
                <a:ea typeface="Times New Roman"/>
                <a:cs typeface="Times New Roman"/>
                <a:sym typeface="Times New Roman"/>
              </a:rPr>
              <a:t>Nyquist sampling rate for low-pass and bandpass signals</a:t>
            </a:r>
            <a:endParaRPr b="0" i="0" sz="1400" u="none" cap="none" strike="noStrike">
              <a:solidFill>
                <a:srgbClr val="FF0000"/>
              </a:solidFill>
              <a:latin typeface="Arial"/>
              <a:ea typeface="Arial"/>
              <a:cs typeface="Arial"/>
              <a:sym typeface="Arial"/>
            </a:endParaRPr>
          </a:p>
        </p:txBody>
      </p:sp>
      <p:cxnSp>
        <p:nvCxnSpPr>
          <p:cNvPr id="186" name="Google Shape;186;p8"/>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87" name="Google Shape;187;p8"/>
          <p:cNvPicPr preferRelativeResize="0"/>
          <p:nvPr/>
        </p:nvPicPr>
        <p:blipFill rotWithShape="1">
          <a:blip r:embed="rId3">
            <a:alphaModFix/>
          </a:blip>
          <a:srcRect b="0" l="0" r="0" t="0"/>
          <a:stretch/>
        </p:blipFill>
        <p:spPr>
          <a:xfrm>
            <a:off x="669925" y="1881187"/>
            <a:ext cx="7331075" cy="36052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4" name="Google Shape;194;p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95" name="Google Shape;195;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96" name="Google Shape;196;p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97" name="Google Shape;197;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98" name="Google Shape;198;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199" name="Google Shape;199;p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00" name="Google Shape;200;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01" name="Google Shape;201;p9"/>
          <p:cNvSpPr txBox="1"/>
          <p:nvPr/>
        </p:nvSpPr>
        <p:spPr>
          <a:xfrm>
            <a:off x="76200" y="1143000"/>
            <a:ext cx="8915400" cy="5216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For an intuitive example of the Nyquist theorem, let us sample a simple sine wave at three sampling rates: f</a:t>
            </a:r>
            <a:r>
              <a:rPr b="1" baseline="-25000" i="1" lang="en-US" sz="2800" u="none" cap="none" strike="noStrike">
                <a:solidFill>
                  <a:schemeClr val="dk1"/>
                </a:solidFill>
                <a:latin typeface="Times New Roman"/>
                <a:ea typeface="Times New Roman"/>
                <a:cs typeface="Times New Roman"/>
                <a:sym typeface="Times New Roman"/>
              </a:rPr>
              <a:t>s</a:t>
            </a:r>
            <a:r>
              <a:rPr b="1" i="1" lang="en-US" sz="2800" u="none" cap="none" strike="noStrike">
                <a:solidFill>
                  <a:schemeClr val="dk1"/>
                </a:solidFill>
                <a:latin typeface="Times New Roman"/>
                <a:ea typeface="Times New Roman"/>
                <a:cs typeface="Times New Roman"/>
                <a:sym typeface="Times New Roman"/>
              </a:rPr>
              <a:t> = 4f (2 times the Nyquist rate), f</a:t>
            </a:r>
            <a:r>
              <a:rPr b="1" baseline="-25000" i="1" lang="en-US" sz="2800" u="none" cap="none" strike="noStrike">
                <a:solidFill>
                  <a:schemeClr val="dk1"/>
                </a:solidFill>
                <a:latin typeface="Times New Roman"/>
                <a:ea typeface="Times New Roman"/>
                <a:cs typeface="Times New Roman"/>
                <a:sym typeface="Times New Roman"/>
              </a:rPr>
              <a:t>s</a:t>
            </a:r>
            <a:r>
              <a:rPr b="1" i="1" lang="en-US" sz="2800" u="none" cap="none" strike="noStrike">
                <a:solidFill>
                  <a:schemeClr val="dk1"/>
                </a:solidFill>
                <a:latin typeface="Times New Roman"/>
                <a:ea typeface="Times New Roman"/>
                <a:cs typeface="Times New Roman"/>
                <a:sym typeface="Times New Roman"/>
              </a:rPr>
              <a:t> = 2f (Nyquist rate), and </a:t>
            </a:r>
            <a:br>
              <a:rPr b="1" i="1" lang="en-US" sz="2800" u="none" cap="none" strike="noStrike">
                <a:solidFill>
                  <a:schemeClr val="dk1"/>
                </a:solidFill>
                <a:latin typeface="Times New Roman"/>
                <a:ea typeface="Times New Roman"/>
                <a:cs typeface="Times New Roman"/>
                <a:sym typeface="Times New Roman"/>
              </a:rPr>
            </a:br>
            <a:r>
              <a:rPr b="1" i="1" lang="en-US" sz="2800" u="none" cap="none" strike="noStrike">
                <a:solidFill>
                  <a:schemeClr val="dk1"/>
                </a:solidFill>
                <a:latin typeface="Times New Roman"/>
                <a:ea typeface="Times New Roman"/>
                <a:cs typeface="Times New Roman"/>
                <a:sym typeface="Times New Roman"/>
              </a:rPr>
              <a:t>f</a:t>
            </a:r>
            <a:r>
              <a:rPr b="1" baseline="-25000" i="1" lang="en-US" sz="2800" u="none" cap="none" strike="noStrike">
                <a:solidFill>
                  <a:schemeClr val="dk1"/>
                </a:solidFill>
                <a:latin typeface="Times New Roman"/>
                <a:ea typeface="Times New Roman"/>
                <a:cs typeface="Times New Roman"/>
                <a:sym typeface="Times New Roman"/>
              </a:rPr>
              <a:t>s</a:t>
            </a:r>
            <a:r>
              <a:rPr b="1" i="1" lang="en-US" sz="2800" u="none" cap="none" strike="noStrike">
                <a:solidFill>
                  <a:schemeClr val="dk1"/>
                </a:solidFill>
                <a:latin typeface="Times New Roman"/>
                <a:ea typeface="Times New Roman"/>
                <a:cs typeface="Times New Roman"/>
                <a:sym typeface="Times New Roman"/>
              </a:rPr>
              <a:t> = f (one-half the Nyquist rate). Figure 4.24 shows the sampling and the subsequent recovery of the signal.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It can be seen that sampling at the Nyquist rate can create a good approximation of the original sine wave (part a). Oversampling in part b can also create the same approximation, but it is redundant and unnecessary. Sampling below the Nyquist rate (part c) does not produce a signal that looks like the original sine wave.</a:t>
            </a:r>
            <a:endParaRPr b="0" i="0" sz="1400" u="none" cap="none" strike="noStrike">
              <a:solidFill>
                <a:srgbClr val="000000"/>
              </a:solidFill>
              <a:latin typeface="Arial"/>
              <a:ea typeface="Arial"/>
              <a:cs typeface="Arial"/>
              <a:sym typeface="Arial"/>
            </a:endParaRPr>
          </a:p>
        </p:txBody>
      </p:sp>
      <p:sp>
        <p:nvSpPr>
          <p:cNvPr id="202" name="Google Shape;202;p9"/>
          <p:cNvSpPr txBox="1"/>
          <p:nvPr/>
        </p:nvSpPr>
        <p:spPr>
          <a:xfrm>
            <a:off x="1143000" y="-46037"/>
            <a:ext cx="22844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4.6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a6b4fba6a6_1_8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4.</a:t>
            </a:r>
            <a:fld id="{00000000-1234-1234-1234-123412341234}" type="slidenum">
              <a:rPr b="1" i="0" lang="en-US" sz="2000" u="none">
                <a:solidFill>
                  <a:schemeClr val="lt2"/>
                </a:solidFill>
                <a:latin typeface="Arial"/>
                <a:ea typeface="Arial"/>
                <a:cs typeface="Arial"/>
                <a:sym typeface="Arial"/>
              </a:rPr>
              <a:t>‹#›</a:t>
            </a:fld>
            <a:endParaRPr/>
          </a:p>
        </p:txBody>
      </p:sp>
      <p:cxnSp>
        <p:nvCxnSpPr>
          <p:cNvPr id="209" name="Google Shape;209;g3a6b4fba6a6_1_82"/>
          <p:cNvCxnSpPr/>
          <p:nvPr/>
        </p:nvCxnSpPr>
        <p:spPr>
          <a:xfrm>
            <a:off x="152400" y="762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210" name="Google Shape;210;g3a6b4fba6a6_1_82"/>
          <p:cNvCxnSpPr/>
          <p:nvPr/>
        </p:nvCxnSpPr>
        <p:spPr>
          <a:xfrm>
            <a:off x="152400" y="9144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211" name="Google Shape;211;g3a6b4fba6a6_1_82"/>
          <p:cNvSpPr txBox="1"/>
          <p:nvPr/>
        </p:nvSpPr>
        <p:spPr>
          <a:xfrm>
            <a:off x="304800" y="304800"/>
            <a:ext cx="8166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4.24  </a:t>
            </a:r>
            <a:r>
              <a:rPr b="1" i="1" lang="en-US" sz="2000" u="none">
                <a:solidFill>
                  <a:schemeClr val="dk1"/>
                </a:solidFill>
                <a:latin typeface="Times New Roman"/>
                <a:ea typeface="Times New Roman"/>
                <a:cs typeface="Times New Roman"/>
                <a:sym typeface="Times New Roman"/>
              </a:rPr>
              <a:t>Recovery of a sampled sine wave for different sampling rates</a:t>
            </a:r>
            <a:endParaRPr/>
          </a:p>
        </p:txBody>
      </p:sp>
      <p:cxnSp>
        <p:nvCxnSpPr>
          <p:cNvPr id="212" name="Google Shape;212;g3a6b4fba6a6_1_82"/>
          <p:cNvCxnSpPr/>
          <p:nvPr/>
        </p:nvCxnSpPr>
        <p:spPr>
          <a:xfrm>
            <a:off x="152400" y="63246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213" name="Google Shape;213;g3a6b4fba6a6_1_82"/>
          <p:cNvPicPr preferRelativeResize="0"/>
          <p:nvPr/>
        </p:nvPicPr>
        <p:blipFill rotWithShape="1">
          <a:blip r:embed="rId3">
            <a:alphaModFix/>
          </a:blip>
          <a:srcRect b="0" l="0" r="0" t="0"/>
          <a:stretch/>
        </p:blipFill>
        <p:spPr>
          <a:xfrm>
            <a:off x="1365250" y="1066800"/>
            <a:ext cx="6407148" cy="48863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a6b4fba6a6_1_9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4.</a:t>
            </a:r>
            <a:fld id="{00000000-1234-1234-1234-123412341234}" type="slidenum">
              <a:rPr b="1" i="0" lang="en-US" sz="2000" u="none">
                <a:solidFill>
                  <a:schemeClr val="lt2"/>
                </a:solidFill>
                <a:latin typeface="Arial"/>
                <a:ea typeface="Arial"/>
                <a:cs typeface="Arial"/>
                <a:sym typeface="Arial"/>
              </a:rPr>
              <a:t>‹#›</a:t>
            </a:fld>
            <a:endParaRPr/>
          </a:p>
        </p:txBody>
      </p:sp>
      <p:sp>
        <p:nvSpPr>
          <p:cNvPr id="220" name="Google Shape;220;g3a6b4fba6a6_1_92"/>
          <p:cNvSpPr txBox="1"/>
          <p:nvPr/>
        </p:nvSpPr>
        <p:spPr>
          <a:xfrm>
            <a:off x="366712" y="107950"/>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1" name="Google Shape;221;g3a6b4fba6a6_1_92"/>
          <p:cNvSpPr txBox="1"/>
          <p:nvPr/>
        </p:nvSpPr>
        <p:spPr>
          <a:xfrm>
            <a:off x="749300" y="107950"/>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2" name="Google Shape;222;g3a6b4fba6a6_1_92"/>
          <p:cNvSpPr txBox="1"/>
          <p:nvPr/>
        </p:nvSpPr>
        <p:spPr>
          <a:xfrm>
            <a:off x="490537" y="530225"/>
            <a:ext cx="4224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3" name="Google Shape;223;g3a6b4fba6a6_1_92"/>
          <p:cNvSpPr txBox="1"/>
          <p:nvPr/>
        </p:nvSpPr>
        <p:spPr>
          <a:xfrm>
            <a:off x="860425" y="530225"/>
            <a:ext cx="3684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4" name="Google Shape;224;g3a6b4fba6a6_1_92"/>
          <p:cNvSpPr txBox="1"/>
          <p:nvPr/>
        </p:nvSpPr>
        <p:spPr>
          <a:xfrm>
            <a:off x="76200" y="457200"/>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5" name="Google Shape;225;g3a6b4fba6a6_1_92"/>
          <p:cNvSpPr txBox="1"/>
          <p:nvPr/>
        </p:nvSpPr>
        <p:spPr>
          <a:xfrm>
            <a:off x="711200" y="0"/>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6" name="Google Shape;226;g3a6b4fba6a6_1_92"/>
          <p:cNvSpPr txBox="1"/>
          <p:nvPr/>
        </p:nvSpPr>
        <p:spPr>
          <a:xfrm>
            <a:off x="442912" y="533400"/>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227" name="Google Shape;227;g3a6b4fba6a6_1_92"/>
          <p:cNvSpPr txBox="1"/>
          <p:nvPr/>
        </p:nvSpPr>
        <p:spPr>
          <a:xfrm>
            <a:off x="228600" y="1143000"/>
            <a:ext cx="8686800" cy="5264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Consider the revolution of a hand of a clock. The second hand of a clock has a period of 60 s. According to the Nyquist theorem, we need to sample the hand every 30 s (T</a:t>
            </a:r>
            <a:r>
              <a:rPr b="1" baseline="-25000" i="1" lang="en-US" sz="2800" u="none">
                <a:solidFill>
                  <a:schemeClr val="dk1"/>
                </a:solidFill>
                <a:latin typeface="Times New Roman"/>
                <a:ea typeface="Times New Roman"/>
                <a:cs typeface="Times New Roman"/>
                <a:sym typeface="Times New Roman"/>
              </a:rPr>
              <a:t>s</a:t>
            </a:r>
            <a:r>
              <a:rPr b="1" i="1" lang="en-US" sz="2800" u="none">
                <a:solidFill>
                  <a:schemeClr val="dk1"/>
                </a:solidFill>
                <a:latin typeface="Times New Roman"/>
                <a:ea typeface="Times New Roman"/>
                <a:cs typeface="Times New Roman"/>
                <a:sym typeface="Times New Roman"/>
              </a:rPr>
              <a:t> = T or f</a:t>
            </a:r>
            <a:r>
              <a:rPr b="1" baseline="-25000" i="1" lang="en-US" sz="2800" u="none">
                <a:solidFill>
                  <a:schemeClr val="dk1"/>
                </a:solidFill>
                <a:latin typeface="Times New Roman"/>
                <a:ea typeface="Times New Roman"/>
                <a:cs typeface="Times New Roman"/>
                <a:sym typeface="Times New Roman"/>
              </a:rPr>
              <a:t>s</a:t>
            </a:r>
            <a:r>
              <a:rPr b="1" i="1" lang="en-US" sz="2800" u="none">
                <a:solidFill>
                  <a:schemeClr val="dk1"/>
                </a:solidFill>
                <a:latin typeface="Times New Roman"/>
                <a:ea typeface="Times New Roman"/>
                <a:cs typeface="Times New Roman"/>
                <a:sym typeface="Times New Roman"/>
              </a:rPr>
              <a:t> = 2f ). In Figure 4.25a, the sample points, in order, are 12, 6, 12, 6, 12, and 6. The receiver of the samples cannot tell if the clock is moving forward or backward. In part b, we sample at double the Nyquist rate (every 15 s). The sample points are 12, 3, 6, 9, and 12. The clock is moving forward. In part c, we sample below the Nyquist rate (T</a:t>
            </a:r>
            <a:r>
              <a:rPr b="1" baseline="-25000" i="1" lang="en-US" sz="2800" u="none">
                <a:solidFill>
                  <a:schemeClr val="dk1"/>
                </a:solidFill>
                <a:latin typeface="Times New Roman"/>
                <a:ea typeface="Times New Roman"/>
                <a:cs typeface="Times New Roman"/>
                <a:sym typeface="Times New Roman"/>
              </a:rPr>
              <a:t>s</a:t>
            </a:r>
            <a:r>
              <a:rPr b="1" i="1" lang="en-US" sz="2800" u="none">
                <a:solidFill>
                  <a:schemeClr val="dk1"/>
                </a:solidFill>
                <a:latin typeface="Times New Roman"/>
                <a:ea typeface="Times New Roman"/>
                <a:cs typeface="Times New Roman"/>
                <a:sym typeface="Times New Roman"/>
              </a:rPr>
              <a:t> = T or f</a:t>
            </a:r>
            <a:r>
              <a:rPr b="1" baseline="-25000" i="1" lang="en-US" sz="2800" u="none">
                <a:solidFill>
                  <a:schemeClr val="dk1"/>
                </a:solidFill>
                <a:latin typeface="Times New Roman"/>
                <a:ea typeface="Times New Roman"/>
                <a:cs typeface="Times New Roman"/>
                <a:sym typeface="Times New Roman"/>
              </a:rPr>
              <a:t>s</a:t>
            </a:r>
            <a:r>
              <a:rPr b="1" i="1" lang="en-US" sz="2800" u="none">
                <a:solidFill>
                  <a:schemeClr val="dk1"/>
                </a:solidFill>
                <a:latin typeface="Times New Roman"/>
                <a:ea typeface="Times New Roman"/>
                <a:cs typeface="Times New Roman"/>
                <a:sym typeface="Times New Roman"/>
              </a:rPr>
              <a:t> = f ). The sample points are 12, 9, 6, 3, and 12. Although the clock is moving forward, the receiver thinks that the clock is moving backward.</a:t>
            </a:r>
            <a:endParaRPr/>
          </a:p>
        </p:txBody>
      </p:sp>
      <p:sp>
        <p:nvSpPr>
          <p:cNvPr id="228" name="Google Shape;228;g3a6b4fba6a6_1_92"/>
          <p:cNvSpPr txBox="1"/>
          <p:nvPr/>
        </p:nvSpPr>
        <p:spPr>
          <a:xfrm>
            <a:off x="1143000" y="-46037"/>
            <a:ext cx="2284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4.7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a6b4fba6a6_1_10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4.</a:t>
            </a:r>
            <a:fld id="{00000000-1234-1234-1234-123412341234}" type="slidenum">
              <a:rPr b="1" i="0" lang="en-US" sz="2000" u="none">
                <a:solidFill>
                  <a:schemeClr val="lt2"/>
                </a:solidFill>
                <a:latin typeface="Arial"/>
                <a:ea typeface="Arial"/>
                <a:cs typeface="Arial"/>
                <a:sym typeface="Arial"/>
              </a:rPr>
              <a:t>‹#›</a:t>
            </a:fld>
            <a:endParaRPr/>
          </a:p>
        </p:txBody>
      </p:sp>
      <p:cxnSp>
        <p:nvCxnSpPr>
          <p:cNvPr id="235" name="Google Shape;235;g3a6b4fba6a6_1_106"/>
          <p:cNvCxnSpPr/>
          <p:nvPr/>
        </p:nvCxnSpPr>
        <p:spPr>
          <a:xfrm>
            <a:off x="152400" y="5334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236" name="Google Shape;236;g3a6b4fba6a6_1_106"/>
          <p:cNvCxnSpPr/>
          <p:nvPr/>
        </p:nvCxnSpPr>
        <p:spPr>
          <a:xfrm>
            <a:off x="152400" y="13716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237" name="Google Shape;237;g3a6b4fba6a6_1_106"/>
          <p:cNvSpPr txBox="1"/>
          <p:nvPr/>
        </p:nvSpPr>
        <p:spPr>
          <a:xfrm>
            <a:off x="304800" y="762000"/>
            <a:ext cx="596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4.25  </a:t>
            </a:r>
            <a:r>
              <a:rPr b="1" i="1" lang="en-US" sz="2000" u="none">
                <a:solidFill>
                  <a:srgbClr val="FF0000"/>
                </a:solidFill>
                <a:latin typeface="Times New Roman"/>
                <a:ea typeface="Times New Roman"/>
                <a:cs typeface="Times New Roman"/>
                <a:sym typeface="Times New Roman"/>
              </a:rPr>
              <a:t>Sampling of a clock with only one hand</a:t>
            </a:r>
            <a:endParaRPr>
              <a:solidFill>
                <a:srgbClr val="FF0000"/>
              </a:solidFill>
            </a:endParaRPr>
          </a:p>
        </p:txBody>
      </p:sp>
      <p:cxnSp>
        <p:nvCxnSpPr>
          <p:cNvPr id="238" name="Google Shape;238;g3a6b4fba6a6_1_106"/>
          <p:cNvCxnSpPr/>
          <p:nvPr/>
        </p:nvCxnSpPr>
        <p:spPr>
          <a:xfrm>
            <a:off x="152400" y="62484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239" name="Google Shape;239;g3a6b4fba6a6_1_106"/>
          <p:cNvPicPr preferRelativeResize="0"/>
          <p:nvPr/>
        </p:nvPicPr>
        <p:blipFill rotWithShape="1">
          <a:blip r:embed="rId3">
            <a:alphaModFix/>
          </a:blip>
          <a:srcRect b="0" l="0" r="0" t="0"/>
          <a:stretch/>
        </p:blipFill>
        <p:spPr>
          <a:xfrm>
            <a:off x="1349375" y="1617662"/>
            <a:ext cx="6727824" cy="45545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6" name="Google Shape;246;p1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47" name="Google Shape;247;p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48" name="Google Shape;248;p1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49" name="Google Shape;249;p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50" name="Google Shape;250;p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51" name="Google Shape;251;p1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52" name="Google Shape;252;p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53" name="Google Shape;253;p14"/>
          <p:cNvSpPr txBox="1"/>
          <p:nvPr/>
        </p:nvSpPr>
        <p:spPr>
          <a:xfrm>
            <a:off x="228600" y="1143000"/>
            <a:ext cx="86868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Telephone companies digitize voice by assuming a maximum frequency of 4000 Hz. The sampling rate therefore is 8000 samples per second.</a:t>
            </a:r>
            <a:endParaRPr b="0" i="0" sz="1400" u="none" cap="none" strike="noStrike">
              <a:solidFill>
                <a:srgbClr val="000000"/>
              </a:solidFill>
              <a:latin typeface="Arial"/>
              <a:ea typeface="Arial"/>
              <a:cs typeface="Arial"/>
              <a:sym typeface="Arial"/>
            </a:endParaRPr>
          </a:p>
        </p:txBody>
      </p:sp>
      <p:sp>
        <p:nvSpPr>
          <p:cNvPr id="254" name="Google Shape;254;p14"/>
          <p:cNvSpPr txBox="1"/>
          <p:nvPr/>
        </p:nvSpPr>
        <p:spPr>
          <a:xfrm>
            <a:off x="1143000" y="0"/>
            <a:ext cx="22844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4.9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1" name="Google Shape;261;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2" name="Google Shape;262;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3" name="Google Shape;263;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4" name="Google Shape;264;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5" name="Google Shape;265;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6" name="Google Shape;266;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7" name="Google Shape;267;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68" name="Google Shape;268;p15"/>
          <p:cNvSpPr txBox="1"/>
          <p:nvPr/>
        </p:nvSpPr>
        <p:spPr>
          <a:xfrm>
            <a:off x="228600" y="1143000"/>
            <a:ext cx="86868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complex low-pass signal has a bandwidth of 200 kHz. What is the minimum sampling rate for this signal?</a:t>
            </a:r>
            <a:endParaRPr b="0" i="0" sz="1400" u="none" cap="none" strike="noStrike">
              <a:solidFill>
                <a:srgbClr val="000000"/>
              </a:solidFill>
              <a:latin typeface="Arial"/>
              <a:ea typeface="Arial"/>
              <a:cs typeface="Arial"/>
              <a:sym typeface="Arial"/>
            </a:endParaRPr>
          </a:p>
        </p:txBody>
      </p:sp>
      <p:sp>
        <p:nvSpPr>
          <p:cNvPr id="269" name="Google Shape;269;p15"/>
          <p:cNvSpPr txBox="1"/>
          <p:nvPr/>
        </p:nvSpPr>
        <p:spPr>
          <a:xfrm>
            <a:off x="228600" y="3106737"/>
            <a:ext cx="86868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a:buNone/>
            </a:pPr>
            <a:r>
              <a:rPr b="1" i="1" lang="en-US" sz="2800" u="none" cap="none" strike="noStrike">
                <a:solidFill>
                  <a:schemeClr val="dk1"/>
                </a:solidFill>
                <a:latin typeface="Times"/>
                <a:ea typeface="Times"/>
                <a:cs typeface="Times"/>
                <a:sym typeface="Times"/>
              </a:rPr>
              <a:t>The bandwidth of a low-pass signal is between 0 and f, where f is the maximum frequency in the signal. Therefore, we can sample this signal at 2 times the highest frequency (200 kHz). The sampling rate is therefore 400,000 samples per second.</a:t>
            </a:r>
            <a:endParaRPr b="0" i="0" sz="1400" u="none" cap="none" strike="noStrike">
              <a:solidFill>
                <a:srgbClr val="000000"/>
              </a:solidFill>
              <a:latin typeface="Arial"/>
              <a:ea typeface="Arial"/>
              <a:cs typeface="Arial"/>
              <a:sym typeface="Arial"/>
            </a:endParaRPr>
          </a:p>
        </p:txBody>
      </p:sp>
      <p:sp>
        <p:nvSpPr>
          <p:cNvPr id="270" name="Google Shape;270;p15"/>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4.10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7" name="Google Shape;277;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78" name="Google Shape;278;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79" name="Google Shape;279;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80" name="Google Shape;280;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81" name="Google Shape;281;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82" name="Google Shape;282;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83" name="Google Shape;283;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baseline="-25000" i="0" sz="2000" u="none" cap="none" strike="noStrike">
              <a:solidFill>
                <a:schemeClr val="dk1"/>
              </a:solidFill>
              <a:latin typeface="Times New Roman"/>
              <a:ea typeface="Times New Roman"/>
              <a:cs typeface="Times New Roman"/>
              <a:sym typeface="Times New Roman"/>
            </a:endParaRPr>
          </a:p>
        </p:txBody>
      </p:sp>
      <p:sp>
        <p:nvSpPr>
          <p:cNvPr id="284" name="Google Shape;284;p16"/>
          <p:cNvSpPr txBox="1"/>
          <p:nvPr/>
        </p:nvSpPr>
        <p:spPr>
          <a:xfrm>
            <a:off x="228600" y="1143000"/>
            <a:ext cx="86868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complex bandpass signal has a bandwidth of 200 kHz. What is the minimum sampling rate for this signal?</a:t>
            </a:r>
            <a:endParaRPr b="0" i="0" sz="1400" u="none" cap="none" strike="noStrike">
              <a:solidFill>
                <a:srgbClr val="000000"/>
              </a:solidFill>
              <a:latin typeface="Arial"/>
              <a:ea typeface="Arial"/>
              <a:cs typeface="Arial"/>
              <a:sym typeface="Arial"/>
            </a:endParaRPr>
          </a:p>
        </p:txBody>
      </p:sp>
      <p:sp>
        <p:nvSpPr>
          <p:cNvPr id="285" name="Google Shape;285;p16"/>
          <p:cNvSpPr txBox="1"/>
          <p:nvPr/>
        </p:nvSpPr>
        <p:spPr>
          <a:xfrm>
            <a:off x="228600" y="3106737"/>
            <a:ext cx="8686800" cy="2227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a:buNone/>
            </a:pPr>
            <a:r>
              <a:rPr b="1" i="1" lang="en-US" sz="2800" u="none" cap="none" strike="noStrike">
                <a:solidFill>
                  <a:schemeClr val="dk1"/>
                </a:solidFill>
                <a:latin typeface="Times"/>
                <a:ea typeface="Times"/>
                <a:cs typeface="Times"/>
                <a:sym typeface="Times"/>
              </a:rPr>
              <a:t>We cannot find the minimum sampling rate in this case because we do not know where the bandwidth starts or ends. We do not know the maximum frequency in the signal.</a:t>
            </a:r>
            <a:endParaRPr b="0" i="0" sz="1400" u="none" cap="none" strike="noStrike">
              <a:solidFill>
                <a:srgbClr val="000000"/>
              </a:solidFill>
              <a:latin typeface="Arial"/>
              <a:ea typeface="Arial"/>
              <a:cs typeface="Arial"/>
              <a:sym typeface="Arial"/>
            </a:endParaRPr>
          </a:p>
        </p:txBody>
      </p:sp>
      <p:sp>
        <p:nvSpPr>
          <p:cNvPr id="286" name="Google Shape;286;p16"/>
          <p:cNvSpPr txBox="1"/>
          <p:nvPr/>
        </p:nvSpPr>
        <p:spPr>
          <a:xfrm>
            <a:off x="1143000" y="0"/>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4.11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2" name="Google Shape;292;p17"/>
          <p:cNvSpPr txBox="1"/>
          <p:nvPr>
            <p:ph type="title"/>
          </p:nvPr>
        </p:nvSpPr>
        <p:spPr>
          <a:xfrm>
            <a:off x="685800" y="609600"/>
            <a:ext cx="7772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rgbClr val="FF0000"/>
                </a:solidFill>
                <a:latin typeface="Tahoma"/>
                <a:ea typeface="Tahoma"/>
                <a:cs typeface="Tahoma"/>
                <a:sym typeface="Tahoma"/>
              </a:rPr>
              <a:t>Quantization</a:t>
            </a:r>
            <a:endParaRPr>
              <a:solidFill>
                <a:srgbClr val="FF0000"/>
              </a:solidFill>
            </a:endParaRPr>
          </a:p>
        </p:txBody>
      </p:sp>
      <p:sp>
        <p:nvSpPr>
          <p:cNvPr id="293" name="Google Shape;293;p17"/>
          <p:cNvSpPr txBox="1"/>
          <p:nvPr>
            <p:ph idx="1" type="body"/>
          </p:nvPr>
        </p:nvSpPr>
        <p:spPr>
          <a:xfrm>
            <a:off x="685800" y="1600200"/>
            <a:ext cx="7772400"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Sampling results in a series of pulses of varying amplitude values ranging between two limits: a min and a max.</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The amplitude values are infinite between the two limits.</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We need to map the </a:t>
            </a:r>
            <a:r>
              <a:rPr b="0" i="1" lang="en-US" sz="2800" u="none">
                <a:solidFill>
                  <a:schemeClr val="dk1"/>
                </a:solidFill>
                <a:latin typeface="Tahoma"/>
                <a:ea typeface="Tahoma"/>
                <a:cs typeface="Tahoma"/>
                <a:sym typeface="Tahoma"/>
              </a:rPr>
              <a:t>infinite</a:t>
            </a:r>
            <a:r>
              <a:rPr b="0" i="0" lang="en-US" sz="2800" u="none">
                <a:solidFill>
                  <a:schemeClr val="dk1"/>
                </a:solidFill>
                <a:latin typeface="Tahoma"/>
                <a:ea typeface="Tahoma"/>
                <a:cs typeface="Tahoma"/>
                <a:sym typeface="Tahoma"/>
              </a:rPr>
              <a:t> amplitude values onto a finite set of known values.</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This is achieved by dividing the distance between min and max into </a:t>
            </a:r>
            <a:r>
              <a:rPr b="0" i="0" lang="en-US" sz="2800" u="none">
                <a:solidFill>
                  <a:schemeClr val="hlink"/>
                </a:solidFill>
                <a:latin typeface="Tahoma"/>
                <a:ea typeface="Tahoma"/>
                <a:cs typeface="Tahoma"/>
                <a:sym typeface="Tahoma"/>
              </a:rPr>
              <a:t>L</a:t>
            </a:r>
            <a:r>
              <a:rPr b="0" i="0" lang="en-US" sz="2800" u="none">
                <a:solidFill>
                  <a:schemeClr val="dk1"/>
                </a:solidFill>
                <a:latin typeface="Tahoma"/>
                <a:ea typeface="Tahoma"/>
                <a:cs typeface="Tahoma"/>
                <a:sym typeface="Tahoma"/>
              </a:rPr>
              <a:t> </a:t>
            </a:r>
            <a:r>
              <a:rPr b="0" i="0" lang="en-US" sz="2800" u="none">
                <a:solidFill>
                  <a:schemeClr val="hlink"/>
                </a:solidFill>
                <a:latin typeface="Tahoma"/>
                <a:ea typeface="Tahoma"/>
                <a:cs typeface="Tahoma"/>
                <a:sym typeface="Tahoma"/>
              </a:rPr>
              <a:t>zones</a:t>
            </a:r>
            <a:r>
              <a:rPr b="0" i="0" lang="en-US" sz="2800" u="none">
                <a:solidFill>
                  <a:schemeClr val="dk1"/>
                </a:solidFill>
                <a:latin typeface="Tahoma"/>
                <a:ea typeface="Tahoma"/>
                <a:cs typeface="Tahoma"/>
                <a:sym typeface="Tahoma"/>
              </a:rPr>
              <a:t>, each of</a:t>
            </a:r>
            <a:r>
              <a:rPr b="0" i="0" lang="en-US" sz="2800" u="none">
                <a:solidFill>
                  <a:schemeClr val="hlink"/>
                </a:solidFill>
                <a:latin typeface="Tahoma"/>
                <a:ea typeface="Tahoma"/>
                <a:cs typeface="Tahoma"/>
                <a:sym typeface="Tahoma"/>
              </a:rPr>
              <a:t> height </a:t>
            </a:r>
            <a:r>
              <a:rPr b="0" i="0" lang="en-US" sz="2800" u="none">
                <a:solidFill>
                  <a:schemeClr val="hlink"/>
                </a:solidFill>
                <a:latin typeface="Noto Sans Symbols"/>
                <a:ea typeface="Noto Sans Symbols"/>
                <a:cs typeface="Noto Sans Symbols"/>
                <a:sym typeface="Noto Sans Symbols"/>
              </a:rPr>
              <a:t>Δ.</a:t>
            </a:r>
            <a:endParaRPr/>
          </a:p>
          <a:p>
            <a:pPr indent="-342900" lvl="0" marL="342900" rtl="0" algn="ctr">
              <a:lnSpc>
                <a:spcPct val="90000"/>
              </a:lnSpc>
              <a:spcBef>
                <a:spcPts val="560"/>
              </a:spcBef>
              <a:spcAft>
                <a:spcPts val="0"/>
              </a:spcAft>
              <a:buSzPts val="1680"/>
              <a:buNone/>
            </a:pPr>
            <a:r>
              <a:rPr b="0" i="0" lang="en-US" sz="2800" u="none">
                <a:solidFill>
                  <a:schemeClr val="dk1"/>
                </a:solidFill>
                <a:latin typeface="Noto Sans Symbols"/>
                <a:ea typeface="Noto Sans Symbols"/>
                <a:cs typeface="Noto Sans Symbols"/>
                <a:sym typeface="Noto Sans Symbols"/>
              </a:rPr>
              <a:t>Δ</a:t>
            </a:r>
            <a:r>
              <a:rPr b="0" i="0" lang="en-US" sz="2800" u="none">
                <a:solidFill>
                  <a:schemeClr val="dk1"/>
                </a:solidFill>
                <a:latin typeface="Tahoma"/>
                <a:ea typeface="Tahoma"/>
                <a:cs typeface="Tahoma"/>
                <a:sym typeface="Tahoma"/>
              </a:rPr>
              <a:t> = (max - min)/L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9" name="Google Shape;299;p18"/>
          <p:cNvSpPr txBox="1"/>
          <p:nvPr>
            <p:ph type="title"/>
          </p:nvPr>
        </p:nvSpPr>
        <p:spPr>
          <a:xfrm>
            <a:off x="685800" y="609600"/>
            <a:ext cx="7772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rgbClr val="FF0000"/>
                </a:solidFill>
                <a:latin typeface="Tahoma"/>
                <a:ea typeface="Tahoma"/>
                <a:cs typeface="Tahoma"/>
                <a:sym typeface="Tahoma"/>
              </a:rPr>
              <a:t>Quantization Levels</a:t>
            </a:r>
            <a:endParaRPr>
              <a:solidFill>
                <a:srgbClr val="FF0000"/>
              </a:solidFill>
            </a:endParaRPr>
          </a:p>
        </p:txBody>
      </p:sp>
      <p:sp>
        <p:nvSpPr>
          <p:cNvPr id="300" name="Google Shape;300;p1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The midpoint of each zone is assigned a value from 0 to L-1 (resulting in L values)</a:t>
            </a:r>
            <a:endParaRPr/>
          </a:p>
          <a:p>
            <a:pPr indent="-342900" lvl="0" marL="34290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Each sample falling in a zone is then approximated to the value of the midpoint.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6" name="Google Shape;306;p19"/>
          <p:cNvSpPr txBox="1"/>
          <p:nvPr>
            <p:ph type="title"/>
          </p:nvPr>
        </p:nvSpPr>
        <p:spPr>
          <a:xfrm>
            <a:off x="685800" y="609600"/>
            <a:ext cx="7772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Quantization Zones</a:t>
            </a:r>
            <a:endParaRPr/>
          </a:p>
        </p:txBody>
      </p:sp>
      <p:sp>
        <p:nvSpPr>
          <p:cNvPr id="307" name="Google Shape;307;p19"/>
          <p:cNvSpPr txBox="1"/>
          <p:nvPr>
            <p:ph idx="1" type="body"/>
          </p:nvPr>
        </p:nvSpPr>
        <p:spPr>
          <a:xfrm>
            <a:off x="685800" y="1600200"/>
            <a:ext cx="77724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Assume we have a voltage signal with amplitu</a:t>
            </a:r>
            <a:r>
              <a:rPr lang="en-US"/>
              <a:t>d</a:t>
            </a:r>
            <a:r>
              <a:rPr b="0" i="0" lang="en-US" sz="3200" u="none">
                <a:solidFill>
                  <a:schemeClr val="dk1"/>
                </a:solidFill>
                <a:latin typeface="Tahoma"/>
                <a:ea typeface="Tahoma"/>
                <a:cs typeface="Tahoma"/>
                <a:sym typeface="Tahoma"/>
              </a:rPr>
              <a:t>es V</a:t>
            </a:r>
            <a:r>
              <a:rPr b="0" baseline="-25000" i="0" lang="en-US" sz="3200" u="none">
                <a:solidFill>
                  <a:schemeClr val="dk1"/>
                </a:solidFill>
                <a:latin typeface="Tahoma"/>
                <a:ea typeface="Tahoma"/>
                <a:cs typeface="Tahoma"/>
                <a:sym typeface="Tahoma"/>
              </a:rPr>
              <a:t>min</a:t>
            </a:r>
            <a:r>
              <a:rPr b="0" i="0" lang="en-US" sz="3200" u="none">
                <a:solidFill>
                  <a:schemeClr val="dk1"/>
                </a:solidFill>
                <a:latin typeface="Tahoma"/>
                <a:ea typeface="Tahoma"/>
                <a:cs typeface="Tahoma"/>
                <a:sym typeface="Tahoma"/>
              </a:rPr>
              <a:t>=-20V and V</a:t>
            </a:r>
            <a:r>
              <a:rPr b="0" baseline="-25000" i="0" lang="en-US" sz="3200" u="none">
                <a:solidFill>
                  <a:schemeClr val="dk1"/>
                </a:solidFill>
                <a:latin typeface="Tahoma"/>
                <a:ea typeface="Tahoma"/>
                <a:cs typeface="Tahoma"/>
                <a:sym typeface="Tahoma"/>
              </a:rPr>
              <a:t>max</a:t>
            </a:r>
            <a:r>
              <a:rPr b="0" i="0" lang="en-US" sz="3200" u="none">
                <a:solidFill>
                  <a:schemeClr val="dk1"/>
                </a:solidFill>
                <a:latin typeface="Tahoma"/>
                <a:ea typeface="Tahoma"/>
                <a:cs typeface="Tahoma"/>
                <a:sym typeface="Tahoma"/>
              </a:rPr>
              <a:t>=+20V.</a:t>
            </a:r>
            <a:endParaRPr/>
          </a:p>
          <a:p>
            <a:pPr indent="-342900" lvl="0" marL="342900" rtl="0" algn="l">
              <a:lnSpc>
                <a:spcPct val="9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We want to use L=8 quantization levels.</a:t>
            </a:r>
            <a:endParaRPr/>
          </a:p>
          <a:p>
            <a:pPr indent="-342900" lvl="0" marL="342900" rtl="0" algn="l">
              <a:lnSpc>
                <a:spcPct val="9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Zone width</a:t>
            </a:r>
            <a:r>
              <a:rPr b="0" i="0" lang="en-US" sz="3200" u="none">
                <a:solidFill>
                  <a:schemeClr val="dk1"/>
                </a:solidFill>
                <a:latin typeface="Noto Sans Symbols"/>
                <a:ea typeface="Noto Sans Symbols"/>
                <a:cs typeface="Noto Sans Symbols"/>
                <a:sym typeface="Noto Sans Symbols"/>
              </a:rPr>
              <a:t> Δ</a:t>
            </a:r>
            <a:r>
              <a:rPr b="0" i="0" lang="en-US" sz="3200" u="none">
                <a:solidFill>
                  <a:schemeClr val="dk1"/>
                </a:solidFill>
                <a:latin typeface="Tahoma"/>
                <a:ea typeface="Tahoma"/>
                <a:cs typeface="Tahoma"/>
                <a:sym typeface="Tahoma"/>
              </a:rPr>
              <a:t> = (20 - -20)/8 = 5</a:t>
            </a:r>
            <a:endParaRPr/>
          </a:p>
          <a:p>
            <a:pPr indent="-342900" lvl="0" marL="342900" rtl="0" algn="l">
              <a:lnSpc>
                <a:spcPct val="9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The 8 zones are: -20 to -15, -15 to -10, -10 to -5, -5 to 0, 0 to +5, +5 to +10, +10 to +15, +15 to +20</a:t>
            </a:r>
            <a:endParaRPr/>
          </a:p>
          <a:p>
            <a:pPr indent="-342900" lvl="0" marL="342900" rtl="0" algn="l">
              <a:lnSpc>
                <a:spcPct val="9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The midpoints are: -17.5, -12.5, -7.5, -2.5, 2.5, 7.5, 12.5, 17.5</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3" name="Google Shape;313;p20"/>
          <p:cNvSpPr txBox="1"/>
          <p:nvPr>
            <p:ph type="title"/>
          </p:nvPr>
        </p:nvSpPr>
        <p:spPr>
          <a:xfrm>
            <a:off x="685800" y="304800"/>
            <a:ext cx="7772400" cy="83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Assigning Codes to Zones</a:t>
            </a:r>
            <a:endParaRPr/>
          </a:p>
        </p:txBody>
      </p:sp>
      <p:sp>
        <p:nvSpPr>
          <p:cNvPr id="314" name="Google Shape;314;p20"/>
          <p:cNvSpPr txBox="1"/>
          <p:nvPr>
            <p:ph idx="1" type="body"/>
          </p:nvPr>
        </p:nvSpPr>
        <p:spPr>
          <a:xfrm>
            <a:off x="685800" y="1143000"/>
            <a:ext cx="77724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Each zone is then assigned a binary code.</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The number of bits required to encode the zones, or the number of bits per sample as it is commonly referred to, is obtained as follows: </a:t>
            </a:r>
            <a:endParaRPr/>
          </a:p>
          <a:p>
            <a:pPr indent="-342900" lvl="0" marL="342900" rtl="0" algn="ctr">
              <a:lnSpc>
                <a:spcPct val="90000"/>
              </a:lnSpc>
              <a:spcBef>
                <a:spcPts val="560"/>
              </a:spcBef>
              <a:spcAft>
                <a:spcPts val="0"/>
              </a:spcAft>
              <a:buSzPts val="1680"/>
              <a:buNone/>
            </a:pPr>
            <a:r>
              <a:rPr b="0" i="0" lang="en-US" sz="2800" u="none">
                <a:solidFill>
                  <a:schemeClr val="dk1"/>
                </a:solidFill>
                <a:latin typeface="Tahoma"/>
                <a:ea typeface="Tahoma"/>
                <a:cs typeface="Tahoma"/>
                <a:sym typeface="Tahoma"/>
              </a:rPr>
              <a:t>n</a:t>
            </a:r>
            <a:r>
              <a:rPr b="0" baseline="-25000" i="0" lang="en-US" sz="2800" u="none">
                <a:solidFill>
                  <a:schemeClr val="dk1"/>
                </a:solidFill>
                <a:latin typeface="Tahoma"/>
                <a:ea typeface="Tahoma"/>
                <a:cs typeface="Tahoma"/>
                <a:sym typeface="Tahoma"/>
              </a:rPr>
              <a:t>b</a:t>
            </a:r>
            <a:r>
              <a:rPr b="0" i="0" lang="en-US" sz="2800" u="none">
                <a:solidFill>
                  <a:schemeClr val="dk1"/>
                </a:solidFill>
                <a:latin typeface="Tahoma"/>
                <a:ea typeface="Tahoma"/>
                <a:cs typeface="Tahoma"/>
                <a:sym typeface="Tahoma"/>
              </a:rPr>
              <a:t> = log</a:t>
            </a:r>
            <a:r>
              <a:rPr b="0" baseline="-25000" i="0" lang="en-US" sz="2800" u="none">
                <a:solidFill>
                  <a:schemeClr val="dk1"/>
                </a:solidFill>
                <a:latin typeface="Tahoma"/>
                <a:ea typeface="Tahoma"/>
                <a:cs typeface="Tahoma"/>
                <a:sym typeface="Tahoma"/>
              </a:rPr>
              <a:t>2</a:t>
            </a:r>
            <a:r>
              <a:rPr b="0" i="0" lang="en-US" sz="2800" u="none">
                <a:solidFill>
                  <a:schemeClr val="dk1"/>
                </a:solidFill>
                <a:latin typeface="Tahoma"/>
                <a:ea typeface="Tahoma"/>
                <a:cs typeface="Tahoma"/>
                <a:sym typeface="Tahoma"/>
              </a:rPr>
              <a:t> L</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Given our example, n</a:t>
            </a:r>
            <a:r>
              <a:rPr b="0" baseline="-25000" i="0" lang="en-US" sz="2800" u="none">
                <a:solidFill>
                  <a:schemeClr val="dk1"/>
                </a:solidFill>
                <a:latin typeface="Tahoma"/>
                <a:ea typeface="Tahoma"/>
                <a:cs typeface="Tahoma"/>
                <a:sym typeface="Tahoma"/>
              </a:rPr>
              <a:t>b</a:t>
            </a:r>
            <a:r>
              <a:rPr b="0" i="0" lang="en-US" sz="2800" u="none">
                <a:solidFill>
                  <a:schemeClr val="dk1"/>
                </a:solidFill>
                <a:latin typeface="Tahoma"/>
                <a:ea typeface="Tahoma"/>
                <a:cs typeface="Tahoma"/>
                <a:sym typeface="Tahoma"/>
              </a:rPr>
              <a:t> = 3</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The 8 zone (or level) codes are therefore: 000, 001, 010, 011, 100, 101, 110, and 111</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Assigning codes to zones:</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000 will refer to zone -20 to -15</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001 to zone -15 to -10, etc.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6f60e44da3_0_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21" name="Google Shape;321;g36f60e44da3_0_0"/>
          <p:cNvCxnSpPr/>
          <p:nvPr/>
        </p:nvCxnSpPr>
        <p:spPr>
          <a:xfrm>
            <a:off x="152400" y="762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22" name="Google Shape;322;g36f60e44da3_0_0"/>
          <p:cNvCxnSpPr/>
          <p:nvPr/>
        </p:nvCxnSpPr>
        <p:spPr>
          <a:xfrm>
            <a:off x="152400" y="9144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23" name="Google Shape;323;g36f60e44da3_0_0"/>
          <p:cNvSpPr txBox="1"/>
          <p:nvPr/>
        </p:nvSpPr>
        <p:spPr>
          <a:xfrm>
            <a:off x="304800" y="304800"/>
            <a:ext cx="6748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4.26  </a:t>
            </a:r>
            <a:r>
              <a:rPr b="1" i="1" lang="en-US" sz="2000" u="none" cap="none" strike="noStrike">
                <a:solidFill>
                  <a:srgbClr val="FF0000"/>
                </a:solidFill>
                <a:latin typeface="Times New Roman"/>
                <a:ea typeface="Times New Roman"/>
                <a:cs typeface="Times New Roman"/>
                <a:sym typeface="Times New Roman"/>
              </a:rPr>
              <a:t>Quantization and encoding of a sampled signal</a:t>
            </a:r>
            <a:endParaRPr b="0" i="0" sz="1400" u="none" cap="none" strike="noStrike">
              <a:solidFill>
                <a:srgbClr val="FF0000"/>
              </a:solidFill>
              <a:latin typeface="Arial"/>
              <a:ea typeface="Arial"/>
              <a:cs typeface="Arial"/>
              <a:sym typeface="Arial"/>
            </a:endParaRPr>
          </a:p>
        </p:txBody>
      </p:sp>
      <p:cxnSp>
        <p:nvCxnSpPr>
          <p:cNvPr id="324" name="Google Shape;324;g36f60e44da3_0_0"/>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25" name="Google Shape;325;g36f60e44da3_0_0" title="PCM-ss-1.png"/>
          <p:cNvPicPr preferRelativeResize="0"/>
          <p:nvPr/>
        </p:nvPicPr>
        <p:blipFill rotWithShape="1">
          <a:blip r:embed="rId3">
            <a:alphaModFix/>
          </a:blip>
          <a:srcRect b="0" l="0" r="0" t="0"/>
          <a:stretch/>
        </p:blipFill>
        <p:spPr>
          <a:xfrm>
            <a:off x="1595425" y="2700338"/>
            <a:ext cx="5953125" cy="3286125"/>
          </a:xfrm>
          <a:prstGeom prst="rect">
            <a:avLst/>
          </a:prstGeom>
          <a:noFill/>
          <a:ln>
            <a:noFill/>
          </a:ln>
        </p:spPr>
      </p:pic>
      <p:sp>
        <p:nvSpPr>
          <p:cNvPr id="326" name="Google Shape;326;g36f60e44da3_0_0"/>
          <p:cNvSpPr txBox="1"/>
          <p:nvPr/>
        </p:nvSpPr>
        <p:spPr>
          <a:xfrm>
            <a:off x="331550" y="1081925"/>
            <a:ext cx="8637900" cy="1804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ahoma"/>
                <a:ea typeface="Tahoma"/>
                <a:cs typeface="Tahoma"/>
                <a:sym typeface="Tahoma"/>
              </a:rPr>
              <a:t>The following figure shows a sampled analog signal. Convert it to a digital signal using </a:t>
            </a:r>
            <a:r>
              <a:rPr b="1" i="0" lang="en-US" sz="2000" u="none" cap="none" strike="noStrike">
                <a:solidFill>
                  <a:schemeClr val="dk1"/>
                </a:solidFill>
                <a:latin typeface="Tahoma"/>
                <a:ea typeface="Tahoma"/>
                <a:cs typeface="Tahoma"/>
                <a:sym typeface="Tahoma"/>
              </a:rPr>
              <a:t>Pulse Code Modulation</a:t>
            </a:r>
            <a:r>
              <a:rPr b="0" i="0" lang="en-US" sz="2000" u="none" cap="none" strike="noStrike">
                <a:solidFill>
                  <a:schemeClr val="dk1"/>
                </a:solidFill>
                <a:latin typeface="Tahoma"/>
                <a:ea typeface="Tahoma"/>
                <a:cs typeface="Tahoma"/>
                <a:sym typeface="Tahoma"/>
              </a:rPr>
              <a:t>.	</a:t>
            </a:r>
            <a:endParaRPr b="0" i="0" sz="2000" u="none" cap="none" strike="noStrike">
              <a:solidFill>
                <a:schemeClr val="dk1"/>
              </a:solidFill>
              <a:latin typeface="Tahoma"/>
              <a:ea typeface="Tahoma"/>
              <a:cs typeface="Tahoma"/>
              <a:sym typeface="Tahoma"/>
            </a:endParaRPr>
          </a:p>
          <a:p>
            <a:pPr indent="-355600" lvl="0" marL="457200" marR="0" rtl="0" algn="just">
              <a:lnSpc>
                <a:spcPct val="100000"/>
              </a:lnSpc>
              <a:spcBef>
                <a:spcPts val="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Assume there will be </a:t>
            </a:r>
            <a:r>
              <a:rPr b="1" i="0" lang="en-US" sz="2000" u="none" cap="none" strike="noStrike">
                <a:solidFill>
                  <a:schemeClr val="dk1"/>
                </a:solidFill>
                <a:latin typeface="Tahoma"/>
                <a:ea typeface="Tahoma"/>
                <a:cs typeface="Tahoma"/>
                <a:sym typeface="Tahoma"/>
              </a:rPr>
              <a:t>3-bit</a:t>
            </a:r>
            <a:r>
              <a:rPr b="0" i="0" lang="en-US" sz="2000" u="none" cap="none" strike="noStrike">
                <a:solidFill>
                  <a:schemeClr val="dk1"/>
                </a:solidFill>
                <a:latin typeface="Tahoma"/>
                <a:ea typeface="Tahoma"/>
                <a:cs typeface="Tahoma"/>
                <a:sym typeface="Tahoma"/>
              </a:rPr>
              <a:t> code words for </a:t>
            </a:r>
            <a:r>
              <a:rPr b="1" i="0" lang="en-US" sz="2000" u="none" cap="none" strike="noStrike">
                <a:solidFill>
                  <a:schemeClr val="dk1"/>
                </a:solidFill>
                <a:latin typeface="Tahoma"/>
                <a:ea typeface="Tahoma"/>
                <a:cs typeface="Tahoma"/>
                <a:sym typeface="Tahoma"/>
              </a:rPr>
              <a:t>each sampled amplitude</a:t>
            </a:r>
            <a:r>
              <a:rPr b="0" i="0" lang="en-US" sz="2000" u="none" cap="none" strike="noStrike">
                <a:solidFill>
                  <a:schemeClr val="dk1"/>
                </a:solidFill>
                <a:latin typeface="Tahoma"/>
                <a:ea typeface="Tahoma"/>
                <a:cs typeface="Tahoma"/>
                <a:sym typeface="Tahoma"/>
              </a:rPr>
              <a:t>.</a:t>
            </a:r>
            <a:endParaRPr b="0" i="0" sz="2000" u="none" cap="none" strike="noStrike">
              <a:solidFill>
                <a:schemeClr val="dk1"/>
              </a:solidFill>
              <a:latin typeface="Tahoma"/>
              <a:ea typeface="Tahoma"/>
              <a:cs typeface="Tahoma"/>
              <a:sym typeface="Tahoma"/>
            </a:endParaRPr>
          </a:p>
          <a:p>
            <a:pPr indent="-355600" lvl="0" marL="457200" marR="0" rtl="0" algn="just">
              <a:lnSpc>
                <a:spcPct val="100000"/>
              </a:lnSpc>
              <a:spcBef>
                <a:spcPts val="0"/>
              </a:spcBef>
              <a:spcAft>
                <a:spcPts val="0"/>
              </a:spcAft>
              <a:buClr>
                <a:schemeClr val="dk1"/>
              </a:buClr>
              <a:buSzPts val="2000"/>
              <a:buFont typeface="Tahoma"/>
              <a:buChar char="●"/>
            </a:pPr>
            <a:r>
              <a:rPr b="0" i="0" lang="en-US" sz="2000" u="none" cap="none" strike="noStrike">
                <a:solidFill>
                  <a:schemeClr val="dk1"/>
                </a:solidFill>
                <a:latin typeface="Tahoma"/>
                <a:ea typeface="Tahoma"/>
                <a:cs typeface="Tahoma"/>
                <a:sym typeface="Tahoma"/>
              </a:rPr>
              <a:t>Assume that the sampling amplitudes are between -20V to +20V.</a:t>
            </a:r>
            <a:endParaRPr b="0" i="0" sz="20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cap="none" strike="noStrike">
                <a:solidFill>
                  <a:schemeClr val="lt2"/>
                </a:solidFill>
                <a:latin typeface="Arial"/>
                <a:ea typeface="Arial"/>
                <a:cs typeface="Arial"/>
                <a:sym typeface="Arial"/>
              </a:rPr>
              <a:t>4.</a:t>
            </a:r>
            <a:fld id="{00000000-1234-1234-1234-123412341234}" type="slidenum">
              <a:rPr b="1" i="0" lang="en-US" sz="2000" u="none" cap="none" strike="noStrike">
                <a:solidFill>
                  <a:schemeClr val="lt2"/>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33" name="Google Shape;333;p21"/>
          <p:cNvCxnSpPr/>
          <p:nvPr/>
        </p:nvCxnSpPr>
        <p:spPr>
          <a:xfrm>
            <a:off x="152400" y="762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34" name="Google Shape;334;p21"/>
          <p:cNvCxnSpPr/>
          <p:nvPr/>
        </p:nvCxnSpPr>
        <p:spPr>
          <a:xfrm>
            <a:off x="152400" y="9144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35" name="Google Shape;335;p21"/>
          <p:cNvSpPr txBox="1"/>
          <p:nvPr/>
        </p:nvSpPr>
        <p:spPr>
          <a:xfrm>
            <a:off x="304800" y="304800"/>
            <a:ext cx="6748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4.26  </a:t>
            </a:r>
            <a:r>
              <a:rPr b="1" i="1" lang="en-US" sz="2000" u="none" cap="none" strike="noStrike">
                <a:solidFill>
                  <a:srgbClr val="FF0000"/>
                </a:solidFill>
                <a:latin typeface="Times New Roman"/>
                <a:ea typeface="Times New Roman"/>
                <a:cs typeface="Times New Roman"/>
                <a:sym typeface="Times New Roman"/>
              </a:rPr>
              <a:t>Quantization and encoding of a sampled signal</a:t>
            </a:r>
            <a:endParaRPr b="0" i="0" sz="1400" u="none" cap="none" strike="noStrike">
              <a:solidFill>
                <a:srgbClr val="FF0000"/>
              </a:solidFill>
              <a:latin typeface="Arial"/>
              <a:ea typeface="Arial"/>
              <a:cs typeface="Arial"/>
              <a:sym typeface="Arial"/>
            </a:endParaRPr>
          </a:p>
        </p:txBody>
      </p:sp>
      <p:cxnSp>
        <p:nvCxnSpPr>
          <p:cNvPr id="336" name="Google Shape;336;p21"/>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37" name="Google Shape;337;p21"/>
          <p:cNvPicPr preferRelativeResize="0"/>
          <p:nvPr/>
        </p:nvPicPr>
        <p:blipFill rotWithShape="1">
          <a:blip r:embed="rId3">
            <a:alphaModFix/>
          </a:blip>
          <a:srcRect b="0" l="0" r="0" t="0"/>
          <a:stretch/>
        </p:blipFill>
        <p:spPr>
          <a:xfrm>
            <a:off x="925512" y="1049337"/>
            <a:ext cx="6846887" cy="51228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a7508d97ae_1_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4.</a:t>
            </a:r>
            <a:fld id="{00000000-1234-1234-1234-123412341234}" type="slidenum">
              <a:rPr b="1" i="0" lang="en-US" sz="2000" u="none">
                <a:solidFill>
                  <a:schemeClr val="lt2"/>
                </a:solidFill>
                <a:latin typeface="Arial"/>
                <a:ea typeface="Arial"/>
                <a:cs typeface="Arial"/>
                <a:sym typeface="Arial"/>
              </a:rPr>
              <a:t>‹#›</a:t>
            </a:fld>
            <a:endParaRPr/>
          </a:p>
        </p:txBody>
      </p:sp>
      <p:sp>
        <p:nvSpPr>
          <p:cNvPr id="343" name="Google Shape;343;g3a7508d97ae_1_0"/>
          <p:cNvSpPr txBox="1"/>
          <p:nvPr>
            <p:ph type="title"/>
          </p:nvPr>
        </p:nvSpPr>
        <p:spPr>
          <a:xfrm>
            <a:off x="685800" y="609600"/>
            <a:ext cx="7772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Bit rate and bandwidth requirements of PCM</a:t>
            </a:r>
            <a:endParaRPr/>
          </a:p>
        </p:txBody>
      </p:sp>
      <p:sp>
        <p:nvSpPr>
          <p:cNvPr id="344" name="Google Shape;344;g3a7508d97ae_1_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bit rate of a PCM signal can be calculated form the number of bits per sample x the sampling rate</a:t>
            </a:r>
            <a:endParaRPr/>
          </a:p>
          <a:p>
            <a:pPr indent="-342900" lvl="0" marL="342900" rtl="0" algn="ctr">
              <a:lnSpc>
                <a:spcPct val="100000"/>
              </a:lnSpc>
              <a:spcBef>
                <a:spcPts val="480"/>
              </a:spcBef>
              <a:spcAft>
                <a:spcPts val="0"/>
              </a:spcAft>
              <a:buSzPts val="1440"/>
              <a:buNone/>
            </a:pPr>
            <a:r>
              <a:rPr b="0" i="0" lang="en-US" sz="2400" u="none">
                <a:solidFill>
                  <a:schemeClr val="dk1"/>
                </a:solidFill>
                <a:latin typeface="Tahoma"/>
                <a:ea typeface="Tahoma"/>
                <a:cs typeface="Tahoma"/>
                <a:sym typeface="Tahoma"/>
              </a:rPr>
              <a:t>Bit rate = n</a:t>
            </a:r>
            <a:r>
              <a:rPr b="0" baseline="-25000" i="0" lang="en-US" sz="2400" u="none">
                <a:solidFill>
                  <a:schemeClr val="dk1"/>
                </a:solidFill>
                <a:latin typeface="Tahoma"/>
                <a:ea typeface="Tahoma"/>
                <a:cs typeface="Tahoma"/>
                <a:sym typeface="Tahoma"/>
              </a:rPr>
              <a:t>b</a:t>
            </a:r>
            <a:r>
              <a:rPr b="0" i="0" lang="en-US" sz="2400" u="none">
                <a:solidFill>
                  <a:schemeClr val="dk1"/>
                </a:solidFill>
                <a:latin typeface="Tahoma"/>
                <a:ea typeface="Tahoma"/>
                <a:cs typeface="Tahoma"/>
                <a:sym typeface="Tahoma"/>
              </a:rPr>
              <a:t> x f</a:t>
            </a:r>
            <a:r>
              <a:rPr b="0" baseline="-25000" i="0" lang="en-US" sz="2400" u="none">
                <a:solidFill>
                  <a:schemeClr val="dk1"/>
                </a:solidFill>
                <a:latin typeface="Tahoma"/>
                <a:ea typeface="Tahoma"/>
                <a:cs typeface="Tahoma"/>
                <a:sym typeface="Tahoma"/>
              </a:rPr>
              <a:t>s</a:t>
            </a:r>
            <a:endParaRPr b="0" i="0" sz="2400" u="none">
              <a:solidFill>
                <a:schemeClr val="dk1"/>
              </a:solidFill>
              <a:latin typeface="Tahoma"/>
              <a:ea typeface="Tahoma"/>
              <a:cs typeface="Tahoma"/>
              <a:sym typeface="Tahoma"/>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bandwidth required to transmit this signal depends on the type of line encoding used. Refer to previous section for discussion and formulas.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 digitized signal will always need more bandwidth than the original analog signal. Price we pay for robustness and other features of digital transmission.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a7508d97ae_1_5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4.</a:t>
            </a:r>
            <a:fld id="{00000000-1234-1234-1234-123412341234}" type="slidenum">
              <a:rPr b="1" i="0" lang="en-US" sz="2000" u="none">
                <a:solidFill>
                  <a:schemeClr val="lt2"/>
                </a:solidFill>
                <a:latin typeface="Arial"/>
                <a:ea typeface="Arial"/>
                <a:cs typeface="Arial"/>
                <a:sym typeface="Arial"/>
              </a:rPr>
              <a:t>‹#›</a:t>
            </a:fld>
            <a:endParaRPr/>
          </a:p>
        </p:txBody>
      </p:sp>
      <p:sp>
        <p:nvSpPr>
          <p:cNvPr id="351" name="Google Shape;351;g3a7508d97ae_1_54"/>
          <p:cNvSpPr txBox="1"/>
          <p:nvPr/>
        </p:nvSpPr>
        <p:spPr>
          <a:xfrm>
            <a:off x="366712" y="107950"/>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2" name="Google Shape;352;g3a7508d97ae_1_54"/>
          <p:cNvSpPr txBox="1"/>
          <p:nvPr/>
        </p:nvSpPr>
        <p:spPr>
          <a:xfrm>
            <a:off x="749300" y="107950"/>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3" name="Google Shape;353;g3a7508d97ae_1_54"/>
          <p:cNvSpPr txBox="1"/>
          <p:nvPr/>
        </p:nvSpPr>
        <p:spPr>
          <a:xfrm>
            <a:off x="490537" y="530225"/>
            <a:ext cx="422400" cy="4746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4" name="Google Shape;354;g3a7508d97ae_1_54"/>
          <p:cNvSpPr txBox="1"/>
          <p:nvPr/>
        </p:nvSpPr>
        <p:spPr>
          <a:xfrm>
            <a:off x="860425" y="530225"/>
            <a:ext cx="368400" cy="4746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5" name="Google Shape;355;g3a7508d97ae_1_54"/>
          <p:cNvSpPr txBox="1"/>
          <p:nvPr/>
        </p:nvSpPr>
        <p:spPr>
          <a:xfrm>
            <a:off x="76200" y="457200"/>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6" name="Google Shape;356;g3a7508d97ae_1_54"/>
          <p:cNvSpPr txBox="1"/>
          <p:nvPr/>
        </p:nvSpPr>
        <p:spPr>
          <a:xfrm>
            <a:off x="711200" y="0"/>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7" name="Google Shape;357;g3a7508d97ae_1_54"/>
          <p:cNvSpPr txBox="1"/>
          <p:nvPr/>
        </p:nvSpPr>
        <p:spPr>
          <a:xfrm>
            <a:off x="442912" y="533400"/>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baseline="-25000" i="0" sz="2000" u="none">
              <a:solidFill>
                <a:schemeClr val="dk1"/>
              </a:solidFill>
              <a:latin typeface="Times New Roman"/>
              <a:ea typeface="Times New Roman"/>
              <a:cs typeface="Times New Roman"/>
              <a:sym typeface="Times New Roman"/>
            </a:endParaRPr>
          </a:p>
        </p:txBody>
      </p:sp>
      <p:sp>
        <p:nvSpPr>
          <p:cNvPr id="358" name="Google Shape;358;g3a7508d97ae_1_54"/>
          <p:cNvSpPr txBox="1"/>
          <p:nvPr/>
        </p:nvSpPr>
        <p:spPr>
          <a:xfrm>
            <a:off x="228600" y="1143000"/>
            <a:ext cx="86868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want to digitize the human voice. What is the bit rate, assuming 8 bits per sample?</a:t>
            </a:r>
            <a:endParaRPr/>
          </a:p>
        </p:txBody>
      </p:sp>
      <p:sp>
        <p:nvSpPr>
          <p:cNvPr id="359" name="Google Shape;359;g3a7508d97ae_1_54"/>
          <p:cNvSpPr txBox="1"/>
          <p:nvPr/>
        </p:nvSpPr>
        <p:spPr>
          <a:xfrm>
            <a:off x="228600" y="2819400"/>
            <a:ext cx="8686800" cy="181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a:buNone/>
            </a:pPr>
            <a:r>
              <a:rPr b="1" i="1" lang="en-US" sz="2800" u="none">
                <a:solidFill>
                  <a:schemeClr val="dk1"/>
                </a:solidFill>
                <a:latin typeface="Times"/>
                <a:ea typeface="Times"/>
                <a:cs typeface="Times"/>
                <a:sym typeface="Times"/>
              </a:rPr>
              <a:t>The human voice normally contains frequencies from 0 to 4000 Hz. So the sampling rate and bit rate are calculated as follows:</a:t>
            </a:r>
            <a:endParaRPr/>
          </a:p>
        </p:txBody>
      </p:sp>
      <p:sp>
        <p:nvSpPr>
          <p:cNvPr id="360" name="Google Shape;360;g3a7508d97ae_1_54"/>
          <p:cNvSpPr txBox="1"/>
          <p:nvPr/>
        </p:nvSpPr>
        <p:spPr>
          <a:xfrm>
            <a:off x="1143000" y="-76200"/>
            <a:ext cx="24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4.14</a:t>
            </a:r>
            <a:endParaRPr/>
          </a:p>
        </p:txBody>
      </p:sp>
      <p:pic>
        <p:nvPicPr>
          <p:cNvPr id="361" name="Google Shape;361;g3a7508d97ae_1_54"/>
          <p:cNvPicPr preferRelativeResize="0"/>
          <p:nvPr/>
        </p:nvPicPr>
        <p:blipFill rotWithShape="1">
          <a:blip r:embed="rId3">
            <a:alphaModFix/>
          </a:blip>
          <a:srcRect b="0" l="0" r="0" t="0"/>
          <a:stretch/>
        </p:blipFill>
        <p:spPr>
          <a:xfrm>
            <a:off x="2128837" y="5057775"/>
            <a:ext cx="4886322" cy="657225"/>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