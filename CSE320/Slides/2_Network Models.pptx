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</p:sldIdLst>
  <p:sldSz cy="6858000" cx="9144000"/>
  <p:notesSz cx="6858000" cy="9144000"/>
  <p:embeddedFontLst>
    <p:embeddedFont>
      <p:font typeface="Garamond"/>
      <p:regular r:id="rId82"/>
      <p:bold r:id="rId83"/>
      <p:italic r:id="rId84"/>
      <p:boldItalic r:id="rId85"/>
    </p:embeddedFont>
    <p:embeddedFont>
      <p:font typeface="Tahoma"/>
      <p:regular r:id="rId86"/>
      <p:bold r:id="rId8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88" roundtripDataSignature="AMtx7mjvRHgDebUxk2T+Ur6nNTHU9m3t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6B4B19-D6E3-4645-A6D6-0AEDCF1683B2}">
  <a:tblStyle styleId="{936B4B19-D6E3-4645-A6D6-0AEDCF1683B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84" Type="http://schemas.openxmlformats.org/officeDocument/2006/relationships/font" Target="fonts/Garamond-italic.fntdata"/><Relationship Id="rId83" Type="http://schemas.openxmlformats.org/officeDocument/2006/relationships/font" Target="fonts/Garamond-bold.fntdata"/><Relationship Id="rId42" Type="http://schemas.openxmlformats.org/officeDocument/2006/relationships/slide" Target="slides/slide35.xml"/><Relationship Id="rId86" Type="http://schemas.openxmlformats.org/officeDocument/2006/relationships/font" Target="fonts/Tahoma-regular.fntdata"/><Relationship Id="rId41" Type="http://schemas.openxmlformats.org/officeDocument/2006/relationships/slide" Target="slides/slide34.xml"/><Relationship Id="rId85" Type="http://schemas.openxmlformats.org/officeDocument/2006/relationships/font" Target="fonts/Garamond-boldItalic.fntdata"/><Relationship Id="rId44" Type="http://schemas.openxmlformats.org/officeDocument/2006/relationships/slide" Target="slides/slide37.xml"/><Relationship Id="rId88" Type="http://customschemas.google.com/relationships/presentationmetadata" Target="metadata"/><Relationship Id="rId43" Type="http://schemas.openxmlformats.org/officeDocument/2006/relationships/slide" Target="slides/slide36.xml"/><Relationship Id="rId87" Type="http://schemas.openxmlformats.org/officeDocument/2006/relationships/font" Target="fonts/Tahoma-bold.fntdata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80" Type="http://schemas.openxmlformats.org/officeDocument/2006/relationships/slide" Target="slides/slide73.xml"/><Relationship Id="rId82" Type="http://schemas.openxmlformats.org/officeDocument/2006/relationships/font" Target="fonts/Garamond-regular.fntdata"/><Relationship Id="rId81" Type="http://schemas.openxmlformats.org/officeDocument/2006/relationships/slide" Target="slides/slide74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31" Type="http://schemas.openxmlformats.org/officeDocument/2006/relationships/slide" Target="slides/slide24.xml"/><Relationship Id="rId75" Type="http://schemas.openxmlformats.org/officeDocument/2006/relationships/slide" Target="slides/slide68.xml"/><Relationship Id="rId30" Type="http://schemas.openxmlformats.org/officeDocument/2006/relationships/slide" Target="slides/slide23.xml"/><Relationship Id="rId74" Type="http://schemas.openxmlformats.org/officeDocument/2006/relationships/slide" Target="slides/slide67.xml"/><Relationship Id="rId33" Type="http://schemas.openxmlformats.org/officeDocument/2006/relationships/slide" Target="slides/slide26.xml"/><Relationship Id="rId77" Type="http://schemas.openxmlformats.org/officeDocument/2006/relationships/slide" Target="slides/slide70.xml"/><Relationship Id="rId32" Type="http://schemas.openxmlformats.org/officeDocument/2006/relationships/slide" Target="slides/slide25.xml"/><Relationship Id="rId76" Type="http://schemas.openxmlformats.org/officeDocument/2006/relationships/slide" Target="slides/slide69.xml"/><Relationship Id="rId35" Type="http://schemas.openxmlformats.org/officeDocument/2006/relationships/slide" Target="slides/slide28.xml"/><Relationship Id="rId79" Type="http://schemas.openxmlformats.org/officeDocument/2006/relationships/slide" Target="slides/slide72.xml"/><Relationship Id="rId34" Type="http://schemas.openxmlformats.org/officeDocument/2006/relationships/slide" Target="slides/slide27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slide" Target="slides/slide61.xml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slide" Target="slides/slide6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3" name="Google Shape;393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" name="Google Shape;424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3" name="Google Shape;433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4" name="Google Shape;474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2" name="Google Shape;482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0" name="Google Shape;490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5" name="Google Shape;505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4" name="Google Shape;544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1" name="Google Shape;551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8" name="Google Shape;558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5" name="Google Shape;595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0" name="Google Shape;610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8" name="Google Shape;618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6" name="Google Shape;626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3" name="Google Shape;633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1" name="Google Shape;641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0" name="Google Shape;650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9" name="Google Shape;669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6" name="Google Shape;676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6" name="Google Shape;686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5" name="Google Shape;745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2" name="Google Shape;752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5" name="Google Shape;775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3" name="Google Shape;783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1" name="Google Shape;791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0" name="Google Shape;800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0" name="Google Shape;810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7" name="Google Shape;817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5" name="Google Shape;825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1" name="Google Shape;841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8" name="Google Shape;848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5" name="Google Shape;855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4" name="Google Shape;864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3" name="Google Shape;873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0" name="Google Shape;880;p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1" name="Google Shape;921;p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9" name="Google Shape;929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6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7"/>
          <p:cNvSpPr txBox="1"/>
          <p:nvPr>
            <p:ph type="title"/>
          </p:nvPr>
        </p:nvSpPr>
        <p:spPr>
          <a:xfrm>
            <a:off x="838200" y="2286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7"/>
          <p:cNvSpPr txBox="1"/>
          <p:nvPr>
            <p:ph idx="1" type="body"/>
          </p:nvPr>
        </p:nvSpPr>
        <p:spPr>
          <a:xfrm>
            <a:off x="685800" y="1295400"/>
            <a:ext cx="80772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9" name="Google Shape;19;p77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8"/>
          <p:cNvSpPr txBox="1"/>
          <p:nvPr>
            <p:ph type="title"/>
          </p:nvPr>
        </p:nvSpPr>
        <p:spPr>
          <a:xfrm>
            <a:off x="838200" y="2286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8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1"/>
          <p:cNvSpPr txBox="1"/>
          <p:nvPr>
            <p:ph type="title"/>
          </p:nvPr>
        </p:nvSpPr>
        <p:spPr>
          <a:xfrm rot="5400000">
            <a:off x="4857750" y="2114550"/>
            <a:ext cx="579120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1"/>
          <p:cNvSpPr txBox="1"/>
          <p:nvPr>
            <p:ph idx="1" type="body"/>
          </p:nvPr>
        </p:nvSpPr>
        <p:spPr>
          <a:xfrm rot="5400000">
            <a:off x="742950" y="171450"/>
            <a:ext cx="5791200" cy="59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6" name="Google Shape;26;p81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2"/>
          <p:cNvSpPr txBox="1"/>
          <p:nvPr>
            <p:ph type="title"/>
          </p:nvPr>
        </p:nvSpPr>
        <p:spPr>
          <a:xfrm>
            <a:off x="838200" y="2286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2"/>
          <p:cNvSpPr txBox="1"/>
          <p:nvPr>
            <p:ph idx="1" type="body"/>
          </p:nvPr>
        </p:nvSpPr>
        <p:spPr>
          <a:xfrm rot="5400000">
            <a:off x="2362200" y="-381000"/>
            <a:ext cx="4724400" cy="80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" name="Google Shape;30;p82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8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35" name="Google Shape;35;p83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39" name="Google Shape;39;p8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40" name="Google Shape;40;p84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44" name="Google Shape;44;p8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45" name="Google Shape;45;p8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46" name="Google Shape;46;p8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47" name="Google Shape;47;p85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6"/>
          <p:cNvSpPr txBox="1"/>
          <p:nvPr>
            <p:ph type="title"/>
          </p:nvPr>
        </p:nvSpPr>
        <p:spPr>
          <a:xfrm>
            <a:off x="838200" y="2286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6"/>
          <p:cNvSpPr txBox="1"/>
          <p:nvPr>
            <p:ph idx="1" type="body"/>
          </p:nvPr>
        </p:nvSpPr>
        <p:spPr>
          <a:xfrm>
            <a:off x="685800" y="1295400"/>
            <a:ext cx="3962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51" name="Google Shape;51;p86"/>
          <p:cNvSpPr txBox="1"/>
          <p:nvPr>
            <p:ph idx="2" type="body"/>
          </p:nvPr>
        </p:nvSpPr>
        <p:spPr>
          <a:xfrm>
            <a:off x="4800600" y="1295400"/>
            <a:ext cx="3962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52" name="Google Shape;52;p86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56" name="Google Shape;56;p87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0"/>
          <p:cNvSpPr txBox="1"/>
          <p:nvPr>
            <p:ph type="ctrTitle"/>
          </p:nvPr>
        </p:nvSpPr>
        <p:spPr>
          <a:xfrm>
            <a:off x="990600" y="1676400"/>
            <a:ext cx="7772400" cy="14620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9" name="Google Shape;69;p80"/>
          <p:cNvSpPr txBox="1"/>
          <p:nvPr>
            <p:ph idx="10" type="dt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0"/>
          <p:cNvSpPr txBox="1"/>
          <p:nvPr>
            <p:ph idx="11" type="ftr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0"/>
          <p:cNvSpPr txBox="1"/>
          <p:nvPr>
            <p:ph idx="12" type="sldNum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5"/>
          <p:cNvSpPr txBox="1"/>
          <p:nvPr>
            <p:ph type="title"/>
          </p:nvPr>
        </p:nvSpPr>
        <p:spPr>
          <a:xfrm>
            <a:off x="838200" y="2286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1" name="Google Shape;11;p75"/>
          <p:cNvSpPr txBox="1"/>
          <p:nvPr>
            <p:ph idx="1" type="body"/>
          </p:nvPr>
        </p:nvSpPr>
        <p:spPr>
          <a:xfrm>
            <a:off x="685800" y="1295400"/>
            <a:ext cx="80772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2" name="Google Shape;12;p75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" name="Google Shape;13;p75"/>
          <p:cNvCxnSpPr/>
          <p:nvPr/>
        </p:nvCxnSpPr>
        <p:spPr>
          <a:xfrm>
            <a:off x="0" y="1066800"/>
            <a:ext cx="9144000" cy="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9"/>
          <p:cNvSpPr txBox="1"/>
          <p:nvPr/>
        </p:nvSpPr>
        <p:spPr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McGraw-Hill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79"/>
          <p:cNvSpPr txBox="1"/>
          <p:nvPr/>
        </p:nvSpPr>
        <p:spPr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890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©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McGraw-Hill Companies, Inc., 2000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" name="Google Shape;60;p79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762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" name="Google Shape;61;p79"/>
          <p:cNvSpPr txBox="1"/>
          <p:nvPr>
            <p:ph type="title"/>
          </p:nvPr>
        </p:nvSpPr>
        <p:spPr>
          <a:xfrm>
            <a:off x="838200" y="2286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62" name="Google Shape;62;p79"/>
          <p:cNvSpPr txBox="1"/>
          <p:nvPr>
            <p:ph idx="1" type="body"/>
          </p:nvPr>
        </p:nvSpPr>
        <p:spPr>
          <a:xfrm>
            <a:off x="685800" y="1295400"/>
            <a:ext cx="80772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63" name="Google Shape;63;p79"/>
          <p:cNvSpPr txBox="1"/>
          <p:nvPr>
            <p:ph idx="10" type="dt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64" name="Google Shape;64;p79"/>
          <p:cNvSpPr txBox="1"/>
          <p:nvPr>
            <p:ph idx="11" type="ftr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65" name="Google Shape;65;p79"/>
          <p:cNvSpPr txBox="1"/>
          <p:nvPr>
            <p:ph idx="12" type="sldNum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44.png"/><Relationship Id="rId7" Type="http://schemas.openxmlformats.org/officeDocument/2006/relationships/image" Target="../media/image5.png"/><Relationship Id="rId8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5.png"/><Relationship Id="rId4" Type="http://schemas.openxmlformats.org/officeDocument/2006/relationships/image" Target="../media/image1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7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4.png"/><Relationship Id="rId4" Type="http://schemas.openxmlformats.org/officeDocument/2006/relationships/image" Target="../media/image36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0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4.png"/><Relationship Id="rId4" Type="http://schemas.openxmlformats.org/officeDocument/2006/relationships/image" Target="../media/image36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3.png"/><Relationship Id="rId4" Type="http://schemas.openxmlformats.org/officeDocument/2006/relationships/image" Target="../media/image45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2.png"/><Relationship Id="rId4" Type="http://schemas.openxmlformats.org/officeDocument/2006/relationships/image" Target="../media/image53.png"/><Relationship Id="rId5" Type="http://schemas.openxmlformats.org/officeDocument/2006/relationships/image" Target="../media/image57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9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1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49.png"/><Relationship Id="rId4" Type="http://schemas.openxmlformats.org/officeDocument/2006/relationships/image" Target="../media/image52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8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6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46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50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hyperlink" Target="mailto:john@gmail.com" TargetMode="External"/><Relationship Id="rId4" Type="http://schemas.openxmlformats.org/officeDocument/2006/relationships/hyperlink" Target="http://www.bracu.ac.bd/" TargetMode="Externa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47.png"/><Relationship Id="rId4" Type="http://schemas.openxmlformats.org/officeDocument/2006/relationships/image" Target="../media/image58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55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"/>
          <p:cNvSpPr txBox="1"/>
          <p:nvPr/>
        </p:nvSpPr>
        <p:spPr>
          <a:xfrm>
            <a:off x="228600" y="219075"/>
            <a:ext cx="19748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</a:t>
            </a:r>
            <a:endParaRPr b="0" i="1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"/>
          <p:cNvSpPr txBox="1"/>
          <p:nvPr/>
        </p:nvSpPr>
        <p:spPr>
          <a:xfrm>
            <a:off x="1619250" y="2498725"/>
            <a:ext cx="5838825" cy="109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1" lang="en-US" sz="6600" u="none" cap="none" strike="noStrike">
                <a:solidFill>
                  <a:srgbClr val="FF00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Models</a:t>
            </a:r>
            <a:endParaRPr b="1" i="1" sz="5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33C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"/>
          <p:cNvSpPr txBox="1"/>
          <p:nvPr/>
        </p:nvSpPr>
        <p:spPr>
          <a:xfrm>
            <a:off x="228600" y="76200"/>
            <a:ext cx="4452938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2-1   LAYERED TASKS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76200" y="1127125"/>
            <a:ext cx="8610600" cy="2227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use the concept of </a:t>
            </a:r>
            <a:r>
              <a:rPr b="0" i="1" lang="en-US" sz="2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layers</a:t>
            </a:r>
            <a:r>
              <a:rPr b="0" i="1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our daily life. As an example, let us consider two friends who communicate through postal mail. The process of sending a letter to a friend would be complex if there were no services available from the post office.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228600" y="4972050"/>
            <a:ext cx="57150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8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Sender, Receiver, and Carrier</a:t>
            </a:r>
            <a:br>
              <a:rPr b="1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Hierarchy</a:t>
            </a:r>
            <a:endParaRPr b="1" i="0" sz="2400" u="none" cap="none" strike="noStrike">
              <a:solidFill>
                <a:srgbClr val="0033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2"/>
          <p:cNvSpPr txBox="1"/>
          <p:nvPr/>
        </p:nvSpPr>
        <p:spPr>
          <a:xfrm>
            <a:off x="-180900" y="4288325"/>
            <a:ext cx="61245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Topics discussed in this section: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/>
          <p:cNvSpPr txBox="1"/>
          <p:nvPr/>
        </p:nvSpPr>
        <p:spPr>
          <a:xfrm>
            <a:off x="11584225" y="2809300"/>
            <a:ext cx="733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Google Shape;93;p3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3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3"/>
          <p:cNvSpPr txBox="1"/>
          <p:nvPr/>
        </p:nvSpPr>
        <p:spPr>
          <a:xfrm>
            <a:off x="304800" y="381000"/>
            <a:ext cx="49133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2.1  </a:t>
            </a:r>
            <a:r>
              <a:rPr b="1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Tasks involved in sending a letter</a:t>
            </a:r>
            <a:endParaRPr b="1" i="1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7" name="Google Shape;9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3700" y="1219200"/>
            <a:ext cx="5575300" cy="4799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609600" y="1295400"/>
            <a:ext cx="80010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Task of communication broken up into </a:t>
            </a:r>
            <a:r>
              <a:rPr b="0" i="0" lang="en-US" sz="32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layers</a:t>
            </a:r>
            <a:endParaRPr/>
          </a:p>
          <a:p>
            <a:pPr indent="-2209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b="0" i="0" sz="3200" u="none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928048" y="3508375"/>
            <a:ext cx="2353314" cy="2216150"/>
          </a:xfrm>
          <a:prstGeom prst="rect">
            <a:avLst/>
          </a:prstGeom>
          <a:solidFill>
            <a:schemeClr val="dk2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Communication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Task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" name="Google Shape;105;p4"/>
          <p:cNvCxnSpPr/>
          <p:nvPr/>
        </p:nvCxnSpPr>
        <p:spPr>
          <a:xfrm>
            <a:off x="3419475" y="4597400"/>
            <a:ext cx="1503362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6" name="Google Shape;106;p4"/>
          <p:cNvSpPr txBox="1"/>
          <p:nvPr/>
        </p:nvSpPr>
        <p:spPr>
          <a:xfrm>
            <a:off x="5468937" y="3216275"/>
            <a:ext cx="1341437" cy="1065212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5468937" y="4008437"/>
            <a:ext cx="1341437" cy="1065212"/>
          </a:xfrm>
          <a:prstGeom prst="rect">
            <a:avLst/>
          </a:prstGeom>
          <a:solidFill>
            <a:srgbClr val="993366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5468937" y="4799012"/>
            <a:ext cx="1341437" cy="1065212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7172325" y="3646487"/>
            <a:ext cx="1181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Layer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7173912" y="4438650"/>
            <a:ext cx="1181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Layer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7173912" y="5216525"/>
            <a:ext cx="1181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Layer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1447800" y="241300"/>
            <a:ext cx="2039937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Layering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 txBox="1"/>
          <p:nvPr>
            <p:ph type="title"/>
          </p:nvPr>
        </p:nvSpPr>
        <p:spPr>
          <a:xfrm>
            <a:off x="838200" y="2286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Layers involving calling a friend</a:t>
            </a:r>
            <a:endParaRPr/>
          </a:p>
        </p:txBody>
      </p:sp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4191000"/>
            <a:ext cx="1233487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86600" y="4572000"/>
            <a:ext cx="1020762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" y="1219200"/>
            <a:ext cx="7577137" cy="117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667000"/>
            <a:ext cx="7262812" cy="1112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05000" y="4800600"/>
            <a:ext cx="51054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1000" y="2286000"/>
            <a:ext cx="8534400" cy="344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200" y="3962400"/>
            <a:ext cx="8534400" cy="344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 txBox="1"/>
          <p:nvPr>
            <p:ph type="title"/>
          </p:nvPr>
        </p:nvSpPr>
        <p:spPr>
          <a:xfrm>
            <a:off x="685800" y="152400"/>
            <a:ext cx="81454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Benefits of using a layered model</a:t>
            </a:r>
            <a:endParaRPr/>
          </a:p>
        </p:txBody>
      </p:sp>
      <p:sp>
        <p:nvSpPr>
          <p:cNvPr id="132" name="Google Shape;132;p6"/>
          <p:cNvSpPr txBox="1"/>
          <p:nvPr>
            <p:ph idx="1" type="body"/>
          </p:nvPr>
        </p:nvSpPr>
        <p:spPr>
          <a:xfrm>
            <a:off x="522287" y="1138237"/>
            <a:ext cx="7940675" cy="50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 find out the </a:t>
            </a:r>
            <a:r>
              <a:rPr b="0" i="0" lang="en-US" sz="2800" u="none">
                <a:solidFill>
                  <a:srgbClr val="7575D1"/>
                </a:solidFill>
                <a:latin typeface="Tahoma"/>
                <a:ea typeface="Tahoma"/>
                <a:cs typeface="Tahoma"/>
                <a:sym typeface="Tahoma"/>
              </a:rPr>
              <a:t>fault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easily.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Changes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in one layer do not affect other layers.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Have </a:t>
            </a:r>
            <a:r>
              <a:rPr b="0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defined information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that they act upon.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09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09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3311525"/>
            <a:ext cx="5943600" cy="354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 txBox="1"/>
          <p:nvPr>
            <p:ph type="title"/>
          </p:nvPr>
        </p:nvSpPr>
        <p:spPr>
          <a:xfrm>
            <a:off x="838200" y="2286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Rules that govern communications</a:t>
            </a:r>
            <a:endParaRPr/>
          </a:p>
        </p:txBody>
      </p:sp>
      <p:sp>
        <p:nvSpPr>
          <p:cNvPr id="140" name="Google Shape;140;p7"/>
          <p:cNvSpPr txBox="1"/>
          <p:nvPr>
            <p:ph idx="1" type="body"/>
          </p:nvPr>
        </p:nvSpPr>
        <p:spPr>
          <a:xfrm>
            <a:off x="655637" y="1143000"/>
            <a:ext cx="7940675" cy="532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protocol is a set of predetermined rules.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Defines: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is communicated??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it is communicated??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When it is communicated??</a:t>
            </a:r>
            <a:endParaRPr/>
          </a:p>
          <a:p>
            <a:pPr indent="-2209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09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41" name="Google Shape;14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3367087"/>
            <a:ext cx="5334000" cy="321468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7"/>
          <p:cNvSpPr/>
          <p:nvPr/>
        </p:nvSpPr>
        <p:spPr>
          <a:xfrm>
            <a:off x="1219200" y="4419600"/>
            <a:ext cx="2057400" cy="685800"/>
          </a:xfrm>
          <a:prstGeom prst="ellipse">
            <a:avLst/>
          </a:prstGeom>
          <a:noFill/>
          <a:ln cap="flat" cmpd="sng" w="31750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 txBox="1"/>
          <p:nvPr>
            <p:ph idx="4294967295" type="title"/>
          </p:nvPr>
        </p:nvSpPr>
        <p:spPr>
          <a:xfrm>
            <a:off x="838200" y="2286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Protocols</a:t>
            </a:r>
            <a:endParaRPr/>
          </a:p>
        </p:txBody>
      </p:sp>
      <p:sp>
        <p:nvSpPr>
          <p:cNvPr id="149" name="Google Shape;149;p8"/>
          <p:cNvSpPr txBox="1"/>
          <p:nvPr>
            <p:ph idx="4294967295" type="body"/>
          </p:nvPr>
        </p:nvSpPr>
        <p:spPr>
          <a:xfrm>
            <a:off x="228600" y="129540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Describe processes such as:</a:t>
            </a:r>
            <a:endParaRPr/>
          </a:p>
        </p:txBody>
      </p:sp>
      <p:sp>
        <p:nvSpPr>
          <p:cNvPr id="150" name="Google Shape;150;p8"/>
          <p:cNvSpPr txBox="1"/>
          <p:nvPr/>
        </p:nvSpPr>
        <p:spPr>
          <a:xfrm>
            <a:off x="1447800" y="2133600"/>
            <a:ext cx="6096000" cy="495300"/>
          </a:xfrm>
          <a:prstGeom prst="rect">
            <a:avLst/>
          </a:prstGeom>
          <a:solidFill>
            <a:srgbClr val="0099FF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format or structure of the message.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1219200" y="4191000"/>
            <a:ext cx="6934200" cy="860425"/>
          </a:xfrm>
          <a:prstGeom prst="rect">
            <a:avLst/>
          </a:prstGeom>
          <a:solidFill>
            <a:srgbClr val="800000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How and when error and system messages are passed between devices.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1066800" y="5486400"/>
            <a:ext cx="7391400" cy="495300"/>
          </a:xfrm>
          <a:prstGeom prst="rect">
            <a:avLst/>
          </a:prstGeom>
          <a:solidFill>
            <a:srgbClr val="29527B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setup and termination of data transfer sessions.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1143000" y="2895600"/>
            <a:ext cx="7010400" cy="860425"/>
          </a:xfrm>
          <a:prstGeom prst="rect">
            <a:avLst/>
          </a:prstGeom>
          <a:solidFill>
            <a:srgbClr val="008000"/>
          </a:solidFill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method by which networking devices share information about pathways with other networks.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7467600" y="2133600"/>
            <a:ext cx="1295400" cy="457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What?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7620000" y="3429000"/>
            <a:ext cx="1295400" cy="457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How?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6934200" y="4648200"/>
            <a:ext cx="1981200" cy="457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How/When?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5715000" y="5943600"/>
            <a:ext cx="2895600" cy="4572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What/When/How?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1143000" y="317500"/>
            <a:ext cx="50673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Protocols and Standards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8229600" y="6400800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685800" y="1676400"/>
            <a:ext cx="7467600" cy="350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500"/>
              <a:buFont typeface="Noto Sans Symbols"/>
              <a:buChar char="▪"/>
            </a:pPr>
            <a:r>
              <a:rPr b="1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Protocols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500"/>
              <a:buFont typeface="Noto Sans Symbols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2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500"/>
              <a:buFont typeface="Noto Sans Symbols"/>
              <a:buChar char="▪"/>
            </a:pPr>
            <a:r>
              <a:rPr b="1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Standards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500"/>
              <a:buFont typeface="Noto Sans Symbols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2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500"/>
              <a:buFont typeface="Noto Sans Symbols"/>
              <a:buChar char="▪"/>
            </a:pPr>
            <a:r>
              <a:rPr b="1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Standards Organizations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500"/>
              <a:buFont typeface="Noto Sans Symbols"/>
              <a:buNone/>
            </a:pPr>
            <a:r>
              <a:t/>
            </a:r>
            <a:endParaRPr b="1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22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500"/>
              <a:buFont typeface="Noto Sans Symbols"/>
              <a:buChar char="▪"/>
            </a:pPr>
            <a:r>
              <a:rPr b="1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Internet Standards</a:t>
            </a:r>
            <a:br>
              <a:rPr b="1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0"/>
          <p:cNvSpPr txBox="1"/>
          <p:nvPr>
            <p:ph idx="1" type="body"/>
          </p:nvPr>
        </p:nvSpPr>
        <p:spPr>
          <a:xfrm>
            <a:off x="304800" y="1143000"/>
            <a:ext cx="84582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Endorsed by the networking industry and approved by a standards organization. 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Benefits: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Create and maintain an open and competitive market.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Ensured greater compatibility and interoperability.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Categories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1" i="0" lang="en-US" sz="32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De facto: </a:t>
            </a:r>
            <a:r>
              <a:rPr b="0" i="0" lang="en-US" sz="2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Standards that have not been approved by an organized body but have been adopted as standards through widespread use</a:t>
            </a:r>
            <a:endParaRPr b="1" i="0" sz="2200" u="none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1" i="0" lang="en-US" sz="32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De jure: </a:t>
            </a:r>
            <a:r>
              <a:rPr b="0" i="0" lang="en-US" sz="2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Those standards that have been legislated by an officially recognized body</a:t>
            </a:r>
            <a:endParaRPr b="1" i="0" sz="3200" u="none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09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b="1" i="0" sz="3200" u="none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2" name="Google Shape;172;p10"/>
          <p:cNvSpPr txBox="1"/>
          <p:nvPr/>
        </p:nvSpPr>
        <p:spPr>
          <a:xfrm>
            <a:off x="457200" y="5029200"/>
            <a:ext cx="8153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3" name="Google Shape;173;p10"/>
          <p:cNvSpPr txBox="1"/>
          <p:nvPr/>
        </p:nvSpPr>
        <p:spPr>
          <a:xfrm>
            <a:off x="1447800" y="317500"/>
            <a:ext cx="2200275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Standards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1"/>
          <p:cNvSpPr txBox="1"/>
          <p:nvPr>
            <p:ph type="title"/>
          </p:nvPr>
        </p:nvSpPr>
        <p:spPr>
          <a:xfrm>
            <a:off x="838200" y="2286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Standards and Protocols</a:t>
            </a:r>
            <a:endParaRPr/>
          </a:p>
        </p:txBody>
      </p:sp>
      <p:pic>
        <p:nvPicPr>
          <p:cNvPr id="180" name="Google Shape;1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295400"/>
            <a:ext cx="6883400" cy="4656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2"/>
          <p:cNvSpPr txBox="1"/>
          <p:nvPr>
            <p:ph idx="1" type="body"/>
          </p:nvPr>
        </p:nvSpPr>
        <p:spPr>
          <a:xfrm>
            <a:off x="304800" y="1524000"/>
            <a:ext cx="81534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International Organization for Standardization (</a:t>
            </a:r>
            <a:r>
              <a:rPr b="1" i="0" lang="en-US" sz="32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ISO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Institute of Electrical and Electronic Engineers (</a:t>
            </a:r>
            <a:r>
              <a:rPr b="1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IEEE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American National Standards Institute (</a:t>
            </a:r>
            <a:r>
              <a:rPr b="1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ANSI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Telecommunications Industry Association (</a:t>
            </a:r>
            <a:r>
              <a:rPr b="1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TIA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 Internet Engineering Task Force (</a:t>
            </a:r>
            <a:r>
              <a:rPr b="1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IETF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International Telecommunications Union – Telecommunication Standards Sector (</a:t>
            </a:r>
            <a:r>
              <a:rPr b="1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ITU-T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</p:txBody>
      </p:sp>
      <p:sp>
        <p:nvSpPr>
          <p:cNvPr id="187" name="Google Shape;187;p12"/>
          <p:cNvSpPr txBox="1"/>
          <p:nvPr/>
        </p:nvSpPr>
        <p:spPr>
          <a:xfrm>
            <a:off x="1295400" y="241300"/>
            <a:ext cx="4887912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Standard Organizations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3"/>
          <p:cNvSpPr txBox="1"/>
          <p:nvPr>
            <p:ph idx="1" type="body"/>
          </p:nvPr>
        </p:nvSpPr>
        <p:spPr>
          <a:xfrm>
            <a:off x="304800" y="1219200"/>
            <a:ext cx="57150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Layered standards: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Noto Sans Symbols"/>
              <a:buChar char="■"/>
            </a:pPr>
            <a:r>
              <a:rPr b="1" i="0" lang="en-US" sz="36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OSI Reference model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176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 Jure Standard</a:t>
            </a:r>
            <a:endParaRPr/>
          </a:p>
          <a:p>
            <a:pPr indent="-173990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176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SzPts val="2160"/>
              <a:buChar char="■"/>
            </a:pPr>
            <a:r>
              <a:rPr b="1" lang="en-US" sz="3600">
                <a:solidFill>
                  <a:schemeClr val="folHlink"/>
                </a:solidFill>
              </a:rPr>
              <a:t>TCP/IP Protocol Model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Open De Facto Standard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Governed by IETF</a:t>
            </a:r>
            <a:r>
              <a:rPr i="1" lang="en-US"/>
              <a:t>  </a:t>
            </a:r>
            <a:r>
              <a:rPr lang="en-US"/>
              <a:t>Working</a:t>
            </a:r>
            <a:br>
              <a:rPr lang="en-US"/>
            </a:br>
            <a:r>
              <a:rPr lang="en-US"/>
              <a:t>Groups</a:t>
            </a:r>
            <a:endParaRPr/>
          </a:p>
          <a:p>
            <a:pPr indent="-173990" lvl="0" marL="2857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1760"/>
              <a:buNone/>
            </a:pPr>
            <a:r>
              <a:t/>
            </a:r>
            <a:endParaRPr/>
          </a:p>
          <a:p>
            <a:pPr indent="-2209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4" name="Google Shape;194;p13"/>
          <p:cNvSpPr txBox="1"/>
          <p:nvPr/>
        </p:nvSpPr>
        <p:spPr>
          <a:xfrm>
            <a:off x="838200" y="228600"/>
            <a:ext cx="74676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Communication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33C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4"/>
          <p:cNvSpPr txBox="1"/>
          <p:nvPr/>
        </p:nvSpPr>
        <p:spPr>
          <a:xfrm>
            <a:off x="228600" y="76200"/>
            <a:ext cx="4329113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2-2   THE OSI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4"/>
          <p:cNvSpPr txBox="1"/>
          <p:nvPr/>
        </p:nvSpPr>
        <p:spPr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14"/>
          <p:cNvSpPr/>
          <p:nvPr/>
        </p:nvSpPr>
        <p:spPr>
          <a:xfrm>
            <a:off x="228600" y="1345537"/>
            <a:ext cx="8610600" cy="26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Established in 1947, the International Standards Organization (</a:t>
            </a:r>
            <a:r>
              <a:rPr b="0" i="1" lang="en-US" sz="2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ISO</a:t>
            </a:r>
            <a:r>
              <a:rPr b="0" i="1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is a multinational body dedicated to worldwide agreement on international standards. An ISO standard that covers all aspects of network communications is the Open Systems Interconnection (</a:t>
            </a:r>
            <a:r>
              <a:rPr b="0" i="1" lang="en-US" sz="2800" u="none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OSI</a:t>
            </a:r>
            <a:r>
              <a:rPr b="0" i="1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model. It was first introduced in the late 1970s.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4"/>
          <p:cNvSpPr/>
          <p:nvPr/>
        </p:nvSpPr>
        <p:spPr>
          <a:xfrm>
            <a:off x="298225" y="5213350"/>
            <a:ext cx="5715000" cy="11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8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Layered Architecture</a:t>
            </a:r>
            <a:br>
              <a:rPr b="1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Peer-to-Peer Processes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8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Encapsulation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4"/>
          <p:cNvSpPr txBox="1"/>
          <p:nvPr/>
        </p:nvSpPr>
        <p:spPr>
          <a:xfrm>
            <a:off x="130350" y="4507150"/>
            <a:ext cx="56136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Topics discussed in this section: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"/>
          <p:cNvSpPr/>
          <p:nvPr/>
        </p:nvSpPr>
        <p:spPr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0" name="Google Shape;210;p15"/>
          <p:cNvSpPr/>
          <p:nvPr/>
        </p:nvSpPr>
        <p:spPr>
          <a:xfrm>
            <a:off x="749300" y="107950"/>
            <a:ext cx="328613" cy="474663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1" name="Google Shape;211;p15"/>
          <p:cNvSpPr/>
          <p:nvPr/>
        </p:nvSpPr>
        <p:spPr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2" name="Google Shape;212;p15"/>
          <p:cNvSpPr/>
          <p:nvPr/>
        </p:nvSpPr>
        <p:spPr>
          <a:xfrm>
            <a:off x="860425" y="530225"/>
            <a:ext cx="368300" cy="474663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3" name="Google Shape;213;p15"/>
          <p:cNvSpPr/>
          <p:nvPr/>
        </p:nvSpPr>
        <p:spPr>
          <a:xfrm>
            <a:off x="76200" y="457200"/>
            <a:ext cx="560388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4" name="Google Shape;214;p15"/>
          <p:cNvSpPr/>
          <p:nvPr/>
        </p:nvSpPr>
        <p:spPr>
          <a:xfrm>
            <a:off x="711200" y="0"/>
            <a:ext cx="31750" cy="105251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5" name="Google Shape;215;p15"/>
          <p:cNvSpPr/>
          <p:nvPr/>
        </p:nvSpPr>
        <p:spPr>
          <a:xfrm>
            <a:off x="442913" y="533400"/>
            <a:ext cx="8226425" cy="317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216" name="Google Shape;216;p15"/>
          <p:cNvCxnSpPr/>
          <p:nvPr/>
        </p:nvCxnSpPr>
        <p:spPr>
          <a:xfrm>
            <a:off x="457200" y="2819400"/>
            <a:ext cx="8153400" cy="0"/>
          </a:xfrm>
          <a:prstGeom prst="straightConnector1">
            <a:avLst/>
          </a:prstGeom>
          <a:noFill/>
          <a:ln cap="flat" cmpd="sng" w="76200">
            <a:solidFill>
              <a:srgbClr val="0099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" name="Google Shape;217;p15"/>
          <p:cNvCxnSpPr/>
          <p:nvPr/>
        </p:nvCxnSpPr>
        <p:spPr>
          <a:xfrm>
            <a:off x="458788" y="3810000"/>
            <a:ext cx="8153400" cy="0"/>
          </a:xfrm>
          <a:prstGeom prst="straightConnector1">
            <a:avLst/>
          </a:prstGeom>
          <a:noFill/>
          <a:ln cap="flat" cmpd="sng" w="76200">
            <a:solidFill>
              <a:srgbClr val="0099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15"/>
          <p:cNvSpPr/>
          <p:nvPr/>
        </p:nvSpPr>
        <p:spPr>
          <a:xfrm>
            <a:off x="495300" y="2911475"/>
            <a:ext cx="8077200" cy="822325"/>
          </a:xfrm>
          <a:prstGeom prst="rect">
            <a:avLst/>
          </a:prstGeom>
          <a:solidFill>
            <a:srgbClr val="99FF3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 is the organization.</a:t>
            </a:r>
            <a:b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OSI is the model.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9" name="Google Shape;219;p15"/>
          <p:cNvGrpSpPr/>
          <p:nvPr/>
        </p:nvGrpSpPr>
        <p:grpSpPr>
          <a:xfrm>
            <a:off x="457200" y="2133600"/>
            <a:ext cx="1143000" cy="566738"/>
            <a:chOff x="1200" y="1248"/>
            <a:chExt cx="720" cy="357"/>
          </a:xfrm>
        </p:grpSpPr>
        <p:pic>
          <p:nvPicPr>
            <p:cNvPr id="220" name="Google Shape;220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" name="Google Shape;221;p15"/>
            <p:cNvSpPr txBox="1"/>
            <p:nvPr/>
          </p:nvSpPr>
          <p:spPr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1" lang="en-US" sz="2800" u="none" cap="none" strike="noStrike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6" name="Google Shape;226;p16"/>
          <p:cNvCxnSpPr/>
          <p:nvPr/>
        </p:nvCxnSpPr>
        <p:spPr>
          <a:xfrm>
            <a:off x="152400" y="2286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" name="Google Shape;227;p16"/>
          <p:cNvCxnSpPr/>
          <p:nvPr/>
        </p:nvCxnSpPr>
        <p:spPr>
          <a:xfrm>
            <a:off x="152400" y="10668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16"/>
          <p:cNvSpPr txBox="1"/>
          <p:nvPr/>
        </p:nvSpPr>
        <p:spPr>
          <a:xfrm>
            <a:off x="304800" y="457200"/>
            <a:ext cx="48053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2.2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Seven layers of the OSI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" name="Google Shape;229;p16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30" name="Google Shape;2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9475" y="1427163"/>
            <a:ext cx="4251325" cy="4364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7"/>
          <p:cNvSpPr txBox="1"/>
          <p:nvPr>
            <p:ph idx="4294967295" type="title"/>
          </p:nvPr>
        </p:nvSpPr>
        <p:spPr>
          <a:xfrm>
            <a:off x="838200" y="2286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OSI Model- 7 Layers</a:t>
            </a:r>
            <a:endParaRPr/>
          </a:p>
        </p:txBody>
      </p:sp>
      <p:graphicFrame>
        <p:nvGraphicFramePr>
          <p:cNvPr id="237" name="Google Shape;237;p17"/>
          <p:cNvGraphicFramePr/>
          <p:nvPr/>
        </p:nvGraphicFramePr>
        <p:xfrm>
          <a:off x="3679825" y="1447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{936B4B19-D6E3-4645-A6D6-0AEDCF1683B2}</a:tableStyleId>
              </a:tblPr>
              <a:tblGrid>
                <a:gridCol w="641350"/>
                <a:gridCol w="2749550"/>
                <a:gridCol w="2073275"/>
              </a:tblGrid>
              <a:tr h="5794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3200"/>
                        <a:buFont typeface="Tahoma"/>
                        <a:buNone/>
                      </a:pPr>
                      <a:r>
                        <a:rPr b="0" i="0" lang="en-US" sz="3200" u="none" cap="none" strike="noStrike">
                          <a:solidFill>
                            <a:srgbClr val="FFFF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Layers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6699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2400"/>
                        <a:buFont typeface="Tahoma"/>
                        <a:buNone/>
                      </a:pPr>
                      <a:r>
                        <a:rPr b="0" i="0" lang="en-US" sz="2400" u="sng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CISCO</a:t>
                      </a:r>
                      <a:endParaRPr sz="1400" u="none" cap="none" strike="noStrike"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7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3200"/>
                        <a:buFont typeface="Tahoma"/>
                        <a:buNone/>
                      </a:pPr>
                      <a:r>
                        <a:rPr b="0" i="0" lang="en-US" sz="3200" u="none" cap="none" strike="noStrike">
                          <a:solidFill>
                            <a:srgbClr val="FFFF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ahoma"/>
                        <a:buNone/>
                      </a:pPr>
                      <a:r>
                        <a:rPr b="0" i="0" lang="en-US" sz="32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Application</a:t>
                      </a:r>
                      <a:endParaRPr sz="1400" u="none" cap="none" strike="noStrike"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3100"/>
                        <a:buFont typeface="Tahoma"/>
                        <a:buNone/>
                      </a:pPr>
                      <a:r>
                        <a:rPr b="0" i="0" lang="en-US" sz="31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</a:t>
                      </a:r>
                      <a:r>
                        <a:rPr b="0" i="0" lang="en-US" sz="31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ll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3200"/>
                        <a:buFont typeface="Tahoma"/>
                        <a:buNone/>
                      </a:pPr>
                      <a:r>
                        <a:rPr b="0" i="0" lang="en-US" sz="3200" u="none" cap="none" strike="noStrike">
                          <a:solidFill>
                            <a:srgbClr val="FFFF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ahoma"/>
                        <a:buNone/>
                      </a:pPr>
                      <a:r>
                        <a:rPr b="0" i="0" lang="en-US" sz="32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Presentation</a:t>
                      </a:r>
                      <a:endParaRPr sz="1400" u="none" cap="none" strike="noStrike"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3100"/>
                        <a:buFont typeface="Tahoma"/>
                        <a:buNone/>
                      </a:pPr>
                      <a:r>
                        <a:rPr b="0" i="0" lang="en-US" sz="31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</a:t>
                      </a:r>
                      <a:r>
                        <a:rPr b="0" i="0" lang="en-US" sz="31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eople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7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3200"/>
                        <a:buFont typeface="Tahoma"/>
                        <a:buNone/>
                      </a:pPr>
                      <a:r>
                        <a:rPr b="0" i="0" lang="en-US" sz="3200" u="none" cap="none" strike="noStrike">
                          <a:solidFill>
                            <a:srgbClr val="FFFF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ahoma"/>
                        <a:buNone/>
                      </a:pPr>
                      <a:r>
                        <a:rPr b="0" i="0" lang="en-US" sz="32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Session</a:t>
                      </a:r>
                      <a:endParaRPr sz="1400" u="none" cap="none" strike="noStrike"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3100"/>
                        <a:buFont typeface="Tahoma"/>
                        <a:buNone/>
                      </a:pPr>
                      <a:r>
                        <a:rPr b="0" i="0" lang="en-US" sz="31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</a:t>
                      </a:r>
                      <a:r>
                        <a:rPr b="0" i="0" lang="en-US" sz="31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eem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630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3200"/>
                        <a:buFont typeface="Tahoma"/>
                        <a:buNone/>
                      </a:pPr>
                      <a:r>
                        <a:rPr b="0" i="0" lang="en-US" sz="3200" u="none" cap="none" strike="noStrike">
                          <a:solidFill>
                            <a:srgbClr val="FFFF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ahoma"/>
                        <a:buNone/>
                      </a:pPr>
                      <a:r>
                        <a:rPr b="0" i="0" lang="en-US" sz="32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Transport</a:t>
                      </a:r>
                      <a:endParaRPr sz="1400" u="none" cap="none" strike="noStrike"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3100"/>
                        <a:buFont typeface="Tahoma"/>
                        <a:buNone/>
                      </a:pPr>
                      <a:r>
                        <a:rPr b="0" i="0" lang="en-US" sz="31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</a:t>
                      </a:r>
                      <a:r>
                        <a:rPr b="0" i="0" lang="en-US" sz="31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68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3200"/>
                        <a:buFont typeface="Tahoma"/>
                        <a:buNone/>
                      </a:pPr>
                      <a:r>
                        <a:rPr b="0" i="0" lang="en-US" sz="3200" u="none" cap="none" strike="noStrike">
                          <a:solidFill>
                            <a:srgbClr val="FFFF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ahoma"/>
                        <a:buNone/>
                      </a:pPr>
                      <a:r>
                        <a:rPr b="0" i="0" lang="en-US" sz="32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Network</a:t>
                      </a:r>
                      <a:endParaRPr sz="1400" u="none" cap="none" strike="noStrike"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3100"/>
                        <a:buFont typeface="Tahoma"/>
                        <a:buNone/>
                      </a:pPr>
                      <a:r>
                        <a:rPr b="0" i="0" lang="en-US" sz="31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</a:t>
                      </a:r>
                      <a:r>
                        <a:rPr b="0" i="0" lang="en-US" sz="31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eed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68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3200"/>
                        <a:buFont typeface="Tahoma"/>
                        <a:buNone/>
                      </a:pPr>
                      <a:r>
                        <a:rPr b="0" i="0" lang="en-US" sz="3200" u="none" cap="none" strike="noStrike">
                          <a:solidFill>
                            <a:srgbClr val="FFFF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ahoma"/>
                        <a:buNone/>
                      </a:pPr>
                      <a:r>
                        <a:rPr b="0" i="0" lang="en-US" sz="32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Data Link</a:t>
                      </a:r>
                      <a:endParaRPr sz="1400" u="none" cap="none" strike="noStrike"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3100"/>
                        <a:buFont typeface="Tahoma"/>
                        <a:buNone/>
                      </a:pPr>
                      <a:r>
                        <a:rPr b="0" i="0" lang="en-US" sz="31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</a:t>
                      </a:r>
                      <a:r>
                        <a:rPr b="0" i="0" lang="en-US" sz="31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ata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63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3200"/>
                        <a:buFont typeface="Tahoma"/>
                        <a:buNone/>
                      </a:pPr>
                      <a:r>
                        <a:rPr b="0" i="0" lang="en-US" sz="3200" u="none" cap="none" strike="noStrike">
                          <a:solidFill>
                            <a:srgbClr val="FFFF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Tahoma"/>
                        <a:buNone/>
                      </a:pPr>
                      <a:r>
                        <a:rPr b="0" i="0" lang="en-US" sz="32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Physical</a:t>
                      </a:r>
                      <a:endParaRPr sz="1400" u="none" cap="none" strike="noStrike"/>
                    </a:p>
                  </a:txBody>
                  <a:tcPr marT="45725" marB="45725" marR="91450" marL="91450" anchor="ctr" anchorCtr="1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3100"/>
                        <a:buFont typeface="Tahoma"/>
                        <a:buNone/>
                      </a:pPr>
                      <a:r>
                        <a:rPr b="0" i="0" lang="en-US" sz="3100" u="none" cap="none" strike="noStrik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</a:t>
                      </a:r>
                      <a:r>
                        <a:rPr b="0" i="0" lang="en-US" sz="31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rocessing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sp>
        <p:nvSpPr>
          <p:cNvPr id="238" name="Google Shape;238;p17"/>
          <p:cNvSpPr txBox="1"/>
          <p:nvPr/>
        </p:nvSpPr>
        <p:spPr>
          <a:xfrm>
            <a:off x="228600" y="2667000"/>
            <a:ext cx="2667000" cy="1570037"/>
          </a:xfrm>
          <a:prstGeom prst="rect">
            <a:avLst/>
          </a:prstGeom>
          <a:solidFill>
            <a:srgbClr val="800000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Primary concern: </a:t>
            </a: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Communications between applications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7"/>
          <p:cNvSpPr txBox="1"/>
          <p:nvPr/>
        </p:nvSpPr>
        <p:spPr>
          <a:xfrm>
            <a:off x="152400" y="5105400"/>
            <a:ext cx="2819400" cy="1200150"/>
          </a:xfrm>
          <a:prstGeom prst="rect">
            <a:avLst/>
          </a:prstGeom>
          <a:solidFill>
            <a:srgbClr val="800000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Primary concern: </a:t>
            </a: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Moving raw data cross the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2895600" y="1981200"/>
            <a:ext cx="381000" cy="2971800"/>
          </a:xfrm>
          <a:prstGeom prst="leftBrace">
            <a:avLst>
              <a:gd fmla="val 231" name="adj1"/>
              <a:gd fmla="val 50000" name="adj2"/>
            </a:avLst>
          </a:prstGeom>
          <a:noFill/>
          <a:ln cap="flat" cmpd="sng" w="38100">
            <a:solidFill>
              <a:srgbClr val="FF99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1" name="Google Shape;241;p17"/>
          <p:cNvSpPr/>
          <p:nvPr/>
        </p:nvSpPr>
        <p:spPr>
          <a:xfrm>
            <a:off x="2971800" y="5105400"/>
            <a:ext cx="304800" cy="1219200"/>
          </a:xfrm>
          <a:prstGeom prst="leftBrace">
            <a:avLst>
              <a:gd fmla="val 450" name="adj1"/>
              <a:gd fmla="val 50000" name="adj2"/>
            </a:avLst>
          </a:prstGeom>
          <a:noFill/>
          <a:ln cap="flat" cmpd="sng" w="38100">
            <a:solidFill>
              <a:srgbClr val="FF99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6" name="Google Shape;246;p18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" name="Google Shape;247;p18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18"/>
          <p:cNvSpPr txBox="1"/>
          <p:nvPr/>
        </p:nvSpPr>
        <p:spPr>
          <a:xfrm>
            <a:off x="304800" y="381000"/>
            <a:ext cx="776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2.3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interaction between layers in the OSI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9" name="Google Shape;249;p18"/>
          <p:cNvCxnSpPr/>
          <p:nvPr/>
        </p:nvCxnSpPr>
        <p:spPr>
          <a:xfrm>
            <a:off x="152400" y="64770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50" name="Google Shape;2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650" y="1163638"/>
            <a:ext cx="6965950" cy="5160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9"/>
          <p:cNvSpPr txBox="1"/>
          <p:nvPr/>
        </p:nvSpPr>
        <p:spPr>
          <a:xfrm>
            <a:off x="1219200" y="322262"/>
            <a:ext cx="6294437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An exchange using the OSI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037" y="1200150"/>
            <a:ext cx="7523162" cy="48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33C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228600" y="76200"/>
            <a:ext cx="6634163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2-3   LAYERS IN THE OSI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0" y="1355725"/>
            <a:ext cx="8610600" cy="946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this section we briefly describe the functions of each layer in the OSI model.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228600" y="3295650"/>
            <a:ext cx="5715000" cy="2647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8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 Layer</a:t>
            </a:r>
            <a:br>
              <a:rPr b="1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Link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8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8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Transport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8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Session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8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8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0" y="2645325"/>
            <a:ext cx="57150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Topics discussed in this section: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"/>
          <p:cNvSpPr txBox="1"/>
          <p:nvPr/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2.#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1"/>
          <p:cNvSpPr txBox="1"/>
          <p:nvPr>
            <p:ph type="ctrTitle"/>
          </p:nvPr>
        </p:nvSpPr>
        <p:spPr>
          <a:xfrm>
            <a:off x="990600" y="1676400"/>
            <a:ext cx="7772400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APPLICATION LAYER</a:t>
            </a:r>
            <a:endParaRPr/>
          </a:p>
        </p:txBody>
      </p:sp>
      <p:sp>
        <p:nvSpPr>
          <p:cNvPr id="275" name="Google Shape;275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2"/>
          <p:cNvSpPr txBox="1"/>
          <p:nvPr>
            <p:ph type="title"/>
          </p:nvPr>
        </p:nvSpPr>
        <p:spPr>
          <a:xfrm>
            <a:off x="838200" y="2286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Applications</a:t>
            </a:r>
            <a:endParaRPr/>
          </a:p>
        </p:txBody>
      </p:sp>
      <p:sp>
        <p:nvSpPr>
          <p:cNvPr id="282" name="Google Shape;282;p22"/>
          <p:cNvSpPr txBox="1"/>
          <p:nvPr>
            <p:ph idx="1" type="body"/>
          </p:nvPr>
        </p:nvSpPr>
        <p:spPr>
          <a:xfrm>
            <a:off x="533400" y="11430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Interface Between Human and Data Networks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Responsible for providing services to the user.</a:t>
            </a:r>
            <a:b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83" name="Google Shape;28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7475" y="2432050"/>
            <a:ext cx="6389687" cy="4084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3"/>
          <p:cNvSpPr txBox="1"/>
          <p:nvPr/>
        </p:nvSpPr>
        <p:spPr>
          <a:xfrm>
            <a:off x="609600" y="304800"/>
            <a:ext cx="6556375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Applications in Application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828800"/>
            <a:ext cx="3886200" cy="290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9800" y="1546225"/>
            <a:ext cx="4572000" cy="3392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81712" y="1143000"/>
            <a:ext cx="2106612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3"/>
          <p:cNvSpPr txBox="1"/>
          <p:nvPr/>
        </p:nvSpPr>
        <p:spPr>
          <a:xfrm>
            <a:off x="381000" y="495300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Web Page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3"/>
          <p:cNvSpPr txBox="1"/>
          <p:nvPr/>
        </p:nvSpPr>
        <p:spPr>
          <a:xfrm>
            <a:off x="3276600" y="510540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Email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3"/>
          <p:cNvSpPr txBox="1"/>
          <p:nvPr/>
        </p:nvSpPr>
        <p:spPr>
          <a:xfrm>
            <a:off x="6400800" y="5715000"/>
            <a:ext cx="20574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Instant messaging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4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4"/>
          <p:cNvSpPr txBox="1"/>
          <p:nvPr>
            <p:ph type="title"/>
          </p:nvPr>
        </p:nvSpPr>
        <p:spPr>
          <a:xfrm>
            <a:off x="838200" y="2286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Application Layer</a:t>
            </a:r>
            <a:endParaRPr/>
          </a:p>
        </p:txBody>
      </p:sp>
      <p:pic>
        <p:nvPicPr>
          <p:cNvPr id="302" name="Google Shape;3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401762"/>
            <a:ext cx="8610600" cy="4922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5"/>
          <p:cNvSpPr txBox="1"/>
          <p:nvPr/>
        </p:nvSpPr>
        <p:spPr>
          <a:xfrm>
            <a:off x="609600" y="304800"/>
            <a:ext cx="6556375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Applications in Application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43000"/>
            <a:ext cx="2590800" cy="1938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1400" y="1143000"/>
            <a:ext cx="2590800" cy="1922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81800" y="1143000"/>
            <a:ext cx="1406525" cy="335756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5"/>
          <p:cNvSpPr/>
          <p:nvPr/>
        </p:nvSpPr>
        <p:spPr>
          <a:xfrm>
            <a:off x="4724400" y="3124200"/>
            <a:ext cx="304800" cy="1066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5"/>
          <p:cNvSpPr txBox="1"/>
          <p:nvPr/>
        </p:nvSpPr>
        <p:spPr>
          <a:xfrm rot="5400000">
            <a:off x="4381500" y="3543300"/>
            <a:ext cx="990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4" name="Google Shape;314;p25"/>
          <p:cNvSpPr txBox="1"/>
          <p:nvPr/>
        </p:nvSpPr>
        <p:spPr>
          <a:xfrm>
            <a:off x="3200400" y="4876800"/>
            <a:ext cx="3429000" cy="6858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5"/>
          <p:cNvSpPr txBox="1"/>
          <p:nvPr/>
        </p:nvSpPr>
        <p:spPr>
          <a:xfrm>
            <a:off x="1793875" y="4876800"/>
            <a:ext cx="1406400" cy="685800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Header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H7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5"/>
          <p:cNvSpPr/>
          <p:nvPr/>
        </p:nvSpPr>
        <p:spPr>
          <a:xfrm rot="5400000">
            <a:off x="4610100" y="2933700"/>
            <a:ext cx="533400" cy="33528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7" name="Google Shape;317;p25"/>
          <p:cNvSpPr/>
          <p:nvPr/>
        </p:nvSpPr>
        <p:spPr>
          <a:xfrm rot="-5400000">
            <a:off x="3914950" y="3457650"/>
            <a:ext cx="624300" cy="48048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5105400" y="5943600"/>
            <a:ext cx="304800" cy="762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5"/>
          <p:cNvSpPr txBox="1"/>
          <p:nvPr/>
        </p:nvSpPr>
        <p:spPr>
          <a:xfrm rot="5400000">
            <a:off x="4914900" y="6210300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0" name="Google Shape;320;p25"/>
          <p:cNvSpPr txBox="1"/>
          <p:nvPr/>
        </p:nvSpPr>
        <p:spPr>
          <a:xfrm>
            <a:off x="5486400" y="5867400"/>
            <a:ext cx="34290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To Presentation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5"/>
          <p:cNvSpPr txBox="1"/>
          <p:nvPr/>
        </p:nvSpPr>
        <p:spPr>
          <a:xfrm>
            <a:off x="228600" y="312420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Web Page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5"/>
          <p:cNvSpPr txBox="1"/>
          <p:nvPr/>
        </p:nvSpPr>
        <p:spPr>
          <a:xfrm>
            <a:off x="3505200" y="312420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Email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5"/>
          <p:cNvSpPr txBox="1"/>
          <p:nvPr/>
        </p:nvSpPr>
        <p:spPr>
          <a:xfrm>
            <a:off x="6781800" y="4495800"/>
            <a:ext cx="20574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Instant messaging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6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6"/>
          <p:cNvSpPr txBox="1"/>
          <p:nvPr/>
        </p:nvSpPr>
        <p:spPr>
          <a:xfrm>
            <a:off x="609600" y="304800"/>
            <a:ext cx="35052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Application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0" name="Google Shape;33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43000"/>
            <a:ext cx="2590800" cy="1938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1400" y="1143000"/>
            <a:ext cx="2590800" cy="1922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81800" y="1143000"/>
            <a:ext cx="1406525" cy="3357562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6"/>
          <p:cNvSpPr txBox="1"/>
          <p:nvPr/>
        </p:nvSpPr>
        <p:spPr>
          <a:xfrm>
            <a:off x="3200400" y="4876800"/>
            <a:ext cx="3429000" cy="6858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6"/>
          <p:cNvSpPr txBox="1"/>
          <p:nvPr/>
        </p:nvSpPr>
        <p:spPr>
          <a:xfrm>
            <a:off x="1728725" y="4876800"/>
            <a:ext cx="1471800" cy="685800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Header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H7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6"/>
          <p:cNvSpPr/>
          <p:nvPr/>
        </p:nvSpPr>
        <p:spPr>
          <a:xfrm rot="5400000">
            <a:off x="4610100" y="2933700"/>
            <a:ext cx="533400" cy="33528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6" name="Google Shape;336;p26"/>
          <p:cNvSpPr/>
          <p:nvPr/>
        </p:nvSpPr>
        <p:spPr>
          <a:xfrm rot="-5400000">
            <a:off x="3909475" y="3452400"/>
            <a:ext cx="581700" cy="48579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7" name="Google Shape;337;p26"/>
          <p:cNvSpPr txBox="1"/>
          <p:nvPr/>
        </p:nvSpPr>
        <p:spPr>
          <a:xfrm>
            <a:off x="5486400" y="5867400"/>
            <a:ext cx="34290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From Presentation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6"/>
          <p:cNvSpPr txBox="1"/>
          <p:nvPr/>
        </p:nvSpPr>
        <p:spPr>
          <a:xfrm>
            <a:off x="228600" y="312420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Web Page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6"/>
          <p:cNvSpPr txBox="1"/>
          <p:nvPr/>
        </p:nvSpPr>
        <p:spPr>
          <a:xfrm>
            <a:off x="3505200" y="312420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Email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6"/>
          <p:cNvSpPr txBox="1"/>
          <p:nvPr/>
        </p:nvSpPr>
        <p:spPr>
          <a:xfrm>
            <a:off x="6781800" y="4495800"/>
            <a:ext cx="20574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Instant messaging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6"/>
          <p:cNvSpPr/>
          <p:nvPr/>
        </p:nvSpPr>
        <p:spPr>
          <a:xfrm>
            <a:off x="4572000" y="6019800"/>
            <a:ext cx="381000" cy="6858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6"/>
          <p:cNvSpPr txBox="1"/>
          <p:nvPr/>
        </p:nvSpPr>
        <p:spPr>
          <a:xfrm rot="5400000">
            <a:off x="4467225" y="6315075"/>
            <a:ext cx="5905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43" name="Google Shape;343;p26"/>
          <p:cNvSpPr/>
          <p:nvPr/>
        </p:nvSpPr>
        <p:spPr>
          <a:xfrm>
            <a:off x="4800600" y="3124200"/>
            <a:ext cx="533400" cy="9906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6"/>
          <p:cNvSpPr txBox="1"/>
          <p:nvPr/>
        </p:nvSpPr>
        <p:spPr>
          <a:xfrm rot="5400000">
            <a:off x="4638675" y="3552825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7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27.jpg" id="350" name="Google Shape;350;p27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075" y="1604962"/>
            <a:ext cx="7781925" cy="4243387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7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7"/>
          <p:cNvSpPr txBox="1"/>
          <p:nvPr/>
        </p:nvSpPr>
        <p:spPr>
          <a:xfrm>
            <a:off x="381000" y="228600"/>
            <a:ext cx="8229600" cy="731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Application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7"/>
          <p:cNvSpPr txBox="1"/>
          <p:nvPr/>
        </p:nvSpPr>
        <p:spPr>
          <a:xfrm>
            <a:off x="7620000" y="2514600"/>
            <a:ext cx="8382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DNS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7"/>
          <p:cNvSpPr txBox="1"/>
          <p:nvPr/>
        </p:nvSpPr>
        <p:spPr>
          <a:xfrm>
            <a:off x="7467600" y="3352800"/>
            <a:ext cx="1066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HTTP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7"/>
          <p:cNvSpPr txBox="1"/>
          <p:nvPr/>
        </p:nvSpPr>
        <p:spPr>
          <a:xfrm>
            <a:off x="7467600" y="3962400"/>
            <a:ext cx="1066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SMTP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7"/>
          <p:cNvSpPr txBox="1"/>
          <p:nvPr/>
        </p:nvSpPr>
        <p:spPr>
          <a:xfrm>
            <a:off x="7543800" y="4495800"/>
            <a:ext cx="1066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POP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7"/>
          <p:cNvSpPr txBox="1"/>
          <p:nvPr/>
        </p:nvSpPr>
        <p:spPr>
          <a:xfrm>
            <a:off x="7696200" y="5181600"/>
            <a:ext cx="1066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DHCP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7"/>
          <p:cNvSpPr txBox="1"/>
          <p:nvPr/>
        </p:nvSpPr>
        <p:spPr>
          <a:xfrm>
            <a:off x="6705600" y="1676400"/>
            <a:ext cx="22098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Examples of Protocols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9" name="Google Shape;359;p27"/>
          <p:cNvCxnSpPr/>
          <p:nvPr/>
        </p:nvCxnSpPr>
        <p:spPr>
          <a:xfrm>
            <a:off x="6324600" y="3657600"/>
            <a:ext cx="457200" cy="2057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0" name="Google Shape;360;p27"/>
          <p:cNvCxnSpPr/>
          <p:nvPr/>
        </p:nvCxnSpPr>
        <p:spPr>
          <a:xfrm>
            <a:off x="6400800" y="23622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8"/>
          <p:cNvSpPr txBox="1"/>
          <p:nvPr/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2.#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8"/>
          <p:cNvSpPr txBox="1"/>
          <p:nvPr/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8"/>
          <p:cNvSpPr txBox="1"/>
          <p:nvPr>
            <p:ph type="ctrTitle"/>
          </p:nvPr>
        </p:nvSpPr>
        <p:spPr>
          <a:xfrm>
            <a:off x="990600" y="1676400"/>
            <a:ext cx="7772400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PRESENTATION LAYER</a:t>
            </a:r>
            <a:endParaRPr/>
          </a:p>
        </p:txBody>
      </p:sp>
      <p:sp>
        <p:nvSpPr>
          <p:cNvPr id="368" name="Google Shape;368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9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9"/>
          <p:cNvSpPr txBox="1"/>
          <p:nvPr/>
        </p:nvSpPr>
        <p:spPr>
          <a:xfrm>
            <a:off x="1524000" y="269875"/>
            <a:ext cx="3817937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Presentation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5" name="Google Shape;37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95400"/>
            <a:ext cx="7772400" cy="2643187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9"/>
          <p:cNvSpPr txBox="1"/>
          <p:nvPr/>
        </p:nvSpPr>
        <p:spPr>
          <a:xfrm>
            <a:off x="381000" y="4648200"/>
            <a:ext cx="8534400" cy="8223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The presentation layer is responsible for translation, compression, and encryption.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0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0"/>
          <p:cNvSpPr txBox="1"/>
          <p:nvPr>
            <p:ph idx="4294967295" type="body"/>
          </p:nvPr>
        </p:nvSpPr>
        <p:spPr>
          <a:xfrm>
            <a:off x="381000" y="12954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 primary functions: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Coding and conversion	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Compression of the data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Encryption of the data</a:t>
            </a:r>
            <a:endParaRPr/>
          </a:p>
          <a:p>
            <a:pPr indent="-187959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Presentation layer implementations are not typically associated with a particular protocol stack. </a:t>
            </a:r>
            <a:endParaRPr b="0" i="0" sz="32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87959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3622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3" name="Google Shape;383;p30"/>
          <p:cNvSpPr txBox="1"/>
          <p:nvPr/>
        </p:nvSpPr>
        <p:spPr>
          <a:xfrm>
            <a:off x="533400" y="0"/>
            <a:ext cx="82296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Presentation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1"/>
          <p:cNvSpPr txBox="1"/>
          <p:nvPr/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2.#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31"/>
          <p:cNvSpPr txBox="1"/>
          <p:nvPr/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1"/>
          <p:cNvSpPr txBox="1"/>
          <p:nvPr>
            <p:ph type="ctrTitle"/>
          </p:nvPr>
        </p:nvSpPr>
        <p:spPr>
          <a:xfrm>
            <a:off x="990600" y="1676400"/>
            <a:ext cx="7772400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SESSION LAYER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2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2"/>
          <p:cNvSpPr txBox="1"/>
          <p:nvPr/>
        </p:nvSpPr>
        <p:spPr>
          <a:xfrm>
            <a:off x="1371600" y="422275"/>
            <a:ext cx="2817812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Session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7" name="Google Shape;39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295400"/>
            <a:ext cx="7642225" cy="354965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2"/>
          <p:cNvSpPr txBox="1"/>
          <p:nvPr/>
        </p:nvSpPr>
        <p:spPr>
          <a:xfrm>
            <a:off x="457200" y="5410200"/>
            <a:ext cx="8077200" cy="82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The session layer is responsible for dialog control and synchronization.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3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3"/>
          <p:cNvSpPr txBox="1"/>
          <p:nvPr>
            <p:ph idx="4294967295" type="body"/>
          </p:nvPr>
        </p:nvSpPr>
        <p:spPr>
          <a:xfrm>
            <a:off x="685800" y="1454150"/>
            <a:ext cx="8077200" cy="5022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It handles the exchange of information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 initiate dialogs,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keep them active, and 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 restart sessions that are disrupted or idle for a long period of time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Most applications, like web browsers or e-mail clients, incorporate functionality of the OSI layers 5, 6 and 7.</a:t>
            </a:r>
            <a:endParaRPr/>
          </a:p>
        </p:txBody>
      </p:sp>
      <p:sp>
        <p:nvSpPr>
          <p:cNvPr id="405" name="Google Shape;405;p33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3"/>
          <p:cNvSpPr txBox="1"/>
          <p:nvPr/>
        </p:nvSpPr>
        <p:spPr>
          <a:xfrm>
            <a:off x="381000" y="0"/>
            <a:ext cx="8229600" cy="8080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Session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4"/>
          <p:cNvSpPr txBox="1"/>
          <p:nvPr/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2.#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4"/>
          <p:cNvSpPr txBox="1"/>
          <p:nvPr/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4"/>
          <p:cNvSpPr txBox="1"/>
          <p:nvPr>
            <p:ph type="ctrTitle"/>
          </p:nvPr>
        </p:nvSpPr>
        <p:spPr>
          <a:xfrm>
            <a:off x="990600" y="1676400"/>
            <a:ext cx="7772400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TRANSPORT LAYER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5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9" name="Google Shape;41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225" y="2025650"/>
            <a:ext cx="7623175" cy="31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5"/>
          <p:cNvSpPr txBox="1"/>
          <p:nvPr/>
        </p:nvSpPr>
        <p:spPr>
          <a:xfrm>
            <a:off x="609600" y="5426075"/>
            <a:ext cx="8077200" cy="8223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The transport layer is responsible for the delivery </a:t>
            </a:r>
            <a:br>
              <a:rPr b="1" i="0" lang="en-US" sz="24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i="0" lang="en-US" sz="24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of a message from one process to another.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5"/>
          <p:cNvSpPr txBox="1"/>
          <p:nvPr/>
        </p:nvSpPr>
        <p:spPr>
          <a:xfrm>
            <a:off x="304800" y="193675"/>
            <a:ext cx="3254375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Transport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6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6"/>
          <p:cNvSpPr txBox="1"/>
          <p:nvPr/>
        </p:nvSpPr>
        <p:spPr>
          <a:xfrm>
            <a:off x="533400" y="1371600"/>
            <a:ext cx="8001000" cy="3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Segmentation and Reassembly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Adds Port Address and Sequence Number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Connection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Flow and Error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Multiplexing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098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8" name="Google Shape;428;p36"/>
          <p:cNvSpPr txBox="1"/>
          <p:nvPr/>
        </p:nvSpPr>
        <p:spPr>
          <a:xfrm>
            <a:off x="762000" y="228600"/>
            <a:ext cx="5694362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Functions– Transport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6"/>
          <p:cNvSpPr txBox="1"/>
          <p:nvPr/>
        </p:nvSpPr>
        <p:spPr>
          <a:xfrm>
            <a:off x="685800" y="4876800"/>
            <a:ext cx="7743825" cy="530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Tahoma"/>
              <a:buNone/>
            </a:pPr>
            <a:r>
              <a:rPr b="0" i="0" lang="en-US" sz="32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Transport Layer PDU is called </a:t>
            </a:r>
            <a:r>
              <a:rPr b="1" i="0" lang="en-US" sz="32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Segments</a:t>
            </a:r>
            <a:r>
              <a:rPr b="0" i="0" lang="en-US" sz="32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6"/>
          <p:cNvSpPr txBox="1"/>
          <p:nvPr/>
        </p:nvSpPr>
        <p:spPr>
          <a:xfrm>
            <a:off x="76200" y="5791200"/>
            <a:ext cx="9059862" cy="53022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Tahoma"/>
              <a:buNone/>
            </a:pPr>
            <a:r>
              <a:rPr b="0" i="0" lang="en-US" sz="32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Common Protocol used in Transport Layer is </a:t>
            </a:r>
            <a:r>
              <a:rPr b="1" i="0" lang="en-US" sz="32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TCP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7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7"/>
          <p:cNvSpPr txBox="1"/>
          <p:nvPr/>
        </p:nvSpPr>
        <p:spPr>
          <a:xfrm>
            <a:off x="1295400" y="193675"/>
            <a:ext cx="3254375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Transport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7" name="Google Shape;43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447800"/>
            <a:ext cx="8229600" cy="286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7"/>
          <p:cNvSpPr txBox="1"/>
          <p:nvPr/>
        </p:nvSpPr>
        <p:spPr>
          <a:xfrm>
            <a:off x="533400" y="4495800"/>
            <a:ext cx="8001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Segments data received from application layer into small parts.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Transport Layer Protocol Data Unit is called </a:t>
            </a:r>
            <a:r>
              <a:rPr b="1" i="0" lang="en-US" sz="32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Segments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8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8"/>
          <p:cNvSpPr txBox="1"/>
          <p:nvPr>
            <p:ph type="title"/>
          </p:nvPr>
        </p:nvSpPr>
        <p:spPr>
          <a:xfrm>
            <a:off x="838200" y="2286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Function: Segmentation</a:t>
            </a:r>
            <a:endParaRPr/>
          </a:p>
        </p:txBody>
      </p:sp>
      <p:sp>
        <p:nvSpPr>
          <p:cNvPr id="445" name="Google Shape;445;p38"/>
          <p:cNvSpPr txBox="1"/>
          <p:nvPr/>
        </p:nvSpPr>
        <p:spPr>
          <a:xfrm>
            <a:off x="1371600" y="3473085"/>
            <a:ext cx="3124200" cy="7620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6" name="Google Shape;446;p38"/>
          <p:cNvSpPr txBox="1"/>
          <p:nvPr/>
        </p:nvSpPr>
        <p:spPr>
          <a:xfrm>
            <a:off x="609600" y="5149485"/>
            <a:ext cx="990600" cy="6858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47" name="Google Shape;44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1339485"/>
            <a:ext cx="1904999" cy="142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9000" y="1339485"/>
            <a:ext cx="1033462" cy="24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38"/>
          <p:cNvSpPr/>
          <p:nvPr/>
        </p:nvSpPr>
        <p:spPr>
          <a:xfrm>
            <a:off x="2819400" y="2863485"/>
            <a:ext cx="228600" cy="381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8"/>
          <p:cNvSpPr txBox="1"/>
          <p:nvPr/>
        </p:nvSpPr>
        <p:spPr>
          <a:xfrm rot="5400000">
            <a:off x="2771700" y="2968335"/>
            <a:ext cx="324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1" name="Google Shape;451;p38"/>
          <p:cNvSpPr txBox="1"/>
          <p:nvPr/>
        </p:nvSpPr>
        <p:spPr>
          <a:xfrm>
            <a:off x="2438400" y="5149485"/>
            <a:ext cx="990600" cy="6858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2" name="Google Shape;452;p38"/>
          <p:cNvSpPr txBox="1"/>
          <p:nvPr/>
        </p:nvSpPr>
        <p:spPr>
          <a:xfrm>
            <a:off x="4191000" y="5149485"/>
            <a:ext cx="990600" cy="6858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3" name="Google Shape;453;p38"/>
          <p:cNvSpPr txBox="1"/>
          <p:nvPr/>
        </p:nvSpPr>
        <p:spPr>
          <a:xfrm>
            <a:off x="228600" y="5149485"/>
            <a:ext cx="381000" cy="685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4" name="Google Shape;454;p38"/>
          <p:cNvSpPr txBox="1"/>
          <p:nvPr/>
        </p:nvSpPr>
        <p:spPr>
          <a:xfrm>
            <a:off x="2057400" y="5149485"/>
            <a:ext cx="381000" cy="685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5" name="Google Shape;455;p38"/>
          <p:cNvSpPr txBox="1"/>
          <p:nvPr/>
        </p:nvSpPr>
        <p:spPr>
          <a:xfrm>
            <a:off x="3810000" y="5149485"/>
            <a:ext cx="381000" cy="685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6" name="Google Shape;456;p38"/>
          <p:cNvSpPr txBox="1"/>
          <p:nvPr/>
        </p:nvSpPr>
        <p:spPr>
          <a:xfrm>
            <a:off x="1447800" y="3549285"/>
            <a:ext cx="28956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from Application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8"/>
          <p:cNvSpPr txBox="1"/>
          <p:nvPr/>
        </p:nvSpPr>
        <p:spPr>
          <a:xfrm>
            <a:off x="5562600" y="4082685"/>
            <a:ext cx="33528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Segments into small parts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8"/>
          <p:cNvSpPr txBox="1"/>
          <p:nvPr/>
        </p:nvSpPr>
        <p:spPr>
          <a:xfrm>
            <a:off x="1447800" y="4387485"/>
            <a:ext cx="28956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Received by Transport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8"/>
          <p:cNvSpPr/>
          <p:nvPr/>
        </p:nvSpPr>
        <p:spPr>
          <a:xfrm>
            <a:off x="5486400" y="3625485"/>
            <a:ext cx="457200" cy="3810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8"/>
          <p:cNvSpPr txBox="1"/>
          <p:nvPr/>
        </p:nvSpPr>
        <p:spPr>
          <a:xfrm>
            <a:off x="5562600" y="4692285"/>
            <a:ext cx="33528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Add a number to identify the application.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8"/>
          <p:cNvSpPr/>
          <p:nvPr/>
        </p:nvSpPr>
        <p:spPr>
          <a:xfrm>
            <a:off x="2590800" y="1764873"/>
            <a:ext cx="838200" cy="641400"/>
          </a:xfrm>
          <a:prstGeom prst="ellipse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8"/>
          <p:cNvSpPr/>
          <p:nvPr/>
        </p:nvSpPr>
        <p:spPr>
          <a:xfrm>
            <a:off x="7042150" y="2330072"/>
            <a:ext cx="958800" cy="685800"/>
          </a:xfrm>
          <a:prstGeom prst="ellipse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38"/>
          <p:cNvSpPr txBox="1"/>
          <p:nvPr/>
        </p:nvSpPr>
        <p:spPr>
          <a:xfrm>
            <a:off x="152400" y="5530485"/>
            <a:ext cx="6096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8"/>
          <p:cNvSpPr txBox="1"/>
          <p:nvPr/>
        </p:nvSpPr>
        <p:spPr>
          <a:xfrm>
            <a:off x="1981200" y="5454285"/>
            <a:ext cx="6096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8"/>
          <p:cNvSpPr txBox="1"/>
          <p:nvPr/>
        </p:nvSpPr>
        <p:spPr>
          <a:xfrm>
            <a:off x="3733800" y="5454285"/>
            <a:ext cx="6096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8"/>
          <p:cNvSpPr txBox="1"/>
          <p:nvPr/>
        </p:nvSpPr>
        <p:spPr>
          <a:xfrm>
            <a:off x="5410200" y="5454285"/>
            <a:ext cx="33528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Add a number sequence the segmented parts.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8"/>
          <p:cNvSpPr/>
          <p:nvPr/>
        </p:nvSpPr>
        <p:spPr>
          <a:xfrm>
            <a:off x="5486400" y="4387485"/>
            <a:ext cx="457200" cy="3810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8"/>
          <p:cNvSpPr/>
          <p:nvPr/>
        </p:nvSpPr>
        <p:spPr>
          <a:xfrm>
            <a:off x="5334000" y="5225685"/>
            <a:ext cx="457200" cy="381000"/>
          </a:xfrm>
          <a:prstGeom prst="ellipse">
            <a:avLst/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8"/>
          <p:cNvSpPr txBox="1"/>
          <p:nvPr/>
        </p:nvSpPr>
        <p:spPr>
          <a:xfrm>
            <a:off x="228600" y="5149485"/>
            <a:ext cx="3810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8"/>
          <p:cNvSpPr txBox="1"/>
          <p:nvPr/>
        </p:nvSpPr>
        <p:spPr>
          <a:xfrm>
            <a:off x="1981200" y="5225685"/>
            <a:ext cx="6096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8"/>
          <p:cNvSpPr txBox="1"/>
          <p:nvPr/>
        </p:nvSpPr>
        <p:spPr>
          <a:xfrm>
            <a:off x="3733800" y="5149485"/>
            <a:ext cx="6096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9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9"/>
          <p:cNvSpPr txBox="1"/>
          <p:nvPr>
            <p:ph type="title"/>
          </p:nvPr>
        </p:nvSpPr>
        <p:spPr>
          <a:xfrm>
            <a:off x="838200" y="2286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Identifying Different Applications</a:t>
            </a:r>
            <a:endParaRPr/>
          </a:p>
        </p:txBody>
      </p:sp>
      <p:sp>
        <p:nvSpPr>
          <p:cNvPr id="478" name="Google Shape;478;p39"/>
          <p:cNvSpPr txBox="1"/>
          <p:nvPr>
            <p:ph idx="1" type="body"/>
          </p:nvPr>
        </p:nvSpPr>
        <p:spPr>
          <a:xfrm>
            <a:off x="457200" y="5562600"/>
            <a:ext cx="80772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Port Numbers</a:t>
            </a:r>
            <a:endParaRPr/>
          </a:p>
        </p:txBody>
      </p:sp>
      <p:pic>
        <p:nvPicPr>
          <p:cNvPr id="479" name="Google Shape;47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143000"/>
            <a:ext cx="7772400" cy="4484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0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0"/>
          <p:cNvSpPr txBox="1"/>
          <p:nvPr/>
        </p:nvSpPr>
        <p:spPr>
          <a:xfrm>
            <a:off x="533400" y="1371600"/>
            <a:ext cx="79248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 define multiple processes running in a computer.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16-bit in length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6" name="Google Shape;486;p40"/>
          <p:cNvSpPr txBox="1"/>
          <p:nvPr/>
        </p:nvSpPr>
        <p:spPr>
          <a:xfrm>
            <a:off x="304800" y="3951287"/>
            <a:ext cx="8382000" cy="1931987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4800"/>
              <a:buFont typeface="Times New Roman"/>
              <a:buNone/>
            </a:pPr>
            <a:r>
              <a:rPr b="1" i="0" lang="en-US" sz="48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16-bit port address represented </a:t>
            </a:r>
            <a:br>
              <a:rPr b="1" i="0" lang="en-US" sz="3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3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one single number.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40"/>
          <p:cNvSpPr txBox="1"/>
          <p:nvPr/>
        </p:nvSpPr>
        <p:spPr>
          <a:xfrm>
            <a:off x="762000" y="304800"/>
            <a:ext cx="2740025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Port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1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41"/>
          <p:cNvSpPr txBox="1"/>
          <p:nvPr>
            <p:ph type="title"/>
          </p:nvPr>
        </p:nvSpPr>
        <p:spPr>
          <a:xfrm>
            <a:off x="838200" y="2286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Function: Connection Control</a:t>
            </a:r>
            <a:endParaRPr/>
          </a:p>
        </p:txBody>
      </p:sp>
      <p:pic>
        <p:nvPicPr>
          <p:cNvPr id="494" name="Google Shape;49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981200"/>
            <a:ext cx="7623175" cy="31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1"/>
          <p:cNvSpPr txBox="1"/>
          <p:nvPr/>
        </p:nvSpPr>
        <p:spPr>
          <a:xfrm>
            <a:off x="1676400" y="1600200"/>
            <a:ext cx="533400" cy="457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6" name="Google Shape;496;p41"/>
          <p:cNvSpPr txBox="1"/>
          <p:nvPr/>
        </p:nvSpPr>
        <p:spPr>
          <a:xfrm>
            <a:off x="1143000" y="1676400"/>
            <a:ext cx="1600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Are you up?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41"/>
          <p:cNvSpPr txBox="1"/>
          <p:nvPr/>
        </p:nvSpPr>
        <p:spPr>
          <a:xfrm>
            <a:off x="6248400" y="1676400"/>
            <a:ext cx="533400" cy="457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8" name="Google Shape;498;p41"/>
          <p:cNvSpPr txBox="1"/>
          <p:nvPr/>
        </p:nvSpPr>
        <p:spPr>
          <a:xfrm>
            <a:off x="6096000" y="1676400"/>
            <a:ext cx="1066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Yes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41"/>
          <p:cNvSpPr txBox="1"/>
          <p:nvPr/>
        </p:nvSpPr>
        <p:spPr>
          <a:xfrm>
            <a:off x="1524000" y="2209800"/>
            <a:ext cx="381000" cy="304800"/>
          </a:xfrm>
          <a:prstGeom prst="rect">
            <a:avLst/>
          </a:prstGeom>
          <a:solidFill>
            <a:schemeClr val="accent2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0" name="Google Shape;500;p41"/>
          <p:cNvSpPr txBox="1"/>
          <p:nvPr/>
        </p:nvSpPr>
        <p:spPr>
          <a:xfrm>
            <a:off x="1828800" y="2209800"/>
            <a:ext cx="381000" cy="304800"/>
          </a:xfrm>
          <a:prstGeom prst="rect">
            <a:avLst/>
          </a:prstGeom>
          <a:solidFill>
            <a:schemeClr val="accent2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1" name="Google Shape;501;p41"/>
          <p:cNvSpPr txBox="1"/>
          <p:nvPr/>
        </p:nvSpPr>
        <p:spPr>
          <a:xfrm>
            <a:off x="2057400" y="2209800"/>
            <a:ext cx="381000" cy="304800"/>
          </a:xfrm>
          <a:prstGeom prst="rect">
            <a:avLst/>
          </a:prstGeom>
          <a:solidFill>
            <a:schemeClr val="accent2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2" name="Google Shape;502;p41"/>
          <p:cNvSpPr txBox="1"/>
          <p:nvPr/>
        </p:nvSpPr>
        <p:spPr>
          <a:xfrm>
            <a:off x="1524000" y="2133600"/>
            <a:ext cx="1066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2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42"/>
          <p:cNvSpPr txBox="1"/>
          <p:nvPr>
            <p:ph type="title"/>
          </p:nvPr>
        </p:nvSpPr>
        <p:spPr>
          <a:xfrm>
            <a:off x="838200" y="2286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Function: Flow Control</a:t>
            </a:r>
            <a:endParaRPr/>
          </a:p>
        </p:txBody>
      </p:sp>
      <p:pic>
        <p:nvPicPr>
          <p:cNvPr id="509" name="Google Shape;50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1981200"/>
            <a:ext cx="8915400" cy="3668712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42"/>
          <p:cNvSpPr txBox="1"/>
          <p:nvPr/>
        </p:nvSpPr>
        <p:spPr>
          <a:xfrm>
            <a:off x="1524000" y="2209800"/>
            <a:ext cx="381000" cy="304800"/>
          </a:xfrm>
          <a:prstGeom prst="rect">
            <a:avLst/>
          </a:prstGeom>
          <a:solidFill>
            <a:schemeClr val="accent2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1" name="Google Shape;511;p42"/>
          <p:cNvSpPr txBox="1"/>
          <p:nvPr/>
        </p:nvSpPr>
        <p:spPr>
          <a:xfrm>
            <a:off x="1828800" y="2209800"/>
            <a:ext cx="381000" cy="304800"/>
          </a:xfrm>
          <a:prstGeom prst="rect">
            <a:avLst/>
          </a:prstGeom>
          <a:solidFill>
            <a:schemeClr val="accent2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2" name="Google Shape;512;p42"/>
          <p:cNvSpPr txBox="1"/>
          <p:nvPr/>
        </p:nvSpPr>
        <p:spPr>
          <a:xfrm>
            <a:off x="2057400" y="2209800"/>
            <a:ext cx="381000" cy="304800"/>
          </a:xfrm>
          <a:prstGeom prst="rect">
            <a:avLst/>
          </a:prstGeom>
          <a:solidFill>
            <a:schemeClr val="accent2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3" name="Google Shape;513;p42"/>
          <p:cNvSpPr txBox="1"/>
          <p:nvPr/>
        </p:nvSpPr>
        <p:spPr>
          <a:xfrm>
            <a:off x="1524000" y="2133600"/>
            <a:ext cx="1066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42"/>
          <p:cNvSpPr txBox="1"/>
          <p:nvPr/>
        </p:nvSpPr>
        <p:spPr>
          <a:xfrm>
            <a:off x="914400" y="3276600"/>
            <a:ext cx="1143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Host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42"/>
          <p:cNvSpPr txBox="1"/>
          <p:nvPr/>
        </p:nvSpPr>
        <p:spPr>
          <a:xfrm>
            <a:off x="7086600" y="3200400"/>
            <a:ext cx="1143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Host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42"/>
          <p:cNvSpPr txBox="1"/>
          <p:nvPr/>
        </p:nvSpPr>
        <p:spPr>
          <a:xfrm>
            <a:off x="5638800" y="228600"/>
            <a:ext cx="2895600" cy="160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▪"/>
            </a:pPr>
            <a:r>
              <a:rPr b="1" i="0" lang="en-US" sz="18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Host B has too many packets to process.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Noto Sans Symbols"/>
              <a:buChar char="▪"/>
            </a:pPr>
            <a:r>
              <a:rPr b="1" i="0" lang="en-US" sz="18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Buffer to store incoming packets overflows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2"/>
          <p:cNvSpPr txBox="1"/>
          <p:nvPr/>
        </p:nvSpPr>
        <p:spPr>
          <a:xfrm>
            <a:off x="6705600" y="2209800"/>
            <a:ext cx="533400" cy="457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8" name="Google Shape;518;p42"/>
          <p:cNvSpPr txBox="1"/>
          <p:nvPr/>
        </p:nvSpPr>
        <p:spPr>
          <a:xfrm>
            <a:off x="6553200" y="2209800"/>
            <a:ext cx="20574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Please send less packets.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3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43"/>
          <p:cNvSpPr txBox="1"/>
          <p:nvPr>
            <p:ph type="title"/>
          </p:nvPr>
        </p:nvSpPr>
        <p:spPr>
          <a:xfrm>
            <a:off x="838200" y="2286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Function: Error Control</a:t>
            </a:r>
            <a:endParaRPr/>
          </a:p>
        </p:txBody>
      </p:sp>
      <p:pic>
        <p:nvPicPr>
          <p:cNvPr id="525" name="Google Shape;52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" y="1981200"/>
            <a:ext cx="8915400" cy="3668712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43"/>
          <p:cNvSpPr txBox="1"/>
          <p:nvPr/>
        </p:nvSpPr>
        <p:spPr>
          <a:xfrm>
            <a:off x="1524000" y="2209800"/>
            <a:ext cx="381000" cy="304800"/>
          </a:xfrm>
          <a:prstGeom prst="rect">
            <a:avLst/>
          </a:prstGeom>
          <a:solidFill>
            <a:schemeClr val="accent2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7" name="Google Shape;527;p43"/>
          <p:cNvSpPr txBox="1"/>
          <p:nvPr/>
        </p:nvSpPr>
        <p:spPr>
          <a:xfrm>
            <a:off x="1828800" y="2209800"/>
            <a:ext cx="381000" cy="304800"/>
          </a:xfrm>
          <a:prstGeom prst="rect">
            <a:avLst/>
          </a:prstGeom>
          <a:solidFill>
            <a:schemeClr val="accent2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8" name="Google Shape;528;p43"/>
          <p:cNvSpPr txBox="1"/>
          <p:nvPr/>
        </p:nvSpPr>
        <p:spPr>
          <a:xfrm>
            <a:off x="2057400" y="2209800"/>
            <a:ext cx="381000" cy="304800"/>
          </a:xfrm>
          <a:prstGeom prst="rect">
            <a:avLst/>
          </a:prstGeom>
          <a:solidFill>
            <a:schemeClr val="accent2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9" name="Google Shape;529;p43"/>
          <p:cNvSpPr txBox="1"/>
          <p:nvPr/>
        </p:nvSpPr>
        <p:spPr>
          <a:xfrm>
            <a:off x="1524000" y="2133600"/>
            <a:ext cx="1066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43"/>
          <p:cNvSpPr txBox="1"/>
          <p:nvPr/>
        </p:nvSpPr>
        <p:spPr>
          <a:xfrm>
            <a:off x="1066800" y="3200400"/>
            <a:ext cx="1143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Host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43"/>
          <p:cNvSpPr txBox="1"/>
          <p:nvPr/>
        </p:nvSpPr>
        <p:spPr>
          <a:xfrm>
            <a:off x="7086600" y="3200400"/>
            <a:ext cx="1143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Host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43"/>
          <p:cNvSpPr txBox="1"/>
          <p:nvPr/>
        </p:nvSpPr>
        <p:spPr>
          <a:xfrm>
            <a:off x="6705600" y="2209800"/>
            <a:ext cx="533400" cy="457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3" name="Google Shape;533;p43"/>
          <p:cNvSpPr txBox="1"/>
          <p:nvPr/>
        </p:nvSpPr>
        <p:spPr>
          <a:xfrm>
            <a:off x="6172200" y="2209800"/>
            <a:ext cx="20574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Please send packet 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43"/>
          <p:cNvSpPr txBox="1"/>
          <p:nvPr/>
        </p:nvSpPr>
        <p:spPr>
          <a:xfrm>
            <a:off x="3352800" y="2743200"/>
            <a:ext cx="2286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66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00CC66"/>
                </a:solidFill>
                <a:latin typeface="Tahoma"/>
                <a:ea typeface="Tahoma"/>
                <a:cs typeface="Tahoma"/>
                <a:sym typeface="Tahoma"/>
              </a:rPr>
              <a:t>Lost in transition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43"/>
          <p:cNvSpPr txBox="1"/>
          <p:nvPr/>
        </p:nvSpPr>
        <p:spPr>
          <a:xfrm>
            <a:off x="3962400" y="2667000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6" name="Google Shape;536;p43"/>
          <p:cNvSpPr txBox="1"/>
          <p:nvPr/>
        </p:nvSpPr>
        <p:spPr>
          <a:xfrm>
            <a:off x="4038600" y="2438400"/>
            <a:ext cx="381000" cy="304800"/>
          </a:xfrm>
          <a:prstGeom prst="rect">
            <a:avLst/>
          </a:prstGeom>
          <a:solidFill>
            <a:schemeClr val="accent2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7" name="Google Shape;537;p43"/>
          <p:cNvSpPr txBox="1"/>
          <p:nvPr/>
        </p:nvSpPr>
        <p:spPr>
          <a:xfrm>
            <a:off x="4038600" y="2376487"/>
            <a:ext cx="5334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Tahoma"/>
              <a:buNone/>
            </a:pPr>
            <a:r>
              <a:rPr b="1" i="0" lang="en-US" sz="2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43"/>
          <p:cNvSpPr txBox="1"/>
          <p:nvPr/>
        </p:nvSpPr>
        <p:spPr>
          <a:xfrm>
            <a:off x="2133600" y="2362200"/>
            <a:ext cx="381000" cy="304800"/>
          </a:xfrm>
          <a:prstGeom prst="rect">
            <a:avLst/>
          </a:prstGeom>
          <a:solidFill>
            <a:schemeClr val="accent2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9" name="Google Shape;539;p43"/>
          <p:cNvSpPr txBox="1"/>
          <p:nvPr/>
        </p:nvSpPr>
        <p:spPr>
          <a:xfrm>
            <a:off x="6477000" y="1143000"/>
            <a:ext cx="381000" cy="304800"/>
          </a:xfrm>
          <a:prstGeom prst="rect">
            <a:avLst/>
          </a:prstGeom>
          <a:solidFill>
            <a:schemeClr val="accent2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43"/>
          <p:cNvSpPr txBox="1"/>
          <p:nvPr/>
        </p:nvSpPr>
        <p:spPr>
          <a:xfrm>
            <a:off x="6629400" y="1524000"/>
            <a:ext cx="381000" cy="304800"/>
          </a:xfrm>
          <a:prstGeom prst="rect">
            <a:avLst/>
          </a:prstGeom>
          <a:solidFill>
            <a:schemeClr val="accent2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43"/>
          <p:cNvSpPr txBox="1"/>
          <p:nvPr/>
        </p:nvSpPr>
        <p:spPr>
          <a:xfrm>
            <a:off x="7162800" y="1143000"/>
            <a:ext cx="16002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 have 1&amp;3, where is 2?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4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7" name="Google Shape;54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143000"/>
            <a:ext cx="7391400" cy="5464175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44"/>
          <p:cNvSpPr txBox="1"/>
          <p:nvPr/>
        </p:nvSpPr>
        <p:spPr>
          <a:xfrm>
            <a:off x="762000" y="228600"/>
            <a:ext cx="4910137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Functions– Multiplexing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5"/>
          <p:cNvSpPr txBox="1"/>
          <p:nvPr/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2.#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45"/>
          <p:cNvSpPr txBox="1"/>
          <p:nvPr/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45"/>
          <p:cNvSpPr txBox="1"/>
          <p:nvPr>
            <p:ph type="ctrTitle"/>
          </p:nvPr>
        </p:nvSpPr>
        <p:spPr>
          <a:xfrm>
            <a:off x="990600" y="1676400"/>
            <a:ext cx="7772400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NETWORK LAYER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6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46"/>
          <p:cNvSpPr txBox="1"/>
          <p:nvPr/>
        </p:nvSpPr>
        <p:spPr>
          <a:xfrm>
            <a:off x="1143000" y="269875"/>
            <a:ext cx="2982912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Network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2" name="Google Shape;56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295400"/>
            <a:ext cx="8142287" cy="27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46"/>
          <p:cNvSpPr txBox="1"/>
          <p:nvPr/>
        </p:nvSpPr>
        <p:spPr>
          <a:xfrm>
            <a:off x="228600" y="4724400"/>
            <a:ext cx="8534400" cy="11874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The network layer is responsible for the delivery of   </a:t>
            </a:r>
            <a:br>
              <a:rPr b="1" i="0" lang="en-US" sz="24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i="0" lang="en-US" sz="24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 individual packets from  the source host to the destination host.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7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47"/>
          <p:cNvSpPr txBox="1"/>
          <p:nvPr>
            <p:ph type="title"/>
          </p:nvPr>
        </p:nvSpPr>
        <p:spPr>
          <a:xfrm>
            <a:off x="838200" y="2286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Example</a:t>
            </a:r>
            <a:endParaRPr/>
          </a:p>
        </p:txBody>
      </p:sp>
      <p:pic>
        <p:nvPicPr>
          <p:cNvPr id="570" name="Google Shape;57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219200"/>
            <a:ext cx="5943600" cy="544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47"/>
          <p:cNvSpPr/>
          <p:nvPr/>
        </p:nvSpPr>
        <p:spPr>
          <a:xfrm>
            <a:off x="838200" y="1524000"/>
            <a:ext cx="2362200" cy="53340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2" name="Google Shape;572;p47"/>
          <p:cNvSpPr txBox="1"/>
          <p:nvPr/>
        </p:nvSpPr>
        <p:spPr>
          <a:xfrm>
            <a:off x="304800" y="3429000"/>
            <a:ext cx="144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LAN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47"/>
          <p:cNvSpPr/>
          <p:nvPr/>
        </p:nvSpPr>
        <p:spPr>
          <a:xfrm>
            <a:off x="4953000" y="1219200"/>
            <a:ext cx="2971800" cy="22098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4" name="Google Shape;574;p47"/>
          <p:cNvSpPr txBox="1"/>
          <p:nvPr/>
        </p:nvSpPr>
        <p:spPr>
          <a:xfrm>
            <a:off x="7162800" y="2209800"/>
            <a:ext cx="144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LAN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47"/>
          <p:cNvSpPr/>
          <p:nvPr/>
        </p:nvSpPr>
        <p:spPr>
          <a:xfrm>
            <a:off x="2971800" y="2209800"/>
            <a:ext cx="2971800" cy="30480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6" name="Google Shape;576;p47"/>
          <p:cNvSpPr txBox="1"/>
          <p:nvPr/>
        </p:nvSpPr>
        <p:spPr>
          <a:xfrm>
            <a:off x="7315200" y="4953000"/>
            <a:ext cx="1447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LAN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47"/>
          <p:cNvSpPr/>
          <p:nvPr/>
        </p:nvSpPr>
        <p:spPr>
          <a:xfrm>
            <a:off x="5334000" y="4114800"/>
            <a:ext cx="2971800" cy="22098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8" name="Google Shape;578;p47"/>
          <p:cNvSpPr txBox="1"/>
          <p:nvPr/>
        </p:nvSpPr>
        <p:spPr>
          <a:xfrm>
            <a:off x="2971800" y="48006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Interconnections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47"/>
          <p:cNvSpPr txBox="1"/>
          <p:nvPr/>
        </p:nvSpPr>
        <p:spPr>
          <a:xfrm>
            <a:off x="1295400" y="6400800"/>
            <a:ext cx="1447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Sender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47"/>
          <p:cNvSpPr txBox="1"/>
          <p:nvPr/>
        </p:nvSpPr>
        <p:spPr>
          <a:xfrm>
            <a:off x="6172200" y="6019800"/>
            <a:ext cx="1447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Receiver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47"/>
          <p:cNvSpPr txBox="1"/>
          <p:nvPr/>
        </p:nvSpPr>
        <p:spPr>
          <a:xfrm>
            <a:off x="1524000" y="5638800"/>
            <a:ext cx="304800" cy="38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82" name="Google Shape;582;p47"/>
          <p:cNvSpPr txBox="1"/>
          <p:nvPr/>
        </p:nvSpPr>
        <p:spPr>
          <a:xfrm>
            <a:off x="3200400" y="2743200"/>
            <a:ext cx="38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3" name="Google Shape;583;p47"/>
          <p:cNvCxnSpPr/>
          <p:nvPr/>
        </p:nvCxnSpPr>
        <p:spPr>
          <a:xfrm flipH="1" rot="10800000">
            <a:off x="3352800" y="2819400"/>
            <a:ext cx="304800" cy="457200"/>
          </a:xfrm>
          <a:prstGeom prst="straightConnector1">
            <a:avLst/>
          </a:prstGeom>
          <a:noFill/>
          <a:ln cap="flat" cmpd="sng" w="38100">
            <a:solidFill>
              <a:schemeClr val="folHlink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84" name="Google Shape;584;p47"/>
          <p:cNvSpPr txBox="1"/>
          <p:nvPr/>
        </p:nvSpPr>
        <p:spPr>
          <a:xfrm>
            <a:off x="3886200" y="3505200"/>
            <a:ext cx="38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5" name="Google Shape;585;p47"/>
          <p:cNvCxnSpPr/>
          <p:nvPr/>
        </p:nvCxnSpPr>
        <p:spPr>
          <a:xfrm flipH="1" rot="10800000">
            <a:off x="3810000" y="3886200"/>
            <a:ext cx="609600" cy="76200"/>
          </a:xfrm>
          <a:prstGeom prst="straightConnector1">
            <a:avLst/>
          </a:prstGeom>
          <a:noFill/>
          <a:ln cap="flat" cmpd="sng" w="38100">
            <a:solidFill>
              <a:schemeClr val="folHlink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86" name="Google Shape;586;p47"/>
          <p:cNvSpPr txBox="1"/>
          <p:nvPr/>
        </p:nvSpPr>
        <p:spPr>
          <a:xfrm>
            <a:off x="3276600" y="3810000"/>
            <a:ext cx="304800" cy="38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87" name="Google Shape;587;p47"/>
          <p:cNvSpPr txBox="1"/>
          <p:nvPr/>
        </p:nvSpPr>
        <p:spPr>
          <a:xfrm>
            <a:off x="5257800" y="3810000"/>
            <a:ext cx="38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8" name="Google Shape;588;p47"/>
          <p:cNvCxnSpPr/>
          <p:nvPr/>
        </p:nvCxnSpPr>
        <p:spPr>
          <a:xfrm flipH="1">
            <a:off x="5257800" y="3886200"/>
            <a:ext cx="381000" cy="533400"/>
          </a:xfrm>
          <a:prstGeom prst="straightConnector1">
            <a:avLst/>
          </a:prstGeom>
          <a:noFill/>
          <a:ln cap="flat" cmpd="sng" w="38100">
            <a:solidFill>
              <a:schemeClr val="folHlink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89" name="Google Shape;589;p47"/>
          <p:cNvSpPr txBox="1"/>
          <p:nvPr/>
        </p:nvSpPr>
        <p:spPr>
          <a:xfrm>
            <a:off x="4876800" y="2667000"/>
            <a:ext cx="38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0" name="Google Shape;590;p47"/>
          <p:cNvCxnSpPr/>
          <p:nvPr/>
        </p:nvCxnSpPr>
        <p:spPr>
          <a:xfrm rot="10800000">
            <a:off x="4800600" y="2743200"/>
            <a:ext cx="304800" cy="381000"/>
          </a:xfrm>
          <a:prstGeom prst="straightConnector1">
            <a:avLst/>
          </a:prstGeom>
          <a:noFill/>
          <a:ln cap="flat" cmpd="sng" w="38100">
            <a:solidFill>
              <a:schemeClr val="folHlink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91" name="Google Shape;591;p47"/>
          <p:cNvSpPr txBox="1"/>
          <p:nvPr/>
        </p:nvSpPr>
        <p:spPr>
          <a:xfrm>
            <a:off x="5257800" y="3276600"/>
            <a:ext cx="304800" cy="38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92" name="Google Shape;592;p47"/>
          <p:cNvSpPr txBox="1"/>
          <p:nvPr/>
        </p:nvSpPr>
        <p:spPr>
          <a:xfrm>
            <a:off x="4495800" y="4800600"/>
            <a:ext cx="304800" cy="381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8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48"/>
          <p:cNvSpPr txBox="1"/>
          <p:nvPr/>
        </p:nvSpPr>
        <p:spPr>
          <a:xfrm>
            <a:off x="1066800" y="193675"/>
            <a:ext cx="62103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Source-to-destination delivery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48"/>
          <p:cNvSpPr txBox="1"/>
          <p:nvPr/>
        </p:nvSpPr>
        <p:spPr>
          <a:xfrm>
            <a:off x="228600" y="1295400"/>
            <a:ext cx="80010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Functions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Adds an address to identify sender and receiver hosts.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Decides which path to take.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0" name="Google Shape;600;p48"/>
          <p:cNvPicPr preferRelativeResize="0"/>
          <p:nvPr/>
        </p:nvPicPr>
        <p:blipFill rotWithShape="1">
          <a:blip r:embed="rId3">
            <a:alphaModFix/>
          </a:blip>
          <a:srcRect b="36892" l="0" r="0" t="0"/>
          <a:stretch/>
        </p:blipFill>
        <p:spPr>
          <a:xfrm>
            <a:off x="990600" y="3124200"/>
            <a:ext cx="6629400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48"/>
          <p:cNvSpPr/>
          <p:nvPr/>
        </p:nvSpPr>
        <p:spPr>
          <a:xfrm>
            <a:off x="1066800" y="3810000"/>
            <a:ext cx="838200" cy="10668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02" name="Google Shape;602;p48"/>
          <p:cNvSpPr txBox="1"/>
          <p:nvPr/>
        </p:nvSpPr>
        <p:spPr>
          <a:xfrm>
            <a:off x="1371600" y="4572000"/>
            <a:ext cx="38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48"/>
          <p:cNvSpPr/>
          <p:nvPr/>
        </p:nvSpPr>
        <p:spPr>
          <a:xfrm>
            <a:off x="6705600" y="4495800"/>
            <a:ext cx="838200" cy="10668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04" name="Google Shape;604;p48"/>
          <p:cNvSpPr txBox="1"/>
          <p:nvPr/>
        </p:nvSpPr>
        <p:spPr>
          <a:xfrm>
            <a:off x="6858000" y="5257800"/>
            <a:ext cx="38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48"/>
          <p:cNvSpPr txBox="1"/>
          <p:nvPr/>
        </p:nvSpPr>
        <p:spPr>
          <a:xfrm>
            <a:off x="1219200" y="3810000"/>
            <a:ext cx="381000" cy="4572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06" name="Google Shape;606;p48"/>
          <p:cNvSpPr txBox="1"/>
          <p:nvPr/>
        </p:nvSpPr>
        <p:spPr>
          <a:xfrm>
            <a:off x="3429000" y="2286000"/>
            <a:ext cx="426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Adds Logical Addressing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48"/>
          <p:cNvSpPr txBox="1"/>
          <p:nvPr/>
        </p:nvSpPr>
        <p:spPr>
          <a:xfrm>
            <a:off x="5638800" y="274320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Routing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9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49"/>
          <p:cNvSpPr txBox="1"/>
          <p:nvPr/>
        </p:nvSpPr>
        <p:spPr>
          <a:xfrm>
            <a:off x="1066800" y="193675"/>
            <a:ext cx="62103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Source-to-destination delivery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49"/>
          <p:cNvSpPr txBox="1"/>
          <p:nvPr/>
        </p:nvSpPr>
        <p:spPr>
          <a:xfrm>
            <a:off x="5410200" y="1295400"/>
            <a:ext cx="37338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Network Layer PDU is called </a:t>
            </a:r>
            <a:r>
              <a:rPr b="1" i="0" lang="en-US" sz="32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Packets</a:t>
            </a: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Common Network layer Protocol is called </a:t>
            </a:r>
            <a:r>
              <a:rPr b="1" i="0" lang="en-US" sz="32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Internet Protocol (IP)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5" name="Google Shape;61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219200"/>
            <a:ext cx="4953000" cy="470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0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50"/>
          <p:cNvSpPr txBox="1"/>
          <p:nvPr/>
        </p:nvSpPr>
        <p:spPr>
          <a:xfrm>
            <a:off x="533400" y="1371600"/>
            <a:ext cx="83058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Universal address, each host uniquely defined.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32-bit address also known as </a:t>
            </a:r>
            <a:r>
              <a:rPr b="1" i="0" lang="en-US" sz="32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IP Address</a:t>
            </a:r>
            <a:r>
              <a:rPr b="0" i="0" lang="en-US" sz="32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Independent of underlying physical networks.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2" name="Google Shape;622;p50"/>
          <p:cNvSpPr txBox="1"/>
          <p:nvPr/>
        </p:nvSpPr>
        <p:spPr>
          <a:xfrm>
            <a:off x="1219200" y="317500"/>
            <a:ext cx="71628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Logical Addresses :: IP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50"/>
          <p:cNvSpPr txBox="1"/>
          <p:nvPr/>
        </p:nvSpPr>
        <p:spPr>
          <a:xfrm>
            <a:off x="304800" y="4495800"/>
            <a:ext cx="8382000" cy="150495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192.168.10.1</a:t>
            </a:r>
            <a:br>
              <a:rPr b="1" i="0" lang="en-US" sz="36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8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 bits written in dotted decimal notation. Each decimal represented by 8 bits.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1"/>
          <p:cNvSpPr txBox="1"/>
          <p:nvPr/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2.#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51"/>
          <p:cNvSpPr txBox="1"/>
          <p:nvPr/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51"/>
          <p:cNvSpPr txBox="1"/>
          <p:nvPr>
            <p:ph type="ctrTitle"/>
          </p:nvPr>
        </p:nvSpPr>
        <p:spPr>
          <a:xfrm>
            <a:off x="990600" y="1676400"/>
            <a:ext cx="7772400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LINK LAYER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52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52"/>
          <p:cNvSpPr txBox="1"/>
          <p:nvPr/>
        </p:nvSpPr>
        <p:spPr>
          <a:xfrm>
            <a:off x="1447800" y="269875"/>
            <a:ext cx="3081337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link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7" name="Google Shape;63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19200"/>
            <a:ext cx="7848600" cy="2606675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52"/>
          <p:cNvSpPr txBox="1"/>
          <p:nvPr/>
        </p:nvSpPr>
        <p:spPr>
          <a:xfrm>
            <a:off x="228600" y="4495800"/>
            <a:ext cx="8534400" cy="9461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ahoma"/>
              <a:buNone/>
            </a:pPr>
            <a:r>
              <a:rPr b="1" i="0" lang="en-US" sz="2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The data link layer is responsible for moving </a:t>
            </a:r>
            <a:br>
              <a:rPr b="1" i="0" lang="en-US" sz="2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b="1" i="0" lang="en-US" sz="2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frames from one hop (node) to the next.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3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53"/>
          <p:cNvSpPr txBox="1"/>
          <p:nvPr/>
        </p:nvSpPr>
        <p:spPr>
          <a:xfrm>
            <a:off x="304800" y="1295400"/>
            <a:ext cx="79248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Framing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Physical Addressing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Flow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Error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Access Control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5" name="Google Shape;645;p53"/>
          <p:cNvSpPr txBox="1"/>
          <p:nvPr/>
        </p:nvSpPr>
        <p:spPr>
          <a:xfrm>
            <a:off x="1219200" y="241300"/>
            <a:ext cx="5418137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Functions-Data Link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53"/>
          <p:cNvSpPr txBox="1"/>
          <p:nvPr/>
        </p:nvSpPr>
        <p:spPr>
          <a:xfrm>
            <a:off x="762000" y="4572000"/>
            <a:ext cx="7173912" cy="5794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Tahoma"/>
              <a:buNone/>
            </a:pPr>
            <a:r>
              <a:rPr b="0" i="0" lang="en-US" sz="32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Data Link Layer PDU is called </a:t>
            </a:r>
            <a:r>
              <a:rPr b="1" i="0" lang="en-US" sz="32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Frames</a:t>
            </a:r>
            <a:r>
              <a:rPr b="0" i="0" lang="en-US" sz="32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53"/>
          <p:cNvSpPr txBox="1"/>
          <p:nvPr/>
        </p:nvSpPr>
        <p:spPr>
          <a:xfrm>
            <a:off x="1254125" y="5486400"/>
            <a:ext cx="5984875" cy="5794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Tahoma"/>
              <a:buNone/>
            </a:pPr>
            <a:r>
              <a:rPr b="0" i="0" lang="en-US" sz="32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Data Link Layer Protocol varies.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54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54"/>
          <p:cNvSpPr txBox="1"/>
          <p:nvPr/>
        </p:nvSpPr>
        <p:spPr>
          <a:xfrm>
            <a:off x="609600" y="304800"/>
            <a:ext cx="41973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Functions : Framing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54"/>
          <p:cNvSpPr/>
          <p:nvPr/>
        </p:nvSpPr>
        <p:spPr>
          <a:xfrm>
            <a:off x="3810000" y="1600200"/>
            <a:ext cx="304800" cy="10668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54"/>
          <p:cNvSpPr txBox="1"/>
          <p:nvPr/>
        </p:nvSpPr>
        <p:spPr>
          <a:xfrm rot="5400000">
            <a:off x="3467100" y="2019300"/>
            <a:ext cx="990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54"/>
          <p:cNvSpPr txBox="1"/>
          <p:nvPr/>
        </p:nvSpPr>
        <p:spPr>
          <a:xfrm>
            <a:off x="2286000" y="3352800"/>
            <a:ext cx="3429000" cy="6858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54"/>
          <p:cNvSpPr txBox="1"/>
          <p:nvPr/>
        </p:nvSpPr>
        <p:spPr>
          <a:xfrm>
            <a:off x="854150" y="3352800"/>
            <a:ext cx="1431900" cy="685800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Header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H2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54"/>
          <p:cNvSpPr/>
          <p:nvPr/>
        </p:nvSpPr>
        <p:spPr>
          <a:xfrm rot="5400000">
            <a:off x="3695700" y="1409700"/>
            <a:ext cx="533400" cy="33528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54"/>
          <p:cNvSpPr txBox="1"/>
          <p:nvPr/>
        </p:nvSpPr>
        <p:spPr>
          <a:xfrm rot="10800000">
            <a:off x="2299018" y="3164215"/>
            <a:ext cx="3326763" cy="188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54"/>
          <p:cNvSpPr/>
          <p:nvPr/>
        </p:nvSpPr>
        <p:spPr>
          <a:xfrm rot="-5400000">
            <a:off x="3661850" y="1289700"/>
            <a:ext cx="474600" cy="60900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1" name="Google Shape;661;p54"/>
          <p:cNvSpPr/>
          <p:nvPr/>
        </p:nvSpPr>
        <p:spPr>
          <a:xfrm>
            <a:off x="4191000" y="4419600"/>
            <a:ext cx="304800" cy="7620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54"/>
          <p:cNvSpPr txBox="1"/>
          <p:nvPr/>
        </p:nvSpPr>
        <p:spPr>
          <a:xfrm rot="5400000">
            <a:off x="4000500" y="4686300"/>
            <a:ext cx="6858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3" name="Google Shape;663;p54"/>
          <p:cNvSpPr txBox="1"/>
          <p:nvPr/>
        </p:nvSpPr>
        <p:spPr>
          <a:xfrm>
            <a:off x="7138275" y="3467100"/>
            <a:ext cx="2667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Link </a:t>
            </a:r>
            <a:endParaRPr b="1" i="0" sz="2400" u="none" cap="none" strike="noStrike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54"/>
          <p:cNvSpPr txBox="1"/>
          <p:nvPr/>
        </p:nvSpPr>
        <p:spPr>
          <a:xfrm>
            <a:off x="4419600" y="152400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From Network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54"/>
          <p:cNvSpPr txBox="1"/>
          <p:nvPr/>
        </p:nvSpPr>
        <p:spPr>
          <a:xfrm>
            <a:off x="5715000" y="3352800"/>
            <a:ext cx="1327200" cy="685800"/>
          </a:xfrm>
          <a:prstGeom prst="rect">
            <a:avLst/>
          </a:prstGeom>
          <a:solidFill>
            <a:srgbClr val="993366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Trailer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54"/>
          <p:cNvSpPr txBox="1"/>
          <p:nvPr/>
        </p:nvSpPr>
        <p:spPr>
          <a:xfrm>
            <a:off x="2362200" y="556260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ahoma"/>
              <a:buNone/>
            </a:pPr>
            <a:r>
              <a:rPr b="1" i="0" lang="en-US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To Physical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55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55"/>
          <p:cNvSpPr txBox="1"/>
          <p:nvPr/>
        </p:nvSpPr>
        <p:spPr>
          <a:xfrm>
            <a:off x="1371600" y="269875"/>
            <a:ext cx="4187825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Hop-to-hop delivery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3" name="Google Shape;67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371600"/>
            <a:ext cx="6781800" cy="4995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56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56"/>
          <p:cNvSpPr txBox="1"/>
          <p:nvPr/>
        </p:nvSpPr>
        <p:spPr>
          <a:xfrm>
            <a:off x="152400" y="1447800"/>
            <a:ext cx="88392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80" name="Google Shape;680;p56"/>
          <p:cNvSpPr txBox="1"/>
          <p:nvPr/>
        </p:nvSpPr>
        <p:spPr>
          <a:xfrm>
            <a:off x="609600" y="171450"/>
            <a:ext cx="61722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ahoma"/>
              <a:buNone/>
            </a:pPr>
            <a:r>
              <a:rPr b="0" i="0" lang="en-US" sz="32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Physical Address : MAC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56"/>
          <p:cNvSpPr txBox="1"/>
          <p:nvPr/>
        </p:nvSpPr>
        <p:spPr>
          <a:xfrm>
            <a:off x="914400" y="4114800"/>
            <a:ext cx="7239000" cy="1076325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07:01:02:01:2C:4B</a:t>
            </a:r>
            <a:br>
              <a:rPr b="1" i="0" lang="en-US" sz="32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56"/>
          <p:cNvSpPr txBox="1"/>
          <p:nvPr/>
        </p:nvSpPr>
        <p:spPr>
          <a:xfrm>
            <a:off x="228600" y="5715000"/>
            <a:ext cx="8534400" cy="528637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Also known as </a:t>
            </a:r>
            <a:r>
              <a:rPr b="1" i="0" lang="en-US" sz="28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</a:t>
            </a:r>
            <a:r>
              <a:rPr b="1" i="0" lang="en-US" sz="28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(Media Access Control) Address.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56"/>
          <p:cNvSpPr txBox="1"/>
          <p:nvPr/>
        </p:nvSpPr>
        <p:spPr>
          <a:xfrm>
            <a:off x="304800" y="1219200"/>
            <a:ext cx="86106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Every interface/port has an unique identifying number.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Given by manufacturer.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48 bits long, represented by 12 hexadecimal digits.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7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57"/>
          <p:cNvSpPr txBox="1"/>
          <p:nvPr>
            <p:ph type="title"/>
          </p:nvPr>
        </p:nvSpPr>
        <p:spPr>
          <a:xfrm>
            <a:off x="838200" y="2286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Addressing</a:t>
            </a:r>
            <a:endParaRPr/>
          </a:p>
        </p:txBody>
      </p:sp>
      <p:pic>
        <p:nvPicPr>
          <p:cNvPr id="690" name="Google Shape;69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143000"/>
            <a:ext cx="5867400" cy="537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7"/>
          <p:cNvSpPr txBox="1"/>
          <p:nvPr/>
        </p:nvSpPr>
        <p:spPr>
          <a:xfrm>
            <a:off x="609600" y="6248400"/>
            <a:ext cx="1447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Sender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57"/>
          <p:cNvSpPr txBox="1"/>
          <p:nvPr/>
        </p:nvSpPr>
        <p:spPr>
          <a:xfrm>
            <a:off x="5562600" y="6019800"/>
            <a:ext cx="1447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Receiver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57"/>
          <p:cNvSpPr txBox="1"/>
          <p:nvPr/>
        </p:nvSpPr>
        <p:spPr>
          <a:xfrm>
            <a:off x="685800" y="5791200"/>
            <a:ext cx="685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4" name="Google Shape;694;p57"/>
          <p:cNvSpPr txBox="1"/>
          <p:nvPr/>
        </p:nvSpPr>
        <p:spPr>
          <a:xfrm>
            <a:off x="533400" y="5867400"/>
            <a:ext cx="914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/11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57"/>
          <p:cNvSpPr txBox="1"/>
          <p:nvPr/>
        </p:nvSpPr>
        <p:spPr>
          <a:xfrm>
            <a:off x="381000" y="5181600"/>
            <a:ext cx="1600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IP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6" name="Google Shape;696;p57"/>
          <p:cNvCxnSpPr/>
          <p:nvPr/>
        </p:nvCxnSpPr>
        <p:spPr>
          <a:xfrm flipH="1">
            <a:off x="762000" y="5562600"/>
            <a:ext cx="76200" cy="381000"/>
          </a:xfrm>
          <a:prstGeom prst="straightConnector1">
            <a:avLst/>
          </a:prstGeom>
          <a:noFill/>
          <a:ln cap="flat" cmpd="sng" w="38100">
            <a:solidFill>
              <a:schemeClr val="folHlink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97" name="Google Shape;697;p57"/>
          <p:cNvSpPr txBox="1"/>
          <p:nvPr/>
        </p:nvSpPr>
        <p:spPr>
          <a:xfrm>
            <a:off x="1295400" y="5410200"/>
            <a:ext cx="1905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MAC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8" name="Google Shape;698;p57"/>
          <p:cNvCxnSpPr/>
          <p:nvPr/>
        </p:nvCxnSpPr>
        <p:spPr>
          <a:xfrm flipH="1">
            <a:off x="1219200" y="5791200"/>
            <a:ext cx="304800" cy="228600"/>
          </a:xfrm>
          <a:prstGeom prst="straightConnector1">
            <a:avLst/>
          </a:prstGeom>
          <a:noFill/>
          <a:ln cap="flat" cmpd="sng" w="38100">
            <a:solidFill>
              <a:schemeClr val="folHlink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99" name="Google Shape;699;p57"/>
          <p:cNvSpPr txBox="1"/>
          <p:nvPr/>
        </p:nvSpPr>
        <p:spPr>
          <a:xfrm>
            <a:off x="838200" y="4191000"/>
            <a:ext cx="914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B</a:t>
            </a: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/12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57"/>
          <p:cNvSpPr txBox="1"/>
          <p:nvPr/>
        </p:nvSpPr>
        <p:spPr>
          <a:xfrm>
            <a:off x="2667000" y="2743200"/>
            <a:ext cx="914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D</a:t>
            </a: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/13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1" name="Google Shape;701;p57"/>
          <p:cNvCxnSpPr/>
          <p:nvPr/>
        </p:nvCxnSpPr>
        <p:spPr>
          <a:xfrm flipH="1">
            <a:off x="2895600" y="3048000"/>
            <a:ext cx="76200" cy="38100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02" name="Google Shape;702;p57"/>
          <p:cNvSpPr txBox="1"/>
          <p:nvPr/>
        </p:nvSpPr>
        <p:spPr>
          <a:xfrm>
            <a:off x="3124200" y="4038600"/>
            <a:ext cx="914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E</a:t>
            </a: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/21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3" name="Google Shape;703;p57"/>
          <p:cNvCxnSpPr/>
          <p:nvPr/>
        </p:nvCxnSpPr>
        <p:spPr>
          <a:xfrm rot="10800000">
            <a:off x="3429000" y="3581400"/>
            <a:ext cx="152400" cy="45720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04" name="Google Shape;704;p57"/>
          <p:cNvSpPr txBox="1"/>
          <p:nvPr/>
        </p:nvSpPr>
        <p:spPr>
          <a:xfrm>
            <a:off x="4191000" y="2590800"/>
            <a:ext cx="914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/22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5" name="Google Shape;705;p57"/>
          <p:cNvCxnSpPr/>
          <p:nvPr/>
        </p:nvCxnSpPr>
        <p:spPr>
          <a:xfrm>
            <a:off x="4572000" y="2895600"/>
            <a:ext cx="76200" cy="38100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06" name="Google Shape;706;p57"/>
          <p:cNvSpPr txBox="1"/>
          <p:nvPr/>
        </p:nvSpPr>
        <p:spPr>
          <a:xfrm>
            <a:off x="5334000" y="3352800"/>
            <a:ext cx="914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G</a:t>
            </a: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/31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7" name="Google Shape;707;p57"/>
          <p:cNvCxnSpPr/>
          <p:nvPr/>
        </p:nvCxnSpPr>
        <p:spPr>
          <a:xfrm rot="10800000">
            <a:off x="4800600" y="3581400"/>
            <a:ext cx="609600" cy="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08" name="Google Shape;708;p57"/>
          <p:cNvSpPr txBox="1"/>
          <p:nvPr/>
        </p:nvSpPr>
        <p:spPr>
          <a:xfrm>
            <a:off x="4648200" y="4114800"/>
            <a:ext cx="914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H</a:t>
            </a: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/32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9" name="Google Shape;709;p57"/>
          <p:cNvCxnSpPr/>
          <p:nvPr/>
        </p:nvCxnSpPr>
        <p:spPr>
          <a:xfrm flipH="1">
            <a:off x="4419600" y="4343400"/>
            <a:ext cx="304800" cy="15240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10" name="Google Shape;710;p57"/>
          <p:cNvSpPr txBox="1"/>
          <p:nvPr/>
        </p:nvSpPr>
        <p:spPr>
          <a:xfrm>
            <a:off x="6553200" y="5486400"/>
            <a:ext cx="914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M</a:t>
            </a: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57"/>
          <p:cNvSpPr txBox="1"/>
          <p:nvPr/>
        </p:nvSpPr>
        <p:spPr>
          <a:xfrm>
            <a:off x="6858000" y="1219200"/>
            <a:ext cx="22860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Assume: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IP Addresses – </a:t>
            </a:r>
            <a:r>
              <a:rPr b="0" i="0" lang="en-US" sz="24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Alphabets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MAC Addresses - </a:t>
            </a:r>
            <a:r>
              <a:rPr b="0" i="0" lang="en-US" sz="24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Numbers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2" name="Google Shape;712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7400" y="5867400"/>
            <a:ext cx="32004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57"/>
          <p:cNvSpPr txBox="1"/>
          <p:nvPr/>
        </p:nvSpPr>
        <p:spPr>
          <a:xfrm>
            <a:off x="3352800" y="5943600"/>
            <a:ext cx="381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57"/>
          <p:cNvSpPr txBox="1"/>
          <p:nvPr/>
        </p:nvSpPr>
        <p:spPr>
          <a:xfrm>
            <a:off x="2971800" y="5943600"/>
            <a:ext cx="381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57"/>
          <p:cNvSpPr txBox="1"/>
          <p:nvPr/>
        </p:nvSpPr>
        <p:spPr>
          <a:xfrm>
            <a:off x="2514600" y="5943600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57"/>
          <p:cNvSpPr txBox="1"/>
          <p:nvPr/>
        </p:nvSpPr>
        <p:spPr>
          <a:xfrm>
            <a:off x="2057400" y="5943600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57"/>
          <p:cNvSpPr txBox="1"/>
          <p:nvPr/>
        </p:nvSpPr>
        <p:spPr>
          <a:xfrm>
            <a:off x="1981200" y="6477000"/>
            <a:ext cx="1828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D   S     D  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57"/>
          <p:cNvSpPr/>
          <p:nvPr/>
        </p:nvSpPr>
        <p:spPr>
          <a:xfrm flipH="1" rot="5160000">
            <a:off x="3209925" y="5405437"/>
            <a:ext cx="298450" cy="609600"/>
          </a:xfrm>
          <a:prstGeom prst="rightBrace">
            <a:avLst>
              <a:gd fmla="val 8333" name="adj1"/>
              <a:gd fmla="val 9592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19" name="Google Shape;719;p57"/>
          <p:cNvSpPr/>
          <p:nvPr/>
        </p:nvSpPr>
        <p:spPr>
          <a:xfrm flipH="1" rot="5160000">
            <a:off x="2390775" y="5286375"/>
            <a:ext cx="317500" cy="838200"/>
          </a:xfrm>
          <a:prstGeom prst="rightBrace">
            <a:avLst>
              <a:gd fmla="val 8333" name="adj1"/>
              <a:gd fmla="val 89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20" name="Google Shape;720;p57"/>
          <p:cNvSpPr txBox="1"/>
          <p:nvPr/>
        </p:nvSpPr>
        <p:spPr>
          <a:xfrm>
            <a:off x="3200400" y="5181600"/>
            <a:ext cx="1600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IP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57"/>
          <p:cNvSpPr txBox="1"/>
          <p:nvPr/>
        </p:nvSpPr>
        <p:spPr>
          <a:xfrm>
            <a:off x="1600200" y="5181600"/>
            <a:ext cx="1905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MAC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2" name="Google Shape;722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5000" y="1295400"/>
            <a:ext cx="32004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57"/>
          <p:cNvSpPr txBox="1"/>
          <p:nvPr/>
        </p:nvSpPr>
        <p:spPr>
          <a:xfrm>
            <a:off x="3200400" y="1371600"/>
            <a:ext cx="381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57"/>
          <p:cNvSpPr txBox="1"/>
          <p:nvPr/>
        </p:nvSpPr>
        <p:spPr>
          <a:xfrm>
            <a:off x="2819400" y="1371600"/>
            <a:ext cx="381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57"/>
          <p:cNvSpPr txBox="1"/>
          <p:nvPr/>
        </p:nvSpPr>
        <p:spPr>
          <a:xfrm>
            <a:off x="2362200" y="1371600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57"/>
          <p:cNvSpPr txBox="1"/>
          <p:nvPr/>
        </p:nvSpPr>
        <p:spPr>
          <a:xfrm>
            <a:off x="1905000" y="1371600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7" name="Google Shape;727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1200" y="3810000"/>
            <a:ext cx="32004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57"/>
          <p:cNvSpPr txBox="1"/>
          <p:nvPr/>
        </p:nvSpPr>
        <p:spPr>
          <a:xfrm>
            <a:off x="6705600" y="3886200"/>
            <a:ext cx="381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57"/>
          <p:cNvSpPr txBox="1"/>
          <p:nvPr/>
        </p:nvSpPr>
        <p:spPr>
          <a:xfrm>
            <a:off x="6248400" y="3962400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57"/>
          <p:cNvSpPr txBox="1"/>
          <p:nvPr/>
        </p:nvSpPr>
        <p:spPr>
          <a:xfrm>
            <a:off x="5715000" y="3886200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57"/>
          <p:cNvSpPr txBox="1"/>
          <p:nvPr/>
        </p:nvSpPr>
        <p:spPr>
          <a:xfrm>
            <a:off x="7086600" y="3886200"/>
            <a:ext cx="381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2" name="Google Shape;732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4648200"/>
            <a:ext cx="32004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57"/>
          <p:cNvSpPr txBox="1"/>
          <p:nvPr/>
        </p:nvSpPr>
        <p:spPr>
          <a:xfrm>
            <a:off x="6096000" y="4708525"/>
            <a:ext cx="381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57"/>
          <p:cNvSpPr txBox="1"/>
          <p:nvPr/>
        </p:nvSpPr>
        <p:spPr>
          <a:xfrm>
            <a:off x="5715000" y="4724400"/>
            <a:ext cx="381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57"/>
          <p:cNvSpPr txBox="1"/>
          <p:nvPr/>
        </p:nvSpPr>
        <p:spPr>
          <a:xfrm>
            <a:off x="5334000" y="4800600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41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57"/>
          <p:cNvSpPr txBox="1"/>
          <p:nvPr/>
        </p:nvSpPr>
        <p:spPr>
          <a:xfrm>
            <a:off x="4495800" y="5318125"/>
            <a:ext cx="914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/41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7" name="Google Shape;737;p57"/>
          <p:cNvCxnSpPr/>
          <p:nvPr/>
        </p:nvCxnSpPr>
        <p:spPr>
          <a:xfrm rot="10800000">
            <a:off x="4495800" y="4800600"/>
            <a:ext cx="228600" cy="60960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38" name="Google Shape;738;p57"/>
          <p:cNvSpPr txBox="1"/>
          <p:nvPr/>
        </p:nvSpPr>
        <p:spPr>
          <a:xfrm>
            <a:off x="4724400" y="4800600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57"/>
          <p:cNvSpPr txBox="1"/>
          <p:nvPr/>
        </p:nvSpPr>
        <p:spPr>
          <a:xfrm>
            <a:off x="1600200" y="5791200"/>
            <a:ext cx="381000" cy="457200"/>
          </a:xfrm>
          <a:prstGeom prst="rect">
            <a:avLst/>
          </a:prstGeom>
          <a:solidFill>
            <a:srgbClr val="FF66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0" name="Google Shape;740;p57"/>
          <p:cNvSpPr txBox="1"/>
          <p:nvPr/>
        </p:nvSpPr>
        <p:spPr>
          <a:xfrm>
            <a:off x="2705100" y="3505188"/>
            <a:ext cx="381000" cy="457200"/>
          </a:xfrm>
          <a:prstGeom prst="rect">
            <a:avLst/>
          </a:prstGeom>
          <a:solidFill>
            <a:srgbClr val="FF66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1" name="Google Shape;741;p57"/>
          <p:cNvSpPr txBox="1"/>
          <p:nvPr/>
        </p:nvSpPr>
        <p:spPr>
          <a:xfrm>
            <a:off x="4800600" y="3048000"/>
            <a:ext cx="381000" cy="457200"/>
          </a:xfrm>
          <a:prstGeom prst="rect">
            <a:avLst/>
          </a:prstGeom>
          <a:solidFill>
            <a:srgbClr val="FF66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42" name="Google Shape;742;p57"/>
          <p:cNvSpPr txBox="1"/>
          <p:nvPr/>
        </p:nvSpPr>
        <p:spPr>
          <a:xfrm>
            <a:off x="4038600" y="4495800"/>
            <a:ext cx="381000" cy="457200"/>
          </a:xfrm>
          <a:prstGeom prst="rect">
            <a:avLst/>
          </a:prstGeom>
          <a:solidFill>
            <a:srgbClr val="FF66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58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58"/>
          <p:cNvSpPr txBox="1"/>
          <p:nvPr/>
        </p:nvSpPr>
        <p:spPr>
          <a:xfrm>
            <a:off x="1447800" y="269875"/>
            <a:ext cx="2392362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Addressing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9" name="Google Shape;74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371600"/>
            <a:ext cx="6069012" cy="508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59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59"/>
          <p:cNvSpPr txBox="1"/>
          <p:nvPr>
            <p:ph type="title"/>
          </p:nvPr>
        </p:nvSpPr>
        <p:spPr>
          <a:xfrm>
            <a:off x="838200" y="2286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Addressing-Within the same network</a:t>
            </a:r>
            <a:endParaRPr/>
          </a:p>
        </p:txBody>
      </p:sp>
      <p:pic>
        <p:nvPicPr>
          <p:cNvPr id="756" name="Google Shape;756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143000"/>
            <a:ext cx="5867400" cy="5375275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59"/>
          <p:cNvSpPr txBox="1"/>
          <p:nvPr/>
        </p:nvSpPr>
        <p:spPr>
          <a:xfrm>
            <a:off x="533400" y="5867400"/>
            <a:ext cx="914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/11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59"/>
          <p:cNvSpPr txBox="1"/>
          <p:nvPr/>
        </p:nvSpPr>
        <p:spPr>
          <a:xfrm>
            <a:off x="685800" y="4403725"/>
            <a:ext cx="914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B</a:t>
            </a: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/12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59"/>
          <p:cNvSpPr txBox="1"/>
          <p:nvPr/>
        </p:nvSpPr>
        <p:spPr>
          <a:xfrm>
            <a:off x="685800" y="2286000"/>
            <a:ext cx="914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D</a:t>
            </a: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/14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59"/>
          <p:cNvSpPr txBox="1"/>
          <p:nvPr/>
        </p:nvSpPr>
        <p:spPr>
          <a:xfrm>
            <a:off x="2667000" y="2819400"/>
            <a:ext cx="914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C/13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1" name="Google Shape;761;p59"/>
          <p:cNvCxnSpPr/>
          <p:nvPr/>
        </p:nvCxnSpPr>
        <p:spPr>
          <a:xfrm flipH="1">
            <a:off x="2895600" y="3048000"/>
            <a:ext cx="76200" cy="38100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62" name="Google Shape;762;p59"/>
          <p:cNvSpPr txBox="1"/>
          <p:nvPr/>
        </p:nvSpPr>
        <p:spPr>
          <a:xfrm>
            <a:off x="990600" y="6248400"/>
            <a:ext cx="1447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Sender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59"/>
          <p:cNvSpPr txBox="1"/>
          <p:nvPr/>
        </p:nvSpPr>
        <p:spPr>
          <a:xfrm>
            <a:off x="533400" y="3124200"/>
            <a:ext cx="1447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Receiver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4" name="Google Shape;764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2200" y="5867400"/>
            <a:ext cx="3200400" cy="63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59"/>
          <p:cNvSpPr txBox="1"/>
          <p:nvPr/>
        </p:nvSpPr>
        <p:spPr>
          <a:xfrm>
            <a:off x="3657600" y="5943600"/>
            <a:ext cx="381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59"/>
          <p:cNvSpPr txBox="1"/>
          <p:nvPr/>
        </p:nvSpPr>
        <p:spPr>
          <a:xfrm>
            <a:off x="2819400" y="5943600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59"/>
          <p:cNvSpPr txBox="1"/>
          <p:nvPr/>
        </p:nvSpPr>
        <p:spPr>
          <a:xfrm>
            <a:off x="2362200" y="5943600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59"/>
          <p:cNvSpPr txBox="1"/>
          <p:nvPr/>
        </p:nvSpPr>
        <p:spPr>
          <a:xfrm>
            <a:off x="3276600" y="5943600"/>
            <a:ext cx="381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59"/>
          <p:cNvSpPr/>
          <p:nvPr/>
        </p:nvSpPr>
        <p:spPr>
          <a:xfrm>
            <a:off x="228600" y="1524000"/>
            <a:ext cx="2743200" cy="53340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70" name="Google Shape;770;p59"/>
          <p:cNvSpPr txBox="1"/>
          <p:nvPr/>
        </p:nvSpPr>
        <p:spPr>
          <a:xfrm>
            <a:off x="1295400" y="5486400"/>
            <a:ext cx="381000" cy="381000"/>
          </a:xfrm>
          <a:prstGeom prst="rect">
            <a:avLst/>
          </a:prstGeom>
          <a:solidFill>
            <a:srgbClr val="FF66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71" name="Google Shape;771;p59"/>
          <p:cNvSpPr txBox="1"/>
          <p:nvPr/>
        </p:nvSpPr>
        <p:spPr>
          <a:xfrm>
            <a:off x="1600200" y="1600200"/>
            <a:ext cx="914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E</a:t>
            </a: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/15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59"/>
          <p:cNvSpPr txBox="1"/>
          <p:nvPr/>
        </p:nvSpPr>
        <p:spPr>
          <a:xfrm>
            <a:off x="6858000" y="1219200"/>
            <a:ext cx="22860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Assume: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IP Addresses – </a:t>
            </a:r>
            <a:r>
              <a:rPr b="0" i="0" lang="en-US" sz="24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Alphabets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MAC Addresses - </a:t>
            </a:r>
            <a:r>
              <a:rPr b="0" i="0" lang="en-US" sz="24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Numbers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0"/>
          <p:cNvSpPr txBox="1"/>
          <p:nvPr/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2.#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60"/>
          <p:cNvSpPr txBox="1"/>
          <p:nvPr/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60"/>
          <p:cNvSpPr txBox="1"/>
          <p:nvPr>
            <p:ph type="ctrTitle"/>
          </p:nvPr>
        </p:nvSpPr>
        <p:spPr>
          <a:xfrm>
            <a:off x="990600" y="1676400"/>
            <a:ext cx="7772400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PHYSICAL LAYER</a:t>
            </a:r>
            <a:endParaRPr/>
          </a:p>
        </p:txBody>
      </p:sp>
      <p:sp>
        <p:nvSpPr>
          <p:cNvPr id="780" name="Google Shape;780;p6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61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61"/>
          <p:cNvSpPr txBox="1"/>
          <p:nvPr/>
        </p:nvSpPr>
        <p:spPr>
          <a:xfrm>
            <a:off x="1295400" y="220662"/>
            <a:ext cx="3201987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Physical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7" name="Google Shape;787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219200"/>
            <a:ext cx="7715250" cy="2463800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1"/>
          <p:cNvSpPr txBox="1"/>
          <p:nvPr/>
        </p:nvSpPr>
        <p:spPr>
          <a:xfrm>
            <a:off x="457200" y="4953000"/>
            <a:ext cx="8229600" cy="9461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physical layer is responsible for movements of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individual bits from one hop (node) to the next.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62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62"/>
          <p:cNvSpPr txBox="1"/>
          <p:nvPr/>
        </p:nvSpPr>
        <p:spPr>
          <a:xfrm>
            <a:off x="228600" y="1219200"/>
            <a:ext cx="48768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Physical Characteristics of interfaces and medium.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Representation of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Synchronization of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62"/>
          <p:cNvSpPr txBox="1"/>
          <p:nvPr/>
        </p:nvSpPr>
        <p:spPr>
          <a:xfrm>
            <a:off x="457200" y="304800"/>
            <a:ext cx="5119687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Functions-Physical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6" name="Google Shape;79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0" y="1524000"/>
            <a:ext cx="3714750" cy="1976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3886200"/>
            <a:ext cx="4038600" cy="208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63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63"/>
          <p:cNvSpPr txBox="1"/>
          <p:nvPr>
            <p:ph type="title"/>
          </p:nvPr>
        </p:nvSpPr>
        <p:spPr>
          <a:xfrm>
            <a:off x="838200" y="2286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Functions-Physical Layer </a:t>
            </a:r>
            <a:endParaRPr/>
          </a:p>
        </p:txBody>
      </p:sp>
      <p:sp>
        <p:nvSpPr>
          <p:cNvPr id="804" name="Google Shape;804;p63"/>
          <p:cNvSpPr txBox="1"/>
          <p:nvPr/>
        </p:nvSpPr>
        <p:spPr>
          <a:xfrm>
            <a:off x="304800" y="1371600"/>
            <a:ext cx="4572000" cy="501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192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Physical Topology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7790" lvl="1" marL="4572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7790" lvl="1" marL="4572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Ring etc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21920" lvl="0" marL="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Transmission Modes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7790" lvl="1" marL="4572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Simplex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7790" lvl="1" marL="4572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Half Duplex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7790" lvl="1" marL="4572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Full Duplex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5" name="Google Shape;805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4200" y="1600200"/>
            <a:ext cx="1914525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0" y="1600200"/>
            <a:ext cx="2971800" cy="2300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5800" y="4333875"/>
            <a:ext cx="3086100" cy="25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64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64"/>
          <p:cNvSpPr txBox="1"/>
          <p:nvPr/>
        </p:nvSpPr>
        <p:spPr>
          <a:xfrm>
            <a:off x="533400" y="304800"/>
            <a:ext cx="4968875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Summary of OSI Layers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4" name="Google Shape;814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87" y="1752600"/>
            <a:ext cx="8570912" cy="394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65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65"/>
          <p:cNvSpPr txBox="1"/>
          <p:nvPr>
            <p:ph idx="1" type="body"/>
          </p:nvPr>
        </p:nvSpPr>
        <p:spPr>
          <a:xfrm>
            <a:off x="457200" y="4724400"/>
            <a:ext cx="7772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PDUs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Encapsulation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Headers and trailers</a:t>
            </a:r>
            <a:endParaRPr/>
          </a:p>
        </p:txBody>
      </p:sp>
      <p:pic>
        <p:nvPicPr>
          <p:cNvPr id="821" name="Google Shape;821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143000"/>
            <a:ext cx="5029200" cy="3625850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65"/>
          <p:cNvSpPr txBox="1"/>
          <p:nvPr/>
        </p:nvSpPr>
        <p:spPr>
          <a:xfrm>
            <a:off x="1524000" y="320675"/>
            <a:ext cx="2093912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Summary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66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66"/>
          <p:cNvSpPr txBox="1"/>
          <p:nvPr/>
        </p:nvSpPr>
        <p:spPr>
          <a:xfrm>
            <a:off x="1066800" y="317500"/>
            <a:ext cx="15748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TCP/IP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66"/>
          <p:cNvSpPr txBox="1"/>
          <p:nvPr/>
        </p:nvSpPr>
        <p:spPr>
          <a:xfrm>
            <a:off x="8229600" y="6400800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30" name="Google Shape;830;p66"/>
          <p:cNvSpPr txBox="1"/>
          <p:nvPr/>
        </p:nvSpPr>
        <p:spPr>
          <a:xfrm>
            <a:off x="457200" y="1143000"/>
            <a:ext cx="80772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Developed by the US Defense Advanced Research Project Agency (DARPA) for its packet switched network (ARPANET)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Used by the global Internet.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 Facto Standard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1" name="Google Shape;831;p66"/>
          <p:cNvCxnSpPr/>
          <p:nvPr/>
        </p:nvCxnSpPr>
        <p:spPr>
          <a:xfrm>
            <a:off x="3124200" y="3886200"/>
            <a:ext cx="1447800" cy="457200"/>
          </a:xfrm>
          <a:prstGeom prst="straightConnector1">
            <a:avLst/>
          </a:prstGeom>
          <a:noFill/>
          <a:ln cap="flat" cmpd="sng" w="38100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2" name="Google Shape;832;p66"/>
          <p:cNvCxnSpPr/>
          <p:nvPr/>
        </p:nvCxnSpPr>
        <p:spPr>
          <a:xfrm flipH="1" rot="10800000">
            <a:off x="2971800" y="4343400"/>
            <a:ext cx="1600200" cy="533400"/>
          </a:xfrm>
          <a:prstGeom prst="straightConnector1">
            <a:avLst/>
          </a:prstGeom>
          <a:noFill/>
          <a:ln cap="flat" cmpd="sng" w="38100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833" name="Google Shape;833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3581400"/>
            <a:ext cx="1620837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3581400"/>
            <a:ext cx="1504950" cy="2847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5" name="Google Shape;835;p66"/>
          <p:cNvCxnSpPr/>
          <p:nvPr/>
        </p:nvCxnSpPr>
        <p:spPr>
          <a:xfrm>
            <a:off x="3124200" y="5105400"/>
            <a:ext cx="1524000" cy="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6" name="Google Shape;836;p66"/>
          <p:cNvCxnSpPr/>
          <p:nvPr/>
        </p:nvCxnSpPr>
        <p:spPr>
          <a:xfrm>
            <a:off x="3124200" y="5486400"/>
            <a:ext cx="1524000" cy="0"/>
          </a:xfrm>
          <a:prstGeom prst="straightConnector1">
            <a:avLst/>
          </a:prstGeom>
          <a:noFill/>
          <a:ln cap="flat" cmpd="sng" w="381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7" name="Google Shape;837;p66"/>
          <p:cNvCxnSpPr/>
          <p:nvPr/>
        </p:nvCxnSpPr>
        <p:spPr>
          <a:xfrm>
            <a:off x="3048000" y="5791200"/>
            <a:ext cx="1524000" cy="304800"/>
          </a:xfrm>
          <a:prstGeom prst="straightConnector1">
            <a:avLst/>
          </a:prstGeom>
          <a:noFill/>
          <a:ln cap="flat" cmpd="sng" w="38100">
            <a:solidFill>
              <a:srgbClr val="80008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8" name="Google Shape;838;p66"/>
          <p:cNvCxnSpPr/>
          <p:nvPr/>
        </p:nvCxnSpPr>
        <p:spPr>
          <a:xfrm flipH="1" rot="10800000">
            <a:off x="3048000" y="6096000"/>
            <a:ext cx="1524000" cy="228600"/>
          </a:xfrm>
          <a:prstGeom prst="straightConnector1">
            <a:avLst/>
          </a:prstGeom>
          <a:noFill/>
          <a:ln cap="flat" cmpd="sng" w="38100">
            <a:solidFill>
              <a:srgbClr val="66006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67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67"/>
          <p:cNvSpPr txBox="1"/>
          <p:nvPr>
            <p:ph type="title"/>
          </p:nvPr>
        </p:nvSpPr>
        <p:spPr>
          <a:xfrm>
            <a:off x="838200" y="2286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TCP/IP Encapsulation</a:t>
            </a:r>
            <a:endParaRPr/>
          </a:p>
        </p:txBody>
      </p:sp>
      <p:pic>
        <p:nvPicPr>
          <p:cNvPr id="845" name="Google Shape;84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447800"/>
            <a:ext cx="6805612" cy="464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68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68"/>
          <p:cNvSpPr txBox="1"/>
          <p:nvPr/>
        </p:nvSpPr>
        <p:spPr>
          <a:xfrm>
            <a:off x="1219200" y="346075"/>
            <a:ext cx="4729162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TCP/IP and OSI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2" name="Google Shape;852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524000"/>
            <a:ext cx="7532687" cy="5002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69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69"/>
          <p:cNvSpPr txBox="1"/>
          <p:nvPr/>
        </p:nvSpPr>
        <p:spPr>
          <a:xfrm>
            <a:off x="1295400" y="241300"/>
            <a:ext cx="44450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Addressing Summary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69"/>
          <p:cNvSpPr txBox="1"/>
          <p:nvPr/>
        </p:nvSpPr>
        <p:spPr>
          <a:xfrm>
            <a:off x="8229600" y="6400800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60" name="Google Shape;860;p69"/>
          <p:cNvSpPr txBox="1"/>
          <p:nvPr/>
        </p:nvSpPr>
        <p:spPr>
          <a:xfrm>
            <a:off x="533400" y="1371600"/>
            <a:ext cx="7772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Four levels of addresses are used in an internet employing the TCP/IP protocols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1" name="Google Shape;861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3200400"/>
            <a:ext cx="7834312" cy="199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70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70"/>
          <p:cNvSpPr txBox="1"/>
          <p:nvPr/>
        </p:nvSpPr>
        <p:spPr>
          <a:xfrm>
            <a:off x="609600" y="304800"/>
            <a:ext cx="748665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ahoma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Relationship of layers and addresses in TCP/IP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8" name="Google Shape;868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266825"/>
            <a:ext cx="746760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70"/>
          <p:cNvSpPr txBox="1"/>
          <p:nvPr/>
        </p:nvSpPr>
        <p:spPr>
          <a:xfrm>
            <a:off x="6629400" y="3962400"/>
            <a:ext cx="1828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IP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70"/>
          <p:cNvSpPr txBox="1"/>
          <p:nvPr/>
        </p:nvSpPr>
        <p:spPr>
          <a:xfrm>
            <a:off x="6629400" y="5486400"/>
            <a:ext cx="2514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MAC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1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71"/>
          <p:cNvSpPr txBox="1"/>
          <p:nvPr/>
        </p:nvSpPr>
        <p:spPr>
          <a:xfrm>
            <a:off x="533400" y="1371600"/>
            <a:ext cx="82296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Applications having user friendly addresses.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Email addresses or URLs.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sng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3"/>
              </a:rPr>
              <a:t>john@gmail.com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john@gmail.com or </a:t>
            </a:r>
            <a:r>
              <a:rPr b="0" i="0" lang="en-US" sz="2800" u="sng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  <a:hlinkClick r:id="rId4"/>
              </a:rPr>
              <a:t>www.bracu.ac.bd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These are converted into corresponding port and logical addresses by the sending computer.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77" name="Google Shape;877;p71"/>
          <p:cNvSpPr txBox="1"/>
          <p:nvPr/>
        </p:nvSpPr>
        <p:spPr>
          <a:xfrm>
            <a:off x="1219200" y="317500"/>
            <a:ext cx="3894137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Specific Addresses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72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3" name="Google Shape;883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068387"/>
            <a:ext cx="6248400" cy="5713412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72"/>
          <p:cNvSpPr txBox="1"/>
          <p:nvPr>
            <p:ph type="title"/>
          </p:nvPr>
        </p:nvSpPr>
        <p:spPr>
          <a:xfrm>
            <a:off x="838200" y="2286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Addressing Review</a:t>
            </a:r>
            <a:endParaRPr/>
          </a:p>
        </p:txBody>
      </p:sp>
      <p:sp>
        <p:nvSpPr>
          <p:cNvPr id="885" name="Google Shape;885;p72"/>
          <p:cNvSpPr txBox="1"/>
          <p:nvPr/>
        </p:nvSpPr>
        <p:spPr>
          <a:xfrm>
            <a:off x="838200" y="6461125"/>
            <a:ext cx="1447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Sender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72"/>
          <p:cNvSpPr txBox="1"/>
          <p:nvPr/>
        </p:nvSpPr>
        <p:spPr>
          <a:xfrm>
            <a:off x="5638800" y="6172200"/>
            <a:ext cx="1447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Receiver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72"/>
          <p:cNvSpPr txBox="1"/>
          <p:nvPr/>
        </p:nvSpPr>
        <p:spPr>
          <a:xfrm>
            <a:off x="685800" y="5791200"/>
            <a:ext cx="6858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88" name="Google Shape;888;p72"/>
          <p:cNvSpPr txBox="1"/>
          <p:nvPr/>
        </p:nvSpPr>
        <p:spPr>
          <a:xfrm>
            <a:off x="533400" y="5867400"/>
            <a:ext cx="914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/11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72"/>
          <p:cNvSpPr txBox="1"/>
          <p:nvPr/>
        </p:nvSpPr>
        <p:spPr>
          <a:xfrm>
            <a:off x="381000" y="5181600"/>
            <a:ext cx="1600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IP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0" name="Google Shape;890;p72"/>
          <p:cNvCxnSpPr/>
          <p:nvPr/>
        </p:nvCxnSpPr>
        <p:spPr>
          <a:xfrm flipH="1">
            <a:off x="762000" y="5562600"/>
            <a:ext cx="76200" cy="381000"/>
          </a:xfrm>
          <a:prstGeom prst="straightConnector1">
            <a:avLst/>
          </a:prstGeom>
          <a:noFill/>
          <a:ln cap="flat" cmpd="sng" w="38100">
            <a:solidFill>
              <a:schemeClr val="folHlink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91" name="Google Shape;891;p72"/>
          <p:cNvSpPr txBox="1"/>
          <p:nvPr/>
        </p:nvSpPr>
        <p:spPr>
          <a:xfrm>
            <a:off x="1295400" y="5410200"/>
            <a:ext cx="1905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MAC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2" name="Google Shape;892;p72"/>
          <p:cNvCxnSpPr/>
          <p:nvPr/>
        </p:nvCxnSpPr>
        <p:spPr>
          <a:xfrm flipH="1">
            <a:off x="1219200" y="5791200"/>
            <a:ext cx="304800" cy="22860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93" name="Google Shape;893;p72"/>
          <p:cNvSpPr txBox="1"/>
          <p:nvPr/>
        </p:nvSpPr>
        <p:spPr>
          <a:xfrm>
            <a:off x="838200" y="4191000"/>
            <a:ext cx="914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B</a:t>
            </a: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/12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72"/>
          <p:cNvSpPr txBox="1"/>
          <p:nvPr/>
        </p:nvSpPr>
        <p:spPr>
          <a:xfrm>
            <a:off x="2667000" y="2743200"/>
            <a:ext cx="914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D</a:t>
            </a: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/13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5" name="Google Shape;895;p72"/>
          <p:cNvCxnSpPr/>
          <p:nvPr/>
        </p:nvCxnSpPr>
        <p:spPr>
          <a:xfrm flipH="1">
            <a:off x="2895600" y="3048000"/>
            <a:ext cx="76200" cy="38100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96" name="Google Shape;896;p72"/>
          <p:cNvSpPr txBox="1"/>
          <p:nvPr/>
        </p:nvSpPr>
        <p:spPr>
          <a:xfrm>
            <a:off x="3124200" y="4038600"/>
            <a:ext cx="914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E</a:t>
            </a: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/21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7" name="Google Shape;897;p72"/>
          <p:cNvCxnSpPr/>
          <p:nvPr/>
        </p:nvCxnSpPr>
        <p:spPr>
          <a:xfrm rot="10800000">
            <a:off x="3429000" y="3581400"/>
            <a:ext cx="152400" cy="45720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98" name="Google Shape;898;p72"/>
          <p:cNvSpPr txBox="1"/>
          <p:nvPr/>
        </p:nvSpPr>
        <p:spPr>
          <a:xfrm>
            <a:off x="4191000" y="2590800"/>
            <a:ext cx="914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F</a:t>
            </a: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/22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9" name="Google Shape;899;p72"/>
          <p:cNvCxnSpPr/>
          <p:nvPr/>
        </p:nvCxnSpPr>
        <p:spPr>
          <a:xfrm>
            <a:off x="4572000" y="2895600"/>
            <a:ext cx="76200" cy="38100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00" name="Google Shape;900;p72"/>
          <p:cNvSpPr txBox="1"/>
          <p:nvPr/>
        </p:nvSpPr>
        <p:spPr>
          <a:xfrm>
            <a:off x="5334000" y="3352800"/>
            <a:ext cx="914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G</a:t>
            </a: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/31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1" name="Google Shape;901;p72"/>
          <p:cNvCxnSpPr/>
          <p:nvPr/>
        </p:nvCxnSpPr>
        <p:spPr>
          <a:xfrm rot="10800000">
            <a:off x="4800600" y="3581400"/>
            <a:ext cx="609600" cy="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02" name="Google Shape;902;p72"/>
          <p:cNvSpPr txBox="1"/>
          <p:nvPr/>
        </p:nvSpPr>
        <p:spPr>
          <a:xfrm>
            <a:off x="4800600" y="4267200"/>
            <a:ext cx="914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H</a:t>
            </a: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/32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3" name="Google Shape;903;p72"/>
          <p:cNvCxnSpPr/>
          <p:nvPr/>
        </p:nvCxnSpPr>
        <p:spPr>
          <a:xfrm flipH="1">
            <a:off x="4419600" y="4495800"/>
            <a:ext cx="381000" cy="22860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04" name="Google Shape;904;p72"/>
          <p:cNvSpPr txBox="1"/>
          <p:nvPr/>
        </p:nvSpPr>
        <p:spPr>
          <a:xfrm>
            <a:off x="6781800" y="5867400"/>
            <a:ext cx="914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M</a:t>
            </a: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/42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72"/>
          <p:cNvSpPr txBox="1"/>
          <p:nvPr/>
        </p:nvSpPr>
        <p:spPr>
          <a:xfrm>
            <a:off x="6858000" y="1219200"/>
            <a:ext cx="22860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Assume: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IP Addresses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Capital Alphabets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MAC Addresses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Numbers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Port Numbers-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Small Alphabets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72"/>
          <p:cNvSpPr txBox="1"/>
          <p:nvPr/>
        </p:nvSpPr>
        <p:spPr>
          <a:xfrm>
            <a:off x="4495800" y="5318125"/>
            <a:ext cx="9144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000"/>
              <a:buFont typeface="Tahoma"/>
              <a:buNone/>
            </a:pPr>
            <a:r>
              <a:rPr b="1" i="0" lang="en-US" sz="20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b="1" i="0" lang="en-US" sz="20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/41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7" name="Google Shape;907;p72"/>
          <p:cNvCxnSpPr/>
          <p:nvPr/>
        </p:nvCxnSpPr>
        <p:spPr>
          <a:xfrm rot="10800000">
            <a:off x="4572000" y="4953000"/>
            <a:ext cx="152400" cy="45720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08" name="Google Shape;908;p72"/>
          <p:cNvSpPr txBox="1"/>
          <p:nvPr/>
        </p:nvSpPr>
        <p:spPr>
          <a:xfrm>
            <a:off x="2057400" y="5943600"/>
            <a:ext cx="838200" cy="533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Email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72"/>
          <p:cNvSpPr txBox="1"/>
          <p:nvPr/>
        </p:nvSpPr>
        <p:spPr>
          <a:xfrm>
            <a:off x="2819400" y="5943600"/>
            <a:ext cx="685800" cy="533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0" name="Google Shape;910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143000"/>
            <a:ext cx="4619625" cy="693737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72"/>
          <p:cNvSpPr txBox="1"/>
          <p:nvPr/>
        </p:nvSpPr>
        <p:spPr>
          <a:xfrm>
            <a:off x="6781800" y="5181600"/>
            <a:ext cx="533400" cy="533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Tahoma"/>
              <a:buNone/>
            </a:pPr>
            <a:r>
              <a:rPr b="1" i="0" lang="en-US" sz="14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Email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72"/>
          <p:cNvSpPr txBox="1"/>
          <p:nvPr/>
        </p:nvSpPr>
        <p:spPr>
          <a:xfrm>
            <a:off x="2970212" y="1271587"/>
            <a:ext cx="32226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72"/>
          <p:cNvSpPr txBox="1"/>
          <p:nvPr/>
        </p:nvSpPr>
        <p:spPr>
          <a:xfrm>
            <a:off x="3352800" y="1219200"/>
            <a:ext cx="32067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72"/>
          <p:cNvSpPr txBox="1"/>
          <p:nvPr/>
        </p:nvSpPr>
        <p:spPr>
          <a:xfrm>
            <a:off x="2438400" y="1219200"/>
            <a:ext cx="3413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72"/>
          <p:cNvSpPr txBox="1"/>
          <p:nvPr/>
        </p:nvSpPr>
        <p:spPr>
          <a:xfrm>
            <a:off x="1981200" y="1219200"/>
            <a:ext cx="38893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72"/>
          <p:cNvSpPr txBox="1"/>
          <p:nvPr/>
        </p:nvSpPr>
        <p:spPr>
          <a:xfrm>
            <a:off x="1295400" y="1295400"/>
            <a:ext cx="476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72"/>
          <p:cNvSpPr txBox="1"/>
          <p:nvPr/>
        </p:nvSpPr>
        <p:spPr>
          <a:xfrm>
            <a:off x="742950" y="1233487"/>
            <a:ext cx="4762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rgbClr val="008000"/>
                </a:solidFill>
                <a:latin typeface="Tahoma"/>
                <a:ea typeface="Tahoma"/>
                <a:cs typeface="Tahoma"/>
                <a:sym typeface="Tahoma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72"/>
          <p:cNvSpPr txBox="1"/>
          <p:nvPr/>
        </p:nvSpPr>
        <p:spPr>
          <a:xfrm>
            <a:off x="838200" y="1905000"/>
            <a:ext cx="4495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i="0" lang="en-US" sz="2000" u="none" cap="none" strike="noStrike">
                <a:solidFill>
                  <a:srgbClr val="660066"/>
                </a:solidFill>
                <a:latin typeface="Tahoma"/>
                <a:ea typeface="Tahoma"/>
                <a:cs typeface="Tahoma"/>
                <a:sym typeface="Tahoma"/>
              </a:rPr>
              <a:t>D   S     D     S     D  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73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73"/>
          <p:cNvSpPr txBox="1"/>
          <p:nvPr/>
        </p:nvSpPr>
        <p:spPr>
          <a:xfrm>
            <a:off x="685800" y="269875"/>
            <a:ext cx="518160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Addressing Review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5" name="Google Shape;925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066800"/>
            <a:ext cx="5486400" cy="4113212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73"/>
          <p:cNvSpPr txBox="1"/>
          <p:nvPr/>
        </p:nvSpPr>
        <p:spPr>
          <a:xfrm>
            <a:off x="609600" y="5410200"/>
            <a:ext cx="8077200" cy="137318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ahoma"/>
              <a:buNone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Although </a:t>
            </a:r>
            <a:r>
              <a:rPr b="0" i="0" lang="en-US" sz="2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physical addresses</a:t>
            </a:r>
            <a:r>
              <a:rPr b="0" i="0" lang="en-US" sz="2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 change from hop to hop,</a:t>
            </a:r>
            <a:r>
              <a:rPr b="0" i="0" lang="en-US" sz="2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 logical</a:t>
            </a:r>
            <a:r>
              <a:rPr b="0" i="0" lang="en-US" sz="2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 and </a:t>
            </a:r>
            <a:r>
              <a:rPr b="0" i="0" lang="en-US" sz="2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port addresses</a:t>
            </a:r>
            <a:r>
              <a:rPr b="0" i="0" lang="en-US" sz="2800" u="none" cap="none" strike="noStrike">
                <a:solidFill>
                  <a:schemeClr val="accent2"/>
                </a:solidFill>
                <a:latin typeface="Tahoma"/>
                <a:ea typeface="Tahoma"/>
                <a:cs typeface="Tahoma"/>
                <a:sym typeface="Tahoma"/>
              </a:rPr>
              <a:t> remain the same from the source to destination.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74"/>
          <p:cNvSpPr txBox="1"/>
          <p:nvPr/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2.#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74"/>
          <p:cNvSpPr txBox="1"/>
          <p:nvPr/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74"/>
          <p:cNvSpPr txBox="1"/>
          <p:nvPr>
            <p:ph type="ctrTitle"/>
          </p:nvPr>
        </p:nvSpPr>
        <p:spPr>
          <a:xfrm>
            <a:off x="990600" y="1676400"/>
            <a:ext cx="7772400" cy="14620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Tahoma"/>
              <a:buNone/>
            </a:pPr>
            <a:r>
              <a:rPr b="0" i="0" lang="en-US" sz="48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END</a:t>
            </a:r>
            <a:endParaRPr/>
          </a:p>
        </p:txBody>
      </p:sp>
      <p:sp>
        <p:nvSpPr>
          <p:cNvPr id="934" name="Google Shape;934;p7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