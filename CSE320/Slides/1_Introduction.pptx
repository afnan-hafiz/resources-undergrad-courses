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y="6858000" cx="9144000"/>
  <p:notesSz cx="6858000" cy="9144000"/>
  <p:embeddedFontLst>
    <p:embeddedFont>
      <p:font typeface="Tahoma"/>
      <p:regular r:id="rId61"/>
      <p:bold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:go="http://customooxmlschemas.google.com/" r:id="rId63" roundtripDataSignature="AMtx7miCF4J83iWWX8gkA/NV6+7AwKDt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B74CB3A-5A37-4D92-9C43-4CF410004530}">
  <a:tblStyle styleId="{9B74CB3A-5A37-4D92-9C43-4CF41000453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Tahoma-bold.fntdata"/><Relationship Id="rId61" Type="http://schemas.openxmlformats.org/officeDocument/2006/relationships/font" Target="fonts/Tahoma-regular.fntdata"/><Relationship Id="rId20" Type="http://schemas.openxmlformats.org/officeDocument/2006/relationships/slide" Target="slides/slide14.xml"/><Relationship Id="rId63" Type="http://customschemas.google.com/relationships/presentationmetadata" Target="meta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" name="Google Shape;7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" name="Google Shape;78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" name="Google Shape;85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1.#</a:t>
            </a:r>
            <a:endParaRPr/>
          </a:p>
        </p:txBody>
      </p:sp>
      <p:sp>
        <p:nvSpPr>
          <p:cNvPr id="165" name="Google Shape;165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7" name="Google Shape;267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0e1170d4d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g30e1170d4d9_1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9" name="Google Shape;289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7" name="Google Shape;297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0" name="Google Shape;310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0e999d4e2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g30e999d4e21_0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0e999d4e21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4" name="Google Shape;334;g30e999d4e21_0_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0e999d4e2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2" name="Google Shape;342;g30e999d4e21_0_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8" name="Google Shape;358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5" name="Google Shape;365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3" name="Google Shape;373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0e999d4e21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7" name="Google Shape;387;g30e999d4e21_0_1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4" name="Google Shape;394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2" name="Google Shape;402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9" name="Google Shape;409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6" name="Google Shape;416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4" name="Google Shape;424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0e999d4e21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2" name="Google Shape;432;g30e999d4e21_0_1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308051c2c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9" name="Google Shape;439;g3308051c2c3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6" name="Google Shape;446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4" name="Google Shape;454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3" name="Google Shape;463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0" name="Google Shape;470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8" name="Google Shape;478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7" name="Google Shape;487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5" name="Google Shape;495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4" name="Google Shape;504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2" name="Google Shape;512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8bce31cf49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20" name="Google Shape;520;g8bce31cf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1" name="Google Shape;521;g8bce31cf49_0_0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8bb42a4771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28" name="Google Shape;528;g8bb42a477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9" name="Google Shape;529;g8bb42a4771_0_0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8bb42a4771_0_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34" name="Google Shape;534;g8bb42a4771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5" name="Google Shape;535;g8bb42a4771_0_56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8bb42a4771_0_51"/>
          <p:cNvSpPr txBox="1"/>
          <p:nvPr>
            <p:ph type="title"/>
          </p:nvPr>
        </p:nvSpPr>
        <p:spPr>
          <a:xfrm>
            <a:off x="838200" y="381000"/>
            <a:ext cx="77931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8bb42a4771_0_51"/>
          <p:cNvSpPr txBox="1"/>
          <p:nvPr>
            <p:ph idx="1" type="body"/>
          </p:nvPr>
        </p:nvSpPr>
        <p:spPr>
          <a:xfrm>
            <a:off x="381000" y="1524000"/>
            <a:ext cx="8382000" cy="46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16" name="Google Shape;16;g8bb42a4771_0_51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8bb42a4771_0_4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8bb42a4771_0_2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g8bb42a4771_0_2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8bb42a4771_0_10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4" name="Google Shape;24;g8bb42a4771_0_10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5" name="Google Shape;25;g8bb42a4771_0_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8bb42a4771_0_14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" name="Google Shape;28;g8bb42a4771_0_1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8bb42a4771_0_1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g8bb42a4771_0_1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" name="Google Shape;32;g8bb42a4771_0_1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8bb42a4771_0_2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g8bb42a4771_0_21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g8bb42a4771_0_21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g8bb42a4771_0_2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8bb42a4771_0_29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g8bb42a4771_0_29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g8bb42a4771_0_2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8bb42a4771_0_33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4" name="Google Shape;44;g8bb42a4771_0_3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8bb42a4771_0_36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g8bb42a4771_0_36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8" name="Google Shape;48;g8bb42a4771_0_36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g8bb42a4771_0_36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g8bb42a4771_0_3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8bb42a4771_0_42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3" name="Google Shape;53;g8bb42a4771_0_4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8bb42a4771_0_45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6" name="Google Shape;56;g8bb42a4771_0_45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g8bb42a4771_0_4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8bb42a4771_0_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g8bb42a4771_0_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g8bb42a4771_0_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0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6.png"/><Relationship Id="rId9" Type="http://schemas.openxmlformats.org/officeDocument/2006/relationships/image" Target="../media/image1.png"/><Relationship Id="rId5" Type="http://schemas.openxmlformats.org/officeDocument/2006/relationships/image" Target="../media/image13.png"/><Relationship Id="rId6" Type="http://schemas.openxmlformats.org/officeDocument/2006/relationships/image" Target="../media/image2.png"/><Relationship Id="rId7" Type="http://schemas.openxmlformats.org/officeDocument/2006/relationships/image" Target="../media/image7.png"/><Relationship Id="rId8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0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6.png"/><Relationship Id="rId9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12.png"/><Relationship Id="rId7" Type="http://schemas.openxmlformats.org/officeDocument/2006/relationships/image" Target="../media/image5.png"/><Relationship Id="rId8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5.jpg"/><Relationship Id="rId4" Type="http://schemas.openxmlformats.org/officeDocument/2006/relationships/image" Target="../media/image32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://www.google.ca/imgres?um=1&amp;hl=en&amp;safe=off&amp;tbo=d&amp;biw=943&amp;bih=434&amp;tbs=isz:l&amp;tbm=isch&amp;tbnid=h1UoOIYFLIcE7M:&amp;imgrefurl=http://www.alibaba.com/product-gs/405309906/STP_Cat6_Cable_500HMZ_4X2X0_57.html&amp;docid=Lu4rdAD7UVFVMM&amp;itg=1&amp;imgurl=http://i01.i.aliimg.com/img/pb/501/067/326/326067501_456.jpg&amp;w=1200&amp;h=1468&amp;ei=8DW3UKqRGaS72QXg94HYBQ&amp;zoom=1&amp;iact=hc&amp;vpx=498&amp;vpy=21&amp;dur=2300&amp;hovh=248&amp;hovw=203&amp;tx=135&amp;ty=145&amp;sig=115649224497106908752&amp;page=2&amp;tbnh=143&amp;tbnw=126&amp;start=13&amp;ndsp=20&amp;ved=1t:429,r:17,s:0,i:134" TargetMode="External"/><Relationship Id="rId4" Type="http://schemas.openxmlformats.org/officeDocument/2006/relationships/image" Target="../media/image31.jpg"/><Relationship Id="rId5" Type="http://schemas.openxmlformats.org/officeDocument/2006/relationships/image" Target="../media/image44.png"/><Relationship Id="rId6" Type="http://schemas.openxmlformats.org/officeDocument/2006/relationships/image" Target="../media/image28.png"/><Relationship Id="rId7" Type="http://schemas.openxmlformats.org/officeDocument/2006/relationships/image" Target="../media/image5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7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7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0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5.png"/><Relationship Id="rId4" Type="http://schemas.openxmlformats.org/officeDocument/2006/relationships/image" Target="../media/image4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6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0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2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/>
          <p:nvPr>
            <p:ph type="title"/>
          </p:nvPr>
        </p:nvSpPr>
        <p:spPr>
          <a:xfrm>
            <a:off x="838200" y="381000"/>
            <a:ext cx="77930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Data Communication</a:t>
            </a:r>
            <a:endParaRPr/>
          </a:p>
        </p:txBody>
      </p:sp>
      <p:sp>
        <p:nvSpPr>
          <p:cNvPr id="63" name="Google Shape;63;p2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/>
          <p:cNvSpPr txBox="1"/>
          <p:nvPr/>
        </p:nvSpPr>
        <p:spPr>
          <a:xfrm>
            <a:off x="685800" y="1752600"/>
            <a:ext cx="7848600" cy="1570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ahoma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 Communication is the exchange of information from one entity to the other using a Transmission Medium.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" name="Google Shape;65;p2"/>
          <p:cNvCxnSpPr/>
          <p:nvPr/>
        </p:nvCxnSpPr>
        <p:spPr>
          <a:xfrm>
            <a:off x="6400800" y="2286000"/>
            <a:ext cx="21336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4901"/>
              </a:srgbClr>
            </a:outerShdw>
          </a:effectLst>
        </p:spPr>
      </p:cxnSp>
      <p:cxnSp>
        <p:nvCxnSpPr>
          <p:cNvPr id="66" name="Google Shape;66;p2"/>
          <p:cNvCxnSpPr/>
          <p:nvPr/>
        </p:nvCxnSpPr>
        <p:spPr>
          <a:xfrm>
            <a:off x="685800" y="2743200"/>
            <a:ext cx="30480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4901"/>
              </a:srgbClr>
            </a:outerShdw>
          </a:effectLst>
        </p:spPr>
      </p:cxnSp>
      <p:cxnSp>
        <p:nvCxnSpPr>
          <p:cNvPr id="67" name="Google Shape;67;p2"/>
          <p:cNvCxnSpPr/>
          <p:nvPr/>
        </p:nvCxnSpPr>
        <p:spPr>
          <a:xfrm>
            <a:off x="5867400" y="2743200"/>
            <a:ext cx="11430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4901"/>
              </a:srgbClr>
            </a:outerShdw>
          </a:effectLst>
        </p:spPr>
      </p:cxnSp>
      <p:cxnSp>
        <p:nvCxnSpPr>
          <p:cNvPr id="68" name="Google Shape;68;p2"/>
          <p:cNvCxnSpPr/>
          <p:nvPr/>
        </p:nvCxnSpPr>
        <p:spPr>
          <a:xfrm>
            <a:off x="3733800" y="3322637"/>
            <a:ext cx="4343400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4901"/>
              </a:srgbClr>
            </a:outerShdw>
          </a:effectLst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"/>
          <p:cNvSpPr txBox="1"/>
          <p:nvPr>
            <p:ph type="title"/>
          </p:nvPr>
        </p:nvSpPr>
        <p:spPr>
          <a:xfrm>
            <a:off x="838200" y="381000"/>
            <a:ext cx="77930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Data Communication</a:t>
            </a:r>
            <a:endParaRPr/>
          </a:p>
        </p:txBody>
      </p:sp>
      <p:sp>
        <p:nvSpPr>
          <p:cNvPr id="74" name="Google Shape;74;p3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 txBox="1"/>
          <p:nvPr/>
        </p:nvSpPr>
        <p:spPr>
          <a:xfrm>
            <a:off x="609600" y="1676400"/>
            <a:ext cx="8001000" cy="2862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1883: Samuel Morse &amp; Alfred Veil invent Morse Code Telegraph System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1876: Alexander Graham Bell invented Telephone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1930: Development of ASCII Transmission 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1950: IBM releases its first computer IBM 710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1960: IBM releases the First Commercial Computer IBM 360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 txBox="1"/>
          <p:nvPr>
            <p:ph type="title"/>
          </p:nvPr>
        </p:nvSpPr>
        <p:spPr>
          <a:xfrm>
            <a:off x="838200" y="457200"/>
            <a:ext cx="7793037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Data Communication Definition (Modified)</a:t>
            </a:r>
            <a:endParaRPr/>
          </a:p>
        </p:txBody>
      </p:sp>
      <p:sp>
        <p:nvSpPr>
          <p:cNvPr id="81" name="Google Shape;81;p4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"/>
          <p:cNvSpPr txBox="1"/>
          <p:nvPr/>
        </p:nvSpPr>
        <p:spPr>
          <a:xfrm>
            <a:off x="609600" y="1676400"/>
            <a:ext cx="8001000" cy="2554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ahoma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 Communication is the exchange of data (in the form of 0’s and 1’s) between two devices (computers) via some form of the transmission medium.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1.</a:t>
            </a: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CC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9" name="Google Shape;89;p5"/>
          <p:cNvSpPr txBox="1"/>
          <p:nvPr/>
        </p:nvSpPr>
        <p:spPr>
          <a:xfrm>
            <a:off x="228600" y="195262"/>
            <a:ext cx="600551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DATA COMMUNICATIONs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8229600" y="6400800"/>
            <a:ext cx="184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76200" y="990600"/>
            <a:ext cx="8610600" cy="26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term </a:t>
            </a:r>
            <a:r>
              <a:rPr b="1" i="1" lang="en-US" sz="2800" u="none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telecommunication</a:t>
            </a:r>
            <a:r>
              <a:rPr b="1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means communication at a distance. The word </a:t>
            </a:r>
            <a:r>
              <a:rPr b="1" i="1" lang="en-US" sz="2800" u="none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</a:t>
            </a:r>
            <a:r>
              <a:rPr b="1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refers to information presented in whatever form is agreed upon by the parties creating and using the data. </a:t>
            </a:r>
            <a:r>
              <a:rPr b="1" i="1" lang="en-US" sz="2800" u="none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communications</a:t>
            </a:r>
            <a:r>
              <a:rPr b="1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the exchange of data between two devices via some form of transmission medium such as a wire cable.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/>
          <p:cNvSpPr txBox="1"/>
          <p:nvPr>
            <p:ph type="title"/>
          </p:nvPr>
        </p:nvSpPr>
        <p:spPr>
          <a:xfrm>
            <a:off x="655637" y="300037"/>
            <a:ext cx="81454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Elements of Communication</a:t>
            </a:r>
            <a:endParaRPr/>
          </a:p>
        </p:txBody>
      </p:sp>
      <p:pic>
        <p:nvPicPr>
          <p:cNvPr id="97" name="Google Shape;9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2209800"/>
            <a:ext cx="3705225" cy="316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0600" y="2590800"/>
            <a:ext cx="3571875" cy="2459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400" y="1828800"/>
            <a:ext cx="1303337" cy="3462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9200" y="2908300"/>
            <a:ext cx="533400" cy="36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86400" y="3276600"/>
            <a:ext cx="457200" cy="369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91400" y="4203700"/>
            <a:ext cx="533400" cy="36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057400" y="2819400"/>
            <a:ext cx="1219200" cy="414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124200" y="1905000"/>
            <a:ext cx="1341437" cy="3719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971800" y="1828800"/>
            <a:ext cx="1425575" cy="375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6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"/>
          <p:cNvSpPr txBox="1"/>
          <p:nvPr>
            <p:ph type="title"/>
          </p:nvPr>
        </p:nvSpPr>
        <p:spPr>
          <a:xfrm>
            <a:off x="655637" y="300037"/>
            <a:ext cx="81454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Elements of Communication</a:t>
            </a:r>
            <a:endParaRPr/>
          </a:p>
        </p:txBody>
      </p:sp>
      <p:sp>
        <p:nvSpPr>
          <p:cNvPr id="112" name="Google Shape;112;p7"/>
          <p:cNvSpPr txBox="1"/>
          <p:nvPr>
            <p:ph idx="1" type="body"/>
          </p:nvPr>
        </p:nvSpPr>
        <p:spPr>
          <a:xfrm>
            <a:off x="381000" y="5638800"/>
            <a:ext cx="8382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are the elements?</a:t>
            </a:r>
            <a:endParaRPr/>
          </a:p>
        </p:txBody>
      </p:sp>
      <p:pic>
        <p:nvPicPr>
          <p:cNvPr id="113" name="Google Shape;11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2209800"/>
            <a:ext cx="3705225" cy="316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0600" y="2590800"/>
            <a:ext cx="3571875" cy="2459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6800" y="5105400"/>
            <a:ext cx="990600" cy="534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76400" y="1524000"/>
            <a:ext cx="1371600" cy="82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24200" y="5181600"/>
            <a:ext cx="1133475" cy="395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24400" y="3733800"/>
            <a:ext cx="990600" cy="534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34200" y="4953000"/>
            <a:ext cx="1133475" cy="395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72200" y="2819400"/>
            <a:ext cx="1371600" cy="82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04800" y="2514600"/>
            <a:ext cx="1219200" cy="411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4114800"/>
            <a:ext cx="1219200" cy="411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172200" y="3657600"/>
            <a:ext cx="457200" cy="369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81000" y="1828800"/>
            <a:ext cx="876300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7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1.</a:t>
            </a: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" name="Google Shape;131;p9"/>
          <p:cNvCxnSpPr/>
          <p:nvPr/>
        </p:nvCxnSpPr>
        <p:spPr>
          <a:xfrm>
            <a:off x="152400" y="152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2" name="Google Shape;132;p9"/>
          <p:cNvCxnSpPr/>
          <p:nvPr/>
        </p:nvCxnSpPr>
        <p:spPr>
          <a:xfrm>
            <a:off x="152400" y="990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3" name="Google Shape;133;p9"/>
          <p:cNvSpPr txBox="1"/>
          <p:nvPr/>
        </p:nvSpPr>
        <p:spPr>
          <a:xfrm>
            <a:off x="304800" y="381000"/>
            <a:ext cx="54895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Five elements/components of data communication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4" name="Google Shape;134;p9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35" name="Google Shape;13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2637" y="2593975"/>
            <a:ext cx="7065962" cy="182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 txBox="1"/>
          <p:nvPr>
            <p:ph idx="1" type="body"/>
          </p:nvPr>
        </p:nvSpPr>
        <p:spPr>
          <a:xfrm>
            <a:off x="457200" y="1600200"/>
            <a:ext cx="81534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97790" lvl="1" marL="574675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540"/>
              <a:buChar char="•"/>
            </a:pPr>
            <a:r>
              <a:rPr b="1" i="0" lang="en-US" sz="28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Devices (Sender/Receiver) </a:t>
            </a:r>
            <a:endParaRPr/>
          </a:p>
          <a:p>
            <a:pPr indent="-76200" lvl="2" marL="9144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These are used to communicate with one another</a:t>
            </a:r>
            <a:endParaRPr/>
          </a:p>
          <a:p>
            <a:pPr indent="0" lvl="1" marL="574675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None/>
            </a:pPr>
            <a:r>
              <a:t/>
            </a:r>
            <a:endParaRPr b="1" i="0" sz="2800" u="none">
              <a:solidFill>
                <a:schemeClr val="folHlink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97790" lvl="1" marL="574675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Char char="•"/>
            </a:pPr>
            <a:r>
              <a:rPr b="1" i="0" lang="en-US" sz="28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Medium</a:t>
            </a:r>
            <a:endParaRPr/>
          </a:p>
          <a:p>
            <a:pPr indent="-76200" lvl="2" marL="9144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This is how the devices are connected together</a:t>
            </a:r>
            <a:endParaRPr/>
          </a:p>
          <a:p>
            <a:pPr indent="0" lvl="1" marL="574675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None/>
            </a:pPr>
            <a:r>
              <a:t/>
            </a:r>
            <a:endParaRPr b="1" i="0" sz="2800" u="none">
              <a:solidFill>
                <a:schemeClr val="folHlink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97790" lvl="1" marL="574675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Char char="•"/>
            </a:pPr>
            <a:r>
              <a:rPr b="1" i="0" lang="en-US" sz="28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Messages</a:t>
            </a:r>
            <a:endParaRPr/>
          </a:p>
          <a:p>
            <a:pPr indent="-76200" lvl="2" marL="9144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Information that travels over the medium</a:t>
            </a:r>
            <a:endParaRPr/>
          </a:p>
          <a:p>
            <a:pPr indent="0" lvl="1" marL="574675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None/>
            </a:pPr>
            <a:r>
              <a:t/>
            </a:r>
            <a:endParaRPr b="1" i="0" sz="2800" u="none">
              <a:solidFill>
                <a:schemeClr val="folHlink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97790" lvl="1" marL="574675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Char char="•"/>
            </a:pPr>
            <a:r>
              <a:rPr b="1" i="0" lang="en-US" sz="2800" u="none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Rules/Protocols</a:t>
            </a:r>
            <a:endParaRPr/>
          </a:p>
          <a:p>
            <a:pPr indent="-76200" lvl="2" marL="91440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Governs how messages flow across network</a:t>
            </a:r>
            <a:endParaRPr/>
          </a:p>
        </p:txBody>
      </p:sp>
      <p:sp>
        <p:nvSpPr>
          <p:cNvPr id="141" name="Google Shape;141;p8"/>
          <p:cNvSpPr txBox="1"/>
          <p:nvPr/>
        </p:nvSpPr>
        <p:spPr>
          <a:xfrm>
            <a:off x="655637" y="300037"/>
            <a:ext cx="81454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Elements of Communication over Networks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8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1.</a:t>
            </a: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" name="Google Shape;148;p10"/>
          <p:cNvCxnSpPr/>
          <p:nvPr/>
        </p:nvCxnSpPr>
        <p:spPr>
          <a:xfrm>
            <a:off x="152400" y="152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9" name="Google Shape;149;p10"/>
          <p:cNvCxnSpPr/>
          <p:nvPr/>
        </p:nvCxnSpPr>
        <p:spPr>
          <a:xfrm>
            <a:off x="152400" y="990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0" name="Google Shape;150;p10"/>
          <p:cNvSpPr txBox="1"/>
          <p:nvPr/>
        </p:nvSpPr>
        <p:spPr>
          <a:xfrm>
            <a:off x="448850" y="381000"/>
            <a:ext cx="821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Transmission Mode / Data flow (simplex, half-duplex, and full-duplex)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" name="Google Shape;151;p10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52" name="Google Shape;15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3487" y="1200151"/>
            <a:ext cx="6489700" cy="492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1.</a:t>
            </a: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" name="Google Shape;158;p17"/>
          <p:cNvCxnSpPr/>
          <p:nvPr/>
        </p:nvCxnSpPr>
        <p:spPr>
          <a:xfrm>
            <a:off x="152400" y="2286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9" name="Google Shape;159;p17"/>
          <p:cNvCxnSpPr/>
          <p:nvPr/>
        </p:nvCxnSpPr>
        <p:spPr>
          <a:xfrm>
            <a:off x="152400" y="10668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0" name="Google Shape;160;p17"/>
          <p:cNvSpPr txBox="1"/>
          <p:nvPr/>
        </p:nvSpPr>
        <p:spPr>
          <a:xfrm>
            <a:off x="304800" y="457200"/>
            <a:ext cx="7042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1.3  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connections: point-to-point and multipoint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1" name="Google Shape;161;p17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62" name="Google Shape;16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0762" y="1717675"/>
            <a:ext cx="6827837" cy="399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"/>
          <p:cNvSpPr/>
          <p:nvPr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rgbClr val="33CC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11"/>
          <p:cNvSpPr txBox="1"/>
          <p:nvPr/>
        </p:nvSpPr>
        <p:spPr>
          <a:xfrm>
            <a:off x="228600" y="152400"/>
            <a:ext cx="283923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r>
              <a:rPr b="0" i="0" lang="en-US" sz="3600" u="none" cap="none" strike="noStrik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NETWORKS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1"/>
          <p:cNvSpPr txBox="1"/>
          <p:nvPr/>
        </p:nvSpPr>
        <p:spPr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228600" y="1468436"/>
            <a:ext cx="8610600" cy="2227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b="0" i="1" lang="en-US" sz="2800" u="none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set of devices (often referred to as </a:t>
            </a:r>
            <a:r>
              <a:rPr b="0" i="1" lang="en-US" sz="2800" u="none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nodes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connected by communication </a:t>
            </a:r>
            <a:r>
              <a:rPr b="0" i="1" lang="en-US" sz="2800" u="none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links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 node can be a computer, printer, or any other device capable of sending and/or receiving data generated by other nodes on the network.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228600" y="4514850"/>
            <a:ext cx="6477000" cy="15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8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Distributed Processing</a:t>
            </a:r>
            <a:br>
              <a:rPr b="0" i="0" lang="en-US" sz="24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Physical Structures</a:t>
            </a:r>
            <a:br>
              <a:rPr b="0" i="0" lang="en-US" sz="24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Categories of Networks</a:t>
            </a:r>
            <a:br>
              <a:rPr b="0" i="0" lang="en-US" sz="24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Interconnection of Networks: Internetwork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1"/>
          <p:cNvSpPr txBox="1"/>
          <p:nvPr/>
        </p:nvSpPr>
        <p:spPr>
          <a:xfrm>
            <a:off x="241300" y="3810000"/>
            <a:ext cx="4862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Topics discussed in this section: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"/>
          <p:cNvSpPr txBox="1"/>
          <p:nvPr>
            <p:ph type="title"/>
          </p:nvPr>
        </p:nvSpPr>
        <p:spPr>
          <a:xfrm>
            <a:off x="348999" y="381000"/>
            <a:ext cx="82821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Networks supporting the way we learn.</a:t>
            </a:r>
            <a:endParaRPr/>
          </a:p>
        </p:txBody>
      </p:sp>
      <p:pic>
        <p:nvPicPr>
          <p:cNvPr id="179" name="Google Shape;17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00212"/>
            <a:ext cx="8763000" cy="4378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2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"/>
          <p:cNvSpPr txBox="1"/>
          <p:nvPr>
            <p:ph idx="1" type="body"/>
          </p:nvPr>
        </p:nvSpPr>
        <p:spPr>
          <a:xfrm>
            <a:off x="381000" y="1524000"/>
            <a:ext cx="8382000" cy="460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098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86" name="Google Shape;18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1524000"/>
            <a:ext cx="8001000" cy="459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4"/>
          <p:cNvSpPr txBox="1"/>
          <p:nvPr/>
        </p:nvSpPr>
        <p:spPr>
          <a:xfrm>
            <a:off x="533399" y="381000"/>
            <a:ext cx="82503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Networks supporting the way we work.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4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5"/>
          <p:cNvSpPr txBox="1"/>
          <p:nvPr>
            <p:ph type="title"/>
          </p:nvPr>
        </p:nvSpPr>
        <p:spPr>
          <a:xfrm>
            <a:off x="584600" y="381000"/>
            <a:ext cx="8046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Networks supporting the way we play.</a:t>
            </a:r>
            <a:endParaRPr/>
          </a:p>
        </p:txBody>
      </p:sp>
      <p:sp>
        <p:nvSpPr>
          <p:cNvPr id="194" name="Google Shape;194;p15"/>
          <p:cNvSpPr txBox="1"/>
          <p:nvPr>
            <p:ph idx="1" type="body"/>
          </p:nvPr>
        </p:nvSpPr>
        <p:spPr>
          <a:xfrm>
            <a:off x="381000" y="1524000"/>
            <a:ext cx="8382000" cy="460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098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95" name="Google Shape;19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950" y="1447800"/>
            <a:ext cx="7588250" cy="473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5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6"/>
          <p:cNvSpPr txBox="1"/>
          <p:nvPr>
            <p:ph type="title"/>
          </p:nvPr>
        </p:nvSpPr>
        <p:spPr>
          <a:xfrm>
            <a:off x="838200" y="381000"/>
            <a:ext cx="77930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Networks- Purpose???</a:t>
            </a:r>
            <a:endParaRPr/>
          </a:p>
        </p:txBody>
      </p:sp>
      <p:sp>
        <p:nvSpPr>
          <p:cNvPr id="202" name="Google Shape;202;p16"/>
          <p:cNvSpPr txBox="1"/>
          <p:nvPr>
            <p:ph idx="1" type="body"/>
          </p:nvPr>
        </p:nvSpPr>
        <p:spPr>
          <a:xfrm>
            <a:off x="762000" y="5562600"/>
            <a:ext cx="8382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Communication.</a:t>
            </a:r>
            <a:endParaRPr/>
          </a:p>
        </p:txBody>
      </p:sp>
      <p:pic>
        <p:nvPicPr>
          <p:cNvPr id="203" name="Google Shape;20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1447800"/>
            <a:ext cx="5883275" cy="372427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6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1.</a:t>
            </a: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18"/>
          <p:cNvCxnSpPr/>
          <p:nvPr/>
        </p:nvCxnSpPr>
        <p:spPr>
          <a:xfrm>
            <a:off x="152400" y="152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1" name="Google Shape;211;p18"/>
          <p:cNvCxnSpPr/>
          <p:nvPr/>
        </p:nvCxnSpPr>
        <p:spPr>
          <a:xfrm>
            <a:off x="152400" y="990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2" name="Google Shape;212;p18"/>
          <p:cNvSpPr txBox="1"/>
          <p:nvPr/>
        </p:nvSpPr>
        <p:spPr>
          <a:xfrm>
            <a:off x="304800" y="381000"/>
            <a:ext cx="399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1.4  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Categories of topology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3" name="Google Shape;213;p18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14" name="Google Shape;21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4112" y="2317750"/>
            <a:ext cx="6389687" cy="217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9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1.</a:t>
            </a: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0" name="Google Shape;220;p19"/>
          <p:cNvCxnSpPr/>
          <p:nvPr/>
        </p:nvCxnSpPr>
        <p:spPr>
          <a:xfrm>
            <a:off x="152400" y="152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1" name="Google Shape;221;p19"/>
          <p:cNvCxnSpPr/>
          <p:nvPr/>
        </p:nvCxnSpPr>
        <p:spPr>
          <a:xfrm>
            <a:off x="152400" y="990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2" name="Google Shape;222;p19"/>
          <p:cNvSpPr txBox="1"/>
          <p:nvPr/>
        </p:nvSpPr>
        <p:spPr>
          <a:xfrm>
            <a:off x="304800" y="381000"/>
            <a:ext cx="795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1.5  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fully connected mesh topology (five devices)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3" name="Google Shape;223;p19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24" name="Google Shape;22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7225" y="1652587"/>
            <a:ext cx="4854575" cy="3605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0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1.</a:t>
            </a: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0" name="Google Shape;230;p20"/>
          <p:cNvCxnSpPr/>
          <p:nvPr/>
        </p:nvCxnSpPr>
        <p:spPr>
          <a:xfrm>
            <a:off x="152400" y="152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31" name="Google Shape;231;p20"/>
          <p:cNvCxnSpPr/>
          <p:nvPr/>
        </p:nvCxnSpPr>
        <p:spPr>
          <a:xfrm>
            <a:off x="152400" y="990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2" name="Google Shape;232;p20"/>
          <p:cNvSpPr txBox="1"/>
          <p:nvPr/>
        </p:nvSpPr>
        <p:spPr>
          <a:xfrm>
            <a:off x="304800" y="381000"/>
            <a:ext cx="823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1.6  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star topology connecting four stations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3" name="Google Shape;233;p20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34" name="Google Shape;23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2100" y="1881187"/>
            <a:ext cx="5905500" cy="3148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1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1.</a:t>
            </a: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0" name="Google Shape;240;p21"/>
          <p:cNvCxnSpPr/>
          <p:nvPr/>
        </p:nvCxnSpPr>
        <p:spPr>
          <a:xfrm>
            <a:off x="152400" y="2286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1" name="Google Shape;241;p21"/>
          <p:cNvCxnSpPr/>
          <p:nvPr/>
        </p:nvCxnSpPr>
        <p:spPr>
          <a:xfrm>
            <a:off x="152400" y="10668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2" name="Google Shape;242;p21"/>
          <p:cNvSpPr txBox="1"/>
          <p:nvPr/>
        </p:nvSpPr>
        <p:spPr>
          <a:xfrm>
            <a:off x="304800" y="457200"/>
            <a:ext cx="820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1.7  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bus topology connecting three stations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3" name="Google Shape;243;p21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44" name="Google Shape;24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9912" y="2362200"/>
            <a:ext cx="7888287" cy="1668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2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1.</a:t>
            </a: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0" name="Google Shape;250;p22"/>
          <p:cNvCxnSpPr/>
          <p:nvPr/>
        </p:nvCxnSpPr>
        <p:spPr>
          <a:xfrm>
            <a:off x="152400" y="2286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1" name="Google Shape;251;p22"/>
          <p:cNvCxnSpPr/>
          <p:nvPr/>
        </p:nvCxnSpPr>
        <p:spPr>
          <a:xfrm>
            <a:off x="152400" y="10668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2" name="Google Shape;252;p22"/>
          <p:cNvSpPr txBox="1"/>
          <p:nvPr/>
        </p:nvSpPr>
        <p:spPr>
          <a:xfrm>
            <a:off x="304800" y="457200"/>
            <a:ext cx="7311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1.8  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ring topology connecting six stations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3" name="Google Shape;253;p22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54" name="Google Shape;25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062" y="1922462"/>
            <a:ext cx="8593137" cy="3097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3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1.</a:t>
            </a: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0" name="Google Shape;260;p23"/>
          <p:cNvCxnSpPr/>
          <p:nvPr/>
        </p:nvCxnSpPr>
        <p:spPr>
          <a:xfrm>
            <a:off x="152400" y="152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1" name="Google Shape;261;p23"/>
          <p:cNvCxnSpPr/>
          <p:nvPr/>
        </p:nvCxnSpPr>
        <p:spPr>
          <a:xfrm>
            <a:off x="152400" y="990600"/>
            <a:ext cx="8763000" cy="0"/>
          </a:xfrm>
          <a:prstGeom prst="straightConnector1">
            <a:avLst/>
          </a:prstGeom>
          <a:noFill/>
          <a:ln cap="flat" cmpd="sng" w="1905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2" name="Google Shape;262;p23"/>
          <p:cNvSpPr txBox="1"/>
          <p:nvPr/>
        </p:nvSpPr>
        <p:spPr>
          <a:xfrm>
            <a:off x="304800" y="381000"/>
            <a:ext cx="864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1.9  </a:t>
            </a: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hybrid topology: a star backbone with three bus networks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3" name="Google Shape;263;p23"/>
          <p:cNvCxnSpPr/>
          <p:nvPr/>
        </p:nvCxnSpPr>
        <p:spPr>
          <a:xfrm>
            <a:off x="152400" y="6248400"/>
            <a:ext cx="8763000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64" name="Google Shape;26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6600" y="1490662"/>
            <a:ext cx="6883400" cy="4148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4"/>
          <p:cNvSpPr txBox="1"/>
          <p:nvPr/>
        </p:nvSpPr>
        <p:spPr>
          <a:xfrm>
            <a:off x="655637" y="300037"/>
            <a:ext cx="81454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Advantages/disadvantages of Topologies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4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1" name="Google Shape;271;p24"/>
          <p:cNvGraphicFramePr/>
          <p:nvPr/>
        </p:nvGraphicFramePr>
        <p:xfrm>
          <a:off x="655625" y="1841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{9B74CB3A-5A37-4D92-9C43-4CF410004530}</a:tableStyleId>
              </a:tblPr>
              <a:tblGrid>
                <a:gridCol w="1152750"/>
                <a:gridCol w="3059700"/>
                <a:gridCol w="3637525"/>
              </a:tblGrid>
              <a:tr h="534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Topology</a:t>
                      </a:r>
                      <a:endParaRPr b="1" sz="16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Advantages</a:t>
                      </a:r>
                      <a:endParaRPr b="1" sz="16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Disadvantages</a:t>
                      </a:r>
                      <a:endParaRPr b="1" sz="16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Mesh</a:t>
                      </a:r>
                      <a:endParaRPr b="1" sz="16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8761D"/>
                        </a:buClr>
                        <a:buSzPts val="1400"/>
                        <a:buFont typeface="Tahoma"/>
                        <a:buChar char="●"/>
                      </a:pPr>
                      <a:r>
                        <a:rPr lang="en-US" sz="1400" u="none" cap="none" strike="noStrike">
                          <a:solidFill>
                            <a:srgbClr val="38761D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Fast, no traffic problem</a:t>
                      </a:r>
                      <a:endParaRPr sz="1400" u="none" cap="none" strike="noStrike">
                        <a:solidFill>
                          <a:srgbClr val="38761D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8761D"/>
                        </a:buClr>
                        <a:buSzPts val="1400"/>
                        <a:buFont typeface="Tahoma"/>
                        <a:buChar char="●"/>
                      </a:pPr>
                      <a:r>
                        <a:rPr lang="en-US">
                          <a:solidFill>
                            <a:srgbClr val="38761D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No single point of failure</a:t>
                      </a:r>
                      <a:endParaRPr>
                        <a:solidFill>
                          <a:srgbClr val="38761D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8761D"/>
                        </a:buClr>
                        <a:buSzPts val="1400"/>
                        <a:buFont typeface="Tahoma"/>
                        <a:buChar char="●"/>
                      </a:pPr>
                      <a:r>
                        <a:rPr lang="en-US" sz="1400" u="none" cap="none" strike="noStrike">
                          <a:solidFill>
                            <a:srgbClr val="38761D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Privacy / security</a:t>
                      </a:r>
                      <a:endParaRPr sz="1400" u="none" cap="none" strike="noStrike">
                        <a:solidFill>
                          <a:srgbClr val="38761D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400"/>
                        <a:buFont typeface="Tahoma"/>
                        <a:buChar char="●"/>
                      </a:pPr>
                      <a:r>
                        <a:rPr lang="en-US" sz="1400" u="none" cap="none" strike="noStrike">
                          <a:solidFill>
                            <a:srgbClr val="FF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Expensive, lots of wires and ports needed</a:t>
                      </a:r>
                      <a:endParaRPr sz="1400" u="none" cap="none" strike="noStrike">
                        <a:solidFill>
                          <a:srgbClr val="FF0000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400"/>
                        <a:buFont typeface="Tahoma"/>
                        <a:buChar char="●"/>
                      </a:pPr>
                      <a:r>
                        <a:rPr lang="en-US" sz="1400" u="none" cap="none" strike="noStrike">
                          <a:solidFill>
                            <a:srgbClr val="FF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New connection setup difficult</a:t>
                      </a:r>
                      <a:endParaRPr sz="1400" u="none" cap="none" strike="noStrike">
                        <a:solidFill>
                          <a:srgbClr val="FF0000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Star</a:t>
                      </a:r>
                      <a:endParaRPr b="1" sz="16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8761D"/>
                        </a:buClr>
                        <a:buSzPts val="1400"/>
                        <a:buFont typeface="Tahoma"/>
                        <a:buChar char="●"/>
                      </a:pPr>
                      <a:r>
                        <a:rPr lang="en-US" sz="1400" u="none" cap="none" strike="noStrike">
                          <a:solidFill>
                            <a:srgbClr val="38761D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Less expensive than mesh</a:t>
                      </a:r>
                      <a:endParaRPr sz="1400" u="none" cap="none" strike="noStrike">
                        <a:solidFill>
                          <a:srgbClr val="38761D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8761D"/>
                        </a:buClr>
                        <a:buSzPts val="1400"/>
                        <a:buFont typeface="Tahoma"/>
                        <a:buChar char="●"/>
                      </a:pPr>
                      <a:r>
                        <a:rPr lang="en-US" sz="1400" u="none" cap="none" strike="noStrike">
                          <a:solidFill>
                            <a:srgbClr val="38761D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Easy to setup and add/remove nodes</a:t>
                      </a:r>
                      <a:endParaRPr sz="1400" u="none" cap="none" strike="noStrike">
                        <a:solidFill>
                          <a:srgbClr val="38761D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400"/>
                        <a:buFont typeface="Tahoma"/>
                        <a:buChar char="●"/>
                      </a:pPr>
                      <a:r>
                        <a:rPr lang="en-US" sz="1400" u="none" cap="none" strike="noStrike">
                          <a:solidFill>
                            <a:srgbClr val="FF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Single point of failure</a:t>
                      </a:r>
                      <a:endParaRPr sz="1400" u="none" cap="none" strike="noStrike">
                        <a:solidFill>
                          <a:srgbClr val="FF0000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400"/>
                        <a:buFont typeface="Tahoma"/>
                        <a:buChar char="●"/>
                      </a:pPr>
                      <a:r>
                        <a:rPr lang="en-US" sz="1400" u="none" cap="none" strike="noStrike">
                          <a:solidFill>
                            <a:srgbClr val="FF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Traffic congestion</a:t>
                      </a:r>
                      <a:endParaRPr sz="1400" u="none" cap="none" strike="noStrike">
                        <a:solidFill>
                          <a:srgbClr val="FF0000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Bus</a:t>
                      </a:r>
                      <a:endParaRPr b="1" sz="16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8761D"/>
                        </a:buClr>
                        <a:buSzPts val="1400"/>
                        <a:buFont typeface="Tahoma"/>
                        <a:buChar char="●"/>
                      </a:pPr>
                      <a:r>
                        <a:rPr lang="en-US" sz="1400" u="none" cap="none" strike="noStrike">
                          <a:solidFill>
                            <a:srgbClr val="38761D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Cheap</a:t>
                      </a:r>
                      <a:endParaRPr sz="1400" u="none" cap="none" strike="noStrike">
                        <a:solidFill>
                          <a:srgbClr val="38761D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8761D"/>
                        </a:buClr>
                        <a:buSzPts val="1400"/>
                        <a:buFont typeface="Tahoma"/>
                        <a:buChar char="●"/>
                      </a:pPr>
                      <a:r>
                        <a:rPr lang="en-US" sz="1400" u="none" cap="none" strike="noStrike">
                          <a:solidFill>
                            <a:srgbClr val="38761D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Easy installation</a:t>
                      </a:r>
                      <a:endParaRPr sz="1400" u="none" cap="none" strike="noStrike">
                        <a:solidFill>
                          <a:srgbClr val="38761D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8761D"/>
                        </a:buClr>
                        <a:buSzPts val="1400"/>
                        <a:buFont typeface="Tahoma"/>
                        <a:buChar char="●"/>
                      </a:pPr>
                      <a:r>
                        <a:rPr lang="en-US" sz="1400" u="none" cap="none" strike="noStrike">
                          <a:solidFill>
                            <a:srgbClr val="38761D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Suitable for broadcasting scenarios</a:t>
                      </a:r>
                      <a:endParaRPr sz="1400" u="none" cap="none" strike="noStrike">
                        <a:solidFill>
                          <a:srgbClr val="38761D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400"/>
                        <a:buFont typeface="Tahoma"/>
                        <a:buChar char="●"/>
                      </a:pPr>
                      <a:r>
                        <a:rPr lang="en-US" sz="1400" u="none" cap="none" strike="noStrike">
                          <a:solidFill>
                            <a:srgbClr val="FF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Signal degradation with distance, limiting the number of taps</a:t>
                      </a:r>
                      <a:endParaRPr sz="1400" u="none" cap="none" strike="noStrike">
                        <a:solidFill>
                          <a:srgbClr val="FF0000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400"/>
                        <a:buFont typeface="Tahoma"/>
                        <a:buChar char="●"/>
                      </a:pPr>
                      <a:r>
                        <a:rPr lang="en-US" sz="1400" u="none" cap="none" strike="noStrike">
                          <a:solidFill>
                            <a:srgbClr val="FF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Single point of failure (bus backbone)</a:t>
                      </a:r>
                      <a:endParaRPr sz="1400" u="none" cap="none" strike="noStrike">
                        <a:solidFill>
                          <a:srgbClr val="FF0000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400"/>
                        <a:buFont typeface="Tahoma"/>
                        <a:buChar char="●"/>
                      </a:pPr>
                      <a:r>
                        <a:rPr lang="en-US" sz="1400" u="none" cap="none" strike="noStrike">
                          <a:solidFill>
                            <a:srgbClr val="FF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No privacy / security [design choice, not ex</a:t>
                      </a:r>
                      <a:r>
                        <a:rPr lang="en-US">
                          <a:solidFill>
                            <a:srgbClr val="FF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actly a limitation]</a:t>
                      </a:r>
                      <a:endParaRPr sz="1400" u="none" cap="none" strike="noStrike">
                        <a:solidFill>
                          <a:srgbClr val="FF0000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Tahoma"/>
                          <a:ea typeface="Tahoma"/>
                          <a:cs typeface="Tahoma"/>
                          <a:sym typeface="Tahoma"/>
                        </a:rPr>
                        <a:t>Ring</a:t>
                      </a:r>
                      <a:endParaRPr b="1" sz="1600" u="none" cap="none" strike="noStrike"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8761D"/>
                        </a:buClr>
                        <a:buSzPts val="1400"/>
                        <a:buFont typeface="Tahoma"/>
                        <a:buChar char="●"/>
                      </a:pPr>
                      <a:r>
                        <a:rPr lang="en-US" sz="1400" u="none" cap="none" strike="noStrike">
                          <a:solidFill>
                            <a:srgbClr val="38761D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Easy installation</a:t>
                      </a:r>
                      <a:endParaRPr sz="1400" u="none" cap="none" strike="noStrike">
                        <a:solidFill>
                          <a:srgbClr val="38761D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8761D"/>
                        </a:buClr>
                        <a:buSzPts val="1400"/>
                        <a:buFont typeface="Tahoma"/>
                        <a:buChar char="●"/>
                      </a:pPr>
                      <a:r>
                        <a:rPr lang="en-US" sz="1400" u="none" cap="none" strike="noStrike">
                          <a:solidFill>
                            <a:srgbClr val="38761D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No collision, stable performance</a:t>
                      </a:r>
                      <a:endParaRPr sz="1400" u="none" cap="none" strike="noStrike">
                        <a:solidFill>
                          <a:srgbClr val="38761D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400"/>
                        <a:buFont typeface="Tahoma"/>
                        <a:buChar char="●"/>
                      </a:pPr>
                      <a:r>
                        <a:rPr lang="en-US">
                          <a:solidFill>
                            <a:srgbClr val="FF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Multi points of failure</a:t>
                      </a:r>
                      <a:endParaRPr sz="1400" u="none" cap="none" strike="noStrike">
                        <a:solidFill>
                          <a:srgbClr val="FF0000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  <a:p>
                      <a:pPr indent="-3175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400"/>
                        <a:buFont typeface="Tahoma"/>
                        <a:buChar char="●"/>
                      </a:pPr>
                      <a:r>
                        <a:rPr lang="en-US" sz="1400" u="none" cap="none" strike="noStrike">
                          <a:solidFill>
                            <a:srgbClr val="FF0000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No privacy / security</a:t>
                      </a:r>
                      <a:endParaRPr sz="1400" u="none" cap="none" strike="noStrike">
                        <a:solidFill>
                          <a:srgbClr val="FF0000"/>
                        </a:solidFill>
                        <a:latin typeface="Tahoma"/>
                        <a:ea typeface="Tahoma"/>
                        <a:cs typeface="Tahoma"/>
                        <a:sym typeface="Tahom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0e1170d4d9_1_0"/>
          <p:cNvSpPr txBox="1"/>
          <p:nvPr>
            <p:ph type="title"/>
          </p:nvPr>
        </p:nvSpPr>
        <p:spPr>
          <a:xfrm>
            <a:off x="838200" y="381000"/>
            <a:ext cx="77931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lang="en-US" sz="36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Topology: Practice problem</a:t>
            </a:r>
            <a:endParaRPr/>
          </a:p>
        </p:txBody>
      </p:sp>
      <p:sp>
        <p:nvSpPr>
          <p:cNvPr id="277" name="Google Shape;277;g30e1170d4d9_1_0"/>
          <p:cNvSpPr txBox="1"/>
          <p:nvPr>
            <p:ph idx="1" type="body"/>
          </p:nvPr>
        </p:nvSpPr>
        <p:spPr>
          <a:xfrm>
            <a:off x="655637" y="1392237"/>
            <a:ext cx="7940700" cy="50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None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Let’s consider the network setting for the following university campus with </a:t>
            </a:r>
            <a:r>
              <a:rPr b="1"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FOUR</a:t>
            </a: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departments.</a:t>
            </a: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■"/>
            </a:pPr>
            <a:r>
              <a:rPr lang="en-US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Each department has a faculty area and a student area</a:t>
            </a: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■"/>
            </a:pPr>
            <a:r>
              <a:rPr lang="en-US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Each area can communicate with each other as they are </a:t>
            </a:r>
            <a:r>
              <a:rPr b="1" lang="en-US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connected centrally</a:t>
            </a:r>
            <a:r>
              <a:rPr lang="en-US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using a switch</a:t>
            </a: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■"/>
            </a:pPr>
            <a:r>
              <a:rPr lang="en-US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There are </a:t>
            </a:r>
            <a:r>
              <a:rPr b="1" lang="en-US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THREE</a:t>
            </a:r>
            <a:r>
              <a:rPr lang="en-US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devices in each area that are connected using </a:t>
            </a:r>
            <a:r>
              <a:rPr b="1" lang="en-US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multipoint connections</a:t>
            </a:r>
            <a:r>
              <a:rPr lang="en-US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only</a:t>
            </a:r>
            <a:endParaRPr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Char char="■"/>
            </a:pPr>
            <a:r>
              <a:rPr lang="en-US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Each department has connection with </a:t>
            </a:r>
            <a:r>
              <a:rPr b="1" lang="en-US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all other departments</a:t>
            </a:r>
            <a:endParaRPr b="1" sz="1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Based on this, IDENTIFY the topologies used in the university network, DRAW the hybrid structure, and CALCULATE the total number of links used.</a:t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8" name="Google Shape;278;g30e1170d4d9_1_0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5"/>
          <p:cNvSpPr txBox="1"/>
          <p:nvPr>
            <p:ph type="title"/>
          </p:nvPr>
        </p:nvSpPr>
        <p:spPr>
          <a:xfrm>
            <a:off x="838200" y="381000"/>
            <a:ext cx="77930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Network Elements/Components</a:t>
            </a:r>
            <a:endParaRPr/>
          </a:p>
        </p:txBody>
      </p:sp>
      <p:sp>
        <p:nvSpPr>
          <p:cNvPr id="284" name="Google Shape;284;p25"/>
          <p:cNvSpPr txBox="1"/>
          <p:nvPr>
            <p:ph idx="1" type="body"/>
          </p:nvPr>
        </p:nvSpPr>
        <p:spPr>
          <a:xfrm>
            <a:off x="655637" y="1392237"/>
            <a:ext cx="7940675" cy="5076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Network Devices</a:t>
            </a:r>
            <a:endParaRPr/>
          </a:p>
          <a:p>
            <a:pPr indent="-2159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Hardware (Devices and Media)</a:t>
            </a:r>
            <a:endParaRPr sz="1200"/>
          </a:p>
          <a:p>
            <a:pPr indent="-2159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Software (Services and Processes) </a:t>
            </a:r>
            <a:endParaRPr sz="1200"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85" name="Google Shape;28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725" y="3086100"/>
            <a:ext cx="7748587" cy="3367087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5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6"/>
          <p:cNvSpPr txBox="1"/>
          <p:nvPr>
            <p:ph type="title"/>
          </p:nvPr>
        </p:nvSpPr>
        <p:spPr>
          <a:xfrm>
            <a:off x="838200" y="381000"/>
            <a:ext cx="77930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Devices</a:t>
            </a:r>
            <a:endParaRPr/>
          </a:p>
        </p:txBody>
      </p:sp>
      <p:sp>
        <p:nvSpPr>
          <p:cNvPr id="292" name="Google Shape;292;p26"/>
          <p:cNvSpPr txBox="1"/>
          <p:nvPr>
            <p:ph idx="1" type="body"/>
          </p:nvPr>
        </p:nvSpPr>
        <p:spPr>
          <a:xfrm>
            <a:off x="381000" y="1792287"/>
            <a:ext cx="8382000" cy="50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622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3622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3622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3622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3622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3622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3622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3622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Two Types:</a:t>
            </a:r>
            <a:endParaRPr/>
          </a:p>
          <a:p>
            <a:pPr indent="-260350" lvl="1" marL="74295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1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End Devices </a:t>
            </a:r>
            <a:endParaRPr sz="1000"/>
          </a:p>
          <a:p>
            <a:pPr indent="-260350" lvl="1" marL="74295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1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Intermediary Devices</a:t>
            </a:r>
            <a:endParaRPr sz="1000"/>
          </a:p>
          <a:p>
            <a:pPr indent="-2362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93" name="Google Shape;29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5425" y="1309150"/>
            <a:ext cx="8305800" cy="3646487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6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7"/>
          <p:cNvSpPr txBox="1"/>
          <p:nvPr>
            <p:ph type="title"/>
          </p:nvPr>
        </p:nvSpPr>
        <p:spPr>
          <a:xfrm>
            <a:off x="585787" y="152400"/>
            <a:ext cx="814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End Devices</a:t>
            </a:r>
            <a:endParaRPr/>
          </a:p>
        </p:txBody>
      </p:sp>
      <p:pic>
        <p:nvPicPr>
          <p:cNvPr id="300" name="Google Shape;30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0775" y="3281010"/>
            <a:ext cx="6729542" cy="344915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01" name="Google Shape;301;p27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7"/>
          <p:cNvSpPr/>
          <p:nvPr/>
        </p:nvSpPr>
        <p:spPr>
          <a:xfrm>
            <a:off x="1792725" y="3798735"/>
            <a:ext cx="458700" cy="4572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7"/>
          <p:cNvSpPr/>
          <p:nvPr/>
        </p:nvSpPr>
        <p:spPr>
          <a:xfrm>
            <a:off x="1195425" y="4693010"/>
            <a:ext cx="597300" cy="5271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7"/>
          <p:cNvSpPr/>
          <p:nvPr/>
        </p:nvSpPr>
        <p:spPr>
          <a:xfrm>
            <a:off x="1195425" y="4124835"/>
            <a:ext cx="597300" cy="5271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7"/>
          <p:cNvSpPr/>
          <p:nvPr/>
        </p:nvSpPr>
        <p:spPr>
          <a:xfrm>
            <a:off x="1739375" y="5094260"/>
            <a:ext cx="512100" cy="4572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7"/>
          <p:cNvSpPr/>
          <p:nvPr/>
        </p:nvSpPr>
        <p:spPr>
          <a:xfrm>
            <a:off x="2393100" y="4159785"/>
            <a:ext cx="458700" cy="4572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7"/>
          <p:cNvSpPr txBox="1"/>
          <p:nvPr>
            <p:ph idx="1" type="body"/>
          </p:nvPr>
        </p:nvSpPr>
        <p:spPr>
          <a:xfrm>
            <a:off x="639775" y="1089825"/>
            <a:ext cx="7940700" cy="17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Char char="■"/>
            </a:pPr>
            <a:r>
              <a:rPr lang="en-US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Sits at the edge of a network and interacts directly with users</a:t>
            </a:r>
            <a:endParaRPr b="0" i="0" sz="22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Char char="■"/>
            </a:pPr>
            <a:r>
              <a:rPr lang="en-US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Sends, receives, stores data</a:t>
            </a:r>
            <a:endParaRPr sz="2200"/>
          </a:p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Char char="■"/>
            </a:pPr>
            <a:r>
              <a:rPr lang="en-US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Example: PCs, servers, smartphones, IoT devices, printers</a:t>
            </a:r>
            <a:endParaRPr sz="2200"/>
          </a:p>
          <a:p>
            <a:pPr indent="-20193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51458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8"/>
          <p:cNvSpPr txBox="1"/>
          <p:nvPr>
            <p:ph idx="1" type="body"/>
          </p:nvPr>
        </p:nvSpPr>
        <p:spPr>
          <a:xfrm>
            <a:off x="639775" y="1089825"/>
            <a:ext cx="7940700" cy="17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63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Char char="■"/>
            </a:pPr>
            <a:r>
              <a:rPr lang="en-US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Connects</a:t>
            </a:r>
            <a:r>
              <a:rPr b="0" i="0" lang="en-US" sz="2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end devices to form a network</a:t>
            </a:r>
            <a:endParaRPr sz="2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63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Char char="■"/>
            </a:pPr>
            <a:r>
              <a:rPr lang="en-US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Connects multiple networks to form an internetwork</a:t>
            </a:r>
            <a:endParaRPr b="0" i="0" sz="22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163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Char char="■"/>
            </a:pPr>
            <a:r>
              <a:rPr lang="en-US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Manages data as it flows through the network</a:t>
            </a:r>
            <a:endParaRPr sz="2200"/>
          </a:p>
          <a:p>
            <a:pPr indent="-34163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Char char="■"/>
            </a:pPr>
            <a:r>
              <a:rPr lang="en-US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Example: Hub, switch, router, firewall, etc</a:t>
            </a:r>
            <a:endParaRPr sz="2200"/>
          </a:p>
          <a:p>
            <a:pPr indent="-20193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13" name="Google Shape;31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754312"/>
            <a:ext cx="8305800" cy="3646487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8"/>
          <p:cNvSpPr/>
          <p:nvPr/>
        </p:nvSpPr>
        <p:spPr>
          <a:xfrm>
            <a:off x="2057400" y="4572000"/>
            <a:ext cx="914400" cy="6096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5" name="Google Shape;315;p28"/>
          <p:cNvSpPr/>
          <p:nvPr/>
        </p:nvSpPr>
        <p:spPr>
          <a:xfrm>
            <a:off x="7391400" y="4495800"/>
            <a:ext cx="914400" cy="6096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6" name="Google Shape;316;p28"/>
          <p:cNvSpPr/>
          <p:nvPr/>
        </p:nvSpPr>
        <p:spPr>
          <a:xfrm>
            <a:off x="3733800" y="4343400"/>
            <a:ext cx="2133600" cy="8382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7" name="Google Shape;317;p28"/>
          <p:cNvSpPr txBox="1"/>
          <p:nvPr/>
        </p:nvSpPr>
        <p:spPr>
          <a:xfrm>
            <a:off x="3965575" y="5957887"/>
            <a:ext cx="1216025" cy="36671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Switches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8" name="Google Shape;318;p28"/>
          <p:cNvCxnSpPr/>
          <p:nvPr/>
        </p:nvCxnSpPr>
        <p:spPr>
          <a:xfrm rot="10800000">
            <a:off x="2819400" y="5105400"/>
            <a:ext cx="1066800" cy="838200"/>
          </a:xfrm>
          <a:prstGeom prst="straightConnector1">
            <a:avLst/>
          </a:prstGeom>
          <a:noFill/>
          <a:ln cap="flat" cmpd="sng" w="38100">
            <a:solidFill>
              <a:schemeClr val="hlink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19" name="Google Shape;319;p28"/>
          <p:cNvCxnSpPr/>
          <p:nvPr/>
        </p:nvCxnSpPr>
        <p:spPr>
          <a:xfrm flipH="1" rot="10800000">
            <a:off x="5181600" y="4953000"/>
            <a:ext cx="2286000" cy="990600"/>
          </a:xfrm>
          <a:prstGeom prst="straightConnector1">
            <a:avLst/>
          </a:prstGeom>
          <a:noFill/>
          <a:ln cap="flat" cmpd="sng" w="38100">
            <a:solidFill>
              <a:schemeClr val="hlink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20" name="Google Shape;320;p28"/>
          <p:cNvSpPr txBox="1"/>
          <p:nvPr/>
        </p:nvSpPr>
        <p:spPr>
          <a:xfrm>
            <a:off x="4117975" y="2986087"/>
            <a:ext cx="1085850" cy="36671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Tahoma"/>
              <a:buNone/>
            </a:pPr>
            <a:r>
              <a:rPr b="1" i="0" lang="en-US" sz="1800" u="none" cap="none" strike="noStrike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Routers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1" name="Google Shape;321;p28"/>
          <p:cNvCxnSpPr/>
          <p:nvPr/>
        </p:nvCxnSpPr>
        <p:spPr>
          <a:xfrm>
            <a:off x="4572000" y="3429000"/>
            <a:ext cx="228600" cy="838200"/>
          </a:xfrm>
          <a:prstGeom prst="straightConnector1">
            <a:avLst/>
          </a:prstGeom>
          <a:noFill/>
          <a:ln cap="flat" cmpd="sng" w="38100">
            <a:solidFill>
              <a:schemeClr val="hlink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22" name="Google Shape;322;p28"/>
          <p:cNvSpPr txBox="1"/>
          <p:nvPr>
            <p:ph type="title"/>
          </p:nvPr>
        </p:nvSpPr>
        <p:spPr>
          <a:xfrm>
            <a:off x="304800" y="228600"/>
            <a:ext cx="77930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Intermediary devices</a:t>
            </a:r>
            <a:endParaRPr/>
          </a:p>
        </p:txBody>
      </p:sp>
      <p:sp>
        <p:nvSpPr>
          <p:cNvPr id="323" name="Google Shape;323;p28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0e999d4e21_0_7"/>
          <p:cNvSpPr txBox="1"/>
          <p:nvPr>
            <p:ph type="title"/>
          </p:nvPr>
        </p:nvSpPr>
        <p:spPr>
          <a:xfrm>
            <a:off x="585787" y="152400"/>
            <a:ext cx="814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lang="en-US" sz="36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HUB</a:t>
            </a:r>
            <a:endParaRPr/>
          </a:p>
        </p:txBody>
      </p:sp>
      <p:sp>
        <p:nvSpPr>
          <p:cNvPr id="329" name="Google Shape;329;g30e999d4e21_0_7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30e999d4e21_0_7"/>
          <p:cNvSpPr txBox="1"/>
          <p:nvPr>
            <p:ph idx="1" type="body"/>
          </p:nvPr>
        </p:nvSpPr>
        <p:spPr>
          <a:xfrm>
            <a:off x="639775" y="1089825"/>
            <a:ext cx="7940700" cy="40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Tahoma"/>
              <a:buChar char="■"/>
            </a:pPr>
            <a:r>
              <a:rPr lang="en-US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Connects multiple end devices within a network, allowing them to communicate with one another</a:t>
            </a:r>
            <a:endParaRPr i="0" sz="22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83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Noto Sans Symbols"/>
              <a:buChar char="■"/>
            </a:pPr>
            <a:r>
              <a:rPr lang="en-US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When a device (like a computer) sends data to the hub, the hub </a:t>
            </a:r>
            <a:r>
              <a:rPr b="1" lang="en-US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broadcasts the data</a:t>
            </a:r>
            <a:r>
              <a:rPr lang="en-US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to all devices connected to it</a:t>
            </a:r>
            <a:endParaRPr sz="2200">
              <a:latin typeface="Tahoma"/>
              <a:ea typeface="Tahoma"/>
              <a:cs typeface="Tahoma"/>
              <a:sym typeface="Tahoma"/>
            </a:endParaRPr>
          </a:p>
          <a:p>
            <a:pPr indent="-3683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Tahoma"/>
              <a:buChar char="■"/>
            </a:pPr>
            <a:r>
              <a:rPr lang="en-US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Every connected device receives the data, but only the intended recipient processes it. All other devices ignore it</a:t>
            </a:r>
            <a:endParaRPr sz="2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83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Tahoma"/>
              <a:buChar char="■"/>
            </a:pPr>
            <a:r>
              <a:rPr lang="en-US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Half-duplex communication</a:t>
            </a:r>
            <a:endParaRPr sz="2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83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Tahoma"/>
              <a:buChar char="■"/>
            </a:pPr>
            <a:r>
              <a:rPr lang="en-US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Simple, inexpensive, easy setup, </a:t>
            </a:r>
            <a:r>
              <a:rPr lang="en-US" sz="220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no intelligence</a:t>
            </a:r>
            <a:endParaRPr sz="2200">
              <a:solidFill>
                <a:srgbClr val="FF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0193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51458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31" name="Google Shape;331;g30e999d4e21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3675" y="5132025"/>
            <a:ext cx="3448050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0e999d4e21_0_22"/>
          <p:cNvSpPr txBox="1"/>
          <p:nvPr>
            <p:ph type="title"/>
          </p:nvPr>
        </p:nvSpPr>
        <p:spPr>
          <a:xfrm>
            <a:off x="585787" y="152400"/>
            <a:ext cx="814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lang="en-US" sz="36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SWITCH</a:t>
            </a:r>
            <a:endParaRPr/>
          </a:p>
        </p:txBody>
      </p:sp>
      <p:sp>
        <p:nvSpPr>
          <p:cNvPr id="337" name="Google Shape;337;g30e999d4e21_0_22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g30e999d4e21_0_22"/>
          <p:cNvSpPr txBox="1"/>
          <p:nvPr>
            <p:ph idx="1" type="body"/>
          </p:nvPr>
        </p:nvSpPr>
        <p:spPr>
          <a:xfrm>
            <a:off x="639775" y="1089825"/>
            <a:ext cx="8307300" cy="40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Tahoma"/>
              <a:buChar char="■"/>
            </a:pPr>
            <a:r>
              <a:rPr lang="en-US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Intelligent version of HUB</a:t>
            </a:r>
            <a:endParaRPr i="0" sz="22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83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Noto Sans Symbols"/>
              <a:buChar char="■"/>
            </a:pPr>
            <a:r>
              <a:rPr lang="en-US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Instead of broadcasting data to all connected devices, the switch </a:t>
            </a:r>
            <a:r>
              <a:rPr b="1" lang="en-US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forwards data only to the intended recipient</a:t>
            </a:r>
            <a:endParaRPr b="1" sz="2200">
              <a:latin typeface="Tahoma"/>
              <a:ea typeface="Tahoma"/>
              <a:cs typeface="Tahoma"/>
              <a:sym typeface="Tahoma"/>
            </a:endParaRPr>
          </a:p>
          <a:p>
            <a:pPr indent="-3683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Tahoma"/>
              <a:buChar char="■"/>
            </a:pPr>
            <a:r>
              <a:rPr lang="en-US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Maintains a MAC address table of the devices connected to each of its port</a:t>
            </a:r>
            <a:endParaRPr sz="2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83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Tahoma"/>
              <a:buChar char="■"/>
            </a:pPr>
            <a:r>
              <a:rPr lang="en-US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Full-duplex communication</a:t>
            </a:r>
            <a:endParaRPr sz="2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83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Tahoma"/>
              <a:buChar char="■"/>
            </a:pPr>
            <a:r>
              <a:rPr lang="en-US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Intelligent forwarding, expensive, requires configuration</a:t>
            </a:r>
            <a:endParaRPr sz="2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0193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51458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39" name="Google Shape;339;g30e999d4e21_0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2563" y="4811875"/>
            <a:ext cx="6181725" cy="74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0e999d4e21_0_30"/>
          <p:cNvSpPr txBox="1"/>
          <p:nvPr>
            <p:ph type="title"/>
          </p:nvPr>
        </p:nvSpPr>
        <p:spPr>
          <a:xfrm>
            <a:off x="585787" y="152400"/>
            <a:ext cx="8145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lang="en-US" sz="36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ROUTER</a:t>
            </a:r>
            <a:endParaRPr/>
          </a:p>
        </p:txBody>
      </p:sp>
      <p:sp>
        <p:nvSpPr>
          <p:cNvPr id="345" name="Google Shape;345;g30e999d4e21_0_30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g30e999d4e21_0_30"/>
          <p:cNvSpPr txBox="1"/>
          <p:nvPr>
            <p:ph idx="1" type="body"/>
          </p:nvPr>
        </p:nvSpPr>
        <p:spPr>
          <a:xfrm>
            <a:off x="639775" y="1089825"/>
            <a:ext cx="8307300" cy="40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Tahoma"/>
              <a:buChar char="■"/>
            </a:pPr>
            <a:r>
              <a:rPr lang="en-US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gateway between networks; </a:t>
            </a:r>
            <a:r>
              <a:rPr b="1" lang="en-US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connects local networks with the internet</a:t>
            </a:r>
            <a:endParaRPr b="1" i="0" sz="22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83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Noto Sans Symbols"/>
              <a:buChar char="■"/>
            </a:pPr>
            <a:r>
              <a:rPr b="1" lang="en-US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LAN ports </a:t>
            </a:r>
            <a:r>
              <a:rPr lang="en-US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(for local devices) and </a:t>
            </a:r>
            <a:r>
              <a:rPr b="1" lang="en-US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WAN port </a:t>
            </a:r>
            <a:r>
              <a:rPr lang="en-US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(for connecting to the internet)</a:t>
            </a:r>
            <a:endParaRPr sz="2200">
              <a:latin typeface="Tahoma"/>
              <a:ea typeface="Tahoma"/>
              <a:cs typeface="Tahoma"/>
              <a:sym typeface="Tahoma"/>
            </a:endParaRPr>
          </a:p>
          <a:p>
            <a:pPr indent="-3683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Tahoma"/>
              <a:buChar char="■"/>
            </a:pPr>
            <a:r>
              <a:rPr lang="en-US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Built-in security features</a:t>
            </a:r>
            <a:endParaRPr sz="2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83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Tahoma"/>
              <a:buChar char="■"/>
            </a:pPr>
            <a:r>
              <a:rPr lang="en-US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Supports wireless connectivity</a:t>
            </a:r>
            <a:endParaRPr sz="2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83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Tahoma"/>
              <a:buChar char="■"/>
            </a:pPr>
            <a:r>
              <a:rPr lang="en-US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Complex, expensive, requires configuration</a:t>
            </a:r>
            <a:endParaRPr sz="2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0193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51458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rtr04b.jpg" id="347" name="Google Shape;347;g30e999d4e21_0_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9775" y="4497375"/>
            <a:ext cx="5181601" cy="174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rl42.jpg" id="348" name="Google Shape;348;g30e999d4e21_0_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00225" y="4051137"/>
            <a:ext cx="2667000" cy="2427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0"/>
          <p:cNvSpPr txBox="1"/>
          <p:nvPr>
            <p:ph type="title"/>
          </p:nvPr>
        </p:nvSpPr>
        <p:spPr>
          <a:xfrm>
            <a:off x="838200" y="381000"/>
            <a:ext cx="77930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Software</a:t>
            </a:r>
            <a:endParaRPr/>
          </a:p>
        </p:txBody>
      </p:sp>
      <p:sp>
        <p:nvSpPr>
          <p:cNvPr id="354" name="Google Shape;354;p30"/>
          <p:cNvSpPr txBox="1"/>
          <p:nvPr/>
        </p:nvSpPr>
        <p:spPr>
          <a:xfrm>
            <a:off x="533400" y="1600200"/>
            <a:ext cx="8382000" cy="460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Services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766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Char char="■"/>
            </a:pPr>
            <a:r>
              <a:rPr b="0" i="0" lang="en-US" sz="2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Software-driven functionalities that enable communication and resource sharing within a network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766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Char char="■"/>
            </a:pPr>
            <a:r>
              <a:rPr b="0" i="0" lang="en-US" sz="2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Example: file sharing and storage services, web services, email services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Processes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766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Char char="■"/>
            </a:pPr>
            <a:r>
              <a:rPr b="0" i="0" lang="en-US" sz="2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Standardized rules that define how devices on a network should interact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766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200"/>
              <a:buFont typeface="Noto Sans Symbols"/>
              <a:buChar char="■"/>
            </a:pPr>
            <a:r>
              <a:rPr b="0" i="0" lang="en-US" sz="2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Example: authentication (logging in to a wifi network), routing procedures, error detection and connection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30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1"/>
          <p:cNvSpPr txBox="1"/>
          <p:nvPr>
            <p:ph type="title"/>
          </p:nvPr>
        </p:nvSpPr>
        <p:spPr>
          <a:xfrm>
            <a:off x="838200" y="381000"/>
            <a:ext cx="77930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Processes and Services</a:t>
            </a:r>
            <a:endParaRPr/>
          </a:p>
        </p:txBody>
      </p:sp>
      <p:pic>
        <p:nvPicPr>
          <p:cNvPr id="361" name="Google Shape;3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012" y="1643062"/>
            <a:ext cx="8002587" cy="4224337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2"/>
          <p:cNvSpPr txBox="1"/>
          <p:nvPr>
            <p:ph type="title"/>
          </p:nvPr>
        </p:nvSpPr>
        <p:spPr>
          <a:xfrm>
            <a:off x="838200" y="381000"/>
            <a:ext cx="77930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lang="en-US" sz="36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Network </a:t>
            </a: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Media </a:t>
            </a:r>
            <a:r>
              <a:rPr lang="en-US" sz="36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(Transmission Media)</a:t>
            </a:r>
            <a:endParaRPr/>
          </a:p>
        </p:txBody>
      </p:sp>
      <p:sp>
        <p:nvSpPr>
          <p:cNvPr id="368" name="Google Shape;368;p32"/>
          <p:cNvSpPr txBox="1"/>
          <p:nvPr>
            <p:ph idx="1" type="body"/>
          </p:nvPr>
        </p:nvSpPr>
        <p:spPr>
          <a:xfrm>
            <a:off x="381000" y="1524000"/>
            <a:ext cx="8382000" cy="460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098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en-US" sz="2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Provides the pathway for data transmission between devices</a:t>
            </a:r>
            <a:endParaRPr sz="2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69" name="Google Shape;36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325" y="2521537"/>
            <a:ext cx="8405811" cy="3481387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2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"/>
          <p:cNvSpPr txBox="1"/>
          <p:nvPr>
            <p:ph type="title"/>
          </p:nvPr>
        </p:nvSpPr>
        <p:spPr>
          <a:xfrm>
            <a:off x="838200" y="381000"/>
            <a:ext cx="77930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lang="en-US" sz="36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Wired Transmission </a:t>
            </a: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Media</a:t>
            </a:r>
            <a:endParaRPr/>
          </a:p>
        </p:txBody>
      </p:sp>
      <p:sp>
        <p:nvSpPr>
          <p:cNvPr id="376" name="Google Shape;376;p33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7" name="Google Shape;377;p3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5603719" y="1444735"/>
            <a:ext cx="1938039" cy="181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40363" y="1351096"/>
            <a:ext cx="2619786" cy="2156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2425" y="4406675"/>
            <a:ext cx="3989850" cy="123515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3"/>
          <p:cNvSpPr txBox="1"/>
          <p:nvPr/>
        </p:nvSpPr>
        <p:spPr>
          <a:xfrm>
            <a:off x="5647407" y="3317743"/>
            <a:ext cx="18330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Shielded Twisted Pair (STP) Cable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33"/>
          <p:cNvSpPr txBox="1"/>
          <p:nvPr/>
        </p:nvSpPr>
        <p:spPr>
          <a:xfrm>
            <a:off x="2134269" y="3351080"/>
            <a:ext cx="18321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Unshielded Twisted Pair (UTP) Cable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33"/>
          <p:cNvSpPr txBox="1"/>
          <p:nvPr/>
        </p:nvSpPr>
        <p:spPr>
          <a:xfrm>
            <a:off x="608686" y="5826564"/>
            <a:ext cx="4063200" cy="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Coaxial cable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3" name="Google Shape;383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82550" y="4150725"/>
            <a:ext cx="2362700" cy="1620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33"/>
          <p:cNvSpPr txBox="1"/>
          <p:nvPr/>
        </p:nvSpPr>
        <p:spPr>
          <a:xfrm>
            <a:off x="5802975" y="5826575"/>
            <a:ext cx="21438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Fiber optic cable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0e999d4e21_0_128"/>
          <p:cNvSpPr txBox="1"/>
          <p:nvPr>
            <p:ph type="title"/>
          </p:nvPr>
        </p:nvSpPr>
        <p:spPr>
          <a:xfrm>
            <a:off x="838200" y="381000"/>
            <a:ext cx="77931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lang="en-US" sz="360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Wireless Transmission </a:t>
            </a: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Media</a:t>
            </a:r>
            <a:endParaRPr/>
          </a:p>
        </p:txBody>
      </p:sp>
      <p:sp>
        <p:nvSpPr>
          <p:cNvPr id="390" name="Google Shape;390;g30e999d4e21_0_128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g30e999d4e21_0_128"/>
          <p:cNvSpPr txBox="1"/>
          <p:nvPr>
            <p:ph idx="1" type="body"/>
          </p:nvPr>
        </p:nvSpPr>
        <p:spPr>
          <a:xfrm>
            <a:off x="639850" y="1407900"/>
            <a:ext cx="7712100" cy="40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Tahoma"/>
              <a:buChar char="■"/>
            </a:pPr>
            <a:r>
              <a:rPr lang="en-US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Radio-wave (WiFi, bluetooth, FM radio)</a:t>
            </a:r>
            <a:endParaRPr sz="2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83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Tahoma"/>
              <a:buChar char="■"/>
            </a:pPr>
            <a:r>
              <a:rPr lang="en-US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Satellite (Star-link)</a:t>
            </a:r>
            <a:endParaRPr sz="2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0193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51458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4"/>
          <p:cNvSpPr txBox="1"/>
          <p:nvPr>
            <p:ph type="title"/>
          </p:nvPr>
        </p:nvSpPr>
        <p:spPr>
          <a:xfrm>
            <a:off x="838200" y="381000"/>
            <a:ext cx="77930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Messages- Data Representation</a:t>
            </a:r>
            <a:endParaRPr/>
          </a:p>
        </p:txBody>
      </p:sp>
      <p:sp>
        <p:nvSpPr>
          <p:cNvPr id="397" name="Google Shape;397;p34"/>
          <p:cNvSpPr txBox="1"/>
          <p:nvPr>
            <p:ph idx="1" type="body"/>
          </p:nvPr>
        </p:nvSpPr>
        <p:spPr>
          <a:xfrm>
            <a:off x="457200" y="1371600"/>
            <a:ext cx="83820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Information today comes in different forms such as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text, numbers, images, audio, and video.</a:t>
            </a:r>
            <a:endParaRPr/>
          </a:p>
          <a:p>
            <a:pPr indent="-1524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362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standard-formats-ascii-unicode" id="398" name="Google Shape;39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3124200"/>
            <a:ext cx="6553200" cy="325120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34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5"/>
          <p:cNvSpPr txBox="1"/>
          <p:nvPr>
            <p:ph type="title"/>
          </p:nvPr>
        </p:nvSpPr>
        <p:spPr>
          <a:xfrm>
            <a:off x="838200" y="381000"/>
            <a:ext cx="77930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Data Representation - Text</a:t>
            </a:r>
            <a:endParaRPr/>
          </a:p>
        </p:txBody>
      </p:sp>
      <p:sp>
        <p:nvSpPr>
          <p:cNvPr id="405" name="Google Shape;405;p35"/>
          <p:cNvSpPr txBox="1"/>
          <p:nvPr>
            <p:ph idx="1" type="body"/>
          </p:nvPr>
        </p:nvSpPr>
        <p:spPr>
          <a:xfrm>
            <a:off x="457200" y="1371600"/>
            <a:ext cx="83820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1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Text </a:t>
            </a: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Different sets of bit patterns are designed to represent text symbols. Each set is called a code.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1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ASCII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American Standard Code for Information Interchange: 7-bit code/char, 1 bit for parity.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1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Unicode 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- 16 bit codes to represent a symbol.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362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6" name="Google Shape;406;p35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ig4-17 mod2" id="411" name="Google Shape;41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8850" y="1598612"/>
            <a:ext cx="4171950" cy="5027612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Data Representation - Text</a:t>
            </a:r>
            <a:endParaRPr/>
          </a:p>
        </p:txBody>
      </p:sp>
      <p:sp>
        <p:nvSpPr>
          <p:cNvPr id="413" name="Google Shape;413;p36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7"/>
          <p:cNvSpPr txBox="1"/>
          <p:nvPr>
            <p:ph idx="1" type="body"/>
          </p:nvPr>
        </p:nvSpPr>
        <p:spPr>
          <a:xfrm>
            <a:off x="381000" y="5105400"/>
            <a:ext cx="8382000" cy="102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098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419" name="Google Shape;41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524000"/>
            <a:ext cx="7848600" cy="4445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7"/>
          <p:cNvSpPr txBox="1"/>
          <p:nvPr/>
        </p:nvSpPr>
        <p:spPr>
          <a:xfrm>
            <a:off x="457200" y="304800"/>
            <a:ext cx="77930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Data Representation - Text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37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8"/>
          <p:cNvSpPr txBox="1"/>
          <p:nvPr>
            <p:ph idx="1" type="body"/>
          </p:nvPr>
        </p:nvSpPr>
        <p:spPr>
          <a:xfrm>
            <a:off x="152400" y="1524000"/>
            <a:ext cx="8534400" cy="28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1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Images – 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Also represented by bit patterns. 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Mechanism different. Matrix of Pixels used. Each pixel is assigned to a bit pattern.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Color images uses RGB or YCM methods.</a:t>
            </a:r>
            <a:endParaRPr/>
          </a:p>
        </p:txBody>
      </p:sp>
      <p:sp>
        <p:nvSpPr>
          <p:cNvPr id="427" name="Google Shape;427;p38"/>
          <p:cNvSpPr txBox="1"/>
          <p:nvPr>
            <p:ph type="title"/>
          </p:nvPr>
        </p:nvSpPr>
        <p:spPr>
          <a:xfrm>
            <a:off x="838200" y="381000"/>
            <a:ext cx="77930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Data Representation - Image</a:t>
            </a:r>
            <a:endParaRPr/>
          </a:p>
        </p:txBody>
      </p:sp>
      <p:pic>
        <p:nvPicPr>
          <p:cNvPr id="428" name="Google Shape;42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2200" y="3933825"/>
            <a:ext cx="4038600" cy="2466975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38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0e999d4e21_0_142"/>
          <p:cNvSpPr txBox="1"/>
          <p:nvPr>
            <p:ph type="title"/>
          </p:nvPr>
        </p:nvSpPr>
        <p:spPr>
          <a:xfrm>
            <a:off x="838200" y="381000"/>
            <a:ext cx="77931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Data Representation - Image</a:t>
            </a:r>
            <a:endParaRPr/>
          </a:p>
        </p:txBody>
      </p:sp>
      <p:sp>
        <p:nvSpPr>
          <p:cNvPr id="435" name="Google Shape;435;g30e999d4e21_0_142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6" name="Google Shape;436;g30e999d4e21_0_1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975" y="1530050"/>
            <a:ext cx="6858000" cy="451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308051c2c3_0_0"/>
          <p:cNvSpPr txBox="1"/>
          <p:nvPr>
            <p:ph type="title"/>
          </p:nvPr>
        </p:nvSpPr>
        <p:spPr>
          <a:xfrm>
            <a:off x="838200" y="381000"/>
            <a:ext cx="77931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Data Representation - Image</a:t>
            </a:r>
            <a:endParaRPr/>
          </a:p>
        </p:txBody>
      </p:sp>
      <p:sp>
        <p:nvSpPr>
          <p:cNvPr id="442" name="Google Shape;442;g3308051c2c3_0_0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3" name="Google Shape;443;g3308051c2c3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6925" y="1736275"/>
            <a:ext cx="8437749" cy="406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9"/>
          <p:cNvSpPr txBox="1"/>
          <p:nvPr/>
        </p:nvSpPr>
        <p:spPr>
          <a:xfrm>
            <a:off x="304800" y="1752600"/>
            <a:ext cx="4572000" cy="1373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9779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1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Audio</a:t>
            </a:r>
            <a:r>
              <a:rPr b="0" i="0" lang="en-US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 Continuous, not discrete. Converted to digital or analog signal.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9" name="Google Shape;44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3000" y="1676400"/>
            <a:ext cx="3657600" cy="2752725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39"/>
          <p:cNvSpPr txBox="1"/>
          <p:nvPr>
            <p:ph type="title"/>
          </p:nvPr>
        </p:nvSpPr>
        <p:spPr>
          <a:xfrm>
            <a:off x="838200" y="381000"/>
            <a:ext cx="77930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Data Representation - Audio</a:t>
            </a:r>
            <a:endParaRPr/>
          </a:p>
        </p:txBody>
      </p:sp>
      <p:sp>
        <p:nvSpPr>
          <p:cNvPr id="451" name="Google Shape;451;p39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0"/>
          <p:cNvSpPr txBox="1"/>
          <p:nvPr>
            <p:ph type="title"/>
          </p:nvPr>
        </p:nvSpPr>
        <p:spPr>
          <a:xfrm>
            <a:off x="838200" y="381000"/>
            <a:ext cx="77930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Rules - Protocols</a:t>
            </a:r>
            <a:endParaRPr/>
          </a:p>
        </p:txBody>
      </p:sp>
      <p:sp>
        <p:nvSpPr>
          <p:cNvPr id="457" name="Google Shape;457;p40"/>
          <p:cNvSpPr txBox="1"/>
          <p:nvPr>
            <p:ph idx="1" type="body"/>
          </p:nvPr>
        </p:nvSpPr>
        <p:spPr>
          <a:xfrm>
            <a:off x="655637" y="1447800"/>
            <a:ext cx="7940675" cy="532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set of predetermined rules that govern communication.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Defines: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What is communicated??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How it is communicated??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When it is communicated??</a:t>
            </a:r>
            <a:endParaRPr/>
          </a:p>
          <a:p>
            <a:pPr indent="-22098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2098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458" name="Google Shape;45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0" y="3886200"/>
            <a:ext cx="4419600" cy="2663825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40"/>
          <p:cNvSpPr/>
          <p:nvPr/>
        </p:nvSpPr>
        <p:spPr>
          <a:xfrm>
            <a:off x="3886200" y="4648200"/>
            <a:ext cx="2057400" cy="685800"/>
          </a:xfrm>
          <a:prstGeom prst="ellipse">
            <a:avLst/>
          </a:prstGeom>
          <a:noFill/>
          <a:ln cap="flat" cmpd="sng" w="31750">
            <a:solidFill>
              <a:schemeClr val="folHlink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60" name="Google Shape;460;p40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1"/>
          <p:cNvSpPr txBox="1"/>
          <p:nvPr>
            <p:ph type="title"/>
          </p:nvPr>
        </p:nvSpPr>
        <p:spPr>
          <a:xfrm>
            <a:off x="838200" y="381000"/>
            <a:ext cx="77930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Network Types</a:t>
            </a:r>
            <a:endParaRPr/>
          </a:p>
        </p:txBody>
      </p:sp>
      <p:sp>
        <p:nvSpPr>
          <p:cNvPr id="466" name="Google Shape;466;p41"/>
          <p:cNvSpPr txBox="1"/>
          <p:nvPr>
            <p:ph idx="1" type="body"/>
          </p:nvPr>
        </p:nvSpPr>
        <p:spPr>
          <a:xfrm>
            <a:off x="533400" y="1524000"/>
            <a:ext cx="3352800" cy="460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Noto Sans Symbols"/>
              <a:buChar char="■"/>
            </a:pPr>
            <a:r>
              <a:rPr b="0" i="0" lang="en-US" sz="4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PAN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Noto Sans Symbols"/>
              <a:buChar char="■"/>
            </a:pPr>
            <a:r>
              <a:rPr b="0" i="0" lang="en-US" sz="4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LAN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Noto Sans Symbols"/>
              <a:buChar char="■"/>
            </a:pPr>
            <a:r>
              <a:rPr b="0" i="0" lang="en-US" sz="4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Noto Sans Symbols"/>
              <a:buChar char="■"/>
            </a:pPr>
            <a:r>
              <a:rPr b="0" i="0" lang="en-US" sz="4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WAN</a:t>
            </a:r>
            <a:endParaRPr/>
          </a:p>
        </p:txBody>
      </p:sp>
      <p:sp>
        <p:nvSpPr>
          <p:cNvPr id="467" name="Google Shape;467;p41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2"/>
          <p:cNvSpPr txBox="1"/>
          <p:nvPr>
            <p:ph type="title"/>
          </p:nvPr>
        </p:nvSpPr>
        <p:spPr>
          <a:xfrm>
            <a:off x="838200" y="381000"/>
            <a:ext cx="77930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ahoma"/>
              <a:buNone/>
            </a:pPr>
            <a:r>
              <a:rPr b="0" i="0" lang="en-US" sz="36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Personal Area Networks (PAN)</a:t>
            </a:r>
            <a:endParaRPr/>
          </a:p>
        </p:txBody>
      </p:sp>
      <p:sp>
        <p:nvSpPr>
          <p:cNvPr id="473" name="Google Shape;473;p42"/>
          <p:cNvSpPr txBox="1"/>
          <p:nvPr>
            <p:ph idx="1" type="body"/>
          </p:nvPr>
        </p:nvSpPr>
        <p:spPr>
          <a:xfrm>
            <a:off x="381000" y="1524000"/>
            <a:ext cx="8382000" cy="460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small network that connects computers, peripherals and other devices </a:t>
            </a: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for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personal </a:t>
            </a: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use through bluetooth or USB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lang="en-US" sz="2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Range: Short, typically a few meters</a:t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 sz="2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74" name="Google Shape;474;p42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5" name="Google Shape;475;p42"/>
          <p:cNvPicPr preferRelativeResize="0"/>
          <p:nvPr/>
        </p:nvPicPr>
        <p:blipFill rotWithShape="1">
          <a:blip r:embed="rId3">
            <a:alphaModFix/>
          </a:blip>
          <a:srcRect b="0" l="0" r="-6963" t="-6963"/>
          <a:stretch/>
        </p:blipFill>
        <p:spPr>
          <a:xfrm>
            <a:off x="2977500" y="3096725"/>
            <a:ext cx="3604100" cy="360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3"/>
          <p:cNvSpPr txBox="1"/>
          <p:nvPr>
            <p:ph type="title"/>
          </p:nvPr>
        </p:nvSpPr>
        <p:spPr>
          <a:xfrm>
            <a:off x="838200" y="381000"/>
            <a:ext cx="77930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Local Area Networks (LAN)</a:t>
            </a:r>
            <a:endParaRPr/>
          </a:p>
        </p:txBody>
      </p:sp>
      <p:sp>
        <p:nvSpPr>
          <p:cNvPr id="481" name="Google Shape;481;p43"/>
          <p:cNvSpPr txBox="1"/>
          <p:nvPr>
            <p:ph idx="1" type="body"/>
          </p:nvPr>
        </p:nvSpPr>
        <p:spPr>
          <a:xfrm>
            <a:off x="655637" y="1392237"/>
            <a:ext cx="5211762" cy="5076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600"/>
              <a:buFont typeface="Noto Sans Symbols"/>
              <a:buChar char="■"/>
            </a:pPr>
            <a:r>
              <a:rPr b="0" i="0" lang="en-US" sz="2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Connects computers, peripherals and other devices within a building (e.g. varsity campus</a:t>
            </a:r>
            <a:r>
              <a:rPr lang="en-US" sz="2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r>
              <a:rPr b="0" i="0" lang="en-US" sz="2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office) or in a limited area</a:t>
            </a:r>
            <a:endParaRPr sz="2600"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600"/>
              <a:buFont typeface="Noto Sans Symbols"/>
              <a:buChar char="■"/>
            </a:pPr>
            <a:r>
              <a:rPr lang="en-US" sz="2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Range: </a:t>
            </a:r>
            <a:r>
              <a:rPr b="0" i="0" lang="en-US" sz="2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Typically 50 to 300 meters</a:t>
            </a:r>
            <a:endParaRPr sz="2600"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600"/>
              <a:buFont typeface="Noto Sans Symbols"/>
              <a:buChar char="■"/>
            </a:pPr>
            <a:r>
              <a:rPr b="0" i="0" lang="en-US" sz="2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</a:t>
            </a:r>
            <a:r>
              <a:rPr lang="en-US" sz="2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ample:</a:t>
            </a:r>
            <a:r>
              <a:rPr b="0" i="0" lang="en-US" sz="26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Ethernet, Wireless LANs</a:t>
            </a:r>
            <a:endParaRPr sz="2600"/>
          </a:p>
        </p:txBody>
      </p:sp>
      <p:pic>
        <p:nvPicPr>
          <p:cNvPr descr="LAN" id="482" name="Google Shape;48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200" y="1447800"/>
            <a:ext cx="2719387" cy="50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43"/>
          <p:cNvSpPr txBox="1"/>
          <p:nvPr/>
        </p:nvSpPr>
        <p:spPr>
          <a:xfrm>
            <a:off x="2743200" y="6477000"/>
            <a:ext cx="2644775" cy="366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http://www.conniq.com</a:t>
            </a:r>
            <a:r>
              <a:rPr b="1" i="0" lang="en-US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43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4"/>
          <p:cNvSpPr txBox="1"/>
          <p:nvPr>
            <p:ph type="title"/>
          </p:nvPr>
        </p:nvSpPr>
        <p:spPr>
          <a:xfrm>
            <a:off x="838200" y="381000"/>
            <a:ext cx="77930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Metropolitan Area Network (MAN)</a:t>
            </a:r>
            <a:endParaRPr/>
          </a:p>
        </p:txBody>
      </p:sp>
      <p:sp>
        <p:nvSpPr>
          <p:cNvPr id="490" name="Google Shape;490;p44"/>
          <p:cNvSpPr txBox="1"/>
          <p:nvPr>
            <p:ph idx="1" type="body"/>
          </p:nvPr>
        </p:nvSpPr>
        <p:spPr>
          <a:xfrm>
            <a:off x="381000" y="1524000"/>
            <a:ext cx="8382000" cy="460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Noto Sans Symbols"/>
              <a:buChar char="■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Covers larger area than LAN, e.g. a city, suburb, or large campus</a:t>
            </a:r>
            <a:endParaRPr sz="2400"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Noto Sans Symbols"/>
              <a:buChar char="■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Connects multiple LANs within the area to create a larger network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sz="2400"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</a:t>
            </a: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ample: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University network connecting multiple campuses or buildings</a:t>
            </a:r>
            <a:endParaRPr sz="2400"/>
          </a:p>
        </p:txBody>
      </p:sp>
      <p:pic>
        <p:nvPicPr>
          <p:cNvPr descr="MAN" id="491" name="Google Shape;49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50500" y="3935125"/>
            <a:ext cx="2840450" cy="276570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44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45"/>
          <p:cNvSpPr txBox="1"/>
          <p:nvPr>
            <p:ph type="title"/>
          </p:nvPr>
        </p:nvSpPr>
        <p:spPr>
          <a:xfrm>
            <a:off x="838200" y="381000"/>
            <a:ext cx="77930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Wide Area Network (WAN)</a:t>
            </a:r>
            <a:endParaRPr/>
          </a:p>
        </p:txBody>
      </p:sp>
      <p:sp>
        <p:nvSpPr>
          <p:cNvPr id="498" name="Google Shape;498;p45"/>
          <p:cNvSpPr txBox="1"/>
          <p:nvPr>
            <p:ph idx="1" type="body"/>
          </p:nvPr>
        </p:nvSpPr>
        <p:spPr>
          <a:xfrm>
            <a:off x="655637" y="1392237"/>
            <a:ext cx="7940675" cy="5076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Noto Sans Symbols"/>
              <a:buChar char="■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pans </a:t>
            </a: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large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geographical area</a:t>
            </a: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 like countries, continents, or even the entire world</a:t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Noto Sans Symbols"/>
              <a:buChar char="■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Connects multiple 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LANs and MANs separated by geographic distance</a:t>
            </a: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to form a global network</a:t>
            </a:r>
            <a:endParaRPr sz="2400"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Noto Sans Symbols"/>
              <a:buChar char="■"/>
            </a:pPr>
            <a:r>
              <a:rPr lang="en-US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Example: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Cellular Networks (GSM etc), corporate WANs (Amazon, Microsoft), Internet</a:t>
            </a:r>
            <a:endParaRPr sz="2400"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WAN" id="499" name="Google Shape;49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62275" y="3847300"/>
            <a:ext cx="23812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5625" y="4056062"/>
            <a:ext cx="5091111" cy="1963737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45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6"/>
          <p:cNvSpPr txBox="1"/>
          <p:nvPr>
            <p:ph type="title"/>
          </p:nvPr>
        </p:nvSpPr>
        <p:spPr>
          <a:xfrm>
            <a:off x="838200" y="381000"/>
            <a:ext cx="77930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b="0" i="0" lang="en-US" sz="4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Internet</a:t>
            </a:r>
            <a:endParaRPr/>
          </a:p>
        </p:txBody>
      </p:sp>
      <p:sp>
        <p:nvSpPr>
          <p:cNvPr id="507" name="Google Shape;507;p46"/>
          <p:cNvSpPr txBox="1"/>
          <p:nvPr>
            <p:ph idx="1" type="body"/>
          </p:nvPr>
        </p:nvSpPr>
        <p:spPr>
          <a:xfrm>
            <a:off x="457200" y="1323975"/>
            <a:ext cx="7940675" cy="5076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internet is defined as a global mesh of interconnected networks.</a:t>
            </a:r>
            <a:endParaRPr/>
          </a:p>
        </p:txBody>
      </p:sp>
      <p:pic>
        <p:nvPicPr>
          <p:cNvPr id="508" name="Google Shape;50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0862" y="2743200"/>
            <a:ext cx="4873625" cy="3633787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46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47"/>
          <p:cNvSpPr txBox="1"/>
          <p:nvPr>
            <p:ph type="title"/>
          </p:nvPr>
        </p:nvSpPr>
        <p:spPr>
          <a:xfrm>
            <a:off x="838200" y="381000"/>
            <a:ext cx="7793037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b="0" i="0" lang="en-US" sz="40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Internet</a:t>
            </a:r>
            <a:endParaRPr/>
          </a:p>
        </p:txBody>
      </p:sp>
      <p:sp>
        <p:nvSpPr>
          <p:cNvPr id="515" name="Google Shape;515;p47"/>
          <p:cNvSpPr txBox="1"/>
          <p:nvPr>
            <p:ph idx="1" type="body"/>
          </p:nvPr>
        </p:nvSpPr>
        <p:spPr>
          <a:xfrm>
            <a:off x="381000" y="1524000"/>
            <a:ext cx="8382000" cy="460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098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516" name="Google Shape;51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600200"/>
            <a:ext cx="8153400" cy="4159250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47"/>
          <p:cNvSpPr txBox="1"/>
          <p:nvPr/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8bce31cf49_0_0"/>
          <p:cNvSpPr txBox="1"/>
          <p:nvPr>
            <p:ph type="title"/>
          </p:nvPr>
        </p:nvSpPr>
        <p:spPr>
          <a:xfrm>
            <a:off x="838200" y="381000"/>
            <a:ext cx="77931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Effectiveness of a system depends upon:</a:t>
            </a:r>
            <a:endParaRPr/>
          </a:p>
        </p:txBody>
      </p:sp>
      <p:sp>
        <p:nvSpPr>
          <p:cNvPr id="524" name="Google Shape;524;g8bce31cf49_0_0"/>
          <p:cNvSpPr txBox="1"/>
          <p:nvPr>
            <p:ph idx="1" type="body"/>
          </p:nvPr>
        </p:nvSpPr>
        <p:spPr>
          <a:xfrm>
            <a:off x="381000" y="1524000"/>
            <a:ext cx="8382000" cy="46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4323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3380"/>
              <a:buChar char="●"/>
            </a:pPr>
            <a:r>
              <a:rPr lang="en-US" sz="4100"/>
              <a:t>Delivery</a:t>
            </a:r>
            <a:endParaRPr sz="4100"/>
          </a:p>
          <a:p>
            <a:pPr indent="-44323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80"/>
              <a:buChar char="●"/>
            </a:pPr>
            <a:r>
              <a:rPr lang="en-US" sz="4100"/>
              <a:t>Accuracy</a:t>
            </a:r>
            <a:endParaRPr sz="4100"/>
          </a:p>
          <a:p>
            <a:pPr indent="-44323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80"/>
              <a:buChar char="●"/>
            </a:pPr>
            <a:r>
              <a:rPr lang="en-US" sz="4100"/>
              <a:t>Timeliness</a:t>
            </a:r>
            <a:endParaRPr sz="4100"/>
          </a:p>
          <a:p>
            <a:pPr indent="-44323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80"/>
              <a:buChar char="●"/>
            </a:pPr>
            <a:r>
              <a:rPr lang="en-US" sz="4100"/>
              <a:t>Jitter</a:t>
            </a:r>
            <a:endParaRPr sz="4100"/>
          </a:p>
        </p:txBody>
      </p:sp>
      <p:sp>
        <p:nvSpPr>
          <p:cNvPr id="525" name="Google Shape;525;g8bce31cf49_0_0"/>
          <p:cNvSpPr txBox="1"/>
          <p:nvPr>
            <p:ph idx="12" type="sldNum"/>
          </p:nvPr>
        </p:nvSpPr>
        <p:spPr>
          <a:xfrm>
            <a:off x="7042150" y="6243637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1" name="Google Shape;531;g8bb42a4771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44725"/>
            <a:ext cx="9144000" cy="4167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8bb42a4771_0_5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38" name="Google Shape;538;g8bb42a4771_0_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0800" y="1351800"/>
            <a:ext cx="7711649" cy="4337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</cp:coreProperties>
</file>