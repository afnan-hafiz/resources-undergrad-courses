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embeddedFontLst>
    <p:embeddedFont>
      <p:font typeface="Tahoma"/>
      <p:regular r:id="rId33"/>
      <p:bold r:id="rId34"/>
    </p:embeddedFont>
    <p:embeddedFont>
      <p:font typeface="Noto Sans Symbols"/>
      <p:regular r:id="rId35"/>
      <p:bold r:id="rId36"/>
    </p:embeddedFont>
    <p:embeddedFont>
      <p:font typeface="Gill Sans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jA81bTY2aw8hKHZDLR0D/h+ZqU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Tahoma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NotoSansSymbols-regular.fntdata"/><Relationship Id="rId12" Type="http://schemas.openxmlformats.org/officeDocument/2006/relationships/slide" Target="slides/slide7.xml"/><Relationship Id="rId34" Type="http://schemas.openxmlformats.org/officeDocument/2006/relationships/font" Target="fonts/Tahoma-bold.fntdata"/><Relationship Id="rId15" Type="http://schemas.openxmlformats.org/officeDocument/2006/relationships/slide" Target="slides/slide10.xml"/><Relationship Id="rId37" Type="http://schemas.openxmlformats.org/officeDocument/2006/relationships/font" Target="fonts/GillSans-regular.fntdata"/><Relationship Id="rId14" Type="http://schemas.openxmlformats.org/officeDocument/2006/relationships/slide" Target="slides/slide9.xml"/><Relationship Id="rId36" Type="http://schemas.openxmlformats.org/officeDocument/2006/relationships/font" Target="fonts/NotoSansSymbols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Gill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518b3be57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g35518b3be5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5518b3be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" name="Google Shape;33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" name="Google Shape;34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/>
          <p:nvPr>
            <p:ph idx="1" type="body"/>
          </p:nvPr>
        </p:nvSpPr>
        <p:spPr>
          <a:xfrm>
            <a:off x="628650" y="365125"/>
            <a:ext cx="7886700" cy="5811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6" name="Google Shape;16;p4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7" name="Google Shape;17;p4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5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6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" name="Google Shape;22;p46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8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3" name="Google Shape;23;p46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47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6" name="Google Shape;26;p47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7" name="Google Shape;27;p47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1" baseline="-25000" i="1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28;p4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1" baseline="-25000" i="1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" name="Google Shape;29;p47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0" name="Google Shape;30;p47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1" baseline="-25000" i="1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1;p47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1" baseline="-25000" i="1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2" name="Google Shape;32;p47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" name="Google Shape;33;p47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" name="Google Shape;34;p47"/>
            <p:cNvSpPr/>
            <p:nvPr/>
          </p:nvSpPr>
          <p:spPr>
            <a:xfrm flipH="1" rot="10800000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5" name="Google Shape;35;p47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6" name="Google Shape;36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7" name="Google Shape;37;p47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47"/>
          <p:cNvSpPr txBox="1"/>
          <p:nvPr/>
        </p:nvSpPr>
        <p:spPr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McGraw-Hill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47"/>
          <p:cNvSpPr txBox="1"/>
          <p:nvPr/>
        </p:nvSpPr>
        <p:spPr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©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McGraw-Hill Companies, Inc., 2000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4" name="Google Shape;44;p48"/>
          <p:cNvSpPr txBox="1"/>
          <p:nvPr>
            <p:ph idx="1" type="body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5" name="Google Shape;45;p48"/>
          <p:cNvSpPr txBox="1"/>
          <p:nvPr>
            <p:ph idx="2" type="body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6" name="Google Shape;46;p48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9" name="Google Shape;49;p4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  <a:defRPr b="1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0" name="Google Shape;50;p4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1" name="Google Shape;51;p4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  <a:defRPr b="1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2" name="Google Shape;52;p4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3" name="Google Shape;53;p49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6" name="Google Shape;56;p50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9" name="Google Shape;59;p51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0" name="Google Shape;60;p51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6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55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1" name="Google Shape;61;p51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4" name="Google Shape;64;p5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5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6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55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6" name="Google Shape;66;p52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9" name="Google Shape;69;p5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0" name="Google Shape;70;p53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3" name="Google Shape;73;p54"/>
          <p:cNvSpPr txBox="1"/>
          <p:nvPr>
            <p:ph idx="1" type="body"/>
          </p:nvPr>
        </p:nvSpPr>
        <p:spPr>
          <a:xfrm rot="5400000">
            <a:off x="604044" y="389731"/>
            <a:ext cx="5811838" cy="576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4" name="Google Shape;74;p5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09696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/>
          <p:nvPr/>
        </p:nvSpPr>
        <p:spPr>
          <a:xfrm>
            <a:off x="1143000" y="2514600"/>
            <a:ext cx="6858000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Chapter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© The McGraw-Hill Companies, Inc. Permission required for reproduction or display.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type="title"/>
          </p:nvPr>
        </p:nvSpPr>
        <p:spPr>
          <a:xfrm>
            <a:off x="628650" y="681037"/>
            <a:ext cx="7886700" cy="1009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Link Layer and LANs</a:t>
            </a:r>
            <a:endParaRPr/>
          </a:p>
        </p:txBody>
      </p:sp>
      <p:sp>
        <p:nvSpPr>
          <p:cNvPr id="90" name="Google Shape;90;p3"/>
          <p:cNvSpPr txBox="1"/>
          <p:nvPr>
            <p:ph idx="1" type="body"/>
          </p:nvPr>
        </p:nvSpPr>
        <p:spPr>
          <a:xfrm>
            <a:off x="628650" y="15970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0"/>
              <a:buChar char="■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Link layer services: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155"/>
              <a:buChar char="■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Error detection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errors caused by signal attenuation, noise.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receiver detects presence of errors    signals sender for retransmission or drops frame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155"/>
              <a:buChar char="■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Error correction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receiver identifies </a:t>
            </a:r>
            <a:r>
              <a:rPr i="1" lang="en-US" sz="1800">
                <a:solidFill>
                  <a:srgbClr val="A03A3A"/>
                </a:solidFill>
                <a:latin typeface="Gill Sans"/>
                <a:ea typeface="Gill Sans"/>
                <a:cs typeface="Gill Sans"/>
                <a:sym typeface="Gill Sans"/>
              </a:rPr>
              <a:t>and corrects</a:t>
            </a:r>
            <a:r>
              <a:rPr lang="en-US" sz="1800">
                <a:solidFill>
                  <a:srgbClr val="A03A3A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bit error(s) without resorting to retransmission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155"/>
              <a:buChar char="■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Flow control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pacing between adjacent sending and receiving nodes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155"/>
              <a:buChar char="■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Framing - link layer addressing</a:t>
            </a:r>
            <a:endParaRPr sz="21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155"/>
              <a:buChar char="■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Sharing a </a:t>
            </a:r>
            <a:r>
              <a:rPr b="1" lang="en-US" sz="2100">
                <a:latin typeface="Gill Sans"/>
                <a:ea typeface="Gill Sans"/>
                <a:cs typeface="Gill Sans"/>
                <a:sym typeface="Gill Sans"/>
              </a:rPr>
              <a:t>broadcast/multipoint</a:t>
            </a: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 link : </a:t>
            </a:r>
            <a:r>
              <a:rPr b="1" lang="en-US" sz="2100">
                <a:solidFill>
                  <a:srgbClr val="A03A3A"/>
                </a:solidFill>
                <a:latin typeface="Gill Sans"/>
                <a:ea typeface="Gill Sans"/>
                <a:cs typeface="Gill Sans"/>
                <a:sym typeface="Gill Sans"/>
              </a:rPr>
              <a:t>Multiple access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 flipH="1" rot="10800000">
            <a:off x="5181600" y="2926080"/>
            <a:ext cx="165847" cy="7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1" baseline="-2500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4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4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4"/>
          <p:cNvSpPr txBox="1"/>
          <p:nvPr/>
        </p:nvSpPr>
        <p:spPr>
          <a:xfrm>
            <a:off x="152400" y="381000"/>
            <a:ext cx="862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link layer divided into two functionality-oriented sublayers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5125" y="2038350"/>
            <a:ext cx="537527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9" name="Google Shape;109;p5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5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5"/>
          <p:cNvSpPr txBox="1"/>
          <p:nvPr/>
        </p:nvSpPr>
        <p:spPr>
          <a:xfrm>
            <a:off x="304800" y="381000"/>
            <a:ext cx="85042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12.2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Taxonomy of multiple-access protocols discussed in this chapter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897063"/>
            <a:ext cx="6554787" cy="3284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228600" y="228600"/>
            <a:ext cx="481330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12-1   RANDOM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04800" y="1143000"/>
            <a:ext cx="82296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i="1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access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i="1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contention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methods, no station is superior to another station and none is assigned the control over another. No station permits, or does not permit, another station to send. At each instance, a station that has data to send uses a procedure defined by the protocol to make a decision on whether or not to send.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04800" y="4743450"/>
            <a:ext cx="7924800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ALOHA</a:t>
            </a:r>
            <a:b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Carrier Sense Multiple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Carrier Sense Multiple Access with Collision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Carrier Sense Multiple Access with Collision Avoidance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317500" y="4267200"/>
            <a:ext cx="4862513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discussed in this section: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53DEA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228600" y="228600"/>
            <a:ext cx="30682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12-1-1   ALOHA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457200" y="1676400"/>
            <a:ext cx="8032750" cy="2795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earliest random access method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 developed at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Hawaii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two variants: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03A3A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A0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Pure ALOHA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03A3A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A0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Slotted ALOHA</a:t>
            </a:r>
            <a:endParaRPr b="1" i="0" sz="2400" u="none" cap="none" strike="noStrike">
              <a:solidFill>
                <a:srgbClr val="A03A3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E98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228600" y="228600"/>
            <a:ext cx="28871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PURE ALOHA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04800" y="2290475"/>
            <a:ext cx="8229600" cy="30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original ALOHA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station sends a frame whenever it has a frame to send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there is only one channel to share, there is the possibility of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collision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frames from different stations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Basically, if you have something to send, just send it, brother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2" name="Google Shape;152;p9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9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9"/>
          <p:cNvSpPr txBox="1"/>
          <p:nvPr/>
        </p:nvSpPr>
        <p:spPr>
          <a:xfrm>
            <a:off x="304800" y="381000"/>
            <a:ext cx="54689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12.3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 in a pure ALOHA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9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075" y="1600200"/>
            <a:ext cx="8620124" cy="40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3" name="Google Shape;163;p10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10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0"/>
          <p:cNvSpPr txBox="1"/>
          <p:nvPr/>
        </p:nvSpPr>
        <p:spPr>
          <a:xfrm>
            <a:off x="304800" y="381000"/>
            <a:ext cx="5672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12.4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 for pure ALOHA protocol</a:t>
            </a:r>
            <a:endParaRPr b="1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6" name="Google Shape;166;p10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7" name="Google Shape;1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938" y="1206500"/>
            <a:ext cx="6088062" cy="47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4" name="Google Shape;174;p11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11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11"/>
          <p:cNvSpPr txBox="1"/>
          <p:nvPr/>
        </p:nvSpPr>
        <p:spPr>
          <a:xfrm>
            <a:off x="304800" y="381000"/>
            <a:ext cx="62690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12.5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Vulnerable time for pure ALOHA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11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8" name="Google Shape;1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1376363"/>
            <a:ext cx="6992937" cy="449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5" name="Google Shape;185;p12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12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2"/>
          <p:cNvSpPr txBox="1"/>
          <p:nvPr/>
        </p:nvSpPr>
        <p:spPr>
          <a:xfrm>
            <a:off x="304800" y="381000"/>
            <a:ext cx="543353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 : Vulnerable time for pure ALOHA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12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2"/>
          <p:cNvSpPr txBox="1"/>
          <p:nvPr/>
        </p:nvSpPr>
        <p:spPr>
          <a:xfrm>
            <a:off x="152400" y="1323426"/>
            <a:ext cx="8763000" cy="4239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A03A3A"/>
                </a:solidFill>
                <a:latin typeface="Times"/>
                <a:ea typeface="Times"/>
                <a:cs typeface="Times"/>
                <a:sym typeface="Times"/>
              </a:rPr>
              <a:t>Example 12.2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pure ALOHA network transmits 200-bit frames on a shared channel of 200 kbps. What is the requirement to make this frame collision-free?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Average frame transmission time 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is 200 bits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200 kbps or 1 ms. The vulnerable time is 2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⋅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 ms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ms. This means no station should send later than 1 ms before this station starts transmission 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no station should start sending during the period (1 ms) that this station is sending.</a:t>
            </a:r>
            <a:endParaRPr b="1" baseline="-25000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518b3be57_0_0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g35518b3be57_0_0"/>
          <p:cNvSpPr/>
          <p:nvPr/>
        </p:nvSpPr>
        <p:spPr>
          <a:xfrm>
            <a:off x="0" y="0"/>
            <a:ext cx="9144000" cy="672000"/>
          </a:xfrm>
          <a:prstGeom prst="rect">
            <a:avLst/>
          </a:prstGeom>
          <a:solidFill>
            <a:srgbClr val="FFE98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35518b3be57_0_0"/>
          <p:cNvSpPr txBox="1"/>
          <p:nvPr/>
        </p:nvSpPr>
        <p:spPr>
          <a:xfrm>
            <a:off x="211150" y="74400"/>
            <a:ext cx="288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PURE ALOHA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5518b3be57_0_0"/>
          <p:cNvSpPr txBox="1"/>
          <p:nvPr/>
        </p:nvSpPr>
        <p:spPr>
          <a:xfrm>
            <a:off x="8229600" y="6400800"/>
            <a:ext cx="18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9" name="Google Shape;199;g35518b3be57_0_0" title="aloh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825" y="776750"/>
            <a:ext cx="3003225" cy="592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E98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228600" y="228600"/>
            <a:ext cx="37094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SLOTTED ALOHA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304800" y="2290465"/>
            <a:ext cx="822960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slotted ALOHA the time is divided into slots of 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seconds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Stations can send frames </a:t>
            </a:r>
            <a:r>
              <a:rPr b="1" i="0" lang="en-US" sz="2400" u="none" cap="none" strike="noStrike">
                <a:solidFill>
                  <a:srgbClr val="A0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at the beginning of the time slot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the efficiency of pure ALOHA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6" name="Google Shape;216;p14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14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4"/>
          <p:cNvSpPr txBox="1"/>
          <p:nvPr/>
        </p:nvSpPr>
        <p:spPr>
          <a:xfrm>
            <a:off x="304800" y="381000"/>
            <a:ext cx="566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12.6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 in a slotted ALOHA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14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0" name="Google Shape;2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938" y="1433513"/>
            <a:ext cx="8501062" cy="3976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7" name="Google Shape;227;p15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15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15"/>
          <p:cNvSpPr txBox="1"/>
          <p:nvPr/>
        </p:nvSpPr>
        <p:spPr>
          <a:xfrm>
            <a:off x="304800" y="381000"/>
            <a:ext cx="64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12.7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Vulnerable time for slotted ALOHA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p15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1" name="Google Shape;2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700" y="1430338"/>
            <a:ext cx="7632700" cy="436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0" y="-76200"/>
            <a:ext cx="9144000" cy="990600"/>
          </a:xfrm>
          <a:prstGeom prst="rect">
            <a:avLst/>
          </a:prstGeom>
          <a:solidFill>
            <a:srgbClr val="53DEA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228600" y="228600"/>
            <a:ext cx="27943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12-1-2   CSMA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390525" y="2336393"/>
            <a:ext cx="803275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Carrier Sense Multiple Access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Senses the medium before sending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the possibility of collision, but it cannot eliminate it due to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propagation delay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8" name="Google Shape;248;p26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26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26"/>
          <p:cNvSpPr txBox="1"/>
          <p:nvPr/>
        </p:nvSpPr>
        <p:spPr>
          <a:xfrm>
            <a:off x="304800" y="381000"/>
            <a:ext cx="856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12.15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level during transmission, idleness, or collision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26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2" name="Google Shape;2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388" y="2378075"/>
            <a:ext cx="7212012" cy="22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9" name="Google Shape;259;p17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17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7"/>
          <p:cNvSpPr txBox="1"/>
          <p:nvPr/>
        </p:nvSpPr>
        <p:spPr>
          <a:xfrm>
            <a:off x="304800" y="381000"/>
            <a:ext cx="61566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12.8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Space/time model of a collision in CSMA</a:t>
            </a:r>
            <a:endParaRPr b="1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2" name="Google Shape;262;p17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63" name="Google Shape;2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89674"/>
            <a:ext cx="7171804" cy="347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0" name="Google Shape;270;p18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18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8"/>
          <p:cNvSpPr txBox="1"/>
          <p:nvPr/>
        </p:nvSpPr>
        <p:spPr>
          <a:xfrm>
            <a:off x="304800" y="381000"/>
            <a:ext cx="453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12.9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Vulnerable time in CSMA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18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4" name="Google Shape;2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057400"/>
            <a:ext cx="8839200" cy="329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1" name="Google Shape;281;p19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9"/>
          <p:cNvCxnSpPr/>
          <p:nvPr/>
        </p:nvCxnSpPr>
        <p:spPr>
          <a:xfrm>
            <a:off x="152400" y="8382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9"/>
          <p:cNvSpPr txBox="1"/>
          <p:nvPr/>
        </p:nvSpPr>
        <p:spPr>
          <a:xfrm>
            <a:off x="304800" y="228599"/>
            <a:ext cx="70527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12.10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 of three persistence methods of CSMA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19"/>
          <p:cNvCxnSpPr/>
          <p:nvPr/>
        </p:nvCxnSpPr>
        <p:spPr>
          <a:xfrm>
            <a:off x="152400" y="64008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5" name="Google Shape;2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6" y="1710627"/>
            <a:ext cx="7647208" cy="3436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0" y="-76200"/>
            <a:ext cx="9144000" cy="990600"/>
          </a:xfrm>
          <a:prstGeom prst="rect">
            <a:avLst/>
          </a:prstGeom>
          <a:solidFill>
            <a:srgbClr val="53DEA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228600" y="228600"/>
            <a:ext cx="35012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12-1-3   CSMA/CD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390525" y="1295400"/>
            <a:ext cx="8032750" cy="4585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Carrier Sense Multiple Access with Collision Detection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CSMA method does not specify the procedure following a collision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CSMA/CD augments the algorithm to handle the collision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medium is monitored continuously by each station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a collision,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Immediately aborts transmission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frame is sent again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2" name="Google Shape;302;p21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21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21"/>
          <p:cNvSpPr txBox="1"/>
          <p:nvPr/>
        </p:nvSpPr>
        <p:spPr>
          <a:xfrm>
            <a:off x="304800" y="381000"/>
            <a:ext cx="805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12.12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Collision of the first bit in CSMA/CD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21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06" name="Google Shape;3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2033588"/>
            <a:ext cx="9058275" cy="2614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3" name="Google Shape;313;p22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22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22"/>
          <p:cNvSpPr txBox="1"/>
          <p:nvPr/>
        </p:nvSpPr>
        <p:spPr>
          <a:xfrm>
            <a:off x="304800" y="381000"/>
            <a:ext cx="5705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12.13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Collision and abortion in CSMA/CD</a:t>
            </a:r>
            <a:endParaRPr b="0" baseline="-2500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6" name="Google Shape;316;p22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7" name="Google Shape;3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25" y="2081213"/>
            <a:ext cx="8994775" cy="294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4" name="Google Shape;324;p23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23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23"/>
          <p:cNvSpPr txBox="1"/>
          <p:nvPr/>
        </p:nvSpPr>
        <p:spPr>
          <a:xfrm>
            <a:off x="304800" y="381000"/>
            <a:ext cx="305404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Frame Size</a:t>
            </a:r>
            <a:endParaRPr b="1" baseline="-2500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7" name="Google Shape;327;p23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23"/>
          <p:cNvSpPr/>
          <p:nvPr/>
        </p:nvSpPr>
        <p:spPr>
          <a:xfrm>
            <a:off x="304800" y="2605687"/>
            <a:ext cx="8458200" cy="1173653"/>
          </a:xfrm>
          <a:prstGeom prst="rect">
            <a:avLst/>
          </a:prstGeom>
          <a:solidFill>
            <a:srgbClr val="D0D0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frame transmission time </a:t>
            </a:r>
            <a:r>
              <a:rPr b="1" i="1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</a:t>
            </a:r>
            <a:r>
              <a:rPr b="1" i="1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be at least two times the maximum propagation time </a:t>
            </a:r>
            <a:r>
              <a:rPr b="1" i="1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b="1" baseline="-25000" i="1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228600" y="973138"/>
            <a:ext cx="8686800" cy="2227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network using CSMA/CD has a bandwidth of 10 Mbps. If the maximum propagation time (including the delays in the devices and ignoring the time needed to send a jamming signal, as we see later) is 25.6 μs, what is the minimum size of the frame?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4"/>
          <p:cNvSpPr txBox="1"/>
          <p:nvPr/>
        </p:nvSpPr>
        <p:spPr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-US" sz="32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12.5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152400" y="3276600"/>
            <a:ext cx="8686800" cy="30813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frame transmission time is T</a:t>
            </a:r>
            <a:r>
              <a:rPr b="1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 × T</a:t>
            </a:r>
            <a:r>
              <a:rPr b="1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51.2 μs. This means, in the worst case, a station needs to transmit for a period of 51.2 μs to detect the collision. The minimum size of the frame is 10 Mbps × 51.2 μs = 512 bits or 64 bytes. This is actually the minimum size of the frame for Standard Ethernet.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1" name="Google Shape;351;p25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25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25"/>
          <p:cNvSpPr txBox="1"/>
          <p:nvPr/>
        </p:nvSpPr>
        <p:spPr>
          <a:xfrm>
            <a:off x="304800" y="381000"/>
            <a:ext cx="5387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12.14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diagram for the CSMA/CD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25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55" name="Google Shape;3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813" y="1012825"/>
            <a:ext cx="6297612" cy="50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1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END!</a:t>
            </a:r>
            <a:endParaRPr/>
          </a:p>
        </p:txBody>
      </p:sp>
      <p:sp>
        <p:nvSpPr>
          <p:cNvPr id="361" name="Google Shape;361;p41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2000-01-15T04:50:39Z</dcterms:created>
  <dc:creator>Valued Gateway Client</dc:creator>
</cp:coreProperties>
</file>