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Lst>
  <p:sldSz cy="6858000" cx="9144000"/>
  <p:notesSz cx="6858000" cy="9144000"/>
  <p:embeddedFontLst>
    <p:embeddedFont>
      <p:font typeface="Montserrat Medium"/>
      <p:regular r:id="rId98"/>
      <p:bold r:id="rId99"/>
      <p:italic r:id="rId100"/>
      <p:boldItalic r:id="rId101"/>
    </p:embeddedFont>
    <p:embeddedFont>
      <p:font typeface="Tahoma"/>
      <p:regular r:id="rId102"/>
      <p:bold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04" roundtripDataSignature="AMtx7mjUZyIAijZGP0K90/ro6lRM3Sxs3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4" Type="http://customschemas.google.com/relationships/presentationmetadata" Target="metadata"/><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font" Target="fonts/Tahoma-bold.fntdata"/><Relationship Id="rId102" Type="http://schemas.openxmlformats.org/officeDocument/2006/relationships/font" Target="fonts/Tahoma-regular.fntdata"/><Relationship Id="rId101" Type="http://schemas.openxmlformats.org/officeDocument/2006/relationships/font" Target="fonts/MontserratMedium-boldItalic.fntdata"/><Relationship Id="rId100" Type="http://schemas.openxmlformats.org/officeDocument/2006/relationships/font" Target="fonts/MontserratMedium-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font" Target="fonts/MontserratMedium-bold.fntdata"/><Relationship Id="rId10" Type="http://schemas.openxmlformats.org/officeDocument/2006/relationships/slide" Target="slides/slide5.xml"/><Relationship Id="rId98" Type="http://schemas.openxmlformats.org/officeDocument/2006/relationships/font" Target="fonts/MontserratMedium-regular.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Clr>
                <a:srgbClr val="000000"/>
              </a:buClr>
              <a:buSzPts val="1400"/>
              <a:buFont typeface="Arial"/>
              <a:buNone/>
              <a:defRPr b="1" baseline="-25000" i="1" sz="28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 name="Google Shape;6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2" name="Google Shape;14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3" name="Google Shape;273;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3a226f92c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9" name="Google Shape;309;g33a226f92c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3a226f92c9_0_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g33a226f92c9_0_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0" name="Google Shape;39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8" name="Google Shape;4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3a226f92c9_0_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g33a226f92c9_0_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9fb05e73f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g39fb05e73f4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3a226f92c9_0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g33a226f92c9_0_1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3913e7689a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g33913e7689a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3af00dd1ff_0_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8" name="Google Shape;558;g33af00dd1ff_0_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3af00dd1ff_0_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0" name="Google Shape;570;g33af00dd1ff_0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3270fb481d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2" name="Google Shape;592;g33270fb481d_0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7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13" name="Google Shape;61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4" name="Google Shape;614;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8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25" name="Google Shape;625;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8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36" name="Google Shape;636;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7" name="Google Shape;637;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8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47" name="Google Shape;64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8" name="Google Shape;658;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4" name="Google Shape;674;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0" name="Google Shape;690;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3a226f92c9_0_2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7" name="Google Shape;707;g33a226f92c9_0_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3a226f92c9_0_3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4" name="Google Shape;724;g33a226f92c9_0_3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0" name="Google Shape;740;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33c0c73660d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1" name="Google Shape;751;g33c0c73660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8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6" name="Google Shape;776;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8" name="Google Shape;798;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6" name="Google Shape;81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4" name="Google Shape;83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8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7" name="Google Shape;87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8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893" name="Google Shape;893;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4" name="Google Shape;894;p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1" name="Google Shape;911;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3" name="Google Shape;92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3" name="Google Shape;93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9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44" name="Google Shape;944;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5" name="Google Shape;945;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8" name="Google Shape;958;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4" name="Shape 974"/>
        <p:cNvGrpSpPr/>
        <p:nvPr/>
      </p:nvGrpSpPr>
      <p:grpSpPr>
        <a:xfrm>
          <a:off x="0" y="0"/>
          <a:ext cx="0" cy="0"/>
          <a:chOff x="0" y="0"/>
          <a:chExt cx="0" cy="0"/>
        </a:xfrm>
      </p:grpSpPr>
      <p:sp>
        <p:nvSpPr>
          <p:cNvPr id="975" name="Google Shape;975;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6" name="Google Shape;976;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4" name="Google Shape;994;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3c0c73660d_0_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g33c0c73660d_0_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4" name="Google Shape;1034;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8" name="Google Shape;1068;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33c0c73660d_0_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4" name="Google Shape;1104;g33c0c73660d_0_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2" name="Google Shape;1122;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8" name="Google Shape;1158;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4" name="Google Shape;119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8" name="Google Shape;1228;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3c0c73660d_0_1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3c0c73660d_0_1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0" name="Shape 1260"/>
        <p:cNvGrpSpPr/>
        <p:nvPr/>
      </p:nvGrpSpPr>
      <p:grpSpPr>
        <a:xfrm>
          <a:off x="0" y="0"/>
          <a:ext cx="0" cy="0"/>
          <a:chOff x="0" y="0"/>
          <a:chExt cx="0" cy="0"/>
        </a:xfrm>
      </p:grpSpPr>
      <p:sp>
        <p:nvSpPr>
          <p:cNvPr id="1261" name="Google Shape;1261;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2" name="Google Shape;1262;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3" name="Google Shape;1273;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1" name="Google Shape;1291;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5" name="Shape 1305"/>
        <p:cNvGrpSpPr/>
        <p:nvPr/>
      </p:nvGrpSpPr>
      <p:grpSpPr>
        <a:xfrm>
          <a:off x="0" y="0"/>
          <a:ext cx="0" cy="0"/>
          <a:chOff x="0" y="0"/>
          <a:chExt cx="0" cy="0"/>
        </a:xfrm>
      </p:grpSpPr>
      <p:sp>
        <p:nvSpPr>
          <p:cNvPr id="1306" name="Google Shape;1306;g33c0c73660d_0_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7" name="Google Shape;1307;g33c0c73660d_0_2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1" name="Shape 1321"/>
        <p:cNvGrpSpPr/>
        <p:nvPr/>
      </p:nvGrpSpPr>
      <p:grpSpPr>
        <a:xfrm>
          <a:off x="0" y="0"/>
          <a:ext cx="0" cy="0"/>
          <a:chOff x="0" y="0"/>
          <a:chExt cx="0" cy="0"/>
        </a:xfrm>
      </p:grpSpPr>
      <p:sp>
        <p:nvSpPr>
          <p:cNvPr id="1322" name="Google Shape;1322;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3" name="Google Shape;1323;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1" name="Google Shape;1341;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7" name="Google Shape;1357;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2" name="Shape 1372"/>
        <p:cNvGrpSpPr/>
        <p:nvPr/>
      </p:nvGrpSpPr>
      <p:grpSpPr>
        <a:xfrm>
          <a:off x="0" y="0"/>
          <a:ext cx="0" cy="0"/>
          <a:chOff x="0" y="0"/>
          <a:chExt cx="0" cy="0"/>
        </a:xfrm>
      </p:grpSpPr>
      <p:sp>
        <p:nvSpPr>
          <p:cNvPr id="1373" name="Google Shape;1373;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74" name="Google Shape;1374;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type="objOnly">
  <p:cSld name="OBJECT_ONLY">
    <p:spTree>
      <p:nvGrpSpPr>
        <p:cNvPr id="11" name="Shape 11"/>
        <p:cNvGrpSpPr/>
        <p:nvPr/>
      </p:nvGrpSpPr>
      <p:grpSpPr>
        <a:xfrm>
          <a:off x="0" y="0"/>
          <a:ext cx="0" cy="0"/>
          <a:chOff x="0" y="0"/>
          <a:chExt cx="0" cy="0"/>
        </a:xfrm>
      </p:grpSpPr>
      <p:sp>
        <p:nvSpPr>
          <p:cNvPr id="12" name="Google Shape;12;p67"/>
          <p:cNvSpPr txBox="1"/>
          <p:nvPr>
            <p:ph idx="1" type="body"/>
          </p:nvPr>
        </p:nvSpPr>
        <p:spPr>
          <a:xfrm>
            <a:off x="628650" y="365125"/>
            <a:ext cx="7886700" cy="58118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3" name="Google Shape;13;p6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68"/>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69"/>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18" name="Google Shape;18;p6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19" name="Google Shape;19;p69"/>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 name="Shape 20"/>
        <p:cNvGrpSpPr/>
        <p:nvPr/>
      </p:nvGrpSpPr>
      <p:grpSpPr>
        <a:xfrm>
          <a:off x="0" y="0"/>
          <a:ext cx="0" cy="0"/>
          <a:chOff x="0" y="0"/>
          <a:chExt cx="0" cy="0"/>
        </a:xfrm>
      </p:grpSpPr>
      <p:sp>
        <p:nvSpPr>
          <p:cNvPr id="21" name="Google Shape;21;p70"/>
          <p:cNvSpPr txBox="1"/>
          <p:nvPr>
            <p:ph type="title"/>
          </p:nvPr>
        </p:nvSpPr>
        <p:spPr>
          <a:xfrm rot="5400000">
            <a:off x="4623593" y="2285206"/>
            <a:ext cx="5811838" cy="19716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2" name="Google Shape;22;p70"/>
          <p:cNvSpPr txBox="1"/>
          <p:nvPr>
            <p:ph idx="1" type="body"/>
          </p:nvPr>
        </p:nvSpPr>
        <p:spPr>
          <a:xfrm rot="5400000">
            <a:off x="604044" y="389732"/>
            <a:ext cx="5811838" cy="5762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3" name="Google Shape;23;p70"/>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 name="Shape 24"/>
        <p:cNvGrpSpPr/>
        <p:nvPr/>
      </p:nvGrpSpPr>
      <p:grpSpPr>
        <a:xfrm>
          <a:off x="0" y="0"/>
          <a:ext cx="0" cy="0"/>
          <a:chOff x="0" y="0"/>
          <a:chExt cx="0" cy="0"/>
        </a:xfrm>
      </p:grpSpPr>
      <p:sp>
        <p:nvSpPr>
          <p:cNvPr id="25" name="Google Shape;25;p71"/>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26" name="Google Shape;26;p7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27" name="Google Shape;27;p71"/>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72"/>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0" name="Google Shape;30;p72"/>
          <p:cNvSpPr/>
          <p:nvPr>
            <p:ph idx="2" type="pic"/>
          </p:nvPr>
        </p:nvSpPr>
        <p:spPr>
          <a:xfrm>
            <a:off x="3887788" y="987425"/>
            <a:ext cx="4629150" cy="4873625"/>
          </a:xfrm>
          <a:prstGeom prst="rect">
            <a:avLst/>
          </a:prstGeom>
          <a:noFill/>
          <a:ln>
            <a:noFill/>
          </a:ln>
        </p:spPr>
      </p:sp>
      <p:sp>
        <p:nvSpPr>
          <p:cNvPr id="31" name="Google Shape;31;p72"/>
          <p:cNvSpPr txBox="1"/>
          <p:nvPr>
            <p:ph idx="1"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2" name="Google Shape;32;p72"/>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 name="Shape 33"/>
        <p:cNvGrpSpPr/>
        <p:nvPr/>
      </p:nvGrpSpPr>
      <p:grpSpPr>
        <a:xfrm>
          <a:off x="0" y="0"/>
          <a:ext cx="0" cy="0"/>
          <a:chOff x="0" y="0"/>
          <a:chExt cx="0" cy="0"/>
        </a:xfrm>
      </p:grpSpPr>
      <p:sp>
        <p:nvSpPr>
          <p:cNvPr id="34" name="Google Shape;34;p73"/>
          <p:cNvSpPr txBox="1"/>
          <p:nvPr>
            <p:ph type="title"/>
          </p:nvPr>
        </p:nvSpPr>
        <p:spPr>
          <a:xfrm>
            <a:off x="630238" y="457200"/>
            <a:ext cx="2949575" cy="1600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32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35" name="Google Shape;35;p73"/>
          <p:cNvSpPr txBox="1"/>
          <p:nvPr>
            <p:ph idx="1" type="body"/>
          </p:nvPr>
        </p:nvSpPr>
        <p:spPr>
          <a:xfrm>
            <a:off x="3887788" y="987425"/>
            <a:ext cx="4629150" cy="4873625"/>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9pPr>
          </a:lstStyle>
          <a:p/>
        </p:txBody>
      </p:sp>
      <p:sp>
        <p:nvSpPr>
          <p:cNvPr id="36" name="Google Shape;36;p73"/>
          <p:cNvSpPr txBox="1"/>
          <p:nvPr>
            <p:ph idx="2" type="body"/>
          </p:nvPr>
        </p:nvSpPr>
        <p:spPr>
          <a:xfrm>
            <a:off x="630238" y="2057400"/>
            <a:ext cx="2949575"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20"/>
              </a:spcBef>
              <a:spcAft>
                <a:spcPts val="0"/>
              </a:spcAft>
              <a:buClr>
                <a:schemeClr val="folHlink"/>
              </a:buClr>
              <a:buSzPts val="960"/>
              <a:buFont typeface="Noto Sans Symbols"/>
              <a:buNone/>
              <a:defRPr b="0" i="0" sz="1600" u="none" cap="none" strike="noStrike">
                <a:solidFill>
                  <a:schemeClr val="dk1"/>
                </a:solidFill>
                <a:latin typeface="Tahoma"/>
                <a:ea typeface="Tahoma"/>
                <a:cs typeface="Tahoma"/>
                <a:sym typeface="Tahoma"/>
              </a:defRPr>
            </a:lvl1pPr>
            <a:lvl2pPr indent="-228600" lvl="1" marL="914400" marR="0" rtl="0" algn="l">
              <a:lnSpc>
                <a:spcPct val="100000"/>
              </a:lnSpc>
              <a:spcBef>
                <a:spcPts val="280"/>
              </a:spcBef>
              <a:spcAft>
                <a:spcPts val="0"/>
              </a:spcAft>
              <a:buClr>
                <a:schemeClr val="hlink"/>
              </a:buClr>
              <a:buSzPts val="770"/>
              <a:buFont typeface="Noto Sans Symbols"/>
              <a:buNone/>
              <a:defRPr b="0" i="0" sz="1400" u="none" cap="none" strike="noStrike">
                <a:solidFill>
                  <a:schemeClr val="dk1"/>
                </a:solidFill>
                <a:latin typeface="Tahoma"/>
                <a:ea typeface="Tahoma"/>
                <a:cs typeface="Tahoma"/>
                <a:sym typeface="Tahoma"/>
              </a:defRPr>
            </a:lvl2pPr>
            <a:lvl3pPr indent="-228600" lvl="2" marL="1371600" marR="0" rtl="0" algn="l">
              <a:lnSpc>
                <a:spcPct val="100000"/>
              </a:lnSpc>
              <a:spcBef>
                <a:spcPts val="240"/>
              </a:spcBef>
              <a:spcAft>
                <a:spcPts val="0"/>
              </a:spcAft>
              <a:buClr>
                <a:schemeClr val="folHlink"/>
              </a:buClr>
              <a:buSzPts val="600"/>
              <a:buFont typeface="Noto Sans Symbols"/>
              <a:buNone/>
              <a:defRPr b="0" i="0" sz="1200" u="none" cap="none" strike="noStrike">
                <a:solidFill>
                  <a:schemeClr val="dk1"/>
                </a:solidFill>
                <a:latin typeface="Tahoma"/>
                <a:ea typeface="Tahoma"/>
                <a:cs typeface="Tahoma"/>
                <a:sym typeface="Tahoma"/>
              </a:defRPr>
            </a:lvl3pPr>
            <a:lvl4pPr indent="-228600" lvl="3" marL="1828800" marR="0" rtl="0" algn="l">
              <a:lnSpc>
                <a:spcPct val="100000"/>
              </a:lnSpc>
              <a:spcBef>
                <a:spcPts val="200"/>
              </a:spcBef>
              <a:spcAft>
                <a:spcPts val="0"/>
              </a:spcAft>
              <a:buClr>
                <a:schemeClr val="accent2"/>
              </a:buClr>
              <a:buSzPts val="550"/>
              <a:buFont typeface="Noto Sans Symbols"/>
              <a:buNone/>
              <a:defRPr b="0" i="0" sz="1000" u="none" cap="none" strike="noStrike">
                <a:solidFill>
                  <a:schemeClr val="dk1"/>
                </a:solidFill>
                <a:latin typeface="Tahoma"/>
                <a:ea typeface="Tahoma"/>
                <a:cs typeface="Tahoma"/>
                <a:sym typeface="Tahoma"/>
              </a:defRPr>
            </a:lvl4pPr>
            <a:lvl5pPr indent="-228600" lvl="4" marL="2286000" marR="0" rtl="0" algn="l">
              <a:lnSpc>
                <a:spcPct val="100000"/>
              </a:lnSpc>
              <a:spcBef>
                <a:spcPts val="200"/>
              </a:spcBef>
              <a:spcAft>
                <a:spcPts val="0"/>
              </a:spcAft>
              <a:buClr>
                <a:schemeClr val="accent1"/>
              </a:buClr>
              <a:buSzPts val="500"/>
              <a:buFont typeface="Noto Sans Symbols"/>
              <a:buNone/>
              <a:defRPr b="0" i="0" sz="10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Tahoma"/>
                <a:ea typeface="Tahoma"/>
                <a:cs typeface="Tahoma"/>
                <a:sym typeface="Tahoma"/>
              </a:defRPr>
            </a:lvl9pPr>
          </a:lstStyle>
          <a:p/>
        </p:txBody>
      </p:sp>
      <p:sp>
        <p:nvSpPr>
          <p:cNvPr id="37" name="Google Shape;37;p73"/>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74"/>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0" name="Google Shape;40;p74"/>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5"/>
          <p:cNvSpPr txBox="1"/>
          <p:nvPr>
            <p:ph type="title"/>
          </p:nvPr>
        </p:nvSpPr>
        <p:spPr>
          <a:xfrm>
            <a:off x="630238"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43" name="Google Shape;43;p75"/>
          <p:cNvSpPr txBox="1"/>
          <p:nvPr>
            <p:ph idx="1" type="body"/>
          </p:nvPr>
        </p:nvSpPr>
        <p:spPr>
          <a:xfrm>
            <a:off x="630238" y="1681163"/>
            <a:ext cx="386873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4" name="Google Shape;44;p75"/>
          <p:cNvSpPr txBox="1"/>
          <p:nvPr>
            <p:ph idx="2" type="body"/>
          </p:nvPr>
        </p:nvSpPr>
        <p:spPr>
          <a:xfrm>
            <a:off x="630238" y="2505075"/>
            <a:ext cx="3868737"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5" name="Google Shape;45;p75"/>
          <p:cNvSpPr txBox="1"/>
          <p:nvPr>
            <p:ph idx="3" type="body"/>
          </p:nvPr>
        </p:nvSpPr>
        <p:spPr>
          <a:xfrm>
            <a:off x="4629150" y="1681163"/>
            <a:ext cx="38877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1"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1"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1"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1"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1"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Tahoma"/>
                <a:ea typeface="Tahoma"/>
                <a:cs typeface="Tahoma"/>
                <a:sym typeface="Tahoma"/>
              </a:defRPr>
            </a:lvl9pPr>
          </a:lstStyle>
          <a:p/>
        </p:txBody>
      </p:sp>
      <p:sp>
        <p:nvSpPr>
          <p:cNvPr id="46" name="Google Shape;46;p75"/>
          <p:cNvSpPr txBox="1"/>
          <p:nvPr>
            <p:ph idx="4" type="body"/>
          </p:nvPr>
        </p:nvSpPr>
        <p:spPr>
          <a:xfrm>
            <a:off x="4629150" y="2505075"/>
            <a:ext cx="3887788" cy="368458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47" name="Google Shape;47;p75"/>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6"/>
          <p:cNvSpPr txBox="1"/>
          <p:nvPr>
            <p:ph type="title"/>
          </p:nvPr>
        </p:nvSpPr>
        <p:spPr>
          <a:xfrm>
            <a:off x="628650" y="365125"/>
            <a:ext cx="7886700" cy="13255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0" name="Google Shape;50;p76"/>
          <p:cNvSpPr txBox="1"/>
          <p:nvPr>
            <p:ph idx="1" type="body"/>
          </p:nvPr>
        </p:nvSpPr>
        <p:spPr>
          <a:xfrm>
            <a:off x="62865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1" name="Google Shape;51;p76"/>
          <p:cNvSpPr txBox="1"/>
          <p:nvPr>
            <p:ph idx="2" type="body"/>
          </p:nvPr>
        </p:nvSpPr>
        <p:spPr>
          <a:xfrm>
            <a:off x="4648200" y="1825625"/>
            <a:ext cx="3867150" cy="4351338"/>
          </a:xfrm>
          <a:prstGeom prst="rect">
            <a:avLst/>
          </a:prstGeom>
          <a:noFill/>
          <a:ln>
            <a:noFill/>
          </a:ln>
        </p:spPr>
        <p:txBody>
          <a:bodyPr anchorCtr="0" anchor="t" bIns="45700" lIns="91425" spcFirstLastPara="1" rIns="91425" wrap="square" tIns="45700">
            <a:noAutofit/>
          </a:bodyPr>
          <a:lstStyle>
            <a:lvl1pPr indent="-350520" lvl="0" marL="457200" marR="0" rtl="0" algn="l">
              <a:lnSpc>
                <a:spcPct val="100000"/>
              </a:lnSpc>
              <a:spcBef>
                <a:spcPts val="640"/>
              </a:spcBef>
              <a:spcAft>
                <a:spcPts val="0"/>
              </a:spcAft>
              <a:buClr>
                <a:schemeClr val="folHlink"/>
              </a:buClr>
              <a:buSzPts val="1920"/>
              <a:buFont typeface="Noto Sans Symbols"/>
              <a:buChar char="■"/>
              <a:defRPr b="0" i="0" sz="3200" u="none" cap="none" strike="noStrike">
                <a:solidFill>
                  <a:schemeClr val="dk1"/>
                </a:solidFill>
                <a:latin typeface="Tahoma"/>
                <a:ea typeface="Tahoma"/>
                <a:cs typeface="Tahoma"/>
                <a:sym typeface="Tahoma"/>
              </a:defRPr>
            </a:lvl1pPr>
            <a:lvl2pPr indent="-326390" lvl="1" marL="914400" marR="0" rtl="0" algn="l">
              <a:lnSpc>
                <a:spcPct val="100000"/>
              </a:lnSpc>
              <a:spcBef>
                <a:spcPts val="560"/>
              </a:spcBef>
              <a:spcAft>
                <a:spcPts val="0"/>
              </a:spcAft>
              <a:buClr>
                <a:schemeClr val="hlink"/>
              </a:buClr>
              <a:buSzPts val="1540"/>
              <a:buFont typeface="Noto Sans Symbols"/>
              <a:buChar char="■"/>
              <a:defRPr b="0" i="0" sz="2800" u="none" cap="none" strike="noStrike">
                <a:solidFill>
                  <a:schemeClr val="dk1"/>
                </a:solidFill>
                <a:latin typeface="Tahoma"/>
                <a:ea typeface="Tahoma"/>
                <a:cs typeface="Tahoma"/>
                <a:sym typeface="Tahoma"/>
              </a:defRPr>
            </a:lvl2pPr>
            <a:lvl3pPr indent="-304800" lvl="2" marL="1371600" marR="0" rtl="0" algn="l">
              <a:lnSpc>
                <a:spcPct val="10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10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10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ahoma"/>
                <a:ea typeface="Tahoma"/>
                <a:cs typeface="Tahoma"/>
                <a:sym typeface="Tahoma"/>
              </a:defRPr>
            </a:lvl9pPr>
          </a:lstStyle>
          <a:p/>
        </p:txBody>
      </p:sp>
      <p:sp>
        <p:nvSpPr>
          <p:cNvPr id="52" name="Google Shape;52;p7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77"/>
          <p:cNvSpPr txBox="1"/>
          <p:nvPr>
            <p:ph type="title"/>
          </p:nvPr>
        </p:nvSpPr>
        <p:spPr>
          <a:xfrm>
            <a:off x="623888" y="1709738"/>
            <a:ext cx="7886700" cy="2852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000" u="none" cap="none" strike="noStrike">
                <a:solidFill>
                  <a:schemeClr val="dk2"/>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4400" u="none" cap="none" strike="noStrike">
                <a:solidFill>
                  <a:schemeClr val="dk2"/>
                </a:solidFill>
                <a:latin typeface="Tahoma"/>
                <a:ea typeface="Tahoma"/>
                <a:cs typeface="Tahoma"/>
                <a:sym typeface="Tahoma"/>
              </a:defRPr>
            </a:lvl9pPr>
          </a:lstStyle>
          <a:p/>
        </p:txBody>
      </p:sp>
      <p:sp>
        <p:nvSpPr>
          <p:cNvPr id="55" name="Google Shape;55;p77"/>
          <p:cNvSpPr txBox="1"/>
          <p:nvPr>
            <p:ph idx="1" type="body"/>
          </p:nvPr>
        </p:nvSpPr>
        <p:spPr>
          <a:xfrm>
            <a:off x="623888" y="4589463"/>
            <a:ext cx="78867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480"/>
              </a:spcBef>
              <a:spcAft>
                <a:spcPts val="0"/>
              </a:spcAft>
              <a:buClr>
                <a:schemeClr val="folHlink"/>
              </a:buClr>
              <a:buSzPts val="1440"/>
              <a:buFont typeface="Noto Sans Symbols"/>
              <a:buNone/>
              <a:defRPr b="0" i="0" sz="2400" u="none" cap="none" strike="noStrike">
                <a:solidFill>
                  <a:schemeClr val="dk1"/>
                </a:solidFill>
                <a:latin typeface="Tahoma"/>
                <a:ea typeface="Tahoma"/>
                <a:cs typeface="Tahoma"/>
                <a:sym typeface="Tahoma"/>
              </a:defRPr>
            </a:lvl1pPr>
            <a:lvl2pPr indent="-228600" lvl="1" marL="914400" marR="0" rtl="0" algn="l">
              <a:lnSpc>
                <a:spcPct val="100000"/>
              </a:lnSpc>
              <a:spcBef>
                <a:spcPts val="400"/>
              </a:spcBef>
              <a:spcAft>
                <a:spcPts val="0"/>
              </a:spcAft>
              <a:buClr>
                <a:schemeClr val="hlink"/>
              </a:buClr>
              <a:buSzPts val="1100"/>
              <a:buFont typeface="Noto Sans Symbols"/>
              <a:buNone/>
              <a:defRPr b="0" i="0" sz="2000" u="none" cap="none" strike="noStrike">
                <a:solidFill>
                  <a:schemeClr val="dk1"/>
                </a:solidFill>
                <a:latin typeface="Tahoma"/>
                <a:ea typeface="Tahoma"/>
                <a:cs typeface="Tahoma"/>
                <a:sym typeface="Tahoma"/>
              </a:defRPr>
            </a:lvl2pPr>
            <a:lvl3pPr indent="-228600" lvl="2" marL="1371600" marR="0" rtl="0" algn="l">
              <a:lnSpc>
                <a:spcPct val="100000"/>
              </a:lnSpc>
              <a:spcBef>
                <a:spcPts val="360"/>
              </a:spcBef>
              <a:spcAft>
                <a:spcPts val="0"/>
              </a:spcAft>
              <a:buClr>
                <a:schemeClr val="folHlink"/>
              </a:buClr>
              <a:buSzPts val="900"/>
              <a:buFont typeface="Noto Sans Symbols"/>
              <a:buNone/>
              <a:defRPr b="0" i="0" sz="1800" u="none" cap="none" strike="noStrike">
                <a:solidFill>
                  <a:schemeClr val="dk1"/>
                </a:solidFill>
                <a:latin typeface="Tahoma"/>
                <a:ea typeface="Tahoma"/>
                <a:cs typeface="Tahoma"/>
                <a:sym typeface="Tahoma"/>
              </a:defRPr>
            </a:lvl3pPr>
            <a:lvl4pPr indent="-228600" lvl="3" marL="1828800" marR="0" rtl="0" algn="l">
              <a:lnSpc>
                <a:spcPct val="100000"/>
              </a:lnSpc>
              <a:spcBef>
                <a:spcPts val="320"/>
              </a:spcBef>
              <a:spcAft>
                <a:spcPts val="0"/>
              </a:spcAft>
              <a:buClr>
                <a:schemeClr val="accent2"/>
              </a:buClr>
              <a:buSzPts val="880"/>
              <a:buFont typeface="Noto Sans Symbols"/>
              <a:buNone/>
              <a:defRPr b="0" i="0" sz="1600" u="none" cap="none" strike="noStrike">
                <a:solidFill>
                  <a:schemeClr val="dk1"/>
                </a:solidFill>
                <a:latin typeface="Tahoma"/>
                <a:ea typeface="Tahoma"/>
                <a:cs typeface="Tahoma"/>
                <a:sym typeface="Tahoma"/>
              </a:defRPr>
            </a:lvl4pPr>
            <a:lvl5pPr indent="-228600" lvl="4" marL="2286000" marR="0" rtl="0" algn="l">
              <a:lnSpc>
                <a:spcPct val="100000"/>
              </a:lnSpc>
              <a:spcBef>
                <a:spcPts val="320"/>
              </a:spcBef>
              <a:spcAft>
                <a:spcPts val="0"/>
              </a:spcAft>
              <a:buClr>
                <a:schemeClr val="accent1"/>
              </a:buClr>
              <a:buSzPts val="800"/>
              <a:buFont typeface="Noto Sans Symbols"/>
              <a:buNone/>
              <a:defRPr b="0" i="0" sz="1600" u="none" cap="none" strike="noStrike">
                <a:solidFill>
                  <a:schemeClr val="dk1"/>
                </a:solidFill>
                <a:latin typeface="Tahoma"/>
                <a:ea typeface="Tahoma"/>
                <a:cs typeface="Tahoma"/>
                <a:sym typeface="Tahoma"/>
              </a:defRPr>
            </a:lvl5pPr>
            <a:lvl6pPr indent="-228600" lvl="5" marL="27432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6pPr>
            <a:lvl7pPr indent="-228600" lvl="6" marL="32004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7pPr>
            <a:lvl8pPr indent="-228600" lvl="7" marL="36576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8pPr>
            <a:lvl9pPr indent="-228600" lvl="8" marL="4114800" marR="0" rtl="0" algn="l">
              <a:lnSpc>
                <a:spcPct val="90000"/>
              </a:lnSpc>
              <a:spcBef>
                <a:spcPts val="500"/>
              </a:spcBef>
              <a:spcAft>
                <a:spcPts val="0"/>
              </a:spcAft>
              <a:buClr>
                <a:schemeClr val="dk1"/>
              </a:buClr>
              <a:buSzPts val="1600"/>
              <a:buFont typeface="Arial"/>
              <a:buNone/>
              <a:defRPr b="0" i="0" sz="1600" u="none" cap="none" strike="noStrike">
                <a:solidFill>
                  <a:schemeClr val="dk1"/>
                </a:solidFill>
                <a:latin typeface="Tahoma"/>
                <a:ea typeface="Tahoma"/>
                <a:cs typeface="Tahoma"/>
                <a:sym typeface="Tahoma"/>
              </a:defRPr>
            </a:lvl9pPr>
          </a:lstStyle>
          <a:p/>
        </p:txBody>
      </p:sp>
      <p:sp>
        <p:nvSpPr>
          <p:cNvPr id="56" name="Google Shape;56;p77"/>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6"/>
          <p:cNvSpPr txBox="1"/>
          <p:nvPr>
            <p:ph idx="12"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3.</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30.png"/><Relationship Id="rId6"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9.png"/><Relationship Id="rId4"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37.png"/><Relationship Id="rId5" Type="http://schemas.openxmlformats.org/officeDocument/2006/relationships/image" Target="../media/image4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4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0.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4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5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5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6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7.png"/><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5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4.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7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1.png"/><Relationship Id="rId4" Type="http://schemas.openxmlformats.org/officeDocument/2006/relationships/image" Target="../media/image57.png"/><Relationship Id="rId5" Type="http://schemas.openxmlformats.org/officeDocument/2006/relationships/image" Target="../media/image6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68.png"/><Relationship Id="rId4" Type="http://schemas.openxmlformats.org/officeDocument/2006/relationships/image" Target="../media/image6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6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6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7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7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6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79.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7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8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75.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64.png"/><Relationship Id="rId4" Type="http://schemas.openxmlformats.org/officeDocument/2006/relationships/image" Target="../media/image72.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7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8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3.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6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78.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descr="Forouzan4e07_banner" id="62" name="Google Shape;62;p1"/>
          <p:cNvPicPr preferRelativeResize="0"/>
          <p:nvPr>
            <p:ph idx="1" type="body"/>
          </p:nvPr>
        </p:nvPicPr>
        <p:blipFill rotWithShape="1">
          <a:blip r:embed="rId3">
            <a:alphaModFix/>
          </a:blip>
          <a:srcRect b="0" l="0" r="0" t="0"/>
          <a:stretch/>
        </p:blipFill>
        <p:spPr>
          <a:xfrm>
            <a:off x="0" y="0"/>
            <a:ext cx="9144000" cy="1096962"/>
          </a:xfrm>
          <a:prstGeom prst="rect">
            <a:avLst/>
          </a:prstGeom>
          <a:noFill/>
          <a:ln>
            <a:noFill/>
          </a:ln>
        </p:spPr>
      </p:pic>
      <p:sp>
        <p:nvSpPr>
          <p:cNvPr id="63" name="Google Shape;63;p1"/>
          <p:cNvSpPr txBox="1"/>
          <p:nvPr/>
        </p:nvSpPr>
        <p:spPr>
          <a:xfrm>
            <a:off x="1143000" y="2514600"/>
            <a:ext cx="6858000" cy="173672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4400"/>
              <a:buFont typeface="Arial"/>
              <a:buNone/>
            </a:pPr>
            <a:r>
              <a:rPr b="1" i="0" lang="en-US" sz="4400" u="none" cap="none" strike="noStrike">
                <a:solidFill>
                  <a:schemeClr val="dk2"/>
                </a:solidFill>
                <a:latin typeface="Arial"/>
                <a:ea typeface="Arial"/>
                <a:cs typeface="Arial"/>
                <a:sym typeface="Arial"/>
              </a:rPr>
              <a:t>Chapter 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000"/>
              <a:buFont typeface="Times New Roman"/>
              <a:buNone/>
            </a:pPr>
            <a:r>
              <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4400"/>
              <a:buFont typeface="Arial"/>
              <a:buNone/>
            </a:pPr>
            <a:r>
              <a:rPr b="1" i="0" lang="en-US" sz="4400" u="none" cap="none" strike="noStrike">
                <a:solidFill>
                  <a:schemeClr val="dk1"/>
                </a:solidFill>
                <a:latin typeface="Arial"/>
                <a:ea typeface="Arial"/>
                <a:cs typeface="Arial"/>
                <a:sym typeface="Arial"/>
              </a:rPr>
              <a:t>Data and Signals</a:t>
            </a:r>
            <a:endParaRPr b="0" i="0" sz="1400" u="none" cap="none" strike="noStrike">
              <a:solidFill>
                <a:srgbClr val="000000"/>
              </a:solidFill>
              <a:latin typeface="Arial"/>
              <a:ea typeface="Arial"/>
              <a:cs typeface="Arial"/>
              <a:sym typeface="Arial"/>
            </a:endParaRPr>
          </a:p>
        </p:txBody>
      </p:sp>
      <p:sp>
        <p:nvSpPr>
          <p:cNvPr id="64" name="Google Shape;64;p1"/>
          <p:cNvSpPr txBox="1"/>
          <p:nvPr/>
        </p:nvSpPr>
        <p:spPr>
          <a:xfrm>
            <a:off x="0" y="6507162"/>
            <a:ext cx="9144000" cy="2746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Copyright © The McGraw-Hill Companies, Inc. Permission required for reproduction or display.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0" name="Google Shape;70;p2"/>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 name="Google Shape;71;p2"/>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2" name="Google Shape;72;p2"/>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 name="Google Shape;73;p2"/>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4" name="Google Shape;74;p2"/>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 name="Google Shape;75;p2"/>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6" name="Google Shape;76;p2"/>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77" name="Google Shape;77;p2"/>
          <p:cNvCxnSpPr/>
          <p:nvPr/>
        </p:nvCxnSpPr>
        <p:spPr>
          <a:xfrm>
            <a:off x="457200" y="3048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78" name="Google Shape;78;p2"/>
          <p:cNvCxnSpPr/>
          <p:nvPr/>
        </p:nvCxnSpPr>
        <p:spPr>
          <a:xfrm>
            <a:off x="458787" y="4267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79" name="Google Shape;79;p2"/>
          <p:cNvSpPr txBox="1"/>
          <p:nvPr/>
        </p:nvSpPr>
        <p:spPr>
          <a:xfrm>
            <a:off x="495300" y="3124200"/>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To be transmitted, data must be transformed to electromagnetic signals.</a:t>
            </a:r>
            <a:endParaRPr b="0" i="0" sz="1400" u="none" cap="none" strike="noStrike">
              <a:solidFill>
                <a:srgbClr val="000000"/>
              </a:solidFill>
              <a:latin typeface="Arial"/>
              <a:ea typeface="Arial"/>
              <a:cs typeface="Arial"/>
              <a:sym typeface="Arial"/>
            </a:endParaRPr>
          </a:p>
        </p:txBody>
      </p:sp>
      <p:grpSp>
        <p:nvGrpSpPr>
          <p:cNvPr id="80" name="Google Shape;80;p2"/>
          <p:cNvGrpSpPr/>
          <p:nvPr/>
        </p:nvGrpSpPr>
        <p:grpSpPr>
          <a:xfrm>
            <a:off x="457200" y="2362200"/>
            <a:ext cx="1143000" cy="566737"/>
            <a:chOff x="1200" y="1248"/>
            <a:chExt cx="720" cy="357"/>
          </a:xfrm>
        </p:grpSpPr>
        <p:pic>
          <p:nvPicPr>
            <p:cNvPr id="81" name="Google Shape;81;p2"/>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82" name="Google Shape;82;p2"/>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8" name="Google Shape;88;p3"/>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9" name="Google Shape;89;p3"/>
          <p:cNvSpPr txBox="1"/>
          <p:nvPr/>
        </p:nvSpPr>
        <p:spPr>
          <a:xfrm>
            <a:off x="228600" y="76200"/>
            <a:ext cx="5662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3-1   ANALOG AND DIGITAL</a:t>
            </a:r>
            <a:endParaRPr b="0" i="0" sz="1400" u="none" cap="none" strike="noStrike">
              <a:solidFill>
                <a:srgbClr val="000000"/>
              </a:solidFill>
              <a:latin typeface="Arial"/>
              <a:ea typeface="Arial"/>
              <a:cs typeface="Arial"/>
              <a:sym typeface="Arial"/>
            </a:endParaRPr>
          </a:p>
        </p:txBody>
      </p:sp>
      <p:sp>
        <p:nvSpPr>
          <p:cNvPr id="90" name="Google Shape;90;p3"/>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1" name="Google Shape;91;p3"/>
          <p:cNvSpPr txBox="1"/>
          <p:nvPr/>
        </p:nvSpPr>
        <p:spPr>
          <a:xfrm>
            <a:off x="76200" y="990600"/>
            <a:ext cx="8915400" cy="1800225"/>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Data can be </a:t>
            </a:r>
            <a:r>
              <a:rPr b="1" i="1" lang="en-US" sz="2800" u="none" cap="none" strike="noStrike">
                <a:solidFill>
                  <a:schemeClr val="hlink"/>
                </a:solidFill>
                <a:latin typeface="Times New Roman"/>
                <a:ea typeface="Times New Roman"/>
                <a:cs typeface="Times New Roman"/>
                <a:sym typeface="Times New Roman"/>
              </a:rPr>
              <a:t>analog</a:t>
            </a:r>
            <a:r>
              <a:rPr b="1" i="1" lang="en-US" sz="2800" u="none" cap="none" strike="noStrike">
                <a:solidFill>
                  <a:schemeClr val="dk1"/>
                </a:solidFill>
                <a:latin typeface="Times New Roman"/>
                <a:ea typeface="Times New Roman"/>
                <a:cs typeface="Times New Roman"/>
                <a:sym typeface="Times New Roman"/>
              </a:rPr>
              <a:t> or </a:t>
            </a:r>
            <a:r>
              <a:rPr b="1" i="1" lang="en-US" sz="2800" u="none" cap="none" strike="noStrike">
                <a:solidFill>
                  <a:schemeClr val="hlink"/>
                </a:solidFill>
                <a:latin typeface="Times New Roman"/>
                <a:ea typeface="Times New Roman"/>
                <a:cs typeface="Times New Roman"/>
                <a:sym typeface="Times New Roman"/>
              </a:rPr>
              <a:t>digital</a:t>
            </a:r>
            <a:r>
              <a:rPr b="1" i="1" lang="en-US" sz="2800" u="none" cap="none" strike="noStrike">
                <a:solidFill>
                  <a:schemeClr val="dk1"/>
                </a:solidFill>
                <a:latin typeface="Times New Roman"/>
                <a:ea typeface="Times New Roman"/>
                <a:cs typeface="Times New Roman"/>
                <a:sym typeface="Times New Roman"/>
              </a:rPr>
              <a:t>. The term </a:t>
            </a:r>
            <a:r>
              <a:rPr b="1" i="1" lang="en-US" sz="2800" u="none" cap="none" strike="noStrike">
                <a:solidFill>
                  <a:schemeClr val="hlink"/>
                </a:solidFill>
                <a:latin typeface="Times New Roman"/>
                <a:ea typeface="Times New Roman"/>
                <a:cs typeface="Times New Roman"/>
                <a:sym typeface="Times New Roman"/>
              </a:rPr>
              <a:t>analog data</a:t>
            </a:r>
            <a:r>
              <a:rPr b="1" i="1" lang="en-US" sz="2800" u="none" cap="none" strike="noStrike">
                <a:solidFill>
                  <a:schemeClr val="dk1"/>
                </a:solidFill>
                <a:latin typeface="Times New Roman"/>
                <a:ea typeface="Times New Roman"/>
                <a:cs typeface="Times New Roman"/>
                <a:sym typeface="Times New Roman"/>
              </a:rPr>
              <a:t> refers to information that is continuous; </a:t>
            </a:r>
            <a:r>
              <a:rPr b="1" i="1" lang="en-US" sz="2800" u="none" cap="none" strike="noStrike">
                <a:solidFill>
                  <a:schemeClr val="hlink"/>
                </a:solidFill>
                <a:latin typeface="Times New Roman"/>
                <a:ea typeface="Times New Roman"/>
                <a:cs typeface="Times New Roman"/>
                <a:sym typeface="Times New Roman"/>
              </a:rPr>
              <a:t>digital data</a:t>
            </a:r>
            <a:r>
              <a:rPr b="1" i="1" lang="en-US" sz="2800" u="none" cap="none" strike="noStrike">
                <a:solidFill>
                  <a:schemeClr val="dk1"/>
                </a:solidFill>
                <a:latin typeface="Times New Roman"/>
                <a:ea typeface="Times New Roman"/>
                <a:cs typeface="Times New Roman"/>
                <a:sym typeface="Times New Roman"/>
              </a:rPr>
              <a:t> refers to information that has discrete states. Analog data take on continuous values. Digital data take on discrete values.</a:t>
            </a:r>
            <a:endParaRPr b="0" i="0" sz="1400" u="none" cap="none" strike="noStrike">
              <a:solidFill>
                <a:srgbClr val="000000"/>
              </a:solidFill>
              <a:latin typeface="Arial"/>
              <a:ea typeface="Arial"/>
              <a:cs typeface="Arial"/>
              <a:sym typeface="Arial"/>
            </a:endParaRPr>
          </a:p>
        </p:txBody>
      </p:sp>
      <p:sp>
        <p:nvSpPr>
          <p:cNvPr id="92" name="Google Shape;92;p3"/>
          <p:cNvSpPr txBox="1"/>
          <p:nvPr/>
        </p:nvSpPr>
        <p:spPr>
          <a:xfrm>
            <a:off x="152400" y="4679950"/>
            <a:ext cx="67056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Analog and Digital Data</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Analog and Digital Signals</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Periodic and Nonperiodic Signals</a:t>
            </a:r>
            <a:endParaRPr b="0" i="0" sz="1400" u="none" cap="none" strike="noStrike">
              <a:solidFill>
                <a:srgbClr val="000000"/>
              </a:solidFill>
              <a:latin typeface="Arial"/>
              <a:ea typeface="Arial"/>
              <a:cs typeface="Arial"/>
              <a:sym typeface="Arial"/>
            </a:endParaRPr>
          </a:p>
        </p:txBody>
      </p:sp>
      <p:sp>
        <p:nvSpPr>
          <p:cNvPr id="93" name="Google Shape;93;p3"/>
          <p:cNvSpPr txBox="1"/>
          <p:nvPr/>
        </p:nvSpPr>
        <p:spPr>
          <a:xfrm>
            <a:off x="165100" y="42037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9" name="Google Shape;99;p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 name="Google Shape;100;p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 name="Google Shape;101;p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 name="Google Shape;102;p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3" name="Google Shape;103;p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 name="Google Shape;104;p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 name="Google Shape;105;p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06" name="Google Shape;106;p4"/>
          <p:cNvCxnSpPr/>
          <p:nvPr/>
        </p:nvCxnSpPr>
        <p:spPr>
          <a:xfrm>
            <a:off x="457200" y="2547937"/>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07" name="Google Shape;107;p4"/>
          <p:cNvCxnSpPr/>
          <p:nvPr/>
        </p:nvCxnSpPr>
        <p:spPr>
          <a:xfrm>
            <a:off x="457200" y="5257800"/>
            <a:ext cx="8153400" cy="0"/>
          </a:xfrm>
          <a:prstGeom prst="straightConnector1">
            <a:avLst/>
          </a:prstGeom>
          <a:noFill/>
          <a:ln cap="flat" cmpd="sng" w="76200">
            <a:solidFill>
              <a:srgbClr val="009900"/>
            </a:solidFill>
            <a:prstDash val="solid"/>
            <a:miter lim="800000"/>
            <a:headEnd len="sm" w="sm" type="none"/>
            <a:tailEnd len="sm" w="sm" type="none"/>
          </a:ln>
        </p:spPr>
      </p:cxnSp>
      <p:grpSp>
        <p:nvGrpSpPr>
          <p:cNvPr id="108" name="Google Shape;108;p4"/>
          <p:cNvGrpSpPr/>
          <p:nvPr/>
        </p:nvGrpSpPr>
        <p:grpSpPr>
          <a:xfrm>
            <a:off x="457200" y="1905000"/>
            <a:ext cx="1143000" cy="566737"/>
            <a:chOff x="1200" y="1248"/>
            <a:chExt cx="720" cy="357"/>
          </a:xfrm>
        </p:grpSpPr>
        <p:pic>
          <p:nvPicPr>
            <p:cNvPr id="109" name="Google Shape;109;p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10" name="Google Shape;110;p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
        <p:nvSpPr>
          <p:cNvPr id="111" name="Google Shape;111;p4"/>
          <p:cNvSpPr txBox="1"/>
          <p:nvPr/>
        </p:nvSpPr>
        <p:spPr>
          <a:xfrm>
            <a:off x="495300" y="2624137"/>
            <a:ext cx="8077200" cy="2528887"/>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Data can be analog or digital.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Analog data are continuous and take continuous values.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Digital data have discrete states and take discrete values.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7" name="Google Shape;117;p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 name="Google Shape;118;p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 name="Google Shape;119;p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 name="Google Shape;120;p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 name="Google Shape;121;p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 name="Google Shape;122;p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 name="Google Shape;123;p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24" name="Google Shape;124;p5"/>
          <p:cNvCxnSpPr/>
          <p:nvPr/>
        </p:nvCxnSpPr>
        <p:spPr>
          <a:xfrm>
            <a:off x="457200" y="2547937"/>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25" name="Google Shape;125;p5"/>
          <p:cNvCxnSpPr/>
          <p:nvPr/>
        </p:nvCxnSpPr>
        <p:spPr>
          <a:xfrm>
            <a:off x="458787" y="52578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26" name="Google Shape;126;p5"/>
          <p:cNvSpPr txBox="1"/>
          <p:nvPr/>
        </p:nvSpPr>
        <p:spPr>
          <a:xfrm>
            <a:off x="495300" y="2624137"/>
            <a:ext cx="8077200" cy="2528887"/>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Signals can be analog or digital.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Analog signals can have an infinite number of values in a range; digital signals can have only a limited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number of values.</a:t>
            </a:r>
            <a:endParaRPr b="0" i="0" sz="1400" u="none" cap="none" strike="noStrike">
              <a:solidFill>
                <a:srgbClr val="000000"/>
              </a:solidFill>
              <a:latin typeface="Arial"/>
              <a:ea typeface="Arial"/>
              <a:cs typeface="Arial"/>
              <a:sym typeface="Arial"/>
            </a:endParaRPr>
          </a:p>
        </p:txBody>
      </p:sp>
      <p:grpSp>
        <p:nvGrpSpPr>
          <p:cNvPr id="127" name="Google Shape;127;p5"/>
          <p:cNvGrpSpPr/>
          <p:nvPr/>
        </p:nvGrpSpPr>
        <p:grpSpPr>
          <a:xfrm>
            <a:off x="457200" y="1905000"/>
            <a:ext cx="1143000" cy="566737"/>
            <a:chOff x="1200" y="1248"/>
            <a:chExt cx="720" cy="357"/>
          </a:xfrm>
        </p:grpSpPr>
        <p:pic>
          <p:nvPicPr>
            <p:cNvPr id="128" name="Google Shape;128;p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9" name="Google Shape;129;p5"/>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35" name="Google Shape;135;p6"/>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36" name="Google Shape;136;p6"/>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37" name="Google Shape;137;p6"/>
          <p:cNvSpPr txBox="1"/>
          <p:nvPr/>
        </p:nvSpPr>
        <p:spPr>
          <a:xfrm>
            <a:off x="304800" y="762000"/>
            <a:ext cx="71379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  </a:t>
            </a:r>
            <a:r>
              <a:rPr b="1" i="1" lang="en-US" sz="2000" u="none" cap="none" strike="noStrike">
                <a:solidFill>
                  <a:schemeClr val="dk1"/>
                </a:solidFill>
                <a:latin typeface="Times New Roman"/>
                <a:ea typeface="Times New Roman"/>
                <a:cs typeface="Times New Roman"/>
                <a:sym typeface="Times New Roman"/>
              </a:rPr>
              <a:t>Comparison of analog and digital signals</a:t>
            </a:r>
            <a:endParaRPr b="0" i="0" sz="1400" u="none" cap="none" strike="noStrike">
              <a:solidFill>
                <a:srgbClr val="000000"/>
              </a:solidFill>
              <a:latin typeface="Arial"/>
              <a:ea typeface="Arial"/>
              <a:cs typeface="Arial"/>
              <a:sym typeface="Arial"/>
            </a:endParaRPr>
          </a:p>
        </p:txBody>
      </p:sp>
      <p:cxnSp>
        <p:nvCxnSpPr>
          <p:cNvPr id="138" name="Google Shape;138;p6"/>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39" name="Google Shape;139;p6"/>
          <p:cNvPicPr preferRelativeResize="0"/>
          <p:nvPr/>
        </p:nvPicPr>
        <p:blipFill rotWithShape="1">
          <a:blip r:embed="rId3">
            <a:alphaModFix/>
          </a:blip>
          <a:srcRect b="0" l="0" r="0" t="0"/>
          <a:stretch/>
        </p:blipFill>
        <p:spPr>
          <a:xfrm>
            <a:off x="234950" y="2389187"/>
            <a:ext cx="8528050" cy="286861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5" name="Google Shape;145;p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6" name="Google Shape;146;p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7" name="Google Shape;147;p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8" name="Google Shape;148;p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49" name="Google Shape;149;p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0" name="Google Shape;150;p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51" name="Google Shape;151;p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52" name="Google Shape;152;p7"/>
          <p:cNvCxnSpPr/>
          <p:nvPr/>
        </p:nvCxnSpPr>
        <p:spPr>
          <a:xfrm>
            <a:off x="457200" y="24384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53" name="Google Shape;153;p7"/>
          <p:cNvCxnSpPr/>
          <p:nvPr/>
        </p:nvCxnSpPr>
        <p:spPr>
          <a:xfrm>
            <a:off x="458787" y="41910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54" name="Google Shape;154;p7"/>
          <p:cNvSpPr txBox="1"/>
          <p:nvPr/>
        </p:nvSpPr>
        <p:spPr>
          <a:xfrm>
            <a:off x="495300" y="2530475"/>
            <a:ext cx="8077200" cy="15699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 data communications, we commonly use periodic analog signals and non-periodic digital signals.</a:t>
            </a:r>
            <a:endParaRPr b="0" i="0" sz="1400" u="none" cap="none" strike="noStrike">
              <a:solidFill>
                <a:srgbClr val="000000"/>
              </a:solidFill>
              <a:latin typeface="Arial"/>
              <a:ea typeface="Arial"/>
              <a:cs typeface="Arial"/>
              <a:sym typeface="Arial"/>
            </a:endParaRPr>
          </a:p>
        </p:txBody>
      </p:sp>
      <p:grpSp>
        <p:nvGrpSpPr>
          <p:cNvPr id="155" name="Google Shape;155;p7"/>
          <p:cNvGrpSpPr/>
          <p:nvPr/>
        </p:nvGrpSpPr>
        <p:grpSpPr>
          <a:xfrm>
            <a:off x="457200" y="1828800"/>
            <a:ext cx="1143000" cy="566737"/>
            <a:chOff x="1200" y="1248"/>
            <a:chExt cx="720" cy="357"/>
          </a:xfrm>
        </p:grpSpPr>
        <p:pic>
          <p:nvPicPr>
            <p:cNvPr id="156" name="Google Shape;156;p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57" name="Google Shape;157;p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3" name="Google Shape;163;p8"/>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64" name="Google Shape;164;p8"/>
          <p:cNvSpPr txBox="1"/>
          <p:nvPr/>
        </p:nvSpPr>
        <p:spPr>
          <a:xfrm>
            <a:off x="228600" y="76200"/>
            <a:ext cx="6835775"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3-2   PERIODIC ANALOG SIGNALS</a:t>
            </a:r>
            <a:endParaRPr b="0" i="0" sz="1400" u="none" cap="none" strike="noStrike">
              <a:solidFill>
                <a:srgbClr val="000000"/>
              </a:solidFill>
              <a:latin typeface="Arial"/>
              <a:ea typeface="Arial"/>
              <a:cs typeface="Arial"/>
              <a:sym typeface="Arial"/>
            </a:endParaRPr>
          </a:p>
        </p:txBody>
      </p:sp>
      <p:sp>
        <p:nvSpPr>
          <p:cNvPr id="165" name="Google Shape;165;p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66" name="Google Shape;166;p8"/>
          <p:cNvSpPr txBox="1"/>
          <p:nvPr/>
        </p:nvSpPr>
        <p:spPr>
          <a:xfrm>
            <a:off x="76200" y="990600"/>
            <a:ext cx="86106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Periodic analog signals can be classified as </a:t>
            </a:r>
            <a:r>
              <a:rPr b="1" i="1" lang="en-US" sz="2800" u="none" cap="none" strike="noStrike">
                <a:solidFill>
                  <a:schemeClr val="hlink"/>
                </a:solidFill>
                <a:latin typeface="Times New Roman"/>
                <a:ea typeface="Times New Roman"/>
                <a:cs typeface="Times New Roman"/>
                <a:sym typeface="Times New Roman"/>
              </a:rPr>
              <a:t>simple</a:t>
            </a:r>
            <a:r>
              <a:rPr b="1" i="1" lang="en-US" sz="2800" u="none" cap="none" strike="noStrike">
                <a:solidFill>
                  <a:schemeClr val="dk1"/>
                </a:solidFill>
                <a:latin typeface="Times New Roman"/>
                <a:ea typeface="Times New Roman"/>
                <a:cs typeface="Times New Roman"/>
                <a:sym typeface="Times New Roman"/>
              </a:rPr>
              <a:t> or </a:t>
            </a:r>
            <a:r>
              <a:rPr b="1" i="1" lang="en-US" sz="2800" u="none" cap="none" strike="noStrike">
                <a:solidFill>
                  <a:schemeClr val="hlink"/>
                </a:solidFill>
                <a:latin typeface="Times New Roman"/>
                <a:ea typeface="Times New Roman"/>
                <a:cs typeface="Times New Roman"/>
                <a:sym typeface="Times New Roman"/>
              </a:rPr>
              <a:t>composite</a:t>
            </a:r>
            <a:r>
              <a:rPr b="1" i="1" lang="en-US" sz="2800" u="none" cap="none" strike="noStrike">
                <a:solidFill>
                  <a:schemeClr val="dk1"/>
                </a:solidFill>
                <a:latin typeface="Times New Roman"/>
                <a:ea typeface="Times New Roman"/>
                <a:cs typeface="Times New Roman"/>
                <a:sym typeface="Times New Roman"/>
              </a:rPr>
              <a:t>. A simple periodic analog signal, a </a:t>
            </a:r>
            <a:r>
              <a:rPr b="1" i="1" lang="en-US" sz="2800" u="none" cap="none" strike="noStrike">
                <a:solidFill>
                  <a:schemeClr val="hlink"/>
                </a:solidFill>
                <a:latin typeface="Times New Roman"/>
                <a:ea typeface="Times New Roman"/>
                <a:cs typeface="Times New Roman"/>
                <a:sym typeface="Times New Roman"/>
              </a:rPr>
              <a:t>sine wave</a:t>
            </a:r>
            <a:r>
              <a:rPr b="1" i="1" lang="en-US" sz="2800" u="none" cap="none" strike="noStrike">
                <a:solidFill>
                  <a:schemeClr val="dk1"/>
                </a:solidFill>
                <a:latin typeface="Times New Roman"/>
                <a:ea typeface="Times New Roman"/>
                <a:cs typeface="Times New Roman"/>
                <a:sym typeface="Times New Roman"/>
              </a:rPr>
              <a:t>, cannot be decomposed into simpler signals. A composite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periodic analog signal is composed of multiple sine waves.</a:t>
            </a:r>
            <a:endParaRPr b="0" i="0" sz="1400" u="none" cap="none" strike="noStrike">
              <a:solidFill>
                <a:srgbClr val="000000"/>
              </a:solidFill>
              <a:latin typeface="Arial"/>
              <a:ea typeface="Arial"/>
              <a:cs typeface="Arial"/>
              <a:sym typeface="Arial"/>
            </a:endParaRPr>
          </a:p>
        </p:txBody>
      </p:sp>
      <p:sp>
        <p:nvSpPr>
          <p:cNvPr id="167" name="Google Shape;167;p8"/>
          <p:cNvSpPr txBox="1"/>
          <p:nvPr/>
        </p:nvSpPr>
        <p:spPr>
          <a:xfrm>
            <a:off x="152400" y="4286250"/>
            <a:ext cx="5715000" cy="1917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Sine Wave</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Wavelength</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Time and Frequency Domain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Composite Signals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Bandwidth</a:t>
            </a:r>
            <a:endParaRPr b="0" i="0" sz="1400" u="none" cap="none" strike="noStrike">
              <a:solidFill>
                <a:srgbClr val="000000"/>
              </a:solidFill>
              <a:latin typeface="Arial"/>
              <a:ea typeface="Arial"/>
              <a:cs typeface="Arial"/>
              <a:sym typeface="Arial"/>
            </a:endParaRPr>
          </a:p>
        </p:txBody>
      </p:sp>
      <p:sp>
        <p:nvSpPr>
          <p:cNvPr id="168" name="Google Shape;168;p8"/>
          <p:cNvSpPr txBox="1"/>
          <p:nvPr/>
        </p:nvSpPr>
        <p:spPr>
          <a:xfrm>
            <a:off x="165100" y="38100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74" name="Google Shape;174;p9"/>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75" name="Google Shape;175;p9"/>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76" name="Google Shape;176;p9"/>
          <p:cNvSpPr txBox="1"/>
          <p:nvPr/>
        </p:nvSpPr>
        <p:spPr>
          <a:xfrm>
            <a:off x="304800" y="762000"/>
            <a:ext cx="28971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  </a:t>
            </a:r>
            <a:r>
              <a:rPr b="1" i="1" lang="en-US" sz="2000" u="none" cap="none" strike="noStrike">
                <a:solidFill>
                  <a:schemeClr val="dk1"/>
                </a:solidFill>
                <a:latin typeface="Times New Roman"/>
                <a:ea typeface="Times New Roman"/>
                <a:cs typeface="Times New Roman"/>
                <a:sym typeface="Times New Roman"/>
              </a:rPr>
              <a:t>A sine wave</a:t>
            </a:r>
            <a:endParaRPr b="0" i="0" sz="1400" u="none" cap="none" strike="noStrike">
              <a:solidFill>
                <a:srgbClr val="000000"/>
              </a:solidFill>
              <a:latin typeface="Arial"/>
              <a:ea typeface="Arial"/>
              <a:cs typeface="Arial"/>
              <a:sym typeface="Arial"/>
            </a:endParaRPr>
          </a:p>
        </p:txBody>
      </p:sp>
      <p:cxnSp>
        <p:nvCxnSpPr>
          <p:cNvPr id="177" name="Google Shape;177;p9"/>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78" name="Google Shape;178;p9"/>
          <p:cNvPicPr preferRelativeResize="0"/>
          <p:nvPr/>
        </p:nvPicPr>
        <p:blipFill rotWithShape="1">
          <a:blip r:embed="rId3">
            <a:alphaModFix/>
          </a:blip>
          <a:srcRect b="0" l="0" r="0" t="0"/>
          <a:stretch/>
        </p:blipFill>
        <p:spPr>
          <a:xfrm>
            <a:off x="1101725" y="2786062"/>
            <a:ext cx="7075487" cy="20843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184" name="Google Shape;184;p10"/>
          <p:cNvCxnSpPr/>
          <p:nvPr/>
        </p:nvCxnSpPr>
        <p:spPr>
          <a:xfrm>
            <a:off x="152400" y="762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185" name="Google Shape;185;p10"/>
          <p:cNvCxnSpPr/>
          <p:nvPr/>
        </p:nvCxnSpPr>
        <p:spPr>
          <a:xfrm>
            <a:off x="152400" y="11430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186" name="Google Shape;186;p10"/>
          <p:cNvSpPr txBox="1"/>
          <p:nvPr/>
        </p:nvSpPr>
        <p:spPr>
          <a:xfrm>
            <a:off x="304800" y="304800"/>
            <a:ext cx="6765925"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3.3  </a:t>
            </a:r>
            <a:r>
              <a:rPr b="1" i="1" lang="en-US" sz="2000" u="none" cap="none" strike="noStrike">
                <a:solidFill>
                  <a:schemeClr val="dk1"/>
                </a:solidFill>
                <a:latin typeface="Times New Roman"/>
                <a:ea typeface="Times New Roman"/>
                <a:cs typeface="Times New Roman"/>
                <a:sym typeface="Times New Roman"/>
              </a:rPr>
              <a:t>Two signals with the same phase and frequency, </a:t>
            </a:r>
            <a:br>
              <a:rPr b="1" i="1" lang="en-US" sz="2000" u="none" cap="none" strike="noStrike">
                <a:solidFill>
                  <a:schemeClr val="dk1"/>
                </a:solidFill>
                <a:latin typeface="Times New Roman"/>
                <a:ea typeface="Times New Roman"/>
                <a:cs typeface="Times New Roman"/>
                <a:sym typeface="Times New Roman"/>
              </a:rPr>
            </a:br>
            <a:r>
              <a:rPr b="1" i="1" lang="en-US" sz="2000" u="none" cap="none" strike="noStrike">
                <a:solidFill>
                  <a:schemeClr val="dk1"/>
                </a:solidFill>
                <a:latin typeface="Times New Roman"/>
                <a:ea typeface="Times New Roman"/>
                <a:cs typeface="Times New Roman"/>
                <a:sym typeface="Times New Roman"/>
              </a:rPr>
              <a:t>                        but different amplitudes</a:t>
            </a:r>
            <a:endParaRPr b="0" i="0" sz="1400" u="none" cap="none" strike="noStrike">
              <a:solidFill>
                <a:srgbClr val="000000"/>
              </a:solidFill>
              <a:latin typeface="Arial"/>
              <a:ea typeface="Arial"/>
              <a:cs typeface="Arial"/>
              <a:sym typeface="Arial"/>
            </a:endParaRPr>
          </a:p>
        </p:txBody>
      </p:sp>
      <p:cxnSp>
        <p:nvCxnSpPr>
          <p:cNvPr id="187" name="Google Shape;187;p1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88" name="Google Shape;188;p10"/>
          <p:cNvPicPr preferRelativeResize="0"/>
          <p:nvPr/>
        </p:nvPicPr>
        <p:blipFill rotWithShape="1">
          <a:blip r:embed="rId3">
            <a:alphaModFix/>
          </a:blip>
          <a:srcRect b="0" l="0" r="0" t="0"/>
          <a:stretch/>
        </p:blipFill>
        <p:spPr>
          <a:xfrm>
            <a:off x="1828800" y="1371600"/>
            <a:ext cx="5475287" cy="4702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4" name="Google Shape;194;p1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5" name="Google Shape;195;p1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6" name="Google Shape;196;p1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7" name="Google Shape;197;p1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8" name="Google Shape;198;p1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99" name="Google Shape;199;p1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00" name="Google Shape;200;p1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201" name="Google Shape;201;p11"/>
          <p:cNvCxnSpPr/>
          <p:nvPr/>
        </p:nvCxnSpPr>
        <p:spPr>
          <a:xfrm>
            <a:off x="457200" y="2971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202" name="Google Shape;202;p11"/>
          <p:cNvCxnSpPr/>
          <p:nvPr/>
        </p:nvCxnSpPr>
        <p:spPr>
          <a:xfrm>
            <a:off x="458787" y="4267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203" name="Google Shape;203;p11"/>
          <p:cNvSpPr txBox="1"/>
          <p:nvPr/>
        </p:nvSpPr>
        <p:spPr>
          <a:xfrm>
            <a:off x="495300" y="30638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Frequency and period are the inverse of each other.</a:t>
            </a:r>
            <a:endParaRPr b="0" i="0" sz="1400" u="none" cap="none" strike="noStrike">
              <a:solidFill>
                <a:srgbClr val="000000"/>
              </a:solidFill>
              <a:latin typeface="Arial"/>
              <a:ea typeface="Arial"/>
              <a:cs typeface="Arial"/>
              <a:sym typeface="Arial"/>
            </a:endParaRPr>
          </a:p>
        </p:txBody>
      </p:sp>
      <p:grpSp>
        <p:nvGrpSpPr>
          <p:cNvPr id="204" name="Google Shape;204;p11"/>
          <p:cNvGrpSpPr/>
          <p:nvPr/>
        </p:nvGrpSpPr>
        <p:grpSpPr>
          <a:xfrm>
            <a:off x="457200" y="2362200"/>
            <a:ext cx="1143000" cy="566737"/>
            <a:chOff x="1200" y="1248"/>
            <a:chExt cx="720" cy="357"/>
          </a:xfrm>
        </p:grpSpPr>
        <p:pic>
          <p:nvPicPr>
            <p:cNvPr id="205" name="Google Shape;205;p1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06" name="Google Shape;206;p1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pic>
        <p:nvPicPr>
          <p:cNvPr id="207" name="Google Shape;207;p11"/>
          <p:cNvPicPr preferRelativeResize="0"/>
          <p:nvPr/>
        </p:nvPicPr>
        <p:blipFill rotWithShape="1">
          <a:blip r:embed="rId4">
            <a:alphaModFix/>
          </a:blip>
          <a:srcRect b="0" l="0" r="0" t="0"/>
          <a:stretch/>
        </p:blipFill>
        <p:spPr>
          <a:xfrm>
            <a:off x="2884487" y="4419600"/>
            <a:ext cx="3375025" cy="666750"/>
          </a:xfrm>
          <a:prstGeom prst="rect">
            <a:avLst/>
          </a:prstGeom>
          <a:noFill/>
          <a:ln cap="flat" cmpd="sng" w="28575">
            <a:solidFill>
              <a:srgbClr val="3366FF"/>
            </a:solidFill>
            <a:prstDash val="solid"/>
            <a:miter lim="800000"/>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213" name="Google Shape;213;p12"/>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214" name="Google Shape;214;p12"/>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215" name="Google Shape;215;p12"/>
          <p:cNvSpPr txBox="1"/>
          <p:nvPr/>
        </p:nvSpPr>
        <p:spPr>
          <a:xfrm>
            <a:off x="304800" y="228600"/>
            <a:ext cx="6700837"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3.4  </a:t>
            </a:r>
            <a:r>
              <a:rPr b="1" i="1" lang="en-US" sz="2000" u="none" cap="none" strike="noStrike">
                <a:solidFill>
                  <a:schemeClr val="dk1"/>
                </a:solidFill>
                <a:latin typeface="Times New Roman"/>
                <a:ea typeface="Times New Roman"/>
                <a:cs typeface="Times New Roman"/>
                <a:sym typeface="Times New Roman"/>
              </a:rPr>
              <a:t>Two signals with the same amplitude and phase,</a:t>
            </a:r>
            <a:br>
              <a:rPr b="1" i="1" lang="en-US" sz="2000" u="none" cap="none" strike="noStrike">
                <a:solidFill>
                  <a:schemeClr val="dk1"/>
                </a:solidFill>
                <a:latin typeface="Times New Roman"/>
                <a:ea typeface="Times New Roman"/>
                <a:cs typeface="Times New Roman"/>
                <a:sym typeface="Times New Roman"/>
              </a:rPr>
            </a:br>
            <a:r>
              <a:rPr b="1" i="1" lang="en-US" sz="2000" u="none" cap="none" strike="noStrike">
                <a:solidFill>
                  <a:schemeClr val="dk1"/>
                </a:solidFill>
                <a:latin typeface="Times New Roman"/>
                <a:ea typeface="Times New Roman"/>
                <a:cs typeface="Times New Roman"/>
                <a:sym typeface="Times New Roman"/>
              </a:rPr>
              <a:t>                        but different frequencies</a:t>
            </a:r>
            <a:endParaRPr b="0" i="0" sz="1400" u="none" cap="none" strike="noStrike">
              <a:solidFill>
                <a:srgbClr val="000000"/>
              </a:solidFill>
              <a:latin typeface="Arial"/>
              <a:ea typeface="Arial"/>
              <a:cs typeface="Arial"/>
              <a:sym typeface="Arial"/>
            </a:endParaRPr>
          </a:p>
        </p:txBody>
      </p:sp>
      <p:cxnSp>
        <p:nvCxnSpPr>
          <p:cNvPr id="216" name="Google Shape;216;p12"/>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217" name="Google Shape;217;p12"/>
          <p:cNvPicPr preferRelativeResize="0"/>
          <p:nvPr/>
        </p:nvPicPr>
        <p:blipFill rotWithShape="1">
          <a:blip r:embed="rId3">
            <a:alphaModFix/>
          </a:blip>
          <a:srcRect b="0" l="0" r="0" t="0"/>
          <a:stretch/>
        </p:blipFill>
        <p:spPr>
          <a:xfrm>
            <a:off x="1885950" y="1066800"/>
            <a:ext cx="5429250" cy="5172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3" name="Google Shape;223;p1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24" name="Google Shape;224;p1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225" name="Google Shape;225;p13"/>
          <p:cNvGrpSpPr/>
          <p:nvPr/>
        </p:nvGrpSpPr>
        <p:grpSpPr>
          <a:xfrm>
            <a:off x="490537" y="773112"/>
            <a:ext cx="738187" cy="474662"/>
            <a:chOff x="309" y="487"/>
            <a:chExt cx="465" cy="299"/>
          </a:xfrm>
        </p:grpSpPr>
        <p:sp>
          <p:nvSpPr>
            <p:cNvPr id="226" name="Google Shape;226;p1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27" name="Google Shape;227;p1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228" name="Google Shape;228;p1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29" name="Google Shape;229;p1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30" name="Google Shape;230;p1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31" name="Google Shape;231;p1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32" name="Google Shape;232;p13"/>
          <p:cNvSpPr txBox="1"/>
          <p:nvPr/>
        </p:nvSpPr>
        <p:spPr>
          <a:xfrm>
            <a:off x="228600" y="14478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power we use at home has a frequency of </a:t>
            </a:r>
            <a:r>
              <a:rPr b="1" i="1" lang="en-US" sz="2800" u="none" cap="none" strike="noStrike">
                <a:solidFill>
                  <a:schemeClr val="hlink"/>
                </a:solidFill>
                <a:latin typeface="Times New Roman"/>
                <a:ea typeface="Times New Roman"/>
                <a:cs typeface="Times New Roman"/>
                <a:sym typeface="Times New Roman"/>
              </a:rPr>
              <a:t>60 Hz</a:t>
            </a:r>
            <a:r>
              <a:rPr b="1" i="1" lang="en-US" sz="2800" u="none" cap="none" strike="noStrike">
                <a:solidFill>
                  <a:schemeClr val="dk1"/>
                </a:solidFill>
                <a:latin typeface="Times New Roman"/>
                <a:ea typeface="Times New Roman"/>
                <a:cs typeface="Times New Roman"/>
                <a:sym typeface="Times New Roman"/>
              </a:rPr>
              <a:t>. The period of this sine wave can be determined as follows:</a:t>
            </a:r>
            <a:endParaRPr b="0" i="0" sz="1400" u="none" cap="none" strike="noStrike">
              <a:solidFill>
                <a:srgbClr val="000000"/>
              </a:solidFill>
              <a:latin typeface="Arial"/>
              <a:ea typeface="Arial"/>
              <a:cs typeface="Arial"/>
              <a:sym typeface="Arial"/>
            </a:endParaRPr>
          </a:p>
        </p:txBody>
      </p:sp>
      <p:sp>
        <p:nvSpPr>
          <p:cNvPr id="233" name="Google Shape;233;p13"/>
          <p:cNvSpPr txBox="1"/>
          <p:nvPr/>
        </p:nvSpPr>
        <p:spPr>
          <a:xfrm>
            <a:off x="1143000" y="182562"/>
            <a:ext cx="22844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a:t>
            </a:r>
            <a:endParaRPr b="0" i="0" sz="1400" u="none" cap="none" strike="noStrike">
              <a:solidFill>
                <a:srgbClr val="000000"/>
              </a:solidFill>
              <a:latin typeface="Arial"/>
              <a:ea typeface="Arial"/>
              <a:cs typeface="Arial"/>
              <a:sym typeface="Arial"/>
            </a:endParaRPr>
          </a:p>
        </p:txBody>
      </p:sp>
      <p:pic>
        <p:nvPicPr>
          <p:cNvPr id="234" name="Google Shape;234;p13"/>
          <p:cNvPicPr preferRelativeResize="0"/>
          <p:nvPr/>
        </p:nvPicPr>
        <p:blipFill rotWithShape="1">
          <a:blip r:embed="rId3">
            <a:alphaModFix/>
          </a:blip>
          <a:srcRect b="0" l="0" r="0" t="0"/>
          <a:stretch/>
        </p:blipFill>
        <p:spPr>
          <a:xfrm>
            <a:off x="1408112" y="3149600"/>
            <a:ext cx="6327775" cy="711200"/>
          </a:xfrm>
          <a:prstGeom prst="rect">
            <a:avLst/>
          </a:prstGeom>
          <a:noFill/>
          <a:ln cap="flat" cmpd="sng" w="57150">
            <a:solidFill>
              <a:srgbClr val="3366FF"/>
            </a:solidFill>
            <a:prstDash val="solid"/>
            <a:miter lim="800000"/>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0" name="Google Shape;240;p1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1" name="Google Shape;241;p1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242" name="Google Shape;242;p14"/>
          <p:cNvGrpSpPr/>
          <p:nvPr/>
        </p:nvGrpSpPr>
        <p:grpSpPr>
          <a:xfrm>
            <a:off x="490537" y="773112"/>
            <a:ext cx="738187" cy="474662"/>
            <a:chOff x="309" y="487"/>
            <a:chExt cx="465" cy="299"/>
          </a:xfrm>
        </p:grpSpPr>
        <p:sp>
          <p:nvSpPr>
            <p:cNvPr id="243" name="Google Shape;243;p1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4" name="Google Shape;244;p1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245" name="Google Shape;245;p1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6" name="Google Shape;246;p1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7" name="Google Shape;247;p1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8" name="Google Shape;248;p1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49" name="Google Shape;249;p14"/>
          <p:cNvSpPr txBox="1"/>
          <p:nvPr/>
        </p:nvSpPr>
        <p:spPr>
          <a:xfrm>
            <a:off x="228600" y="14478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period of a signal is 100 ms. What is its frequency in kilohertz?</a:t>
            </a:r>
            <a:endParaRPr b="0" i="0" sz="1400" u="none" cap="none" strike="noStrike">
              <a:solidFill>
                <a:srgbClr val="000000"/>
              </a:solidFill>
              <a:latin typeface="Arial"/>
              <a:ea typeface="Arial"/>
              <a:cs typeface="Arial"/>
              <a:sym typeface="Arial"/>
            </a:endParaRPr>
          </a:p>
        </p:txBody>
      </p:sp>
      <p:sp>
        <p:nvSpPr>
          <p:cNvPr id="250" name="Google Shape;250;p14"/>
          <p:cNvSpPr txBox="1"/>
          <p:nvPr/>
        </p:nvSpPr>
        <p:spPr>
          <a:xfrm>
            <a:off x="1143000" y="182562"/>
            <a:ext cx="22844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3.5</a:t>
            </a:r>
            <a:endParaRPr b="0" i="0" sz="1400" u="none" cap="none" strike="noStrike">
              <a:solidFill>
                <a:srgbClr val="000000"/>
              </a:solidFill>
              <a:latin typeface="Arial"/>
              <a:ea typeface="Arial"/>
              <a:cs typeface="Arial"/>
              <a:sym typeface="Arial"/>
            </a:endParaRPr>
          </a:p>
        </p:txBody>
      </p:sp>
      <p:sp>
        <p:nvSpPr>
          <p:cNvPr id="251" name="Google Shape;251;p14"/>
          <p:cNvSpPr txBox="1"/>
          <p:nvPr/>
        </p:nvSpPr>
        <p:spPr>
          <a:xfrm>
            <a:off x="304800" y="26670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First we change 100 ms to seconds, and then we calculate the frequency from the period (1 Hz = 10</a:t>
            </a:r>
            <a:r>
              <a:rPr b="1" baseline="30000" i="1" lang="en-US" sz="2800" u="none" cap="none" strike="noStrike">
                <a:solidFill>
                  <a:schemeClr val="dk1"/>
                </a:solidFill>
                <a:latin typeface="Times New Roman"/>
                <a:ea typeface="Times New Roman"/>
                <a:cs typeface="Times New Roman"/>
                <a:sym typeface="Times New Roman"/>
              </a:rPr>
              <a:t>−3</a:t>
            </a:r>
            <a:r>
              <a:rPr b="1" i="1" lang="en-US" sz="2800" u="none" cap="none" strike="noStrike">
                <a:solidFill>
                  <a:schemeClr val="dk1"/>
                </a:solidFill>
                <a:latin typeface="Times New Roman"/>
                <a:ea typeface="Times New Roman"/>
                <a:cs typeface="Times New Roman"/>
                <a:sym typeface="Times New Roman"/>
              </a:rPr>
              <a:t> kHz).</a:t>
            </a:r>
            <a:endParaRPr b="0" i="0" sz="1400" u="none" cap="none" strike="noStrike">
              <a:solidFill>
                <a:srgbClr val="000000"/>
              </a:solidFill>
              <a:latin typeface="Arial"/>
              <a:ea typeface="Arial"/>
              <a:cs typeface="Arial"/>
              <a:sym typeface="Arial"/>
            </a:endParaRPr>
          </a:p>
        </p:txBody>
      </p:sp>
      <p:pic>
        <p:nvPicPr>
          <p:cNvPr id="252" name="Google Shape;252;p14"/>
          <p:cNvPicPr preferRelativeResize="0"/>
          <p:nvPr/>
        </p:nvPicPr>
        <p:blipFill rotWithShape="1">
          <a:blip r:embed="rId3">
            <a:alphaModFix/>
          </a:blip>
          <a:srcRect b="0" l="0" r="0" t="0"/>
          <a:stretch/>
        </p:blipFill>
        <p:spPr>
          <a:xfrm>
            <a:off x="1425575" y="4778375"/>
            <a:ext cx="6291262" cy="1241425"/>
          </a:xfrm>
          <a:prstGeom prst="rect">
            <a:avLst/>
          </a:prstGeom>
          <a:noFill/>
          <a:ln cap="flat" cmpd="sng" w="57150">
            <a:solidFill>
              <a:srgbClr val="3366FF"/>
            </a:solidFill>
            <a:prstDash val="solid"/>
            <a:miter lim="800000"/>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58" name="Google Shape;258;p15"/>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59" name="Google Shape;259;p15"/>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0" name="Google Shape;260;p15"/>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1" name="Google Shape;261;p15"/>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2" name="Google Shape;262;p15"/>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3" name="Google Shape;263;p15"/>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64" name="Google Shape;264;p15"/>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265" name="Google Shape;265;p15"/>
          <p:cNvCxnSpPr/>
          <p:nvPr/>
        </p:nvCxnSpPr>
        <p:spPr>
          <a:xfrm>
            <a:off x="457200" y="19050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266" name="Google Shape;266;p15"/>
          <p:cNvCxnSpPr/>
          <p:nvPr/>
        </p:nvCxnSpPr>
        <p:spPr>
          <a:xfrm>
            <a:off x="458787" y="60960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267" name="Google Shape;267;p15"/>
          <p:cNvSpPr txBox="1"/>
          <p:nvPr/>
        </p:nvSpPr>
        <p:spPr>
          <a:xfrm>
            <a:off x="495300" y="1997075"/>
            <a:ext cx="8077200" cy="399097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Frequency is the rate of change with respect to time. </a:t>
            </a:r>
            <a:br>
              <a:rPr b="1" i="0" lang="en-US" sz="3200" u="none" cap="none" strike="noStrike">
                <a:solidFill>
                  <a:schemeClr val="dk1"/>
                </a:solidFill>
                <a:latin typeface="Arial"/>
                <a:ea typeface="Arial"/>
                <a:cs typeface="Arial"/>
                <a:sym typeface="Arial"/>
              </a:rPr>
            </a:b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Change in a short span of time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means high frequency.</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Change over a long span of </a:t>
            </a:r>
            <a:br>
              <a:rPr b="1" i="0" lang="en-US" sz="3200" u="none" cap="none" strike="noStrike">
                <a:solidFill>
                  <a:schemeClr val="dk1"/>
                </a:solidFill>
                <a:latin typeface="Arial"/>
                <a:ea typeface="Arial"/>
                <a:cs typeface="Arial"/>
                <a:sym typeface="Arial"/>
              </a:rPr>
            </a:br>
            <a:r>
              <a:rPr b="1" i="0" lang="en-US" sz="3200" u="none" cap="none" strike="noStrike">
                <a:solidFill>
                  <a:schemeClr val="dk1"/>
                </a:solidFill>
                <a:latin typeface="Arial"/>
                <a:ea typeface="Arial"/>
                <a:cs typeface="Arial"/>
                <a:sym typeface="Arial"/>
              </a:rPr>
              <a:t>time means low frequency.</a:t>
            </a:r>
            <a:endParaRPr b="0" i="0" sz="1400" u="none" cap="none" strike="noStrike">
              <a:solidFill>
                <a:srgbClr val="000000"/>
              </a:solidFill>
              <a:latin typeface="Arial"/>
              <a:ea typeface="Arial"/>
              <a:cs typeface="Arial"/>
              <a:sym typeface="Arial"/>
            </a:endParaRPr>
          </a:p>
        </p:txBody>
      </p:sp>
      <p:grpSp>
        <p:nvGrpSpPr>
          <p:cNvPr id="268" name="Google Shape;268;p15"/>
          <p:cNvGrpSpPr/>
          <p:nvPr/>
        </p:nvGrpSpPr>
        <p:grpSpPr>
          <a:xfrm>
            <a:off x="457200" y="1219200"/>
            <a:ext cx="1143000" cy="566737"/>
            <a:chOff x="1200" y="1248"/>
            <a:chExt cx="720" cy="357"/>
          </a:xfrm>
        </p:grpSpPr>
        <p:pic>
          <p:nvPicPr>
            <p:cNvPr id="269" name="Google Shape;269;p15"/>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70" name="Google Shape;270;p15"/>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76" name="Google Shape;276;p16"/>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7" name="Google Shape;277;p16"/>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8" name="Google Shape;278;p16"/>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79" name="Google Shape;279;p16"/>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80" name="Google Shape;280;p16"/>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81" name="Google Shape;281;p16"/>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82" name="Google Shape;282;p16"/>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283" name="Google Shape;283;p16"/>
          <p:cNvCxnSpPr/>
          <p:nvPr/>
        </p:nvCxnSpPr>
        <p:spPr>
          <a:xfrm>
            <a:off x="457200" y="2700337"/>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284" name="Google Shape;284;p16"/>
          <p:cNvCxnSpPr/>
          <p:nvPr/>
        </p:nvCxnSpPr>
        <p:spPr>
          <a:xfrm>
            <a:off x="458787" y="4910137"/>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285" name="Google Shape;285;p16"/>
          <p:cNvSpPr txBox="1"/>
          <p:nvPr/>
        </p:nvSpPr>
        <p:spPr>
          <a:xfrm>
            <a:off x="495300" y="2792412"/>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If a signal does not change at all, its frequency is zero.</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If a signal changes instantaneously, its frequency is infinite.</a:t>
            </a:r>
            <a:endParaRPr b="0" i="0" sz="1400" u="none" cap="none" strike="noStrike">
              <a:solidFill>
                <a:srgbClr val="000000"/>
              </a:solidFill>
              <a:latin typeface="Arial"/>
              <a:ea typeface="Arial"/>
              <a:cs typeface="Arial"/>
              <a:sym typeface="Arial"/>
            </a:endParaRPr>
          </a:p>
        </p:txBody>
      </p:sp>
      <p:grpSp>
        <p:nvGrpSpPr>
          <p:cNvPr id="286" name="Google Shape;286;p16"/>
          <p:cNvGrpSpPr/>
          <p:nvPr/>
        </p:nvGrpSpPr>
        <p:grpSpPr>
          <a:xfrm>
            <a:off x="457200" y="2057400"/>
            <a:ext cx="1143000" cy="566737"/>
            <a:chOff x="1200" y="1248"/>
            <a:chExt cx="720" cy="357"/>
          </a:xfrm>
        </p:grpSpPr>
        <p:pic>
          <p:nvPicPr>
            <p:cNvPr id="287" name="Google Shape;287;p16"/>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288" name="Google Shape;288;p16"/>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94" name="Google Shape;294;p17"/>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95" name="Google Shape;295;p17"/>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96" name="Google Shape;296;p17"/>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97" name="Google Shape;297;p17"/>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98" name="Google Shape;298;p17"/>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299" name="Google Shape;299;p17"/>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00" name="Google Shape;300;p17"/>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301" name="Google Shape;301;p17"/>
          <p:cNvCxnSpPr/>
          <p:nvPr/>
        </p:nvCxnSpPr>
        <p:spPr>
          <a:xfrm>
            <a:off x="457200" y="2971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302" name="Google Shape;302;p17"/>
          <p:cNvCxnSpPr/>
          <p:nvPr/>
        </p:nvCxnSpPr>
        <p:spPr>
          <a:xfrm>
            <a:off x="458787" y="41910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303" name="Google Shape;303;p17"/>
          <p:cNvSpPr txBox="1"/>
          <p:nvPr/>
        </p:nvSpPr>
        <p:spPr>
          <a:xfrm>
            <a:off x="495300" y="30638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Phase describes the position of the waveform  relative to time 0.</a:t>
            </a:r>
            <a:endParaRPr b="0" i="0" sz="1400" u="none" cap="none" strike="noStrike">
              <a:solidFill>
                <a:srgbClr val="000000"/>
              </a:solidFill>
              <a:latin typeface="Arial"/>
              <a:ea typeface="Arial"/>
              <a:cs typeface="Arial"/>
              <a:sym typeface="Arial"/>
            </a:endParaRPr>
          </a:p>
        </p:txBody>
      </p:sp>
      <p:grpSp>
        <p:nvGrpSpPr>
          <p:cNvPr id="304" name="Google Shape;304;p17"/>
          <p:cNvGrpSpPr/>
          <p:nvPr/>
        </p:nvGrpSpPr>
        <p:grpSpPr>
          <a:xfrm>
            <a:off x="457200" y="2286000"/>
            <a:ext cx="1143000" cy="566737"/>
            <a:chOff x="1200" y="1248"/>
            <a:chExt cx="720" cy="357"/>
          </a:xfrm>
        </p:grpSpPr>
        <p:pic>
          <p:nvPicPr>
            <p:cNvPr id="305" name="Google Shape;305;p17"/>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306" name="Google Shape;306;p17"/>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3a226f92c9_0_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12" name="Google Shape;312;g33a226f92c9_0_0"/>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13" name="Google Shape;313;g33a226f92c9_0_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14" name="Google Shape;314;g33a226f92c9_0_0"/>
          <p:cNvPicPr preferRelativeResize="0"/>
          <p:nvPr/>
        </p:nvPicPr>
        <p:blipFill rotWithShape="1">
          <a:blip r:embed="rId3">
            <a:alphaModFix/>
          </a:blip>
          <a:srcRect b="0" l="0" r="0" t="0"/>
          <a:stretch/>
        </p:blipFill>
        <p:spPr>
          <a:xfrm>
            <a:off x="454775" y="933450"/>
            <a:ext cx="4117225" cy="1657048"/>
          </a:xfrm>
          <a:prstGeom prst="rect">
            <a:avLst/>
          </a:prstGeom>
          <a:noFill/>
          <a:ln>
            <a:noFill/>
          </a:ln>
        </p:spPr>
      </p:pic>
      <p:pic>
        <p:nvPicPr>
          <p:cNvPr id="315" name="Google Shape;315;g33a226f92c9_0_0"/>
          <p:cNvPicPr preferRelativeResize="0"/>
          <p:nvPr/>
        </p:nvPicPr>
        <p:blipFill rotWithShape="1">
          <a:blip r:embed="rId4">
            <a:alphaModFix/>
          </a:blip>
          <a:srcRect b="0" l="0" r="0" t="0"/>
          <a:stretch/>
        </p:blipFill>
        <p:spPr>
          <a:xfrm>
            <a:off x="4732850" y="999938"/>
            <a:ext cx="4326475" cy="1524074"/>
          </a:xfrm>
          <a:prstGeom prst="rect">
            <a:avLst/>
          </a:prstGeom>
          <a:noFill/>
          <a:ln>
            <a:noFill/>
          </a:ln>
        </p:spPr>
      </p:pic>
      <p:pic>
        <p:nvPicPr>
          <p:cNvPr id="316" name="Google Shape;316;g33a226f92c9_0_0"/>
          <p:cNvPicPr preferRelativeResize="0"/>
          <p:nvPr/>
        </p:nvPicPr>
        <p:blipFill rotWithShape="1">
          <a:blip r:embed="rId5">
            <a:alphaModFix/>
          </a:blip>
          <a:srcRect b="0" l="0" r="0" t="0"/>
          <a:stretch/>
        </p:blipFill>
        <p:spPr>
          <a:xfrm>
            <a:off x="388675" y="3652613"/>
            <a:ext cx="3932750" cy="1395963"/>
          </a:xfrm>
          <a:prstGeom prst="rect">
            <a:avLst/>
          </a:prstGeom>
          <a:noFill/>
          <a:ln>
            <a:noFill/>
          </a:ln>
        </p:spPr>
      </p:pic>
      <p:pic>
        <p:nvPicPr>
          <p:cNvPr id="317" name="Google Shape;317;g33a226f92c9_0_0"/>
          <p:cNvPicPr preferRelativeResize="0"/>
          <p:nvPr/>
        </p:nvPicPr>
        <p:blipFill rotWithShape="1">
          <a:blip r:embed="rId6">
            <a:alphaModFix/>
          </a:blip>
          <a:srcRect b="0" l="0" r="0" t="0"/>
          <a:stretch/>
        </p:blipFill>
        <p:spPr>
          <a:xfrm>
            <a:off x="4572000" y="3652625"/>
            <a:ext cx="4240025" cy="1395950"/>
          </a:xfrm>
          <a:prstGeom prst="rect">
            <a:avLst/>
          </a:prstGeom>
          <a:noFill/>
          <a:ln>
            <a:noFill/>
          </a:ln>
        </p:spPr>
      </p:pic>
      <p:sp>
        <p:nvSpPr>
          <p:cNvPr id="318" name="Google Shape;318;g33a226f92c9_0_0"/>
          <p:cNvSpPr txBox="1"/>
          <p:nvPr/>
        </p:nvSpPr>
        <p:spPr>
          <a:xfrm>
            <a:off x="1591275" y="2553225"/>
            <a:ext cx="1809600" cy="39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2D2E2D"/>
                </a:solidFill>
                <a:latin typeface="Montserrat Medium"/>
                <a:ea typeface="Montserrat Medium"/>
                <a:cs typeface="Montserrat Medium"/>
                <a:sym typeface="Montserrat Medium"/>
              </a:rPr>
              <a:t>Phase = 0°</a:t>
            </a:r>
            <a:endParaRPr b="0" i="0" sz="1500" u="none" cap="none" strike="noStrike">
              <a:solidFill>
                <a:srgbClr val="2D2E2D"/>
              </a:solidFill>
              <a:latin typeface="Montserrat Medium"/>
              <a:ea typeface="Montserrat Medium"/>
              <a:cs typeface="Montserrat Medium"/>
              <a:sym typeface="Montserrat Medium"/>
            </a:endParaRPr>
          </a:p>
        </p:txBody>
      </p:sp>
      <p:sp>
        <p:nvSpPr>
          <p:cNvPr id="319" name="Google Shape;319;g33a226f92c9_0_0"/>
          <p:cNvSpPr txBox="1"/>
          <p:nvPr/>
        </p:nvSpPr>
        <p:spPr>
          <a:xfrm>
            <a:off x="5670475" y="2553225"/>
            <a:ext cx="1809600" cy="39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2D2E2D"/>
                </a:solidFill>
                <a:latin typeface="Montserrat Medium"/>
                <a:ea typeface="Montserrat Medium"/>
                <a:cs typeface="Montserrat Medium"/>
                <a:sym typeface="Montserrat Medium"/>
              </a:rPr>
              <a:t>Phase = 90°</a:t>
            </a:r>
            <a:endParaRPr b="0" i="0" sz="1500" u="none" cap="none" strike="noStrike">
              <a:solidFill>
                <a:srgbClr val="2D2E2D"/>
              </a:solidFill>
              <a:latin typeface="Montserrat Medium"/>
              <a:ea typeface="Montserrat Medium"/>
              <a:cs typeface="Montserrat Medium"/>
              <a:sym typeface="Montserrat Medium"/>
            </a:endParaRPr>
          </a:p>
        </p:txBody>
      </p:sp>
      <p:sp>
        <p:nvSpPr>
          <p:cNvPr id="320" name="Google Shape;320;g33a226f92c9_0_0"/>
          <p:cNvSpPr txBox="1"/>
          <p:nvPr/>
        </p:nvSpPr>
        <p:spPr>
          <a:xfrm>
            <a:off x="1503175" y="5264363"/>
            <a:ext cx="1809600" cy="39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2D2E2D"/>
                </a:solidFill>
                <a:latin typeface="Montserrat Medium"/>
                <a:ea typeface="Montserrat Medium"/>
                <a:cs typeface="Montserrat Medium"/>
                <a:sym typeface="Montserrat Medium"/>
              </a:rPr>
              <a:t>Phase = 180°</a:t>
            </a:r>
            <a:endParaRPr b="0" i="0" sz="1500" u="none" cap="none" strike="noStrike">
              <a:solidFill>
                <a:srgbClr val="2D2E2D"/>
              </a:solidFill>
              <a:latin typeface="Montserrat Medium"/>
              <a:ea typeface="Montserrat Medium"/>
              <a:cs typeface="Montserrat Medium"/>
              <a:sym typeface="Montserrat Medium"/>
            </a:endParaRPr>
          </a:p>
        </p:txBody>
      </p:sp>
      <p:sp>
        <p:nvSpPr>
          <p:cNvPr id="321" name="Google Shape;321;g33a226f92c9_0_0"/>
          <p:cNvSpPr txBox="1"/>
          <p:nvPr/>
        </p:nvSpPr>
        <p:spPr>
          <a:xfrm>
            <a:off x="5586850" y="5264375"/>
            <a:ext cx="1809600" cy="396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2D2E2D"/>
                </a:solidFill>
                <a:latin typeface="Montserrat Medium"/>
                <a:ea typeface="Montserrat Medium"/>
                <a:cs typeface="Montserrat Medium"/>
                <a:sym typeface="Montserrat Medium"/>
              </a:rPr>
              <a:t>Phase = 270°</a:t>
            </a:r>
            <a:endParaRPr b="0" i="0" sz="1500" u="none" cap="none" strike="noStrike">
              <a:solidFill>
                <a:srgbClr val="2D2E2D"/>
              </a:solidFill>
              <a:latin typeface="Montserrat Medium"/>
              <a:ea typeface="Montserrat Medium"/>
              <a:cs typeface="Montserrat Medium"/>
              <a:sym typeface="Montserrat Medium"/>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27" name="Google Shape;327;p18"/>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28" name="Google Shape;328;p18"/>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29" name="Google Shape;329;p18"/>
          <p:cNvSpPr txBox="1"/>
          <p:nvPr/>
        </p:nvSpPr>
        <p:spPr>
          <a:xfrm>
            <a:off x="304800" y="152400"/>
            <a:ext cx="7680325"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3.5  </a:t>
            </a:r>
            <a:r>
              <a:rPr b="1" i="1" lang="en-US" sz="2000" u="none" cap="none" strike="noStrike">
                <a:solidFill>
                  <a:schemeClr val="dk1"/>
                </a:solidFill>
                <a:latin typeface="Times New Roman"/>
                <a:ea typeface="Times New Roman"/>
                <a:cs typeface="Times New Roman"/>
                <a:sym typeface="Times New Roman"/>
              </a:rPr>
              <a:t>Three sine waves with the same amplitude and frequency,</a:t>
            </a:r>
            <a:br>
              <a:rPr b="1" i="1" lang="en-US" sz="2000" u="none" cap="none" strike="noStrike">
                <a:solidFill>
                  <a:schemeClr val="dk1"/>
                </a:solidFill>
                <a:latin typeface="Times New Roman"/>
                <a:ea typeface="Times New Roman"/>
                <a:cs typeface="Times New Roman"/>
                <a:sym typeface="Times New Roman"/>
              </a:rPr>
            </a:br>
            <a:r>
              <a:rPr b="1" i="1" lang="en-US" sz="2000" u="none" cap="none" strike="noStrike">
                <a:solidFill>
                  <a:schemeClr val="dk1"/>
                </a:solidFill>
                <a:latin typeface="Times New Roman"/>
                <a:ea typeface="Times New Roman"/>
                <a:cs typeface="Times New Roman"/>
                <a:sym typeface="Times New Roman"/>
              </a:rPr>
              <a:t>                        but different phases</a:t>
            </a:r>
            <a:endParaRPr b="0" i="0" sz="1400" u="none" cap="none" strike="noStrike">
              <a:solidFill>
                <a:srgbClr val="000000"/>
              </a:solidFill>
              <a:latin typeface="Arial"/>
              <a:ea typeface="Arial"/>
              <a:cs typeface="Arial"/>
              <a:sym typeface="Arial"/>
            </a:endParaRPr>
          </a:p>
        </p:txBody>
      </p:sp>
      <p:cxnSp>
        <p:nvCxnSpPr>
          <p:cNvPr id="330" name="Google Shape;330;p18"/>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31" name="Google Shape;331;p18"/>
          <p:cNvPicPr preferRelativeResize="0"/>
          <p:nvPr/>
        </p:nvPicPr>
        <p:blipFill rotWithShape="1">
          <a:blip r:embed="rId3">
            <a:alphaModFix/>
          </a:blip>
          <a:srcRect b="0" l="0" r="0" t="0"/>
          <a:stretch/>
        </p:blipFill>
        <p:spPr>
          <a:xfrm>
            <a:off x="1905000" y="1143000"/>
            <a:ext cx="5110162" cy="4965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37" name="Google Shape;337;p19"/>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38" name="Google Shape;338;p19"/>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39" name="Google Shape;339;p19"/>
          <p:cNvSpPr txBox="1"/>
          <p:nvPr/>
        </p:nvSpPr>
        <p:spPr>
          <a:xfrm>
            <a:off x="304800" y="762000"/>
            <a:ext cx="4079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3.6  </a:t>
            </a:r>
            <a:r>
              <a:rPr b="1" i="1" lang="en-US" sz="2000" u="none" cap="none" strike="noStrike">
                <a:solidFill>
                  <a:schemeClr val="dk1"/>
                </a:solidFill>
                <a:latin typeface="Times New Roman"/>
                <a:ea typeface="Times New Roman"/>
                <a:cs typeface="Times New Roman"/>
                <a:sym typeface="Times New Roman"/>
              </a:rPr>
              <a:t>Wavelength and period</a:t>
            </a:r>
            <a:endParaRPr b="0" i="0" sz="1400" u="none" cap="none" strike="noStrike">
              <a:solidFill>
                <a:srgbClr val="000000"/>
              </a:solidFill>
              <a:latin typeface="Arial"/>
              <a:ea typeface="Arial"/>
              <a:cs typeface="Arial"/>
              <a:sym typeface="Arial"/>
            </a:endParaRPr>
          </a:p>
        </p:txBody>
      </p:sp>
      <p:cxnSp>
        <p:nvCxnSpPr>
          <p:cNvPr id="340" name="Google Shape;340;p19"/>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41" name="Google Shape;341;p19"/>
          <p:cNvPicPr preferRelativeResize="0"/>
          <p:nvPr/>
        </p:nvPicPr>
        <p:blipFill rotWithShape="1">
          <a:blip r:embed="rId3">
            <a:alphaModFix/>
          </a:blip>
          <a:srcRect b="0" l="0" r="0" t="0"/>
          <a:stretch/>
        </p:blipFill>
        <p:spPr>
          <a:xfrm>
            <a:off x="457200" y="2778125"/>
            <a:ext cx="8034337" cy="200501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47" name="Google Shape;347;p21"/>
          <p:cNvCxnSpPr/>
          <p:nvPr/>
        </p:nvCxnSpPr>
        <p:spPr>
          <a:xfrm>
            <a:off x="152400" y="2286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48" name="Google Shape;348;p21"/>
          <p:cNvCxnSpPr/>
          <p:nvPr/>
        </p:nvCxnSpPr>
        <p:spPr>
          <a:xfrm>
            <a:off x="152400" y="10668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49" name="Google Shape;349;p21"/>
          <p:cNvSpPr txBox="1"/>
          <p:nvPr/>
        </p:nvSpPr>
        <p:spPr>
          <a:xfrm>
            <a:off x="304800" y="457200"/>
            <a:ext cx="8516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3.7  </a:t>
            </a:r>
            <a:r>
              <a:rPr b="1" i="1" lang="en-US" sz="2000" u="none" cap="none" strike="noStrike">
                <a:solidFill>
                  <a:schemeClr val="dk1"/>
                </a:solidFill>
                <a:latin typeface="Times New Roman"/>
                <a:ea typeface="Times New Roman"/>
                <a:cs typeface="Times New Roman"/>
                <a:sym typeface="Times New Roman"/>
              </a:rPr>
              <a:t>The time-domain and frequency-domain plots of a sine wave</a:t>
            </a:r>
            <a:endParaRPr b="0" i="0" sz="1400" u="none" cap="none" strike="noStrike">
              <a:solidFill>
                <a:srgbClr val="000000"/>
              </a:solidFill>
              <a:latin typeface="Arial"/>
              <a:ea typeface="Arial"/>
              <a:cs typeface="Arial"/>
              <a:sym typeface="Arial"/>
            </a:endParaRPr>
          </a:p>
        </p:txBody>
      </p:sp>
      <p:cxnSp>
        <p:nvCxnSpPr>
          <p:cNvPr id="350" name="Google Shape;350;p21"/>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51" name="Google Shape;351;p21"/>
          <p:cNvPicPr preferRelativeResize="0"/>
          <p:nvPr/>
        </p:nvPicPr>
        <p:blipFill rotWithShape="1">
          <a:blip r:embed="rId3">
            <a:alphaModFix/>
          </a:blip>
          <a:srcRect b="0" l="0" r="0" t="0"/>
          <a:stretch/>
        </p:blipFill>
        <p:spPr>
          <a:xfrm>
            <a:off x="968375" y="1447800"/>
            <a:ext cx="7056437" cy="4619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2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57" name="Google Shape;357;p2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58" name="Google Shape;358;p2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359" name="Google Shape;359;p22"/>
          <p:cNvGrpSpPr/>
          <p:nvPr/>
        </p:nvGrpSpPr>
        <p:grpSpPr>
          <a:xfrm>
            <a:off x="490537" y="773112"/>
            <a:ext cx="738187" cy="474662"/>
            <a:chOff x="309" y="487"/>
            <a:chExt cx="465" cy="299"/>
          </a:xfrm>
        </p:grpSpPr>
        <p:sp>
          <p:nvSpPr>
            <p:cNvPr id="360" name="Google Shape;360;p2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1" name="Google Shape;361;p2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362" name="Google Shape;362;p2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3" name="Google Shape;363;p2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4" name="Google Shape;364;p2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5" name="Google Shape;365;p2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66" name="Google Shape;366;p22"/>
          <p:cNvSpPr txBox="1"/>
          <p:nvPr/>
        </p:nvSpPr>
        <p:spPr>
          <a:xfrm>
            <a:off x="228600" y="14478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1" lang="en-US" sz="2800" u="none" cap="none" strike="noStrike">
                <a:solidFill>
                  <a:schemeClr val="dk1"/>
                </a:solidFill>
                <a:latin typeface="Arial"/>
                <a:ea typeface="Arial"/>
                <a:cs typeface="Arial"/>
                <a:sym typeface="Arial"/>
              </a:rPr>
              <a:t>The frequency domain is more compact and useful when we are dealing with more than one sine wave. For example, Figure 3.8 shows three sine waves, each with different amplitude and frequency. All can be represented by three spikes in the frequency domain.</a:t>
            </a:r>
            <a:endParaRPr b="0" i="0" sz="1400" u="none" cap="none" strike="noStrike">
              <a:solidFill>
                <a:srgbClr val="000000"/>
              </a:solidFill>
              <a:latin typeface="Arial"/>
              <a:ea typeface="Arial"/>
              <a:cs typeface="Arial"/>
              <a:sym typeface="Arial"/>
            </a:endParaRPr>
          </a:p>
        </p:txBody>
      </p:sp>
      <p:sp>
        <p:nvSpPr>
          <p:cNvPr id="367" name="Google Shape;367;p22"/>
          <p:cNvSpPr txBox="1"/>
          <p:nvPr/>
        </p:nvSpPr>
        <p:spPr>
          <a:xfrm>
            <a:off x="1143000" y="182562"/>
            <a:ext cx="22844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3a226f92c9_0_6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73" name="Google Shape;373;g33a226f92c9_0_62"/>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74" name="Google Shape;374;g33a226f92c9_0_62"/>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75" name="Google Shape;375;g33a226f92c9_0_62"/>
          <p:cNvSpPr txBox="1"/>
          <p:nvPr/>
        </p:nvSpPr>
        <p:spPr>
          <a:xfrm>
            <a:off x="304800" y="381000"/>
            <a:ext cx="8583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3.8  </a:t>
            </a:r>
            <a:r>
              <a:rPr b="1" i="1" lang="en-US" sz="2000" u="none" cap="none" strike="noStrike">
                <a:solidFill>
                  <a:schemeClr val="dk1"/>
                </a:solidFill>
                <a:latin typeface="Times New Roman"/>
                <a:ea typeface="Times New Roman"/>
                <a:cs typeface="Times New Roman"/>
                <a:sym typeface="Times New Roman"/>
              </a:rPr>
              <a:t>The time domain and frequency domain of three sine waves</a:t>
            </a:r>
            <a:endParaRPr b="0" i="0" sz="1400" u="none" cap="none" strike="noStrike">
              <a:solidFill>
                <a:srgbClr val="000000"/>
              </a:solidFill>
              <a:latin typeface="Arial"/>
              <a:ea typeface="Arial"/>
              <a:cs typeface="Arial"/>
              <a:sym typeface="Arial"/>
            </a:endParaRPr>
          </a:p>
        </p:txBody>
      </p:sp>
      <p:cxnSp>
        <p:nvCxnSpPr>
          <p:cNvPr id="376" name="Google Shape;376;g33a226f92c9_0_62"/>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77" name="Google Shape;377;g33a226f92c9_0_62"/>
          <p:cNvPicPr preferRelativeResize="0"/>
          <p:nvPr/>
        </p:nvPicPr>
        <p:blipFill rotWithShape="1">
          <a:blip r:embed="rId3">
            <a:alphaModFix/>
          </a:blip>
          <a:srcRect b="0" l="0" r="0" t="0"/>
          <a:stretch/>
        </p:blipFill>
        <p:spPr>
          <a:xfrm>
            <a:off x="1365863" y="1402263"/>
            <a:ext cx="6336075" cy="41592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383" name="Google Shape;383;p23"/>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384" name="Google Shape;384;p23"/>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385" name="Google Shape;385;p23"/>
          <p:cNvSpPr txBox="1"/>
          <p:nvPr/>
        </p:nvSpPr>
        <p:spPr>
          <a:xfrm>
            <a:off x="304800" y="381000"/>
            <a:ext cx="8507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3.8  </a:t>
            </a:r>
            <a:r>
              <a:rPr b="1" i="1" lang="en-US" sz="2000" u="none" cap="none" strike="noStrike">
                <a:solidFill>
                  <a:schemeClr val="dk1"/>
                </a:solidFill>
                <a:latin typeface="Times New Roman"/>
                <a:ea typeface="Times New Roman"/>
                <a:cs typeface="Times New Roman"/>
                <a:sym typeface="Times New Roman"/>
              </a:rPr>
              <a:t>The time domain and frequency domain of three sine waves</a:t>
            </a:r>
            <a:endParaRPr b="0" i="0" sz="1400" u="none" cap="none" strike="noStrike">
              <a:solidFill>
                <a:srgbClr val="000000"/>
              </a:solidFill>
              <a:latin typeface="Arial"/>
              <a:ea typeface="Arial"/>
              <a:cs typeface="Arial"/>
              <a:sym typeface="Arial"/>
            </a:endParaRPr>
          </a:p>
        </p:txBody>
      </p:sp>
      <p:cxnSp>
        <p:nvCxnSpPr>
          <p:cNvPr id="386" name="Google Shape;386;p23"/>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387" name="Google Shape;387;p23"/>
          <p:cNvPicPr preferRelativeResize="0"/>
          <p:nvPr/>
        </p:nvPicPr>
        <p:blipFill rotWithShape="1">
          <a:blip r:embed="rId3">
            <a:alphaModFix/>
          </a:blip>
          <a:srcRect b="0" l="0" r="0" t="0"/>
          <a:stretch/>
        </p:blipFill>
        <p:spPr>
          <a:xfrm>
            <a:off x="228600" y="1981200"/>
            <a:ext cx="8583612" cy="315436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393" name="Google Shape;393;p24"/>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4" name="Google Shape;394;p24"/>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5" name="Google Shape;395;p24"/>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6" name="Google Shape;396;p24"/>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7" name="Google Shape;397;p24"/>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8" name="Google Shape;398;p24"/>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399" name="Google Shape;399;p24"/>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400" name="Google Shape;400;p24"/>
          <p:cNvCxnSpPr/>
          <p:nvPr/>
        </p:nvCxnSpPr>
        <p:spPr>
          <a:xfrm>
            <a:off x="457200" y="2971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401" name="Google Shape;401;p24"/>
          <p:cNvCxnSpPr/>
          <p:nvPr/>
        </p:nvCxnSpPr>
        <p:spPr>
          <a:xfrm>
            <a:off x="458787" y="51816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402" name="Google Shape;402;p24"/>
          <p:cNvSpPr txBox="1"/>
          <p:nvPr/>
        </p:nvSpPr>
        <p:spPr>
          <a:xfrm>
            <a:off x="495300" y="3063875"/>
            <a:ext cx="8077200" cy="2041525"/>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A single-frequency sine wave is not useful in data communications;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we need to send a composite signal, a signal made of many simple sine waves.</a:t>
            </a:r>
            <a:endParaRPr b="0" i="0" sz="1400" u="none" cap="none" strike="noStrike">
              <a:solidFill>
                <a:srgbClr val="000000"/>
              </a:solidFill>
              <a:latin typeface="Arial"/>
              <a:ea typeface="Arial"/>
              <a:cs typeface="Arial"/>
              <a:sym typeface="Arial"/>
            </a:endParaRPr>
          </a:p>
        </p:txBody>
      </p:sp>
      <p:grpSp>
        <p:nvGrpSpPr>
          <p:cNvPr id="403" name="Google Shape;403;p24"/>
          <p:cNvGrpSpPr/>
          <p:nvPr/>
        </p:nvGrpSpPr>
        <p:grpSpPr>
          <a:xfrm>
            <a:off x="457200" y="2362200"/>
            <a:ext cx="1143000" cy="566737"/>
            <a:chOff x="1200" y="1248"/>
            <a:chExt cx="720" cy="357"/>
          </a:xfrm>
        </p:grpSpPr>
        <p:pic>
          <p:nvPicPr>
            <p:cNvPr id="404" name="Google Shape;404;p24"/>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405" name="Google Shape;405;p24"/>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2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411" name="Google Shape;411;p25"/>
          <p:cNvCxnSpPr/>
          <p:nvPr/>
        </p:nvCxnSpPr>
        <p:spPr>
          <a:xfrm>
            <a:off x="152400" y="2286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412" name="Google Shape;412;p25"/>
          <p:cNvCxnSpPr/>
          <p:nvPr/>
        </p:nvCxnSpPr>
        <p:spPr>
          <a:xfrm>
            <a:off x="152400" y="10668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413" name="Google Shape;413;p25"/>
          <p:cNvSpPr txBox="1"/>
          <p:nvPr/>
        </p:nvSpPr>
        <p:spPr>
          <a:xfrm>
            <a:off x="304800" y="457200"/>
            <a:ext cx="63177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3.9  </a:t>
            </a:r>
            <a:r>
              <a:rPr b="1" i="1" lang="en-US" sz="2000" u="none" cap="none" strike="noStrike">
                <a:solidFill>
                  <a:schemeClr val="dk1"/>
                </a:solidFill>
                <a:latin typeface="Times New Roman"/>
                <a:ea typeface="Times New Roman"/>
                <a:cs typeface="Times New Roman"/>
                <a:sym typeface="Times New Roman"/>
              </a:rPr>
              <a:t>A composite periodic signal</a:t>
            </a:r>
            <a:endParaRPr b="0" i="0" sz="1400" u="none" cap="none" strike="noStrike">
              <a:solidFill>
                <a:srgbClr val="000000"/>
              </a:solidFill>
              <a:latin typeface="Arial"/>
              <a:ea typeface="Arial"/>
              <a:cs typeface="Arial"/>
              <a:sym typeface="Arial"/>
            </a:endParaRPr>
          </a:p>
        </p:txBody>
      </p:sp>
      <p:cxnSp>
        <p:nvCxnSpPr>
          <p:cNvPr id="414" name="Google Shape;414;p25"/>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415" name="Google Shape;415;p25"/>
          <p:cNvPicPr preferRelativeResize="0"/>
          <p:nvPr/>
        </p:nvPicPr>
        <p:blipFill rotWithShape="1">
          <a:blip r:embed="rId3">
            <a:alphaModFix/>
          </a:blip>
          <a:srcRect b="0" l="0" r="0" t="0"/>
          <a:stretch/>
        </p:blipFill>
        <p:spPr>
          <a:xfrm>
            <a:off x="423862" y="1981200"/>
            <a:ext cx="8491537" cy="307498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421" name="Google Shape;421;p26"/>
          <p:cNvCxnSpPr/>
          <p:nvPr/>
        </p:nvCxnSpPr>
        <p:spPr>
          <a:xfrm>
            <a:off x="152400" y="762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422" name="Google Shape;422;p26"/>
          <p:cNvCxnSpPr/>
          <p:nvPr/>
        </p:nvCxnSpPr>
        <p:spPr>
          <a:xfrm>
            <a:off x="152400" y="9144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423" name="Google Shape;423;p26"/>
          <p:cNvSpPr txBox="1"/>
          <p:nvPr/>
        </p:nvSpPr>
        <p:spPr>
          <a:xfrm>
            <a:off x="304800" y="304800"/>
            <a:ext cx="8839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3.12  </a:t>
            </a:r>
            <a:r>
              <a:rPr b="1" i="1" lang="en-US" sz="2000" u="none" cap="none" strike="noStrike">
                <a:solidFill>
                  <a:schemeClr val="dk1"/>
                </a:solidFill>
                <a:latin typeface="Times New Roman"/>
                <a:ea typeface="Times New Roman"/>
                <a:cs typeface="Times New Roman"/>
                <a:sym typeface="Times New Roman"/>
              </a:rPr>
              <a:t>The bandwidth of periodic and nonperiodic composite signals</a:t>
            </a:r>
            <a:endParaRPr b="0" i="0" sz="1400" u="none" cap="none" strike="noStrike">
              <a:solidFill>
                <a:srgbClr val="000000"/>
              </a:solidFill>
              <a:latin typeface="Arial"/>
              <a:ea typeface="Arial"/>
              <a:cs typeface="Arial"/>
              <a:sym typeface="Arial"/>
            </a:endParaRPr>
          </a:p>
        </p:txBody>
      </p:sp>
      <p:cxnSp>
        <p:nvCxnSpPr>
          <p:cNvPr id="424" name="Google Shape;424;p26"/>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425" name="Google Shape;425;p26"/>
          <p:cNvPicPr preferRelativeResize="0"/>
          <p:nvPr/>
        </p:nvPicPr>
        <p:blipFill rotWithShape="1">
          <a:blip r:embed="rId3">
            <a:alphaModFix/>
          </a:blip>
          <a:srcRect b="0" l="0" r="0" t="0"/>
          <a:stretch/>
        </p:blipFill>
        <p:spPr>
          <a:xfrm>
            <a:off x="1581150" y="1090612"/>
            <a:ext cx="6115050" cy="5005387"/>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31" name="Google Shape;431;p27"/>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2" name="Google Shape;432;p27"/>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433" name="Google Shape;433;p27"/>
          <p:cNvGrpSpPr/>
          <p:nvPr/>
        </p:nvGrpSpPr>
        <p:grpSpPr>
          <a:xfrm>
            <a:off x="490537" y="773112"/>
            <a:ext cx="738187" cy="474662"/>
            <a:chOff x="309" y="487"/>
            <a:chExt cx="465" cy="299"/>
          </a:xfrm>
        </p:grpSpPr>
        <p:sp>
          <p:nvSpPr>
            <p:cNvPr id="434" name="Google Shape;434;p27"/>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5" name="Google Shape;435;p27"/>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436" name="Google Shape;436;p27"/>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7" name="Google Shape;437;p27"/>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8" name="Google Shape;438;p27"/>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39" name="Google Shape;439;p27"/>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40" name="Google Shape;440;p27"/>
          <p:cNvSpPr txBox="1"/>
          <p:nvPr/>
        </p:nvSpPr>
        <p:spPr>
          <a:xfrm>
            <a:off x="228600" y="12954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If a periodic signal is decomposed into five sine waves with frequencies of 100, 300, 500, 700, and 900 Hz, what is its bandwidth? Draw the spectrum, assuming all components have a maximum amplitude of 10 V.</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Let </a:t>
            </a:r>
            <a:r>
              <a:rPr b="1" i="1" lang="en-US" sz="2800" u="none" cap="none" strike="noStrike">
                <a:solidFill>
                  <a:schemeClr val="hlink"/>
                </a:solidFill>
                <a:latin typeface="Times New Roman"/>
                <a:ea typeface="Times New Roman"/>
                <a:cs typeface="Times New Roman"/>
                <a:sym typeface="Times New Roman"/>
              </a:rPr>
              <a:t>f</a:t>
            </a:r>
            <a:r>
              <a:rPr b="1" baseline="-25000" i="1" lang="en-US" sz="2800" u="none" cap="none" strike="noStrike">
                <a:solidFill>
                  <a:schemeClr val="hlink"/>
                </a:solidFill>
                <a:latin typeface="Times New Roman"/>
                <a:ea typeface="Times New Roman"/>
                <a:cs typeface="Times New Roman"/>
                <a:sym typeface="Times New Roman"/>
              </a:rPr>
              <a:t>h</a:t>
            </a:r>
            <a:r>
              <a:rPr b="1" i="1" lang="en-US" sz="2800" u="none" cap="none" strike="noStrike">
                <a:solidFill>
                  <a:schemeClr val="dk1"/>
                </a:solidFill>
                <a:latin typeface="Times New Roman"/>
                <a:ea typeface="Times New Roman"/>
                <a:cs typeface="Times New Roman"/>
                <a:sym typeface="Times New Roman"/>
              </a:rPr>
              <a:t> be the highest frequency, </a:t>
            </a:r>
            <a:r>
              <a:rPr b="1" i="1" lang="en-US" sz="2800" u="none" cap="none" strike="noStrike">
                <a:solidFill>
                  <a:schemeClr val="hlink"/>
                </a:solidFill>
                <a:latin typeface="Times New Roman"/>
                <a:ea typeface="Times New Roman"/>
                <a:cs typeface="Times New Roman"/>
                <a:sym typeface="Times New Roman"/>
              </a:rPr>
              <a:t>f</a:t>
            </a:r>
            <a:r>
              <a:rPr b="1" baseline="-25000" i="1" lang="en-US" sz="2800" u="none" cap="none" strike="noStrike">
                <a:solidFill>
                  <a:schemeClr val="hlink"/>
                </a:solidFill>
                <a:latin typeface="Times New Roman"/>
                <a:ea typeface="Times New Roman"/>
                <a:cs typeface="Times New Roman"/>
                <a:sym typeface="Times New Roman"/>
              </a:rPr>
              <a:t>l</a:t>
            </a:r>
            <a:r>
              <a:rPr b="1" i="1" lang="en-US" sz="2800" u="none" cap="none" strike="noStrike">
                <a:solidFill>
                  <a:schemeClr val="dk1"/>
                </a:solidFill>
                <a:latin typeface="Times New Roman"/>
                <a:ea typeface="Times New Roman"/>
                <a:cs typeface="Times New Roman"/>
                <a:sym typeface="Times New Roman"/>
              </a:rPr>
              <a:t> the lowest frequency, and </a:t>
            </a:r>
            <a:r>
              <a:rPr b="1" i="1" lang="en-US" sz="2800" u="none" cap="none" strike="noStrike">
                <a:solidFill>
                  <a:schemeClr val="hlink"/>
                </a:solidFill>
                <a:latin typeface="Times New Roman"/>
                <a:ea typeface="Times New Roman"/>
                <a:cs typeface="Times New Roman"/>
                <a:sym typeface="Times New Roman"/>
              </a:rPr>
              <a:t>B</a:t>
            </a:r>
            <a:r>
              <a:rPr b="1" i="1" lang="en-US" sz="2800" u="none" cap="none" strike="noStrike">
                <a:solidFill>
                  <a:schemeClr val="dk1"/>
                </a:solidFill>
                <a:latin typeface="Times New Roman"/>
                <a:ea typeface="Times New Roman"/>
                <a:cs typeface="Times New Roman"/>
                <a:sym typeface="Times New Roman"/>
              </a:rPr>
              <a:t> the bandwidth. Then</a:t>
            </a:r>
            <a:endParaRPr b="0" i="0" sz="1400" u="none" cap="none" strike="noStrike">
              <a:solidFill>
                <a:srgbClr val="000000"/>
              </a:solidFill>
              <a:latin typeface="Arial"/>
              <a:ea typeface="Arial"/>
              <a:cs typeface="Arial"/>
              <a:sym typeface="Arial"/>
            </a:endParaRPr>
          </a:p>
        </p:txBody>
      </p:sp>
      <p:sp>
        <p:nvSpPr>
          <p:cNvPr id="441" name="Google Shape;441;p27"/>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3.10</a:t>
            </a:r>
            <a:endParaRPr b="0" i="0" sz="1400" u="none" cap="none" strike="noStrike">
              <a:solidFill>
                <a:srgbClr val="000000"/>
              </a:solidFill>
              <a:latin typeface="Arial"/>
              <a:ea typeface="Arial"/>
              <a:cs typeface="Arial"/>
              <a:sym typeface="Arial"/>
            </a:endParaRPr>
          </a:p>
        </p:txBody>
      </p:sp>
      <p:pic>
        <p:nvPicPr>
          <p:cNvPr id="442" name="Google Shape;442;p27"/>
          <p:cNvPicPr preferRelativeResize="0"/>
          <p:nvPr/>
        </p:nvPicPr>
        <p:blipFill rotWithShape="1">
          <a:blip r:embed="rId3">
            <a:alphaModFix/>
          </a:blip>
          <a:srcRect b="0" l="0" r="0" t="0"/>
          <a:stretch/>
        </p:blipFill>
        <p:spPr>
          <a:xfrm>
            <a:off x="2649537" y="4692650"/>
            <a:ext cx="3843337" cy="458787"/>
          </a:xfrm>
          <a:prstGeom prst="rect">
            <a:avLst/>
          </a:prstGeom>
          <a:noFill/>
          <a:ln cap="flat" cmpd="sng" w="57150">
            <a:solidFill>
              <a:srgbClr val="3366FF"/>
            </a:solidFill>
            <a:prstDash val="solid"/>
            <a:miter lim="800000"/>
            <a:headEnd len="sm" w="sm" type="none"/>
            <a:tailEnd len="sm" w="sm" type="none"/>
          </a:ln>
        </p:spPr>
      </p:pic>
      <p:sp>
        <p:nvSpPr>
          <p:cNvPr id="443" name="Google Shape;443;p27"/>
          <p:cNvSpPr txBox="1"/>
          <p:nvPr/>
        </p:nvSpPr>
        <p:spPr>
          <a:xfrm>
            <a:off x="228600" y="54102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spectrum has only five spikes, at 100, 300, 500, 700, and 900 Hz (see Figure 3.13).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449" name="Google Shape;449;p28"/>
          <p:cNvCxnSpPr/>
          <p:nvPr/>
        </p:nvCxnSpPr>
        <p:spPr>
          <a:xfrm>
            <a:off x="152400" y="2286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450" name="Google Shape;450;p28"/>
          <p:cNvCxnSpPr/>
          <p:nvPr/>
        </p:nvCxnSpPr>
        <p:spPr>
          <a:xfrm>
            <a:off x="152400" y="10668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451" name="Google Shape;451;p28"/>
          <p:cNvSpPr txBox="1"/>
          <p:nvPr/>
        </p:nvSpPr>
        <p:spPr>
          <a:xfrm>
            <a:off x="304800" y="457200"/>
            <a:ext cx="5256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3.13  </a:t>
            </a:r>
            <a:r>
              <a:rPr b="1" i="1" lang="en-US" sz="2000" u="none" cap="none" strike="noStrike">
                <a:solidFill>
                  <a:schemeClr val="dk1"/>
                </a:solidFill>
                <a:latin typeface="Times New Roman"/>
                <a:ea typeface="Times New Roman"/>
                <a:cs typeface="Times New Roman"/>
                <a:sym typeface="Times New Roman"/>
              </a:rPr>
              <a:t>The bandwidth for Example 3.10</a:t>
            </a:r>
            <a:endParaRPr b="0" i="0" sz="1400" u="none" cap="none" strike="noStrike">
              <a:solidFill>
                <a:srgbClr val="000000"/>
              </a:solidFill>
              <a:latin typeface="Arial"/>
              <a:ea typeface="Arial"/>
              <a:cs typeface="Arial"/>
              <a:sym typeface="Arial"/>
            </a:endParaRPr>
          </a:p>
        </p:txBody>
      </p:sp>
      <p:cxnSp>
        <p:nvCxnSpPr>
          <p:cNvPr id="452" name="Google Shape;452;p28"/>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453" name="Google Shape;453;p28"/>
          <p:cNvPicPr preferRelativeResize="0"/>
          <p:nvPr/>
        </p:nvPicPr>
        <p:blipFill rotWithShape="1">
          <a:blip r:embed="rId3">
            <a:alphaModFix/>
          </a:blip>
          <a:srcRect b="0" l="0" r="0" t="0"/>
          <a:stretch/>
        </p:blipFill>
        <p:spPr>
          <a:xfrm>
            <a:off x="1184275" y="2430462"/>
            <a:ext cx="6929437" cy="23050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3a226f92c9_0_11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59" name="Google Shape;459;g33a226f92c9_0_119"/>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0" name="Google Shape;460;g33a226f92c9_0_119"/>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461" name="Google Shape;461;g33a226f92c9_0_119"/>
          <p:cNvGrpSpPr/>
          <p:nvPr/>
        </p:nvGrpSpPr>
        <p:grpSpPr>
          <a:xfrm>
            <a:off x="490537" y="773112"/>
            <a:ext cx="846137" cy="476249"/>
            <a:chOff x="309" y="487"/>
            <a:chExt cx="533" cy="300"/>
          </a:xfrm>
        </p:grpSpPr>
        <p:sp>
          <p:nvSpPr>
            <p:cNvPr id="462" name="Google Shape;462;g33a226f92c9_0_119"/>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3" name="Google Shape;463;g33a226f92c9_0_119"/>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464" name="Google Shape;464;g33a226f92c9_0_119"/>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5" name="Google Shape;465;g33a226f92c9_0_119"/>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6" name="Google Shape;466;g33a226f92c9_0_119"/>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7" name="Google Shape;467;g33a226f92c9_0_119"/>
          <p:cNvSpPr txBox="1"/>
          <p:nvPr/>
        </p:nvSpPr>
        <p:spPr>
          <a:xfrm>
            <a:off x="0" y="1421625"/>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68" name="Google Shape;468;g33a226f92c9_0_119"/>
          <p:cNvSpPr txBox="1"/>
          <p:nvPr/>
        </p:nvSpPr>
        <p:spPr>
          <a:xfrm>
            <a:off x="228600" y="1295400"/>
            <a:ext cx="8534400" cy="2893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periodic signal has a bandwidth of 20 Hz. The highest frequency is 60 Hz. What is the lowest frequency? Draw the spectrum if the signal contains all frequencies of same amplitude.</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id="469" name="Google Shape;469;g33a226f92c9_0_119"/>
          <p:cNvSpPr txBox="1"/>
          <p:nvPr/>
        </p:nvSpPr>
        <p:spPr>
          <a:xfrm>
            <a:off x="1143000" y="182562"/>
            <a:ext cx="24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3.11</a:t>
            </a:r>
            <a:endParaRPr b="0" i="0" sz="1400" u="none" cap="none" strike="noStrike">
              <a:solidFill>
                <a:srgbClr val="000000"/>
              </a:solidFill>
              <a:latin typeface="Arial"/>
              <a:ea typeface="Arial"/>
              <a:cs typeface="Arial"/>
              <a:sym typeface="Arial"/>
            </a:endParaRPr>
          </a:p>
        </p:txBody>
      </p:sp>
      <p:pic>
        <p:nvPicPr>
          <p:cNvPr id="470" name="Google Shape;470;g33a226f92c9_0_119"/>
          <p:cNvPicPr preferRelativeResize="0"/>
          <p:nvPr/>
        </p:nvPicPr>
        <p:blipFill rotWithShape="1">
          <a:blip r:embed="rId3">
            <a:alphaModFix/>
          </a:blip>
          <a:srcRect b="0" l="0" r="0" t="0"/>
          <a:stretch/>
        </p:blipFill>
        <p:spPr>
          <a:xfrm>
            <a:off x="888275" y="3934925"/>
            <a:ext cx="7486536" cy="422400"/>
          </a:xfrm>
          <a:prstGeom prst="rect">
            <a:avLst/>
          </a:prstGeom>
          <a:noFill/>
          <a:ln>
            <a:noFill/>
          </a:ln>
        </p:spPr>
      </p:pic>
      <p:sp>
        <p:nvSpPr>
          <p:cNvPr id="471" name="Google Shape;471;g33a226f92c9_0_119"/>
          <p:cNvSpPr/>
          <p:nvPr/>
        </p:nvSpPr>
        <p:spPr>
          <a:xfrm>
            <a:off x="903125" y="3948075"/>
            <a:ext cx="7456800" cy="4224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2" name="Google Shape;472;g33a226f92c9_0_119"/>
          <p:cNvPicPr preferRelativeResize="0"/>
          <p:nvPr/>
        </p:nvPicPr>
        <p:blipFill rotWithShape="1">
          <a:blip r:embed="rId4">
            <a:alphaModFix/>
          </a:blip>
          <a:srcRect b="0" l="0" r="0" t="0"/>
          <a:stretch/>
        </p:blipFill>
        <p:spPr>
          <a:xfrm>
            <a:off x="1662100" y="4780788"/>
            <a:ext cx="5667375" cy="12096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39fb05e73f4_0_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78" name="Google Shape;478;g39fb05e73f4_0_0"/>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79" name="Google Shape;479;g39fb05e73f4_0_0"/>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480" name="Google Shape;480;g39fb05e73f4_0_0"/>
          <p:cNvGrpSpPr/>
          <p:nvPr/>
        </p:nvGrpSpPr>
        <p:grpSpPr>
          <a:xfrm>
            <a:off x="490537" y="773112"/>
            <a:ext cx="846137" cy="476249"/>
            <a:chOff x="309" y="487"/>
            <a:chExt cx="533" cy="300"/>
          </a:xfrm>
        </p:grpSpPr>
        <p:sp>
          <p:nvSpPr>
            <p:cNvPr id="481" name="Google Shape;481;g39fb05e73f4_0_0"/>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2" name="Google Shape;482;g39fb05e73f4_0_0"/>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483" name="Google Shape;483;g39fb05e73f4_0_0"/>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4" name="Google Shape;484;g39fb05e73f4_0_0"/>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5" name="Google Shape;485;g39fb05e73f4_0_0"/>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6" name="Google Shape;486;g39fb05e73f4_0_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87" name="Google Shape;487;g39fb05e73f4_0_0"/>
          <p:cNvSpPr txBox="1"/>
          <p:nvPr/>
        </p:nvSpPr>
        <p:spPr>
          <a:xfrm>
            <a:off x="228600" y="1295400"/>
            <a:ext cx="8534400" cy="2893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a:t>
            </a:r>
            <a:r>
              <a:rPr b="1" i="1" lang="en-US" sz="2800">
                <a:solidFill>
                  <a:schemeClr val="dk1"/>
                </a:solidFill>
                <a:latin typeface="Times New Roman"/>
                <a:ea typeface="Times New Roman"/>
                <a:cs typeface="Times New Roman"/>
                <a:sym typeface="Times New Roman"/>
              </a:rPr>
              <a:t> </a:t>
            </a:r>
            <a:r>
              <a:rPr b="1" i="1" lang="en-US" sz="2800" u="none" cap="none" strike="noStrike">
                <a:solidFill>
                  <a:schemeClr val="dk1"/>
                </a:solidFill>
                <a:latin typeface="Times New Roman"/>
                <a:ea typeface="Times New Roman"/>
                <a:cs typeface="Times New Roman"/>
                <a:sym typeface="Times New Roman"/>
              </a:rPr>
              <a:t>periodic composite signal has a bandwidth of 200 kHz, with a middle frequency of 140 kHz and peak amplitude of 20V. The two extreme frequencies have an amplitude of 0. Draw the frequency spectrum.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t/>
            </a:r>
            <a:endParaRPr b="1" i="1" sz="2800">
              <a:solidFill>
                <a:schemeClr val="hlink"/>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id="488" name="Google Shape;488;g39fb05e73f4_0_0"/>
          <p:cNvSpPr txBox="1"/>
          <p:nvPr/>
        </p:nvSpPr>
        <p:spPr>
          <a:xfrm>
            <a:off x="1143000" y="182550"/>
            <a:ext cx="4230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3.11 (a)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3a226f92c9_0_1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94" name="Google Shape;494;g33a226f92c9_0_137"/>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5" name="Google Shape;495;g33a226f92c9_0_137"/>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496" name="Google Shape;496;g33a226f92c9_0_137"/>
          <p:cNvGrpSpPr/>
          <p:nvPr/>
        </p:nvGrpSpPr>
        <p:grpSpPr>
          <a:xfrm>
            <a:off x="490537" y="773112"/>
            <a:ext cx="846137" cy="476249"/>
            <a:chOff x="309" y="487"/>
            <a:chExt cx="533" cy="300"/>
          </a:xfrm>
        </p:grpSpPr>
        <p:sp>
          <p:nvSpPr>
            <p:cNvPr id="497" name="Google Shape;497;g33a226f92c9_0_137"/>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498" name="Google Shape;498;g33a226f92c9_0_137"/>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499" name="Google Shape;499;g33a226f92c9_0_137"/>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0" name="Google Shape;500;g33a226f92c9_0_137"/>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1" name="Google Shape;501;g33a226f92c9_0_137"/>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2" name="Google Shape;502;g33a226f92c9_0_137"/>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03" name="Google Shape;503;g33a226f92c9_0_137"/>
          <p:cNvSpPr txBox="1"/>
          <p:nvPr/>
        </p:nvSpPr>
        <p:spPr>
          <a:xfrm>
            <a:off x="228600" y="1295400"/>
            <a:ext cx="8534400" cy="2462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a:t>
            </a:r>
            <a:r>
              <a:rPr b="1" i="1" lang="en-US" sz="2800" u="none" cap="none" strike="noStrike">
                <a:solidFill>
                  <a:srgbClr val="FF0000"/>
                </a:solidFill>
                <a:latin typeface="Times New Roman"/>
                <a:ea typeface="Times New Roman"/>
                <a:cs typeface="Times New Roman"/>
                <a:sym typeface="Times New Roman"/>
              </a:rPr>
              <a:t>non-periodic</a:t>
            </a:r>
            <a:r>
              <a:rPr b="1" i="1" lang="en-US" sz="2800" u="none" cap="none" strike="noStrike">
                <a:solidFill>
                  <a:schemeClr val="dk1"/>
                </a:solidFill>
                <a:latin typeface="Times New Roman"/>
                <a:ea typeface="Times New Roman"/>
                <a:cs typeface="Times New Roman"/>
                <a:sym typeface="Times New Roman"/>
              </a:rPr>
              <a:t> composite signal has a bandwidth of 200 kHz, with a middle frequency of 140 kHz and peak amplitude of 20V. The two extreme frequencies have an amplitude of 0. Draw the frequency spectrum.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id="504" name="Google Shape;504;g33a226f92c9_0_137"/>
          <p:cNvSpPr txBox="1"/>
          <p:nvPr/>
        </p:nvSpPr>
        <p:spPr>
          <a:xfrm>
            <a:off x="1143000" y="182550"/>
            <a:ext cx="4168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3.11 (b)</a:t>
            </a:r>
            <a:endParaRPr b="0" i="0" sz="1400" u="none" cap="none" strike="noStrike">
              <a:solidFill>
                <a:srgbClr val="000000"/>
              </a:solidFill>
              <a:latin typeface="Arial"/>
              <a:ea typeface="Arial"/>
              <a:cs typeface="Arial"/>
              <a:sym typeface="Arial"/>
            </a:endParaRPr>
          </a:p>
        </p:txBody>
      </p:sp>
      <p:pic>
        <p:nvPicPr>
          <p:cNvPr id="505" name="Google Shape;505;g33a226f92c9_0_137"/>
          <p:cNvPicPr preferRelativeResize="0"/>
          <p:nvPr/>
        </p:nvPicPr>
        <p:blipFill rotWithShape="1">
          <a:blip r:embed="rId3">
            <a:alphaModFix/>
          </a:blip>
          <a:srcRect b="0" l="0" r="0" t="0"/>
          <a:stretch/>
        </p:blipFill>
        <p:spPr>
          <a:xfrm>
            <a:off x="1240800" y="3873400"/>
            <a:ext cx="6662400" cy="1754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11" name="Google Shape;511;p20"/>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12" name="Google Shape;512;p20"/>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13" name="Google Shape;513;p20"/>
          <p:cNvSpPr txBox="1"/>
          <p:nvPr/>
        </p:nvSpPr>
        <p:spPr>
          <a:xfrm>
            <a:off x="304800" y="228600"/>
            <a:ext cx="8603810"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a:t>
            </a:r>
            <a:r>
              <a:rPr b="1" i="1" lang="en-US" sz="2000" u="none" cap="none" strike="noStrike">
                <a:solidFill>
                  <a:schemeClr val="dk1"/>
                </a:solidFill>
                <a:latin typeface="Times New Roman"/>
                <a:ea typeface="Times New Roman"/>
                <a:cs typeface="Times New Roman"/>
                <a:sym typeface="Times New Roman"/>
              </a:rPr>
              <a:t>Two digital signals: one with two signal levels and the other</a:t>
            </a:r>
            <a:br>
              <a:rPr b="1" i="1" lang="en-US" sz="2000" u="none" cap="none" strike="noStrike">
                <a:solidFill>
                  <a:schemeClr val="dk1"/>
                </a:solidFill>
                <a:latin typeface="Times New Roman"/>
                <a:ea typeface="Times New Roman"/>
                <a:cs typeface="Times New Roman"/>
                <a:sym typeface="Times New Roman"/>
              </a:rPr>
            </a:br>
            <a:r>
              <a:rPr b="1" i="1" lang="en-US" sz="2000" u="none" cap="none" strike="noStrike">
                <a:solidFill>
                  <a:schemeClr val="dk1"/>
                </a:solidFill>
                <a:latin typeface="Times New Roman"/>
                <a:ea typeface="Times New Roman"/>
                <a:cs typeface="Times New Roman"/>
                <a:sym typeface="Times New Roman"/>
              </a:rPr>
              <a:t>                          with four signal levels</a:t>
            </a:r>
            <a:endParaRPr b="0" i="0" sz="1400" u="none" cap="none" strike="noStrike">
              <a:solidFill>
                <a:srgbClr val="000000"/>
              </a:solidFill>
              <a:latin typeface="Arial"/>
              <a:ea typeface="Arial"/>
              <a:cs typeface="Arial"/>
              <a:sym typeface="Arial"/>
            </a:endParaRPr>
          </a:p>
        </p:txBody>
      </p:sp>
      <p:cxnSp>
        <p:nvCxnSpPr>
          <p:cNvPr id="514" name="Google Shape;514;p20"/>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15" name="Google Shape;515;p20"/>
          <p:cNvPicPr preferRelativeResize="0"/>
          <p:nvPr/>
        </p:nvPicPr>
        <p:blipFill rotWithShape="1">
          <a:blip r:embed="rId3">
            <a:alphaModFix/>
          </a:blip>
          <a:srcRect b="0" l="0" r="0" t="0"/>
          <a:stretch/>
        </p:blipFill>
        <p:spPr>
          <a:xfrm>
            <a:off x="1267485" y="1955550"/>
            <a:ext cx="6228784" cy="4173646"/>
          </a:xfrm>
          <a:prstGeom prst="rect">
            <a:avLst/>
          </a:prstGeom>
          <a:noFill/>
          <a:ln>
            <a:noFill/>
          </a:ln>
        </p:spPr>
      </p:pic>
      <p:sp>
        <p:nvSpPr>
          <p:cNvPr id="516" name="Google Shape;516;p20"/>
          <p:cNvSpPr/>
          <p:nvPr/>
        </p:nvSpPr>
        <p:spPr>
          <a:xfrm>
            <a:off x="262550" y="998238"/>
            <a:ext cx="8754701" cy="738664"/>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Figure shows two signals, one with two levels and the other with four. We send 1 bit per level in part a of the figure and 2 bits per level in part b of the figure.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 In general, if a signal has L levels, each level needs log</a:t>
            </a:r>
            <a:r>
              <a:rPr b="0" baseline="-25000" i="0" lang="en-US" sz="1400" u="none" cap="none" strike="noStrike">
                <a:solidFill>
                  <a:srgbClr val="000000"/>
                </a:solidFill>
                <a:latin typeface="Times New Roman"/>
                <a:ea typeface="Times New Roman"/>
                <a:cs typeface="Times New Roman"/>
                <a:sym typeface="Times New Roman"/>
              </a:rPr>
              <a:t>2</a:t>
            </a:r>
            <a:r>
              <a:rPr b="0" i="0" lang="en-US" sz="1400" u="none" cap="none" strike="noStrike">
                <a:solidFill>
                  <a:srgbClr val="000000"/>
                </a:solidFill>
                <a:latin typeface="Times New Roman"/>
                <a:ea typeface="Times New Roman"/>
                <a:cs typeface="Times New Roman"/>
                <a:sym typeface="Times New Roman"/>
              </a:rPr>
              <a:t>L bits. For this reason, we can send log </a:t>
            </a:r>
            <a:r>
              <a:rPr b="0" baseline="-25000" i="0" lang="en-US" sz="1400" u="none" cap="none" strike="noStrike">
                <a:solidFill>
                  <a:srgbClr val="000000"/>
                </a:solidFill>
                <a:latin typeface="Times New Roman"/>
                <a:ea typeface="Times New Roman"/>
                <a:cs typeface="Times New Roman"/>
                <a:sym typeface="Times New Roman"/>
              </a:rPr>
              <a:t>2</a:t>
            </a:r>
            <a:r>
              <a:rPr b="0" i="0" lang="en-US" sz="1400" u="none" cap="none" strike="noStrike">
                <a:solidFill>
                  <a:srgbClr val="000000"/>
                </a:solidFill>
                <a:latin typeface="Times New Roman"/>
                <a:ea typeface="Times New Roman"/>
                <a:cs typeface="Times New Roman"/>
                <a:sym typeface="Times New Roman"/>
              </a:rPr>
              <a:t>4 = 2 bits in part b.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522" name="Google Shape;522;p3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3" name="Google Shape;523;p3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524" name="Google Shape;524;p34"/>
          <p:cNvGrpSpPr/>
          <p:nvPr/>
        </p:nvGrpSpPr>
        <p:grpSpPr>
          <a:xfrm>
            <a:off x="490537" y="773112"/>
            <a:ext cx="738187" cy="474662"/>
            <a:chOff x="309" y="487"/>
            <a:chExt cx="465" cy="299"/>
          </a:xfrm>
        </p:grpSpPr>
        <p:sp>
          <p:nvSpPr>
            <p:cNvPr id="525" name="Google Shape;525;p3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6" name="Google Shape;526;p3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527" name="Google Shape;527;p3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8" name="Google Shape;528;p3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29" name="Google Shape;529;p3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0" name="Google Shape;530;p3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531" name="Google Shape;531;p34"/>
          <p:cNvSpPr txBox="1"/>
          <p:nvPr/>
        </p:nvSpPr>
        <p:spPr>
          <a:xfrm>
            <a:off x="228600" y="14478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digital signal has eight levels. How many bits are needed per level? We calculate the number of bits from the formula</a:t>
            </a:r>
            <a:endParaRPr b="0" i="0" sz="1400" u="none" cap="none" strike="noStrike">
              <a:solidFill>
                <a:srgbClr val="000000"/>
              </a:solidFill>
              <a:latin typeface="Arial"/>
              <a:ea typeface="Arial"/>
              <a:cs typeface="Arial"/>
              <a:sym typeface="Arial"/>
            </a:endParaRPr>
          </a:p>
        </p:txBody>
      </p:sp>
      <p:sp>
        <p:nvSpPr>
          <p:cNvPr id="532" name="Google Shape;532;p3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3.16</a:t>
            </a:r>
            <a:endParaRPr b="0" i="0" sz="1400" u="none" cap="none" strike="noStrike">
              <a:solidFill>
                <a:srgbClr val="000000"/>
              </a:solidFill>
              <a:latin typeface="Arial"/>
              <a:ea typeface="Arial"/>
              <a:cs typeface="Arial"/>
              <a:sym typeface="Arial"/>
            </a:endParaRPr>
          </a:p>
        </p:txBody>
      </p:sp>
      <p:pic>
        <p:nvPicPr>
          <p:cNvPr id="533" name="Google Shape;533;p34"/>
          <p:cNvPicPr preferRelativeResize="0"/>
          <p:nvPr/>
        </p:nvPicPr>
        <p:blipFill rotWithShape="1">
          <a:blip r:embed="rId3">
            <a:alphaModFix/>
          </a:blip>
          <a:srcRect b="0" l="0" r="0" t="0"/>
          <a:stretch/>
        </p:blipFill>
        <p:spPr>
          <a:xfrm>
            <a:off x="2398712" y="3213100"/>
            <a:ext cx="4346575" cy="431800"/>
          </a:xfrm>
          <a:prstGeom prst="rect">
            <a:avLst/>
          </a:prstGeom>
          <a:noFill/>
          <a:ln cap="flat" cmpd="sng" w="57150">
            <a:solidFill>
              <a:srgbClr val="3366FF"/>
            </a:solidFill>
            <a:prstDash val="solid"/>
            <a:miter lim="800000"/>
            <a:headEnd len="sm" w="sm" type="none"/>
            <a:tailEnd len="sm" w="sm" type="none"/>
          </a:ln>
        </p:spPr>
      </p:pic>
      <p:sp>
        <p:nvSpPr>
          <p:cNvPr id="534" name="Google Shape;534;p34"/>
          <p:cNvSpPr txBox="1"/>
          <p:nvPr/>
        </p:nvSpPr>
        <p:spPr>
          <a:xfrm>
            <a:off x="228600" y="4205287"/>
            <a:ext cx="8534400" cy="519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Each signal level is represented by 3 bits.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3913e7689a_0_1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40" name="Google Shape;540;g33913e7689a_0_12"/>
          <p:cNvCxnSpPr/>
          <p:nvPr/>
        </p:nvCxnSpPr>
        <p:spPr>
          <a:xfrm>
            <a:off x="152400" y="2286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41" name="Google Shape;541;g33913e7689a_0_12"/>
          <p:cNvCxnSpPr/>
          <p:nvPr/>
        </p:nvCxnSpPr>
        <p:spPr>
          <a:xfrm>
            <a:off x="152400" y="10668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42" name="Google Shape;542;g33913e7689a_0_12"/>
          <p:cNvSpPr txBox="1"/>
          <p:nvPr/>
        </p:nvSpPr>
        <p:spPr>
          <a:xfrm>
            <a:off x="304800" y="457200"/>
            <a:ext cx="7417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Digital Signal as Composite Analog Signal</a:t>
            </a:r>
            <a:endParaRPr b="0" i="0" sz="1400" u="none" cap="none" strike="noStrike">
              <a:solidFill>
                <a:srgbClr val="000000"/>
              </a:solidFill>
              <a:latin typeface="Arial"/>
              <a:ea typeface="Arial"/>
              <a:cs typeface="Arial"/>
              <a:sym typeface="Arial"/>
            </a:endParaRPr>
          </a:p>
        </p:txBody>
      </p:sp>
      <p:cxnSp>
        <p:nvCxnSpPr>
          <p:cNvPr id="543" name="Google Shape;543;g33913e7689a_0_12"/>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44" name="Google Shape;544;g33913e7689a_0_12"/>
          <p:cNvPicPr preferRelativeResize="0"/>
          <p:nvPr/>
        </p:nvPicPr>
        <p:blipFill rotWithShape="1">
          <a:blip r:embed="rId3">
            <a:alphaModFix/>
          </a:blip>
          <a:srcRect b="0" l="0" r="0" t="0"/>
          <a:stretch/>
        </p:blipFill>
        <p:spPr>
          <a:xfrm>
            <a:off x="423862" y="1981200"/>
            <a:ext cx="8491537" cy="3074987"/>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50" name="Google Shape;550;p35"/>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51" name="Google Shape;551;p35"/>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52" name="Google Shape;552;p35"/>
          <p:cNvSpPr txBox="1"/>
          <p:nvPr/>
        </p:nvSpPr>
        <p:spPr>
          <a:xfrm>
            <a:off x="304800" y="152400"/>
            <a:ext cx="82059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3.17  </a:t>
            </a:r>
            <a:r>
              <a:rPr b="1" i="1" lang="en-US" sz="2000" u="none" cap="none" strike="noStrike">
                <a:solidFill>
                  <a:schemeClr val="dk1"/>
                </a:solidFill>
                <a:latin typeface="Times New Roman"/>
                <a:ea typeface="Times New Roman"/>
                <a:cs typeface="Times New Roman"/>
                <a:sym typeface="Times New Roman"/>
              </a:rPr>
              <a:t>The time and frequency domains of periodic and nonperiodic digital signals</a:t>
            </a:r>
            <a:endParaRPr b="0" i="0" sz="1400" u="none" cap="none" strike="noStrike">
              <a:solidFill>
                <a:srgbClr val="000000"/>
              </a:solidFill>
              <a:latin typeface="Arial"/>
              <a:ea typeface="Arial"/>
              <a:cs typeface="Arial"/>
              <a:sym typeface="Arial"/>
            </a:endParaRPr>
          </a:p>
        </p:txBody>
      </p:sp>
      <p:cxnSp>
        <p:nvCxnSpPr>
          <p:cNvPr id="553" name="Google Shape;553;p35"/>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54" name="Google Shape;554;p35"/>
          <p:cNvPicPr preferRelativeResize="0"/>
          <p:nvPr/>
        </p:nvPicPr>
        <p:blipFill rotWithShape="1">
          <a:blip r:embed="rId3">
            <a:alphaModFix/>
          </a:blip>
          <a:srcRect b="46660" l="0" r="-624" t="0"/>
          <a:stretch/>
        </p:blipFill>
        <p:spPr>
          <a:xfrm>
            <a:off x="475861" y="2817843"/>
            <a:ext cx="8024326" cy="2062067"/>
          </a:xfrm>
          <a:prstGeom prst="rect">
            <a:avLst/>
          </a:prstGeom>
          <a:noFill/>
          <a:ln>
            <a:noFill/>
          </a:ln>
        </p:spPr>
      </p:pic>
      <p:sp>
        <p:nvSpPr>
          <p:cNvPr id="555" name="Google Shape;555;p35"/>
          <p:cNvSpPr/>
          <p:nvPr/>
        </p:nvSpPr>
        <p:spPr>
          <a:xfrm>
            <a:off x="391886" y="1141808"/>
            <a:ext cx="850951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If the digital signal is periodic, which is rare in data communications, the decomposed signal has a frequency domain representation with an </a:t>
            </a:r>
            <a:r>
              <a:rPr b="0" i="0" lang="en-US" sz="2000" u="none" cap="none" strike="noStrike">
                <a:solidFill>
                  <a:srgbClr val="C00000"/>
                </a:solidFill>
                <a:latin typeface="Times New Roman"/>
                <a:ea typeface="Times New Roman"/>
                <a:cs typeface="Times New Roman"/>
                <a:sym typeface="Times New Roman"/>
              </a:rPr>
              <a:t>infinite</a:t>
            </a:r>
            <a:r>
              <a:rPr b="0" i="0" lang="en-US" sz="2000" u="none" cap="none" strike="noStrike">
                <a:solidFill>
                  <a:srgbClr val="000000"/>
                </a:solidFill>
                <a:latin typeface="Times New Roman"/>
                <a:ea typeface="Times New Roman"/>
                <a:cs typeface="Times New Roman"/>
                <a:sym typeface="Times New Roman"/>
              </a:rPr>
              <a:t> bandwidth and discrete frequencies.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g33af00dd1ff_0_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61" name="Google Shape;561;g33af00dd1ff_0_10"/>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sp>
        <p:nvSpPr>
          <p:cNvPr id="562" name="Google Shape;562;g33af00dd1ff_0_10"/>
          <p:cNvSpPr txBox="1"/>
          <p:nvPr/>
        </p:nvSpPr>
        <p:spPr>
          <a:xfrm>
            <a:off x="304800" y="152400"/>
            <a:ext cx="8205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t/>
            </a:r>
            <a:endParaRPr b="0" i="0" sz="1400" u="none" cap="none" strike="noStrike">
              <a:solidFill>
                <a:srgbClr val="000000"/>
              </a:solidFill>
              <a:latin typeface="Arial"/>
              <a:ea typeface="Arial"/>
              <a:cs typeface="Arial"/>
              <a:sym typeface="Arial"/>
            </a:endParaRPr>
          </a:p>
        </p:txBody>
      </p:sp>
      <p:cxnSp>
        <p:nvCxnSpPr>
          <p:cNvPr id="563" name="Google Shape;563;g33af00dd1ff_0_10"/>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64" name="Google Shape;564;g33af00dd1ff_0_10"/>
          <p:cNvPicPr preferRelativeResize="0"/>
          <p:nvPr/>
        </p:nvPicPr>
        <p:blipFill rotWithShape="1">
          <a:blip r:embed="rId3">
            <a:alphaModFix/>
          </a:blip>
          <a:srcRect b="0" l="0" r="0" t="0"/>
          <a:stretch/>
        </p:blipFill>
        <p:spPr>
          <a:xfrm>
            <a:off x="243725" y="409825"/>
            <a:ext cx="4279551" cy="2321149"/>
          </a:xfrm>
          <a:prstGeom prst="rect">
            <a:avLst/>
          </a:prstGeom>
          <a:noFill/>
          <a:ln>
            <a:noFill/>
          </a:ln>
        </p:spPr>
      </p:pic>
      <p:pic>
        <p:nvPicPr>
          <p:cNvPr id="565" name="Google Shape;565;g33af00dd1ff_0_10"/>
          <p:cNvPicPr preferRelativeResize="0"/>
          <p:nvPr/>
        </p:nvPicPr>
        <p:blipFill rotWithShape="1">
          <a:blip r:embed="rId4">
            <a:alphaModFix/>
          </a:blip>
          <a:srcRect b="0" l="0" r="0" t="0"/>
          <a:stretch/>
        </p:blipFill>
        <p:spPr>
          <a:xfrm>
            <a:off x="4572000" y="352113"/>
            <a:ext cx="4492375" cy="2436574"/>
          </a:xfrm>
          <a:prstGeom prst="rect">
            <a:avLst/>
          </a:prstGeom>
          <a:noFill/>
          <a:ln>
            <a:noFill/>
          </a:ln>
        </p:spPr>
      </p:pic>
      <p:pic>
        <p:nvPicPr>
          <p:cNvPr id="566" name="Google Shape;566;g33af00dd1ff_0_10"/>
          <p:cNvPicPr preferRelativeResize="0"/>
          <p:nvPr/>
        </p:nvPicPr>
        <p:blipFill rotWithShape="1">
          <a:blip r:embed="rId5">
            <a:alphaModFix/>
          </a:blip>
          <a:srcRect b="0" l="0" r="0" t="0"/>
          <a:stretch/>
        </p:blipFill>
        <p:spPr>
          <a:xfrm>
            <a:off x="152400" y="3076050"/>
            <a:ext cx="4492296" cy="2436551"/>
          </a:xfrm>
          <a:prstGeom prst="rect">
            <a:avLst/>
          </a:prstGeom>
          <a:noFill/>
          <a:ln>
            <a:noFill/>
          </a:ln>
        </p:spPr>
      </p:pic>
      <p:pic>
        <p:nvPicPr>
          <p:cNvPr id="567" name="Google Shape;567;g33af00dd1ff_0_10"/>
          <p:cNvPicPr preferRelativeResize="0"/>
          <p:nvPr/>
        </p:nvPicPr>
        <p:blipFill rotWithShape="1">
          <a:blip r:embed="rId6">
            <a:alphaModFix/>
          </a:blip>
          <a:srcRect b="0" l="0" r="0" t="0"/>
          <a:stretch/>
        </p:blipFill>
        <p:spPr>
          <a:xfrm>
            <a:off x="4572063" y="3076049"/>
            <a:ext cx="4492257" cy="24365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g33af00dd1ff_0_2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73" name="Google Shape;573;g33af00dd1ff_0_24"/>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sp>
        <p:nvSpPr>
          <p:cNvPr id="574" name="Google Shape;574;g33af00dd1ff_0_24"/>
          <p:cNvSpPr txBox="1"/>
          <p:nvPr/>
        </p:nvSpPr>
        <p:spPr>
          <a:xfrm>
            <a:off x="304800" y="152400"/>
            <a:ext cx="8205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t/>
            </a:r>
            <a:endParaRPr b="0" i="0" sz="1400" u="none" cap="none" strike="noStrike">
              <a:solidFill>
                <a:srgbClr val="000000"/>
              </a:solidFill>
              <a:latin typeface="Arial"/>
              <a:ea typeface="Arial"/>
              <a:cs typeface="Arial"/>
              <a:sym typeface="Arial"/>
            </a:endParaRPr>
          </a:p>
        </p:txBody>
      </p:sp>
      <p:cxnSp>
        <p:nvCxnSpPr>
          <p:cNvPr id="575" name="Google Shape;575;g33af00dd1ff_0_24"/>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76" name="Google Shape;576;g33af00dd1ff_0_24"/>
          <p:cNvPicPr preferRelativeResize="0"/>
          <p:nvPr/>
        </p:nvPicPr>
        <p:blipFill rotWithShape="1">
          <a:blip r:embed="rId3">
            <a:alphaModFix/>
          </a:blip>
          <a:srcRect b="0" l="0" r="0" t="0"/>
          <a:stretch/>
        </p:blipFill>
        <p:spPr>
          <a:xfrm>
            <a:off x="1697850" y="333400"/>
            <a:ext cx="4933096" cy="2675637"/>
          </a:xfrm>
          <a:prstGeom prst="rect">
            <a:avLst/>
          </a:prstGeom>
          <a:noFill/>
          <a:ln>
            <a:noFill/>
          </a:ln>
        </p:spPr>
      </p:pic>
      <p:pic>
        <p:nvPicPr>
          <p:cNvPr id="577" name="Google Shape;577;g33af00dd1ff_0_24"/>
          <p:cNvPicPr preferRelativeResize="0"/>
          <p:nvPr/>
        </p:nvPicPr>
        <p:blipFill rotWithShape="1">
          <a:blip r:embed="rId4">
            <a:alphaModFix/>
          </a:blip>
          <a:srcRect b="0" l="0" r="0" t="0"/>
          <a:stretch/>
        </p:blipFill>
        <p:spPr>
          <a:xfrm>
            <a:off x="1615750" y="3215050"/>
            <a:ext cx="5291584" cy="29050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3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83" name="Google Shape;583;p30"/>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584" name="Google Shape;584;p30"/>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585" name="Google Shape;585;p30"/>
          <p:cNvSpPr txBox="1"/>
          <p:nvPr/>
        </p:nvSpPr>
        <p:spPr>
          <a:xfrm>
            <a:off x="304800" y="228600"/>
            <a:ext cx="8048625"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3.16  </a:t>
            </a:r>
            <a:r>
              <a:rPr b="1" i="1" lang="en-US" sz="2000" u="none" cap="none" strike="noStrike">
                <a:solidFill>
                  <a:schemeClr val="dk1"/>
                </a:solidFill>
                <a:latin typeface="Times New Roman"/>
                <a:ea typeface="Times New Roman"/>
                <a:cs typeface="Times New Roman"/>
                <a:sym typeface="Times New Roman"/>
              </a:rPr>
              <a:t>Two digital signals: one with two signal levels and the other</a:t>
            </a:r>
            <a:br>
              <a:rPr b="1" i="1" lang="en-US" sz="2000" u="none" cap="none" strike="noStrike">
                <a:solidFill>
                  <a:schemeClr val="dk1"/>
                </a:solidFill>
                <a:latin typeface="Times New Roman"/>
                <a:ea typeface="Times New Roman"/>
                <a:cs typeface="Times New Roman"/>
                <a:sym typeface="Times New Roman"/>
              </a:rPr>
            </a:br>
            <a:r>
              <a:rPr b="1" i="1" lang="en-US" sz="2000" u="none" cap="none" strike="noStrike">
                <a:solidFill>
                  <a:schemeClr val="dk1"/>
                </a:solidFill>
                <a:latin typeface="Times New Roman"/>
                <a:ea typeface="Times New Roman"/>
                <a:cs typeface="Times New Roman"/>
                <a:sym typeface="Times New Roman"/>
              </a:rPr>
              <a:t>                          with four signal levels</a:t>
            </a:r>
            <a:endParaRPr b="0" i="0" sz="1400" u="none" cap="none" strike="noStrike">
              <a:solidFill>
                <a:srgbClr val="000000"/>
              </a:solidFill>
              <a:latin typeface="Arial"/>
              <a:ea typeface="Arial"/>
              <a:cs typeface="Arial"/>
              <a:sym typeface="Arial"/>
            </a:endParaRPr>
          </a:p>
        </p:txBody>
      </p:sp>
      <p:cxnSp>
        <p:nvCxnSpPr>
          <p:cNvPr id="586" name="Google Shape;586;p30"/>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87" name="Google Shape;587;p30"/>
          <p:cNvPicPr preferRelativeResize="0"/>
          <p:nvPr/>
        </p:nvPicPr>
        <p:blipFill rotWithShape="1">
          <a:blip r:embed="rId3">
            <a:alphaModFix/>
          </a:blip>
          <a:srcRect b="0" l="0" r="0" t="0"/>
          <a:stretch/>
        </p:blipFill>
        <p:spPr>
          <a:xfrm>
            <a:off x="1600200" y="1184275"/>
            <a:ext cx="5703887" cy="5064125"/>
          </a:xfrm>
          <a:prstGeom prst="rect">
            <a:avLst/>
          </a:prstGeom>
          <a:noFill/>
          <a:ln>
            <a:noFill/>
          </a:ln>
        </p:spPr>
      </p:pic>
      <p:pic>
        <p:nvPicPr>
          <p:cNvPr id="588" name="Google Shape;588;p30"/>
          <p:cNvPicPr preferRelativeResize="0"/>
          <p:nvPr/>
        </p:nvPicPr>
        <p:blipFill rotWithShape="1">
          <a:blip r:embed="rId4">
            <a:alphaModFix/>
          </a:blip>
          <a:srcRect b="0" l="0" r="0" t="0"/>
          <a:stretch/>
        </p:blipFill>
        <p:spPr>
          <a:xfrm>
            <a:off x="0" y="0"/>
            <a:ext cx="9144000" cy="6858000"/>
          </a:xfrm>
          <a:prstGeom prst="rect">
            <a:avLst/>
          </a:prstGeom>
          <a:noFill/>
          <a:ln>
            <a:noFill/>
          </a:ln>
        </p:spPr>
      </p:pic>
      <p:pic>
        <p:nvPicPr>
          <p:cNvPr id="589" name="Google Shape;589;p30"/>
          <p:cNvPicPr preferRelativeResize="0"/>
          <p:nvPr/>
        </p:nvPicPr>
        <p:blipFill rotWithShape="1">
          <a:blip r:embed="rId5">
            <a:alphaModFix/>
          </a:blip>
          <a:srcRect b="0" l="0" r="0" t="0"/>
          <a:stretch/>
        </p:blipFill>
        <p:spPr>
          <a:xfrm>
            <a:off x="0" y="0"/>
            <a:ext cx="9144000" cy="6858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3270fb481d_0_1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595" name="Google Shape;595;g33270fb481d_0_11"/>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sp>
        <p:nvSpPr>
          <p:cNvPr id="596" name="Google Shape;596;g33270fb481d_0_11"/>
          <p:cNvSpPr txBox="1"/>
          <p:nvPr/>
        </p:nvSpPr>
        <p:spPr>
          <a:xfrm>
            <a:off x="304800" y="152400"/>
            <a:ext cx="82059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t/>
            </a:r>
            <a:endParaRPr b="0" i="0" sz="1400" u="none" cap="none" strike="noStrike">
              <a:solidFill>
                <a:srgbClr val="000000"/>
              </a:solidFill>
              <a:latin typeface="Arial"/>
              <a:ea typeface="Arial"/>
              <a:cs typeface="Arial"/>
              <a:sym typeface="Arial"/>
            </a:endParaRPr>
          </a:p>
        </p:txBody>
      </p:sp>
      <p:cxnSp>
        <p:nvCxnSpPr>
          <p:cNvPr id="597" name="Google Shape;597;g33270fb481d_0_11"/>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598" name="Google Shape;598;g33270fb481d_0_11"/>
          <p:cNvPicPr preferRelativeResize="0"/>
          <p:nvPr/>
        </p:nvPicPr>
        <p:blipFill rotWithShape="1">
          <a:blip r:embed="rId3">
            <a:alphaModFix/>
          </a:blip>
          <a:srcRect b="0" l="0" r="0" t="0"/>
          <a:stretch/>
        </p:blipFill>
        <p:spPr>
          <a:xfrm>
            <a:off x="1738098" y="329325"/>
            <a:ext cx="5667802" cy="2648551"/>
          </a:xfrm>
          <a:prstGeom prst="rect">
            <a:avLst/>
          </a:prstGeom>
          <a:noFill/>
          <a:ln>
            <a:noFill/>
          </a:ln>
        </p:spPr>
      </p:pic>
      <p:pic>
        <p:nvPicPr>
          <p:cNvPr id="599" name="Google Shape;599;g33270fb481d_0_11"/>
          <p:cNvPicPr preferRelativeResize="0"/>
          <p:nvPr/>
        </p:nvPicPr>
        <p:blipFill rotWithShape="1">
          <a:blip r:embed="rId4">
            <a:alphaModFix/>
          </a:blip>
          <a:srcRect b="0" l="0" r="0" t="0"/>
          <a:stretch/>
        </p:blipFill>
        <p:spPr>
          <a:xfrm>
            <a:off x="1601726" y="3099350"/>
            <a:ext cx="5940551" cy="27309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7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605" name="Google Shape;605;p78"/>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606" name="Google Shape;606;p78"/>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607" name="Google Shape;607;p78"/>
          <p:cNvSpPr txBox="1"/>
          <p:nvPr/>
        </p:nvSpPr>
        <p:spPr>
          <a:xfrm>
            <a:off x="304800" y="152400"/>
            <a:ext cx="82059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3.17  </a:t>
            </a:r>
            <a:r>
              <a:rPr b="1" i="1" lang="en-US" sz="2000" u="none" cap="none" strike="noStrike">
                <a:solidFill>
                  <a:schemeClr val="dk1"/>
                </a:solidFill>
                <a:latin typeface="Times New Roman"/>
                <a:ea typeface="Times New Roman"/>
                <a:cs typeface="Times New Roman"/>
                <a:sym typeface="Times New Roman"/>
              </a:rPr>
              <a:t>The time and frequency domains of periodic and nonperiodic digital signals</a:t>
            </a:r>
            <a:endParaRPr b="0" i="0" sz="1400" u="none" cap="none" strike="noStrike">
              <a:solidFill>
                <a:srgbClr val="000000"/>
              </a:solidFill>
              <a:latin typeface="Arial"/>
              <a:ea typeface="Arial"/>
              <a:cs typeface="Arial"/>
              <a:sym typeface="Arial"/>
            </a:endParaRPr>
          </a:p>
        </p:txBody>
      </p:sp>
      <p:cxnSp>
        <p:nvCxnSpPr>
          <p:cNvPr id="608" name="Google Shape;608;p78"/>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609" name="Google Shape;609;p78"/>
          <p:cNvPicPr preferRelativeResize="0"/>
          <p:nvPr/>
        </p:nvPicPr>
        <p:blipFill rotWithShape="1">
          <a:blip r:embed="rId3">
            <a:alphaModFix/>
          </a:blip>
          <a:srcRect b="0" l="0" r="0" t="0"/>
          <a:stretch/>
        </p:blipFill>
        <p:spPr>
          <a:xfrm>
            <a:off x="345233" y="1940766"/>
            <a:ext cx="8338456" cy="4061926"/>
          </a:xfrm>
          <a:prstGeom prst="rect">
            <a:avLst/>
          </a:prstGeom>
          <a:noFill/>
          <a:ln>
            <a:noFill/>
          </a:ln>
        </p:spPr>
      </p:pic>
      <p:sp>
        <p:nvSpPr>
          <p:cNvPr id="610" name="Google Shape;610;p78"/>
          <p:cNvSpPr/>
          <p:nvPr/>
        </p:nvSpPr>
        <p:spPr>
          <a:xfrm>
            <a:off x="298579" y="1034925"/>
            <a:ext cx="858416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Note that both bandwidths are infinite, but the periodic signal has discrete frequencies while the non-periodic signal has continuous frequencies.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9"/>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cxnSp>
        <p:nvCxnSpPr>
          <p:cNvPr id="617" name="Google Shape;617;p79"/>
          <p:cNvCxnSpPr/>
          <p:nvPr/>
        </p:nvCxnSpPr>
        <p:spPr>
          <a:xfrm>
            <a:off x="152400" y="152400"/>
            <a:ext cx="8763000" cy="0"/>
          </a:xfrm>
          <a:prstGeom prst="straightConnector1">
            <a:avLst/>
          </a:prstGeom>
          <a:noFill/>
          <a:ln cap="flat" cmpd="sng" w="76200">
            <a:solidFill>
              <a:schemeClr val="hlink"/>
            </a:solidFill>
            <a:prstDash val="solid"/>
            <a:round/>
            <a:headEnd len="sm" w="sm" type="none"/>
            <a:tailEnd len="sm" w="sm" type="none"/>
          </a:ln>
        </p:spPr>
      </p:cxnSp>
      <p:cxnSp>
        <p:nvCxnSpPr>
          <p:cNvPr id="618" name="Google Shape;618;p79"/>
          <p:cNvCxnSpPr/>
          <p:nvPr/>
        </p:nvCxnSpPr>
        <p:spPr>
          <a:xfrm>
            <a:off x="152400" y="990600"/>
            <a:ext cx="8763000" cy="0"/>
          </a:xfrm>
          <a:prstGeom prst="straightConnector1">
            <a:avLst/>
          </a:prstGeom>
          <a:noFill/>
          <a:ln cap="flat" cmpd="sng" w="19050">
            <a:solidFill>
              <a:schemeClr val="hlink"/>
            </a:solidFill>
            <a:prstDash val="solid"/>
            <a:round/>
            <a:headEnd len="sm" w="sm" type="none"/>
            <a:tailEnd len="sm" w="sm" type="none"/>
          </a:ln>
        </p:spPr>
      </p:cxnSp>
      <p:sp>
        <p:nvSpPr>
          <p:cNvPr id="619" name="Google Shape;619;p79"/>
          <p:cNvSpPr txBox="1"/>
          <p:nvPr/>
        </p:nvSpPr>
        <p:spPr>
          <a:xfrm>
            <a:off x="304800" y="381000"/>
            <a:ext cx="484299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2"/>
                </a:solidFill>
                <a:latin typeface="Times New Roman"/>
                <a:ea typeface="Times New Roman"/>
                <a:cs typeface="Times New Roman"/>
                <a:sym typeface="Times New Roman"/>
              </a:rPr>
              <a:t>Transmission of digital signals</a:t>
            </a:r>
            <a:endParaRPr b="1" i="1" sz="2800" u="none" cap="none" strike="noStrike">
              <a:solidFill>
                <a:schemeClr val="lt2"/>
              </a:solidFill>
              <a:latin typeface="Times New Roman"/>
              <a:ea typeface="Times New Roman"/>
              <a:cs typeface="Times New Roman"/>
              <a:sym typeface="Times New Roman"/>
            </a:endParaRPr>
          </a:p>
        </p:txBody>
      </p:sp>
      <p:cxnSp>
        <p:nvCxnSpPr>
          <p:cNvPr id="620" name="Google Shape;620;p79"/>
          <p:cNvCxnSpPr/>
          <p:nvPr/>
        </p:nvCxnSpPr>
        <p:spPr>
          <a:xfrm>
            <a:off x="152400" y="6324600"/>
            <a:ext cx="8763000" cy="0"/>
          </a:xfrm>
          <a:prstGeom prst="straightConnector1">
            <a:avLst/>
          </a:prstGeom>
          <a:noFill/>
          <a:ln cap="flat" cmpd="sng" w="76200">
            <a:solidFill>
              <a:schemeClr val="hlink"/>
            </a:solidFill>
            <a:prstDash val="solid"/>
            <a:round/>
            <a:headEnd len="sm" w="sm" type="none"/>
            <a:tailEnd len="sm" w="sm" type="none"/>
          </a:ln>
        </p:spPr>
      </p:cxnSp>
      <p:pic>
        <p:nvPicPr>
          <p:cNvPr id="621" name="Google Shape;621;p79"/>
          <p:cNvPicPr preferRelativeResize="0"/>
          <p:nvPr/>
        </p:nvPicPr>
        <p:blipFill rotWithShape="1">
          <a:blip r:embed="rId3">
            <a:alphaModFix/>
          </a:blip>
          <a:srcRect b="0" l="0" r="0" t="0"/>
          <a:stretch/>
        </p:blipFill>
        <p:spPr>
          <a:xfrm>
            <a:off x="1163040" y="4104568"/>
            <a:ext cx="6681787" cy="1700212"/>
          </a:xfrm>
          <a:prstGeom prst="rect">
            <a:avLst/>
          </a:prstGeom>
          <a:noFill/>
          <a:ln>
            <a:noFill/>
          </a:ln>
        </p:spPr>
      </p:pic>
      <p:sp>
        <p:nvSpPr>
          <p:cNvPr id="622" name="Google Shape;622;p79"/>
          <p:cNvSpPr/>
          <p:nvPr/>
        </p:nvSpPr>
        <p:spPr>
          <a:xfrm>
            <a:off x="242596" y="1090908"/>
            <a:ext cx="8686800" cy="31700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We can transmit a digital signal by one of two different approaches: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Baseband Transmission</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0"/>
              </a:spcBef>
              <a:spcAft>
                <a:spcPts val="0"/>
              </a:spcAft>
              <a:buClr>
                <a:srgbClr val="000000"/>
              </a:buClr>
              <a:buSzPts val="2000"/>
              <a:buFont typeface="Arial"/>
              <a:buAutoNum type="arabicPeriod"/>
            </a:pPr>
            <a:r>
              <a:rPr b="0" i="0" lang="en-US" sz="2000" u="none" cap="none" strike="noStrike">
                <a:solidFill>
                  <a:srgbClr val="000000"/>
                </a:solidFill>
                <a:latin typeface="Times New Roman"/>
                <a:ea typeface="Times New Roman"/>
                <a:cs typeface="Times New Roman"/>
                <a:sym typeface="Times New Roman"/>
              </a:rPr>
              <a:t>Broadband Transmission (using modulation)</a:t>
            </a:r>
            <a:endParaRPr b="0" i="0" sz="1400" u="none" cap="none" strike="noStrike">
              <a:solidFill>
                <a:srgbClr val="000000"/>
              </a:solidFill>
              <a:latin typeface="Arial"/>
              <a:ea typeface="Arial"/>
              <a:cs typeface="Arial"/>
              <a:sym typeface="Arial"/>
            </a:endParaRPr>
          </a:p>
          <a:p>
            <a:pPr indent="-33020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B050"/>
                </a:solidFill>
                <a:latin typeface="Times New Roman"/>
                <a:ea typeface="Times New Roman"/>
                <a:cs typeface="Times New Roman"/>
                <a:sym typeface="Times New Roman"/>
              </a:rPr>
              <a:t>Baseband transmission </a:t>
            </a:r>
            <a:r>
              <a:rPr b="0" i="0" lang="en-US" sz="2000" u="none" cap="none" strike="noStrike">
                <a:solidFill>
                  <a:srgbClr val="000000"/>
                </a:solidFill>
                <a:latin typeface="Times New Roman"/>
                <a:ea typeface="Times New Roman"/>
                <a:cs typeface="Times New Roman"/>
                <a:sym typeface="Times New Roman"/>
              </a:rPr>
              <a:t>means sending a digital signal over a channel without changing the digital signal to an analog signal.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Times New Roman"/>
                <a:ea typeface="Times New Roman"/>
                <a:cs typeface="Times New Roman"/>
                <a:sym typeface="Times New Roman"/>
              </a:rPr>
              <a:t>Baseband transmission requires a </a:t>
            </a:r>
            <a:r>
              <a:rPr b="0" i="0" lang="en-US" sz="2000" u="none" cap="none" strike="noStrike">
                <a:solidFill>
                  <a:srgbClr val="00B050"/>
                </a:solidFill>
                <a:latin typeface="Times New Roman"/>
                <a:ea typeface="Times New Roman"/>
                <a:cs typeface="Times New Roman"/>
                <a:sym typeface="Times New Roman"/>
              </a:rPr>
              <a:t>low-pass channel</a:t>
            </a:r>
            <a:r>
              <a:rPr b="0" i="0" lang="en-US" sz="2000" u="none" cap="none" strike="noStrike">
                <a:solidFill>
                  <a:srgbClr val="000000"/>
                </a:solidFill>
                <a:latin typeface="Times New Roman"/>
                <a:ea typeface="Times New Roman"/>
                <a:cs typeface="Times New Roman"/>
                <a:sym typeface="Times New Roman"/>
              </a:rPr>
              <a:t>, a channel with a bandwidth that starts from zero.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80"/>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cxnSp>
        <p:nvCxnSpPr>
          <p:cNvPr id="629" name="Google Shape;629;p80"/>
          <p:cNvCxnSpPr/>
          <p:nvPr/>
        </p:nvCxnSpPr>
        <p:spPr>
          <a:xfrm>
            <a:off x="152400" y="152400"/>
            <a:ext cx="8763000" cy="0"/>
          </a:xfrm>
          <a:prstGeom prst="straightConnector1">
            <a:avLst/>
          </a:prstGeom>
          <a:noFill/>
          <a:ln cap="flat" cmpd="sng" w="76200">
            <a:solidFill>
              <a:schemeClr val="hlink"/>
            </a:solidFill>
            <a:prstDash val="solid"/>
            <a:round/>
            <a:headEnd len="sm" w="sm" type="none"/>
            <a:tailEnd len="sm" w="sm" type="none"/>
          </a:ln>
        </p:spPr>
      </p:cxnSp>
      <p:cxnSp>
        <p:nvCxnSpPr>
          <p:cNvPr id="630" name="Google Shape;630;p80"/>
          <p:cNvCxnSpPr/>
          <p:nvPr/>
        </p:nvCxnSpPr>
        <p:spPr>
          <a:xfrm>
            <a:off x="152400" y="990600"/>
            <a:ext cx="8763000" cy="0"/>
          </a:xfrm>
          <a:prstGeom prst="straightConnector1">
            <a:avLst/>
          </a:prstGeom>
          <a:noFill/>
          <a:ln cap="flat" cmpd="sng" w="19050">
            <a:solidFill>
              <a:schemeClr val="hlink"/>
            </a:solidFill>
            <a:prstDash val="solid"/>
            <a:round/>
            <a:headEnd len="sm" w="sm" type="none"/>
            <a:tailEnd len="sm" w="sm" type="none"/>
          </a:ln>
        </p:spPr>
      </p:cxnSp>
      <p:sp>
        <p:nvSpPr>
          <p:cNvPr id="631" name="Google Shape;631;p80"/>
          <p:cNvSpPr txBox="1"/>
          <p:nvPr/>
        </p:nvSpPr>
        <p:spPr>
          <a:xfrm>
            <a:off x="304800" y="381000"/>
            <a:ext cx="5307863"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folHlink"/>
                </a:solidFill>
                <a:latin typeface="Times New Roman"/>
                <a:ea typeface="Times New Roman"/>
                <a:cs typeface="Times New Roman"/>
                <a:sym typeface="Times New Roman"/>
              </a:rPr>
              <a:t>Figure: </a:t>
            </a:r>
            <a:r>
              <a:rPr b="1" i="0" lang="en-US" sz="2000" u="none" cap="none" strike="noStrike">
                <a:solidFill>
                  <a:schemeClr val="dk1"/>
                </a:solidFill>
                <a:latin typeface="Times New Roman"/>
                <a:ea typeface="Times New Roman"/>
                <a:cs typeface="Times New Roman"/>
                <a:sym typeface="Times New Roman"/>
              </a:rPr>
              <a:t>Bandwidths of two low-pass channels</a:t>
            </a:r>
            <a:endParaRPr b="0" i="0" sz="1400" u="none" cap="none" strike="noStrike">
              <a:solidFill>
                <a:srgbClr val="000000"/>
              </a:solidFill>
              <a:latin typeface="Arial"/>
              <a:ea typeface="Arial"/>
              <a:cs typeface="Arial"/>
              <a:sym typeface="Arial"/>
            </a:endParaRPr>
          </a:p>
        </p:txBody>
      </p:sp>
      <p:cxnSp>
        <p:nvCxnSpPr>
          <p:cNvPr id="632" name="Google Shape;632;p80"/>
          <p:cNvCxnSpPr/>
          <p:nvPr/>
        </p:nvCxnSpPr>
        <p:spPr>
          <a:xfrm>
            <a:off x="152400" y="6324600"/>
            <a:ext cx="8763000" cy="0"/>
          </a:xfrm>
          <a:prstGeom prst="straightConnector1">
            <a:avLst/>
          </a:prstGeom>
          <a:noFill/>
          <a:ln cap="flat" cmpd="sng" w="76200">
            <a:solidFill>
              <a:schemeClr val="hlink"/>
            </a:solidFill>
            <a:prstDash val="solid"/>
            <a:round/>
            <a:headEnd len="sm" w="sm" type="none"/>
            <a:tailEnd len="sm" w="sm" type="none"/>
          </a:ln>
        </p:spPr>
      </p:cxnSp>
      <p:pic>
        <p:nvPicPr>
          <p:cNvPr id="633" name="Google Shape;633;p80"/>
          <p:cNvPicPr preferRelativeResize="0"/>
          <p:nvPr/>
        </p:nvPicPr>
        <p:blipFill rotWithShape="1">
          <a:blip r:embed="rId3">
            <a:alphaModFix/>
          </a:blip>
          <a:srcRect b="0" l="0" r="0" t="0"/>
          <a:stretch/>
        </p:blipFill>
        <p:spPr>
          <a:xfrm>
            <a:off x="228600" y="1371600"/>
            <a:ext cx="8739188" cy="4457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81"/>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cxnSp>
        <p:nvCxnSpPr>
          <p:cNvPr id="640" name="Google Shape;640;p81"/>
          <p:cNvCxnSpPr/>
          <p:nvPr/>
        </p:nvCxnSpPr>
        <p:spPr>
          <a:xfrm>
            <a:off x="152400" y="152400"/>
            <a:ext cx="8763000" cy="0"/>
          </a:xfrm>
          <a:prstGeom prst="straightConnector1">
            <a:avLst/>
          </a:prstGeom>
          <a:noFill/>
          <a:ln cap="flat" cmpd="sng" w="76200">
            <a:solidFill>
              <a:schemeClr val="hlink"/>
            </a:solidFill>
            <a:prstDash val="solid"/>
            <a:round/>
            <a:headEnd len="sm" w="sm" type="none"/>
            <a:tailEnd len="sm" w="sm" type="none"/>
          </a:ln>
        </p:spPr>
      </p:cxnSp>
      <p:cxnSp>
        <p:nvCxnSpPr>
          <p:cNvPr id="641" name="Google Shape;641;p81"/>
          <p:cNvCxnSpPr/>
          <p:nvPr/>
        </p:nvCxnSpPr>
        <p:spPr>
          <a:xfrm>
            <a:off x="152400" y="990600"/>
            <a:ext cx="8763000" cy="0"/>
          </a:xfrm>
          <a:prstGeom prst="straightConnector1">
            <a:avLst/>
          </a:prstGeom>
          <a:noFill/>
          <a:ln cap="flat" cmpd="sng" w="19050">
            <a:solidFill>
              <a:schemeClr val="hlink"/>
            </a:solidFill>
            <a:prstDash val="solid"/>
            <a:round/>
            <a:headEnd len="sm" w="sm" type="none"/>
            <a:tailEnd len="sm" w="sm" type="none"/>
          </a:ln>
        </p:spPr>
      </p:cxnSp>
      <p:sp>
        <p:nvSpPr>
          <p:cNvPr id="642" name="Google Shape;642;p81"/>
          <p:cNvSpPr txBox="1"/>
          <p:nvPr/>
        </p:nvSpPr>
        <p:spPr>
          <a:xfrm>
            <a:off x="416459" y="226337"/>
            <a:ext cx="4409038"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baseline="-25000" i="0" lang="en-US" sz="4000" u="none" cap="none" strike="noStrike">
                <a:solidFill>
                  <a:schemeClr val="dk1"/>
                </a:solidFill>
                <a:latin typeface="Times New Roman"/>
                <a:ea typeface="Times New Roman"/>
                <a:cs typeface="Times New Roman"/>
                <a:sym typeface="Times New Roman"/>
              </a:rPr>
              <a:t>Broadband Transmission</a:t>
            </a:r>
            <a:endParaRPr b="1" i="0" sz="4000" u="none" cap="none" strike="noStrike">
              <a:solidFill>
                <a:schemeClr val="lt2"/>
              </a:solidFill>
              <a:latin typeface="Times New Roman"/>
              <a:ea typeface="Times New Roman"/>
              <a:cs typeface="Times New Roman"/>
              <a:sym typeface="Times New Roman"/>
            </a:endParaRPr>
          </a:p>
        </p:txBody>
      </p:sp>
      <p:cxnSp>
        <p:nvCxnSpPr>
          <p:cNvPr id="643" name="Google Shape;643;p81"/>
          <p:cNvCxnSpPr/>
          <p:nvPr/>
        </p:nvCxnSpPr>
        <p:spPr>
          <a:xfrm>
            <a:off x="152400" y="6324600"/>
            <a:ext cx="8763000" cy="0"/>
          </a:xfrm>
          <a:prstGeom prst="straightConnector1">
            <a:avLst/>
          </a:prstGeom>
          <a:noFill/>
          <a:ln cap="flat" cmpd="sng" w="76200">
            <a:solidFill>
              <a:schemeClr val="hlink"/>
            </a:solidFill>
            <a:prstDash val="solid"/>
            <a:round/>
            <a:headEnd len="sm" w="sm" type="none"/>
            <a:tailEnd len="sm" w="sm" type="none"/>
          </a:ln>
        </p:spPr>
      </p:cxnSp>
      <p:sp>
        <p:nvSpPr>
          <p:cNvPr id="644" name="Google Shape;644;p81"/>
          <p:cNvSpPr/>
          <p:nvPr/>
        </p:nvSpPr>
        <p:spPr>
          <a:xfrm>
            <a:off x="242596" y="1090908"/>
            <a:ext cx="8686800" cy="501675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B050"/>
                </a:solidFill>
                <a:latin typeface="Times New Roman"/>
                <a:ea typeface="Times New Roman"/>
                <a:cs typeface="Times New Roman"/>
                <a:sym typeface="Times New Roman"/>
              </a:rPr>
              <a:t>Broadband transmission </a:t>
            </a:r>
            <a:r>
              <a:rPr b="0" i="0" lang="en-US" sz="2800" u="none" cap="none" strike="noStrike">
                <a:solidFill>
                  <a:srgbClr val="000000"/>
                </a:solidFill>
                <a:latin typeface="Times New Roman"/>
                <a:ea typeface="Times New Roman"/>
                <a:cs typeface="Times New Roman"/>
                <a:sym typeface="Times New Roman"/>
              </a:rPr>
              <a:t>or modulation means changing the digital signal to an analog signal for transmission.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Modulation allows us to use a </a:t>
            </a:r>
            <a:r>
              <a:rPr b="0" i="0" lang="en-US" sz="2800" u="none" cap="none" strike="noStrike">
                <a:solidFill>
                  <a:srgbClr val="00B050"/>
                </a:solidFill>
                <a:latin typeface="Times New Roman"/>
                <a:ea typeface="Times New Roman"/>
                <a:cs typeface="Times New Roman"/>
                <a:sym typeface="Times New Roman"/>
              </a:rPr>
              <a:t>bandpass</a:t>
            </a:r>
            <a:r>
              <a:rPr b="0" i="0" lang="en-US" sz="2800" u="none" cap="none" strike="noStrike">
                <a:solidFill>
                  <a:srgbClr val="000000"/>
                </a:solidFill>
                <a:latin typeface="Times New Roman"/>
                <a:ea typeface="Times New Roman"/>
                <a:cs typeface="Times New Roman"/>
                <a:sym typeface="Times New Roman"/>
              </a:rPr>
              <a:t> channel– a channel with a bandwidth that does not start from zero.</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800"/>
              <a:buFont typeface="Arial"/>
              <a:buChar char="•"/>
            </a:pPr>
            <a:r>
              <a:rPr b="0" i="0" lang="en-US" sz="2800" u="none" cap="none" strike="noStrike">
                <a:solidFill>
                  <a:srgbClr val="000000"/>
                </a:solidFill>
                <a:latin typeface="Times New Roman"/>
                <a:ea typeface="Times New Roman"/>
                <a:cs typeface="Times New Roman"/>
                <a:sym typeface="Times New Roman"/>
              </a:rPr>
              <a:t>This type of channel is more available than a low-pass channel.</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800"/>
              <a:buFont typeface="Arial"/>
              <a:buChar char="•"/>
            </a:pPr>
            <a:r>
              <a:rPr b="0" i="1" lang="en-US" sz="2800" u="none" cap="none" strike="noStrike">
                <a:solidFill>
                  <a:srgbClr val="00B050"/>
                </a:solidFill>
                <a:latin typeface="Times New Roman"/>
                <a:ea typeface="Times New Roman"/>
                <a:cs typeface="Times New Roman"/>
                <a:sym typeface="Times New Roman"/>
              </a:rPr>
              <a:t>If the available channel is a bandpass channel, we cannot send the digital signal directly to the channel; we need to convert the digital signal to an analog signal before transmission.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2"/>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cxnSp>
        <p:nvCxnSpPr>
          <p:cNvPr id="651" name="Google Shape;651;p82"/>
          <p:cNvCxnSpPr/>
          <p:nvPr/>
        </p:nvCxnSpPr>
        <p:spPr>
          <a:xfrm>
            <a:off x="152400" y="152400"/>
            <a:ext cx="8763000" cy="0"/>
          </a:xfrm>
          <a:prstGeom prst="straightConnector1">
            <a:avLst/>
          </a:prstGeom>
          <a:noFill/>
          <a:ln cap="flat" cmpd="sng" w="76200">
            <a:solidFill>
              <a:schemeClr val="hlink"/>
            </a:solidFill>
            <a:prstDash val="solid"/>
            <a:round/>
            <a:headEnd len="sm" w="sm" type="none"/>
            <a:tailEnd len="sm" w="sm" type="none"/>
          </a:ln>
        </p:spPr>
      </p:cxnSp>
      <p:cxnSp>
        <p:nvCxnSpPr>
          <p:cNvPr id="652" name="Google Shape;652;p82"/>
          <p:cNvCxnSpPr/>
          <p:nvPr/>
        </p:nvCxnSpPr>
        <p:spPr>
          <a:xfrm>
            <a:off x="152400" y="990600"/>
            <a:ext cx="8763000" cy="0"/>
          </a:xfrm>
          <a:prstGeom prst="straightConnector1">
            <a:avLst/>
          </a:prstGeom>
          <a:noFill/>
          <a:ln cap="flat" cmpd="sng" w="19050">
            <a:solidFill>
              <a:schemeClr val="hlink"/>
            </a:solidFill>
            <a:prstDash val="solid"/>
            <a:round/>
            <a:headEnd len="sm" w="sm" type="none"/>
            <a:tailEnd len="sm" w="sm" type="none"/>
          </a:ln>
        </p:spPr>
      </p:cxnSp>
      <p:sp>
        <p:nvSpPr>
          <p:cNvPr id="653" name="Google Shape;653;p82"/>
          <p:cNvSpPr txBox="1"/>
          <p:nvPr/>
        </p:nvSpPr>
        <p:spPr>
          <a:xfrm>
            <a:off x="304800" y="304800"/>
            <a:ext cx="49247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folHlink"/>
                </a:solidFill>
                <a:latin typeface="Times New Roman"/>
                <a:ea typeface="Times New Roman"/>
                <a:cs typeface="Times New Roman"/>
                <a:sym typeface="Times New Roman"/>
              </a:rPr>
              <a:t>Figure: </a:t>
            </a:r>
            <a:r>
              <a:rPr b="1" i="0" lang="en-US" sz="2000" u="none" cap="none" strike="noStrike">
                <a:solidFill>
                  <a:schemeClr val="lt2"/>
                </a:solidFill>
                <a:latin typeface="Times New Roman"/>
                <a:ea typeface="Times New Roman"/>
                <a:cs typeface="Times New Roman"/>
                <a:sym typeface="Times New Roman"/>
              </a:rPr>
              <a:t>Bandwidth of a bandpass channel</a:t>
            </a:r>
            <a:endParaRPr b="0" i="0" sz="1400" u="none" cap="none" strike="noStrike">
              <a:solidFill>
                <a:srgbClr val="000000"/>
              </a:solidFill>
              <a:latin typeface="Arial"/>
              <a:ea typeface="Arial"/>
              <a:cs typeface="Arial"/>
              <a:sym typeface="Arial"/>
            </a:endParaRPr>
          </a:p>
        </p:txBody>
      </p:sp>
      <p:cxnSp>
        <p:nvCxnSpPr>
          <p:cNvPr id="654" name="Google Shape;654;p82"/>
          <p:cNvCxnSpPr/>
          <p:nvPr/>
        </p:nvCxnSpPr>
        <p:spPr>
          <a:xfrm>
            <a:off x="152400" y="6324600"/>
            <a:ext cx="8763000" cy="0"/>
          </a:xfrm>
          <a:prstGeom prst="straightConnector1">
            <a:avLst/>
          </a:prstGeom>
          <a:noFill/>
          <a:ln cap="flat" cmpd="sng" w="76200">
            <a:solidFill>
              <a:schemeClr val="hlink"/>
            </a:solidFill>
            <a:prstDash val="solid"/>
            <a:round/>
            <a:headEnd len="sm" w="sm" type="none"/>
            <a:tailEnd len="sm" w="sm" type="none"/>
          </a:ln>
        </p:spPr>
      </p:cxnSp>
      <p:pic>
        <p:nvPicPr>
          <p:cNvPr id="655" name="Google Shape;655;p82"/>
          <p:cNvPicPr preferRelativeResize="0"/>
          <p:nvPr/>
        </p:nvPicPr>
        <p:blipFill rotWithShape="1">
          <a:blip r:embed="rId3">
            <a:alphaModFix/>
          </a:blip>
          <a:srcRect b="0" l="0" r="0" t="0"/>
          <a:stretch/>
        </p:blipFill>
        <p:spPr>
          <a:xfrm>
            <a:off x="609600" y="2590800"/>
            <a:ext cx="7897813" cy="1839913"/>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8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61" name="Google Shape;661;p8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2" name="Google Shape;662;p8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663" name="Google Shape;663;p83"/>
          <p:cNvGrpSpPr/>
          <p:nvPr/>
        </p:nvGrpSpPr>
        <p:grpSpPr>
          <a:xfrm>
            <a:off x="490537" y="773112"/>
            <a:ext cx="738187" cy="474662"/>
            <a:chOff x="309" y="487"/>
            <a:chExt cx="465" cy="299"/>
          </a:xfrm>
        </p:grpSpPr>
        <p:sp>
          <p:nvSpPr>
            <p:cNvPr id="664" name="Google Shape;664;p8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5" name="Google Shape;665;p8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666" name="Google Shape;666;p8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7" name="Google Shape;667;p8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8" name="Google Shape;668;p8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69" name="Google Shape;669;p8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70" name="Google Shape;670;p83"/>
          <p:cNvSpPr txBox="1"/>
          <p:nvPr/>
        </p:nvSpPr>
        <p:spPr>
          <a:xfrm>
            <a:off x="228600" y="1447800"/>
            <a:ext cx="8534400" cy="397027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We have a low-pass channel with bandwidth 200 kHz. What is the maximum frequency of this channel?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Here, bandwidth, B = 200 kHz</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We know, low-pass channel’s bandwidth starts from 0 Hz,</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And bandwidth = highest frequency – lowest frequency</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So, maximum frequency = 200 kHz</a:t>
            </a:r>
            <a:endParaRPr b="0" i="0" sz="1400" u="none" cap="none" strike="noStrike">
              <a:solidFill>
                <a:srgbClr val="000000"/>
              </a:solidFill>
              <a:latin typeface="Arial"/>
              <a:ea typeface="Arial"/>
              <a:cs typeface="Arial"/>
              <a:sym typeface="Arial"/>
            </a:endParaRPr>
          </a:p>
        </p:txBody>
      </p:sp>
      <p:sp>
        <p:nvSpPr>
          <p:cNvPr id="671" name="Google Shape;671;p83"/>
          <p:cNvSpPr txBox="1"/>
          <p:nvPr/>
        </p:nvSpPr>
        <p:spPr>
          <a:xfrm>
            <a:off x="1142999" y="182562"/>
            <a:ext cx="5318186"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2800" u="none" cap="none" strike="noStrike">
                <a:solidFill>
                  <a:schemeClr val="hlink"/>
                </a:solidFill>
                <a:latin typeface="Times New Roman"/>
                <a:ea typeface="Times New Roman"/>
                <a:cs typeface="Times New Roman"/>
                <a:sym typeface="Times New Roman"/>
              </a:rPr>
              <a:t>Example: Low Pass Channel</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3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77" name="Google Shape;677;p3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78" name="Google Shape;678;p3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679" name="Google Shape;679;p32"/>
          <p:cNvGrpSpPr/>
          <p:nvPr/>
        </p:nvGrpSpPr>
        <p:grpSpPr>
          <a:xfrm>
            <a:off x="490537" y="773112"/>
            <a:ext cx="738187" cy="474662"/>
            <a:chOff x="309" y="487"/>
            <a:chExt cx="465" cy="299"/>
          </a:xfrm>
        </p:grpSpPr>
        <p:sp>
          <p:nvSpPr>
            <p:cNvPr id="680" name="Google Shape;680;p3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1" name="Google Shape;681;p3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682" name="Google Shape;682;p3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3" name="Google Shape;683;p3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4" name="Google Shape;684;p3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5" name="Google Shape;685;p3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86" name="Google Shape;686;p32"/>
          <p:cNvSpPr txBox="1"/>
          <p:nvPr/>
        </p:nvSpPr>
        <p:spPr>
          <a:xfrm>
            <a:off x="228600" y="14478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digital signal has nine levels. How many bits are needed per level? We calculate the number of bits by using the formula. Each signal level is represented by 3.17 bits. However, this answer is not realistic. The number of bits sent per level needs to be an integer as well as a power of 2. For this example, 4 bits can represent one level.</a:t>
            </a:r>
            <a:endParaRPr b="0" i="0" sz="1400" u="none" cap="none" strike="noStrike">
              <a:solidFill>
                <a:srgbClr val="000000"/>
              </a:solidFill>
              <a:latin typeface="Arial"/>
              <a:ea typeface="Arial"/>
              <a:cs typeface="Arial"/>
              <a:sym typeface="Arial"/>
            </a:endParaRPr>
          </a:p>
        </p:txBody>
      </p:sp>
      <p:sp>
        <p:nvSpPr>
          <p:cNvPr id="687" name="Google Shape;687;p32"/>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3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693" name="Google Shape;693;p3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94" name="Google Shape;694;p3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695" name="Google Shape;695;p33"/>
          <p:cNvGrpSpPr/>
          <p:nvPr/>
        </p:nvGrpSpPr>
        <p:grpSpPr>
          <a:xfrm>
            <a:off x="490537" y="773112"/>
            <a:ext cx="738187" cy="474662"/>
            <a:chOff x="309" y="487"/>
            <a:chExt cx="465" cy="299"/>
          </a:xfrm>
        </p:grpSpPr>
        <p:sp>
          <p:nvSpPr>
            <p:cNvPr id="696" name="Google Shape;696;p3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97" name="Google Shape;697;p3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698" name="Google Shape;698;p3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699" name="Google Shape;699;p3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0" name="Google Shape;700;p3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1" name="Google Shape;701;p3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02" name="Google Shape;702;p33"/>
          <p:cNvSpPr txBox="1"/>
          <p:nvPr/>
        </p:nvSpPr>
        <p:spPr>
          <a:xfrm>
            <a:off x="228600" y="14478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Assume we need to download text documents at the rate of 100 pages per second. What is the required bit rate of the channel?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page is an average of 24 lines with 80 characters in each line. If we assume that one character requires 8 bits, the bit rate is</a:t>
            </a:r>
            <a:endParaRPr b="0" i="0" sz="1400" u="none" cap="none" strike="noStrike">
              <a:solidFill>
                <a:srgbClr val="000000"/>
              </a:solidFill>
              <a:latin typeface="Arial"/>
              <a:ea typeface="Arial"/>
              <a:cs typeface="Arial"/>
              <a:sym typeface="Arial"/>
            </a:endParaRPr>
          </a:p>
        </p:txBody>
      </p:sp>
      <p:sp>
        <p:nvSpPr>
          <p:cNvPr id="703" name="Google Shape;703;p3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3.18</a:t>
            </a:r>
            <a:endParaRPr b="0" i="0" sz="1400" u="none" cap="none" strike="noStrike">
              <a:solidFill>
                <a:srgbClr val="000000"/>
              </a:solidFill>
              <a:latin typeface="Arial"/>
              <a:ea typeface="Arial"/>
              <a:cs typeface="Arial"/>
              <a:sym typeface="Arial"/>
            </a:endParaRPr>
          </a:p>
        </p:txBody>
      </p:sp>
      <p:pic>
        <p:nvPicPr>
          <p:cNvPr id="704" name="Google Shape;704;p33"/>
          <p:cNvPicPr preferRelativeResize="0"/>
          <p:nvPr/>
        </p:nvPicPr>
        <p:blipFill rotWithShape="1">
          <a:blip r:embed="rId3">
            <a:alphaModFix/>
          </a:blip>
          <a:srcRect b="0" l="0" r="0" t="0"/>
          <a:stretch/>
        </p:blipFill>
        <p:spPr>
          <a:xfrm>
            <a:off x="1839912" y="4718050"/>
            <a:ext cx="5462587" cy="387350"/>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g33a226f92c9_0_20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10" name="Google Shape;710;g33a226f92c9_0_201"/>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1" name="Google Shape;711;g33a226f92c9_0_201"/>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712" name="Google Shape;712;g33a226f92c9_0_201"/>
          <p:cNvGrpSpPr/>
          <p:nvPr/>
        </p:nvGrpSpPr>
        <p:grpSpPr>
          <a:xfrm>
            <a:off x="490537" y="773112"/>
            <a:ext cx="846137" cy="476249"/>
            <a:chOff x="309" y="487"/>
            <a:chExt cx="533" cy="300"/>
          </a:xfrm>
        </p:grpSpPr>
        <p:sp>
          <p:nvSpPr>
            <p:cNvPr id="713" name="Google Shape;713;g33a226f92c9_0_201"/>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4" name="Google Shape;714;g33a226f92c9_0_201"/>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715" name="Google Shape;715;g33a226f92c9_0_201"/>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6" name="Google Shape;716;g33a226f92c9_0_201"/>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7" name="Google Shape;717;g33a226f92c9_0_201"/>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8" name="Google Shape;718;g33a226f92c9_0_201"/>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19" name="Google Shape;719;g33a226f92c9_0_201"/>
          <p:cNvSpPr txBox="1"/>
          <p:nvPr/>
        </p:nvSpPr>
        <p:spPr>
          <a:xfrm>
            <a:off x="228600" y="1292225"/>
            <a:ext cx="8534400" cy="33246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digitized voice channel, as we will see in Chapter 4, is made by digitizing a 4-kHz bandwidth analog voice signal. We need to sample the signal at twice the highest frequency (two samples per hertz). We assume that each sample requires 8 bits. What is the required bit rate?</a:t>
            </a:r>
            <a:br>
              <a:rPr b="1" i="1" lang="en-US" sz="2800" u="none" cap="none" strike="noStrike">
                <a:solidFill>
                  <a:schemeClr val="dk1"/>
                </a:solidFill>
                <a:latin typeface="Times New Roman"/>
                <a:ea typeface="Times New Roman"/>
                <a:cs typeface="Times New Roman"/>
                <a:sym typeface="Times New Roman"/>
              </a:rPr>
            </a:b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bit rate can be calculated as</a:t>
            </a:r>
            <a:endParaRPr b="0" i="0" sz="1400" u="none" cap="none" strike="noStrike">
              <a:solidFill>
                <a:srgbClr val="000000"/>
              </a:solidFill>
              <a:latin typeface="Arial"/>
              <a:ea typeface="Arial"/>
              <a:cs typeface="Arial"/>
              <a:sym typeface="Arial"/>
            </a:endParaRPr>
          </a:p>
        </p:txBody>
      </p:sp>
      <p:sp>
        <p:nvSpPr>
          <p:cNvPr id="720" name="Google Shape;720;g33a226f92c9_0_201"/>
          <p:cNvSpPr txBox="1"/>
          <p:nvPr/>
        </p:nvSpPr>
        <p:spPr>
          <a:xfrm>
            <a:off x="1143000" y="182562"/>
            <a:ext cx="24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3.19</a:t>
            </a:r>
            <a:endParaRPr b="0" i="0" sz="1400" u="none" cap="none" strike="noStrike">
              <a:solidFill>
                <a:srgbClr val="000000"/>
              </a:solidFill>
              <a:latin typeface="Arial"/>
              <a:ea typeface="Arial"/>
              <a:cs typeface="Arial"/>
              <a:sym typeface="Arial"/>
            </a:endParaRPr>
          </a:p>
        </p:txBody>
      </p:sp>
      <p:pic>
        <p:nvPicPr>
          <p:cNvPr id="721" name="Google Shape;721;g33a226f92c9_0_201"/>
          <p:cNvPicPr preferRelativeResize="0"/>
          <p:nvPr/>
        </p:nvPicPr>
        <p:blipFill rotWithShape="1">
          <a:blip r:embed="rId3">
            <a:alphaModFix/>
          </a:blip>
          <a:srcRect b="0" l="0" r="0" t="0"/>
          <a:stretch/>
        </p:blipFill>
        <p:spPr>
          <a:xfrm>
            <a:off x="2487612" y="5059362"/>
            <a:ext cx="4167188" cy="3508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3a226f92c9_0_32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27" name="Google Shape;727;g33a226f92c9_0_328"/>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28" name="Google Shape;728;g33a226f92c9_0_328"/>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729" name="Google Shape;729;g33a226f92c9_0_328"/>
          <p:cNvGrpSpPr/>
          <p:nvPr/>
        </p:nvGrpSpPr>
        <p:grpSpPr>
          <a:xfrm>
            <a:off x="490537" y="773112"/>
            <a:ext cx="846137" cy="476249"/>
            <a:chOff x="309" y="487"/>
            <a:chExt cx="533" cy="300"/>
          </a:xfrm>
        </p:grpSpPr>
        <p:sp>
          <p:nvSpPr>
            <p:cNvPr id="730" name="Google Shape;730;g33a226f92c9_0_328"/>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1" name="Google Shape;731;g33a226f92c9_0_328"/>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732" name="Google Shape;732;g33a226f92c9_0_328"/>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3" name="Google Shape;733;g33a226f92c9_0_328"/>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4" name="Google Shape;734;g33a226f92c9_0_328"/>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5" name="Google Shape;735;g33a226f92c9_0_328"/>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36" name="Google Shape;736;g33a226f92c9_0_328"/>
          <p:cNvSpPr txBox="1"/>
          <p:nvPr/>
        </p:nvSpPr>
        <p:spPr>
          <a:xfrm>
            <a:off x="228600" y="1292225"/>
            <a:ext cx="8534400" cy="2678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An FHD monitor has an aspect ratio of 16:9. There are 1920 by 1080 pixels per screen, and the refresh rate is 120 Hz, meaning the screen is renewed 120 times per second. If each color pixel is represented by 24 bits, calculate the bit rate.</a:t>
            </a:r>
            <a:br>
              <a:rPr b="1" i="1" lang="en-US" sz="2800" u="none" cap="none" strike="noStrike">
                <a:solidFill>
                  <a:schemeClr val="dk1"/>
                </a:solidFill>
                <a:latin typeface="Times New Roman"/>
                <a:ea typeface="Times New Roman"/>
                <a:cs typeface="Times New Roman"/>
                <a:sym typeface="Times New Roman"/>
              </a:rPr>
            </a:b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id="737" name="Google Shape;737;g33a226f92c9_0_328"/>
          <p:cNvSpPr txBox="1"/>
          <p:nvPr/>
        </p:nvSpPr>
        <p:spPr>
          <a:xfrm>
            <a:off x="1143000" y="182562"/>
            <a:ext cx="24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3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43" name="Google Shape;743;p36"/>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44" name="Google Shape;744;p36"/>
          <p:cNvSpPr txBox="1"/>
          <p:nvPr/>
        </p:nvSpPr>
        <p:spPr>
          <a:xfrm>
            <a:off x="228600" y="76200"/>
            <a:ext cx="7029450"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3-4   TRANSMISSION IMPAIRMENT</a:t>
            </a:r>
            <a:endParaRPr b="0" i="0" sz="1400" u="none" cap="none" strike="noStrike">
              <a:solidFill>
                <a:srgbClr val="000000"/>
              </a:solidFill>
              <a:latin typeface="Arial"/>
              <a:ea typeface="Arial"/>
              <a:cs typeface="Arial"/>
              <a:sym typeface="Arial"/>
            </a:endParaRPr>
          </a:p>
        </p:txBody>
      </p:sp>
      <p:sp>
        <p:nvSpPr>
          <p:cNvPr id="745" name="Google Shape;745;p36"/>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46" name="Google Shape;746;p36"/>
          <p:cNvSpPr txBox="1"/>
          <p:nvPr/>
        </p:nvSpPr>
        <p:spPr>
          <a:xfrm>
            <a:off x="76200" y="1203325"/>
            <a:ext cx="8610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Signals travel through transmission media, which are not perfect. The imperfection causes signal impairment. This means that the signal at the beginning of the medium is not the same as the signal at the end of the medium. What is sent is not what is received. Three causes of impairment are </a:t>
            </a:r>
            <a:r>
              <a:rPr b="1" i="1" lang="en-US" sz="2800" u="none" cap="none" strike="noStrike">
                <a:solidFill>
                  <a:schemeClr val="hlink"/>
                </a:solidFill>
                <a:latin typeface="Times New Roman"/>
                <a:ea typeface="Times New Roman"/>
                <a:cs typeface="Times New Roman"/>
                <a:sym typeface="Times New Roman"/>
              </a:rPr>
              <a:t>attenuation</a:t>
            </a:r>
            <a:r>
              <a:rPr b="1" i="1" lang="en-US" sz="2800" u="none" cap="none" strike="noStrike">
                <a:solidFill>
                  <a:schemeClr val="dk1"/>
                </a:solidFill>
                <a:latin typeface="Times New Roman"/>
                <a:ea typeface="Times New Roman"/>
                <a:cs typeface="Times New Roman"/>
                <a:sym typeface="Times New Roman"/>
              </a:rPr>
              <a:t>, </a:t>
            </a:r>
            <a:r>
              <a:rPr b="1" i="1" lang="en-US" sz="2800" u="none" cap="none" strike="noStrike">
                <a:solidFill>
                  <a:schemeClr val="hlink"/>
                </a:solidFill>
                <a:latin typeface="Times New Roman"/>
                <a:ea typeface="Times New Roman"/>
                <a:cs typeface="Times New Roman"/>
                <a:sym typeface="Times New Roman"/>
              </a:rPr>
              <a:t>distortion</a:t>
            </a:r>
            <a:r>
              <a:rPr b="1" i="1" lang="en-US" sz="2800" u="none" cap="none" strike="noStrike">
                <a:solidFill>
                  <a:schemeClr val="dk1"/>
                </a:solidFill>
                <a:latin typeface="Times New Roman"/>
                <a:ea typeface="Times New Roman"/>
                <a:cs typeface="Times New Roman"/>
                <a:sym typeface="Times New Roman"/>
              </a:rPr>
              <a:t>, and </a:t>
            </a:r>
            <a:r>
              <a:rPr b="1" i="1" lang="en-US" sz="2800" u="none" cap="none" strike="noStrike">
                <a:solidFill>
                  <a:schemeClr val="hlink"/>
                </a:solidFill>
                <a:latin typeface="Times New Roman"/>
                <a:ea typeface="Times New Roman"/>
                <a:cs typeface="Times New Roman"/>
                <a:sym typeface="Times New Roman"/>
              </a:rPr>
              <a:t>noise</a:t>
            </a:r>
            <a:r>
              <a:rPr b="1"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747" name="Google Shape;747;p36"/>
          <p:cNvSpPr txBox="1"/>
          <p:nvPr/>
        </p:nvSpPr>
        <p:spPr>
          <a:xfrm>
            <a:off x="152400" y="4819650"/>
            <a:ext cx="5715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Attenuation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Distortion</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Noise</a:t>
            </a:r>
            <a:endParaRPr b="0" i="0" sz="1400" u="none" cap="none" strike="noStrike">
              <a:solidFill>
                <a:srgbClr val="000000"/>
              </a:solidFill>
              <a:latin typeface="Arial"/>
              <a:ea typeface="Arial"/>
              <a:cs typeface="Arial"/>
              <a:sym typeface="Arial"/>
            </a:endParaRPr>
          </a:p>
        </p:txBody>
      </p:sp>
      <p:sp>
        <p:nvSpPr>
          <p:cNvPr id="748" name="Google Shape;748;p36"/>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3c0c73660d_0_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754" name="Google Shape;754;g33c0c73660d_0_0"/>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5" name="Google Shape;755;g33c0c73660d_0_0"/>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756" name="Google Shape;756;g33c0c73660d_0_0"/>
          <p:cNvGrpSpPr/>
          <p:nvPr/>
        </p:nvGrpSpPr>
        <p:grpSpPr>
          <a:xfrm>
            <a:off x="490537" y="773112"/>
            <a:ext cx="846137" cy="476249"/>
            <a:chOff x="309" y="487"/>
            <a:chExt cx="533" cy="300"/>
          </a:xfrm>
        </p:grpSpPr>
        <p:sp>
          <p:nvSpPr>
            <p:cNvPr id="757" name="Google Shape;757;g33c0c73660d_0_0"/>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58" name="Google Shape;758;g33c0c73660d_0_0"/>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759" name="Google Shape;759;g33c0c73660d_0_0"/>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60" name="Google Shape;760;g33c0c73660d_0_0"/>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61" name="Google Shape;761;g33c0c73660d_0_0"/>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762" name="Google Shape;762;g33c0c73660d_0_0"/>
          <p:cNvSpPr txBox="1"/>
          <p:nvPr/>
        </p:nvSpPr>
        <p:spPr>
          <a:xfrm>
            <a:off x="711200" y="182550"/>
            <a:ext cx="8310600" cy="53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2900" u="none" cap="none" strike="noStrike">
                <a:solidFill>
                  <a:schemeClr val="hlink"/>
                </a:solidFill>
                <a:latin typeface="Times New Roman"/>
                <a:ea typeface="Times New Roman"/>
                <a:cs typeface="Times New Roman"/>
                <a:sym typeface="Times New Roman"/>
              </a:rPr>
              <a:t>The World if there were no Transmission Impairment</a:t>
            </a:r>
            <a:endParaRPr b="0" i="0" sz="1100" u="none" cap="none" strike="noStrike">
              <a:solidFill>
                <a:srgbClr val="000000"/>
              </a:solidFill>
              <a:latin typeface="Arial"/>
              <a:ea typeface="Arial"/>
              <a:cs typeface="Arial"/>
              <a:sym typeface="Arial"/>
            </a:endParaRPr>
          </a:p>
        </p:txBody>
      </p:sp>
      <p:pic>
        <p:nvPicPr>
          <p:cNvPr id="763" name="Google Shape;763;g33c0c73660d_0_0"/>
          <p:cNvPicPr preferRelativeResize="0"/>
          <p:nvPr/>
        </p:nvPicPr>
        <p:blipFill rotWithShape="1">
          <a:blip r:embed="rId3">
            <a:alphaModFix/>
          </a:blip>
          <a:srcRect b="0" l="0" r="0" t="0"/>
          <a:stretch/>
        </p:blipFill>
        <p:spPr>
          <a:xfrm>
            <a:off x="366700" y="1296425"/>
            <a:ext cx="8474726" cy="4930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3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769" name="Google Shape;769;p37"/>
          <p:cNvCxnSpPr/>
          <p:nvPr/>
        </p:nvCxnSpPr>
        <p:spPr>
          <a:xfrm>
            <a:off x="152400" y="533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770" name="Google Shape;770;p37"/>
          <p:cNvCxnSpPr/>
          <p:nvPr/>
        </p:nvCxnSpPr>
        <p:spPr>
          <a:xfrm>
            <a:off x="152400" y="1371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771" name="Google Shape;771;p37"/>
          <p:cNvSpPr txBox="1"/>
          <p:nvPr/>
        </p:nvSpPr>
        <p:spPr>
          <a:xfrm>
            <a:off x="304800" y="762000"/>
            <a:ext cx="41036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3.25  </a:t>
            </a:r>
            <a:r>
              <a:rPr b="1" i="1" lang="en-US" sz="2000" u="none" cap="none" strike="noStrike">
                <a:solidFill>
                  <a:schemeClr val="dk1"/>
                </a:solidFill>
                <a:latin typeface="Times New Roman"/>
                <a:ea typeface="Times New Roman"/>
                <a:cs typeface="Times New Roman"/>
                <a:sym typeface="Times New Roman"/>
              </a:rPr>
              <a:t>Causes of impairment</a:t>
            </a:r>
            <a:endParaRPr b="0" i="0" sz="1400" u="none" cap="none" strike="noStrike">
              <a:solidFill>
                <a:srgbClr val="000000"/>
              </a:solidFill>
              <a:latin typeface="Arial"/>
              <a:ea typeface="Arial"/>
              <a:cs typeface="Arial"/>
              <a:sym typeface="Arial"/>
            </a:endParaRPr>
          </a:p>
        </p:txBody>
      </p:sp>
      <p:cxnSp>
        <p:nvCxnSpPr>
          <p:cNvPr id="772" name="Google Shape;772;p37"/>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773" name="Google Shape;773;p37"/>
          <p:cNvPicPr preferRelativeResize="0"/>
          <p:nvPr/>
        </p:nvPicPr>
        <p:blipFill rotWithShape="1">
          <a:blip r:embed="rId3">
            <a:alphaModFix/>
          </a:blip>
          <a:srcRect b="0" l="0" r="0" t="0"/>
          <a:stretch/>
        </p:blipFill>
        <p:spPr>
          <a:xfrm>
            <a:off x="676275" y="2286000"/>
            <a:ext cx="7019925" cy="221773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8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779" name="Google Shape;779;p84"/>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780" name="Google Shape;780;p84"/>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781" name="Google Shape;781;p84"/>
          <p:cNvSpPr txBox="1"/>
          <p:nvPr/>
        </p:nvSpPr>
        <p:spPr>
          <a:xfrm>
            <a:off x="304800" y="381000"/>
            <a:ext cx="3048000"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Attenuation</a:t>
            </a:r>
            <a:endParaRPr b="0" i="0" sz="2800" u="none" cap="none" strike="noStrike">
              <a:solidFill>
                <a:srgbClr val="000000"/>
              </a:solidFill>
              <a:latin typeface="Arial"/>
              <a:ea typeface="Arial"/>
              <a:cs typeface="Arial"/>
              <a:sym typeface="Arial"/>
            </a:endParaRPr>
          </a:p>
        </p:txBody>
      </p:sp>
      <p:cxnSp>
        <p:nvCxnSpPr>
          <p:cNvPr id="782" name="Google Shape;782;p84"/>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sp>
        <p:nvSpPr>
          <p:cNvPr id="783" name="Google Shape;783;p84"/>
          <p:cNvSpPr/>
          <p:nvPr/>
        </p:nvSpPr>
        <p:spPr>
          <a:xfrm>
            <a:off x="217282" y="1196495"/>
            <a:ext cx="8854289" cy="107721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It means loss of energy -&gt; weaker signal</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When a </a:t>
            </a:r>
            <a:r>
              <a:rPr b="0" i="0" lang="en-US" sz="1600" u="none" cap="none" strike="noStrike">
                <a:solidFill>
                  <a:srgbClr val="00B050"/>
                </a:solidFill>
                <a:latin typeface="Times New Roman"/>
                <a:ea typeface="Times New Roman"/>
                <a:cs typeface="Times New Roman"/>
                <a:sym typeface="Times New Roman"/>
              </a:rPr>
              <a:t>signa</a:t>
            </a:r>
            <a:r>
              <a:rPr b="0" i="0" lang="en-US" sz="1600" u="none" cap="none" strike="noStrike">
                <a:solidFill>
                  <a:srgbClr val="000000"/>
                </a:solidFill>
                <a:latin typeface="Times New Roman"/>
                <a:ea typeface="Times New Roman"/>
                <a:cs typeface="Times New Roman"/>
                <a:sym typeface="Times New Roman"/>
              </a:rPr>
              <a:t>l travels through a medium it loses energy overcoming the resistance of the medium.</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This is also known as </a:t>
            </a:r>
            <a:r>
              <a:rPr b="0" i="0" lang="en-US" sz="1600" u="none" cap="none" strike="noStrike">
                <a:solidFill>
                  <a:srgbClr val="00B050"/>
                </a:solidFill>
                <a:latin typeface="Times New Roman"/>
                <a:ea typeface="Times New Roman"/>
                <a:cs typeface="Times New Roman"/>
                <a:sym typeface="Times New Roman"/>
              </a:rPr>
              <a:t>attenuated signal</a:t>
            </a:r>
            <a:r>
              <a:rPr b="0" i="0" lang="en-US" sz="16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Amplifiers are used to amplify the attenuated signal which gives the original signal back.</a:t>
            </a:r>
            <a:endParaRPr b="0" i="0" sz="1400" u="none" cap="none" strike="noStrike">
              <a:solidFill>
                <a:srgbClr val="000000"/>
              </a:solidFill>
              <a:latin typeface="Arial"/>
              <a:ea typeface="Arial"/>
              <a:cs typeface="Arial"/>
              <a:sym typeface="Arial"/>
            </a:endParaRPr>
          </a:p>
        </p:txBody>
      </p:sp>
      <p:pic>
        <p:nvPicPr>
          <p:cNvPr id="784" name="Google Shape;784;p84"/>
          <p:cNvPicPr preferRelativeResize="0"/>
          <p:nvPr/>
        </p:nvPicPr>
        <p:blipFill rotWithShape="1">
          <a:blip r:embed="rId3">
            <a:alphaModFix/>
          </a:blip>
          <a:srcRect b="0" l="0" r="0" t="0"/>
          <a:stretch/>
        </p:blipFill>
        <p:spPr>
          <a:xfrm>
            <a:off x="914400" y="3670976"/>
            <a:ext cx="7441948" cy="2422006"/>
          </a:xfrm>
          <a:prstGeom prst="rect">
            <a:avLst/>
          </a:prstGeom>
          <a:noFill/>
          <a:ln>
            <a:noFill/>
          </a:ln>
        </p:spPr>
      </p:pic>
      <p:sp>
        <p:nvSpPr>
          <p:cNvPr id="785" name="Google Shape;785;p84"/>
          <p:cNvSpPr/>
          <p:nvPr/>
        </p:nvSpPr>
        <p:spPr>
          <a:xfrm>
            <a:off x="2754979" y="3034356"/>
            <a:ext cx="1180730" cy="1105778"/>
          </a:xfrm>
          <a:prstGeom prst="wedgeEllipseCallout">
            <a:avLst>
              <a:gd fmla="val 82771" name="adj1"/>
              <a:gd fmla="val 75001" name="adj2"/>
            </a:avLst>
          </a:prstGeom>
          <a:solidFill>
            <a:schemeClr val="accent1"/>
          </a:solidFill>
          <a:ln cap="flat" cmpd="sng" w="25400">
            <a:solidFill>
              <a:srgbClr val="00A6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Arial"/>
                <a:ea typeface="Arial"/>
                <a:cs typeface="Arial"/>
                <a:sym typeface="Arial"/>
              </a:rPr>
              <a:t>Loss of energy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3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791" name="Google Shape;791;p38"/>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792" name="Google Shape;792;p38"/>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793" name="Google Shape;793;p38"/>
          <p:cNvSpPr txBox="1"/>
          <p:nvPr/>
        </p:nvSpPr>
        <p:spPr>
          <a:xfrm>
            <a:off x="304800" y="381000"/>
            <a:ext cx="30480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3.26  </a:t>
            </a:r>
            <a:r>
              <a:rPr b="1" i="1" lang="en-US" sz="2000" u="none" cap="none" strike="noStrike">
                <a:solidFill>
                  <a:schemeClr val="dk1"/>
                </a:solidFill>
                <a:latin typeface="Times New Roman"/>
                <a:ea typeface="Times New Roman"/>
                <a:cs typeface="Times New Roman"/>
                <a:sym typeface="Times New Roman"/>
              </a:rPr>
              <a:t>Attenuation</a:t>
            </a:r>
            <a:endParaRPr b="0" i="0" sz="1400" u="none" cap="none" strike="noStrike">
              <a:solidFill>
                <a:srgbClr val="000000"/>
              </a:solidFill>
              <a:latin typeface="Arial"/>
              <a:ea typeface="Arial"/>
              <a:cs typeface="Arial"/>
              <a:sym typeface="Arial"/>
            </a:endParaRPr>
          </a:p>
        </p:txBody>
      </p:sp>
      <p:cxnSp>
        <p:nvCxnSpPr>
          <p:cNvPr id="794" name="Google Shape;794;p38"/>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795" name="Google Shape;795;p38"/>
          <p:cNvPicPr preferRelativeResize="0"/>
          <p:nvPr/>
        </p:nvPicPr>
        <p:blipFill rotWithShape="1">
          <a:blip r:embed="rId3">
            <a:alphaModFix/>
          </a:blip>
          <a:srcRect b="0" l="0" r="0" t="0"/>
          <a:stretch/>
        </p:blipFill>
        <p:spPr>
          <a:xfrm>
            <a:off x="584200" y="2068512"/>
            <a:ext cx="7797800" cy="2960687"/>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3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01" name="Google Shape;801;p39"/>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2" name="Google Shape;802;p39"/>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803" name="Google Shape;803;p39"/>
          <p:cNvGrpSpPr/>
          <p:nvPr/>
        </p:nvGrpSpPr>
        <p:grpSpPr>
          <a:xfrm>
            <a:off x="490537" y="773112"/>
            <a:ext cx="738187" cy="474662"/>
            <a:chOff x="309" y="487"/>
            <a:chExt cx="465" cy="299"/>
          </a:xfrm>
        </p:grpSpPr>
        <p:sp>
          <p:nvSpPr>
            <p:cNvPr id="804" name="Google Shape;804;p39"/>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5" name="Google Shape;805;p39"/>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806" name="Google Shape;806;p39"/>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7" name="Google Shape;807;p39"/>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8" name="Google Shape;808;p39"/>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09" name="Google Shape;809;p39"/>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10" name="Google Shape;810;p39"/>
          <p:cNvSpPr txBox="1"/>
          <p:nvPr/>
        </p:nvSpPr>
        <p:spPr>
          <a:xfrm>
            <a:off x="228600" y="14478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Suppose a signal travels through a transmission medium and its power is reduced to one-half. This means that P</a:t>
            </a:r>
            <a:r>
              <a:rPr b="1" baseline="-25000" i="1" lang="en-US" sz="2800" u="none" cap="none" strike="noStrike">
                <a:solidFill>
                  <a:schemeClr val="dk1"/>
                </a:solidFill>
                <a:latin typeface="Times New Roman"/>
                <a:ea typeface="Times New Roman"/>
                <a:cs typeface="Times New Roman"/>
                <a:sym typeface="Times New Roman"/>
              </a:rPr>
              <a:t>2</a:t>
            </a:r>
            <a:r>
              <a:rPr b="1" i="1" lang="en-US" sz="2800" u="none" cap="none" strike="noStrike">
                <a:solidFill>
                  <a:schemeClr val="dk1"/>
                </a:solidFill>
                <a:latin typeface="Times New Roman"/>
                <a:ea typeface="Times New Roman"/>
                <a:cs typeface="Times New Roman"/>
                <a:sym typeface="Times New Roman"/>
              </a:rPr>
              <a:t> is (1/2)P</a:t>
            </a:r>
            <a:r>
              <a:rPr b="1" baseline="-25000" i="1" lang="en-US" sz="2800" u="none" cap="none" strike="noStrike">
                <a:solidFill>
                  <a:schemeClr val="dk1"/>
                </a:solidFill>
                <a:latin typeface="Times New Roman"/>
                <a:ea typeface="Times New Roman"/>
                <a:cs typeface="Times New Roman"/>
                <a:sym typeface="Times New Roman"/>
              </a:rPr>
              <a:t>1</a:t>
            </a:r>
            <a:r>
              <a:rPr b="1" i="1" lang="en-US" sz="2800" u="none" cap="none" strike="noStrike">
                <a:solidFill>
                  <a:schemeClr val="dk1"/>
                </a:solidFill>
                <a:latin typeface="Times New Roman"/>
                <a:ea typeface="Times New Roman"/>
                <a:cs typeface="Times New Roman"/>
                <a:sym typeface="Times New Roman"/>
              </a:rPr>
              <a:t>. In this case, the attenuation (loss of power) can be calculated as</a:t>
            </a:r>
            <a:endParaRPr b="0" i="0" sz="1400" u="none" cap="none" strike="noStrike">
              <a:solidFill>
                <a:srgbClr val="000000"/>
              </a:solidFill>
              <a:latin typeface="Arial"/>
              <a:ea typeface="Arial"/>
              <a:cs typeface="Arial"/>
              <a:sym typeface="Arial"/>
            </a:endParaRPr>
          </a:p>
        </p:txBody>
      </p:sp>
      <p:sp>
        <p:nvSpPr>
          <p:cNvPr id="811" name="Google Shape;811;p39"/>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3.26</a:t>
            </a:r>
            <a:endParaRPr b="0" i="0" sz="1400" u="none" cap="none" strike="noStrike">
              <a:solidFill>
                <a:srgbClr val="000000"/>
              </a:solidFill>
              <a:latin typeface="Arial"/>
              <a:ea typeface="Arial"/>
              <a:cs typeface="Arial"/>
              <a:sym typeface="Arial"/>
            </a:endParaRPr>
          </a:p>
        </p:txBody>
      </p:sp>
      <p:sp>
        <p:nvSpPr>
          <p:cNvPr id="812" name="Google Shape;812;p39"/>
          <p:cNvSpPr txBox="1"/>
          <p:nvPr/>
        </p:nvSpPr>
        <p:spPr>
          <a:xfrm>
            <a:off x="152400" y="530225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loss of 3 dB (–3 dB) is equivalent to losing one-half the power.</a:t>
            </a:r>
            <a:endParaRPr b="0" i="0" sz="1400" u="none" cap="none" strike="noStrike">
              <a:solidFill>
                <a:srgbClr val="000000"/>
              </a:solidFill>
              <a:latin typeface="Arial"/>
              <a:ea typeface="Arial"/>
              <a:cs typeface="Arial"/>
              <a:sym typeface="Arial"/>
            </a:endParaRPr>
          </a:p>
        </p:txBody>
      </p:sp>
      <p:pic>
        <p:nvPicPr>
          <p:cNvPr id="813" name="Google Shape;813;p39"/>
          <p:cNvPicPr preferRelativeResize="0"/>
          <p:nvPr/>
        </p:nvPicPr>
        <p:blipFill rotWithShape="1">
          <a:blip r:embed="rId3">
            <a:alphaModFix/>
          </a:blip>
          <a:srcRect b="0" l="0" r="0" t="0"/>
          <a:stretch/>
        </p:blipFill>
        <p:spPr>
          <a:xfrm>
            <a:off x="958850" y="3919537"/>
            <a:ext cx="7226300" cy="728662"/>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4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19" name="Google Shape;819;p40"/>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0" name="Google Shape;820;p40"/>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821" name="Google Shape;821;p40"/>
          <p:cNvGrpSpPr/>
          <p:nvPr/>
        </p:nvGrpSpPr>
        <p:grpSpPr>
          <a:xfrm>
            <a:off x="490537" y="773112"/>
            <a:ext cx="738187" cy="474662"/>
            <a:chOff x="309" y="487"/>
            <a:chExt cx="465" cy="299"/>
          </a:xfrm>
        </p:grpSpPr>
        <p:sp>
          <p:nvSpPr>
            <p:cNvPr id="822" name="Google Shape;822;p40"/>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3" name="Google Shape;823;p40"/>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824" name="Google Shape;824;p40"/>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5" name="Google Shape;825;p40"/>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6" name="Google Shape;826;p40"/>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7" name="Google Shape;827;p4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28" name="Google Shape;828;p40"/>
          <p:cNvSpPr txBox="1"/>
          <p:nvPr/>
        </p:nvSpPr>
        <p:spPr>
          <a:xfrm>
            <a:off x="228600" y="14478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signal travels through an amplifier, and its power is increased 10 times. This means that P</a:t>
            </a:r>
            <a:r>
              <a:rPr b="1" baseline="-25000" i="1" lang="en-US" sz="2800" u="none" cap="none" strike="noStrike">
                <a:solidFill>
                  <a:schemeClr val="dk1"/>
                </a:solidFill>
                <a:latin typeface="Times New Roman"/>
                <a:ea typeface="Times New Roman"/>
                <a:cs typeface="Times New Roman"/>
                <a:sym typeface="Times New Roman"/>
              </a:rPr>
              <a:t>2</a:t>
            </a:r>
            <a:r>
              <a:rPr b="1" i="1" lang="en-US" sz="2800" u="none" cap="none" strike="noStrike">
                <a:solidFill>
                  <a:schemeClr val="dk1"/>
                </a:solidFill>
                <a:latin typeface="Times New Roman"/>
                <a:ea typeface="Times New Roman"/>
                <a:cs typeface="Times New Roman"/>
                <a:sym typeface="Times New Roman"/>
              </a:rPr>
              <a:t> = 10P</a:t>
            </a:r>
            <a:r>
              <a:rPr b="1" baseline="-25000" i="1" lang="en-US" sz="2800" u="none" cap="none" strike="noStrike">
                <a:solidFill>
                  <a:schemeClr val="dk1"/>
                </a:solidFill>
                <a:latin typeface="Times New Roman"/>
                <a:ea typeface="Times New Roman"/>
                <a:cs typeface="Times New Roman"/>
                <a:sym typeface="Times New Roman"/>
              </a:rPr>
              <a:t>1 </a:t>
            </a:r>
            <a:r>
              <a:rPr b="1" i="1" lang="en-US" sz="2800" u="none" cap="none" strike="noStrike">
                <a:solidFill>
                  <a:schemeClr val="dk1"/>
                </a:solidFill>
                <a:latin typeface="Times New Roman"/>
                <a:ea typeface="Times New Roman"/>
                <a:cs typeface="Times New Roman"/>
                <a:sym typeface="Times New Roman"/>
              </a:rPr>
              <a:t>. In this case, the amplification (gain of power) can be calculated as</a:t>
            </a:r>
            <a:endParaRPr b="0" i="0" sz="1400" u="none" cap="none" strike="noStrike">
              <a:solidFill>
                <a:srgbClr val="000000"/>
              </a:solidFill>
              <a:latin typeface="Arial"/>
              <a:ea typeface="Arial"/>
              <a:cs typeface="Arial"/>
              <a:sym typeface="Arial"/>
            </a:endParaRPr>
          </a:p>
        </p:txBody>
      </p:sp>
      <p:sp>
        <p:nvSpPr>
          <p:cNvPr id="829" name="Google Shape;829;p40"/>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3.27</a:t>
            </a:r>
            <a:endParaRPr b="0" i="0" sz="1400" u="none" cap="none" strike="noStrike">
              <a:solidFill>
                <a:srgbClr val="000000"/>
              </a:solidFill>
              <a:latin typeface="Arial"/>
              <a:ea typeface="Arial"/>
              <a:cs typeface="Arial"/>
              <a:sym typeface="Arial"/>
            </a:endParaRPr>
          </a:p>
        </p:txBody>
      </p:sp>
      <p:pic>
        <p:nvPicPr>
          <p:cNvPr id="830" name="Google Shape;830;p40"/>
          <p:cNvPicPr preferRelativeResize="0"/>
          <p:nvPr/>
        </p:nvPicPr>
        <p:blipFill rotWithShape="1">
          <a:blip r:embed="rId3">
            <a:alphaModFix/>
          </a:blip>
          <a:srcRect b="0" l="0" r="0" t="0"/>
          <a:stretch/>
        </p:blipFill>
        <p:spPr>
          <a:xfrm>
            <a:off x="2867025" y="3352800"/>
            <a:ext cx="3409950" cy="819150"/>
          </a:xfrm>
          <a:prstGeom prst="rect">
            <a:avLst/>
          </a:prstGeom>
          <a:noFill/>
          <a:ln cap="flat" cmpd="thinThick" w="57150">
            <a:solidFill>
              <a:srgbClr val="3366FF"/>
            </a:solidFill>
            <a:prstDash val="solid"/>
            <a:miter lim="800000"/>
            <a:headEnd len="sm" w="sm" type="none"/>
            <a:tailEnd len="sm" w="sm" type="none"/>
          </a:ln>
        </p:spPr>
      </p:pic>
      <p:pic>
        <p:nvPicPr>
          <p:cNvPr id="831" name="Google Shape;831;p40"/>
          <p:cNvPicPr preferRelativeResize="0"/>
          <p:nvPr/>
        </p:nvPicPr>
        <p:blipFill rotWithShape="1">
          <a:blip r:embed="rId4">
            <a:alphaModFix/>
          </a:blip>
          <a:srcRect b="0" l="0" r="0" t="0"/>
          <a:stretch/>
        </p:blipFill>
        <p:spPr>
          <a:xfrm>
            <a:off x="2847975" y="4398962"/>
            <a:ext cx="3446462" cy="630237"/>
          </a:xfrm>
          <a:prstGeom prst="rect">
            <a:avLst/>
          </a:prstGeom>
          <a:noFill/>
          <a:ln cap="flat" cmpd="thinThick" w="57150">
            <a:solidFill>
              <a:srgbClr val="3366FF"/>
            </a:solidFill>
            <a:prstDash val="solid"/>
            <a:miter lim="800000"/>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4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37" name="Google Shape;837;p41"/>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38" name="Google Shape;838;p41"/>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839" name="Google Shape;839;p41"/>
          <p:cNvGrpSpPr/>
          <p:nvPr/>
        </p:nvGrpSpPr>
        <p:grpSpPr>
          <a:xfrm>
            <a:off x="490537" y="773112"/>
            <a:ext cx="738187" cy="474662"/>
            <a:chOff x="309" y="487"/>
            <a:chExt cx="465" cy="299"/>
          </a:xfrm>
        </p:grpSpPr>
        <p:sp>
          <p:nvSpPr>
            <p:cNvPr id="840" name="Google Shape;840;p41"/>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1" name="Google Shape;841;p41"/>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842" name="Google Shape;842;p41"/>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3" name="Google Shape;843;p41"/>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4" name="Google Shape;844;p41"/>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5" name="Google Shape;845;p41"/>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46" name="Google Shape;846;p41"/>
          <p:cNvSpPr txBox="1"/>
          <p:nvPr/>
        </p:nvSpPr>
        <p:spPr>
          <a:xfrm>
            <a:off x="228600" y="12954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One reason that engineers use the decibel to measure the changes in the strength of a signal is that decibel numbers can be added (or subtracted) when we are measuring several points (cascading) instead of just two. In Figure 3.27 a signal travels from point 1 to point 4. In this case, the decibel value can be calculated as</a:t>
            </a:r>
            <a:endParaRPr b="0" i="0" sz="1400" u="none" cap="none" strike="noStrike">
              <a:solidFill>
                <a:srgbClr val="000000"/>
              </a:solidFill>
              <a:latin typeface="Arial"/>
              <a:ea typeface="Arial"/>
              <a:cs typeface="Arial"/>
              <a:sym typeface="Arial"/>
            </a:endParaRPr>
          </a:p>
        </p:txBody>
      </p:sp>
      <p:sp>
        <p:nvSpPr>
          <p:cNvPr id="847" name="Google Shape;847;p41"/>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3.28</a:t>
            </a:r>
            <a:endParaRPr b="0" i="0" sz="1400" u="none" cap="none" strike="noStrike">
              <a:solidFill>
                <a:srgbClr val="000000"/>
              </a:solidFill>
              <a:latin typeface="Arial"/>
              <a:ea typeface="Arial"/>
              <a:cs typeface="Arial"/>
              <a:sym typeface="Arial"/>
            </a:endParaRPr>
          </a:p>
        </p:txBody>
      </p:sp>
      <p:pic>
        <p:nvPicPr>
          <p:cNvPr id="848" name="Google Shape;848;p41"/>
          <p:cNvPicPr preferRelativeResize="0"/>
          <p:nvPr/>
        </p:nvPicPr>
        <p:blipFill rotWithShape="1">
          <a:blip r:embed="rId3">
            <a:alphaModFix/>
          </a:blip>
          <a:srcRect b="0" l="0" r="0" t="0"/>
          <a:stretch/>
        </p:blipFill>
        <p:spPr>
          <a:xfrm>
            <a:off x="2590800" y="4267200"/>
            <a:ext cx="3821112" cy="431800"/>
          </a:xfrm>
          <a:prstGeom prst="rect">
            <a:avLst/>
          </a:prstGeom>
          <a:noFill/>
          <a:ln cap="flat" cmpd="thinThick" w="57150">
            <a:solidFill>
              <a:srgbClr val="3366FF"/>
            </a:solidFill>
            <a:prstDash val="solid"/>
            <a:miter lim="800000"/>
            <a:headEnd len="sm" w="sm" type="none"/>
            <a:tailEnd len="sm" w="sm" type="none"/>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4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854" name="Google Shape;854;p42"/>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855" name="Google Shape;855;p42"/>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856" name="Google Shape;856;p42"/>
          <p:cNvSpPr txBox="1"/>
          <p:nvPr/>
        </p:nvSpPr>
        <p:spPr>
          <a:xfrm>
            <a:off x="304800" y="381000"/>
            <a:ext cx="45704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3.27  </a:t>
            </a:r>
            <a:r>
              <a:rPr b="1" i="1" lang="en-US" sz="2000" u="none" cap="none" strike="noStrike">
                <a:solidFill>
                  <a:schemeClr val="dk1"/>
                </a:solidFill>
                <a:latin typeface="Times New Roman"/>
                <a:ea typeface="Times New Roman"/>
                <a:cs typeface="Times New Roman"/>
                <a:sym typeface="Times New Roman"/>
              </a:rPr>
              <a:t>Decibels for Example 3.28</a:t>
            </a:r>
            <a:endParaRPr b="0" i="0" sz="1400" u="none" cap="none" strike="noStrike">
              <a:solidFill>
                <a:srgbClr val="000000"/>
              </a:solidFill>
              <a:latin typeface="Arial"/>
              <a:ea typeface="Arial"/>
              <a:cs typeface="Arial"/>
              <a:sym typeface="Arial"/>
            </a:endParaRPr>
          </a:p>
        </p:txBody>
      </p:sp>
      <p:cxnSp>
        <p:nvCxnSpPr>
          <p:cNvPr id="857" name="Google Shape;857;p42"/>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858" name="Google Shape;858;p42"/>
          <p:cNvPicPr preferRelativeResize="0"/>
          <p:nvPr/>
        </p:nvPicPr>
        <p:blipFill rotWithShape="1">
          <a:blip r:embed="rId3">
            <a:alphaModFix/>
          </a:blip>
          <a:srcRect b="0" l="0" r="0" t="0"/>
          <a:stretch/>
        </p:blipFill>
        <p:spPr>
          <a:xfrm>
            <a:off x="152400" y="2209800"/>
            <a:ext cx="8766175" cy="2338387"/>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8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64" name="Google Shape;864;p85"/>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5" name="Google Shape;865;p85"/>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866" name="Google Shape;866;p85"/>
          <p:cNvGrpSpPr/>
          <p:nvPr/>
        </p:nvGrpSpPr>
        <p:grpSpPr>
          <a:xfrm>
            <a:off x="490537" y="773112"/>
            <a:ext cx="738187" cy="474662"/>
            <a:chOff x="309" y="487"/>
            <a:chExt cx="465" cy="299"/>
          </a:xfrm>
        </p:grpSpPr>
        <p:sp>
          <p:nvSpPr>
            <p:cNvPr id="867" name="Google Shape;867;p85"/>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68" name="Google Shape;868;p85"/>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869" name="Google Shape;869;p85"/>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70" name="Google Shape;870;p85"/>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71" name="Google Shape;871;p85"/>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72" name="Google Shape;872;p85"/>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73" name="Google Shape;873;p85"/>
          <p:cNvSpPr txBox="1"/>
          <p:nvPr/>
        </p:nvSpPr>
        <p:spPr>
          <a:xfrm>
            <a:off x="228600" y="1447800"/>
            <a:ext cx="8534400" cy="483205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A fiber-optic communication system transmits data from a source to a destination 12 km away. The input power at the transmitter is 5 mW, and the attenuation coefficient of the fiber is 0.2 dB/km. </a:t>
            </a:r>
            <a:endParaRPr b="0" i="0" sz="1400" u="none" cap="none" strike="noStrike">
              <a:solidFill>
                <a:srgbClr val="000000"/>
              </a:solidFill>
              <a:latin typeface="Arial"/>
              <a:ea typeface="Arial"/>
              <a:cs typeface="Arial"/>
              <a:sym typeface="Arial"/>
            </a:endParaRPr>
          </a:p>
          <a:p>
            <a:pPr indent="-514350" lvl="0" marL="514350" marR="0" rtl="0" algn="just">
              <a:lnSpc>
                <a:spcPct val="100000"/>
              </a:lnSpc>
              <a:spcBef>
                <a:spcPts val="0"/>
              </a:spcBef>
              <a:spcAft>
                <a:spcPts val="0"/>
              </a:spcAft>
              <a:buClr>
                <a:schemeClr val="dk1"/>
              </a:buClr>
              <a:buSzPts val="2800"/>
              <a:buFont typeface="Arial"/>
              <a:buAutoNum type="alphaUcParenBoth"/>
            </a:pPr>
            <a:r>
              <a:rPr b="1" i="1" lang="en-US" sz="2800" u="none" cap="none" strike="noStrike">
                <a:solidFill>
                  <a:schemeClr val="dk1"/>
                </a:solidFill>
                <a:latin typeface="Times New Roman"/>
                <a:ea typeface="Times New Roman"/>
                <a:cs typeface="Times New Roman"/>
                <a:sym typeface="Times New Roman"/>
              </a:rPr>
              <a:t>Find the total attenuation (in dB) over the 12 km fiber length. </a:t>
            </a:r>
            <a:endParaRPr b="0" i="0" sz="1400" u="none" cap="none" strike="noStrike">
              <a:solidFill>
                <a:srgbClr val="000000"/>
              </a:solidFill>
              <a:latin typeface="Arial"/>
              <a:ea typeface="Arial"/>
              <a:cs typeface="Arial"/>
              <a:sym typeface="Arial"/>
            </a:endParaRPr>
          </a:p>
          <a:p>
            <a:pPr indent="-514350" lvl="0" marL="514350" marR="0" rtl="0" algn="just">
              <a:lnSpc>
                <a:spcPct val="100000"/>
              </a:lnSpc>
              <a:spcBef>
                <a:spcPts val="0"/>
              </a:spcBef>
              <a:spcAft>
                <a:spcPts val="0"/>
              </a:spcAft>
              <a:buClr>
                <a:schemeClr val="dk1"/>
              </a:buClr>
              <a:buSzPts val="2800"/>
              <a:buFont typeface="Arial"/>
              <a:buAutoNum type="alphaUcParenBoth"/>
            </a:pPr>
            <a:r>
              <a:rPr b="1" i="1" lang="en-US" sz="2800" u="none" cap="none" strike="noStrike">
                <a:solidFill>
                  <a:schemeClr val="dk1"/>
                </a:solidFill>
                <a:latin typeface="Times New Roman"/>
                <a:ea typeface="Times New Roman"/>
                <a:cs typeface="Times New Roman"/>
                <a:sym typeface="Times New Roman"/>
              </a:rPr>
              <a:t> Calculate the output power (in mW) at the receiver.</a:t>
            </a:r>
            <a:endParaRPr b="0" i="0" sz="1400" u="none" cap="none" strike="noStrike">
              <a:solidFill>
                <a:srgbClr val="000000"/>
              </a:solidFill>
              <a:latin typeface="Arial"/>
              <a:ea typeface="Arial"/>
              <a:cs typeface="Arial"/>
              <a:sym typeface="Arial"/>
            </a:endParaRPr>
          </a:p>
          <a:p>
            <a:pPr indent="-336550" lvl="0" marL="514350" marR="0" rtl="0" algn="just">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(A) Total attenuation over 12 km fiber length = 0.2*12   = 2.4 dB</a:t>
            </a:r>
            <a:endParaRPr b="0" i="0" sz="1400" u="none" cap="none" strike="noStrike">
              <a:solidFill>
                <a:srgbClr val="000000"/>
              </a:solidFill>
              <a:latin typeface="Arial"/>
              <a:ea typeface="Arial"/>
              <a:cs typeface="Arial"/>
              <a:sym typeface="Arial"/>
            </a:endParaRPr>
          </a:p>
        </p:txBody>
      </p:sp>
      <p:sp>
        <p:nvSpPr>
          <p:cNvPr id="874" name="Google Shape;874;p85"/>
          <p:cNvSpPr txBox="1"/>
          <p:nvPr/>
        </p:nvSpPr>
        <p:spPr>
          <a:xfrm>
            <a:off x="1142999" y="182562"/>
            <a:ext cx="4317521"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2800" u="none" cap="none" strike="noStrike">
                <a:solidFill>
                  <a:schemeClr val="hlink"/>
                </a:solidFill>
                <a:latin typeface="Times New Roman"/>
                <a:ea typeface="Times New Roman"/>
                <a:cs typeface="Times New Roman"/>
                <a:sym typeface="Times New Roman"/>
              </a:rPr>
              <a:t>Example : Attenuation</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8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880" name="Google Shape;880;p86"/>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1" name="Google Shape;881;p86"/>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882" name="Google Shape;882;p86"/>
          <p:cNvGrpSpPr/>
          <p:nvPr/>
        </p:nvGrpSpPr>
        <p:grpSpPr>
          <a:xfrm>
            <a:off x="490537" y="773112"/>
            <a:ext cx="738187" cy="474662"/>
            <a:chOff x="309" y="487"/>
            <a:chExt cx="465" cy="299"/>
          </a:xfrm>
        </p:grpSpPr>
        <p:sp>
          <p:nvSpPr>
            <p:cNvPr id="883" name="Google Shape;883;p86"/>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4" name="Google Shape;884;p86"/>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885" name="Google Shape;885;p86"/>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6" name="Google Shape;886;p86"/>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7" name="Google Shape;887;p86"/>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8" name="Google Shape;888;p86"/>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889" name="Google Shape;889;p86"/>
          <p:cNvSpPr txBox="1"/>
          <p:nvPr/>
        </p:nvSpPr>
        <p:spPr>
          <a:xfrm>
            <a:off x="228600" y="1447800"/>
            <a:ext cx="8534400" cy="2487500"/>
          </a:xfrm>
          <a:prstGeom prst="rect">
            <a:avLst/>
          </a:prstGeom>
          <a:blipFill rotWithShape="1">
            <a:blip r:embed="rId3">
              <a:alphaModFix/>
            </a:blip>
            <a:stretch>
              <a:fillRect b="-5876" l="-1495" r="0" t="-269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890" name="Google Shape;890;p86"/>
          <p:cNvSpPr txBox="1"/>
          <p:nvPr/>
        </p:nvSpPr>
        <p:spPr>
          <a:xfrm>
            <a:off x="1142999" y="182562"/>
            <a:ext cx="5111151"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hlink"/>
                </a:solidFill>
                <a:latin typeface="Times New Roman"/>
                <a:ea typeface="Times New Roman"/>
                <a:cs typeface="Times New Roman"/>
                <a:sym typeface="Times New Roman"/>
              </a:rPr>
              <a:t>Example : Attenuation</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87"/>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sp>
        <p:nvSpPr>
          <p:cNvPr id="897" name="Google Shape;897;p87"/>
          <p:cNvSpPr/>
          <p:nvPr/>
        </p:nvSpPr>
        <p:spPr>
          <a:xfrm>
            <a:off x="366713" y="350838"/>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898" name="Google Shape;898;p87"/>
          <p:cNvSpPr/>
          <p:nvPr/>
        </p:nvSpPr>
        <p:spPr>
          <a:xfrm>
            <a:off x="749300" y="350838"/>
            <a:ext cx="328613"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grpSp>
        <p:nvGrpSpPr>
          <p:cNvPr id="899" name="Google Shape;899;p87"/>
          <p:cNvGrpSpPr/>
          <p:nvPr/>
        </p:nvGrpSpPr>
        <p:grpSpPr>
          <a:xfrm>
            <a:off x="490538" y="773113"/>
            <a:ext cx="738187" cy="474662"/>
            <a:chOff x="309" y="487"/>
            <a:chExt cx="465" cy="299"/>
          </a:xfrm>
        </p:grpSpPr>
        <p:sp>
          <p:nvSpPr>
            <p:cNvPr id="900" name="Google Shape;900;p87"/>
            <p:cNvSpPr/>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901" name="Google Shape;901;p87"/>
            <p:cNvSpPr/>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grpSp>
      <p:sp>
        <p:nvSpPr>
          <p:cNvPr id="902" name="Google Shape;902;p87"/>
          <p:cNvSpPr/>
          <p:nvPr/>
        </p:nvSpPr>
        <p:spPr>
          <a:xfrm>
            <a:off x="76200" y="700088"/>
            <a:ext cx="560388"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903" name="Google Shape;903;p87"/>
          <p:cNvSpPr/>
          <p:nvPr/>
        </p:nvSpPr>
        <p:spPr>
          <a:xfrm>
            <a:off x="711200" y="242888"/>
            <a:ext cx="31750" cy="1052512"/>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904" name="Google Shape;904;p87"/>
          <p:cNvSpPr/>
          <p:nvPr/>
        </p:nvSpPr>
        <p:spPr>
          <a:xfrm>
            <a:off x="442913" y="773113"/>
            <a:ext cx="8226425" cy="3175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ahoma"/>
              <a:ea typeface="Tahoma"/>
              <a:cs typeface="Tahoma"/>
              <a:sym typeface="Tahoma"/>
            </a:endParaRPr>
          </a:p>
        </p:txBody>
      </p:sp>
      <p:sp>
        <p:nvSpPr>
          <p:cNvPr id="905" name="Google Shape;905;p87"/>
          <p:cNvSpPr/>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06" name="Google Shape;906;p87"/>
          <p:cNvSpPr/>
          <p:nvPr/>
        </p:nvSpPr>
        <p:spPr>
          <a:xfrm>
            <a:off x="228600" y="1143000"/>
            <a:ext cx="8534400" cy="308133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The loss in a cable is usually defined in decibels per kilometer (dB/km). If the signal at the beginning of a cable with −0.3 dB/km has a power of 2 mW, what is the power of the signal at 5 km?</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The loss in the cable in decibels is 5 × (−0.3) = −1.5 dB. We can calculate the power as</a:t>
            </a:r>
            <a:endParaRPr b="0" i="0" sz="1400" u="none" cap="none" strike="noStrike">
              <a:solidFill>
                <a:srgbClr val="000000"/>
              </a:solidFill>
              <a:latin typeface="Arial"/>
              <a:ea typeface="Arial"/>
              <a:cs typeface="Arial"/>
              <a:sym typeface="Arial"/>
            </a:endParaRPr>
          </a:p>
        </p:txBody>
      </p:sp>
      <p:sp>
        <p:nvSpPr>
          <p:cNvPr id="907" name="Google Shape;907;p87"/>
          <p:cNvSpPr txBox="1"/>
          <p:nvPr/>
        </p:nvSpPr>
        <p:spPr>
          <a:xfrm>
            <a:off x="1143000" y="182563"/>
            <a:ext cx="2487613"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1" lang="en-US" sz="3200" u="none" cap="none" strike="noStrike">
                <a:solidFill>
                  <a:schemeClr val="hlink"/>
                </a:solidFill>
                <a:latin typeface="Times New Roman"/>
                <a:ea typeface="Times New Roman"/>
                <a:cs typeface="Times New Roman"/>
                <a:sym typeface="Times New Roman"/>
              </a:rPr>
              <a:t>Example 3.30</a:t>
            </a:r>
            <a:endParaRPr b="0" i="0" sz="1400" u="none" cap="none" strike="noStrike">
              <a:solidFill>
                <a:srgbClr val="000000"/>
              </a:solidFill>
              <a:latin typeface="Arial"/>
              <a:ea typeface="Arial"/>
              <a:cs typeface="Arial"/>
              <a:sym typeface="Arial"/>
            </a:endParaRPr>
          </a:p>
        </p:txBody>
      </p:sp>
      <p:pic>
        <p:nvPicPr>
          <p:cNvPr id="908" name="Google Shape;908;p87"/>
          <p:cNvPicPr preferRelativeResize="0"/>
          <p:nvPr/>
        </p:nvPicPr>
        <p:blipFill rotWithShape="1">
          <a:blip r:embed="rId3">
            <a:alphaModFix/>
          </a:blip>
          <a:srcRect b="0" l="0" r="0" t="0"/>
          <a:stretch/>
        </p:blipFill>
        <p:spPr>
          <a:xfrm>
            <a:off x="2560638" y="4343400"/>
            <a:ext cx="4022725" cy="1898650"/>
          </a:xfrm>
          <a:prstGeom prst="rect">
            <a:avLst/>
          </a:prstGeom>
          <a:noFill/>
          <a:ln cap="flat" cmpd="thinThick" w="57150">
            <a:solidFill>
              <a:srgbClr val="3366FF"/>
            </a:solidFill>
            <a:prstDash val="solid"/>
            <a:miter lim="800000"/>
            <a:headEnd len="sm" w="sm" type="none"/>
            <a:tailEnd len="sm" w="sm" type="none"/>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8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914" name="Google Shape;914;p88"/>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915" name="Google Shape;915;p88"/>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916" name="Google Shape;916;p88"/>
          <p:cNvSpPr txBox="1"/>
          <p:nvPr/>
        </p:nvSpPr>
        <p:spPr>
          <a:xfrm>
            <a:off x="304800" y="381000"/>
            <a:ext cx="4181742"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800" u="none" cap="none" strike="noStrike">
                <a:solidFill>
                  <a:schemeClr val="dk1"/>
                </a:solidFill>
                <a:latin typeface="Times New Roman"/>
                <a:ea typeface="Times New Roman"/>
                <a:cs typeface="Times New Roman"/>
                <a:sym typeface="Times New Roman"/>
              </a:rPr>
              <a:t>Distortion</a:t>
            </a:r>
            <a:endParaRPr b="0" i="0" sz="2800" u="none" cap="none" strike="noStrike">
              <a:solidFill>
                <a:srgbClr val="000000"/>
              </a:solidFill>
              <a:latin typeface="Arial"/>
              <a:ea typeface="Arial"/>
              <a:cs typeface="Arial"/>
              <a:sym typeface="Arial"/>
            </a:endParaRPr>
          </a:p>
        </p:txBody>
      </p:sp>
      <p:cxnSp>
        <p:nvCxnSpPr>
          <p:cNvPr id="917" name="Google Shape;917;p88"/>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918" name="Google Shape;918;p88"/>
          <p:cNvPicPr preferRelativeResize="0"/>
          <p:nvPr/>
        </p:nvPicPr>
        <p:blipFill rotWithShape="1">
          <a:blip r:embed="rId3">
            <a:alphaModFix/>
          </a:blip>
          <a:srcRect b="0" l="0" r="0" t="0"/>
          <a:stretch/>
        </p:blipFill>
        <p:spPr>
          <a:xfrm>
            <a:off x="525100" y="3874882"/>
            <a:ext cx="8053055" cy="2217343"/>
          </a:xfrm>
          <a:prstGeom prst="rect">
            <a:avLst/>
          </a:prstGeom>
          <a:noFill/>
          <a:ln>
            <a:noFill/>
          </a:ln>
        </p:spPr>
      </p:pic>
      <p:sp>
        <p:nvSpPr>
          <p:cNvPr id="919" name="Google Shape;919;p88"/>
          <p:cNvSpPr/>
          <p:nvPr/>
        </p:nvSpPr>
        <p:spPr>
          <a:xfrm>
            <a:off x="3304515" y="2651700"/>
            <a:ext cx="1544276" cy="598494"/>
          </a:xfrm>
          <a:prstGeom prst="wedgeEllipseCallout">
            <a:avLst>
              <a:gd fmla="val 55639" name="adj1"/>
              <a:gd fmla="val 304842" name="adj2"/>
            </a:avLst>
          </a:prstGeom>
          <a:solidFill>
            <a:schemeClr val="accent1"/>
          </a:solidFill>
          <a:ln cap="flat" cmpd="sng" w="25400">
            <a:solidFill>
              <a:srgbClr val="00A6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FFFFFF"/>
                </a:solidFill>
                <a:latin typeface="Arial"/>
                <a:ea typeface="Arial"/>
                <a:cs typeface="Arial"/>
                <a:sym typeface="Arial"/>
              </a:rPr>
              <a:t>changes in the form or shape of the signal</a:t>
            </a:r>
            <a:endParaRPr b="0" i="0" sz="1100" u="none" cap="none" strike="noStrike">
              <a:solidFill>
                <a:schemeClr val="lt1"/>
              </a:solidFill>
              <a:latin typeface="Arial"/>
              <a:ea typeface="Arial"/>
              <a:cs typeface="Arial"/>
              <a:sym typeface="Arial"/>
            </a:endParaRPr>
          </a:p>
        </p:txBody>
      </p:sp>
      <p:sp>
        <p:nvSpPr>
          <p:cNvPr id="920" name="Google Shape;920;p88"/>
          <p:cNvSpPr/>
          <p:nvPr/>
        </p:nvSpPr>
        <p:spPr>
          <a:xfrm>
            <a:off x="221809" y="1050041"/>
            <a:ext cx="8831655" cy="1421928"/>
          </a:xfrm>
          <a:prstGeom prst="rect">
            <a:avLst/>
          </a:prstGeom>
          <a:noFill/>
          <a:ln>
            <a:noFill/>
          </a:ln>
        </p:spPr>
        <p:txBody>
          <a:bodyPr anchorCtr="0" anchor="t" bIns="45700" lIns="91425" spcFirstLastPara="1" rIns="91425" wrap="square" tIns="45700">
            <a:spAutoFit/>
          </a:bodyPr>
          <a:lstStyle/>
          <a:p>
            <a:pPr indent="-285750" lvl="0" marL="285750" marR="0" rtl="0" algn="l">
              <a:lnSpc>
                <a:spcPct val="9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It means change in the </a:t>
            </a:r>
            <a:r>
              <a:rPr b="0" i="0" lang="en-US" sz="1600" u="none" cap="none" strike="noStrike">
                <a:solidFill>
                  <a:srgbClr val="FF0000"/>
                </a:solidFill>
                <a:latin typeface="Times New Roman"/>
                <a:ea typeface="Times New Roman"/>
                <a:cs typeface="Times New Roman"/>
                <a:sym typeface="Times New Roman"/>
              </a:rPr>
              <a:t>shape</a:t>
            </a:r>
            <a:r>
              <a:rPr b="0" i="0" lang="en-US" sz="1600" u="none" cap="none" strike="noStrike">
                <a:solidFill>
                  <a:srgbClr val="000000"/>
                </a:solidFill>
                <a:latin typeface="Times New Roman"/>
                <a:ea typeface="Times New Roman"/>
                <a:cs typeface="Times New Roman"/>
                <a:sym typeface="Times New Roman"/>
              </a:rPr>
              <a:t> of signal.</a:t>
            </a:r>
            <a:endParaRPr b="0" i="0" sz="1400" u="none" cap="none" strike="noStrike">
              <a:solidFill>
                <a:srgbClr val="000000"/>
              </a:solidFill>
              <a:latin typeface="Arial"/>
              <a:ea typeface="Arial"/>
              <a:cs typeface="Arial"/>
              <a:sym typeface="Arial"/>
            </a:endParaRPr>
          </a:p>
          <a:p>
            <a:pPr indent="-285750" lvl="0" marL="285750" marR="0" rtl="0" algn="l">
              <a:lnSpc>
                <a:spcPct val="9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Distortion occurs in </a:t>
            </a:r>
            <a:r>
              <a:rPr b="0" i="0" lang="en-US" sz="1600" u="none" cap="none" strike="noStrike">
                <a:solidFill>
                  <a:schemeClr val="hlink"/>
                </a:solidFill>
                <a:latin typeface="Times New Roman"/>
                <a:ea typeface="Times New Roman"/>
                <a:cs typeface="Times New Roman"/>
                <a:sym typeface="Times New Roman"/>
              </a:rPr>
              <a:t>composite</a:t>
            </a:r>
            <a:r>
              <a:rPr b="0" i="0" lang="en-US" sz="1600" u="none" cap="none" strike="noStrike">
                <a:solidFill>
                  <a:srgbClr val="000000"/>
                </a:solidFill>
                <a:latin typeface="Times New Roman"/>
                <a:ea typeface="Times New Roman"/>
                <a:cs typeface="Times New Roman"/>
                <a:sym typeface="Times New Roman"/>
              </a:rPr>
              <a:t> signals with different frequencies.</a:t>
            </a:r>
            <a:endParaRPr b="0" i="0" sz="1400" u="none" cap="none" strike="noStrike">
              <a:solidFill>
                <a:srgbClr val="000000"/>
              </a:solidFill>
              <a:latin typeface="Arial"/>
              <a:ea typeface="Arial"/>
              <a:cs typeface="Arial"/>
              <a:sym typeface="Arial"/>
            </a:endParaRPr>
          </a:p>
          <a:p>
            <a:pPr indent="-285750" lvl="0" marL="285750" marR="0" rtl="0" algn="l">
              <a:lnSpc>
                <a:spcPct val="9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Each frequency component has its own </a:t>
            </a:r>
            <a:r>
              <a:rPr b="0" i="0" lang="en-US" sz="1600" u="none" cap="none" strike="noStrike">
                <a:solidFill>
                  <a:schemeClr val="hlink"/>
                </a:solidFill>
                <a:latin typeface="Times New Roman"/>
                <a:ea typeface="Times New Roman"/>
                <a:cs typeface="Times New Roman"/>
                <a:sym typeface="Times New Roman"/>
              </a:rPr>
              <a:t>propagation speed</a:t>
            </a:r>
            <a:r>
              <a:rPr b="0" i="0" lang="en-US" sz="1600" u="none" cap="none" strike="noStrike">
                <a:solidFill>
                  <a:srgbClr val="000000"/>
                </a:solidFill>
                <a:latin typeface="Times New Roman"/>
                <a:ea typeface="Times New Roman"/>
                <a:cs typeface="Times New Roman"/>
                <a:sym typeface="Times New Roman"/>
              </a:rPr>
              <a:t> traveling through a medium.</a:t>
            </a:r>
            <a:endParaRPr b="0" i="0" sz="1400" u="none" cap="none" strike="noStrike">
              <a:solidFill>
                <a:srgbClr val="000000"/>
              </a:solidFill>
              <a:latin typeface="Arial"/>
              <a:ea typeface="Arial"/>
              <a:cs typeface="Arial"/>
              <a:sym typeface="Arial"/>
            </a:endParaRPr>
          </a:p>
          <a:p>
            <a:pPr indent="-285750" lvl="0" marL="285750" marR="0" rtl="0" algn="l">
              <a:lnSpc>
                <a:spcPct val="9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The different components therefore arrive with </a:t>
            </a:r>
            <a:r>
              <a:rPr b="0" i="0" lang="en-US" sz="1600" u="none" cap="none" strike="noStrike">
                <a:solidFill>
                  <a:schemeClr val="hlink"/>
                </a:solidFill>
                <a:latin typeface="Times New Roman"/>
                <a:ea typeface="Times New Roman"/>
                <a:cs typeface="Times New Roman"/>
                <a:sym typeface="Times New Roman"/>
              </a:rPr>
              <a:t>different delays</a:t>
            </a:r>
            <a:r>
              <a:rPr b="0" i="0" lang="en-US" sz="1600" u="none" cap="none" strike="noStrike">
                <a:solidFill>
                  <a:srgbClr val="000000"/>
                </a:solidFill>
                <a:latin typeface="Times New Roman"/>
                <a:ea typeface="Times New Roman"/>
                <a:cs typeface="Times New Roman"/>
                <a:sym typeface="Times New Roman"/>
              </a:rPr>
              <a:t> at the receiver.</a:t>
            </a:r>
            <a:endParaRPr b="0" i="0" sz="1400" u="none" cap="none" strike="noStrike">
              <a:solidFill>
                <a:srgbClr val="000000"/>
              </a:solidFill>
              <a:latin typeface="Arial"/>
              <a:ea typeface="Arial"/>
              <a:cs typeface="Arial"/>
              <a:sym typeface="Arial"/>
            </a:endParaRPr>
          </a:p>
          <a:p>
            <a:pPr indent="-285750" lvl="0" marL="285750" marR="0" rtl="0" algn="l">
              <a:lnSpc>
                <a:spcPct val="90000"/>
              </a:lnSpc>
              <a:spcBef>
                <a:spcPts val="0"/>
              </a:spcBef>
              <a:spcAft>
                <a:spcPts val="0"/>
              </a:spcAft>
              <a:buClr>
                <a:srgbClr val="000000"/>
              </a:buClr>
              <a:buSzPts val="1600"/>
              <a:buFont typeface="Arial"/>
              <a:buChar char="•"/>
            </a:pPr>
            <a:r>
              <a:rPr b="0" i="0" lang="en-US" sz="1600" u="none" cap="none" strike="noStrike">
                <a:solidFill>
                  <a:srgbClr val="000000"/>
                </a:solidFill>
                <a:latin typeface="Times New Roman"/>
                <a:ea typeface="Times New Roman"/>
                <a:cs typeface="Times New Roman"/>
                <a:sym typeface="Times New Roman"/>
              </a:rPr>
              <a:t>That means that the signals have </a:t>
            </a:r>
            <a:r>
              <a:rPr b="0" i="0" lang="en-US" sz="1600" u="none" cap="none" strike="noStrike">
                <a:solidFill>
                  <a:schemeClr val="hlink"/>
                </a:solidFill>
                <a:latin typeface="Times New Roman"/>
                <a:ea typeface="Times New Roman"/>
                <a:cs typeface="Times New Roman"/>
                <a:sym typeface="Times New Roman"/>
              </a:rPr>
              <a:t>different phases</a:t>
            </a:r>
            <a:r>
              <a:rPr b="0" i="0" lang="en-US" sz="1600" u="none" cap="none" strike="noStrike">
                <a:solidFill>
                  <a:srgbClr val="000000"/>
                </a:solidFill>
                <a:latin typeface="Times New Roman"/>
                <a:ea typeface="Times New Roman"/>
                <a:cs typeface="Times New Roman"/>
                <a:sym typeface="Times New Roman"/>
              </a:rPr>
              <a:t> at the receiver end from what they had at sender's end.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8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926" name="Google Shape;926;p89"/>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927" name="Google Shape;927;p89"/>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928" name="Google Shape;928;p89"/>
          <p:cNvSpPr txBox="1"/>
          <p:nvPr/>
        </p:nvSpPr>
        <p:spPr>
          <a:xfrm>
            <a:off x="304800" y="381000"/>
            <a:ext cx="2400300" cy="5847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3200" u="none" cap="none" strike="noStrike">
                <a:solidFill>
                  <a:schemeClr val="folHlink"/>
                </a:solidFill>
                <a:latin typeface="Times New Roman"/>
                <a:ea typeface="Times New Roman"/>
                <a:cs typeface="Times New Roman"/>
                <a:sym typeface="Times New Roman"/>
              </a:rPr>
              <a:t> </a:t>
            </a:r>
            <a:r>
              <a:rPr b="1" i="0" lang="en-US" sz="3200" u="none" cap="none" strike="noStrike">
                <a:solidFill>
                  <a:schemeClr val="dk1"/>
                </a:solidFill>
                <a:latin typeface="Times New Roman"/>
                <a:ea typeface="Times New Roman"/>
                <a:cs typeface="Times New Roman"/>
                <a:sym typeface="Times New Roman"/>
              </a:rPr>
              <a:t>Noise</a:t>
            </a:r>
            <a:endParaRPr b="0" i="0" sz="3200" u="none" cap="none" strike="noStrike">
              <a:solidFill>
                <a:srgbClr val="000000"/>
              </a:solidFill>
              <a:latin typeface="Arial"/>
              <a:ea typeface="Arial"/>
              <a:cs typeface="Arial"/>
              <a:sym typeface="Arial"/>
            </a:endParaRPr>
          </a:p>
        </p:txBody>
      </p:sp>
      <p:cxnSp>
        <p:nvCxnSpPr>
          <p:cNvPr id="929" name="Google Shape;929;p89"/>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sp>
        <p:nvSpPr>
          <p:cNvPr id="930" name="Google Shape;930;p89"/>
          <p:cNvSpPr/>
          <p:nvPr/>
        </p:nvSpPr>
        <p:spPr>
          <a:xfrm>
            <a:off x="407406" y="1113414"/>
            <a:ext cx="8302028" cy="286232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random or unwanted signal that mixes up with the original signal is called noise.</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There are different types of noise</a:t>
            </a:r>
            <a:endParaRPr b="0" i="0" sz="1400" u="none" cap="none" strike="noStrike">
              <a:solidFill>
                <a:srgbClr val="000000"/>
              </a:solidFill>
              <a:latin typeface="Arial"/>
              <a:ea typeface="Arial"/>
              <a:cs typeface="Arial"/>
              <a:sym typeface="Arial"/>
            </a:endParaRPr>
          </a:p>
          <a:p>
            <a:pPr indent="0" lvl="1"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hlink"/>
                </a:solidFill>
                <a:latin typeface="Times New Roman"/>
                <a:ea typeface="Times New Roman"/>
                <a:cs typeface="Times New Roman"/>
                <a:sym typeface="Times New Roman"/>
              </a:rPr>
              <a:t>Thermal</a:t>
            </a:r>
            <a:r>
              <a:rPr b="0" i="0" lang="en-US" sz="2000" u="none" cap="none" strike="noStrike">
                <a:solidFill>
                  <a:srgbClr val="000000"/>
                </a:solidFill>
                <a:latin typeface="Times New Roman"/>
                <a:ea typeface="Times New Roman"/>
                <a:cs typeface="Times New Roman"/>
                <a:sym typeface="Times New Roman"/>
              </a:rPr>
              <a:t> -  noise random movement of electrons in the wire creates an extra signal</a:t>
            </a:r>
            <a:endParaRPr b="0" i="0" sz="1400" u="none" cap="none" strike="noStrike">
              <a:solidFill>
                <a:srgbClr val="000000"/>
              </a:solidFill>
              <a:latin typeface="Arial"/>
              <a:ea typeface="Arial"/>
              <a:cs typeface="Arial"/>
              <a:sym typeface="Arial"/>
            </a:endParaRPr>
          </a:p>
          <a:p>
            <a:pPr indent="0" lvl="1"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hlink"/>
                </a:solidFill>
                <a:latin typeface="Times New Roman"/>
                <a:ea typeface="Times New Roman"/>
                <a:cs typeface="Times New Roman"/>
                <a:sym typeface="Times New Roman"/>
              </a:rPr>
              <a:t>Induced</a:t>
            </a:r>
            <a:r>
              <a:rPr b="0" i="0" lang="en-US" sz="2000" u="none" cap="none" strike="noStrike">
                <a:solidFill>
                  <a:srgbClr val="000000"/>
                </a:solidFill>
                <a:latin typeface="Times New Roman"/>
                <a:ea typeface="Times New Roman"/>
                <a:cs typeface="Times New Roman"/>
                <a:sym typeface="Times New Roman"/>
              </a:rPr>
              <a:t> – comes from sources such as motors and appliances. These devices act as sending antenna and transmission medium act as receiving antenna.</a:t>
            </a:r>
            <a:endParaRPr b="0" i="0" sz="1400" u="none" cap="none" strike="noStrike">
              <a:solidFill>
                <a:srgbClr val="000000"/>
              </a:solidFill>
              <a:latin typeface="Arial"/>
              <a:ea typeface="Arial"/>
              <a:cs typeface="Arial"/>
              <a:sym typeface="Arial"/>
            </a:endParaRPr>
          </a:p>
          <a:p>
            <a:pPr indent="0" lvl="1"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hlink"/>
                </a:solidFill>
                <a:latin typeface="Times New Roman"/>
                <a:ea typeface="Times New Roman"/>
                <a:cs typeface="Times New Roman"/>
                <a:sym typeface="Times New Roman"/>
              </a:rPr>
              <a:t>Crosstalk</a:t>
            </a:r>
            <a:r>
              <a:rPr b="0" i="0" lang="en-US" sz="2000" u="none" cap="none" strike="noStrike">
                <a:solidFill>
                  <a:srgbClr val="000000"/>
                </a:solidFill>
                <a:latin typeface="Times New Roman"/>
                <a:ea typeface="Times New Roman"/>
                <a:cs typeface="Times New Roman"/>
                <a:sym typeface="Times New Roman"/>
              </a:rPr>
              <a:t> – when one wire affects the other wire.</a:t>
            </a:r>
            <a:endParaRPr b="0" i="0" sz="1400" u="none" cap="none" strike="noStrike">
              <a:solidFill>
                <a:srgbClr val="000000"/>
              </a:solidFill>
              <a:latin typeface="Arial"/>
              <a:ea typeface="Arial"/>
              <a:cs typeface="Arial"/>
              <a:sym typeface="Arial"/>
            </a:endParaRPr>
          </a:p>
          <a:p>
            <a:pPr indent="0" lvl="1" marL="0" marR="0" rtl="0" algn="l">
              <a:lnSpc>
                <a:spcPct val="90000"/>
              </a:lnSpc>
              <a:spcBef>
                <a:spcPts val="0"/>
              </a:spcBef>
              <a:spcAft>
                <a:spcPts val="0"/>
              </a:spcAft>
              <a:buClr>
                <a:srgbClr val="000000"/>
              </a:buClr>
              <a:buSzPts val="2000"/>
              <a:buFont typeface="Arial"/>
              <a:buNone/>
            </a:pPr>
            <a:r>
              <a:rPr b="0" i="0" lang="en-US" sz="2000" u="none" cap="none" strike="noStrike">
                <a:solidFill>
                  <a:schemeClr val="hlink"/>
                </a:solidFill>
                <a:latin typeface="Times New Roman"/>
                <a:ea typeface="Times New Roman"/>
                <a:cs typeface="Times New Roman"/>
                <a:sym typeface="Times New Roman"/>
              </a:rPr>
              <a:t>Impulse</a:t>
            </a:r>
            <a:r>
              <a:rPr b="0" i="0" lang="en-US" sz="2000" u="none" cap="none" strike="noStrike">
                <a:solidFill>
                  <a:srgbClr val="000000"/>
                </a:solidFill>
                <a:latin typeface="Times New Roman"/>
                <a:ea typeface="Times New Roman"/>
                <a:cs typeface="Times New Roman"/>
                <a:sym typeface="Times New Roman"/>
              </a:rPr>
              <a:t> - Spikes that result from power lines, lightning, or comes from high energy etc.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9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936" name="Google Shape;936;p90"/>
          <p:cNvCxnSpPr/>
          <p:nvPr/>
        </p:nvCxnSpPr>
        <p:spPr>
          <a:xfrm>
            <a:off x="152400" y="1524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937" name="Google Shape;937;p90"/>
          <p:cNvCxnSpPr/>
          <p:nvPr/>
        </p:nvCxnSpPr>
        <p:spPr>
          <a:xfrm>
            <a:off x="152400" y="9906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938" name="Google Shape;938;p90"/>
          <p:cNvSpPr txBox="1"/>
          <p:nvPr/>
        </p:nvSpPr>
        <p:spPr>
          <a:xfrm>
            <a:off x="304800" y="381000"/>
            <a:ext cx="2400300"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800" u="none" cap="none" strike="noStrike">
                <a:solidFill>
                  <a:schemeClr val="folHlink"/>
                </a:solidFill>
                <a:latin typeface="Times New Roman"/>
                <a:ea typeface="Times New Roman"/>
                <a:cs typeface="Times New Roman"/>
                <a:sym typeface="Times New Roman"/>
              </a:rPr>
              <a:t>Figure: </a:t>
            </a:r>
            <a:r>
              <a:rPr b="1" i="0" lang="en-US" sz="2800" u="none" cap="none" strike="noStrike">
                <a:solidFill>
                  <a:schemeClr val="dk1"/>
                </a:solidFill>
                <a:latin typeface="Times New Roman"/>
                <a:ea typeface="Times New Roman"/>
                <a:cs typeface="Times New Roman"/>
                <a:sym typeface="Times New Roman"/>
              </a:rPr>
              <a:t>Noise</a:t>
            </a:r>
            <a:endParaRPr b="0" i="0" sz="2800" u="none" cap="none" strike="noStrike">
              <a:solidFill>
                <a:srgbClr val="000000"/>
              </a:solidFill>
              <a:latin typeface="Arial"/>
              <a:ea typeface="Arial"/>
              <a:cs typeface="Arial"/>
              <a:sym typeface="Arial"/>
            </a:endParaRPr>
          </a:p>
        </p:txBody>
      </p:sp>
      <p:cxnSp>
        <p:nvCxnSpPr>
          <p:cNvPr id="939" name="Google Shape;939;p90"/>
          <p:cNvCxnSpPr/>
          <p:nvPr/>
        </p:nvCxnSpPr>
        <p:spPr>
          <a:xfrm>
            <a:off x="152400" y="63246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940" name="Google Shape;940;p90"/>
          <p:cNvPicPr preferRelativeResize="0"/>
          <p:nvPr/>
        </p:nvPicPr>
        <p:blipFill rotWithShape="1">
          <a:blip r:embed="rId3">
            <a:alphaModFix/>
          </a:blip>
          <a:srcRect b="0" l="0" r="0" t="0"/>
          <a:stretch/>
        </p:blipFill>
        <p:spPr>
          <a:xfrm>
            <a:off x="742950" y="2408237"/>
            <a:ext cx="7486650" cy="2697162"/>
          </a:xfrm>
          <a:prstGeom prst="rect">
            <a:avLst/>
          </a:prstGeom>
          <a:noFill/>
          <a:ln>
            <a:noFill/>
          </a:ln>
        </p:spPr>
      </p:pic>
      <p:sp>
        <p:nvSpPr>
          <p:cNvPr id="941" name="Google Shape;941;p90"/>
          <p:cNvSpPr/>
          <p:nvPr/>
        </p:nvSpPr>
        <p:spPr>
          <a:xfrm>
            <a:off x="4611232" y="1197956"/>
            <a:ext cx="1529918" cy="1233997"/>
          </a:xfrm>
          <a:prstGeom prst="wedgeEllipseCallout">
            <a:avLst>
              <a:gd fmla="val -34690" name="adj1"/>
              <a:gd fmla="val 88465" name="adj2"/>
            </a:avLst>
          </a:prstGeom>
          <a:solidFill>
            <a:schemeClr val="accent1"/>
          </a:solidFill>
          <a:ln cap="flat" cmpd="sng" w="25400">
            <a:solidFill>
              <a:srgbClr val="00A6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Arial"/>
                <a:ea typeface="Arial"/>
                <a:cs typeface="Arial"/>
                <a:sym typeface="Arial"/>
              </a:rPr>
              <a:t>unwanted signal that mixes up with the original signal</a:t>
            </a:r>
            <a:endParaRPr b="0" i="0" sz="1200" u="none" cap="none" strike="noStrike">
              <a:solidFill>
                <a:schemeClr val="lt1"/>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91"/>
          <p:cNvSpPr txBox="1"/>
          <p:nvPr>
            <p:ph idx="4294967295" type="sldNum"/>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2000"/>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1" i="0" sz="2000" u="none" cap="none" strike="noStrike">
              <a:solidFill>
                <a:schemeClr val="dk1"/>
              </a:solidFill>
              <a:latin typeface="Arial"/>
              <a:ea typeface="Arial"/>
              <a:cs typeface="Arial"/>
              <a:sym typeface="Arial"/>
            </a:endParaRPr>
          </a:p>
        </p:txBody>
      </p:sp>
      <p:cxnSp>
        <p:nvCxnSpPr>
          <p:cNvPr id="948" name="Google Shape;948;p91"/>
          <p:cNvCxnSpPr/>
          <p:nvPr/>
        </p:nvCxnSpPr>
        <p:spPr>
          <a:xfrm>
            <a:off x="152400" y="152400"/>
            <a:ext cx="8763000" cy="0"/>
          </a:xfrm>
          <a:prstGeom prst="straightConnector1">
            <a:avLst/>
          </a:prstGeom>
          <a:noFill/>
          <a:ln cap="flat" cmpd="sng" w="76200">
            <a:solidFill>
              <a:schemeClr val="hlink"/>
            </a:solidFill>
            <a:prstDash val="solid"/>
            <a:round/>
            <a:headEnd len="sm" w="sm" type="none"/>
            <a:tailEnd len="sm" w="sm" type="none"/>
          </a:ln>
        </p:spPr>
      </p:cxnSp>
      <p:cxnSp>
        <p:nvCxnSpPr>
          <p:cNvPr id="949" name="Google Shape;949;p91"/>
          <p:cNvCxnSpPr/>
          <p:nvPr/>
        </p:nvCxnSpPr>
        <p:spPr>
          <a:xfrm>
            <a:off x="152400" y="990600"/>
            <a:ext cx="8763000" cy="0"/>
          </a:xfrm>
          <a:prstGeom prst="straightConnector1">
            <a:avLst/>
          </a:prstGeom>
          <a:noFill/>
          <a:ln cap="flat" cmpd="sng" w="19050">
            <a:solidFill>
              <a:schemeClr val="hlink"/>
            </a:solidFill>
            <a:prstDash val="solid"/>
            <a:round/>
            <a:headEnd len="sm" w="sm" type="none"/>
            <a:tailEnd len="sm" w="sm" type="none"/>
          </a:ln>
        </p:spPr>
      </p:cxnSp>
      <p:sp>
        <p:nvSpPr>
          <p:cNvPr id="950" name="Google Shape;950;p91"/>
          <p:cNvSpPr txBox="1"/>
          <p:nvPr/>
        </p:nvSpPr>
        <p:spPr>
          <a:xfrm>
            <a:off x="271604" y="144856"/>
            <a:ext cx="5151422"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baseline="-25000" i="0" lang="en-US" sz="4000" u="none" cap="none" strike="noStrike">
                <a:solidFill>
                  <a:schemeClr val="dk1"/>
                </a:solidFill>
                <a:latin typeface="Times New Roman"/>
                <a:ea typeface="Times New Roman"/>
                <a:cs typeface="Times New Roman"/>
                <a:sym typeface="Times New Roman"/>
              </a:rPr>
              <a:t>Signal to Noise Ratio (SNR)</a:t>
            </a:r>
            <a:endParaRPr b="1" i="0" sz="4000" u="none" cap="none" strike="noStrike">
              <a:solidFill>
                <a:schemeClr val="lt2"/>
              </a:solidFill>
              <a:latin typeface="Times New Roman"/>
              <a:ea typeface="Times New Roman"/>
              <a:cs typeface="Times New Roman"/>
              <a:sym typeface="Times New Roman"/>
            </a:endParaRPr>
          </a:p>
        </p:txBody>
      </p:sp>
      <p:cxnSp>
        <p:nvCxnSpPr>
          <p:cNvPr id="951" name="Google Shape;951;p91"/>
          <p:cNvCxnSpPr/>
          <p:nvPr/>
        </p:nvCxnSpPr>
        <p:spPr>
          <a:xfrm>
            <a:off x="152400" y="6324600"/>
            <a:ext cx="8763000" cy="0"/>
          </a:xfrm>
          <a:prstGeom prst="straightConnector1">
            <a:avLst/>
          </a:prstGeom>
          <a:noFill/>
          <a:ln cap="flat" cmpd="sng" w="76200">
            <a:solidFill>
              <a:schemeClr val="hlink"/>
            </a:solidFill>
            <a:prstDash val="solid"/>
            <a:round/>
            <a:headEnd len="sm" w="sm" type="none"/>
            <a:tailEnd len="sm" w="sm" type="none"/>
          </a:ln>
        </p:spPr>
      </p:cxnSp>
      <p:pic>
        <p:nvPicPr>
          <p:cNvPr id="952" name="Google Shape;952;p91"/>
          <p:cNvPicPr preferRelativeResize="0"/>
          <p:nvPr/>
        </p:nvPicPr>
        <p:blipFill rotWithShape="1">
          <a:blip r:embed="rId3">
            <a:alphaModFix/>
          </a:blip>
          <a:srcRect b="0" l="0" r="0" t="0"/>
          <a:stretch/>
        </p:blipFill>
        <p:spPr>
          <a:xfrm>
            <a:off x="512192" y="2254313"/>
            <a:ext cx="3924006" cy="1434212"/>
          </a:xfrm>
          <a:prstGeom prst="rect">
            <a:avLst/>
          </a:prstGeom>
          <a:noFill/>
          <a:ln>
            <a:noFill/>
          </a:ln>
        </p:spPr>
      </p:pic>
      <p:sp>
        <p:nvSpPr>
          <p:cNvPr id="953" name="Google Shape;953;p91"/>
          <p:cNvSpPr/>
          <p:nvPr/>
        </p:nvSpPr>
        <p:spPr>
          <a:xfrm>
            <a:off x="330452" y="1124068"/>
            <a:ext cx="8569104" cy="310854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To measure the quality of a system the SNR is often used. It indicates the strength of the signal with the noise power in the system. </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SNR is actually the ratio of what is wanted (signal) to what is not wanted (noise).</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 A </a:t>
            </a:r>
            <a:r>
              <a:rPr b="0" i="0" lang="en-US" sz="1400" u="none" cap="none" strike="noStrike">
                <a:solidFill>
                  <a:srgbClr val="00B050"/>
                </a:solidFill>
                <a:latin typeface="Times New Roman"/>
                <a:ea typeface="Times New Roman"/>
                <a:cs typeface="Times New Roman"/>
                <a:sym typeface="Times New Roman"/>
              </a:rPr>
              <a:t>high SNR </a:t>
            </a:r>
            <a:r>
              <a:rPr b="0" i="0" lang="en-US" sz="1400" u="none" cap="none" strike="noStrike">
                <a:solidFill>
                  <a:srgbClr val="000000"/>
                </a:solidFill>
                <a:latin typeface="Times New Roman"/>
                <a:ea typeface="Times New Roman"/>
                <a:cs typeface="Times New Roman"/>
                <a:sym typeface="Times New Roman"/>
              </a:rPr>
              <a:t>means the signal is less corrupted by noise; </a:t>
            </a:r>
            <a:r>
              <a:rPr b="0" i="0" lang="en-US" sz="1400" u="none" cap="none" strike="noStrike">
                <a:solidFill>
                  <a:srgbClr val="00B050"/>
                </a:solidFill>
                <a:latin typeface="Times New Roman"/>
                <a:ea typeface="Times New Roman"/>
                <a:cs typeface="Times New Roman"/>
                <a:sym typeface="Times New Roman"/>
              </a:rPr>
              <a:t>a low SNR </a:t>
            </a:r>
            <a:r>
              <a:rPr b="0" i="0" lang="en-US" sz="1400" u="none" cap="none" strike="noStrike">
                <a:solidFill>
                  <a:srgbClr val="000000"/>
                </a:solidFill>
                <a:latin typeface="Times New Roman"/>
                <a:ea typeface="Times New Roman"/>
                <a:cs typeface="Times New Roman"/>
                <a:sym typeface="Times New Roman"/>
              </a:rPr>
              <a:t>means the signal is more corrupted by noise.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It is the ratio between two powers.</a:t>
            </a:r>
            <a:endParaRPr b="0" i="0" sz="14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It is usually described in dB unit and referred to as SNR</a:t>
            </a:r>
            <a:r>
              <a:rPr b="0" baseline="-25000" i="0" lang="en-US" sz="1400" u="none" cap="none" strike="noStrike">
                <a:solidFill>
                  <a:srgbClr val="000000"/>
                </a:solidFill>
                <a:latin typeface="Times New Roman"/>
                <a:ea typeface="Times New Roman"/>
                <a:cs typeface="Times New Roman"/>
                <a:sym typeface="Times New Roman"/>
              </a:rPr>
              <a:t>dB.</a:t>
            </a:r>
            <a:endParaRPr b="0" i="0" sz="1400" u="none" cap="none" strike="noStrike">
              <a:solidFill>
                <a:srgbClr val="000000"/>
              </a:solidFill>
              <a:latin typeface="Arial"/>
              <a:ea typeface="Arial"/>
              <a:cs typeface="Arial"/>
              <a:sym typeface="Arial"/>
            </a:endParaRPr>
          </a:p>
        </p:txBody>
      </p:sp>
      <p:pic>
        <p:nvPicPr>
          <p:cNvPr id="954" name="Google Shape;954;p91"/>
          <p:cNvPicPr preferRelativeResize="0"/>
          <p:nvPr/>
        </p:nvPicPr>
        <p:blipFill rotWithShape="1">
          <a:blip r:embed="rId4">
            <a:alphaModFix/>
          </a:blip>
          <a:srcRect b="0" l="0" r="0" t="0"/>
          <a:stretch/>
        </p:blipFill>
        <p:spPr>
          <a:xfrm>
            <a:off x="325530" y="4428329"/>
            <a:ext cx="3637114" cy="732146"/>
          </a:xfrm>
          <a:prstGeom prst="rect">
            <a:avLst/>
          </a:prstGeom>
          <a:noFill/>
          <a:ln>
            <a:noFill/>
          </a:ln>
        </p:spPr>
      </p:pic>
      <p:pic>
        <p:nvPicPr>
          <p:cNvPr id="955" name="Google Shape;955;p91"/>
          <p:cNvPicPr preferRelativeResize="0"/>
          <p:nvPr/>
        </p:nvPicPr>
        <p:blipFill rotWithShape="1">
          <a:blip r:embed="rId5">
            <a:alphaModFix/>
          </a:blip>
          <a:srcRect b="0" l="0" r="0" t="0"/>
          <a:stretch/>
        </p:blipFill>
        <p:spPr>
          <a:xfrm>
            <a:off x="524817" y="5334716"/>
            <a:ext cx="2978960" cy="56085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sp>
        <p:nvSpPr>
          <p:cNvPr id="960" name="Google Shape;960;p9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61" name="Google Shape;961;p9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2" name="Google Shape;962;p9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963" name="Google Shape;963;p92"/>
          <p:cNvGrpSpPr/>
          <p:nvPr/>
        </p:nvGrpSpPr>
        <p:grpSpPr>
          <a:xfrm>
            <a:off x="490537" y="773112"/>
            <a:ext cx="738187" cy="474662"/>
            <a:chOff x="309" y="487"/>
            <a:chExt cx="465" cy="299"/>
          </a:xfrm>
        </p:grpSpPr>
        <p:sp>
          <p:nvSpPr>
            <p:cNvPr id="964" name="Google Shape;964;p9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5" name="Google Shape;965;p9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966" name="Google Shape;966;p9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7" name="Google Shape;967;p9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8" name="Google Shape;968;p9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69" name="Google Shape;969;p92"/>
          <p:cNvSpPr txBox="1"/>
          <p:nvPr/>
        </p:nvSpPr>
        <p:spPr>
          <a:xfrm>
            <a:off x="152400" y="1447799"/>
            <a:ext cx="8836325" cy="4592637"/>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70" name="Google Shape;970;p92"/>
          <p:cNvSpPr txBox="1"/>
          <p:nvPr/>
        </p:nvSpPr>
        <p:spPr>
          <a:xfrm>
            <a:off x="228600" y="1447800"/>
            <a:ext cx="8534400" cy="26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power of a signal is 10 mW and the power of the noise is 1 μW; what are the values of SNR and SNR</a:t>
            </a:r>
            <a:r>
              <a:rPr b="1" baseline="-25000" i="1" lang="en-US" sz="2800" u="none" cap="none" strike="noStrike">
                <a:solidFill>
                  <a:schemeClr val="dk1"/>
                </a:solidFill>
                <a:latin typeface="Times New Roman"/>
                <a:ea typeface="Times New Roman"/>
                <a:cs typeface="Times New Roman"/>
                <a:sym typeface="Times New Roman"/>
              </a:rPr>
              <a:t>dB </a:t>
            </a:r>
            <a:r>
              <a:rPr b="1"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values of SNR and SNR</a:t>
            </a:r>
            <a:r>
              <a:rPr b="1" baseline="-25000" i="1" lang="en-US" sz="2800" u="none" cap="none" strike="noStrike">
                <a:solidFill>
                  <a:schemeClr val="dk1"/>
                </a:solidFill>
                <a:latin typeface="Times New Roman"/>
                <a:ea typeface="Times New Roman"/>
                <a:cs typeface="Times New Roman"/>
                <a:sym typeface="Times New Roman"/>
              </a:rPr>
              <a:t>dB</a:t>
            </a:r>
            <a:r>
              <a:rPr b="1" i="1" lang="en-US" sz="2800" u="none" cap="none" strike="noStrike">
                <a:solidFill>
                  <a:schemeClr val="dk1"/>
                </a:solidFill>
                <a:latin typeface="Times New Roman"/>
                <a:ea typeface="Times New Roman"/>
                <a:cs typeface="Times New Roman"/>
                <a:sym typeface="Times New Roman"/>
              </a:rPr>
              <a:t> can be calculated as follows:</a:t>
            </a:r>
            <a:endParaRPr b="0" i="0" sz="1400" u="none" cap="none" strike="noStrike">
              <a:solidFill>
                <a:srgbClr val="000000"/>
              </a:solidFill>
              <a:latin typeface="Arial"/>
              <a:ea typeface="Arial"/>
              <a:cs typeface="Arial"/>
              <a:sym typeface="Arial"/>
            </a:endParaRPr>
          </a:p>
        </p:txBody>
      </p:sp>
      <p:sp>
        <p:nvSpPr>
          <p:cNvPr id="971" name="Google Shape;971;p92"/>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3.31</a:t>
            </a:r>
            <a:endParaRPr b="0" i="0" sz="1400" u="none" cap="none" strike="noStrike">
              <a:solidFill>
                <a:srgbClr val="000000"/>
              </a:solidFill>
              <a:latin typeface="Arial"/>
              <a:ea typeface="Arial"/>
              <a:cs typeface="Arial"/>
              <a:sym typeface="Arial"/>
            </a:endParaRPr>
          </a:p>
        </p:txBody>
      </p:sp>
      <p:pic>
        <p:nvPicPr>
          <p:cNvPr id="972" name="Google Shape;972;p92"/>
          <p:cNvPicPr preferRelativeResize="0"/>
          <p:nvPr/>
        </p:nvPicPr>
        <p:blipFill rotWithShape="1">
          <a:blip r:embed="rId3">
            <a:alphaModFix/>
          </a:blip>
          <a:srcRect b="0" l="0" r="0" t="0"/>
          <a:stretch/>
        </p:blipFill>
        <p:spPr>
          <a:xfrm>
            <a:off x="1905000" y="4357689"/>
            <a:ext cx="4745966" cy="887411"/>
          </a:xfrm>
          <a:prstGeom prst="rect">
            <a:avLst/>
          </a:prstGeom>
          <a:noFill/>
          <a:ln cap="flat" cmpd="thinThick" w="57150">
            <a:solidFill>
              <a:srgbClr val="3366FF"/>
            </a:solidFill>
            <a:prstDash val="solid"/>
            <a:miter lim="800000"/>
            <a:headEnd len="sm" w="sm" type="none"/>
            <a:tailEnd len="sm" w="sm" type="none"/>
          </a:ln>
        </p:spPr>
      </p:pic>
      <p:pic>
        <p:nvPicPr>
          <p:cNvPr descr="https://lh7-rt.googleusercontent.com/slidesz/AGV_vUdXI15e6CXP0PrjfNKi_7VD0GPpzZvqCMTmTmkQ7vGr15oHHAfL19E-K7ZXeQqsBbFLfZAMkd-o24Bmhy3OgI5bvGtCP_unnQksNm_S8lmHHT5dqEU3hku3CXkiX-fjot7QjuoB66v1ww_30_haFM-xLIaiUYFePeqZUPzx0cfcSmXzVaF3xos=s2048?key=U1cTWH6i1l1goNmxJQU8lw" id="973" name="Google Shape;973;p92"/>
          <p:cNvPicPr preferRelativeResize="0"/>
          <p:nvPr/>
        </p:nvPicPr>
        <p:blipFill rotWithShape="1">
          <a:blip r:embed="rId4">
            <a:alphaModFix/>
          </a:blip>
          <a:srcRect b="0" l="0" r="0" t="0"/>
          <a:stretch/>
        </p:blipFill>
        <p:spPr>
          <a:xfrm>
            <a:off x="7122447" y="4102100"/>
            <a:ext cx="1394797" cy="1610893"/>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4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979" name="Google Shape;979;p46"/>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0" name="Google Shape;980;p46"/>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981" name="Google Shape;981;p46"/>
          <p:cNvGrpSpPr/>
          <p:nvPr/>
        </p:nvGrpSpPr>
        <p:grpSpPr>
          <a:xfrm>
            <a:off x="490537" y="773112"/>
            <a:ext cx="738187" cy="474662"/>
            <a:chOff x="309" y="487"/>
            <a:chExt cx="465" cy="299"/>
          </a:xfrm>
        </p:grpSpPr>
        <p:sp>
          <p:nvSpPr>
            <p:cNvPr id="982" name="Google Shape;982;p46"/>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3" name="Google Shape;983;p46"/>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984" name="Google Shape;984;p46"/>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5" name="Google Shape;985;p46"/>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6" name="Google Shape;986;p46"/>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7" name="Google Shape;987;p46"/>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988" name="Google Shape;988;p46"/>
          <p:cNvSpPr txBox="1"/>
          <p:nvPr/>
        </p:nvSpPr>
        <p:spPr>
          <a:xfrm>
            <a:off x="228600" y="14478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values of SNR and SNR</a:t>
            </a:r>
            <a:r>
              <a:rPr b="1" baseline="-25000" i="1" lang="en-US" sz="2800" u="none" cap="none" strike="noStrike">
                <a:solidFill>
                  <a:schemeClr val="dk1"/>
                </a:solidFill>
                <a:latin typeface="Times New Roman"/>
                <a:ea typeface="Times New Roman"/>
                <a:cs typeface="Times New Roman"/>
                <a:sym typeface="Times New Roman"/>
              </a:rPr>
              <a:t>dB</a:t>
            </a:r>
            <a:r>
              <a:rPr b="1" i="1" lang="en-US" sz="2800" u="none" cap="none" strike="noStrike">
                <a:solidFill>
                  <a:schemeClr val="dk1"/>
                </a:solidFill>
                <a:latin typeface="Times New Roman"/>
                <a:ea typeface="Times New Roman"/>
                <a:cs typeface="Times New Roman"/>
                <a:sym typeface="Times New Roman"/>
              </a:rPr>
              <a:t> for a noiseless channel are</a:t>
            </a:r>
            <a:endParaRPr b="0" i="0" sz="1400" u="none" cap="none" strike="noStrike">
              <a:solidFill>
                <a:srgbClr val="000000"/>
              </a:solidFill>
              <a:latin typeface="Arial"/>
              <a:ea typeface="Arial"/>
              <a:cs typeface="Arial"/>
              <a:sym typeface="Arial"/>
            </a:endParaRPr>
          </a:p>
        </p:txBody>
      </p:sp>
      <p:sp>
        <p:nvSpPr>
          <p:cNvPr id="989" name="Google Shape;989;p46"/>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3.32</a:t>
            </a:r>
            <a:endParaRPr b="0" i="0" sz="1400" u="none" cap="none" strike="noStrike">
              <a:solidFill>
                <a:srgbClr val="000000"/>
              </a:solidFill>
              <a:latin typeface="Arial"/>
              <a:ea typeface="Arial"/>
              <a:cs typeface="Arial"/>
              <a:sym typeface="Arial"/>
            </a:endParaRPr>
          </a:p>
        </p:txBody>
      </p:sp>
      <p:pic>
        <p:nvPicPr>
          <p:cNvPr id="990" name="Google Shape;990;p46"/>
          <p:cNvPicPr preferRelativeResize="0"/>
          <p:nvPr/>
        </p:nvPicPr>
        <p:blipFill rotWithShape="1">
          <a:blip r:embed="rId3">
            <a:alphaModFix/>
          </a:blip>
          <a:srcRect b="0" l="0" r="0" t="0"/>
          <a:stretch/>
        </p:blipFill>
        <p:spPr>
          <a:xfrm>
            <a:off x="2992437" y="2811462"/>
            <a:ext cx="3159125" cy="998537"/>
          </a:xfrm>
          <a:prstGeom prst="rect">
            <a:avLst/>
          </a:prstGeom>
          <a:noFill/>
          <a:ln cap="flat" cmpd="thinThick" w="57150">
            <a:solidFill>
              <a:srgbClr val="3366FF"/>
            </a:solidFill>
            <a:prstDash val="solid"/>
            <a:miter lim="800000"/>
            <a:headEnd len="sm" w="sm" type="none"/>
            <a:tailEnd len="sm" w="sm" type="none"/>
          </a:ln>
        </p:spPr>
      </p:pic>
      <p:sp>
        <p:nvSpPr>
          <p:cNvPr id="991" name="Google Shape;991;p46"/>
          <p:cNvSpPr txBox="1"/>
          <p:nvPr/>
        </p:nvSpPr>
        <p:spPr>
          <a:xfrm>
            <a:off x="228600" y="4205287"/>
            <a:ext cx="8534400" cy="519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never achieve this ratio in real life; it is an ideal.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5" name="Shape 995"/>
        <p:cNvGrpSpPr/>
        <p:nvPr/>
      </p:nvGrpSpPr>
      <p:grpSpPr>
        <a:xfrm>
          <a:off x="0" y="0"/>
          <a:ext cx="0" cy="0"/>
          <a:chOff x="0" y="0"/>
          <a:chExt cx="0" cy="0"/>
        </a:xfrm>
      </p:grpSpPr>
      <p:sp>
        <p:nvSpPr>
          <p:cNvPr id="996" name="Google Shape;996;p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cxnSp>
        <p:nvCxnSpPr>
          <p:cNvPr id="997" name="Google Shape;997;p47"/>
          <p:cNvCxnSpPr/>
          <p:nvPr/>
        </p:nvCxnSpPr>
        <p:spPr>
          <a:xfrm>
            <a:off x="152400" y="228600"/>
            <a:ext cx="8763000" cy="0"/>
          </a:xfrm>
          <a:prstGeom prst="straightConnector1">
            <a:avLst/>
          </a:prstGeom>
          <a:noFill/>
          <a:ln cap="flat" cmpd="sng" w="76200">
            <a:solidFill>
              <a:schemeClr val="hlink"/>
            </a:solidFill>
            <a:prstDash val="solid"/>
            <a:miter lim="800000"/>
            <a:headEnd len="sm" w="sm" type="none"/>
            <a:tailEnd len="sm" w="sm" type="none"/>
          </a:ln>
        </p:spPr>
      </p:cxnSp>
      <p:cxnSp>
        <p:nvCxnSpPr>
          <p:cNvPr id="998" name="Google Shape;998;p47"/>
          <p:cNvCxnSpPr/>
          <p:nvPr/>
        </p:nvCxnSpPr>
        <p:spPr>
          <a:xfrm>
            <a:off x="152400" y="1066800"/>
            <a:ext cx="8763000" cy="0"/>
          </a:xfrm>
          <a:prstGeom prst="straightConnector1">
            <a:avLst/>
          </a:prstGeom>
          <a:noFill/>
          <a:ln cap="flat" cmpd="sng" w="19050">
            <a:solidFill>
              <a:schemeClr val="hlink"/>
            </a:solidFill>
            <a:prstDash val="solid"/>
            <a:miter lim="800000"/>
            <a:headEnd len="sm" w="sm" type="none"/>
            <a:tailEnd len="sm" w="sm" type="none"/>
          </a:ln>
        </p:spPr>
      </p:cxnSp>
      <p:sp>
        <p:nvSpPr>
          <p:cNvPr id="999" name="Google Shape;999;p47"/>
          <p:cNvSpPr txBox="1"/>
          <p:nvPr/>
        </p:nvSpPr>
        <p:spPr>
          <a:xfrm>
            <a:off x="304800" y="457200"/>
            <a:ext cx="67214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folHlink"/>
              </a:buClr>
              <a:buSzPts val="2400"/>
              <a:buFont typeface="Times New Roman"/>
              <a:buNone/>
            </a:pPr>
            <a:r>
              <a:rPr b="1" i="0" lang="en-US" sz="2400" u="none" cap="none" strike="noStrike">
                <a:solidFill>
                  <a:schemeClr val="folHlink"/>
                </a:solidFill>
                <a:latin typeface="Times New Roman"/>
                <a:ea typeface="Times New Roman"/>
                <a:cs typeface="Times New Roman"/>
                <a:sym typeface="Times New Roman"/>
              </a:rPr>
              <a:t>Figure 3.30  </a:t>
            </a:r>
            <a:r>
              <a:rPr b="1" i="1" lang="en-US" sz="2000" u="none" cap="none" strike="noStrike">
                <a:solidFill>
                  <a:schemeClr val="dk1"/>
                </a:solidFill>
                <a:latin typeface="Times New Roman"/>
                <a:ea typeface="Times New Roman"/>
                <a:cs typeface="Times New Roman"/>
                <a:sym typeface="Times New Roman"/>
              </a:rPr>
              <a:t>Two cases of SNR: a high SNR and a low SNR</a:t>
            </a:r>
            <a:endParaRPr b="0" i="0" sz="1400" u="none" cap="none" strike="noStrike">
              <a:solidFill>
                <a:srgbClr val="000000"/>
              </a:solidFill>
              <a:latin typeface="Arial"/>
              <a:ea typeface="Arial"/>
              <a:cs typeface="Arial"/>
              <a:sym typeface="Arial"/>
            </a:endParaRPr>
          </a:p>
        </p:txBody>
      </p:sp>
      <p:cxnSp>
        <p:nvCxnSpPr>
          <p:cNvPr id="1000" name="Google Shape;1000;p47"/>
          <p:cNvCxnSpPr/>
          <p:nvPr/>
        </p:nvCxnSpPr>
        <p:spPr>
          <a:xfrm>
            <a:off x="152400" y="6248400"/>
            <a:ext cx="8763000" cy="0"/>
          </a:xfrm>
          <a:prstGeom prst="straightConnector1">
            <a:avLst/>
          </a:prstGeom>
          <a:noFill/>
          <a:ln cap="flat" cmpd="sng" w="76200">
            <a:solidFill>
              <a:schemeClr val="hlink"/>
            </a:solidFill>
            <a:prstDash val="solid"/>
            <a:miter lim="800000"/>
            <a:headEnd len="sm" w="sm" type="none"/>
            <a:tailEnd len="sm" w="sm" type="none"/>
          </a:ln>
        </p:spPr>
      </p:cxnSp>
      <p:pic>
        <p:nvPicPr>
          <p:cNvPr id="1001" name="Google Shape;1001;p47"/>
          <p:cNvPicPr preferRelativeResize="0"/>
          <p:nvPr/>
        </p:nvPicPr>
        <p:blipFill rotWithShape="1">
          <a:blip r:embed="rId3">
            <a:alphaModFix/>
          </a:blip>
          <a:srcRect b="0" l="0" r="0" t="0"/>
          <a:stretch/>
        </p:blipFill>
        <p:spPr>
          <a:xfrm>
            <a:off x="404812" y="1406525"/>
            <a:ext cx="8281987" cy="4765675"/>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4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07" name="Google Shape;1007;p48"/>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08" name="Google Shape;1008;p48"/>
          <p:cNvSpPr txBox="1"/>
          <p:nvPr/>
        </p:nvSpPr>
        <p:spPr>
          <a:xfrm>
            <a:off x="228600" y="76200"/>
            <a:ext cx="49863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3-5   DATA RATE LIMITS</a:t>
            </a:r>
            <a:endParaRPr b="0" i="0" sz="1400" u="none" cap="none" strike="noStrike">
              <a:solidFill>
                <a:srgbClr val="000000"/>
              </a:solidFill>
              <a:latin typeface="Arial"/>
              <a:ea typeface="Arial"/>
              <a:cs typeface="Arial"/>
              <a:sym typeface="Arial"/>
            </a:endParaRPr>
          </a:p>
        </p:txBody>
      </p:sp>
      <p:sp>
        <p:nvSpPr>
          <p:cNvPr id="1009" name="Google Shape;1009;p48"/>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0" name="Google Shape;1010;p48"/>
          <p:cNvSpPr txBox="1"/>
          <p:nvPr/>
        </p:nvSpPr>
        <p:spPr>
          <a:xfrm>
            <a:off x="76200" y="1003300"/>
            <a:ext cx="8610600" cy="2654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very important consideration in data communications is how fast we can send data, in bits per second, over a channel. Data rate depends on three factors: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   1.</a:t>
            </a:r>
            <a:r>
              <a:rPr b="1" i="1" lang="en-US" sz="2800" u="none" cap="none" strike="noStrike">
                <a:solidFill>
                  <a:schemeClr val="dk1"/>
                </a:solidFill>
                <a:latin typeface="Times New Roman"/>
                <a:ea typeface="Times New Roman"/>
                <a:cs typeface="Times New Roman"/>
                <a:sym typeface="Times New Roman"/>
              </a:rPr>
              <a:t> The bandwidth available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   2.</a:t>
            </a:r>
            <a:r>
              <a:rPr b="1" i="1" lang="en-US" sz="2800" u="none" cap="none" strike="noStrike">
                <a:solidFill>
                  <a:schemeClr val="dk1"/>
                </a:solidFill>
                <a:latin typeface="Times New Roman"/>
                <a:ea typeface="Times New Roman"/>
                <a:cs typeface="Times New Roman"/>
                <a:sym typeface="Times New Roman"/>
              </a:rPr>
              <a:t> The level of the signals we use</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   3</a:t>
            </a:r>
            <a:r>
              <a:rPr b="1" i="1" lang="en-US" sz="2800" u="none" cap="none" strike="noStrike">
                <a:solidFill>
                  <a:schemeClr val="dk1"/>
                </a:solidFill>
                <a:latin typeface="Times New Roman"/>
                <a:ea typeface="Times New Roman"/>
                <a:cs typeface="Times New Roman"/>
                <a:sym typeface="Times New Roman"/>
              </a:rPr>
              <a:t>. The quality of the channel (the level of noise)</a:t>
            </a:r>
            <a:endParaRPr b="0" i="0" sz="1400" u="none" cap="none" strike="noStrike">
              <a:solidFill>
                <a:srgbClr val="000000"/>
              </a:solidFill>
              <a:latin typeface="Arial"/>
              <a:ea typeface="Arial"/>
              <a:cs typeface="Arial"/>
              <a:sym typeface="Arial"/>
            </a:endParaRPr>
          </a:p>
        </p:txBody>
      </p:sp>
      <p:sp>
        <p:nvSpPr>
          <p:cNvPr id="1011" name="Google Shape;1011;p48"/>
          <p:cNvSpPr txBox="1"/>
          <p:nvPr/>
        </p:nvSpPr>
        <p:spPr>
          <a:xfrm>
            <a:off x="152400" y="4819650"/>
            <a:ext cx="5715000"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Noiseless Channel: Nyquist Bit Rate</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Noisy Channel: Shannon Capacity</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Using Both Limits</a:t>
            </a:r>
            <a:endParaRPr b="0" i="0" sz="1400" u="none" cap="none" strike="noStrike">
              <a:solidFill>
                <a:srgbClr val="000000"/>
              </a:solidFill>
              <a:latin typeface="Arial"/>
              <a:ea typeface="Arial"/>
              <a:cs typeface="Arial"/>
              <a:sym typeface="Arial"/>
            </a:endParaRPr>
          </a:p>
        </p:txBody>
      </p:sp>
      <p:sp>
        <p:nvSpPr>
          <p:cNvPr id="1012" name="Google Shape;1012;p48"/>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g33c0c73660d_0_1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18" name="Google Shape;1018;g33c0c73660d_0_16"/>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19" name="Google Shape;1019;g33c0c73660d_0_16"/>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020" name="Google Shape;1020;g33c0c73660d_0_16"/>
          <p:cNvGrpSpPr/>
          <p:nvPr/>
        </p:nvGrpSpPr>
        <p:grpSpPr>
          <a:xfrm>
            <a:off x="490537" y="773112"/>
            <a:ext cx="846137" cy="476249"/>
            <a:chOff x="309" y="487"/>
            <a:chExt cx="533" cy="300"/>
          </a:xfrm>
        </p:grpSpPr>
        <p:sp>
          <p:nvSpPr>
            <p:cNvPr id="1021" name="Google Shape;1021;g33c0c73660d_0_16"/>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2" name="Google Shape;1022;g33c0c73660d_0_16"/>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023" name="Google Shape;1023;g33c0c73660d_0_16"/>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4" name="Google Shape;1024;g33c0c73660d_0_16"/>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5" name="Google Shape;1025;g33c0c73660d_0_16"/>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6" name="Google Shape;1026;g33c0c73660d_0_16"/>
          <p:cNvSpPr txBox="1"/>
          <p:nvPr/>
        </p:nvSpPr>
        <p:spPr>
          <a:xfrm>
            <a:off x="152400" y="1447800"/>
            <a:ext cx="8839200" cy="838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27" name="Google Shape;1027;g33c0c73660d_0_16"/>
          <p:cNvSpPr txBox="1"/>
          <p:nvPr/>
        </p:nvSpPr>
        <p:spPr>
          <a:xfrm>
            <a:off x="228600" y="1292225"/>
            <a:ext cx="85344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b="1" i="1" lang="en-US" sz="2800" u="none" cap="none" strike="noStrike">
                <a:solidFill>
                  <a:schemeClr val="dk1"/>
                </a:solidFill>
                <a:latin typeface="Times New Roman"/>
                <a:ea typeface="Times New Roman"/>
                <a:cs typeface="Times New Roman"/>
                <a:sym typeface="Times New Roman"/>
              </a:rPr>
              <a:t>For a noiseless channel, the Nyquist bit rate formula defines the theoretical maximum bit rate.</a:t>
            </a:r>
            <a:endParaRPr b="0" i="0" sz="1400" u="none" cap="none" strike="noStrike">
              <a:solidFill>
                <a:srgbClr val="000000"/>
              </a:solidFill>
              <a:latin typeface="Arial"/>
              <a:ea typeface="Arial"/>
              <a:cs typeface="Arial"/>
              <a:sym typeface="Arial"/>
            </a:endParaRPr>
          </a:p>
        </p:txBody>
      </p:sp>
      <p:sp>
        <p:nvSpPr>
          <p:cNvPr id="1028" name="Google Shape;1028;g33c0c73660d_0_16"/>
          <p:cNvSpPr txBox="1"/>
          <p:nvPr/>
        </p:nvSpPr>
        <p:spPr>
          <a:xfrm>
            <a:off x="1143000" y="182550"/>
            <a:ext cx="6355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Noiseless Channel: Nyquist Bit Rate</a:t>
            </a:r>
            <a:endParaRPr b="0" i="0" sz="1400" u="none" cap="none" strike="noStrike">
              <a:solidFill>
                <a:srgbClr val="000000"/>
              </a:solidFill>
              <a:latin typeface="Arial"/>
              <a:ea typeface="Arial"/>
              <a:cs typeface="Arial"/>
              <a:sym typeface="Arial"/>
            </a:endParaRPr>
          </a:p>
        </p:txBody>
      </p:sp>
      <p:pic>
        <p:nvPicPr>
          <p:cNvPr id="1029" name="Google Shape;1029;g33c0c73660d_0_16"/>
          <p:cNvPicPr preferRelativeResize="0"/>
          <p:nvPr/>
        </p:nvPicPr>
        <p:blipFill rotWithShape="1">
          <a:blip r:embed="rId3">
            <a:alphaModFix/>
          </a:blip>
          <a:srcRect b="0" l="0" r="0" t="0"/>
          <a:stretch/>
        </p:blipFill>
        <p:spPr>
          <a:xfrm>
            <a:off x="2100075" y="2477150"/>
            <a:ext cx="5267325" cy="838200"/>
          </a:xfrm>
          <a:prstGeom prst="rect">
            <a:avLst/>
          </a:prstGeom>
          <a:noFill/>
          <a:ln>
            <a:noFill/>
          </a:ln>
        </p:spPr>
      </p:pic>
      <p:sp>
        <p:nvSpPr>
          <p:cNvPr id="1030" name="Google Shape;1030;g33c0c73660d_0_16"/>
          <p:cNvSpPr txBox="1"/>
          <p:nvPr/>
        </p:nvSpPr>
        <p:spPr>
          <a:xfrm>
            <a:off x="366700" y="3846513"/>
            <a:ext cx="8534400" cy="523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b="1" i="1" lang="en-US" sz="2800" u="none" cap="none" strike="noStrike">
                <a:solidFill>
                  <a:schemeClr val="dk1"/>
                </a:solidFill>
                <a:latin typeface="Times New Roman"/>
                <a:ea typeface="Times New Roman"/>
                <a:cs typeface="Times New Roman"/>
                <a:sym typeface="Times New Roman"/>
              </a:rPr>
              <a:t>Here L is the number of signal levels used.</a:t>
            </a:r>
            <a:endParaRPr b="0" i="0" sz="1400" u="none" cap="none" strike="noStrike">
              <a:solidFill>
                <a:srgbClr val="000000"/>
              </a:solidFill>
              <a:latin typeface="Arial"/>
              <a:ea typeface="Arial"/>
              <a:cs typeface="Arial"/>
              <a:sym typeface="Arial"/>
            </a:endParaRPr>
          </a:p>
        </p:txBody>
      </p:sp>
      <p:sp>
        <p:nvSpPr>
          <p:cNvPr id="1031" name="Google Shape;1031;g33c0c73660d_0_16"/>
          <p:cNvSpPr txBox="1"/>
          <p:nvPr/>
        </p:nvSpPr>
        <p:spPr>
          <a:xfrm>
            <a:off x="1622075" y="4086725"/>
            <a:ext cx="6143400" cy="716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5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37" name="Google Shape;1037;p50"/>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38" name="Google Shape;1038;p50"/>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039" name="Google Shape;1039;p50"/>
          <p:cNvGrpSpPr/>
          <p:nvPr/>
        </p:nvGrpSpPr>
        <p:grpSpPr>
          <a:xfrm>
            <a:off x="490537" y="773112"/>
            <a:ext cx="738187" cy="474662"/>
            <a:chOff x="309" y="487"/>
            <a:chExt cx="465" cy="299"/>
          </a:xfrm>
        </p:grpSpPr>
        <p:sp>
          <p:nvSpPr>
            <p:cNvPr id="1040" name="Google Shape;1040;p50"/>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1" name="Google Shape;1041;p50"/>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042" name="Google Shape;1042;p50"/>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3" name="Google Shape;1043;p50"/>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4" name="Google Shape;1044;p50"/>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5" name="Google Shape;1045;p5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46" name="Google Shape;1046;p50"/>
          <p:cNvSpPr txBox="1"/>
          <p:nvPr/>
        </p:nvSpPr>
        <p:spPr>
          <a:xfrm>
            <a:off x="228600" y="1447800"/>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Consider a noiseless channel with a bandwidth of 3000 Hz transmitting a signal with two signal levels. The maximum bit rate can be calculated as</a:t>
            </a:r>
            <a:endParaRPr b="0" i="0" sz="1400" u="none" cap="none" strike="noStrike">
              <a:solidFill>
                <a:srgbClr val="000000"/>
              </a:solidFill>
              <a:latin typeface="Arial"/>
              <a:ea typeface="Arial"/>
              <a:cs typeface="Arial"/>
              <a:sym typeface="Arial"/>
            </a:endParaRPr>
          </a:p>
        </p:txBody>
      </p:sp>
      <p:sp>
        <p:nvSpPr>
          <p:cNvPr id="1047" name="Google Shape;1047;p50"/>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3.34</a:t>
            </a:r>
            <a:endParaRPr b="0" i="0" sz="1400" u="none" cap="none" strike="noStrike">
              <a:solidFill>
                <a:srgbClr val="000000"/>
              </a:solidFill>
              <a:latin typeface="Arial"/>
              <a:ea typeface="Arial"/>
              <a:cs typeface="Arial"/>
              <a:sym typeface="Arial"/>
            </a:endParaRPr>
          </a:p>
        </p:txBody>
      </p:sp>
      <p:pic>
        <p:nvPicPr>
          <p:cNvPr id="1048" name="Google Shape;1048;p50"/>
          <p:cNvPicPr preferRelativeResize="0"/>
          <p:nvPr/>
        </p:nvPicPr>
        <p:blipFill rotWithShape="1">
          <a:blip r:embed="rId3">
            <a:alphaModFix/>
          </a:blip>
          <a:srcRect b="0" l="0" r="0" t="0"/>
          <a:stretch/>
        </p:blipFill>
        <p:spPr>
          <a:xfrm>
            <a:off x="2398712" y="3252787"/>
            <a:ext cx="4346575" cy="3508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5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54" name="Google Shape;1054;p51"/>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5" name="Google Shape;1055;p51"/>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056" name="Google Shape;1056;p51"/>
          <p:cNvGrpSpPr/>
          <p:nvPr/>
        </p:nvGrpSpPr>
        <p:grpSpPr>
          <a:xfrm>
            <a:off x="490537" y="773112"/>
            <a:ext cx="738187" cy="474662"/>
            <a:chOff x="309" y="487"/>
            <a:chExt cx="465" cy="299"/>
          </a:xfrm>
        </p:grpSpPr>
        <p:sp>
          <p:nvSpPr>
            <p:cNvPr id="1057" name="Google Shape;1057;p51"/>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58" name="Google Shape;1058;p51"/>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059" name="Google Shape;1059;p51"/>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0" name="Google Shape;1060;p51"/>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1" name="Google Shape;1061;p51"/>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2" name="Google Shape;1062;p51"/>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63" name="Google Shape;1063;p51"/>
          <p:cNvSpPr txBox="1"/>
          <p:nvPr/>
        </p:nvSpPr>
        <p:spPr>
          <a:xfrm>
            <a:off x="228600" y="1370012"/>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Consider the same noiseless channel transmitting a signal with four signal levels (for each level, we send 2 bits). The maximum bit rate can be calculated as</a:t>
            </a:r>
            <a:endParaRPr b="0" i="0" sz="1400" u="none" cap="none" strike="noStrike">
              <a:solidFill>
                <a:srgbClr val="000000"/>
              </a:solidFill>
              <a:latin typeface="Arial"/>
              <a:ea typeface="Arial"/>
              <a:cs typeface="Arial"/>
              <a:sym typeface="Arial"/>
            </a:endParaRPr>
          </a:p>
        </p:txBody>
      </p:sp>
      <p:sp>
        <p:nvSpPr>
          <p:cNvPr id="1064" name="Google Shape;1064;p51"/>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3.35</a:t>
            </a:r>
            <a:endParaRPr b="0" i="0" sz="1400" u="none" cap="none" strike="noStrike">
              <a:solidFill>
                <a:srgbClr val="000000"/>
              </a:solidFill>
              <a:latin typeface="Arial"/>
              <a:ea typeface="Arial"/>
              <a:cs typeface="Arial"/>
              <a:sym typeface="Arial"/>
            </a:endParaRPr>
          </a:p>
        </p:txBody>
      </p:sp>
      <p:pic>
        <p:nvPicPr>
          <p:cNvPr id="1065" name="Google Shape;1065;p51"/>
          <p:cNvPicPr preferRelativeResize="0"/>
          <p:nvPr/>
        </p:nvPicPr>
        <p:blipFill rotWithShape="1">
          <a:blip r:embed="rId3">
            <a:alphaModFix/>
          </a:blip>
          <a:srcRect b="0" l="0" r="0" t="0"/>
          <a:stretch/>
        </p:blipFill>
        <p:spPr>
          <a:xfrm>
            <a:off x="1785937" y="3244850"/>
            <a:ext cx="5570537" cy="368300"/>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4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71" name="Google Shape;1071;p4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2" name="Google Shape;1072;p4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3" name="Google Shape;1073;p4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4" name="Google Shape;1074;p4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5" name="Google Shape;1075;p4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6" name="Google Shape;1076;p4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77" name="Google Shape;1077;p4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078" name="Google Shape;1078;p49"/>
          <p:cNvCxnSpPr/>
          <p:nvPr/>
        </p:nvCxnSpPr>
        <p:spPr>
          <a:xfrm>
            <a:off x="457200" y="29718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079" name="Google Shape;1079;p49"/>
          <p:cNvCxnSpPr/>
          <p:nvPr/>
        </p:nvCxnSpPr>
        <p:spPr>
          <a:xfrm>
            <a:off x="458787" y="4267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080" name="Google Shape;1080;p49"/>
          <p:cNvSpPr txBox="1"/>
          <p:nvPr/>
        </p:nvSpPr>
        <p:spPr>
          <a:xfrm>
            <a:off x="495300" y="3063875"/>
            <a:ext cx="8077200" cy="106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Increasing the levels of a signal may reduce the reliability of the system.</a:t>
            </a:r>
            <a:endParaRPr b="0" i="0" sz="1400" u="none" cap="none" strike="noStrike">
              <a:solidFill>
                <a:srgbClr val="000000"/>
              </a:solidFill>
              <a:latin typeface="Arial"/>
              <a:ea typeface="Arial"/>
              <a:cs typeface="Arial"/>
              <a:sym typeface="Arial"/>
            </a:endParaRPr>
          </a:p>
        </p:txBody>
      </p:sp>
      <p:grpSp>
        <p:nvGrpSpPr>
          <p:cNvPr id="1081" name="Google Shape;1081;p49"/>
          <p:cNvGrpSpPr/>
          <p:nvPr/>
        </p:nvGrpSpPr>
        <p:grpSpPr>
          <a:xfrm>
            <a:off x="457200" y="2286000"/>
            <a:ext cx="1143000" cy="566737"/>
            <a:chOff x="1200" y="1248"/>
            <a:chExt cx="720" cy="357"/>
          </a:xfrm>
        </p:grpSpPr>
        <p:pic>
          <p:nvPicPr>
            <p:cNvPr id="1082" name="Google Shape;1082;p4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083" name="Google Shape;1083;p4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089" name="Google Shape;1089;p5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0" name="Google Shape;1090;p5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091" name="Google Shape;1091;p52"/>
          <p:cNvGrpSpPr/>
          <p:nvPr/>
        </p:nvGrpSpPr>
        <p:grpSpPr>
          <a:xfrm>
            <a:off x="490537" y="773112"/>
            <a:ext cx="738187" cy="474662"/>
            <a:chOff x="309" y="487"/>
            <a:chExt cx="465" cy="299"/>
          </a:xfrm>
        </p:grpSpPr>
        <p:sp>
          <p:nvSpPr>
            <p:cNvPr id="1092" name="Google Shape;1092;p5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3" name="Google Shape;1093;p5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094" name="Google Shape;1094;p5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5" name="Google Shape;1095;p5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6" name="Google Shape;1096;p5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7" name="Google Shape;1097;p5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098" name="Google Shape;1098;p52"/>
          <p:cNvSpPr txBox="1"/>
          <p:nvPr/>
        </p:nvSpPr>
        <p:spPr>
          <a:xfrm>
            <a:off x="228600" y="1447800"/>
            <a:ext cx="8534400" cy="22272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need to send 265 kbps over a noiseless channel with a bandwidth of 20 kHz. How many signal levels do we need?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use the Nyquist formula as shown:</a:t>
            </a:r>
            <a:endParaRPr b="0" i="0" sz="1400" u="none" cap="none" strike="noStrike">
              <a:solidFill>
                <a:srgbClr val="000000"/>
              </a:solidFill>
              <a:latin typeface="Arial"/>
              <a:ea typeface="Arial"/>
              <a:cs typeface="Arial"/>
              <a:sym typeface="Arial"/>
            </a:endParaRPr>
          </a:p>
        </p:txBody>
      </p:sp>
      <p:sp>
        <p:nvSpPr>
          <p:cNvPr id="1099" name="Google Shape;1099;p52"/>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3.36</a:t>
            </a:r>
            <a:endParaRPr b="0" i="0" sz="1400" u="none" cap="none" strike="noStrike">
              <a:solidFill>
                <a:srgbClr val="000000"/>
              </a:solidFill>
              <a:latin typeface="Arial"/>
              <a:ea typeface="Arial"/>
              <a:cs typeface="Arial"/>
              <a:sym typeface="Arial"/>
            </a:endParaRPr>
          </a:p>
        </p:txBody>
      </p:sp>
      <p:pic>
        <p:nvPicPr>
          <p:cNvPr id="1100" name="Google Shape;1100;p52"/>
          <p:cNvPicPr preferRelativeResize="0"/>
          <p:nvPr/>
        </p:nvPicPr>
        <p:blipFill rotWithShape="1">
          <a:blip r:embed="rId3">
            <a:alphaModFix/>
          </a:blip>
          <a:srcRect b="0" l="0" r="0" t="0"/>
          <a:stretch/>
        </p:blipFill>
        <p:spPr>
          <a:xfrm>
            <a:off x="1857375" y="3810000"/>
            <a:ext cx="5427662" cy="755650"/>
          </a:xfrm>
          <a:prstGeom prst="rect">
            <a:avLst/>
          </a:prstGeom>
          <a:noFill/>
          <a:ln cap="flat" cmpd="thickThin" w="57150">
            <a:solidFill>
              <a:schemeClr val="folHlink"/>
            </a:solidFill>
            <a:prstDash val="solid"/>
            <a:miter lim="800000"/>
            <a:headEnd len="sm" w="sm" type="none"/>
            <a:tailEnd len="sm" w="sm" type="none"/>
          </a:ln>
        </p:spPr>
      </p:pic>
      <p:sp>
        <p:nvSpPr>
          <p:cNvPr id="1101" name="Google Shape;1101;p52"/>
          <p:cNvSpPr txBox="1"/>
          <p:nvPr/>
        </p:nvSpPr>
        <p:spPr>
          <a:xfrm>
            <a:off x="152400" y="46482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Since this result is not a power of 2, we need to either increase the number of levels or reduce the bit rate. If we have 128 levels, the bit rate is 280 kbps. If we have 64 levels, the bit rate is 240 kbps.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g33c0c73660d_0_8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07" name="Google Shape;1107;g33c0c73660d_0_82"/>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08" name="Google Shape;1108;g33c0c73660d_0_82"/>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09" name="Google Shape;1109;g33c0c73660d_0_82"/>
          <p:cNvGrpSpPr/>
          <p:nvPr/>
        </p:nvGrpSpPr>
        <p:grpSpPr>
          <a:xfrm>
            <a:off x="490537" y="773112"/>
            <a:ext cx="846137" cy="476249"/>
            <a:chOff x="309" y="487"/>
            <a:chExt cx="533" cy="300"/>
          </a:xfrm>
        </p:grpSpPr>
        <p:sp>
          <p:nvSpPr>
            <p:cNvPr id="1110" name="Google Shape;1110;g33c0c73660d_0_82"/>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1" name="Google Shape;1111;g33c0c73660d_0_82"/>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112" name="Google Shape;1112;g33c0c73660d_0_82"/>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3" name="Google Shape;1113;g33c0c73660d_0_82"/>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4" name="Google Shape;1114;g33c0c73660d_0_82"/>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5" name="Google Shape;1115;g33c0c73660d_0_82"/>
          <p:cNvSpPr txBox="1"/>
          <p:nvPr/>
        </p:nvSpPr>
        <p:spPr>
          <a:xfrm>
            <a:off x="152400" y="1447800"/>
            <a:ext cx="8839200" cy="838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16" name="Google Shape;1116;g33c0c73660d_0_82"/>
          <p:cNvSpPr txBox="1"/>
          <p:nvPr/>
        </p:nvSpPr>
        <p:spPr>
          <a:xfrm>
            <a:off x="228600" y="1292225"/>
            <a:ext cx="85344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b="1" i="1" lang="en-US" sz="2800" u="none" cap="none" strike="noStrike">
                <a:solidFill>
                  <a:schemeClr val="dk1"/>
                </a:solidFill>
                <a:latin typeface="Times New Roman"/>
                <a:ea typeface="Times New Roman"/>
                <a:cs typeface="Times New Roman"/>
                <a:sym typeface="Times New Roman"/>
              </a:rPr>
              <a:t>For a noisy channel, the theoretical maximum bit rate can be calculated using the following formula:</a:t>
            </a:r>
            <a:endParaRPr b="0" i="0" sz="1400" u="none" cap="none" strike="noStrike">
              <a:solidFill>
                <a:srgbClr val="000000"/>
              </a:solidFill>
              <a:latin typeface="Arial"/>
              <a:ea typeface="Arial"/>
              <a:cs typeface="Arial"/>
              <a:sym typeface="Arial"/>
            </a:endParaRPr>
          </a:p>
        </p:txBody>
      </p:sp>
      <p:sp>
        <p:nvSpPr>
          <p:cNvPr id="1117" name="Google Shape;1117;g33c0c73660d_0_82"/>
          <p:cNvSpPr txBox="1"/>
          <p:nvPr/>
        </p:nvSpPr>
        <p:spPr>
          <a:xfrm>
            <a:off x="1143000" y="182550"/>
            <a:ext cx="6355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Noisy Channel: Shannon Capacity</a:t>
            </a:r>
            <a:endParaRPr b="0" i="0" sz="1400" u="none" cap="none" strike="noStrike">
              <a:solidFill>
                <a:srgbClr val="000000"/>
              </a:solidFill>
              <a:latin typeface="Arial"/>
              <a:ea typeface="Arial"/>
              <a:cs typeface="Arial"/>
              <a:sym typeface="Arial"/>
            </a:endParaRPr>
          </a:p>
        </p:txBody>
      </p:sp>
      <p:sp>
        <p:nvSpPr>
          <p:cNvPr id="1118" name="Google Shape;1118;g33c0c73660d_0_82"/>
          <p:cNvSpPr txBox="1"/>
          <p:nvPr/>
        </p:nvSpPr>
        <p:spPr>
          <a:xfrm>
            <a:off x="366700" y="3846513"/>
            <a:ext cx="8534400" cy="95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100"/>
              <a:buFont typeface="Arial"/>
              <a:buNone/>
            </a:pPr>
            <a:r>
              <a:rPr b="1" i="1" lang="en-US" sz="2800" u="none" cap="none" strike="noStrike">
                <a:solidFill>
                  <a:schemeClr val="dk1"/>
                </a:solidFill>
                <a:latin typeface="Times New Roman"/>
                <a:ea typeface="Times New Roman"/>
                <a:cs typeface="Times New Roman"/>
                <a:sym typeface="Times New Roman"/>
              </a:rPr>
              <a:t>Here SNR is the signal to noise ratio, and capacity is the capacity of the channel in bits per second.</a:t>
            </a:r>
            <a:endParaRPr b="0" i="0" sz="1400" u="none" cap="none" strike="noStrike">
              <a:solidFill>
                <a:srgbClr val="000000"/>
              </a:solidFill>
              <a:latin typeface="Arial"/>
              <a:ea typeface="Arial"/>
              <a:cs typeface="Arial"/>
              <a:sym typeface="Arial"/>
            </a:endParaRPr>
          </a:p>
        </p:txBody>
      </p:sp>
      <p:pic>
        <p:nvPicPr>
          <p:cNvPr id="1119" name="Google Shape;1119;g33c0c73660d_0_82"/>
          <p:cNvPicPr preferRelativeResize="0"/>
          <p:nvPr/>
        </p:nvPicPr>
        <p:blipFill rotWithShape="1">
          <a:blip r:embed="rId3">
            <a:alphaModFix/>
          </a:blip>
          <a:srcRect b="0" l="0" r="0" t="0"/>
          <a:stretch/>
        </p:blipFill>
        <p:spPr>
          <a:xfrm>
            <a:off x="1790750" y="2733850"/>
            <a:ext cx="6086475" cy="6858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5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25" name="Google Shape;1125;p5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6" name="Google Shape;1126;p5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27" name="Google Shape;1127;p53"/>
          <p:cNvGrpSpPr/>
          <p:nvPr/>
        </p:nvGrpSpPr>
        <p:grpSpPr>
          <a:xfrm>
            <a:off x="490537" y="773112"/>
            <a:ext cx="738187" cy="474662"/>
            <a:chOff x="309" y="487"/>
            <a:chExt cx="465" cy="299"/>
          </a:xfrm>
        </p:grpSpPr>
        <p:sp>
          <p:nvSpPr>
            <p:cNvPr id="1128" name="Google Shape;1128;p5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29" name="Google Shape;1129;p5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130" name="Google Shape;1130;p5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31" name="Google Shape;1131;p5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32" name="Google Shape;1132;p5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33" name="Google Shape;1133;p5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34" name="Google Shape;1134;p53"/>
          <p:cNvSpPr txBox="1"/>
          <p:nvPr/>
        </p:nvSpPr>
        <p:spPr>
          <a:xfrm>
            <a:off x="228600" y="13716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Consider an extremely noisy channel in which the value of the signal-to-noise ratio is almost zero. In other words, the noise is so strong that the signal is faint. For this channel the capacity C is calculated as</a:t>
            </a:r>
            <a:endParaRPr b="0" i="0" sz="1400" u="none" cap="none" strike="noStrike">
              <a:solidFill>
                <a:srgbClr val="000000"/>
              </a:solidFill>
              <a:latin typeface="Arial"/>
              <a:ea typeface="Arial"/>
              <a:cs typeface="Arial"/>
              <a:sym typeface="Arial"/>
            </a:endParaRPr>
          </a:p>
        </p:txBody>
      </p:sp>
      <p:sp>
        <p:nvSpPr>
          <p:cNvPr id="1135" name="Google Shape;1135;p5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3.37</a:t>
            </a:r>
            <a:endParaRPr b="0" i="0" sz="1400" u="none" cap="none" strike="noStrike">
              <a:solidFill>
                <a:srgbClr val="000000"/>
              </a:solidFill>
              <a:latin typeface="Arial"/>
              <a:ea typeface="Arial"/>
              <a:cs typeface="Arial"/>
              <a:sym typeface="Arial"/>
            </a:endParaRPr>
          </a:p>
        </p:txBody>
      </p:sp>
      <p:pic>
        <p:nvPicPr>
          <p:cNvPr id="1136" name="Google Shape;1136;p53"/>
          <p:cNvPicPr preferRelativeResize="0"/>
          <p:nvPr/>
        </p:nvPicPr>
        <p:blipFill rotWithShape="1">
          <a:blip r:embed="rId3">
            <a:alphaModFix/>
          </a:blip>
          <a:srcRect b="0" l="0" r="0" t="0"/>
          <a:stretch/>
        </p:blipFill>
        <p:spPr>
          <a:xfrm>
            <a:off x="1209675" y="3476625"/>
            <a:ext cx="6723062" cy="333375"/>
          </a:xfrm>
          <a:prstGeom prst="rect">
            <a:avLst/>
          </a:prstGeom>
          <a:noFill/>
          <a:ln cap="flat" cmpd="thickThin" w="57150">
            <a:solidFill>
              <a:schemeClr val="folHlink"/>
            </a:solidFill>
            <a:prstDash val="solid"/>
            <a:miter lim="800000"/>
            <a:headEnd len="sm" w="sm" type="none"/>
            <a:tailEnd len="sm" w="sm" type="none"/>
          </a:ln>
        </p:spPr>
      </p:pic>
      <p:sp>
        <p:nvSpPr>
          <p:cNvPr id="1137" name="Google Shape;1137;p53"/>
          <p:cNvSpPr txBox="1"/>
          <p:nvPr/>
        </p:nvSpPr>
        <p:spPr>
          <a:xfrm>
            <a:off x="228600" y="4189412"/>
            <a:ext cx="8534400" cy="137318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This means that the capacity of this channel is zero regardless of the bandwidth. In other words, we cannot receive any data through this channel.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5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43" name="Google Shape;1143;p5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4" name="Google Shape;1144;p5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45" name="Google Shape;1145;p54"/>
          <p:cNvGrpSpPr/>
          <p:nvPr/>
        </p:nvGrpSpPr>
        <p:grpSpPr>
          <a:xfrm>
            <a:off x="490537" y="773112"/>
            <a:ext cx="738187" cy="474662"/>
            <a:chOff x="309" y="487"/>
            <a:chExt cx="465" cy="299"/>
          </a:xfrm>
        </p:grpSpPr>
        <p:sp>
          <p:nvSpPr>
            <p:cNvPr id="1146" name="Google Shape;1146;p5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7" name="Google Shape;1147;p5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148" name="Google Shape;1148;p5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49" name="Google Shape;1149;p5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50" name="Google Shape;1150;p5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51" name="Google Shape;1151;p5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52" name="Google Shape;1152;p54"/>
          <p:cNvSpPr txBox="1"/>
          <p:nvPr/>
        </p:nvSpPr>
        <p:spPr>
          <a:xfrm>
            <a:off x="228600" y="12319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calculate the theoretical highest bit rate of a regular telephone line. A telephone line normally has a bandwidth of 3000. The signal-to-noise ratio is usually 3162. For this channel the capacity is calculated as</a:t>
            </a:r>
            <a:endParaRPr b="0" i="0" sz="1400" u="none" cap="none" strike="noStrike">
              <a:solidFill>
                <a:srgbClr val="000000"/>
              </a:solidFill>
              <a:latin typeface="Arial"/>
              <a:ea typeface="Arial"/>
              <a:cs typeface="Arial"/>
              <a:sym typeface="Arial"/>
            </a:endParaRPr>
          </a:p>
        </p:txBody>
      </p:sp>
      <p:sp>
        <p:nvSpPr>
          <p:cNvPr id="1153" name="Google Shape;1153;p5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3.38</a:t>
            </a:r>
            <a:endParaRPr b="0" i="0" sz="1400" u="none" cap="none" strike="noStrike">
              <a:solidFill>
                <a:srgbClr val="000000"/>
              </a:solidFill>
              <a:latin typeface="Arial"/>
              <a:ea typeface="Arial"/>
              <a:cs typeface="Arial"/>
              <a:sym typeface="Arial"/>
            </a:endParaRPr>
          </a:p>
        </p:txBody>
      </p:sp>
      <p:pic>
        <p:nvPicPr>
          <p:cNvPr id="1154" name="Google Shape;1154;p54"/>
          <p:cNvPicPr preferRelativeResize="0"/>
          <p:nvPr/>
        </p:nvPicPr>
        <p:blipFill rotWithShape="1">
          <a:blip r:embed="rId3">
            <a:alphaModFix/>
          </a:blip>
          <a:srcRect b="0" l="0" r="0" t="0"/>
          <a:stretch/>
        </p:blipFill>
        <p:spPr>
          <a:xfrm>
            <a:off x="1047750" y="3352800"/>
            <a:ext cx="7046912" cy="674687"/>
          </a:xfrm>
          <a:prstGeom prst="rect">
            <a:avLst/>
          </a:prstGeom>
          <a:noFill/>
          <a:ln cap="flat" cmpd="thickThin" w="57150">
            <a:solidFill>
              <a:schemeClr val="folHlink"/>
            </a:solidFill>
            <a:prstDash val="solid"/>
            <a:miter lim="800000"/>
            <a:headEnd len="sm" w="sm" type="none"/>
            <a:tailEnd len="sm" w="sm" type="none"/>
          </a:ln>
        </p:spPr>
      </p:pic>
      <p:sp>
        <p:nvSpPr>
          <p:cNvPr id="1155" name="Google Shape;1155;p54"/>
          <p:cNvSpPr txBox="1"/>
          <p:nvPr/>
        </p:nvSpPr>
        <p:spPr>
          <a:xfrm>
            <a:off x="228600" y="44196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This means that the highest bit rate for a telephone line is 34.860 kbps. If we want to send data faster than this, we can either increase the bandwidth of the line or improve the signal-to-noise ratio.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55"/>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61" name="Google Shape;1161;p55"/>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2" name="Google Shape;1162;p55"/>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63" name="Google Shape;1163;p55"/>
          <p:cNvGrpSpPr/>
          <p:nvPr/>
        </p:nvGrpSpPr>
        <p:grpSpPr>
          <a:xfrm>
            <a:off x="490537" y="773112"/>
            <a:ext cx="738187" cy="474662"/>
            <a:chOff x="309" y="487"/>
            <a:chExt cx="465" cy="299"/>
          </a:xfrm>
        </p:grpSpPr>
        <p:sp>
          <p:nvSpPr>
            <p:cNvPr id="1164" name="Google Shape;1164;p55"/>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5" name="Google Shape;1165;p55"/>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166" name="Google Shape;1166;p55"/>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7" name="Google Shape;1167;p55"/>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8" name="Google Shape;1168;p55"/>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69" name="Google Shape;1169;p55"/>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70" name="Google Shape;1170;p55"/>
          <p:cNvSpPr txBox="1"/>
          <p:nvPr/>
        </p:nvSpPr>
        <p:spPr>
          <a:xfrm>
            <a:off x="228600" y="12192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signal-to-noise ratio is often given in decibels. Assume that SNR</a:t>
            </a:r>
            <a:r>
              <a:rPr b="1" baseline="-25000" i="1" lang="en-US" sz="2800" u="none" cap="none" strike="noStrike">
                <a:solidFill>
                  <a:schemeClr val="dk1"/>
                </a:solidFill>
                <a:latin typeface="Times New Roman"/>
                <a:ea typeface="Times New Roman"/>
                <a:cs typeface="Times New Roman"/>
                <a:sym typeface="Times New Roman"/>
              </a:rPr>
              <a:t>dB</a:t>
            </a:r>
            <a:r>
              <a:rPr b="1" i="1" lang="en-US" sz="2800" u="none" cap="none" strike="noStrike">
                <a:solidFill>
                  <a:schemeClr val="dk1"/>
                </a:solidFill>
                <a:latin typeface="Times New Roman"/>
                <a:ea typeface="Times New Roman"/>
                <a:cs typeface="Times New Roman"/>
                <a:sym typeface="Times New Roman"/>
              </a:rPr>
              <a:t> = 36 and the channel bandwidth is 2 MHz. The theoretical channel capacity can be calculated as</a:t>
            </a:r>
            <a:endParaRPr b="0" i="0" sz="1400" u="none" cap="none" strike="noStrike">
              <a:solidFill>
                <a:srgbClr val="000000"/>
              </a:solidFill>
              <a:latin typeface="Arial"/>
              <a:ea typeface="Arial"/>
              <a:cs typeface="Arial"/>
              <a:sym typeface="Arial"/>
            </a:endParaRPr>
          </a:p>
        </p:txBody>
      </p:sp>
      <p:sp>
        <p:nvSpPr>
          <p:cNvPr id="1171" name="Google Shape;1171;p55"/>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3.39</a:t>
            </a:r>
            <a:endParaRPr b="0" i="0" sz="1400" u="none" cap="none" strike="noStrike">
              <a:solidFill>
                <a:srgbClr val="000000"/>
              </a:solidFill>
              <a:latin typeface="Arial"/>
              <a:ea typeface="Arial"/>
              <a:cs typeface="Arial"/>
              <a:sym typeface="Arial"/>
            </a:endParaRPr>
          </a:p>
        </p:txBody>
      </p:sp>
      <p:pic>
        <p:nvPicPr>
          <p:cNvPr id="1172" name="Google Shape;1172;p55"/>
          <p:cNvPicPr preferRelativeResize="0"/>
          <p:nvPr/>
        </p:nvPicPr>
        <p:blipFill rotWithShape="1">
          <a:blip r:embed="rId3">
            <a:alphaModFix/>
          </a:blip>
          <a:srcRect b="0" l="0" r="0" t="0"/>
          <a:stretch/>
        </p:blipFill>
        <p:spPr>
          <a:xfrm>
            <a:off x="398462" y="3457575"/>
            <a:ext cx="8364537" cy="809625"/>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sp>
        <p:nvSpPr>
          <p:cNvPr id="1177" name="Google Shape;1177;p56"/>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78" name="Google Shape;1178;p56"/>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79" name="Google Shape;1179;p56"/>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80" name="Google Shape;1180;p56"/>
          <p:cNvGrpSpPr/>
          <p:nvPr/>
        </p:nvGrpSpPr>
        <p:grpSpPr>
          <a:xfrm>
            <a:off x="490537" y="773112"/>
            <a:ext cx="738187" cy="474662"/>
            <a:chOff x="309" y="487"/>
            <a:chExt cx="465" cy="299"/>
          </a:xfrm>
        </p:grpSpPr>
        <p:sp>
          <p:nvSpPr>
            <p:cNvPr id="1181" name="Google Shape;1181;p56"/>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2" name="Google Shape;1182;p56"/>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183" name="Google Shape;1183;p56"/>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4" name="Google Shape;1184;p56"/>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5" name="Google Shape;1185;p56"/>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6" name="Google Shape;1186;p56"/>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87" name="Google Shape;1187;p56"/>
          <p:cNvSpPr txBox="1"/>
          <p:nvPr/>
        </p:nvSpPr>
        <p:spPr>
          <a:xfrm>
            <a:off x="228600" y="1323975"/>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For practical purposes, when the SNR is very high, we can assume that SNR + 1 is almost the same as SNR. In these cases, the theoretical channel capacity can be simplified to</a:t>
            </a:r>
            <a:endParaRPr b="0" i="0" sz="1400" u="none" cap="none" strike="noStrike">
              <a:solidFill>
                <a:srgbClr val="000000"/>
              </a:solidFill>
              <a:latin typeface="Arial"/>
              <a:ea typeface="Arial"/>
              <a:cs typeface="Arial"/>
              <a:sym typeface="Arial"/>
            </a:endParaRPr>
          </a:p>
        </p:txBody>
      </p:sp>
      <p:sp>
        <p:nvSpPr>
          <p:cNvPr id="1188" name="Google Shape;1188;p56"/>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3.40</a:t>
            </a:r>
            <a:endParaRPr b="0" i="0" sz="1400" u="none" cap="none" strike="noStrike">
              <a:solidFill>
                <a:srgbClr val="000000"/>
              </a:solidFill>
              <a:latin typeface="Arial"/>
              <a:ea typeface="Arial"/>
              <a:cs typeface="Arial"/>
              <a:sym typeface="Arial"/>
            </a:endParaRPr>
          </a:p>
        </p:txBody>
      </p:sp>
      <p:pic>
        <p:nvPicPr>
          <p:cNvPr id="1189" name="Google Shape;1189;p56"/>
          <p:cNvPicPr preferRelativeResize="0"/>
          <p:nvPr/>
        </p:nvPicPr>
        <p:blipFill rotWithShape="1">
          <a:blip r:embed="rId3">
            <a:alphaModFix/>
          </a:blip>
          <a:srcRect b="0" l="0" r="0" t="0"/>
          <a:stretch/>
        </p:blipFill>
        <p:spPr>
          <a:xfrm>
            <a:off x="3187700" y="3200400"/>
            <a:ext cx="2222500" cy="639762"/>
          </a:xfrm>
          <a:prstGeom prst="rect">
            <a:avLst/>
          </a:prstGeom>
          <a:noFill/>
          <a:ln cap="flat" cmpd="thickThin" w="57150">
            <a:solidFill>
              <a:schemeClr val="folHlink"/>
            </a:solidFill>
            <a:prstDash val="solid"/>
            <a:miter lim="800000"/>
            <a:headEnd len="sm" w="sm" type="none"/>
            <a:tailEnd len="sm" w="sm" type="none"/>
          </a:ln>
        </p:spPr>
      </p:pic>
      <p:sp>
        <p:nvSpPr>
          <p:cNvPr id="1190" name="Google Shape;1190;p56"/>
          <p:cNvSpPr txBox="1"/>
          <p:nvPr/>
        </p:nvSpPr>
        <p:spPr>
          <a:xfrm>
            <a:off x="228600" y="41148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For example, we can calculate the theoretical capacity of the previous example as</a:t>
            </a:r>
            <a:endParaRPr b="0" i="0" sz="1400" u="none" cap="none" strike="noStrike">
              <a:solidFill>
                <a:srgbClr val="000000"/>
              </a:solidFill>
              <a:latin typeface="Arial"/>
              <a:ea typeface="Arial"/>
              <a:cs typeface="Arial"/>
              <a:sym typeface="Arial"/>
            </a:endParaRPr>
          </a:p>
        </p:txBody>
      </p:sp>
      <p:pic>
        <p:nvPicPr>
          <p:cNvPr id="1191" name="Google Shape;1191;p56"/>
          <p:cNvPicPr preferRelativeResize="0"/>
          <p:nvPr/>
        </p:nvPicPr>
        <p:blipFill rotWithShape="1">
          <a:blip r:embed="rId4">
            <a:alphaModFix/>
          </a:blip>
          <a:srcRect b="0" l="0" r="0" t="0"/>
          <a:stretch/>
        </p:blipFill>
        <p:spPr>
          <a:xfrm>
            <a:off x="2919412" y="5327650"/>
            <a:ext cx="3303587" cy="539750"/>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5" name="Shape 1195"/>
        <p:cNvGrpSpPr/>
        <p:nvPr/>
      </p:nvGrpSpPr>
      <p:grpSpPr>
        <a:xfrm>
          <a:off x="0" y="0"/>
          <a:ext cx="0" cy="0"/>
          <a:chOff x="0" y="0"/>
          <a:chExt cx="0" cy="0"/>
        </a:xfrm>
      </p:grpSpPr>
      <p:sp>
        <p:nvSpPr>
          <p:cNvPr id="1196" name="Google Shape;1196;p5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97" name="Google Shape;1197;p57"/>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198" name="Google Shape;1198;p57"/>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199" name="Google Shape;1199;p57"/>
          <p:cNvGrpSpPr/>
          <p:nvPr/>
        </p:nvGrpSpPr>
        <p:grpSpPr>
          <a:xfrm>
            <a:off x="490537" y="773112"/>
            <a:ext cx="738187" cy="474662"/>
            <a:chOff x="309" y="487"/>
            <a:chExt cx="465" cy="299"/>
          </a:xfrm>
        </p:grpSpPr>
        <p:sp>
          <p:nvSpPr>
            <p:cNvPr id="1200" name="Google Shape;1200;p57"/>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1" name="Google Shape;1201;p57"/>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202" name="Google Shape;1202;p57"/>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3" name="Google Shape;1203;p57"/>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4" name="Google Shape;1204;p57"/>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5" name="Google Shape;1205;p57"/>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06" name="Google Shape;1206;p57"/>
          <p:cNvSpPr txBox="1"/>
          <p:nvPr/>
        </p:nvSpPr>
        <p:spPr>
          <a:xfrm>
            <a:off x="228600" y="16002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have a channel with a 1-MHz bandwidth. The SNR for this channel is 63. What are the appropriate bit rate and signal level?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hlink"/>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First, we use the Shannon formula to find the upper limit.</a:t>
            </a:r>
            <a:endParaRPr b="0" i="0" sz="1400" u="none" cap="none" strike="noStrike">
              <a:solidFill>
                <a:srgbClr val="000000"/>
              </a:solidFill>
              <a:latin typeface="Arial"/>
              <a:ea typeface="Arial"/>
              <a:cs typeface="Arial"/>
              <a:sym typeface="Arial"/>
            </a:endParaRPr>
          </a:p>
        </p:txBody>
      </p:sp>
      <p:sp>
        <p:nvSpPr>
          <p:cNvPr id="1207" name="Google Shape;1207;p57"/>
          <p:cNvSpPr txBox="1"/>
          <p:nvPr/>
        </p:nvSpPr>
        <p:spPr>
          <a:xfrm>
            <a:off x="1143000" y="182550"/>
            <a:ext cx="74514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3.41: Using Both Limits</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hlink"/>
              </a:buClr>
              <a:buSzPts val="3200"/>
              <a:buFont typeface="Times New Roman"/>
              <a:buNone/>
            </a:pPr>
            <a:r>
              <a:t/>
            </a:r>
            <a:endParaRPr b="1" i="1" sz="3200" u="none" cap="none" strike="noStrike">
              <a:solidFill>
                <a:schemeClr val="hlink"/>
              </a:solidFill>
              <a:latin typeface="Times New Roman"/>
              <a:ea typeface="Times New Roman"/>
              <a:cs typeface="Times New Roman"/>
              <a:sym typeface="Times New Roman"/>
            </a:endParaRPr>
          </a:p>
        </p:txBody>
      </p:sp>
      <p:pic>
        <p:nvPicPr>
          <p:cNvPr id="1208" name="Google Shape;1208;p57"/>
          <p:cNvPicPr preferRelativeResize="0"/>
          <p:nvPr/>
        </p:nvPicPr>
        <p:blipFill rotWithShape="1">
          <a:blip r:embed="rId3">
            <a:alphaModFix/>
          </a:blip>
          <a:srcRect b="0" l="0" r="0" t="0"/>
          <a:stretch/>
        </p:blipFill>
        <p:spPr>
          <a:xfrm>
            <a:off x="885825" y="5121275"/>
            <a:ext cx="7370762" cy="441325"/>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58"/>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14" name="Google Shape;1214;p58"/>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5" name="Google Shape;1215;p58"/>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216" name="Google Shape;1216;p58"/>
          <p:cNvGrpSpPr/>
          <p:nvPr/>
        </p:nvGrpSpPr>
        <p:grpSpPr>
          <a:xfrm>
            <a:off x="490537" y="773112"/>
            <a:ext cx="738187" cy="474662"/>
            <a:chOff x="309" y="487"/>
            <a:chExt cx="465" cy="299"/>
          </a:xfrm>
        </p:grpSpPr>
        <p:sp>
          <p:nvSpPr>
            <p:cNvPr id="1217" name="Google Shape;1217;p58"/>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18" name="Google Shape;1218;p58"/>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219" name="Google Shape;1219;p58"/>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0" name="Google Shape;1220;p58"/>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1" name="Google Shape;1221;p58"/>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2" name="Google Shape;1222;p58"/>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23" name="Google Shape;1223;p58"/>
          <p:cNvSpPr txBox="1"/>
          <p:nvPr/>
        </p:nvSpPr>
        <p:spPr>
          <a:xfrm>
            <a:off x="228600" y="16002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Shannon formula gives us 6 Mbps, the upper limit. For better performance we choose something lower, 4 Mbps, for example. Then we use the Nyquist formula to find the number of signal levels.</a:t>
            </a:r>
            <a:endParaRPr b="0" i="0" sz="1400" u="none" cap="none" strike="noStrike">
              <a:solidFill>
                <a:srgbClr val="000000"/>
              </a:solidFill>
              <a:latin typeface="Arial"/>
              <a:ea typeface="Arial"/>
              <a:cs typeface="Arial"/>
              <a:sym typeface="Arial"/>
            </a:endParaRPr>
          </a:p>
        </p:txBody>
      </p:sp>
      <p:sp>
        <p:nvSpPr>
          <p:cNvPr id="1224" name="Google Shape;1224;p58"/>
          <p:cNvSpPr txBox="1"/>
          <p:nvPr/>
        </p:nvSpPr>
        <p:spPr>
          <a:xfrm>
            <a:off x="1143000" y="182562"/>
            <a:ext cx="45291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3.41 (continued)</a:t>
            </a:r>
            <a:endParaRPr b="0" i="0" sz="1400" u="none" cap="none" strike="noStrike">
              <a:solidFill>
                <a:srgbClr val="000000"/>
              </a:solidFill>
              <a:latin typeface="Arial"/>
              <a:ea typeface="Arial"/>
              <a:cs typeface="Arial"/>
              <a:sym typeface="Arial"/>
            </a:endParaRPr>
          </a:p>
        </p:txBody>
      </p:sp>
      <p:pic>
        <p:nvPicPr>
          <p:cNvPr id="1225" name="Google Shape;1225;p58"/>
          <p:cNvPicPr preferRelativeResize="0"/>
          <p:nvPr/>
        </p:nvPicPr>
        <p:blipFill rotWithShape="1">
          <a:blip r:embed="rId3">
            <a:alphaModFix/>
          </a:blip>
          <a:srcRect b="0" l="0" r="0" t="0"/>
          <a:stretch/>
        </p:blipFill>
        <p:spPr>
          <a:xfrm>
            <a:off x="2055812" y="3840162"/>
            <a:ext cx="5030787" cy="3508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59"/>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31" name="Google Shape;1231;p59"/>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2" name="Google Shape;1232;p59"/>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3" name="Google Shape;1233;p59"/>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4" name="Google Shape;1234;p59"/>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5" name="Google Shape;1235;p59"/>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6" name="Google Shape;1236;p59"/>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37" name="Google Shape;1237;p59"/>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238" name="Google Shape;1238;p59"/>
          <p:cNvCxnSpPr/>
          <p:nvPr/>
        </p:nvCxnSpPr>
        <p:spPr>
          <a:xfrm>
            <a:off x="457200" y="25146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239" name="Google Shape;1239;p59"/>
          <p:cNvCxnSpPr/>
          <p:nvPr/>
        </p:nvCxnSpPr>
        <p:spPr>
          <a:xfrm>
            <a:off x="458787" y="42672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240" name="Google Shape;1240;p59"/>
          <p:cNvSpPr txBox="1"/>
          <p:nvPr/>
        </p:nvSpPr>
        <p:spPr>
          <a:xfrm>
            <a:off x="495300" y="2606675"/>
            <a:ext cx="8077200" cy="1554162"/>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cap="none" strike="noStrike">
                <a:solidFill>
                  <a:schemeClr val="dk1"/>
                </a:solidFill>
                <a:latin typeface="Arial"/>
                <a:ea typeface="Arial"/>
                <a:cs typeface="Arial"/>
                <a:sym typeface="Arial"/>
              </a:rPr>
              <a:t>The Shannon capacity gives us the upper limit; the Nyquist formula tells us how many signal levels we need.</a:t>
            </a:r>
            <a:endParaRPr b="0" i="0" sz="1400" u="none" cap="none" strike="noStrike">
              <a:solidFill>
                <a:srgbClr val="000000"/>
              </a:solidFill>
              <a:latin typeface="Arial"/>
              <a:ea typeface="Arial"/>
              <a:cs typeface="Arial"/>
              <a:sym typeface="Arial"/>
            </a:endParaRPr>
          </a:p>
        </p:txBody>
      </p:sp>
      <p:grpSp>
        <p:nvGrpSpPr>
          <p:cNvPr id="1241" name="Google Shape;1241;p59"/>
          <p:cNvGrpSpPr/>
          <p:nvPr/>
        </p:nvGrpSpPr>
        <p:grpSpPr>
          <a:xfrm>
            <a:off x="457200" y="1871662"/>
            <a:ext cx="1143000" cy="566737"/>
            <a:chOff x="1200" y="1248"/>
            <a:chExt cx="720" cy="357"/>
          </a:xfrm>
        </p:grpSpPr>
        <p:pic>
          <p:nvPicPr>
            <p:cNvPr id="1242" name="Google Shape;1242;p59"/>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43" name="Google Shape;1243;p59"/>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3c0c73660d_0_147"/>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49" name="Google Shape;1249;g33c0c73660d_0_147"/>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0" name="Google Shape;1250;g33c0c73660d_0_147"/>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251" name="Google Shape;1251;g33c0c73660d_0_147"/>
          <p:cNvGrpSpPr/>
          <p:nvPr/>
        </p:nvGrpSpPr>
        <p:grpSpPr>
          <a:xfrm>
            <a:off x="490537" y="773112"/>
            <a:ext cx="846137" cy="476249"/>
            <a:chOff x="309" y="487"/>
            <a:chExt cx="533" cy="300"/>
          </a:xfrm>
        </p:grpSpPr>
        <p:sp>
          <p:nvSpPr>
            <p:cNvPr id="1252" name="Google Shape;1252;g33c0c73660d_0_147"/>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3" name="Google Shape;1253;g33c0c73660d_0_147"/>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254" name="Google Shape;1254;g33c0c73660d_0_147"/>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5" name="Google Shape;1255;g33c0c73660d_0_147"/>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6" name="Google Shape;1256;g33c0c73660d_0_147"/>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7" name="Google Shape;1257;g33c0c73660d_0_147"/>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58" name="Google Shape;1258;g33c0c73660d_0_147"/>
          <p:cNvSpPr txBox="1"/>
          <p:nvPr/>
        </p:nvSpPr>
        <p:spPr>
          <a:xfrm>
            <a:off x="228600" y="1600200"/>
            <a:ext cx="8534400" cy="4402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Suppose, you are sending a PDF at a speed of 64 kbps through a noiseless channel. The PDF contains 5 pages; each page contains 8 characters. The channel uses 16 signal levels. The signal strength of the channel is 245W.</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Calculate the bandwidth of the channel (in Hz).</a:t>
            </a:r>
            <a:r>
              <a:rPr b="1" i="1" lang="en-US" sz="2800" u="none" cap="none" strike="noStrike">
                <a:solidFill>
                  <a:srgbClr val="FF0000"/>
                </a:solidFill>
                <a:latin typeface="Times New Roman"/>
                <a:ea typeface="Times New Roman"/>
                <a:cs typeface="Times New Roman"/>
                <a:sym typeface="Times New Roman"/>
              </a:rPr>
              <a:t> [Ans: 8 kHz]</a:t>
            </a:r>
            <a:endParaRPr b="1" i="1" sz="2800" u="none" cap="none" strike="noStrike">
              <a:solidFill>
                <a:srgbClr val="FF0000"/>
              </a:solidFill>
              <a:latin typeface="Times New Roman"/>
              <a:ea typeface="Times New Roman"/>
              <a:cs typeface="Times New Roman"/>
              <a:sym typeface="Times New Roman"/>
            </a:endParaRPr>
          </a:p>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Suppose the channel becomes noisy, with only 75% of the bitrate of the noiseless channel. Calculate the power of the noise. </a:t>
            </a:r>
            <a:r>
              <a:rPr b="1" i="1" lang="en-US" sz="2800" u="none" cap="none" strike="noStrike">
                <a:solidFill>
                  <a:srgbClr val="FF0000"/>
                </a:solidFill>
                <a:latin typeface="Times New Roman"/>
                <a:ea typeface="Times New Roman"/>
                <a:cs typeface="Times New Roman"/>
                <a:sym typeface="Times New Roman"/>
              </a:rPr>
              <a:t>[Ans: 3.89W]</a:t>
            </a:r>
            <a:endParaRPr b="1" i="1" sz="2800" u="none" cap="none" strike="noStrike">
              <a:solidFill>
                <a:srgbClr val="FF0000"/>
              </a:solidFill>
              <a:latin typeface="Times New Roman"/>
              <a:ea typeface="Times New Roman"/>
              <a:cs typeface="Times New Roman"/>
              <a:sym typeface="Times New Roman"/>
            </a:endParaRPr>
          </a:p>
        </p:txBody>
      </p:sp>
      <p:sp>
        <p:nvSpPr>
          <p:cNvPr id="1259" name="Google Shape;1259;g33c0c73660d_0_147"/>
          <p:cNvSpPr txBox="1"/>
          <p:nvPr/>
        </p:nvSpPr>
        <p:spPr>
          <a:xfrm>
            <a:off x="1143000" y="182562"/>
            <a:ext cx="4529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Practice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3" name="Shape 1263"/>
        <p:cNvGrpSpPr/>
        <p:nvPr/>
      </p:nvGrpSpPr>
      <p:grpSpPr>
        <a:xfrm>
          <a:off x="0" y="0"/>
          <a:ext cx="0" cy="0"/>
          <a:chOff x="0" y="0"/>
          <a:chExt cx="0" cy="0"/>
        </a:xfrm>
      </p:grpSpPr>
      <p:sp>
        <p:nvSpPr>
          <p:cNvPr id="1264" name="Google Shape;1264;p6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65" name="Google Shape;1265;p60"/>
          <p:cNvSpPr txBox="1"/>
          <p:nvPr/>
        </p:nvSpPr>
        <p:spPr>
          <a:xfrm>
            <a:off x="0" y="0"/>
            <a:ext cx="9144000" cy="838200"/>
          </a:xfrm>
          <a:prstGeom prst="rect">
            <a:avLst/>
          </a:prstGeom>
          <a:solidFill>
            <a:srgbClr val="33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6" name="Google Shape;1266;p60"/>
          <p:cNvSpPr txBox="1"/>
          <p:nvPr/>
        </p:nvSpPr>
        <p:spPr>
          <a:xfrm>
            <a:off x="228600" y="76200"/>
            <a:ext cx="4237037"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imes"/>
              <a:buNone/>
            </a:pPr>
            <a:r>
              <a:rPr b="1" i="0" lang="en-US" sz="3200" u="none" cap="none" strike="noStrike">
                <a:solidFill>
                  <a:schemeClr val="dk1"/>
                </a:solidFill>
                <a:latin typeface="Times"/>
                <a:ea typeface="Times"/>
                <a:cs typeface="Times"/>
                <a:sym typeface="Times"/>
              </a:rPr>
              <a:t>3-6   PERFORMANCE</a:t>
            </a:r>
            <a:endParaRPr b="0" i="0" sz="1400" u="none" cap="none" strike="noStrike">
              <a:solidFill>
                <a:srgbClr val="000000"/>
              </a:solidFill>
              <a:latin typeface="Arial"/>
              <a:ea typeface="Arial"/>
              <a:cs typeface="Arial"/>
              <a:sym typeface="Arial"/>
            </a:endParaRPr>
          </a:p>
        </p:txBody>
      </p:sp>
      <p:sp>
        <p:nvSpPr>
          <p:cNvPr id="1267" name="Google Shape;1267;p60"/>
          <p:cNvSpPr txBox="1"/>
          <p:nvPr/>
        </p:nvSpPr>
        <p:spPr>
          <a:xfrm>
            <a:off x="8229600" y="6400800"/>
            <a:ext cx="18415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68" name="Google Shape;1268;p60"/>
          <p:cNvSpPr txBox="1"/>
          <p:nvPr/>
        </p:nvSpPr>
        <p:spPr>
          <a:xfrm>
            <a:off x="76200" y="1066800"/>
            <a:ext cx="8610600" cy="2227262"/>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One important issue in networking is the </a:t>
            </a:r>
            <a:r>
              <a:rPr b="1" i="1" lang="en-US" sz="2800" u="none" cap="none" strike="noStrike">
                <a:solidFill>
                  <a:schemeClr val="hlink"/>
                </a:solidFill>
                <a:latin typeface="Times New Roman"/>
                <a:ea typeface="Times New Roman"/>
                <a:cs typeface="Times New Roman"/>
                <a:sym typeface="Times New Roman"/>
              </a:rPr>
              <a:t>performance</a:t>
            </a:r>
            <a:r>
              <a:rPr b="1" i="1" lang="en-US" sz="2800" u="none" cap="none" strike="noStrike">
                <a:solidFill>
                  <a:schemeClr val="dk1"/>
                </a:solidFill>
                <a:latin typeface="Times New Roman"/>
                <a:ea typeface="Times New Roman"/>
                <a:cs typeface="Times New Roman"/>
                <a:sym typeface="Times New Roman"/>
              </a:rPr>
              <a:t> of the network—how good is it? We discuss quality of service, an overall measurement of network performance, in greater detail in Chapter 24. In this section, we introduce terms that we need for future chapters.</a:t>
            </a:r>
            <a:endParaRPr b="0" i="0" sz="1400" u="none" cap="none" strike="noStrike">
              <a:solidFill>
                <a:srgbClr val="000000"/>
              </a:solidFill>
              <a:latin typeface="Arial"/>
              <a:ea typeface="Arial"/>
              <a:cs typeface="Arial"/>
              <a:sym typeface="Arial"/>
            </a:endParaRPr>
          </a:p>
        </p:txBody>
      </p:sp>
      <p:sp>
        <p:nvSpPr>
          <p:cNvPr id="1269" name="Google Shape;1269;p60"/>
          <p:cNvSpPr txBox="1"/>
          <p:nvPr/>
        </p:nvSpPr>
        <p:spPr>
          <a:xfrm>
            <a:off x="152400" y="4819650"/>
            <a:ext cx="5715000" cy="12001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33CC"/>
              </a:buClr>
              <a:buSzPts val="2400"/>
              <a:buFont typeface="Times New Roman"/>
              <a:buNone/>
            </a:pPr>
            <a:r>
              <a:rPr b="1" i="0" lang="en-US" sz="2400" u="none" cap="none" strike="noStrike">
                <a:solidFill>
                  <a:srgbClr val="0033CC"/>
                </a:solidFill>
                <a:latin typeface="Times New Roman"/>
                <a:ea typeface="Times New Roman"/>
                <a:cs typeface="Times New Roman"/>
                <a:sym typeface="Times New Roman"/>
              </a:rPr>
              <a:t>Bandwidth</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Throughput</a:t>
            </a:r>
            <a:br>
              <a:rPr b="1" i="0" lang="en-US" sz="2400" u="none" cap="none" strike="noStrike">
                <a:solidFill>
                  <a:srgbClr val="0033CC"/>
                </a:solidFill>
                <a:latin typeface="Times New Roman"/>
                <a:ea typeface="Times New Roman"/>
                <a:cs typeface="Times New Roman"/>
                <a:sym typeface="Times New Roman"/>
              </a:rPr>
            </a:br>
            <a:r>
              <a:rPr b="1" i="0" lang="en-US" sz="2400" u="none" cap="none" strike="noStrike">
                <a:solidFill>
                  <a:srgbClr val="0033CC"/>
                </a:solidFill>
                <a:latin typeface="Times New Roman"/>
                <a:ea typeface="Times New Roman"/>
                <a:cs typeface="Times New Roman"/>
                <a:sym typeface="Times New Roman"/>
              </a:rPr>
              <a:t>Latency (Delay)</a:t>
            </a:r>
            <a:endParaRPr b="0" i="0" sz="1400" u="none" cap="none" strike="noStrike">
              <a:solidFill>
                <a:srgbClr val="000000"/>
              </a:solidFill>
              <a:latin typeface="Arial"/>
              <a:ea typeface="Arial"/>
              <a:cs typeface="Arial"/>
              <a:sym typeface="Arial"/>
            </a:endParaRPr>
          </a:p>
        </p:txBody>
      </p:sp>
      <p:sp>
        <p:nvSpPr>
          <p:cNvPr id="1270" name="Google Shape;1270;p60"/>
          <p:cNvSpPr txBox="1"/>
          <p:nvPr/>
        </p:nvSpPr>
        <p:spPr>
          <a:xfrm>
            <a:off x="165100" y="4343400"/>
            <a:ext cx="4862512"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hlink"/>
              </a:buClr>
              <a:buSzPts val="2800"/>
              <a:buFont typeface="Times New Roman"/>
              <a:buNone/>
            </a:pPr>
            <a:r>
              <a:rPr b="1" i="1" lang="en-US" sz="2800" u="sng" cap="none" strike="noStrike">
                <a:solidFill>
                  <a:schemeClr val="hlink"/>
                </a:solidFill>
                <a:latin typeface="Times New Roman"/>
                <a:ea typeface="Times New Roman"/>
                <a:cs typeface="Times New Roman"/>
                <a:sym typeface="Times New Roman"/>
              </a:rPr>
              <a:t>Topics discussed in this section: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61"/>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76" name="Google Shape;1276;p61"/>
          <p:cNvSpPr txBox="1"/>
          <p:nvPr/>
        </p:nvSpPr>
        <p:spPr>
          <a:xfrm>
            <a:off x="366712" y="107950"/>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7" name="Google Shape;1277;p61"/>
          <p:cNvSpPr txBox="1"/>
          <p:nvPr/>
        </p:nvSpPr>
        <p:spPr>
          <a:xfrm>
            <a:off x="749300" y="107950"/>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8" name="Google Shape;1278;p61"/>
          <p:cNvSpPr txBox="1"/>
          <p:nvPr/>
        </p:nvSpPr>
        <p:spPr>
          <a:xfrm>
            <a:off x="490537" y="530225"/>
            <a:ext cx="422275" cy="47466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79" name="Google Shape;1279;p61"/>
          <p:cNvSpPr txBox="1"/>
          <p:nvPr/>
        </p:nvSpPr>
        <p:spPr>
          <a:xfrm>
            <a:off x="860425" y="530225"/>
            <a:ext cx="368300" cy="47466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0" name="Google Shape;1280;p61"/>
          <p:cNvSpPr txBox="1"/>
          <p:nvPr/>
        </p:nvSpPr>
        <p:spPr>
          <a:xfrm>
            <a:off x="76200" y="457200"/>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1" name="Google Shape;1281;p61"/>
          <p:cNvSpPr txBox="1"/>
          <p:nvPr/>
        </p:nvSpPr>
        <p:spPr>
          <a:xfrm>
            <a:off x="711200" y="0"/>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82" name="Google Shape;1282;p61"/>
          <p:cNvSpPr txBox="1"/>
          <p:nvPr/>
        </p:nvSpPr>
        <p:spPr>
          <a:xfrm>
            <a:off x="442912" y="533400"/>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cxnSp>
        <p:nvCxnSpPr>
          <p:cNvPr id="1283" name="Google Shape;1283;p61"/>
          <p:cNvCxnSpPr/>
          <p:nvPr/>
        </p:nvCxnSpPr>
        <p:spPr>
          <a:xfrm>
            <a:off x="457200" y="1676400"/>
            <a:ext cx="8153400" cy="0"/>
          </a:xfrm>
          <a:prstGeom prst="straightConnector1">
            <a:avLst/>
          </a:prstGeom>
          <a:noFill/>
          <a:ln cap="flat" cmpd="sng" w="76200">
            <a:solidFill>
              <a:srgbClr val="009900"/>
            </a:solidFill>
            <a:prstDash val="solid"/>
            <a:miter lim="800000"/>
            <a:headEnd len="sm" w="sm" type="none"/>
            <a:tailEnd len="sm" w="sm" type="none"/>
          </a:ln>
        </p:spPr>
      </p:cxnSp>
      <p:cxnSp>
        <p:nvCxnSpPr>
          <p:cNvPr id="1284" name="Google Shape;1284;p61"/>
          <p:cNvCxnSpPr/>
          <p:nvPr/>
        </p:nvCxnSpPr>
        <p:spPr>
          <a:xfrm>
            <a:off x="458787" y="6248400"/>
            <a:ext cx="8153400" cy="0"/>
          </a:xfrm>
          <a:prstGeom prst="straightConnector1">
            <a:avLst/>
          </a:prstGeom>
          <a:noFill/>
          <a:ln cap="flat" cmpd="sng" w="76200">
            <a:solidFill>
              <a:srgbClr val="009900"/>
            </a:solidFill>
            <a:prstDash val="solid"/>
            <a:miter lim="800000"/>
            <a:headEnd len="sm" w="sm" type="none"/>
            <a:tailEnd len="sm" w="sm" type="none"/>
          </a:ln>
        </p:spPr>
      </p:cxnSp>
      <p:sp>
        <p:nvSpPr>
          <p:cNvPr id="1285" name="Google Shape;1285;p61"/>
          <p:cNvSpPr txBox="1"/>
          <p:nvPr/>
        </p:nvSpPr>
        <p:spPr>
          <a:xfrm>
            <a:off x="495300" y="1692275"/>
            <a:ext cx="8115300" cy="4186800"/>
          </a:xfrm>
          <a:prstGeom prst="rect">
            <a:avLst/>
          </a:prstGeom>
          <a:solidFill>
            <a:srgbClr val="99FF33"/>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folHlink"/>
              </a:buClr>
              <a:buSzPts val="3200"/>
              <a:buFont typeface="Arial"/>
              <a:buNone/>
            </a:pPr>
            <a:r>
              <a:rPr b="1" i="1" lang="en-US" sz="3200" u="none" cap="none" strike="noStrike">
                <a:solidFill>
                  <a:schemeClr val="folHlink"/>
                </a:solidFill>
                <a:latin typeface="Arial"/>
                <a:ea typeface="Arial"/>
                <a:cs typeface="Arial"/>
                <a:sym typeface="Arial"/>
              </a:rPr>
              <a:t>In networking, we use the term bandwidth in two contexts.</a:t>
            </a:r>
            <a:endParaRPr b="1" i="1" sz="3200" u="none" cap="none" strike="noStrike">
              <a:solidFill>
                <a:schemeClr val="folHlink"/>
              </a:solidFill>
              <a:latin typeface="Arial"/>
              <a:ea typeface="Arial"/>
              <a:cs typeface="Arial"/>
              <a:sym typeface="Arial"/>
            </a:endParaRPr>
          </a:p>
          <a:p>
            <a:pPr indent="0" lvl="0" marL="0" marR="0" rtl="0" algn="ctr">
              <a:lnSpc>
                <a:spcPct val="100000"/>
              </a:lnSpc>
              <a:spcBef>
                <a:spcPts val="0"/>
              </a:spcBef>
              <a:spcAft>
                <a:spcPts val="0"/>
              </a:spcAft>
              <a:buClr>
                <a:schemeClr val="folHlink"/>
              </a:buClr>
              <a:buSzPts val="3200"/>
              <a:buFont typeface="Arial"/>
              <a:buNone/>
            </a:pPr>
            <a:r>
              <a:t/>
            </a:r>
            <a:endParaRPr b="1" i="1" sz="3200" u="none" cap="none" strike="noStrike">
              <a:solidFill>
                <a:schemeClr val="folHlink"/>
              </a:solidFill>
              <a:latin typeface="Arial"/>
              <a:ea typeface="Arial"/>
              <a:cs typeface="Arial"/>
              <a:sym typeface="Arial"/>
            </a:endParaRPr>
          </a:p>
          <a:p>
            <a:pPr indent="0" lvl="0" marL="0" marR="0" rtl="0" algn="just">
              <a:lnSpc>
                <a:spcPct val="100000"/>
              </a:lnSpc>
              <a:spcBef>
                <a:spcPts val="0"/>
              </a:spcBef>
              <a:spcAft>
                <a:spcPts val="0"/>
              </a:spcAft>
              <a:buClr>
                <a:schemeClr val="folHlink"/>
              </a:buClr>
              <a:buSzPts val="2800"/>
              <a:buFont typeface="Arial"/>
              <a:buNone/>
            </a:pPr>
            <a:r>
              <a:rPr b="1" i="0" lang="en-US" sz="2800" u="none" cap="none" strike="noStrike">
                <a:solidFill>
                  <a:schemeClr val="folHlink"/>
                </a:solidFill>
                <a:latin typeface="Arial"/>
                <a:ea typeface="Arial"/>
                <a:cs typeface="Arial"/>
                <a:sym typeface="Arial"/>
              </a:rPr>
              <a:t>❏</a:t>
            </a:r>
            <a:r>
              <a:rPr b="1" i="0" lang="en-US" sz="2800" u="none" cap="none" strike="noStrike">
                <a:solidFill>
                  <a:schemeClr val="dk1"/>
                </a:solidFill>
                <a:latin typeface="Arial"/>
                <a:ea typeface="Arial"/>
                <a:cs typeface="Arial"/>
                <a:sym typeface="Arial"/>
              </a:rPr>
              <a:t> </a:t>
            </a:r>
            <a:r>
              <a:rPr b="1" i="0" lang="en-US" sz="2600" u="none" cap="none" strike="noStrike">
                <a:solidFill>
                  <a:schemeClr val="dk1"/>
                </a:solidFill>
                <a:latin typeface="Arial"/>
                <a:ea typeface="Arial"/>
                <a:cs typeface="Arial"/>
                <a:sym typeface="Arial"/>
              </a:rPr>
              <a:t>The first, bandwidth in hertz, refers to the range of frequencies in a composite signal or the range of frequencies that a channel can pass.</a:t>
            </a:r>
            <a:br>
              <a:rPr b="1" i="0" lang="en-US" sz="2600" u="none" cap="none" strike="noStrike">
                <a:solidFill>
                  <a:schemeClr val="dk1"/>
                </a:solidFill>
                <a:latin typeface="Arial"/>
                <a:ea typeface="Arial"/>
                <a:cs typeface="Arial"/>
                <a:sym typeface="Arial"/>
              </a:rPr>
            </a:br>
            <a:endParaRPr b="0" i="0" sz="12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folHlink"/>
              </a:buClr>
              <a:buSzPts val="2800"/>
              <a:buFont typeface="Arial"/>
              <a:buNone/>
            </a:pPr>
            <a:r>
              <a:rPr b="1" i="0" lang="en-US" sz="2600" u="none" cap="none" strike="noStrike">
                <a:solidFill>
                  <a:schemeClr val="folHlink"/>
                </a:solidFill>
                <a:latin typeface="Arial"/>
                <a:ea typeface="Arial"/>
                <a:cs typeface="Arial"/>
                <a:sym typeface="Arial"/>
              </a:rPr>
              <a:t>❏</a:t>
            </a:r>
            <a:r>
              <a:rPr b="1" i="0" lang="en-US" sz="2600" u="none" cap="none" strike="noStrike">
                <a:solidFill>
                  <a:schemeClr val="dk1"/>
                </a:solidFill>
                <a:latin typeface="Arial"/>
                <a:ea typeface="Arial"/>
                <a:cs typeface="Arial"/>
                <a:sym typeface="Arial"/>
              </a:rPr>
              <a:t> The second, bandwidth in bits per second, refers to the speed of bit transmission in a channel or link.</a:t>
            </a:r>
            <a:endParaRPr b="0" i="0" sz="1200" u="none" cap="none" strike="noStrike">
              <a:solidFill>
                <a:srgbClr val="000000"/>
              </a:solidFill>
              <a:latin typeface="Arial"/>
              <a:ea typeface="Arial"/>
              <a:cs typeface="Arial"/>
              <a:sym typeface="Arial"/>
            </a:endParaRPr>
          </a:p>
        </p:txBody>
      </p:sp>
      <p:grpSp>
        <p:nvGrpSpPr>
          <p:cNvPr id="1286" name="Google Shape;1286;p61"/>
          <p:cNvGrpSpPr/>
          <p:nvPr/>
        </p:nvGrpSpPr>
        <p:grpSpPr>
          <a:xfrm>
            <a:off x="457200" y="1033462"/>
            <a:ext cx="1143000" cy="566737"/>
            <a:chOff x="1200" y="1248"/>
            <a:chExt cx="720" cy="357"/>
          </a:xfrm>
        </p:grpSpPr>
        <p:pic>
          <p:nvPicPr>
            <p:cNvPr id="1287" name="Google Shape;1287;p61"/>
            <p:cNvPicPr preferRelativeResize="0"/>
            <p:nvPr/>
          </p:nvPicPr>
          <p:blipFill rotWithShape="1">
            <a:blip r:embed="rId3">
              <a:alphaModFix/>
            </a:blip>
            <a:srcRect b="0" l="0" r="0" t="0"/>
            <a:stretch/>
          </p:blipFill>
          <p:spPr>
            <a:xfrm>
              <a:off x="1200" y="1248"/>
              <a:ext cx="720" cy="357"/>
            </a:xfrm>
            <a:prstGeom prst="rect">
              <a:avLst/>
            </a:prstGeom>
            <a:noFill/>
            <a:ln>
              <a:noFill/>
            </a:ln>
          </p:spPr>
        </p:pic>
        <p:sp>
          <p:nvSpPr>
            <p:cNvPr id="1288" name="Google Shape;1288;p61"/>
            <p:cNvSpPr txBox="1"/>
            <p:nvPr/>
          </p:nvSpPr>
          <p:spPr>
            <a:xfrm>
              <a:off x="1284" y="1248"/>
              <a:ext cx="551" cy="32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Note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62"/>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294" name="Google Shape;1294;p62"/>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5" name="Google Shape;1295;p62"/>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296" name="Google Shape;1296;p62"/>
          <p:cNvGrpSpPr/>
          <p:nvPr/>
        </p:nvGrpSpPr>
        <p:grpSpPr>
          <a:xfrm>
            <a:off x="490537" y="773112"/>
            <a:ext cx="738187" cy="474662"/>
            <a:chOff x="309" y="487"/>
            <a:chExt cx="465" cy="299"/>
          </a:xfrm>
        </p:grpSpPr>
        <p:sp>
          <p:nvSpPr>
            <p:cNvPr id="1297" name="Google Shape;1297;p62"/>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298" name="Google Shape;1298;p62"/>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299" name="Google Shape;1299;p62"/>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00" name="Google Shape;1300;p62"/>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01" name="Google Shape;1301;p62"/>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02" name="Google Shape;1302;p62"/>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03" name="Google Shape;1303;p62"/>
          <p:cNvSpPr txBox="1"/>
          <p:nvPr/>
        </p:nvSpPr>
        <p:spPr>
          <a:xfrm>
            <a:off x="228600" y="1447800"/>
            <a:ext cx="8534400" cy="18002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bandwidth of a subscriber line is 4 kHz for voice or data. The bandwidth of this line for data transmission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can be up to 56,000 bps using a sophisticated modem to change the digital signal to analog.</a:t>
            </a:r>
            <a:endParaRPr b="0" i="0" sz="1400" u="none" cap="none" strike="noStrike">
              <a:solidFill>
                <a:srgbClr val="000000"/>
              </a:solidFill>
              <a:latin typeface="Arial"/>
              <a:ea typeface="Arial"/>
              <a:cs typeface="Arial"/>
              <a:sym typeface="Arial"/>
            </a:endParaRPr>
          </a:p>
        </p:txBody>
      </p:sp>
      <p:sp>
        <p:nvSpPr>
          <p:cNvPr id="1304" name="Google Shape;1304;p62"/>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g33c0c73660d_0_210"/>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10" name="Google Shape;1310;g33c0c73660d_0_210"/>
          <p:cNvSpPr txBox="1"/>
          <p:nvPr/>
        </p:nvSpPr>
        <p:spPr>
          <a:xfrm>
            <a:off x="366712" y="350837"/>
            <a:ext cx="438300" cy="474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1" name="Google Shape;1311;g33c0c73660d_0_210"/>
          <p:cNvSpPr txBox="1"/>
          <p:nvPr/>
        </p:nvSpPr>
        <p:spPr>
          <a:xfrm>
            <a:off x="749300" y="350837"/>
            <a:ext cx="328500" cy="474600"/>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312" name="Google Shape;1312;g33c0c73660d_0_210"/>
          <p:cNvGrpSpPr/>
          <p:nvPr/>
        </p:nvGrpSpPr>
        <p:grpSpPr>
          <a:xfrm>
            <a:off x="490537" y="773112"/>
            <a:ext cx="846137" cy="476249"/>
            <a:chOff x="309" y="487"/>
            <a:chExt cx="533" cy="300"/>
          </a:xfrm>
        </p:grpSpPr>
        <p:sp>
          <p:nvSpPr>
            <p:cNvPr id="1313" name="Google Shape;1313;g33c0c73660d_0_210"/>
            <p:cNvSpPr txBox="1"/>
            <p:nvPr/>
          </p:nvSpPr>
          <p:spPr>
            <a:xfrm>
              <a:off x="309" y="487"/>
              <a:ext cx="300" cy="300"/>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4" name="Google Shape;1314;g33c0c73660d_0_210"/>
            <p:cNvSpPr txBox="1"/>
            <p:nvPr/>
          </p:nvSpPr>
          <p:spPr>
            <a:xfrm>
              <a:off x="542" y="487"/>
              <a:ext cx="300" cy="300"/>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315" name="Google Shape;1315;g33c0c73660d_0_210"/>
          <p:cNvSpPr txBox="1"/>
          <p:nvPr/>
        </p:nvSpPr>
        <p:spPr>
          <a:xfrm>
            <a:off x="76200" y="700087"/>
            <a:ext cx="560400" cy="422400"/>
          </a:xfrm>
          <a:prstGeom prst="rect">
            <a:avLst/>
          </a:prstGeom>
          <a:gradFill>
            <a:gsLst>
              <a:gs pos="0">
                <a:schemeClr val="lt1"/>
              </a:gs>
              <a:gs pos="100000">
                <a:schemeClr val="hlink"/>
              </a:gs>
            </a:gsLst>
            <a:lin ang="18900044"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6" name="Google Shape;1316;g33c0c73660d_0_210"/>
          <p:cNvSpPr txBox="1"/>
          <p:nvPr/>
        </p:nvSpPr>
        <p:spPr>
          <a:xfrm>
            <a:off x="711200" y="242887"/>
            <a:ext cx="31800" cy="10524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7" name="Google Shape;1317;g33c0c73660d_0_210"/>
          <p:cNvSpPr txBox="1"/>
          <p:nvPr/>
        </p:nvSpPr>
        <p:spPr>
          <a:xfrm>
            <a:off x="442912" y="773112"/>
            <a:ext cx="8226300" cy="3180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8" name="Google Shape;1318;g33c0c73660d_0_210"/>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19" name="Google Shape;1319;g33c0c73660d_0_210"/>
          <p:cNvSpPr txBox="1"/>
          <p:nvPr/>
        </p:nvSpPr>
        <p:spPr>
          <a:xfrm>
            <a:off x="366700" y="1249350"/>
            <a:ext cx="8534400" cy="5695200"/>
          </a:xfrm>
          <a:prstGeom prst="rect">
            <a:avLst/>
          </a:prstGeom>
          <a:noFill/>
          <a:ln>
            <a:noFill/>
          </a:ln>
        </p:spPr>
        <p:txBody>
          <a:bodyPr anchorCtr="0" anchor="t" bIns="45700" lIns="91425" spcFirstLastPara="1" rIns="91425" wrap="square" tIns="45700">
            <a:spAutoFit/>
          </a:bodyPr>
          <a:lstStyle/>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The throughput is a measure of how fast we can actually send data through a network. </a:t>
            </a:r>
            <a:endParaRPr b="1" i="1" sz="2800" u="none" cap="none" strike="noStrike">
              <a:solidFill>
                <a:schemeClr val="dk1"/>
              </a:solidFill>
              <a:latin typeface="Times New Roman"/>
              <a:ea typeface="Times New Roman"/>
              <a:cs typeface="Times New Roman"/>
              <a:sym typeface="Times New Roman"/>
            </a:endParaRPr>
          </a:p>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A link may have a bandwidth of B bps, but we can only send T bps through this link with T always less than B. </a:t>
            </a:r>
            <a:endParaRPr b="1" i="1" sz="2800" u="none" cap="none" strike="noStrike">
              <a:solidFill>
                <a:schemeClr val="dk1"/>
              </a:solidFill>
              <a:latin typeface="Times New Roman"/>
              <a:ea typeface="Times New Roman"/>
              <a:cs typeface="Times New Roman"/>
              <a:sym typeface="Times New Roman"/>
            </a:endParaRPr>
          </a:p>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In other words, the bandwidth is a potential measurement of a link; the throughput is an actual measurement of how fast we can send data.</a:t>
            </a:r>
            <a:endParaRPr b="1" i="1" sz="2800" u="none" cap="none" strike="noStrike">
              <a:solidFill>
                <a:schemeClr val="dk1"/>
              </a:solidFill>
              <a:latin typeface="Times New Roman"/>
              <a:ea typeface="Times New Roman"/>
              <a:cs typeface="Times New Roman"/>
              <a:sym typeface="Times New Roman"/>
            </a:endParaRPr>
          </a:p>
          <a:p>
            <a:pPr indent="-406400" lvl="0" marL="457200" marR="0" rtl="0" algn="just">
              <a:lnSpc>
                <a:spcPct val="100000"/>
              </a:lnSpc>
              <a:spcBef>
                <a:spcPts val="0"/>
              </a:spcBef>
              <a:spcAft>
                <a:spcPts val="0"/>
              </a:spcAft>
              <a:buClr>
                <a:schemeClr val="dk1"/>
              </a:buClr>
              <a:buSzPts val="2800"/>
              <a:buFont typeface="Times New Roman"/>
              <a:buChar char="●"/>
            </a:pPr>
            <a:r>
              <a:rPr b="1" i="1" lang="en-US" sz="2800" u="none" cap="none" strike="noStrike">
                <a:solidFill>
                  <a:schemeClr val="dk1"/>
                </a:solidFill>
                <a:latin typeface="Times New Roman"/>
                <a:ea typeface="Times New Roman"/>
                <a:cs typeface="Times New Roman"/>
                <a:sym typeface="Times New Roman"/>
              </a:rPr>
              <a:t>For example, we may have a link with a bandwidth of 1 Mbps, but the devices connected to the end of the link may handle only 200 kbps. This means that we cannot send more than 200 kbps through this link.</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p:txBody>
      </p:sp>
      <p:sp>
        <p:nvSpPr>
          <p:cNvPr id="1320" name="Google Shape;1320;g33c0c73660d_0_210"/>
          <p:cNvSpPr txBox="1"/>
          <p:nvPr/>
        </p:nvSpPr>
        <p:spPr>
          <a:xfrm>
            <a:off x="1143000" y="182562"/>
            <a:ext cx="24876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Throughput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6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26" name="Google Shape;1326;p6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27" name="Google Shape;1327;p6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328" name="Google Shape;1328;p63"/>
          <p:cNvGrpSpPr/>
          <p:nvPr/>
        </p:nvGrpSpPr>
        <p:grpSpPr>
          <a:xfrm>
            <a:off x="490537" y="773112"/>
            <a:ext cx="738187" cy="474662"/>
            <a:chOff x="309" y="487"/>
            <a:chExt cx="465" cy="299"/>
          </a:xfrm>
        </p:grpSpPr>
        <p:sp>
          <p:nvSpPr>
            <p:cNvPr id="1329" name="Google Shape;1329;p6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0" name="Google Shape;1330;p6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331" name="Google Shape;1331;p6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2" name="Google Shape;1332;p6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3" name="Google Shape;1333;p6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4" name="Google Shape;1334;p6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35" name="Google Shape;1335;p63"/>
          <p:cNvSpPr txBox="1"/>
          <p:nvPr/>
        </p:nvSpPr>
        <p:spPr>
          <a:xfrm>
            <a:off x="228600" y="1295400"/>
            <a:ext cx="8534400" cy="3081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A network with bandwidth of 10 Mbps can pass only an average of 12,000 frames per minute with each frame carrying an average of 10,000 bits. What is the throughput of this network?</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calculate the throughput as</a:t>
            </a:r>
            <a:endParaRPr b="0" i="0" sz="1400" u="none" cap="none" strike="noStrike">
              <a:solidFill>
                <a:srgbClr val="000000"/>
              </a:solidFill>
              <a:latin typeface="Arial"/>
              <a:ea typeface="Arial"/>
              <a:cs typeface="Arial"/>
              <a:sym typeface="Arial"/>
            </a:endParaRPr>
          </a:p>
        </p:txBody>
      </p:sp>
      <p:sp>
        <p:nvSpPr>
          <p:cNvPr id="1336" name="Google Shape;1336;p6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3.44</a:t>
            </a:r>
            <a:endParaRPr b="0" i="0" sz="1400" u="none" cap="none" strike="noStrike">
              <a:solidFill>
                <a:srgbClr val="000000"/>
              </a:solidFill>
              <a:latin typeface="Arial"/>
              <a:ea typeface="Arial"/>
              <a:cs typeface="Arial"/>
              <a:sym typeface="Arial"/>
            </a:endParaRPr>
          </a:p>
        </p:txBody>
      </p:sp>
      <p:pic>
        <p:nvPicPr>
          <p:cNvPr id="1337" name="Google Shape;1337;p63"/>
          <p:cNvPicPr preferRelativeResize="0"/>
          <p:nvPr/>
        </p:nvPicPr>
        <p:blipFill rotWithShape="1">
          <a:blip r:embed="rId3">
            <a:alphaModFix/>
          </a:blip>
          <a:srcRect b="0" l="0" r="0" t="0"/>
          <a:stretch/>
        </p:blipFill>
        <p:spPr>
          <a:xfrm>
            <a:off x="2057400" y="4495800"/>
            <a:ext cx="4778375" cy="620712"/>
          </a:xfrm>
          <a:prstGeom prst="rect">
            <a:avLst/>
          </a:prstGeom>
          <a:noFill/>
          <a:ln cap="flat" cmpd="thickThin" w="57150">
            <a:solidFill>
              <a:schemeClr val="folHlink"/>
            </a:solidFill>
            <a:prstDash val="solid"/>
            <a:miter lim="800000"/>
            <a:headEnd len="sm" w="sm" type="none"/>
            <a:tailEnd len="sm" w="sm" type="none"/>
          </a:ln>
        </p:spPr>
      </p:pic>
      <p:sp>
        <p:nvSpPr>
          <p:cNvPr id="1338" name="Google Shape;1338;p63"/>
          <p:cNvSpPr txBox="1"/>
          <p:nvPr/>
        </p:nvSpPr>
        <p:spPr>
          <a:xfrm>
            <a:off x="228600" y="5334000"/>
            <a:ext cx="8534400" cy="9461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The throughput is almost one-fifth of the bandwidth in this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6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44" name="Google Shape;1344;p6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45" name="Google Shape;1345;p6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346" name="Google Shape;1346;p64"/>
          <p:cNvGrpSpPr/>
          <p:nvPr/>
        </p:nvGrpSpPr>
        <p:grpSpPr>
          <a:xfrm>
            <a:off x="490537" y="773112"/>
            <a:ext cx="738187" cy="474662"/>
            <a:chOff x="309" y="487"/>
            <a:chExt cx="465" cy="299"/>
          </a:xfrm>
        </p:grpSpPr>
        <p:sp>
          <p:nvSpPr>
            <p:cNvPr id="1347" name="Google Shape;1347;p6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48" name="Google Shape;1348;p6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349" name="Google Shape;1349;p6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0" name="Google Shape;1350;p6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1" name="Google Shape;1351;p6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2" name="Google Shape;1352;p64"/>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53" name="Google Shape;1353;p64"/>
          <p:cNvSpPr txBox="1"/>
          <p:nvPr/>
        </p:nvSpPr>
        <p:spPr>
          <a:xfrm>
            <a:off x="228600" y="1295400"/>
            <a:ext cx="8534400" cy="4833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What are the propagation time and the transmission time for a 2.5-kbyte message (an e-mail) if the bandwidth of the network is 1 Gbps? Assume that the distance between the sender and the receiver is 12,000 km and that light travels at 2.4 × 10</a:t>
            </a:r>
            <a:r>
              <a:rPr b="1" baseline="30000" i="1" lang="en-US" sz="2800" u="none" cap="none" strike="noStrike">
                <a:solidFill>
                  <a:schemeClr val="dk1"/>
                </a:solidFill>
                <a:latin typeface="Times New Roman"/>
                <a:ea typeface="Times New Roman"/>
                <a:cs typeface="Times New Roman"/>
                <a:sym typeface="Times New Roman"/>
              </a:rPr>
              <a:t>8</a:t>
            </a:r>
            <a:r>
              <a:rPr b="1" i="1" lang="en-US" sz="2800" u="none" cap="none" strike="noStrike">
                <a:solidFill>
                  <a:schemeClr val="dk1"/>
                </a:solidFill>
                <a:latin typeface="Times New Roman"/>
                <a:ea typeface="Times New Roman"/>
                <a:cs typeface="Times New Roman"/>
                <a:sym typeface="Times New Roman"/>
              </a:rPr>
              <a:t> m/s.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2"/>
                </a:solidFill>
                <a:latin typeface="Times New Roman"/>
                <a:ea typeface="Times New Roman"/>
                <a:cs typeface="Times New Roman"/>
                <a:sym typeface="Times New Roman"/>
              </a:rPr>
              <a:t>Total delay = Transmission delay + Queueing delay + Processing delay + Propagation delay</a:t>
            </a:r>
            <a:endParaRPr b="1" i="1" sz="2800" u="none" cap="none" strike="noStrike">
              <a:solidFill>
                <a:schemeClr val="dk2"/>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hlink"/>
              </a:buClr>
              <a:buSzPts val="2800"/>
              <a:buFont typeface="Times New Roman"/>
              <a:buNone/>
            </a:pPr>
            <a:r>
              <a:rPr b="1" i="1" lang="en-US" sz="2800" u="none" cap="none" strike="noStrike">
                <a:solidFill>
                  <a:schemeClr val="hlink"/>
                </a:solidFill>
                <a:latin typeface="Times New Roman"/>
                <a:ea typeface="Times New Roman"/>
                <a:cs typeface="Times New Roman"/>
                <a:sym typeface="Times New Roman"/>
              </a:rPr>
              <a:t>Solution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rPr b="1" i="1" lang="en-US" sz="2800" u="none" cap="none" strike="noStrike">
                <a:solidFill>
                  <a:schemeClr val="dk1"/>
                </a:solidFill>
                <a:latin typeface="Times New Roman"/>
                <a:ea typeface="Times New Roman"/>
                <a:cs typeface="Times New Roman"/>
                <a:sym typeface="Times New Roman"/>
              </a:rPr>
              <a:t>We can calculate the propagation and transmission time as shown on the next slide:</a:t>
            </a:r>
            <a:endParaRPr b="0" i="0" sz="1400" u="none" cap="none" strike="noStrike">
              <a:solidFill>
                <a:srgbClr val="000000"/>
              </a:solidFill>
              <a:latin typeface="Arial"/>
              <a:ea typeface="Arial"/>
              <a:cs typeface="Arial"/>
              <a:sym typeface="Arial"/>
            </a:endParaRPr>
          </a:p>
        </p:txBody>
      </p:sp>
      <p:sp>
        <p:nvSpPr>
          <p:cNvPr id="1354" name="Google Shape;1354;p64"/>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8" name="Shape 1358"/>
        <p:cNvGrpSpPr/>
        <p:nvPr/>
      </p:nvGrpSpPr>
      <p:grpSpPr>
        <a:xfrm>
          <a:off x="0" y="0"/>
          <a:ext cx="0" cy="0"/>
          <a:chOff x="0" y="0"/>
          <a:chExt cx="0" cy="0"/>
        </a:xfrm>
      </p:grpSpPr>
      <p:sp>
        <p:nvSpPr>
          <p:cNvPr id="1359" name="Google Shape;1359;p93"/>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60" name="Google Shape;1360;p93"/>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1" name="Google Shape;1361;p93"/>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362" name="Google Shape;1362;p93"/>
          <p:cNvGrpSpPr/>
          <p:nvPr/>
        </p:nvGrpSpPr>
        <p:grpSpPr>
          <a:xfrm>
            <a:off x="490537" y="773112"/>
            <a:ext cx="738187" cy="474662"/>
            <a:chOff x="309" y="487"/>
            <a:chExt cx="465" cy="299"/>
          </a:xfrm>
        </p:grpSpPr>
        <p:sp>
          <p:nvSpPr>
            <p:cNvPr id="1363" name="Google Shape;1363;p93"/>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4" name="Google Shape;1364;p93"/>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365" name="Google Shape;1365;p93"/>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6" name="Google Shape;1366;p93"/>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7" name="Google Shape;1367;p93"/>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8" name="Google Shape;1368;p93"/>
          <p:cNvSpPr txBox="1"/>
          <p:nvPr/>
        </p:nvSpPr>
        <p:spPr>
          <a:xfrm>
            <a:off x="152400" y="1447800"/>
            <a:ext cx="8839200" cy="3810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69" name="Google Shape;1369;p93"/>
          <p:cNvSpPr txBox="1"/>
          <p:nvPr/>
        </p:nvSpPr>
        <p:spPr>
          <a:xfrm>
            <a:off x="228600" y="1295400"/>
            <a:ext cx="8534400" cy="5909270"/>
          </a:xfrm>
          <a:prstGeom prst="rect">
            <a:avLst/>
          </a:prstGeom>
          <a:noFill/>
          <a:ln>
            <a:noFill/>
          </a:ln>
        </p:spPr>
        <p:txBody>
          <a:bodyPr anchorCtr="0" anchor="t" bIns="45700" lIns="91425" spcFirstLastPara="1" rIns="91425" wrap="square" tIns="45700">
            <a:spAutoFit/>
          </a:bodyPr>
          <a:lstStyle/>
          <a:p>
            <a:pPr indent="-457200" lvl="0" marL="457200" marR="0" rtl="0" algn="just">
              <a:lnSpc>
                <a:spcPct val="100000"/>
              </a:lnSpc>
              <a:spcBef>
                <a:spcPts val="0"/>
              </a:spcBef>
              <a:spcAft>
                <a:spcPts val="0"/>
              </a:spcAft>
              <a:buClr>
                <a:schemeClr val="dk1"/>
              </a:buClr>
              <a:buSzPts val="2800"/>
              <a:buFont typeface="Noto Sans Symbols"/>
              <a:buChar char="❑"/>
            </a:pPr>
            <a:r>
              <a:rPr b="1" i="1" lang="en-US" sz="2800" u="none" cap="none" strike="noStrike">
                <a:solidFill>
                  <a:schemeClr val="dk1"/>
                </a:solidFill>
                <a:latin typeface="Times New Roman"/>
                <a:ea typeface="Times New Roman"/>
                <a:cs typeface="Times New Roman"/>
                <a:sym typeface="Times New Roman"/>
              </a:rPr>
              <a:t>Propagation delay = Distance/propagation speed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457200" lvl="0" marL="457200" marR="0" rtl="0" algn="just">
              <a:lnSpc>
                <a:spcPct val="100000"/>
              </a:lnSpc>
              <a:spcBef>
                <a:spcPts val="0"/>
              </a:spcBef>
              <a:spcAft>
                <a:spcPts val="0"/>
              </a:spcAft>
              <a:buClr>
                <a:schemeClr val="dk1"/>
              </a:buClr>
              <a:buSzPts val="2800"/>
              <a:buFont typeface="Noto Sans Symbols"/>
              <a:buChar char="❑"/>
            </a:pPr>
            <a:r>
              <a:rPr b="1" i="1" lang="en-US" sz="2800" u="none" cap="none" strike="noStrike">
                <a:solidFill>
                  <a:schemeClr val="dk1"/>
                </a:solidFill>
                <a:latin typeface="Times New Roman"/>
                <a:ea typeface="Times New Roman"/>
                <a:cs typeface="Times New Roman"/>
                <a:sym typeface="Times New Roman"/>
              </a:rPr>
              <a:t>Transmission delay = Data size/ bandwidth</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279400" lvl="0" marL="457200" marR="0" rtl="0" algn="just">
              <a:lnSpc>
                <a:spcPct val="100000"/>
              </a:lnSpc>
              <a:spcBef>
                <a:spcPts val="0"/>
              </a:spcBef>
              <a:spcAft>
                <a:spcPts val="0"/>
              </a:spcAft>
              <a:buClr>
                <a:schemeClr val="dk1"/>
              </a:buClr>
              <a:buSzPts val="2800"/>
              <a:buFont typeface="Noto Sans Symbols"/>
              <a:buNone/>
            </a:pPr>
            <a:r>
              <a:t/>
            </a:r>
            <a:endParaRPr b="1" i="1" sz="2800" u="none" cap="none" strike="noStrike">
              <a:solidFill>
                <a:schemeClr val="dk1"/>
              </a:solidFill>
              <a:latin typeface="Times New Roman"/>
              <a:ea typeface="Times New Roman"/>
              <a:cs typeface="Times New Roman"/>
              <a:sym typeface="Times New Roman"/>
            </a:endParaRPr>
          </a:p>
          <a:p>
            <a:pPr indent="-279400" lvl="0" marL="457200" marR="0" rtl="0" algn="just">
              <a:lnSpc>
                <a:spcPct val="100000"/>
              </a:lnSpc>
              <a:spcBef>
                <a:spcPts val="0"/>
              </a:spcBef>
              <a:spcAft>
                <a:spcPts val="0"/>
              </a:spcAft>
              <a:buClr>
                <a:schemeClr val="dk1"/>
              </a:buClr>
              <a:buSzPts val="2800"/>
              <a:buFont typeface="Noto Sans Symbols"/>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Note that in this case, because the message is short and the bandwidth is high, the dominant factor is the propagation time, not the transmission time. The transmission time can be ignored.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800"/>
              <a:buFont typeface="Times New Roman"/>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2800"/>
              <a:buFont typeface="Times New Roman"/>
              <a:buNone/>
            </a:pPr>
            <a:r>
              <a:t/>
            </a:r>
            <a:endParaRPr b="0" i="0" sz="1400" u="none" cap="none" strike="noStrike">
              <a:solidFill>
                <a:srgbClr val="000000"/>
              </a:solidFill>
              <a:latin typeface="Arial"/>
              <a:ea typeface="Arial"/>
              <a:cs typeface="Arial"/>
              <a:sym typeface="Arial"/>
            </a:endParaRPr>
          </a:p>
        </p:txBody>
      </p:sp>
      <p:sp>
        <p:nvSpPr>
          <p:cNvPr id="1370" name="Google Shape;1370;p93"/>
          <p:cNvSpPr txBox="1"/>
          <p:nvPr/>
        </p:nvSpPr>
        <p:spPr>
          <a:xfrm>
            <a:off x="1143000" y="182562"/>
            <a:ext cx="2487612" cy="5794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hlink"/>
              </a:buClr>
              <a:buSzPts val="3200"/>
              <a:buFont typeface="Times New Roman"/>
              <a:buNone/>
            </a:pPr>
            <a:r>
              <a:rPr b="1" i="1" lang="en-US" sz="3200" u="none" cap="none" strike="noStrike">
                <a:solidFill>
                  <a:schemeClr val="hlink"/>
                </a:solidFill>
                <a:latin typeface="Times New Roman"/>
                <a:ea typeface="Times New Roman"/>
                <a:cs typeface="Times New Roman"/>
                <a:sym typeface="Times New Roman"/>
              </a:rPr>
              <a:t>Example 3.46</a:t>
            </a:r>
            <a:endParaRPr b="0" i="0" sz="1400" u="none" cap="none" strike="noStrike">
              <a:solidFill>
                <a:srgbClr val="000000"/>
              </a:solidFill>
              <a:latin typeface="Arial"/>
              <a:ea typeface="Arial"/>
              <a:cs typeface="Arial"/>
              <a:sym typeface="Arial"/>
            </a:endParaRPr>
          </a:p>
        </p:txBody>
      </p:sp>
      <p:pic>
        <p:nvPicPr>
          <p:cNvPr id="1371" name="Google Shape;1371;p93"/>
          <p:cNvPicPr preferRelativeResize="0"/>
          <p:nvPr/>
        </p:nvPicPr>
        <p:blipFill rotWithShape="1">
          <a:blip r:embed="rId3">
            <a:alphaModFix/>
          </a:blip>
          <a:srcRect b="0" l="0" r="0" t="0"/>
          <a:stretch/>
        </p:blipFill>
        <p:spPr>
          <a:xfrm>
            <a:off x="1378000" y="2900105"/>
            <a:ext cx="5462587" cy="1646237"/>
          </a:xfrm>
          <a:prstGeom prst="rect">
            <a:avLst/>
          </a:prstGeom>
          <a:noFill/>
          <a:ln cap="flat" cmpd="thickThin" w="57150">
            <a:solidFill>
              <a:schemeClr val="folHlink"/>
            </a:solidFill>
            <a:prstDash val="solid"/>
            <a:miter lim="800000"/>
            <a:headEnd len="sm" w="sm" type="none"/>
            <a:tailEnd len="sm" w="sm" type="none"/>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5" name="Shape 1375"/>
        <p:cNvGrpSpPr/>
        <p:nvPr/>
      </p:nvGrpSpPr>
      <p:grpSpPr>
        <a:xfrm>
          <a:off x="0" y="0"/>
          <a:ext cx="0" cy="0"/>
          <a:chOff x="0" y="0"/>
          <a:chExt cx="0" cy="0"/>
        </a:xfrm>
      </p:grpSpPr>
      <p:sp>
        <p:nvSpPr>
          <p:cNvPr id="1376" name="Google Shape;1376;p94"/>
          <p:cNvSpPr txBox="1"/>
          <p:nvPr/>
        </p:nvSpPr>
        <p:spPr>
          <a:xfrm>
            <a:off x="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1" i="0" lang="en-US" sz="2000" u="none" cap="none" strike="noStrike">
                <a:solidFill>
                  <a:schemeClr val="dk1"/>
                </a:solidFill>
                <a:latin typeface="Arial"/>
                <a:ea typeface="Arial"/>
                <a:cs typeface="Arial"/>
                <a:sym typeface="Arial"/>
              </a:rPr>
              <a:t>3.</a:t>
            </a:r>
            <a:fld id="{00000000-1234-1234-1234-123412341234}" type="slidenum">
              <a:rPr b="1" i="0" lang="en-US" sz="20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77" name="Google Shape;1377;p94"/>
          <p:cNvSpPr txBox="1"/>
          <p:nvPr/>
        </p:nvSpPr>
        <p:spPr>
          <a:xfrm>
            <a:off x="366712" y="350837"/>
            <a:ext cx="438150" cy="47466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78" name="Google Shape;1378;p94"/>
          <p:cNvSpPr txBox="1"/>
          <p:nvPr/>
        </p:nvSpPr>
        <p:spPr>
          <a:xfrm>
            <a:off x="749300" y="350837"/>
            <a:ext cx="328612" cy="47466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nvGrpSpPr>
          <p:cNvPr id="1379" name="Google Shape;1379;p94"/>
          <p:cNvGrpSpPr/>
          <p:nvPr/>
        </p:nvGrpSpPr>
        <p:grpSpPr>
          <a:xfrm>
            <a:off x="490537" y="773112"/>
            <a:ext cx="738187" cy="474662"/>
            <a:chOff x="309" y="487"/>
            <a:chExt cx="465" cy="299"/>
          </a:xfrm>
        </p:grpSpPr>
        <p:sp>
          <p:nvSpPr>
            <p:cNvPr id="1380" name="Google Shape;1380;p94"/>
            <p:cNvSpPr txBox="1"/>
            <p:nvPr/>
          </p:nvSpPr>
          <p:spPr>
            <a:xfrm>
              <a:off x="309" y="487"/>
              <a:ext cx="266" cy="299"/>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81" name="Google Shape;1381;p94"/>
            <p:cNvSpPr txBox="1"/>
            <p:nvPr/>
          </p:nvSpPr>
          <p:spPr>
            <a:xfrm>
              <a:off x="542" y="487"/>
              <a:ext cx="232" cy="299"/>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grpSp>
      <p:sp>
        <p:nvSpPr>
          <p:cNvPr id="1382" name="Google Shape;1382;p94"/>
          <p:cNvSpPr txBox="1"/>
          <p:nvPr/>
        </p:nvSpPr>
        <p:spPr>
          <a:xfrm>
            <a:off x="76200" y="700087"/>
            <a:ext cx="560387" cy="422275"/>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83" name="Google Shape;1383;p94"/>
          <p:cNvSpPr txBox="1"/>
          <p:nvPr/>
        </p:nvSpPr>
        <p:spPr>
          <a:xfrm>
            <a:off x="711200" y="242887"/>
            <a:ext cx="31750" cy="105251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84" name="Google Shape;1384;p94"/>
          <p:cNvSpPr txBox="1"/>
          <p:nvPr/>
        </p:nvSpPr>
        <p:spPr>
          <a:xfrm>
            <a:off x="442912" y="773112"/>
            <a:ext cx="8226425" cy="31750"/>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t/>
            </a:r>
            <a:endParaRPr b="1" baseline="-25000" i="1" sz="2800" u="none" cap="none" strike="noStrike">
              <a:solidFill>
                <a:schemeClr val="dk1"/>
              </a:solidFill>
              <a:latin typeface="Times New Roman"/>
              <a:ea typeface="Times New Roman"/>
              <a:cs typeface="Times New Roman"/>
              <a:sym typeface="Times New Roman"/>
            </a:endParaRPr>
          </a:p>
        </p:txBody>
      </p:sp>
      <p:sp>
        <p:nvSpPr>
          <p:cNvPr id="1385" name="Google Shape;1385;p94"/>
          <p:cNvSpPr txBox="1"/>
          <p:nvPr/>
        </p:nvSpPr>
        <p:spPr>
          <a:xfrm>
            <a:off x="952500" y="1476375"/>
            <a:ext cx="6683262" cy="3810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baseline="-25000" i="1" lang="en-US" sz="13800" u="none" cap="none" strike="noStrike">
                <a:solidFill>
                  <a:schemeClr val="dk1"/>
                </a:solidFill>
                <a:latin typeface="Times New Roman"/>
                <a:ea typeface="Times New Roman"/>
                <a:cs typeface="Times New Roman"/>
                <a:sym typeface="Times New Roman"/>
              </a:rPr>
              <a:t>END</a:t>
            </a:r>
            <a:endParaRPr b="1" baseline="-25000" i="1" sz="13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2000-01-15T04:50:39Z</dcterms:created>
  <dc:creator>Valued Gateway Client</dc:creator>
</cp:coreProperties>
</file>