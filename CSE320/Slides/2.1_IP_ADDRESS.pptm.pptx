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Tahoma"/>
      <p:regular r:id="rId18"/>
      <p:bold r:id="rId19"/>
    </p:embeddedFont>
    <p:embeddedFont>
      <p:font typeface="Quattrocen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Tahoma-bold.fntdata"/><Relationship Id="rId6" Type="http://schemas.openxmlformats.org/officeDocument/2006/relationships/slide" Target="slides/slide1.xml"/><Relationship Id="rId18" Type="http://schemas.openxmlformats.org/officeDocument/2006/relationships/font" Target="fonts/Tahom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604434" y="1196392"/>
            <a:ext cx="10983132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3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  <a:defRPr sz="2800">
                <a:solidFill>
                  <a:srgbClr val="3A383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Quattrocento Sans"/>
              <a:buNone/>
              <a:defRPr sz="1200">
                <a:solidFill>
                  <a:srgbClr val="3F3F3F"/>
                </a:solidFill>
              </a:defRPr>
            </a:lvl1pPr>
            <a:lvl2pPr indent="-3048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indent="-30480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indent="-30480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idx="10" type="dt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" name="Google Shape;35;p5"/>
          <p:cNvSpPr txBox="1"/>
          <p:nvPr>
            <p:ph type="title"/>
          </p:nvPr>
        </p:nvSpPr>
        <p:spPr>
          <a:xfrm>
            <a:off x="521208" y="1536192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539496" y="2560320"/>
            <a:ext cx="9445752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Quattrocento Sans"/>
              <a:buNone/>
              <a:defRPr sz="2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048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3pPr>
            <a:lvl4pPr indent="-30480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4pPr>
            <a:lvl5pPr indent="-30480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04800" lvl="1" marL="9144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04800" lvl="2" marL="13716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04800" lvl="3" marL="18288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04800" lvl="4" marL="22860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04800" lvl="5" marL="2743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04800" lvl="6" marL="32004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04800" lvl="7" marL="36576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"/>
          <p:cNvCxnSpPr/>
          <p:nvPr/>
        </p:nvCxnSpPr>
        <p:spPr>
          <a:xfrm>
            <a:off x="604434" y="1196392"/>
            <a:ext cx="10983132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4294967295" type="ctrTitle"/>
          </p:nvPr>
        </p:nvSpPr>
        <p:spPr>
          <a:xfrm>
            <a:off x="838200" y="1164324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Quattrocento Sans"/>
              <a:buNone/>
            </a:pPr>
            <a:r>
              <a:rPr b="1" i="0" lang="en-US" sz="9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ADDRESS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>
                <a:latin typeface="Quattrocento Sans"/>
                <a:ea typeface="Quattrocento Sans"/>
                <a:cs typeface="Quattrocento Sans"/>
                <a:sym typeface="Quattrocento Sans"/>
              </a:rPr>
              <a:t>IP Address</a:t>
            </a:r>
            <a:endParaRPr/>
          </a:p>
        </p:txBody>
      </p:sp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3275" y="1323594"/>
            <a:ext cx="5505450" cy="50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IP Address</a:t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6912746" y="1890944"/>
            <a:ext cx="4042299" cy="2237173"/>
          </a:xfrm>
          <a:prstGeom prst="irregularSeal2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</a:t>
            </a:r>
            <a:endParaRPr/>
          </a:p>
        </p:txBody>
      </p:sp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03" y="4128117"/>
            <a:ext cx="1899251" cy="17136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8"/>
          <p:cNvCxnSpPr/>
          <p:nvPr/>
        </p:nvCxnSpPr>
        <p:spPr>
          <a:xfrm flipH="1" rot="10800000">
            <a:off x="3426781" y="3195961"/>
            <a:ext cx="3258104" cy="9321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7" name="Google Shape;57;p8"/>
          <p:cNvCxnSpPr/>
          <p:nvPr/>
        </p:nvCxnSpPr>
        <p:spPr>
          <a:xfrm flipH="1">
            <a:off x="3559946" y="3506681"/>
            <a:ext cx="3124939" cy="93215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" name="Google Shape;58;p8"/>
          <p:cNvSpPr txBox="1"/>
          <p:nvPr/>
        </p:nvSpPr>
        <p:spPr>
          <a:xfrm>
            <a:off x="4039665" y="3195961"/>
            <a:ext cx="12187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Download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IP Address</a:t>
            </a:r>
            <a:endParaRPr/>
          </a:p>
        </p:txBody>
      </p:sp>
      <p:sp>
        <p:nvSpPr>
          <p:cNvPr id="64" name="Google Shape;64;p9"/>
          <p:cNvSpPr txBox="1"/>
          <p:nvPr/>
        </p:nvSpPr>
        <p:spPr>
          <a:xfrm>
            <a:off x="521207" y="2102641"/>
            <a:ext cx="4095181" cy="26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Quattrocento Sans"/>
              <a:buNone/>
            </a:pPr>
            <a:r>
              <a:rPr b="1" i="1" lang="en-US" sz="28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Home address</a:t>
            </a:r>
            <a:endParaRPr/>
          </a:p>
          <a:p>
            <a:pPr indent="0" lvl="0" marL="0" marR="0" rtl="0" algn="ctr">
              <a:lnSpc>
                <a:spcPct val="64285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Quattrocento Sans"/>
              <a:buNone/>
            </a:pPr>
            <a:r>
              <a:rPr lang="en-US" sz="28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House: 100</a:t>
            </a:r>
            <a:endParaRPr/>
          </a:p>
          <a:p>
            <a:pPr indent="0" lvl="0" marL="0" marR="0" rtl="0" algn="ctr">
              <a:lnSpc>
                <a:spcPct val="64285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Quattrocento Sans"/>
              <a:buNone/>
            </a:pPr>
            <a:r>
              <a:rPr lang="en-US" sz="28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Street: Tajmahal Road</a:t>
            </a:r>
            <a:endParaRPr/>
          </a:p>
          <a:p>
            <a:pPr indent="0" lvl="0" marL="0" marR="0" rtl="0" algn="ctr">
              <a:lnSpc>
                <a:spcPct val="64285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Quattrocento Sans"/>
              <a:buNone/>
            </a:pPr>
            <a:r>
              <a:rPr lang="en-US" sz="28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Area: Mohammadpur</a:t>
            </a:r>
            <a:endParaRPr/>
          </a:p>
          <a:p>
            <a:pPr indent="0" lvl="0" marL="0" marR="0" rtl="0" algn="ctr">
              <a:lnSpc>
                <a:spcPct val="64285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Quattrocento Sans"/>
              <a:buNone/>
            </a:pPr>
            <a:r>
              <a:rPr lang="en-US" sz="28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City: Dhaka</a:t>
            </a:r>
            <a:endParaRPr/>
          </a:p>
          <a:p>
            <a:pPr indent="0" lvl="0" marL="0" marR="0" rtl="0" algn="ctr">
              <a:lnSpc>
                <a:spcPct val="64285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Quattrocento Sans"/>
              <a:buNone/>
            </a:pPr>
            <a:r>
              <a:rPr lang="en-US" sz="28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Country: Bangladesh</a:t>
            </a:r>
            <a:endParaRPr/>
          </a:p>
        </p:txBody>
      </p:sp>
      <p:sp>
        <p:nvSpPr>
          <p:cNvPr id="65" name="Google Shape;65;p9"/>
          <p:cNvSpPr txBox="1"/>
          <p:nvPr/>
        </p:nvSpPr>
        <p:spPr>
          <a:xfrm>
            <a:off x="6096000" y="1954793"/>
            <a:ext cx="4095181" cy="26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 sz="2800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6353451" y="2102641"/>
            <a:ext cx="4184343" cy="1004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Quattrocento Sans"/>
              <a:buNone/>
            </a:pPr>
            <a:r>
              <a:rPr b="1" i="1" lang="en-US" sz="28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Address</a:t>
            </a:r>
            <a:endParaRPr/>
          </a:p>
          <a:p>
            <a:pPr indent="0" lvl="0" marL="0" marR="0" rtl="0" algn="ctr">
              <a:lnSpc>
                <a:spcPct val="64285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Quattrocento Sans"/>
              <a:buNone/>
            </a:pPr>
            <a:r>
              <a:rPr b="1" i="1" lang="en-US" sz="28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70.54.14.178</a:t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7398326" y="4607511"/>
            <a:ext cx="2684402" cy="1648173"/>
          </a:xfrm>
          <a:prstGeom prst="irregularSeal2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</a:t>
            </a:r>
            <a:endParaRPr/>
          </a:p>
        </p:txBody>
      </p:sp>
      <p:cxnSp>
        <p:nvCxnSpPr>
          <p:cNvPr id="68" name="Google Shape;68;p9"/>
          <p:cNvCxnSpPr/>
          <p:nvPr/>
        </p:nvCxnSpPr>
        <p:spPr>
          <a:xfrm rot="10800000">
            <a:off x="8445622" y="3197329"/>
            <a:ext cx="172654" cy="12384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IP Address </a:t>
            </a:r>
            <a:endParaRPr/>
          </a:p>
        </p:txBody>
      </p:sp>
      <p:sp>
        <p:nvSpPr>
          <p:cNvPr id="74" name="Google Shape;74;p10"/>
          <p:cNvSpPr txBox="1"/>
          <p:nvPr/>
        </p:nvSpPr>
        <p:spPr>
          <a:xfrm>
            <a:off x="3831269" y="2683090"/>
            <a:ext cx="4529461" cy="1491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Address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-US" sz="5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70.54.14.178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IP Address </a:t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3770050" y="2213731"/>
            <a:ext cx="4651899" cy="243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 Protocol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IP Address </a:t>
            </a:r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3770050" y="1831992"/>
            <a:ext cx="4651899" cy="3830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V4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-US" sz="5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&amp;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-US" sz="5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V6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IP v4</a:t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7601" y="2459039"/>
            <a:ext cx="7415213" cy="1939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4380337" y="4559776"/>
            <a:ext cx="3429740" cy="739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0-255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380337" y="1558983"/>
            <a:ext cx="3429740" cy="739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 bits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IP v4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2362200" y="3121026"/>
            <a:ext cx="7543800" cy="1247775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FF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address space of IPv4 is</a:t>
            </a:r>
            <a:br>
              <a:rPr b="1"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baseline="30000"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r>
              <a:rPr b="1" i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 4,294,967,296.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2362200" y="1916113"/>
            <a:ext cx="2743200" cy="1143000"/>
          </a:xfrm>
          <a:custGeom>
            <a:rect b="b" l="l" r="r" t="t"/>
            <a:pathLst>
              <a:path extrusionOk="0" h="21600" w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lnTo>
                  <a:pt x="532" y="0"/>
                </a:lnTo>
                <a:close/>
              </a:path>
            </a:pathLst>
          </a:cu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rgbClr val="808080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916113"/>
            <a:ext cx="782638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3657600" y="2068513"/>
            <a:ext cx="1200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1916113" y="1354138"/>
            <a:ext cx="81534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error, if any, in the following IP addresses:</a:t>
            </a:r>
            <a:endParaRPr/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111.56.045.78			</a:t>
            </a:r>
            <a:r>
              <a:rPr b="1" i="1"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221.34.7.8.20</a:t>
            </a:r>
            <a:endParaRPr/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75.45.301.14			</a:t>
            </a:r>
            <a:r>
              <a:rPr b="1" i="1"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11100010.23.14.67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2667000" y="381001"/>
            <a:ext cx="2209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folHlink"/>
                </a:solidFill>
                <a:latin typeface="Algerian"/>
                <a:ea typeface="Algerian"/>
                <a:cs typeface="Algerian"/>
                <a:sym typeface="Algerian"/>
              </a:rPr>
              <a:t>Example</a:t>
            </a:r>
            <a:endParaRPr b="1" i="1" sz="2800">
              <a:solidFill>
                <a:schemeClr val="folHlink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981200" y="3048001"/>
            <a:ext cx="8458200" cy="3478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1" sz="240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are no leading zeroes in dotted-decimal notation (045).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may not have more than four numbers in an IP address.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 dotted-decimal notation, each number is less than or equal</a:t>
            </a:r>
            <a:b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to 255; 301 is outside this range.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mixture of binary notation and dotted-decimal notation is not</a:t>
            </a:r>
            <a:b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allowed.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IP v4 Limitations and IP v6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521207" y="448056"/>
            <a:ext cx="68771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Quattrocento Sans"/>
              <a:buNone/>
            </a:pPr>
            <a:r>
              <a:rPr lang="en-US"/>
              <a:t>IP Address 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770050" y="1831992"/>
            <a:ext cx="4651899" cy="3830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V4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-US" sz="5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&amp;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-US" sz="5400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V6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lcomeDo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