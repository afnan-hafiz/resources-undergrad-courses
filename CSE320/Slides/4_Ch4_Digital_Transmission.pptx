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9144000"/>
  <p:notesSz cx="7010400" cy="9296400"/>
  <p:embeddedFontLst>
    <p:embeddedFont>
      <p:font typeface="Tahoma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245">
          <p15:clr>
            <a:srgbClr val="A4A3A4"/>
          </p15:clr>
        </p15:guide>
        <p15:guide id="2" orient="horz" pos="2209">
          <p15:clr>
            <a:srgbClr val="A4A3A4"/>
          </p15:clr>
        </p15:guide>
        <p15:guide id="3" orient="horz" pos="3288">
          <p15:clr>
            <a:srgbClr val="A4A3A4"/>
          </p15:clr>
        </p15:guide>
        <p15:guide id="4" orient="horz" pos="2746">
          <p15:clr>
            <a:srgbClr val="A4A3A4"/>
          </p15:clr>
        </p15:guide>
        <p15:guide id="5" orient="horz" pos="3823">
          <p15:clr>
            <a:srgbClr val="A4A3A4"/>
          </p15:clr>
        </p15:guide>
        <p15:guide id="6" pos="732">
          <p15:clr>
            <a:srgbClr val="A4A3A4"/>
          </p15:clr>
        </p15:guide>
      </p15:sldGuideLst>
    </p:ext>
    <p:ext uri="{2D200454-40CA-4A62-9FC3-DE9A4176ACB9}">
      <p15:notesGuideLst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GoogleSlidesCustomDataVersion2">
      <go:slidesCustomData xmlns:go="http://customooxmlschemas.google.com/" r:id="rId60" roundtripDataSignature="AMtx7mizlfi3fG3xQhHYYHXumhpskMUE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245" orient="horz"/>
        <p:guide pos="2209" orient="horz"/>
        <p:guide pos="3288" orient="horz"/>
        <p:guide pos="2746" orient="horz"/>
        <p:guide pos="3823" orient="horz"/>
        <p:guide pos="732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8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Tahoma-bold.fntdata"/><Relationship Id="rId14" Type="http://schemas.openxmlformats.org/officeDocument/2006/relationships/slide" Target="slides/slide9.xml"/><Relationship Id="rId58" Type="http://schemas.openxmlformats.org/officeDocument/2006/relationships/font" Target="fonts/Tahom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317983b86_0_0:notes"/>
          <p:cNvSpPr txBox="1"/>
          <p:nvPr>
            <p:ph idx="1" type="body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3317983b86_0_0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1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5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7" name="Google Shape;257;p1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7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9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NRZ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Two different voltages for 0 and 1 bits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Voltage constant during bit interval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(i.e. no return to zero voltage)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Options: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1. Absence of voltage for zero, constant positive voltage for 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-US"/>
              <a:t>2. More often, negative voltage for one value and positive for the other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NRZI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Inverted on ones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Constant voltage pulse for duration of bit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Data encoded as presence or absence of signal transition at beginning of bit time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(low to high or high to low) denotes a binary 1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denotes binary 0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An example of differential encoding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" name="Google Shape;304;p2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2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317983b86_0_15:notes"/>
          <p:cNvSpPr txBox="1"/>
          <p:nvPr>
            <p:ph idx="12" type="sldNum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g33317983b86_0_15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3317983b86_0_15:notes"/>
          <p:cNvSpPr txBox="1"/>
          <p:nvPr>
            <p:ph idx="1" type="body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8" name="Google Shape;328;p2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2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2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2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2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Manchester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in middle of each bit period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serves as clock and data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Low to high represents 1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High to low represents 0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802.3 (Ethernet LAN)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Differential Manchester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Mid-bit transition is clocking only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at start of a bit period represents 0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at start of a bit period represents 1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This is a differential encoding scheme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802.5 (Token Ring LAN)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2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25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2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2" name="Google Shape;382;p26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7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2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27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2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28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3317983b86_0_23:notes"/>
          <p:cNvSpPr txBox="1"/>
          <p:nvPr>
            <p:ph idx="12" type="sldNum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g33317983b86_0_23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3317983b86_0_23:notes"/>
          <p:cNvSpPr txBox="1"/>
          <p:nvPr>
            <p:ph idx="1" type="body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2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29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3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3317983b86_0_30:notes"/>
          <p:cNvSpPr txBox="1"/>
          <p:nvPr>
            <p:ph idx="12" type="sldNum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g33317983b86_0_30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g33317983b86_0_30:notes"/>
          <p:cNvSpPr txBox="1"/>
          <p:nvPr>
            <p:ph idx="1" type="body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1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" name="Google Shape;437;p3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p3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Manchester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in middle of each bit period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serves as clock and data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Low to high represents 1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High to low represents 0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802.3 (Ethernet LAN)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00"/>
              <a:buNone/>
            </a:pPr>
            <a:r>
              <a:rPr b="1" lang="en-US" sz="1400"/>
              <a:t>Differential Manchester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Mid-bit transition is clocking only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Transition at start of a bit period represents 0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No transition at start of a bit period represents 1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This is a differential encoding scheme</a:t>
            </a:r>
            <a:endParaRPr/>
          </a:p>
          <a:p>
            <a:pPr indent="-76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•"/>
            </a:pPr>
            <a:r>
              <a:rPr lang="en-US"/>
              <a:t> Used by IEEE 802.5 (Token Ring LAN)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3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3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3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3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36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p37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37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8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p38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9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39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p39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0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p40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40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1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5" name="Google Shape;535;p41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6" name="Google Shape;536;p41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2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3" name="Google Shape;543;p42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4" name="Google Shape;544;p42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3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43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4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p44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p44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5:notes"/>
          <p:cNvSpPr txBox="1"/>
          <p:nvPr>
            <p:ph idx="12" type="sldNum"/>
          </p:nvPr>
        </p:nvSpPr>
        <p:spPr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6" name="Google Shape;566;p45:notes"/>
          <p:cNvSpPr/>
          <p:nvPr>
            <p:ph idx="2" type="sldImg"/>
          </p:nvPr>
        </p:nvSpPr>
        <p:spPr>
          <a:xfrm>
            <a:off x="1181100" y="696913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7" name="Google Shape;567;p45:notes"/>
          <p:cNvSpPr txBox="1"/>
          <p:nvPr>
            <p:ph idx="1" type="body"/>
          </p:nvPr>
        </p:nvSpPr>
        <p:spPr>
          <a:xfrm>
            <a:off x="935038" y="4416425"/>
            <a:ext cx="5140325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:notes"/>
          <p:cNvSpPr txBox="1"/>
          <p:nvPr>
            <p:ph idx="12" type="sldNum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4" name="Google Shape;574;p46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46:notes"/>
          <p:cNvSpPr txBox="1"/>
          <p:nvPr>
            <p:ph idx="1" type="body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0e4e467503_0_0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82" name="Google Shape;582;g20e4e467503_0_0:notes"/>
          <p:cNvSpPr txBox="1"/>
          <p:nvPr>
            <p:ph idx="1" type="body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g20e4e467503_0_0:notes"/>
          <p:cNvSpPr txBox="1"/>
          <p:nvPr>
            <p:ph idx="12" type="sldNum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:notes"/>
          <p:cNvSpPr txBox="1"/>
          <p:nvPr>
            <p:ph idx="12" type="sldNum"/>
          </p:nvPr>
        </p:nvSpPr>
        <p:spPr>
          <a:xfrm>
            <a:off x="3971925" y="8831263"/>
            <a:ext cx="30384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0" name="Google Shape;590;p47:notes"/>
          <p:cNvSpPr/>
          <p:nvPr>
            <p:ph idx="2" type="sldImg"/>
          </p:nvPr>
        </p:nvSpPr>
        <p:spPr>
          <a:xfrm>
            <a:off x="1181100" y="696913"/>
            <a:ext cx="46482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1" name="Google Shape;591;p47:notes"/>
          <p:cNvSpPr txBox="1"/>
          <p:nvPr>
            <p:ph idx="1" type="body"/>
          </p:nvPr>
        </p:nvSpPr>
        <p:spPr>
          <a:xfrm>
            <a:off x="935038" y="4416425"/>
            <a:ext cx="5140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77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6" name="Google Shape;26;p77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7" name="Google Shape;27;p77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" name="Google Shape;28;p7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29" name="Google Shape;29;p7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" name="Google Shape;30;p7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1" name="Google Shape;31;p77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32" name="Google Shape;32;p77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" name="Google Shape;33;p77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" name="Google Shape;34;p77"/>
            <p:cNvSpPr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5" name="Google Shape;35;p77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7" name="Google Shape;37;p77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7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7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77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D4D4D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" name="Google Shape;41;p77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gradFill>
            <a:gsLst>
              <a:gs pos="0">
                <a:srgbClr val="FFDAD4"/>
              </a:gs>
              <a:gs pos="100000">
                <a:srgbClr val="FF66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8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5" name="Google Shape;45;p78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8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9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9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55" name="Google Shape;55;p85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5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6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61" name="Google Shape;61;p86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62" name="Google Shape;62;p86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6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8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8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0" name="Google Shape;70;p8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1" name="Google Shape;71;p87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7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8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8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82" name="Google Shape;82;p8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83" name="Google Shape;83;p89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89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8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9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9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90" name="Google Shape;90;p90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90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1"/>
          <p:cNvSpPr txBox="1"/>
          <p:nvPr>
            <p:ph idx="1" type="body"/>
          </p:nvPr>
        </p:nvSpPr>
        <p:spPr>
          <a:xfrm rot="5400000">
            <a:off x="3011488" y="188913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6" name="Google Shape;96;p91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91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9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2"/>
          <p:cNvSpPr txBox="1"/>
          <p:nvPr>
            <p:ph type="title"/>
          </p:nvPr>
        </p:nvSpPr>
        <p:spPr>
          <a:xfrm rot="5400000">
            <a:off x="5020469" y="2197894"/>
            <a:ext cx="5918200" cy="1951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92"/>
          <p:cNvSpPr txBox="1"/>
          <p:nvPr>
            <p:ph idx="1" type="body"/>
          </p:nvPr>
        </p:nvSpPr>
        <p:spPr>
          <a:xfrm rot="5400000">
            <a:off x="1042194" y="323057"/>
            <a:ext cx="5918200" cy="57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2" name="Google Shape;102;p92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92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9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6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76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76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76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" name="Google Shape;14;p76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" name="Google Shape;15;p76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" name="Google Shape;16;p76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7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" name="Google Shape;18;p76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" name="Google Shape;19;p76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" name="Google Shape;20;p76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1" name="Google Shape;21;p7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76"/>
          <p:cNvSpPr/>
          <p:nvPr/>
        </p:nvSpPr>
        <p:spPr>
          <a:xfrm>
            <a:off x="0" y="6705600"/>
            <a:ext cx="9144000" cy="152400"/>
          </a:xfrm>
          <a:prstGeom prst="rect">
            <a:avLst/>
          </a:prstGeom>
          <a:gradFill>
            <a:gsLst>
              <a:gs pos="0">
                <a:srgbClr val="FFDAD4"/>
              </a:gs>
              <a:gs pos="100000">
                <a:srgbClr val="FF66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Google Shape;23;p76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rgbClr val="D4D4D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0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/>
              <a:t>CSE 320</a:t>
            </a:r>
            <a:br>
              <a:rPr b="1" lang="en-US" sz="4000"/>
            </a:br>
            <a:r>
              <a:rPr b="1" lang="en-US" sz="4000"/>
              <a:t>Data Communications</a:t>
            </a:r>
            <a:r>
              <a:rPr b="1" lang="en-US" sz="40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1443038" y="40830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Digital Transmission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Chapter 4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Recap Previous Lecture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898620" y="212883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Digital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Analog data</a:t>
            </a:r>
            <a:endParaRPr/>
          </a:p>
          <a:p>
            <a:pPr indent="-220980" lvl="0" marL="342900" rtl="0" algn="l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220980" lvl="0" marL="342900" rtl="0" algn="l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220980" lvl="0" marL="342900" rtl="0" algn="l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220980" lvl="0" marL="342900" rtl="0" algn="l">
              <a:lnSpc>
                <a:spcPct val="5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  <p:grpSp>
        <p:nvGrpSpPr>
          <p:cNvPr id="120" name="Google Shape;120;p2"/>
          <p:cNvGrpSpPr/>
          <p:nvPr/>
        </p:nvGrpSpPr>
        <p:grpSpPr>
          <a:xfrm>
            <a:off x="3873500" y="2045494"/>
            <a:ext cx="4418032" cy="1238250"/>
            <a:chOff x="2554" y="1206"/>
            <a:chExt cx="2783" cy="780"/>
          </a:xfrm>
        </p:grpSpPr>
        <p:sp>
          <p:nvSpPr>
            <p:cNvPr id="121" name="Google Shape;121;p2"/>
            <p:cNvSpPr/>
            <p:nvPr/>
          </p:nvSpPr>
          <p:spPr>
            <a:xfrm>
              <a:off x="2554" y="1206"/>
              <a:ext cx="159" cy="780"/>
            </a:xfrm>
            <a:prstGeom prst="leftBrace">
              <a:avLst>
                <a:gd fmla="val 40881" name="adj1"/>
                <a:gd fmla="val 5000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2637" y="1270"/>
              <a:ext cx="27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0320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Digital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-20320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Analog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3873500" y="3652850"/>
            <a:ext cx="4694625" cy="1238250"/>
            <a:chOff x="2557" y="2147"/>
            <a:chExt cx="1883" cy="780"/>
          </a:xfrm>
        </p:grpSpPr>
        <p:sp>
          <p:nvSpPr>
            <p:cNvPr id="124" name="Google Shape;124;p2"/>
            <p:cNvSpPr/>
            <p:nvPr/>
          </p:nvSpPr>
          <p:spPr>
            <a:xfrm>
              <a:off x="2557" y="2147"/>
              <a:ext cx="159" cy="780"/>
            </a:xfrm>
            <a:prstGeom prst="leftBrace">
              <a:avLst>
                <a:gd fmla="val 40881" name="adj1"/>
                <a:gd fmla="val 5000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2640" y="2211"/>
              <a:ext cx="18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0320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Digital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indent="-20320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Tahoma"/>
                <a:buChar char="•"/>
              </a:pPr>
              <a:r>
                <a:rPr b="0" i="0" lang="en-US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Analog Signal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3"/>
          <p:cNvSpPr txBox="1"/>
          <p:nvPr>
            <p:ph idx="1" type="body"/>
          </p:nvPr>
        </p:nvSpPr>
        <p:spPr>
          <a:xfrm>
            <a:off x="698026" y="2017725"/>
            <a:ext cx="8257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chemeClr val="hlink"/>
                </a:solidFill>
              </a:rPr>
              <a:t>Digital Data, Digital Signal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Less expensive and less complex than digital to analog modulation.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chemeClr val="hlink"/>
                </a:solidFill>
              </a:rPr>
              <a:t>Digital Data, Analog Signals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Some transmission media, such as optical fiber and unguided media, will only propagate analog signals.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Encoding Techniques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>
            <p:ph type="ctrTitle"/>
          </p:nvPr>
        </p:nvSpPr>
        <p:spPr>
          <a:xfrm>
            <a:off x="742950" y="516341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Digital Data 🡪 Digital Signal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1214508" y="3493330"/>
            <a:ext cx="709612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8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76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Coding</a:t>
            </a:r>
            <a:endParaRPr b="1" i="0" sz="2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- </a:t>
            </a: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Diffrent Line Coding Schemes</a:t>
            </a:r>
            <a:endParaRPr b="1" i="1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8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76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Coding</a:t>
            </a:r>
            <a:endParaRPr b="1" i="0" sz="2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8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76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Scrambling</a:t>
            </a:r>
            <a:endParaRPr b="1" i="0" sz="28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419225" y="2138496"/>
            <a:ext cx="52450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Encoding Techniques:</a:t>
            </a:r>
            <a:endParaRPr b="1" i="0" sz="3200" u="sng" cap="none" strike="noStrike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214508" y="5587706"/>
            <a:ext cx="777733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Line coding is always needed; block coding and scrambling may or may not be needed.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Digital Data, Digital Signal</a:t>
            </a:r>
            <a:endParaRPr/>
          </a:p>
        </p:txBody>
      </p:sp>
      <p:sp>
        <p:nvSpPr>
          <p:cNvPr id="150" name="Google Shape;150;p5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Digital signal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Discrete, discontinuous voltage pulses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Each pulse is a signal element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Binary data encoded into signal elements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  <p:pic>
        <p:nvPicPr>
          <p:cNvPr descr="Noise" id="151" name="Google Shape;151;p5"/>
          <p:cNvPicPr preferRelativeResize="0"/>
          <p:nvPr/>
        </p:nvPicPr>
        <p:blipFill rotWithShape="1">
          <a:blip r:embed="rId3">
            <a:alphaModFix/>
          </a:blip>
          <a:srcRect b="72360" l="-1364" r="-5797" t="-31"/>
          <a:stretch/>
        </p:blipFill>
        <p:spPr>
          <a:xfrm>
            <a:off x="493713" y="4429125"/>
            <a:ext cx="8001000" cy="1846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320800" y="798513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Line 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22288" y="1908175"/>
            <a:ext cx="8621712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Line coding is the process of converting binary data, a sequence of bits, to a digital signal.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0" y="3124200"/>
            <a:ext cx="8915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1" sz="32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888" y="3248025"/>
            <a:ext cx="8148637" cy="2497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0" y="3657600"/>
            <a:ext cx="381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0" y="2797175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Signal Vs Data Element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075" y="1922463"/>
            <a:ext cx="6199188" cy="4503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93750" y="387350"/>
            <a:ext cx="7867650" cy="148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Pulse /Modulation /Signal/ Baud Rate  versus Bit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66688" y="1949450"/>
            <a:ext cx="8458200" cy="2014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78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pulse rate defines the number of pulses/signals sent in one second. Also known as </a:t>
            </a:r>
            <a:r>
              <a:rPr b="0" i="0" lang="en-US" sz="2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Baud Rate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folHlink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bit rate defines the number of bits per second.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5863" y="4614863"/>
            <a:ext cx="4267200" cy="111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Digital Data 🡪 Digital Signal</a:t>
            </a:r>
            <a:endParaRPr/>
          </a:p>
        </p:txBody>
      </p:sp>
      <p:sp>
        <p:nvSpPr>
          <p:cNvPr id="188" name="Google Shape;188;p9"/>
          <p:cNvSpPr txBox="1"/>
          <p:nvPr>
            <p:ph idx="1" type="body"/>
          </p:nvPr>
        </p:nvSpPr>
        <p:spPr>
          <a:xfrm>
            <a:off x="1150938" y="1690048"/>
            <a:ext cx="7772400" cy="5024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Receiver needs to know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Timing of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Signal levels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Factors affecting successful interpretation of signals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Baseline Wandering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DC Components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Self-synchronization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Built in Error Detection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Immunity to Noise and Interference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Complexity</a:t>
            </a:r>
            <a:endParaRPr sz="2400"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BaseLine Wandering</a:t>
            </a:r>
            <a:endParaRPr/>
          </a:p>
        </p:txBody>
      </p:sp>
      <p:sp>
        <p:nvSpPr>
          <p:cNvPr id="195" name="Google Shape;195;p10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Receiver calculates the running average of received signal power.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Average = baseline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 log strings of 0’s and 1’s can cause a drift in the baseline making it difficult for the receiver to decode properly.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11"/>
          <p:cNvSpPr txBox="1"/>
          <p:nvPr>
            <p:ph type="title"/>
          </p:nvPr>
        </p:nvSpPr>
        <p:spPr>
          <a:xfrm>
            <a:off x="1350963" y="436729"/>
            <a:ext cx="7793037" cy="9803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DC Components</a:t>
            </a:r>
            <a:endParaRPr/>
          </a:p>
        </p:txBody>
      </p:sp>
      <p:sp>
        <p:nvSpPr>
          <p:cNvPr id="202" name="Google Shape;202;p11"/>
          <p:cNvSpPr txBox="1"/>
          <p:nvPr>
            <p:ph idx="1" type="body"/>
          </p:nvPr>
        </p:nvSpPr>
        <p:spPr>
          <a:xfrm>
            <a:off x="794000" y="1789125"/>
            <a:ext cx="8153100" cy="4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When the voltage level in a digital signal is constant for a while, the spectrum creates very low frequencies (results of Fourier analysis). </a:t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If the signal is to pass through a system (such as a transformer) that does not allow the passage of a dc component, the signal is distorted and may create errors in the output.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This component is extra energy residing on the line and is useless. 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317983b86_0_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8" name="Google Shape;208;g33317983b8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050" y="536325"/>
            <a:ext cx="6123477" cy="288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3317983b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900" y="3425674"/>
            <a:ext cx="6479318" cy="31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798513" y="946150"/>
            <a:ext cx="47244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Self-Synchronization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948720" y="1789113"/>
            <a:ext cx="7772400" cy="468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receiver’s bit intervals must correspond exactly to the senders bit intervals.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receiver clock is faster or slower, the bit intervals are not matched and the receiver might misinterpret the signals. 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/>
          <p:nvPr>
            <p:ph idx="12" type="sldNum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fld id="{00000000-1234-1234-1234-123412341234}" type="slidenum"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3"/>
          <p:cNvCxnSpPr/>
          <p:nvPr/>
        </p:nvCxnSpPr>
        <p:spPr>
          <a:xfrm>
            <a:off x="152400" y="533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3"/>
          <p:cNvCxnSpPr/>
          <p:nvPr/>
        </p:nvCxnSpPr>
        <p:spPr>
          <a:xfrm>
            <a:off x="152400" y="1371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3"/>
          <p:cNvSpPr txBox="1"/>
          <p:nvPr/>
        </p:nvSpPr>
        <p:spPr>
          <a:xfrm>
            <a:off x="304800" y="762000"/>
            <a:ext cx="50784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4.3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lack of synchronization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" name="Google Shape;227;p13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8" name="Google Shape;2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388" y="1600200"/>
            <a:ext cx="6627812" cy="427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784225" y="630238"/>
            <a:ext cx="42767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Self-Synchronization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375175" y="2011350"/>
            <a:ext cx="8305200" cy="4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2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self-synchronizing digital signal includes timing information in the data being transmitted. 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322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can be achieved if there are transitions in the signal that alert the receiver to the beginning, middle, or end of the pulse. 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322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receiver’s clock is out of synchronization, these points can reset the clock.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3" name="Google Shape;2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513" y="2244725"/>
            <a:ext cx="7642225" cy="33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Different Line Encoding Schemes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idx="12" type="sldNum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fld id="{00000000-1234-1234-1234-123412341234}" type="slidenum"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304800" y="1066800"/>
            <a:ext cx="4989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4.1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line coding schemes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16"/>
          <p:cNvGrpSpPr/>
          <p:nvPr/>
        </p:nvGrpSpPr>
        <p:grpSpPr>
          <a:xfrm>
            <a:off x="142875" y="1539875"/>
            <a:ext cx="8848725" cy="4175125"/>
            <a:chOff x="90" y="538"/>
            <a:chExt cx="5574" cy="2630"/>
          </a:xfrm>
        </p:grpSpPr>
        <p:pic>
          <p:nvPicPr>
            <p:cNvPr id="253" name="Google Shape;25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" y="538"/>
              <a:ext cx="5482" cy="14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0" y="1882"/>
              <a:ext cx="5574" cy="12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Unipolar</a:t>
            </a:r>
            <a:endParaRPr/>
          </a:p>
        </p:txBody>
      </p:sp>
      <p:pic>
        <p:nvPicPr>
          <p:cNvPr id="262" name="Google Shape;2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0" y="2057833"/>
            <a:ext cx="6973888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 txBox="1"/>
          <p:nvPr/>
        </p:nvSpPr>
        <p:spPr>
          <a:xfrm>
            <a:off x="6936525" y="2792050"/>
            <a:ext cx="17799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1: +ve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0: 0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1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NRZ-L &amp; NRZ-I (Bipolar)</a:t>
            </a:r>
            <a:endParaRPr/>
          </a:p>
        </p:txBody>
      </p:sp>
      <p:pic>
        <p:nvPicPr>
          <p:cNvPr id="271" name="Google Shape;2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299" y="2195525"/>
            <a:ext cx="6773850" cy="36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8"/>
          <p:cNvSpPr txBox="1"/>
          <p:nvPr/>
        </p:nvSpPr>
        <p:spPr>
          <a:xfrm>
            <a:off x="6831825" y="2792050"/>
            <a:ext cx="17799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0: +ve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1: -ve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18"/>
          <p:cNvSpPr txBox="1"/>
          <p:nvPr/>
        </p:nvSpPr>
        <p:spPr>
          <a:xfrm>
            <a:off x="6972350" y="4165975"/>
            <a:ext cx="17799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 with +ve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0: no change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1: invert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1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Nonreturn to Zero (NRZ)</a:t>
            </a:r>
            <a:endParaRPr/>
          </a:p>
        </p:txBody>
      </p:sp>
      <p:cxnSp>
        <p:nvCxnSpPr>
          <p:cNvPr id="281" name="Google Shape;281;p19"/>
          <p:cNvCxnSpPr/>
          <p:nvPr/>
        </p:nvCxnSpPr>
        <p:spPr>
          <a:xfrm>
            <a:off x="12715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2" name="Google Shape;282;p19"/>
          <p:cNvCxnSpPr/>
          <p:nvPr/>
        </p:nvCxnSpPr>
        <p:spPr>
          <a:xfrm>
            <a:off x="26622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3" name="Google Shape;283;p19"/>
          <p:cNvCxnSpPr/>
          <p:nvPr/>
        </p:nvCxnSpPr>
        <p:spPr>
          <a:xfrm>
            <a:off x="3355975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4" name="Google Shape;284;p19"/>
          <p:cNvCxnSpPr/>
          <p:nvPr/>
        </p:nvCxnSpPr>
        <p:spPr>
          <a:xfrm>
            <a:off x="4049713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5" name="Google Shape;285;p19"/>
          <p:cNvCxnSpPr/>
          <p:nvPr/>
        </p:nvCxnSpPr>
        <p:spPr>
          <a:xfrm>
            <a:off x="4756150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6" name="Google Shape;286;p19"/>
          <p:cNvCxnSpPr/>
          <p:nvPr/>
        </p:nvCxnSpPr>
        <p:spPr>
          <a:xfrm>
            <a:off x="5434013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7" name="Google Shape;287;p19"/>
          <p:cNvCxnSpPr/>
          <p:nvPr/>
        </p:nvCxnSpPr>
        <p:spPr>
          <a:xfrm>
            <a:off x="61420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8" name="Google Shape;288;p19"/>
          <p:cNvCxnSpPr/>
          <p:nvPr/>
        </p:nvCxnSpPr>
        <p:spPr>
          <a:xfrm>
            <a:off x="68214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89" name="Google Shape;289;p19"/>
          <p:cNvCxnSpPr/>
          <p:nvPr/>
        </p:nvCxnSpPr>
        <p:spPr>
          <a:xfrm>
            <a:off x="7531100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0" name="Google Shape;290;p19"/>
          <p:cNvCxnSpPr/>
          <p:nvPr/>
        </p:nvCxnSpPr>
        <p:spPr>
          <a:xfrm>
            <a:off x="82375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1" name="Google Shape;291;p19"/>
          <p:cNvCxnSpPr/>
          <p:nvPr/>
        </p:nvCxnSpPr>
        <p:spPr>
          <a:xfrm>
            <a:off x="89169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2" name="Google Shape;292;p19"/>
          <p:cNvCxnSpPr/>
          <p:nvPr/>
        </p:nvCxnSpPr>
        <p:spPr>
          <a:xfrm>
            <a:off x="19700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3" name="Google Shape;293;p19"/>
          <p:cNvCxnSpPr/>
          <p:nvPr/>
        </p:nvCxnSpPr>
        <p:spPr>
          <a:xfrm>
            <a:off x="1271588" y="300672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4" name="Google Shape;294;p19"/>
          <p:cNvCxnSpPr/>
          <p:nvPr/>
        </p:nvCxnSpPr>
        <p:spPr>
          <a:xfrm>
            <a:off x="1271588" y="3403600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5" name="Google Shape;295;p19"/>
          <p:cNvCxnSpPr/>
          <p:nvPr/>
        </p:nvCxnSpPr>
        <p:spPr>
          <a:xfrm>
            <a:off x="1271588" y="3814763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6" name="Google Shape;296;p19"/>
          <p:cNvCxnSpPr/>
          <p:nvPr/>
        </p:nvCxnSpPr>
        <p:spPr>
          <a:xfrm>
            <a:off x="1111263" y="4783850"/>
            <a:ext cx="7669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7" name="Google Shape;297;p19"/>
          <p:cNvCxnSpPr/>
          <p:nvPr/>
        </p:nvCxnSpPr>
        <p:spPr>
          <a:xfrm>
            <a:off x="1271588" y="514667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98" name="Google Shape;298;p19"/>
          <p:cNvCxnSpPr/>
          <p:nvPr/>
        </p:nvCxnSpPr>
        <p:spPr>
          <a:xfrm>
            <a:off x="1271588" y="555942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9" name="Google Shape;299;p19"/>
          <p:cNvSpPr txBox="1"/>
          <p:nvPr/>
        </p:nvSpPr>
        <p:spPr>
          <a:xfrm>
            <a:off x="1384300" y="2224088"/>
            <a:ext cx="7396163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0     1     0    0    1     1     0    0    0     1    1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73025" y="3149600"/>
            <a:ext cx="114617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NRZ-L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73025" y="4906963"/>
            <a:ext cx="9747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NRZI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NRZ</a:t>
            </a:r>
            <a:endParaRPr/>
          </a:p>
        </p:txBody>
      </p:sp>
      <p:pic>
        <p:nvPicPr>
          <p:cNvPr id="309" name="Google Shape;309;p20"/>
          <p:cNvPicPr preferRelativeResize="0"/>
          <p:nvPr/>
        </p:nvPicPr>
        <p:blipFill rotWithShape="1">
          <a:blip r:embed="rId3">
            <a:alphaModFix/>
          </a:blip>
          <a:srcRect b="69867" l="3047" r="0" t="0"/>
          <a:stretch/>
        </p:blipFill>
        <p:spPr>
          <a:xfrm>
            <a:off x="685800" y="1752600"/>
            <a:ext cx="7772400" cy="2779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21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NRZ – Pros and Cons</a:t>
            </a:r>
            <a:endParaRPr/>
          </a:p>
        </p:txBody>
      </p:sp>
      <p:sp>
        <p:nvSpPr>
          <p:cNvPr id="317" name="Google Shape;317;p21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Pros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Easy to engineer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Make good use of bandwidth (r=1)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Cons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DC component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Lack of synchronization capability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Used for magnetic recording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Not often used for signal transmission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317983b86_0_1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g33317983b86_0_15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NRZ-L vs NRZ-I</a:t>
            </a:r>
            <a:endParaRPr/>
          </a:p>
        </p:txBody>
      </p:sp>
      <p:sp>
        <p:nvSpPr>
          <p:cNvPr id="325" name="Google Shape;325;g33317983b86_0_15"/>
          <p:cNvSpPr txBox="1"/>
          <p:nvPr>
            <p:ph idx="1" type="body"/>
          </p:nvPr>
        </p:nvSpPr>
        <p:spPr>
          <a:xfrm>
            <a:off x="868588" y="1976438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NRZ-L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Baseline wandering, DC components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NRZ-I</a:t>
            </a:r>
            <a:endParaRPr/>
          </a:p>
          <a:p>
            <a:pPr indent="-326390" lvl="1" marL="9144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No baseline wandering and DC components for consecutive 1s</a:t>
            </a:r>
            <a:endParaRPr/>
          </a:p>
          <a:p>
            <a:pPr indent="-326390" lvl="1" marL="9144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Still exist for consecutive 0s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" name="Google Shape;332;p2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Differential Encoding</a:t>
            </a:r>
            <a:endParaRPr/>
          </a:p>
        </p:txBody>
      </p:sp>
      <p:sp>
        <p:nvSpPr>
          <p:cNvPr id="333" name="Google Shape;333;p2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In complex transmission layouts, it is easy to lose sense of polarity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Therefore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Data represented by changes (i.e., transitions) rather than levels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More reliable detection of transition rather than level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2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Manchester Encoding &amp; Differential Manchester Encoding</a:t>
            </a:r>
            <a:endParaRPr sz="4000"/>
          </a:p>
        </p:txBody>
      </p:sp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775" y="1901825"/>
            <a:ext cx="7896225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3"/>
          <p:cNvSpPr txBox="1"/>
          <p:nvPr/>
        </p:nvSpPr>
        <p:spPr>
          <a:xfrm>
            <a:off x="6334500" y="4934750"/>
            <a:ext cx="2542800" cy="1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 with +ve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0: transition to opposite level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1: no transition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2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Biphase (Manchester and D-Manchester)</a:t>
            </a:r>
            <a:endParaRPr/>
          </a:p>
        </p:txBody>
      </p:sp>
      <p:cxnSp>
        <p:nvCxnSpPr>
          <p:cNvPr id="350" name="Google Shape;350;p24"/>
          <p:cNvCxnSpPr/>
          <p:nvPr/>
        </p:nvCxnSpPr>
        <p:spPr>
          <a:xfrm>
            <a:off x="12715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1" name="Google Shape;351;p24"/>
          <p:cNvCxnSpPr/>
          <p:nvPr/>
        </p:nvCxnSpPr>
        <p:spPr>
          <a:xfrm>
            <a:off x="26622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2" name="Google Shape;352;p24"/>
          <p:cNvCxnSpPr/>
          <p:nvPr/>
        </p:nvCxnSpPr>
        <p:spPr>
          <a:xfrm>
            <a:off x="3355975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3" name="Google Shape;353;p24"/>
          <p:cNvCxnSpPr/>
          <p:nvPr/>
        </p:nvCxnSpPr>
        <p:spPr>
          <a:xfrm>
            <a:off x="4049713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4" name="Google Shape;354;p24"/>
          <p:cNvCxnSpPr/>
          <p:nvPr/>
        </p:nvCxnSpPr>
        <p:spPr>
          <a:xfrm>
            <a:off x="4756150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5" name="Google Shape;355;p24"/>
          <p:cNvCxnSpPr/>
          <p:nvPr/>
        </p:nvCxnSpPr>
        <p:spPr>
          <a:xfrm>
            <a:off x="5434013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6" name="Google Shape;356;p24"/>
          <p:cNvCxnSpPr/>
          <p:nvPr/>
        </p:nvCxnSpPr>
        <p:spPr>
          <a:xfrm>
            <a:off x="61420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7" name="Google Shape;357;p24"/>
          <p:cNvCxnSpPr/>
          <p:nvPr/>
        </p:nvCxnSpPr>
        <p:spPr>
          <a:xfrm>
            <a:off x="68214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8" name="Google Shape;358;p24"/>
          <p:cNvCxnSpPr/>
          <p:nvPr/>
        </p:nvCxnSpPr>
        <p:spPr>
          <a:xfrm>
            <a:off x="7531100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59" name="Google Shape;359;p24"/>
          <p:cNvCxnSpPr/>
          <p:nvPr/>
        </p:nvCxnSpPr>
        <p:spPr>
          <a:xfrm>
            <a:off x="82375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0" name="Google Shape;360;p24"/>
          <p:cNvCxnSpPr/>
          <p:nvPr/>
        </p:nvCxnSpPr>
        <p:spPr>
          <a:xfrm>
            <a:off x="89169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1" name="Google Shape;361;p24"/>
          <p:cNvCxnSpPr/>
          <p:nvPr/>
        </p:nvCxnSpPr>
        <p:spPr>
          <a:xfrm>
            <a:off x="19700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2" name="Google Shape;362;p24"/>
          <p:cNvCxnSpPr/>
          <p:nvPr/>
        </p:nvCxnSpPr>
        <p:spPr>
          <a:xfrm>
            <a:off x="1271588" y="300672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3" name="Google Shape;363;p24"/>
          <p:cNvCxnSpPr/>
          <p:nvPr/>
        </p:nvCxnSpPr>
        <p:spPr>
          <a:xfrm>
            <a:off x="1271588" y="3403600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4" name="Google Shape;364;p24"/>
          <p:cNvCxnSpPr/>
          <p:nvPr/>
        </p:nvCxnSpPr>
        <p:spPr>
          <a:xfrm>
            <a:off x="1271588" y="3814763"/>
            <a:ext cx="7669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5" name="Google Shape;365;p24"/>
          <p:cNvCxnSpPr/>
          <p:nvPr/>
        </p:nvCxnSpPr>
        <p:spPr>
          <a:xfrm>
            <a:off x="1271588" y="4762500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6" name="Google Shape;366;p24"/>
          <p:cNvCxnSpPr/>
          <p:nvPr/>
        </p:nvCxnSpPr>
        <p:spPr>
          <a:xfrm>
            <a:off x="1271588" y="514667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67" name="Google Shape;367;p24"/>
          <p:cNvCxnSpPr/>
          <p:nvPr/>
        </p:nvCxnSpPr>
        <p:spPr>
          <a:xfrm>
            <a:off x="1271588" y="555942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8" name="Google Shape;368;p24"/>
          <p:cNvSpPr txBox="1"/>
          <p:nvPr/>
        </p:nvSpPr>
        <p:spPr>
          <a:xfrm>
            <a:off x="1384300" y="2224088"/>
            <a:ext cx="7396163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0     1     0    0    1     1     0    0    0     1    1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187325" y="3149600"/>
            <a:ext cx="84455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58738" y="4906963"/>
            <a:ext cx="1214437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D-Man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7" name="Google Shape;377;p2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Biphase -- Pros and Cons</a:t>
            </a:r>
            <a:endParaRPr/>
          </a:p>
        </p:txBody>
      </p:sp>
      <p:sp>
        <p:nvSpPr>
          <p:cNvPr id="378" name="Google Shape;378;p25"/>
          <p:cNvSpPr txBox="1"/>
          <p:nvPr>
            <p:ph idx="1" type="body"/>
          </p:nvPr>
        </p:nvSpPr>
        <p:spPr>
          <a:xfrm>
            <a:off x="1182688" y="2017713"/>
            <a:ext cx="7772400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Pros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Synchronization on mid bit transition (self clocking)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No dc component or baseline wandering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Error detection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Absence of expected transition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Cons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At least one transition per bit time and possibly two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Maximum modulation rate is twice NRZ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Requires more bandwidth (r=0.5)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" name="Google Shape;385;p2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Modulation Rate</a:t>
            </a:r>
            <a:endParaRPr/>
          </a:p>
        </p:txBody>
      </p:sp>
      <p:pic>
        <p:nvPicPr>
          <p:cNvPr id="386" name="Google Shape;386;p26"/>
          <p:cNvPicPr preferRelativeResize="0"/>
          <p:nvPr/>
        </p:nvPicPr>
        <p:blipFill rotWithShape="1">
          <a:blip r:embed="rId3">
            <a:alphaModFix/>
          </a:blip>
          <a:srcRect b="22546" l="0" r="0" t="0"/>
          <a:stretch/>
        </p:blipFill>
        <p:spPr>
          <a:xfrm>
            <a:off x="1119188" y="1871663"/>
            <a:ext cx="5414962" cy="474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27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Multilevel Binary</a:t>
            </a:r>
            <a:endParaRPr/>
          </a:p>
        </p:txBody>
      </p:sp>
      <p:sp>
        <p:nvSpPr>
          <p:cNvPr id="394" name="Google Shape;394;p27"/>
          <p:cNvSpPr txBox="1"/>
          <p:nvPr>
            <p:ph idx="1" type="body"/>
          </p:nvPr>
        </p:nvSpPr>
        <p:spPr>
          <a:xfrm>
            <a:off x="6873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Use more than two levels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Bipolar-AMI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zero represented by no line signal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one represented by positive or negative pulse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No baseline wandering for consecutive 1s (zeros still a problem)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Good use of bandwidth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28"/>
          <p:cNvSpPr txBox="1"/>
          <p:nvPr>
            <p:ph type="title"/>
          </p:nvPr>
        </p:nvSpPr>
        <p:spPr>
          <a:xfrm>
            <a:off x="1150938" y="641350"/>
            <a:ext cx="7793037" cy="1035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Bipolar-AMI</a:t>
            </a:r>
            <a:endParaRPr/>
          </a:p>
        </p:txBody>
      </p:sp>
      <p:graphicFrame>
        <p:nvGraphicFramePr>
          <p:cNvPr id="402" name="Google Shape;402;p28"/>
          <p:cNvGraphicFramePr/>
          <p:nvPr/>
        </p:nvGraphicFramePr>
        <p:xfrm>
          <a:off x="724200" y="2243150"/>
          <a:ext cx="7749876" cy="2416100"/>
        </p:xfrm>
        <a:graphic>
          <a:graphicData uri="http://schemas.openxmlformats.org/presentationml/2006/ole">
            <mc:AlternateContent>
              <mc:Choice Requires="v">
                <p:oleObj r:id="rId4" imgH="2416100" imgW="7749876" progId="PBrush" spid="_x0000_s1">
                  <p:embed/>
                </p:oleObj>
              </mc:Choice>
              <mc:Fallback>
                <p:oleObj r:id="rId5" imgH="2416100" imgW="7749876" progId="PBrush">
                  <p:embed/>
                  <p:pic>
                    <p:nvPicPr>
                      <p:cNvPr id="402" name="Google Shape;402;p2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24200" y="2243150"/>
                        <a:ext cx="7749876" cy="241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" name="Google Shape;403;p28"/>
          <p:cNvSpPr txBox="1"/>
          <p:nvPr/>
        </p:nvSpPr>
        <p:spPr>
          <a:xfrm>
            <a:off x="1387300" y="4947175"/>
            <a:ext cx="7407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0: 0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1: opposite of previous non-zero level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-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First 1 is +ve</a:t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3317983b86_0_2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g33317983b86_0_23"/>
          <p:cNvSpPr/>
          <p:nvPr/>
        </p:nvSpPr>
        <p:spPr>
          <a:xfrm>
            <a:off x="1300050" y="381000"/>
            <a:ext cx="74979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Bipolar 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3317983b86_0_23"/>
          <p:cNvSpPr/>
          <p:nvPr/>
        </p:nvSpPr>
        <p:spPr>
          <a:xfrm>
            <a:off x="532226" y="2144725"/>
            <a:ext cx="8118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Baseline wandering for consecutive 0s but not for 1s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2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DC components issue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2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Lack of synchronization for a long sequence of 0s</a:t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52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Good use of bandwidth (r=1)</a:t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29"/>
          <p:cNvSpPr/>
          <p:nvPr/>
        </p:nvSpPr>
        <p:spPr>
          <a:xfrm>
            <a:off x="419100" y="381000"/>
            <a:ext cx="8378825" cy="1209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Multilevel Transition, three level- MLT-3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645675" y="2144725"/>
            <a:ext cx="8378700" cy="4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71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is no transition for a 0 bit.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1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signal transitions from one level to the next at the beginning of a 1 bit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1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Transition occurs using three levels of signals (+1, 0, -1)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1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 with 0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1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First 1 is positive, next 1 is zero, next 1 is negative, next 1 is zero, next 1 is again positive, and so on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71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Tahoma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Staircase pattern</a:t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30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MLT-3</a:t>
            </a:r>
            <a:endParaRPr/>
          </a:p>
        </p:txBody>
      </p:sp>
      <p:pic>
        <p:nvPicPr>
          <p:cNvPr id="426" name="Google Shape;4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0450" y="2097088"/>
            <a:ext cx="44577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3317983b86_0_3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g33317983b86_0_30"/>
          <p:cNvSpPr/>
          <p:nvPr/>
        </p:nvSpPr>
        <p:spPr>
          <a:xfrm>
            <a:off x="1334950" y="381000"/>
            <a:ext cx="7462800" cy="12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MLT-3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3317983b86_0_30"/>
          <p:cNvSpPr/>
          <p:nvPr/>
        </p:nvSpPr>
        <p:spPr>
          <a:xfrm>
            <a:off x="636950" y="2144725"/>
            <a:ext cx="8013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52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Baseline wandering for consecutive 0s only, not for 1s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2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DC component is an issue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2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Lack of synchronization</a:t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52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Tahoma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Good use of bandwidth (r=1)</a:t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1" marL="914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666666"/>
              </a:buClr>
              <a:buSzPts val="2800"/>
              <a:buFont typeface="Tahoma"/>
              <a:buChar char="○"/>
            </a:pPr>
            <a:r>
              <a:rPr b="0" i="0" lang="en-US" sz="2800" u="none" cap="none" strike="noStrike">
                <a:solidFill>
                  <a:srgbClr val="666666"/>
                </a:solidFill>
                <a:latin typeface="Tahoma"/>
                <a:ea typeface="Tahoma"/>
                <a:cs typeface="Tahoma"/>
                <a:sym typeface="Tahoma"/>
              </a:rPr>
              <a:t>This is similar to AMI but actually more efficient in practical applications</a:t>
            </a:r>
            <a:endParaRPr b="0" i="0" sz="2800" u="none" cap="none" strike="noStrike">
              <a:solidFill>
                <a:srgbClr val="666666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1" name="Google Shape;441;p31"/>
          <p:cNvSpPr txBox="1"/>
          <p:nvPr>
            <p:ph type="title"/>
          </p:nvPr>
        </p:nvSpPr>
        <p:spPr>
          <a:xfrm>
            <a:off x="1150938" y="688975"/>
            <a:ext cx="7793037" cy="898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Biploar AMI and MLT-3 Example</a:t>
            </a:r>
            <a:endParaRPr/>
          </a:p>
        </p:txBody>
      </p:sp>
      <p:cxnSp>
        <p:nvCxnSpPr>
          <p:cNvPr id="442" name="Google Shape;442;p31"/>
          <p:cNvCxnSpPr/>
          <p:nvPr/>
        </p:nvCxnSpPr>
        <p:spPr>
          <a:xfrm>
            <a:off x="12715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3" name="Google Shape;443;p31"/>
          <p:cNvCxnSpPr/>
          <p:nvPr/>
        </p:nvCxnSpPr>
        <p:spPr>
          <a:xfrm>
            <a:off x="26622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4" name="Google Shape;444;p31"/>
          <p:cNvCxnSpPr/>
          <p:nvPr/>
        </p:nvCxnSpPr>
        <p:spPr>
          <a:xfrm>
            <a:off x="3355975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5" name="Google Shape;445;p31"/>
          <p:cNvCxnSpPr/>
          <p:nvPr/>
        </p:nvCxnSpPr>
        <p:spPr>
          <a:xfrm>
            <a:off x="4049713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4756150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7" name="Google Shape;447;p31"/>
          <p:cNvCxnSpPr/>
          <p:nvPr/>
        </p:nvCxnSpPr>
        <p:spPr>
          <a:xfrm>
            <a:off x="5434013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8" name="Google Shape;448;p31"/>
          <p:cNvCxnSpPr/>
          <p:nvPr/>
        </p:nvCxnSpPr>
        <p:spPr>
          <a:xfrm>
            <a:off x="61420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9" name="Google Shape;449;p31"/>
          <p:cNvCxnSpPr/>
          <p:nvPr/>
        </p:nvCxnSpPr>
        <p:spPr>
          <a:xfrm>
            <a:off x="68214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0" name="Google Shape;450;p31"/>
          <p:cNvCxnSpPr/>
          <p:nvPr/>
        </p:nvCxnSpPr>
        <p:spPr>
          <a:xfrm>
            <a:off x="7531100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823753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2" name="Google Shape;452;p31"/>
          <p:cNvCxnSpPr/>
          <p:nvPr/>
        </p:nvCxnSpPr>
        <p:spPr>
          <a:xfrm>
            <a:off x="89169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3" name="Google Shape;453;p31"/>
          <p:cNvCxnSpPr/>
          <p:nvPr/>
        </p:nvCxnSpPr>
        <p:spPr>
          <a:xfrm>
            <a:off x="1970088" y="2205038"/>
            <a:ext cx="0" cy="4059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4" name="Google Shape;454;p31"/>
          <p:cNvCxnSpPr/>
          <p:nvPr/>
        </p:nvCxnSpPr>
        <p:spPr>
          <a:xfrm>
            <a:off x="1271588" y="300672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1271588" y="3403600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6" name="Google Shape;456;p31"/>
          <p:cNvCxnSpPr/>
          <p:nvPr/>
        </p:nvCxnSpPr>
        <p:spPr>
          <a:xfrm>
            <a:off x="1271588" y="3814763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7" name="Google Shape;457;p31"/>
          <p:cNvCxnSpPr/>
          <p:nvPr/>
        </p:nvCxnSpPr>
        <p:spPr>
          <a:xfrm>
            <a:off x="1271588" y="4762500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8" name="Google Shape;458;p31"/>
          <p:cNvCxnSpPr/>
          <p:nvPr/>
        </p:nvCxnSpPr>
        <p:spPr>
          <a:xfrm>
            <a:off x="1271588" y="514667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1271588" y="5559425"/>
            <a:ext cx="7669212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0" name="Google Shape;460;p31"/>
          <p:cNvSpPr txBox="1"/>
          <p:nvPr/>
        </p:nvSpPr>
        <p:spPr>
          <a:xfrm>
            <a:off x="1384300" y="2224088"/>
            <a:ext cx="7396163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0     1     0    0    1     1     1    0    0     1    1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187325" y="3149600"/>
            <a:ext cx="1262063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Biploar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1"/>
          <p:cNvSpPr txBox="1"/>
          <p:nvPr/>
        </p:nvSpPr>
        <p:spPr>
          <a:xfrm>
            <a:off x="58738" y="4906963"/>
            <a:ext cx="11652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MLT-3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2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5400"/>
              <a:t>Block Coding</a:t>
            </a:r>
            <a:endParaRPr/>
          </a:p>
        </p:txBody>
      </p:sp>
      <p:sp>
        <p:nvSpPr>
          <p:cNvPr id="468" name="Google Shape;468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3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 Coding/Scrambling </a:t>
            </a:r>
            <a:endParaRPr/>
          </a:p>
        </p:txBody>
      </p:sp>
      <p:sp>
        <p:nvSpPr>
          <p:cNvPr id="475" name="Google Shape;475;p33"/>
          <p:cNvSpPr txBox="1"/>
          <p:nvPr>
            <p:ph idx="1" type="body"/>
          </p:nvPr>
        </p:nvSpPr>
        <p:spPr>
          <a:xfrm>
            <a:off x="544513" y="2017713"/>
            <a:ext cx="84105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NRZ, Bipolar AMI, MLT-3 all has a common problem.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Long sequence of 0 can make the receiver lose synchronization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rgbClr val="FF0000"/>
                </a:solidFill>
              </a:rPr>
              <a:t>Solutions: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Change the bit stream before encoding with NRZ-I  so that there is no long streams of 0s.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1" name="Google Shape;481;p3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Solutions:</a:t>
            </a:r>
            <a:endParaRPr/>
          </a:p>
        </p:txBody>
      </p:sp>
      <p:sp>
        <p:nvSpPr>
          <p:cNvPr id="482" name="Google Shape;482;p34"/>
          <p:cNvSpPr txBox="1"/>
          <p:nvPr>
            <p:ph idx="1" type="body"/>
          </p:nvPr>
        </p:nvSpPr>
        <p:spPr>
          <a:xfrm>
            <a:off x="6619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Char char="■"/>
            </a:pPr>
            <a:r>
              <a:rPr lang="en-US" sz="3600"/>
              <a:t>Block Coding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160"/>
              <a:buChar char="■"/>
            </a:pPr>
            <a:r>
              <a:rPr lang="en-US" sz="3600"/>
              <a:t>Scrambling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160"/>
              <a:buChar char="■"/>
            </a:pPr>
            <a:r>
              <a:rPr lang="en-US" sz="3600">
                <a:solidFill>
                  <a:schemeClr val="dk2"/>
                </a:solidFill>
              </a:rPr>
              <a:t>Block Coding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Changes a block of m bits to a block of n bits.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Referred to as mB/nB encoding.</a:t>
            </a:r>
            <a:endParaRPr/>
          </a:p>
          <a:p>
            <a:pPr indent="-17399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8" name="Google Shape;488;p3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Block Coding</a:t>
            </a:r>
            <a:endParaRPr/>
          </a:p>
        </p:txBody>
      </p:sp>
      <p:sp>
        <p:nvSpPr>
          <p:cNvPr id="489" name="Google Shape;489;p35"/>
          <p:cNvSpPr txBox="1"/>
          <p:nvPr>
            <p:ph idx="1" type="body"/>
          </p:nvPr>
        </p:nvSpPr>
        <p:spPr>
          <a:xfrm>
            <a:off x="141288" y="19796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Three Steps Process: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Division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Substitution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Line Coding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Noto Sans Symbols"/>
              <a:buNone/>
            </a:pPr>
            <a:r>
              <a:rPr lang="en-US"/>
              <a:t>	/Combination</a:t>
            </a:r>
            <a:endParaRPr/>
          </a:p>
        </p:txBody>
      </p:sp>
      <p:pic>
        <p:nvPicPr>
          <p:cNvPr id="490" name="Google Shape;4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3100" y="2605088"/>
            <a:ext cx="5715000" cy="3633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6" name="Google Shape;496;p36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Step 1-Division</a:t>
            </a:r>
            <a:endParaRPr/>
          </a:p>
        </p:txBody>
      </p:sp>
      <p:sp>
        <p:nvSpPr>
          <p:cNvPr id="497" name="Google Shape;497;p36"/>
          <p:cNvSpPr txBox="1"/>
          <p:nvPr>
            <p:ph idx="1" type="body"/>
          </p:nvPr>
        </p:nvSpPr>
        <p:spPr>
          <a:xfrm>
            <a:off x="649288" y="2017713"/>
            <a:ext cx="7772400" cy="204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The sequence of bits in data in divided into m Bits.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For example in </a:t>
            </a:r>
            <a:r>
              <a:rPr lang="en-US" sz="2800">
                <a:solidFill>
                  <a:schemeClr val="dk2"/>
                </a:solidFill>
              </a:rPr>
              <a:t>4B/5B</a:t>
            </a:r>
            <a:r>
              <a:rPr lang="en-US" sz="2800"/>
              <a:t> encoding, the original bit sequence is divided into </a:t>
            </a:r>
            <a:r>
              <a:rPr lang="en-US" sz="2800">
                <a:solidFill>
                  <a:schemeClr val="dk2"/>
                </a:solidFill>
              </a:rPr>
              <a:t>4-bit codes/sequence.</a:t>
            </a:r>
            <a:endParaRPr/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  <p:graphicFrame>
        <p:nvGraphicFramePr>
          <p:cNvPr id="498" name="Google Shape;498;p36"/>
          <p:cNvGraphicFramePr/>
          <p:nvPr/>
        </p:nvGraphicFramePr>
        <p:xfrm>
          <a:off x="1941513" y="4097338"/>
          <a:ext cx="5372100" cy="2257425"/>
        </p:xfrm>
        <a:graphic>
          <a:graphicData uri="http://schemas.openxmlformats.org/presentationml/2006/ole">
            <mc:AlternateContent>
              <mc:Choice Requires="v">
                <p:oleObj r:id="rId4" imgH="2257425" imgW="5372100" progId="PBrush" spid="_x0000_s1">
                  <p:embed/>
                </p:oleObj>
              </mc:Choice>
              <mc:Fallback>
                <p:oleObj r:id="rId5" imgH="2257425" imgW="5372100" progId="PBrush">
                  <p:embed/>
                  <p:pic>
                    <p:nvPicPr>
                      <p:cNvPr id="498" name="Google Shape;498;p3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941513" y="4097338"/>
                        <a:ext cx="5372100" cy="22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5" name="Google Shape;5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713" y="3138488"/>
            <a:ext cx="6096000" cy="3719512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7"/>
          <p:cNvSpPr/>
          <p:nvPr/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Step 2-Substitution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7"/>
          <p:cNvSpPr/>
          <p:nvPr/>
        </p:nvSpPr>
        <p:spPr>
          <a:xfrm>
            <a:off x="585788" y="2081213"/>
            <a:ext cx="7772400" cy="204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m bits sequence is substituted for a n bit code.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8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3" name="Google Shape;513;p38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4B/5B Block Coding</a:t>
            </a:r>
            <a:endParaRPr/>
          </a:p>
        </p:txBody>
      </p:sp>
      <p:sp>
        <p:nvSpPr>
          <p:cNvPr id="514" name="Google Shape;514;p38"/>
          <p:cNvSpPr txBox="1"/>
          <p:nvPr>
            <p:ph idx="1" type="body"/>
          </p:nvPr>
        </p:nvSpPr>
        <p:spPr>
          <a:xfrm>
            <a:off x="4587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rgbClr val="FF0000"/>
                </a:solidFill>
              </a:rPr>
              <a:t>4-bit </a:t>
            </a:r>
            <a:r>
              <a:rPr lang="en-US"/>
              <a:t>code -&gt;</a:t>
            </a:r>
            <a:r>
              <a:rPr lang="en-US">
                <a:solidFill>
                  <a:srgbClr val="FF0000"/>
                </a:solidFill>
              </a:rPr>
              <a:t>16</a:t>
            </a:r>
            <a:r>
              <a:rPr lang="en-US"/>
              <a:t> different combinations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>
                <a:solidFill>
                  <a:srgbClr val="FF0000"/>
                </a:solidFill>
              </a:rPr>
              <a:t>5-bit </a:t>
            </a:r>
            <a:r>
              <a:rPr lang="en-US"/>
              <a:t>code -&gt; </a:t>
            </a:r>
            <a:r>
              <a:rPr lang="en-US">
                <a:solidFill>
                  <a:srgbClr val="FF0000"/>
                </a:solidFill>
              </a:rPr>
              <a:t>32 </a:t>
            </a:r>
            <a:r>
              <a:rPr lang="en-US"/>
              <a:t>possible combinations.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So not all of 5-bit codes are required.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Selection of  the 5-bit code is such that each code contains no more than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“one leading 0 and no more than two trailing 0s.” (</a:t>
            </a:r>
            <a:r>
              <a:rPr lang="en-US">
                <a:solidFill>
                  <a:srgbClr val="FF0000"/>
                </a:solidFill>
              </a:rPr>
              <a:t>3 consecutive 0s</a:t>
            </a:r>
            <a:r>
              <a:rPr lang="en-US"/>
              <a:t>)</a:t>
            </a:r>
            <a:endParaRPr sz="2400"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9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" name="Google Shape;521;p39"/>
          <p:cNvSpPr txBox="1"/>
          <p:nvPr/>
        </p:nvSpPr>
        <p:spPr>
          <a:xfrm>
            <a:off x="1050925" y="554038"/>
            <a:ext cx="559593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Table :  4B/5B encoding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2" name="Google Shape;522;p39"/>
          <p:cNvGrpSpPr/>
          <p:nvPr/>
        </p:nvGrpSpPr>
        <p:grpSpPr>
          <a:xfrm>
            <a:off x="992188" y="1792288"/>
            <a:ext cx="7381875" cy="4125912"/>
            <a:chOff x="134" y="559"/>
            <a:chExt cx="5482" cy="4058"/>
          </a:xfrm>
        </p:grpSpPr>
        <p:pic>
          <p:nvPicPr>
            <p:cNvPr id="523" name="Google Shape;523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" y="559"/>
              <a:ext cx="5482" cy="17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4" name="Google Shape;524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4" y="2208"/>
              <a:ext cx="5465" cy="240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1" name="Google Shape;531;p40"/>
          <p:cNvSpPr/>
          <p:nvPr/>
        </p:nvSpPr>
        <p:spPr>
          <a:xfrm>
            <a:off x="922338" y="831850"/>
            <a:ext cx="52641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Step 3: Line 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Weave" id="532" name="Google Shape;532;p40"/>
          <p:cNvSpPr/>
          <p:nvPr/>
        </p:nvSpPr>
        <p:spPr>
          <a:xfrm>
            <a:off x="0" y="2141538"/>
            <a:ext cx="8567738" cy="3919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92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After substitution, a line coding scheme, exp NRZ-I is chosen to create a signal.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CC"/>
              </a:buClr>
              <a:buSzPts val="392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very simple line coding scheme is chosen, because the block coding procedure provides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desirable features (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??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of complex line coding schemes.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ahoma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1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41"/>
          <p:cNvSpPr/>
          <p:nvPr/>
        </p:nvSpPr>
        <p:spPr>
          <a:xfrm>
            <a:off x="1044575" y="609600"/>
            <a:ext cx="74676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Block Coding-Pros/Cons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1"/>
          <p:cNvSpPr/>
          <p:nvPr/>
        </p:nvSpPr>
        <p:spPr>
          <a:xfrm>
            <a:off x="585788" y="2144713"/>
            <a:ext cx="7859712" cy="374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Solves the synchronization problem but not the DC component problem.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098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DC is unacceptable, use bipolar or biphase encoding.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098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Increases the baud rate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by 20%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still better than Manchester schemes.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0980" lvl="0" marL="34290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2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7" name="Google Shape;547;p42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Scrambling</a:t>
            </a:r>
            <a:endParaRPr/>
          </a:p>
        </p:txBody>
      </p:sp>
      <p:sp>
        <p:nvSpPr>
          <p:cNvPr id="548" name="Google Shape;548;p42"/>
          <p:cNvSpPr txBox="1"/>
          <p:nvPr>
            <p:ph idx="1" type="body"/>
          </p:nvPr>
        </p:nvSpPr>
        <p:spPr>
          <a:xfrm>
            <a:off x="1182688" y="2017713"/>
            <a:ext cx="77724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Use scrambling to replace sequences that would produce constant voltage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Filling sequence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Must be recognized by receiver and replace with original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Same length as original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Design Goals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dc component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long sequences of zero level line signal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No reduction in data rate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Error detection capability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Types of Scrambling:</a:t>
            </a:r>
            <a:endParaRPr/>
          </a:p>
        </p:txBody>
      </p:sp>
      <p:sp>
        <p:nvSpPr>
          <p:cNvPr id="554" name="Google Shape;554;p43"/>
          <p:cNvSpPr txBox="1"/>
          <p:nvPr>
            <p:ph idx="1" type="body"/>
          </p:nvPr>
        </p:nvSpPr>
        <p:spPr>
          <a:xfrm>
            <a:off x="748348" y="1903412"/>
            <a:ext cx="7772400" cy="4623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4000"/>
              <a:t>B8ZS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Bipolar With 8 Zeros Substitution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Commonly used US.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</a:pPr>
            <a:r>
              <a:rPr lang="en-US" sz="4000"/>
              <a:t>HDB3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High Density Bipolar 3 Zeros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Based on Bipolar AMI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760"/>
              <a:buChar char="■"/>
            </a:pPr>
            <a:r>
              <a:rPr lang="en-US" sz="3200"/>
              <a:t>Commonly used Europe and Japan.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4000"/>
          </a:p>
        </p:txBody>
      </p:sp>
      <p:sp>
        <p:nvSpPr>
          <p:cNvPr id="555" name="Google Shape;555;p43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2" name="Google Shape;562;p44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B8ZS</a:t>
            </a:r>
            <a:endParaRPr/>
          </a:p>
        </p:txBody>
      </p:sp>
      <p:sp>
        <p:nvSpPr>
          <p:cNvPr id="563" name="Google Shape;563;p44"/>
          <p:cNvSpPr txBox="1"/>
          <p:nvPr>
            <p:ph idx="1" type="body"/>
          </p:nvPr>
        </p:nvSpPr>
        <p:spPr>
          <a:xfrm>
            <a:off x="805498" y="197199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Based on bipolar-AMI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If octet of all zeros and last voltage pulse preceding was positive encode as 000+-0-+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If octet of all zeros and last voltage pulse preceding was negative encode as 000-+0+-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Causes two violations of AMI code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Unlikely to occur as a result of noise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0" name="Google Shape;57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557463"/>
            <a:ext cx="8829675" cy="26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B8ZS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8" name="Google Shape;578;p46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HDB3</a:t>
            </a:r>
            <a:endParaRPr/>
          </a:p>
        </p:txBody>
      </p:sp>
      <p:sp>
        <p:nvSpPr>
          <p:cNvPr id="579" name="Google Shape;579;p46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High Density Bipolar 3 Zeros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Based on Bipolar AMI, Commonly used Europe and Japan.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Based on bipolar-AMI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String of four zeros replaced with one or two pulses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0e4e467503_0_0"/>
          <p:cNvSpPr txBox="1"/>
          <p:nvPr>
            <p:ph type="title"/>
          </p:nvPr>
        </p:nvSpPr>
        <p:spPr>
          <a:xfrm>
            <a:off x="844913" y="38866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HDB3 Subtitution Table</a:t>
            </a:r>
            <a:endParaRPr/>
          </a:p>
        </p:txBody>
      </p:sp>
      <p:sp>
        <p:nvSpPr>
          <p:cNvPr id="586" name="Google Shape;586;g20e4e467503_0_0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7" name="Google Shape;587;g20e4e46750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075" y="2318925"/>
            <a:ext cx="8204800" cy="18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7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4" name="Google Shape;594;p47"/>
          <p:cNvSpPr txBox="1"/>
          <p:nvPr>
            <p:ph type="title"/>
          </p:nvPr>
        </p:nvSpPr>
        <p:spPr>
          <a:xfrm>
            <a:off x="1150938" y="214313"/>
            <a:ext cx="7793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HDB3</a:t>
            </a:r>
            <a:endParaRPr/>
          </a:p>
        </p:txBody>
      </p:sp>
      <p:pic>
        <p:nvPicPr>
          <p:cNvPr id="595" name="Google Shape;59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22463"/>
            <a:ext cx="6462713" cy="356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2001-03-29T16:51:24Z</dcterms:created>
  <dc:creator>David Porter</dc:creator>
</cp:coreProperties>
</file>