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Constantia"/>
      <p:regular r:id="rId23"/>
      <p:bold r:id="rId24"/>
      <p:italic r:id="rId25"/>
      <p:boldItalic r:id="rId26"/>
    </p:embeddedFont>
    <p:embeddedFont>
      <p:font typeface="Cambria Math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jpaQ7otVEYFtv+O/oPeOYoJ9IZ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nstantia-bold.fntdata"/><Relationship Id="rId23" Type="http://schemas.openxmlformats.org/officeDocument/2006/relationships/font" Target="fonts/Constanti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nstantia-boldItalic.fntdata"/><Relationship Id="rId25" Type="http://schemas.openxmlformats.org/officeDocument/2006/relationships/font" Target="fonts/Constantia-italic.fntdata"/><Relationship Id="rId28" Type="http://customschemas.google.com/relationships/presentationmetadata" Target="metadata"/><Relationship Id="rId27" Type="http://schemas.openxmlformats.org/officeDocument/2006/relationships/font" Target="fonts/CambriaMath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4b73792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2a4b73792f6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a4b73792f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2a4b73792f6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2fef9f2c54d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2fef9f2c54d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2fef9f2c54d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fef9f2c54d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2fef9f2c54d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2fef9f2c54d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2fef9f2c54d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2fef9f2c54d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2fef9f2c54d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ef9f2c54d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ef9f2c54d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2fef9f2c54d_0_2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g2fef9f2c54d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fef9f2c54d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fef9f2c54d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fef9f2c54d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fef9f2c54d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ef9f2c54d_0_18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fef9f2c54d_0_18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2fef9f2c54d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fef9f2c54d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fef9f2c54d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fef9f2c54d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2fef9f2c54d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2fef9f2c54d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2fef9f2c54d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ef9f2c54d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2fef9f2c54d_0_4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g2fef9f2c54d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2fef9f2c54d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2fef9f2c54d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2fef9f2c54d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2fef9f2c54d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ef9f2c54d_0_5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2fef9f2c54d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ef9f2c54d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2fef9f2c54d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ef9f2c54d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ef9f2c54d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ef9f2c54d_0_6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2fef9f2c54d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2fef9f2c54d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2fef9f2c54d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2fef9f2c54d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2fef9f2c54d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2fef9f2c54d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ef9f2c54d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2fef9f2c54d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2fef9f2c54d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2fef9f2c54d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fef9f2c54d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fef9f2c54d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fef9f2c54d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2fef9f2c54d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2fef9f2c54d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2fef9f2c54d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2fef9f2c54d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ef9f2c54d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2fef9f2c54d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2fef9f2c54d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ef9f2c54d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2fef9f2c54d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2fef9f2c54d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2fef9f2c54d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2fef9f2c54d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2fef9f2c54d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ef9f2c54d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2fef9f2c54d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2fef9f2c54d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2fef9f2c54d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2fef9f2c54d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2fef9f2c54d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2fef9f2c54d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2fef9f2c54d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ef9f2c54d_0_10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2fef9f2c54d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2fef9f2c54d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2fef9f2c54d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2fef9f2c54d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ef9f2c54d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2fef9f2c54d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2fef9f2c54d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2fef9f2c54d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2fef9f2c54d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2fef9f2c54d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2fef9f2c54d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2fef9f2c54d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2fef9f2c54d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2fef9f2c54d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2fef9f2c54d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2fef9f2c54d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g2fef9f2c54d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2fef9f2c54d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fef9f2c54d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2fef9f2c54d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2fef9f2c54d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2fef9f2c54d_0_0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2fef9f2c54d_0_0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Cambria Math"/>
              <a:buChar char="⚫"/>
              <a:defRPr i="0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Cambria Math"/>
              <a:buChar char="⚫"/>
              <a:defRPr i="0" sz="21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Cambria Math"/>
              <a:buChar char="⚫"/>
              <a:defRPr i="0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Cambria Math"/>
              <a:buChar char="⚫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 Math"/>
              <a:buChar char="•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 Math"/>
              <a:buChar char="•"/>
              <a:defRPr i="0" sz="1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g2fef9f2c54d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2fef9f2c54d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2fef9f2c54d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 sz="4800"/>
              <a:t>Lecture 16:</a:t>
            </a:r>
            <a:endParaRPr sz="48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 sz="4800"/>
              <a:t>Permutations &amp; Combinations</a:t>
            </a:r>
            <a:endParaRPr sz="4800"/>
          </a:p>
        </p:txBody>
      </p:sp>
      <p:sp>
        <p:nvSpPr>
          <p:cNvPr id="127" name="Google Shape;127;p29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6.3 + 6.5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Permutations</a:t>
            </a:r>
            <a:endParaRPr/>
          </a:p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Definition</a:t>
            </a:r>
            <a:r>
              <a:rPr lang="en-US" sz="2400"/>
              <a:t>: A </a:t>
            </a:r>
            <a:r>
              <a:rPr i="1" lang="en-US" sz="2400"/>
              <a:t>permutation</a:t>
            </a:r>
            <a:r>
              <a:rPr lang="en-US" sz="2400"/>
              <a:t> of a set of distinct objects is an ordered arrangement of these objects. An ordered arrangement of r elements of a set is called an                      </a:t>
            </a:r>
            <a:r>
              <a:rPr i="1" lang="en-US" sz="2400"/>
              <a:t>r-</a:t>
            </a:r>
            <a:r>
              <a:rPr i="1" lang="en-US" sz="2400"/>
              <a:t>permutation</a:t>
            </a:r>
            <a:r>
              <a:rPr lang="en-US" sz="2400"/>
              <a:t>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Let </a:t>
            </a:r>
            <a:r>
              <a:rPr i="1" lang="en-US" sz="2400"/>
              <a:t>S</a:t>
            </a:r>
            <a:r>
              <a:rPr lang="en-US" sz="2400"/>
              <a:t> = {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}. </a:t>
            </a:r>
            <a:endParaRPr sz="2400"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ordered arrangement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is a permutation of </a:t>
            </a:r>
            <a:r>
              <a:rPr i="1" lang="en-US"/>
              <a:t>S</a:t>
            </a:r>
            <a:r>
              <a:rPr lang="en-US"/>
              <a:t>.</a:t>
            </a:r>
            <a:endParaRPr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ordered arrangement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is 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-permutation of </a:t>
            </a:r>
            <a:r>
              <a:rPr i="1" lang="en-US"/>
              <a:t>S</a:t>
            </a:r>
            <a:r>
              <a:rPr lang="en-US"/>
              <a:t>.</a:t>
            </a:r>
            <a:endParaRPr/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number of </a:t>
            </a:r>
            <a:r>
              <a:rPr i="1" lang="en-US" sz="2400"/>
              <a:t>r</a:t>
            </a:r>
            <a:r>
              <a:rPr lang="en-US" sz="2400"/>
              <a:t>-</a:t>
            </a:r>
            <a:r>
              <a:rPr lang="en-US" sz="2400"/>
              <a:t>permutations</a:t>
            </a:r>
            <a:r>
              <a:rPr lang="en-US" sz="2400"/>
              <a:t> of a set with </a:t>
            </a:r>
            <a:r>
              <a:rPr i="1" lang="en-US" sz="2400"/>
              <a:t>n</a:t>
            </a:r>
            <a:r>
              <a:rPr lang="en-US" sz="2400"/>
              <a:t> elements is denoted by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</a:t>
            </a:r>
            <a:r>
              <a:rPr i="1" lang="en-US" sz="2400"/>
              <a:t>r</a:t>
            </a:r>
            <a:r>
              <a:rPr lang="en-US" sz="2400"/>
              <a:t>).</a:t>
            </a:r>
            <a:endParaRPr sz="2400"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-permutations of </a:t>
            </a:r>
            <a:r>
              <a:rPr i="1" lang="en-US"/>
              <a:t>S</a:t>
            </a:r>
            <a:r>
              <a:rPr lang="en-US"/>
              <a:t> = {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} are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2; 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3; 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1; 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3; 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1; and 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2. Hence, </a:t>
            </a:r>
            <a:r>
              <a:rPr i="1" lang="en-US"/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(3,2) = 6.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670" lvl="0" marL="276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Permutations</a:t>
            </a:r>
            <a:endParaRPr/>
          </a:p>
          <a:p>
            <a:pPr indent="-280670" lvl="0" marL="2762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Combinations</a:t>
            </a:r>
            <a:endParaRPr/>
          </a:p>
          <a:p>
            <a:pPr indent="-280670" lvl="0" marL="2762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Permutations with </a:t>
            </a:r>
            <a:r>
              <a:rPr lang="en-US"/>
              <a:t>Repetitions</a:t>
            </a:r>
            <a:endParaRPr/>
          </a:p>
          <a:p>
            <a:pPr indent="-280670" lvl="0" marL="276225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Combinations</a:t>
            </a:r>
            <a:r>
              <a:rPr lang="en-US"/>
              <a:t> with Repetitions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145" name="Google Shape;145;p34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Suppose that a saleswoman has to visit eight different cities. She must begin her trip in a specified city, but she can visit the other seven cities in any order she wishes. How many possible orders can the saleswoman use when visiting these cities?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 Solution</a:t>
            </a:r>
            <a:r>
              <a:rPr lang="en-US"/>
              <a:t>: The first city is chosen, and the rest are ordered arbitrarily. Hence the orders are: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7!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5040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If she wants to find the tour with the shortest path that visits all the cities, she must consider 5040 paths!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A Formula for the Number of Permutations</a:t>
            </a:r>
            <a:endParaRPr/>
          </a:p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Theorem</a:t>
            </a:r>
            <a:r>
              <a:rPr lang="en-US" sz="2400"/>
              <a:t>: If </a:t>
            </a:r>
            <a:r>
              <a:rPr i="1" lang="en-US" sz="2400"/>
              <a:t>n</a:t>
            </a:r>
            <a:r>
              <a:rPr lang="en-US" sz="2400"/>
              <a:t> is a positive integer and </a:t>
            </a:r>
            <a:r>
              <a:rPr i="1" lang="en-US" sz="2400"/>
              <a:t>r</a:t>
            </a:r>
            <a:r>
              <a:rPr lang="en-US" sz="2400"/>
              <a:t> is an integer with         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n</a:t>
            </a:r>
            <a:r>
              <a:rPr lang="en-US" sz="2400"/>
              <a:t>, then there are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    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i="1" lang="en-US" sz="2400"/>
              <a:t>r</a:t>
            </a:r>
            <a:r>
              <a:rPr lang="en-US" sz="2400"/>
              <a:t>) = </a:t>
            </a:r>
            <a:r>
              <a:rPr i="1" lang="en-US" sz="2400"/>
              <a:t>n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)(</a:t>
            </a:r>
            <a:r>
              <a:rPr i="1" lang="en-US" sz="2400"/>
              <a:t>n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)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∙∙∙</a:t>
            </a:r>
            <a:r>
              <a:rPr lang="en-US" sz="2400"/>
              <a:t>  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i="1" lang="en-US" sz="2400"/>
              <a:t>r</a:t>
            </a:r>
            <a:r>
              <a:rPr lang="en-US" sz="2400"/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400"/>
              <a:t>    r</a:t>
            </a:r>
            <a:r>
              <a:rPr lang="en-US" sz="2400"/>
              <a:t>-permutations of a set with n distinct elements.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Proof</a:t>
            </a:r>
            <a:r>
              <a:rPr lang="en-US" sz="2400"/>
              <a:t>: Use the </a:t>
            </a:r>
            <a:r>
              <a:rPr lang="en-US" sz="2400">
                <a:solidFill>
                  <a:srgbClr val="D23369"/>
                </a:solidFill>
              </a:rPr>
              <a:t>product rule</a:t>
            </a:r>
            <a:r>
              <a:rPr lang="en-US" sz="2400"/>
              <a:t>. The first element can be chosen in </a:t>
            </a:r>
            <a:r>
              <a:rPr i="1" lang="en-US" sz="2400"/>
              <a:t>n</a:t>
            </a:r>
            <a:r>
              <a:rPr lang="en-US" sz="2400"/>
              <a:t> ways. The second in 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 ways, and so on until there are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(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)) ways to choose the last element.</a:t>
            </a:r>
            <a:endParaRPr sz="2400"/>
          </a:p>
          <a:p>
            <a:pPr indent="-281638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Note that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, since there is only one way to order zero elements.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Corollary</a:t>
            </a:r>
            <a:r>
              <a:rPr lang="en-US" sz="2400"/>
              <a:t>: If </a:t>
            </a:r>
            <a:r>
              <a:rPr i="1" lang="en-US" sz="2400"/>
              <a:t>n</a:t>
            </a:r>
            <a:r>
              <a:rPr lang="en-US" sz="2400"/>
              <a:t> and </a:t>
            </a:r>
            <a:r>
              <a:rPr i="1" lang="en-US" sz="2400"/>
              <a:t>r</a:t>
            </a:r>
            <a:r>
              <a:rPr lang="en-US" sz="2400"/>
              <a:t> are integers with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n, </a:t>
            </a:r>
            <a:r>
              <a:rPr lang="en-US" sz="2400"/>
              <a:t>then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</p:txBody>
      </p:sp>
      <p:pic>
        <p:nvPicPr>
          <p:cNvPr descr="addin_tmp.png" id="152" name="Google Shape;1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5638800"/>
            <a:ext cx="2608898" cy="53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457200" y="475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</a:t>
            </a:r>
            <a:endParaRPr/>
          </a:p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457200" y="1706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How many ways are there to select a first-prize winner, a second prize winner, and a third-prize winner from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 different people who have entered a contest?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Solution</a:t>
            </a:r>
            <a:r>
              <a:rPr lang="en-US" sz="2400"/>
              <a:t>: 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        P(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99 ∙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98</a:t>
            </a:r>
            <a:r>
              <a:rPr lang="en-US" sz="2400"/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970,200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164" name="Google Shape;164;p35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How many permutations of the letters </a:t>
            </a:r>
            <a:r>
              <a:rPr i="1" lang="en-US"/>
              <a:t>ABCDEFGH</a:t>
            </a:r>
            <a:r>
              <a:rPr lang="en-US"/>
              <a:t> contain the string </a:t>
            </a:r>
            <a:r>
              <a:rPr i="1" lang="en-US"/>
              <a:t>ABC</a:t>
            </a:r>
            <a:r>
              <a:rPr lang="en-US"/>
              <a:t> 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 Solution</a:t>
            </a:r>
            <a:r>
              <a:rPr lang="en-US"/>
              <a:t>: We solve this problem by counting the permutations of six objects, </a:t>
            </a:r>
            <a:r>
              <a:rPr i="1" lang="en-US">
                <a:highlight>
                  <a:srgbClr val="EAD1DC"/>
                </a:highlight>
              </a:rPr>
              <a:t>ABC</a:t>
            </a:r>
            <a:r>
              <a:rPr lang="en-US"/>
              <a:t>, </a:t>
            </a:r>
            <a:r>
              <a:rPr i="1" lang="en-US">
                <a:highlight>
                  <a:srgbClr val="D9D2E9"/>
                </a:highlight>
              </a:rPr>
              <a:t>D</a:t>
            </a:r>
            <a:r>
              <a:rPr lang="en-US"/>
              <a:t>, </a:t>
            </a:r>
            <a:r>
              <a:rPr i="1" lang="en-US">
                <a:highlight>
                  <a:srgbClr val="FCE5CD"/>
                </a:highlight>
              </a:rPr>
              <a:t>E</a:t>
            </a:r>
            <a:r>
              <a:rPr lang="en-US"/>
              <a:t>, </a:t>
            </a:r>
            <a:r>
              <a:rPr i="1" lang="en-US">
                <a:highlight>
                  <a:srgbClr val="D9EAD3"/>
                </a:highlight>
              </a:rPr>
              <a:t>F</a:t>
            </a:r>
            <a:r>
              <a:rPr lang="en-US"/>
              <a:t>, </a:t>
            </a:r>
            <a:r>
              <a:rPr i="1" lang="en-US">
                <a:highlight>
                  <a:srgbClr val="C9DAF8"/>
                </a:highlight>
              </a:rPr>
              <a:t>G</a:t>
            </a:r>
            <a:r>
              <a:rPr lang="en-US"/>
              <a:t>, and </a:t>
            </a:r>
            <a:r>
              <a:rPr i="1" lang="en-US">
                <a:highlight>
                  <a:srgbClr val="E6B8AF"/>
                </a:highlight>
              </a:rPr>
              <a:t>H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 P(6, 6)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6!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70" name="Google Shape;170;p36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Definition</a:t>
            </a:r>
            <a:r>
              <a:rPr lang="en-US" sz="2400"/>
              <a:t>: An </a:t>
            </a:r>
            <a:r>
              <a:rPr i="1" lang="en-US" sz="2400"/>
              <a:t>r-combination</a:t>
            </a:r>
            <a:r>
              <a:rPr lang="en-US" sz="2400"/>
              <a:t> of elements of a set is an unordered selection of </a:t>
            </a:r>
            <a:r>
              <a:rPr i="1" lang="en-US" sz="2400"/>
              <a:t>r</a:t>
            </a:r>
            <a:r>
              <a:rPr lang="en-US" sz="2400"/>
              <a:t> elements from the set. Thus, an    </a:t>
            </a:r>
            <a:r>
              <a:rPr i="1" lang="en-US" sz="2400"/>
              <a:t>r</a:t>
            </a:r>
            <a:r>
              <a:rPr lang="en-US" sz="2400"/>
              <a:t>-combination is simply a subset of the set with </a:t>
            </a:r>
            <a:r>
              <a:rPr i="1" lang="en-US" sz="2400"/>
              <a:t>r</a:t>
            </a:r>
            <a:r>
              <a:rPr lang="en-US" sz="2400"/>
              <a:t> elements.</a:t>
            </a:r>
            <a:endParaRPr sz="2400"/>
          </a:p>
          <a:p>
            <a:pPr indent="-2816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number of </a:t>
            </a:r>
            <a:r>
              <a:rPr i="1" lang="en-US" sz="2400"/>
              <a:t>r</a:t>
            </a:r>
            <a:r>
              <a:rPr lang="en-US" sz="2400"/>
              <a:t>-combinations of a set with n distinct elements is denoted by </a:t>
            </a:r>
            <a:r>
              <a:rPr i="1" lang="en-US" sz="2400"/>
              <a:t>C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i="1" lang="en-US" sz="2400"/>
              <a:t>r</a:t>
            </a:r>
            <a:r>
              <a:rPr lang="en-US" sz="2400"/>
              <a:t>). The notation          is also used and is called a </a:t>
            </a:r>
            <a:r>
              <a:rPr i="1" lang="en-US" sz="2400"/>
              <a:t>binomial coefficient</a:t>
            </a:r>
            <a:r>
              <a:rPr lang="en-US" sz="2400"/>
              <a:t>. 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Let </a:t>
            </a:r>
            <a:r>
              <a:rPr i="1" lang="en-US" sz="2400"/>
              <a:t>S</a:t>
            </a:r>
            <a:r>
              <a:rPr lang="en-US" sz="2400"/>
              <a:t> be the set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}. Then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 is 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-combination from S. It is the same as {</a:t>
            </a:r>
            <a:r>
              <a:rPr i="1" lang="en-US" sz="2400"/>
              <a:t>d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a</a:t>
            </a:r>
            <a:r>
              <a:rPr lang="en-US" sz="2400"/>
              <a:t>} since the order listed does not matter.</a:t>
            </a:r>
            <a:endParaRPr sz="2400"/>
          </a:p>
          <a:p>
            <a:pPr indent="-2816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i="1" lang="en-US" sz="2400"/>
              <a:t>C</a:t>
            </a:r>
            <a:r>
              <a:rPr lang="en-US" sz="2400"/>
              <a:t>(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6 because the 2-combinations of </a:t>
            </a:r>
            <a:r>
              <a:rPr lang="en-US" sz="2400"/>
              <a:t>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 are the six subsets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},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},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}, {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}, {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}, and {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71" name="Google Shape;1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716" y="2971800"/>
            <a:ext cx="50435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7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77" name="Google Shape;177;p37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Theorem</a:t>
            </a:r>
            <a:r>
              <a:rPr lang="en-US"/>
              <a:t>: The number of </a:t>
            </a:r>
            <a:r>
              <a:rPr i="1" lang="en-US"/>
              <a:t>r</a:t>
            </a:r>
            <a:r>
              <a:rPr lang="en-US"/>
              <a:t>-combinations of a set with </a:t>
            </a:r>
            <a:r>
              <a:rPr i="1" lang="en-US"/>
              <a:t>n</a:t>
            </a:r>
            <a:r>
              <a:rPr lang="en-US"/>
              <a:t> elements, where </a:t>
            </a:r>
            <a:r>
              <a:rPr i="1" lang="en-US"/>
              <a:t>n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≥</a:t>
            </a:r>
            <a:r>
              <a:rPr lang="en-US"/>
              <a:t> </a:t>
            </a:r>
            <a:r>
              <a:rPr i="1" lang="en-US"/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≥ 0, equals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Proof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 By the product rule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r</a:t>
            </a:r>
            <a:r>
              <a:rPr lang="en-US"/>
              <a:t>)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</a:t>
            </a:r>
            <a:r>
              <a:rPr i="1" lang="en-US"/>
              <a:t>r</a:t>
            </a:r>
            <a:r>
              <a:rPr lang="en-US"/>
              <a:t>) ∙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r</a:t>
            </a:r>
            <a:r>
              <a:rPr lang="en-US"/>
              <a:t>,</a:t>
            </a:r>
            <a:r>
              <a:rPr i="1" lang="en-US"/>
              <a:t>r</a:t>
            </a:r>
            <a:r>
              <a:rPr lang="en-US"/>
              <a:t>). Therefore, </a:t>
            </a:r>
            <a:endParaRPr/>
          </a:p>
        </p:txBody>
      </p:sp>
      <p:pic>
        <p:nvPicPr>
          <p:cNvPr descr="addin_tmp.png" id="178" name="Google Shape;1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4419600"/>
            <a:ext cx="5405438" cy="488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79" name="Google Shape;1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1" y="2438401"/>
            <a:ext cx="24669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85" name="Google Shape;185;p38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How many poker hands of five cards can be dealt from a standard deck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cards? Also, how many ways are there to select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47</a:t>
            </a:r>
            <a:r>
              <a:rPr lang="en-US" sz="2400"/>
              <a:t> cards from a deck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cards?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Solution</a:t>
            </a:r>
            <a:r>
              <a:rPr lang="en-US" sz="2400"/>
              <a:t>: Since the order in which the cards are dealt does not matter, the number of five card hands is:</a:t>
            </a:r>
            <a:endParaRPr sz="2400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129237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69875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different ways to select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47</a:t>
            </a:r>
            <a:r>
              <a:rPr lang="en-US" sz="2400"/>
              <a:t> cards from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is</a:t>
            </a:r>
            <a:endParaRPr sz="2400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</a:t>
            </a:r>
            <a:endParaRPr sz="2400"/>
          </a:p>
        </p:txBody>
      </p:sp>
      <p:pic>
        <p:nvPicPr>
          <p:cNvPr descr="addin_tmp.png" id="186" name="Google Shape;18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05200"/>
            <a:ext cx="2078831" cy="397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7" name="Google Shape;18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4038600"/>
            <a:ext cx="6672263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8" name="Google Shape;18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800" y="5257800"/>
            <a:ext cx="5676900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8"/>
          <p:cNvSpPr txBox="1"/>
          <p:nvPr/>
        </p:nvSpPr>
        <p:spPr>
          <a:xfrm>
            <a:off x="3124200" y="6324600"/>
            <a:ext cx="5257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is a special case of a general result.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95" name="Google Shape;195;p39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Corollary</a:t>
            </a:r>
            <a:r>
              <a:rPr lang="en-US"/>
              <a:t>: Let </a:t>
            </a:r>
            <a:r>
              <a:rPr i="1" lang="en-US"/>
              <a:t>n</a:t>
            </a:r>
            <a:r>
              <a:rPr lang="en-US"/>
              <a:t> and </a:t>
            </a:r>
            <a:r>
              <a:rPr i="1" lang="en-US"/>
              <a:t>r</a:t>
            </a:r>
            <a:r>
              <a:rPr lang="en-US"/>
              <a:t> be nonnegative integers with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i="1" lang="en-US"/>
              <a:t>   </a:t>
            </a:r>
            <a:r>
              <a:rPr i="1" lang="en-US"/>
              <a:t>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≤ </a:t>
            </a:r>
            <a:r>
              <a:rPr i="1" lang="en-US"/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/>
              <a:t> Then </a:t>
            </a:r>
            <a:r>
              <a:rPr b="1" i="1" lang="en-US">
                <a:solidFill>
                  <a:schemeClr val="dk2"/>
                </a:solidFill>
              </a:rPr>
              <a:t>C</a:t>
            </a:r>
            <a:r>
              <a:rPr b="1" lang="en-US">
                <a:solidFill>
                  <a:schemeClr val="dk2"/>
                </a:solidFill>
              </a:rPr>
              <a:t>(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, </a:t>
            </a:r>
            <a:r>
              <a:rPr b="1" i="1" lang="en-US">
                <a:solidFill>
                  <a:schemeClr val="dk2"/>
                </a:solidFill>
              </a:rPr>
              <a:t>r</a:t>
            </a:r>
            <a:r>
              <a:rPr b="1" lang="en-US">
                <a:solidFill>
                  <a:schemeClr val="dk2"/>
                </a:solidFill>
              </a:rPr>
              <a:t>) = </a:t>
            </a:r>
            <a:r>
              <a:rPr b="1" i="1" lang="en-US">
                <a:solidFill>
                  <a:schemeClr val="dk2"/>
                </a:solidFill>
              </a:rPr>
              <a:t>C</a:t>
            </a:r>
            <a:r>
              <a:rPr b="1" lang="en-US">
                <a:solidFill>
                  <a:schemeClr val="dk2"/>
                </a:solidFill>
              </a:rPr>
              <a:t>(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, 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 − </a:t>
            </a:r>
            <a:r>
              <a:rPr b="1" i="1" lang="en-US">
                <a:solidFill>
                  <a:schemeClr val="dk2"/>
                </a:solidFill>
              </a:rPr>
              <a:t>r</a:t>
            </a:r>
            <a:r>
              <a:rPr b="1" lang="en-US">
                <a:solidFill>
                  <a:schemeClr val="dk2"/>
                </a:solidFill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Proof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From Theorem 2, it follows that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and 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Hence,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r</a:t>
            </a:r>
            <a:r>
              <a:rPr lang="en-US"/>
              <a:t>)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n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− </a:t>
            </a:r>
            <a:r>
              <a:rPr i="1" lang="en-US"/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/>
          </a:p>
        </p:txBody>
      </p:sp>
      <p:pic>
        <p:nvPicPr>
          <p:cNvPr descr="addin_tmp.png" id="196" name="Google Shape;1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971800"/>
            <a:ext cx="2369344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7" name="Google Shape;19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3733800"/>
            <a:ext cx="5622131" cy="450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9"/>
          <p:cNvSpPr txBox="1"/>
          <p:nvPr/>
        </p:nvSpPr>
        <p:spPr>
          <a:xfrm>
            <a:off x="1524000" y="5791200"/>
            <a:ext cx="685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result can be proved without using algebraic manipulation.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99" name="Google Shape;199;p39"/>
          <p:cNvSpPr/>
          <p:nvPr/>
        </p:nvSpPr>
        <p:spPr>
          <a:xfrm flipH="1" rot="-5400000">
            <a:off x="8153400" y="49530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205" name="Google Shape;205;p42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Example</a:t>
            </a:r>
            <a:r>
              <a:rPr lang="en-US" sz="2400"/>
              <a:t>: How many ways are there to select five players from 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 sz="2400"/>
              <a:t>-member tennis team to make a trip to a match at another school.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Solution</a:t>
            </a:r>
            <a:r>
              <a:rPr lang="en-US" sz="2400"/>
              <a:t>: The number of combinations is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Example</a:t>
            </a:r>
            <a:r>
              <a:rPr lang="en-US" sz="2400"/>
              <a:t>: A group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30 </a:t>
            </a:r>
            <a:r>
              <a:rPr lang="en-US" sz="2400"/>
              <a:t>people have been trained as astronauts to go on the first mission to Mars. How many ways are there to select a crew of six people to go on this mission?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Solution</a:t>
            </a:r>
            <a:r>
              <a:rPr lang="en-US" sz="2400"/>
              <a:t>: The number of possible crews is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</p:txBody>
      </p:sp>
      <p:pic>
        <p:nvPicPr>
          <p:cNvPr descr="addin_tmp.png" id="206" name="Google Shape;20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048000"/>
            <a:ext cx="2592134" cy="349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7" name="Google Shape;20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5638800"/>
            <a:ext cx="5425250" cy="34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3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Permutations with Repetition</a:t>
            </a:r>
            <a:endParaRPr/>
          </a:p>
        </p:txBody>
      </p:sp>
      <p:sp>
        <p:nvSpPr>
          <p:cNvPr id="213" name="Google Shape;213;p53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Theorem</a:t>
            </a:r>
            <a:r>
              <a:rPr lang="en-US" sz="2400"/>
              <a:t>: The number of </a:t>
            </a:r>
            <a:r>
              <a:rPr i="1" lang="en-US" sz="2400"/>
              <a:t>r</a:t>
            </a:r>
            <a:r>
              <a:rPr lang="en-US" sz="2400"/>
              <a:t>-permutations of a set of </a:t>
            </a:r>
            <a:r>
              <a:rPr i="1" lang="en-US" sz="2400"/>
              <a:t>n</a:t>
            </a:r>
            <a:r>
              <a:rPr lang="en-US" sz="2400"/>
              <a:t> objects with repetition allowed is </a:t>
            </a:r>
            <a:r>
              <a:rPr i="1" lang="en-US" sz="2400"/>
              <a:t>n</a:t>
            </a:r>
            <a:r>
              <a:rPr baseline="30000" i="1" lang="en-US" sz="2400"/>
              <a:t>r</a:t>
            </a:r>
            <a:r>
              <a:rPr lang="en-US" sz="2400"/>
              <a:t>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Proof</a:t>
            </a:r>
            <a:r>
              <a:rPr lang="en-US" sz="2400"/>
              <a:t>: There are </a:t>
            </a:r>
            <a:r>
              <a:rPr i="1" lang="en-US" sz="2400"/>
              <a:t>n</a:t>
            </a:r>
            <a:r>
              <a:rPr lang="en-US" sz="2400"/>
              <a:t> ways to select an element of the set for each of the </a:t>
            </a:r>
            <a:r>
              <a:rPr i="1" lang="en-US" sz="2400"/>
              <a:t>r</a:t>
            </a:r>
            <a:r>
              <a:rPr lang="en-US" sz="2400"/>
              <a:t> positions in the </a:t>
            </a:r>
            <a:r>
              <a:rPr i="1" lang="en-US" sz="2400"/>
              <a:t>r</a:t>
            </a:r>
            <a:r>
              <a:rPr lang="en-US" sz="2400"/>
              <a:t>-permutation when repetition is allowed. Hence, by the product rule there are </a:t>
            </a:r>
            <a:r>
              <a:rPr i="1" lang="en-US" sz="2400"/>
              <a:t>n</a:t>
            </a:r>
            <a:r>
              <a:rPr baseline="30000" i="1" lang="en-US" sz="2400"/>
              <a:t>r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-permutations with repetition.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Example</a:t>
            </a:r>
            <a:r>
              <a:rPr lang="en-US" sz="2400"/>
              <a:t>: How many strings of length </a:t>
            </a:r>
            <a:r>
              <a:rPr i="1" lang="en-US" sz="2400"/>
              <a:t>r</a:t>
            </a:r>
            <a:r>
              <a:rPr lang="en-US" sz="2400"/>
              <a:t> can be formed from the uppercase letters of the English alphabet?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Solution</a:t>
            </a:r>
            <a:r>
              <a:rPr lang="en-US" sz="2400"/>
              <a:t>: The number of such strings is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26</a:t>
            </a:r>
            <a:r>
              <a:rPr baseline="30000" i="1" lang="en-US" sz="2400"/>
              <a:t>r</a:t>
            </a:r>
            <a:r>
              <a:rPr lang="en-US" sz="2400"/>
              <a:t>, which is the number of </a:t>
            </a:r>
            <a:r>
              <a:rPr i="1" lang="en-US" sz="2400"/>
              <a:t>r</a:t>
            </a:r>
            <a:r>
              <a:rPr lang="en-US" sz="2400"/>
              <a:t>-permutations of a set with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26</a:t>
            </a:r>
            <a:r>
              <a:rPr lang="en-US" sz="2400"/>
              <a:t> elements. </a:t>
            </a:r>
            <a:endParaRPr baseline="30000" i="1" sz="2400"/>
          </a:p>
        </p:txBody>
      </p:sp>
      <p:sp>
        <p:nvSpPr>
          <p:cNvPr id="214" name="Google Shape;214;p53"/>
          <p:cNvSpPr/>
          <p:nvPr/>
        </p:nvSpPr>
        <p:spPr>
          <a:xfrm flipH="1" rot="-5400000">
            <a:off x="8077200" y="35814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20" name="Google Shape;220;p54"/>
          <p:cNvSpPr txBox="1"/>
          <p:nvPr>
            <p:ph idx="1" type="body"/>
          </p:nvPr>
        </p:nvSpPr>
        <p:spPr>
          <a:xfrm>
            <a:off x="457200" y="1402075"/>
            <a:ext cx="82296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Example</a:t>
            </a:r>
            <a:r>
              <a:rPr lang="en-US" sz="1800"/>
              <a:t>: </a:t>
            </a:r>
            <a:r>
              <a:rPr lang="en-US" sz="1800"/>
              <a:t>How many bit strings of length 10 contain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lang="en-US" sz="1800"/>
              <a:t>a) exactly</a:t>
            </a:r>
            <a:r>
              <a:rPr lang="en-US" sz="1800"/>
              <a:t> 4 1s</a:t>
            </a:r>
            <a:r>
              <a:rPr lang="en-US" sz="1800"/>
              <a:t>?          b) At  most 3 1s?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a) </a:t>
            </a:r>
            <a:r>
              <a:rPr b="1" lang="en-US" sz="1800"/>
              <a:t>Solution</a:t>
            </a:r>
            <a:r>
              <a:rPr lang="en-US" sz="1800"/>
              <a:t>: To create a bit string with exactly 4 ones, we need to </a:t>
            </a:r>
            <a:r>
              <a:rPr lang="en-US" sz="1800">
                <a:solidFill>
                  <a:srgbClr val="9C254D"/>
                </a:solidFill>
              </a:rPr>
              <a:t>choose</a:t>
            </a:r>
            <a:r>
              <a:rPr lang="en-US" sz="1800"/>
              <a:t> 4 p</a:t>
            </a:r>
            <a:r>
              <a:rPr lang="en-US" sz="1800"/>
              <a:t>ositions out of the 10 for the 1s, while the remaining 6 positions will automatically be 0s.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lang="en-US" sz="1800"/>
              <a:t>   The n</a:t>
            </a:r>
            <a:r>
              <a:rPr lang="en-US" sz="1800"/>
              <a:t>umber of ways to choose 4 positions out of 10 is</a:t>
            </a:r>
            <a:r>
              <a:rPr lang="en-US" sz="1800"/>
              <a:t>: C(10, 4) = 210.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b</a:t>
            </a:r>
            <a:r>
              <a:rPr b="1" lang="en-US" sz="1800"/>
              <a:t>) Solution</a:t>
            </a:r>
            <a:r>
              <a:rPr lang="en-US" sz="1800"/>
              <a:t>: We need to consider  multiple cases: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1: Exactly 0 ones: </a:t>
            </a:r>
            <a:r>
              <a:rPr lang="en-US" sz="1800"/>
              <a:t>This corresponds to a string where all 10 bits are 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There is only 1 such string.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2: Exactly 1 one: </a:t>
            </a:r>
            <a:r>
              <a:rPr lang="en-US" sz="1800"/>
              <a:t>Choose 1 position for the 1 out of 10.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 number of ways is: C(10, 1)=10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3: Exactly 2 ones: </a:t>
            </a:r>
            <a:r>
              <a:rPr lang="en-US" sz="1800"/>
              <a:t>Choose 2 positions for the 1s out of 10.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sz="1800"/>
              <a:t>               The number of ways is: C(10, 2)=45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4: Exactly 3 ones: </a:t>
            </a:r>
            <a:r>
              <a:rPr lang="en-US" sz="1800"/>
              <a:t>Choose 3 positions for the 1s out of 10.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 number of ways is: C(10, 3)=120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Total: </a:t>
            </a:r>
            <a:r>
              <a:rPr lang="en-US" sz="1800"/>
              <a:t>Now, we use the sum rule for all these values: 1+10+45+120=176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4b73792f6_0_18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26" name="Google Shape;226;g2a4b73792f6_0_18"/>
          <p:cNvSpPr txBox="1"/>
          <p:nvPr>
            <p:ph idx="1" type="body"/>
          </p:nvPr>
        </p:nvSpPr>
        <p:spPr>
          <a:xfrm>
            <a:off x="457200" y="1402075"/>
            <a:ext cx="83460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Example</a:t>
            </a:r>
            <a:r>
              <a:rPr lang="en-US" sz="2400"/>
              <a:t>: </a:t>
            </a:r>
            <a:r>
              <a:rPr lang="en-US" sz="2400">
                <a:solidFill>
                  <a:srgbClr val="1B1718"/>
                </a:solidFill>
              </a:rPr>
              <a:t>7 female and 9 male faculties are there in the   mathematics department of a school. How many ways are there to select a committee of 5 members from the department if at least 1 female faculty is a must on the committee?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Solution</a:t>
            </a:r>
            <a:r>
              <a:rPr lang="en-US" sz="2400"/>
              <a:t>: The total number of faculty members is 7 female and 9 male, for a total of 7+9=16. The number of ways to choose 5 members from 16 = C(16,5) = 4368.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lang="en-US" sz="2400"/>
              <a:t>Now we need to subtract the number of committees that contain no female, or committees that contain only male. Since there are 9 male, the number of ways to choose 5 members from 9 = C(9, 5) = 126.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Committees with at least 1 female = 4368−126 = 4242.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a4b73792f6_0_29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32" name="Google Shape;232;g2a4b73792f6_0_29"/>
          <p:cNvSpPr txBox="1"/>
          <p:nvPr>
            <p:ph idx="1" type="body"/>
          </p:nvPr>
        </p:nvSpPr>
        <p:spPr>
          <a:xfrm>
            <a:off x="457200" y="1402075"/>
            <a:ext cx="82296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Example</a:t>
            </a:r>
            <a:r>
              <a:rPr lang="en-US" sz="2400"/>
              <a:t>: </a:t>
            </a:r>
            <a:r>
              <a:rPr lang="en-US" sz="2400">
                <a:solidFill>
                  <a:srgbClr val="1B1718"/>
                </a:solidFill>
              </a:rPr>
              <a:t>How many strings of 6 lowercase letters of the</a:t>
            </a:r>
            <a:endParaRPr sz="2400">
              <a:solidFill>
                <a:srgbClr val="1B171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rgbClr val="1B1718"/>
                </a:solidFill>
              </a:rPr>
              <a:t>English alphabet contain exactly 2 vowels</a:t>
            </a:r>
            <a:r>
              <a:rPr lang="en-US" sz="2400">
                <a:solidFill>
                  <a:srgbClr val="1B1718"/>
                </a:solidFill>
              </a:rPr>
              <a:t>?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Solution</a:t>
            </a:r>
            <a:r>
              <a:rPr lang="en-US" sz="2400"/>
              <a:t>: First, we choose 2 positions for the vowels. The number of ways to do this is: C(6,2) = 15.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Each vowel position can be filled with any of the 5 vowels. Therefore, there are: 5</a:t>
            </a:r>
            <a:r>
              <a:rPr baseline="30000" lang="en-US" sz="2400"/>
              <a:t>2 </a:t>
            </a:r>
            <a:r>
              <a:rPr lang="en-US" sz="2400"/>
              <a:t>= 25 ways to choose the 2 vowels.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The remaining 4 positions must be filled with consonants. Each position can be filled with any of the 21 consonants, so there are: 21</a:t>
            </a:r>
            <a:r>
              <a:rPr baseline="30000" lang="en-US" sz="2400"/>
              <a:t>4</a:t>
            </a:r>
            <a:r>
              <a:rPr lang="en-US" sz="2400"/>
              <a:t> = 194 481 ways to choose the 4 consonants.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Finally, we apply product rule to get number of all the strings. Total strings =15×25×194 481 = 72 930 375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0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Permutations with Indistinguishable Objects</a:t>
            </a:r>
            <a:endParaRPr/>
          </a:p>
        </p:txBody>
      </p:sp>
      <p:sp>
        <p:nvSpPr>
          <p:cNvPr id="238" name="Google Shape;238;p60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How many different strings can be made by reordering the letters of the word </a:t>
            </a:r>
            <a:r>
              <a:rPr i="1" lang="en-US" sz="2000"/>
              <a:t>SUCCESS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There are seven possible positions for the three Ss, two Cs, one U, and one E. 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three  Ss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) different ways, leaving four positions free.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two  Cs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) different ways, leaving two positions free. 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U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) different ways, leaving one position free. </a:t>
            </a:r>
            <a:endParaRPr sz="2000"/>
          </a:p>
          <a:p>
            <a:pPr indent="-6985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 E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) way.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  By the product rule, the number of different strings is: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 sz="2000"/>
          </a:p>
        </p:txBody>
      </p:sp>
      <p:pic>
        <p:nvPicPr>
          <p:cNvPr id="239" name="Google Shape;23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5302950"/>
            <a:ext cx="8229601" cy="36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2011-09-18T13:59:01Z</dcterms:created>
  <dc:creator>Richard Scherl</dc:creator>
</cp:coreProperties>
</file>