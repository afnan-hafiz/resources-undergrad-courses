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Constantia"/>
      <p:regular r:id="rId31"/>
      <p:bold r:id="rId32"/>
      <p:italic r:id="rId33"/>
      <p:boldItalic r:id="rId34"/>
    </p:embeddedFont>
    <p:embeddedFont>
      <p:font typeface="Cambria Math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RJltGAorcq9GW58eEBeQ8UUKa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nstanti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onstantia-italic.fntdata"/><Relationship Id="rId10" Type="http://schemas.openxmlformats.org/officeDocument/2006/relationships/slide" Target="slides/slide5.xml"/><Relationship Id="rId32" Type="http://schemas.openxmlformats.org/officeDocument/2006/relationships/font" Target="fonts/Constantia-bold.fntdata"/><Relationship Id="rId13" Type="http://schemas.openxmlformats.org/officeDocument/2006/relationships/slide" Target="slides/slide8.xml"/><Relationship Id="rId35" Type="http://schemas.openxmlformats.org/officeDocument/2006/relationships/font" Target="fonts/CambriaMath-regular.fntdata"/><Relationship Id="rId12" Type="http://schemas.openxmlformats.org/officeDocument/2006/relationships/slide" Target="slides/slide7.xml"/><Relationship Id="rId34" Type="http://schemas.openxmlformats.org/officeDocument/2006/relationships/font" Target="fonts/Constantia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248410ee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22248410ee_3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2248410ee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22248410ee_3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284f56c754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284f56c754_6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84f56c754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284f56c754_1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2fef9f2c54d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2fef9f2c54d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fef9f2c54d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fef9f2c54d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2fef9f2c54d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fef9f2c54d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2fef9f2c54d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2fef9f2c54d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2fef9f2c54d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ef9f2c54d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ef9f2c54d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2fef9f2c54d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2fef9f2c54d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fef9f2c54d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fef9f2c54d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fef9f2c54d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fef9f2c54d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ef9f2c54d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fef9f2c54d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fef9f2c54d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fef9f2c54d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fef9f2c54d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ef9f2c54d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2fef9f2c54d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2fef9f2c54d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fef9f2c54d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ef9f2c54d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2fef9f2c54d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2fef9f2c54d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fef9f2c54d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fef9f2c54d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fef9f2c54d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fef9f2c54d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f9f2c54d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2fef9f2c54d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ef9f2c54d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2fef9f2c54d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ef9f2c54d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ef9f2c54d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ef9f2c54d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fef9f2c54d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2fef9f2c54d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2fef9f2c54d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2fef9f2c54d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2fef9f2c54d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2fef9f2c54d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ef9f2c54d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2fef9f2c54d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2fef9f2c54d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fef9f2c54d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fef9f2c54d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fef9f2c54d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fef9f2c54d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2fef9f2c54d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2fef9f2c54d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2fef9f2c54d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2fef9f2c54d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ef9f2c54d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2fef9f2c54d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2fef9f2c54d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ef9f2c54d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2fef9f2c54d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2fef9f2c54d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2fef9f2c54d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2fef9f2c54d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2fef9f2c54d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ef9f2c54d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2fef9f2c54d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2fef9f2c54d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2fef9f2c54d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2fef9f2c54d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2fef9f2c54d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2fef9f2c54d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2fef9f2c54d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ef9f2c54d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fef9f2c54d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fef9f2c54d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2fef9f2c54d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2fef9f2c54d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ef9f2c54d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2fef9f2c54d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2fef9f2c54d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2fef9f2c54d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2fef9f2c54d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2fef9f2c54d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2fef9f2c54d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2fef9f2c54d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2fef9f2c54d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2fef9f2c54d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2fef9f2c54d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2fef9f2c54d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2fef9f2c54d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fef9f2c54d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fef9f2c54d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2fef9f2c54d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fef9f2c54d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2fef9f2c54d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2fef9f2c54d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2fef9f2c54d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2fef9f2c54d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2fef9f2c54d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ctrTitle"/>
          </p:nvPr>
        </p:nvSpPr>
        <p:spPr>
          <a:xfrm>
            <a:off x="533400" y="1752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14: The Basic Rules of Counting</a:t>
            </a:r>
            <a:endParaRPr/>
          </a:p>
        </p:txBody>
      </p:sp>
      <p:sp>
        <p:nvSpPr>
          <p:cNvPr id="127" name="Google Shape;127;p3"/>
          <p:cNvSpPr txBox="1"/>
          <p:nvPr>
            <p:ph idx="1" type="subTitle"/>
          </p:nvPr>
        </p:nvSpPr>
        <p:spPr>
          <a:xfrm>
            <a:off x="533400" y="3609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Lecture Summary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Product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Sum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Subtraction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Basic Counting Principles: The Product Rule</a:t>
            </a:r>
            <a:endParaRPr sz="4000"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457200" y="1935475"/>
            <a:ext cx="82296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The Product Rule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A procedure can be broken down into a sequence of two tasks. There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first task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second task. Then there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∙n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procedure.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bit strings of length seven are there?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36975" y="4377750"/>
            <a:ext cx="81735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Solution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Since each of the seven bits is either a 0 or a 1, the answer is 2</a:t>
            </a:r>
            <a:r>
              <a:rPr baseline="30000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128.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457200" y="1935474"/>
            <a:ext cx="82296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different license plates can be made if each plate contains a sequence of three uppercase English letters followed by three digits?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1.jp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5105400"/>
            <a:ext cx="201918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531275" y="3351950"/>
            <a:ext cx="8155500" cy="1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By the product rule,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there are 26 ∙ 26 ∙ 26 ∙ 10 ∙ 10 ∙ 10 = 17,576,000 different possible license plates.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2248410ee_3_133"/>
          <p:cNvSpPr txBox="1"/>
          <p:nvPr>
            <p:ph type="title"/>
          </p:nvPr>
        </p:nvSpPr>
        <p:spPr>
          <a:xfrm>
            <a:off x="457200" y="182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Seating Arrangement</a:t>
            </a:r>
            <a:endParaRPr/>
          </a:p>
        </p:txBody>
      </p:sp>
      <p:sp>
        <p:nvSpPr>
          <p:cNvPr id="154" name="Google Shape;154;g322248410ee_3_133"/>
          <p:cNvSpPr txBox="1"/>
          <p:nvPr>
            <p:ph idx="1" type="body"/>
          </p:nvPr>
        </p:nvSpPr>
        <p:spPr>
          <a:xfrm>
            <a:off x="228600" y="1232034"/>
            <a:ext cx="8388300" cy="4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 Example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We have 5 students, how many different seating arrangements are possible if we have 3 seats available?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  Possible solution: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55" name="Google Shape;155;g322248410ee_3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575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22248410ee_3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025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22248410ee_3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250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22248410ee_3_133"/>
          <p:cNvSpPr txBox="1"/>
          <p:nvPr/>
        </p:nvSpPr>
        <p:spPr>
          <a:xfrm>
            <a:off x="441475" y="3137008"/>
            <a:ext cx="31713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first chair, we have 5 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students available to choose from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9" name="Google Shape;159;g322248410ee_3_133"/>
          <p:cNvSpPr txBox="1"/>
          <p:nvPr/>
        </p:nvSpPr>
        <p:spPr>
          <a:xfrm>
            <a:off x="3099100" y="3561242"/>
            <a:ext cx="35658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second chair, we have 4 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students available now to choose from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0" name="Google Shape;160;g322248410ee_3_133"/>
          <p:cNvSpPr txBox="1"/>
          <p:nvPr/>
        </p:nvSpPr>
        <p:spPr>
          <a:xfrm>
            <a:off x="6074500" y="3213542"/>
            <a:ext cx="3420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third chair, we have 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remaining 3 students to choose from</a:t>
            </a:r>
            <a:endParaRPr sz="1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1" name="Google Shape;161;g322248410ee_3_133"/>
          <p:cNvSpPr/>
          <p:nvPr/>
        </p:nvSpPr>
        <p:spPr>
          <a:xfrm>
            <a:off x="441475" y="3137008"/>
            <a:ext cx="2351100" cy="596400"/>
          </a:xfrm>
          <a:prstGeom prst="rect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2" name="Google Shape;162;g322248410ee_3_133"/>
          <p:cNvSpPr/>
          <p:nvPr/>
        </p:nvSpPr>
        <p:spPr>
          <a:xfrm>
            <a:off x="3097375" y="3472008"/>
            <a:ext cx="2636400" cy="75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3" name="Google Shape;163;g322248410ee_3_133"/>
          <p:cNvSpPr/>
          <p:nvPr/>
        </p:nvSpPr>
        <p:spPr>
          <a:xfrm>
            <a:off x="6066125" y="3262075"/>
            <a:ext cx="2636400" cy="70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164" name="Google Shape;164;g322248410ee_3_133"/>
          <p:cNvCxnSpPr>
            <a:stCxn id="155" idx="1"/>
          </p:cNvCxnSpPr>
          <p:nvPr/>
        </p:nvCxnSpPr>
        <p:spPr>
          <a:xfrm flipH="1">
            <a:off x="2038675" y="2428596"/>
            <a:ext cx="603900" cy="49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g322248410ee_3_133"/>
          <p:cNvCxnSpPr/>
          <p:nvPr/>
        </p:nvCxnSpPr>
        <p:spPr>
          <a:xfrm flipH="1" rot="-5400000">
            <a:off x="4323550" y="3101158"/>
            <a:ext cx="433500" cy="229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" name="Google Shape;166;g322248410ee_3_133"/>
          <p:cNvCxnSpPr>
            <a:stCxn id="157" idx="3"/>
          </p:cNvCxnSpPr>
          <p:nvPr/>
        </p:nvCxnSpPr>
        <p:spPr>
          <a:xfrm>
            <a:off x="5947425" y="2428596"/>
            <a:ext cx="747000" cy="556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" name="Google Shape;167;g322248410ee_3_133"/>
          <p:cNvSpPr txBox="1"/>
          <p:nvPr/>
        </p:nvSpPr>
        <p:spPr>
          <a:xfrm>
            <a:off x="457200" y="4324967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and all three events have to occur all at once, so we can use product rule. 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And possible arrangement would be (5</a:t>
            </a:r>
            <a:r>
              <a:rPr lang="en-US" sz="1700">
                <a:solidFill>
                  <a:srgbClr val="040C28"/>
                </a:solidFill>
                <a:highlight>
                  <a:srgbClr val="FFFFFF"/>
                </a:highlight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700">
                <a:solidFill>
                  <a:srgbClr val="040C28"/>
                </a:solidFill>
                <a:highlight>
                  <a:srgbClr val="FFFFFF"/>
                </a:highlight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3) = 60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8" name="Google Shape;168;g322248410ee_3_133"/>
          <p:cNvSpPr txBox="1"/>
          <p:nvPr/>
        </p:nvSpPr>
        <p:spPr>
          <a:xfrm>
            <a:off x="453575" y="5256500"/>
            <a:ext cx="783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We can later try to solve the same problem with permutation or combination concept.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Telephone Numbering Plan</a:t>
            </a:r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228600" y="1232025"/>
            <a:ext cx="86973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: The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North American numbering plan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NANP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) specifies that a telephone number consists of 10 digits, consisting of a three-digit area code, a three-digit office code, and a four-digit station code.  There are some restrictions on the digits.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from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through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from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through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that is 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or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In the old plan (in use in the 1960s) the format was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NYX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NNX-XXXX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mbria Math"/>
              <a:buChar char="■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In the new plan, the format is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XXXX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How many different telephone numbers are possible under the old plan and the new plan?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259850" y="3797025"/>
            <a:ext cx="82296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Use the Product Rule.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8 ∙2 ∙10 = 160 area codes with the format </a:t>
            </a:r>
            <a:r>
              <a:rPr i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NYX.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 8 ∙10 ∙10 = 800 area codes with the format </a:t>
            </a:r>
            <a:r>
              <a:rPr i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NXX. 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8 ∙8 ∙10 = 640 office codes with the format </a:t>
            </a:r>
            <a:r>
              <a:rPr i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NNX.  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 10 ∙10 ∙10 ∙10 = 10,000 station codes with the format </a:t>
            </a:r>
            <a:r>
              <a:rPr i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XXXX. 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Number of  old plan telephone numbers: 160 ∙ 640 ∙ 10,000 = 1,024,000,000.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Number of new plan telephone numbers: 800 ∙ 800 ∙ 10,000 = 6,400,000,000.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457200" y="2468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Subsets of a Finite Set</a:t>
            </a:r>
            <a:endParaRPr/>
          </a:p>
        </p:txBody>
      </p:sp>
      <p:sp>
        <p:nvSpPr>
          <p:cNvPr id="181" name="Google Shape;181;p9"/>
          <p:cNvSpPr txBox="1"/>
          <p:nvPr>
            <p:ph idx="1" type="body"/>
          </p:nvPr>
        </p:nvSpPr>
        <p:spPr>
          <a:xfrm>
            <a:off x="457200" y="1533000"/>
            <a:ext cx="8229600" cy="4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Counting Subsets of a Finite Set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Use the product rule to show that the number of different subsets of a finite set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When the elements of S are listed in an arbitrary order,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 is a one-to-one correspondence between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subsets of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bit strings of length |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when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 element is in the subset, the bit string has a 1 in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 position and a 0 otherwise.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By the product rule, there are  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such bit strings, and therefore 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subsets.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Product Rule in Terms of Sets</a:t>
            </a:r>
            <a:endParaRPr/>
          </a:p>
        </p:txBody>
      </p:sp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… ,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finite sets, then the number of elements in the Cartesian product of these sets is the product of the number of elements of each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70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task of choosing an element in the Cartesian product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⨉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⨉ ∙∙∙ ⨉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is done by choosing an element in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an element in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, …, and an element in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By the product rule, it follows that: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990600" y="5334000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⨉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⨉ ∙∙∙ ⨉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|=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|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|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∙∙∙  ∙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|.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4000"/>
              <a:t>Basic Counting Principles:  The Sum Rule</a:t>
            </a:r>
            <a:endParaRPr sz="4000"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457200" y="1249670"/>
            <a:ext cx="8229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The Sum Rule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If a task can be done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either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one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or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one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where none of the set of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is the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same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as any of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ways,  then there are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 to do the task.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The mathematics department must choose either a student or a faculty member as a representative for a university committee. How many choices are there for this representative if there are 37 members of the mathematics faculty and 83 mathematics majors and no one is both a faculty member and a student.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By the sum rule it follows that there are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37 + 83 = 120 possible ways to pick a representative.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Sum Rule in terms of sets</a:t>
            </a:r>
            <a:endParaRPr sz="4000"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sum rule can be phrased in terms of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∪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|=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+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as long 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disjoint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Or more generally,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case where the sets have elements in common will be discussed when we consider the subtraction rule (remember inclusion-exclusion principle?)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914400" y="3576088"/>
            <a:ext cx="731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∪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∪ ∙∙∙ ∪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|=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+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+ ∙∙∙ +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when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∩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∅ for all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Combining the Sum and Product Rule</a:t>
            </a:r>
            <a:endParaRPr/>
          </a:p>
        </p:txBody>
      </p:sp>
      <p:sp>
        <p:nvSpPr>
          <p:cNvPr id="207" name="Google Shape;207;p14"/>
          <p:cNvSpPr txBox="1"/>
          <p:nvPr>
            <p:ph idx="1" type="body"/>
          </p:nvPr>
        </p:nvSpPr>
        <p:spPr>
          <a:xfrm>
            <a:off x="457200" y="1935476"/>
            <a:ext cx="82296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Suppose statement labels in a programming language can be either a single letter or a letter followed by a digit. Find the number of possible labels.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Two ways to make a label.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Only one letter = 26,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Letter followed by a digit = 26*10 = 260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[product rule]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Total labels = 26 + 260 = 286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[sum rule]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457200" y="18296"/>
            <a:ext cx="76197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Counting Passwords</a:t>
            </a:r>
            <a:endParaRPr/>
          </a:p>
        </p:txBody>
      </p:sp>
      <p:sp>
        <p:nvSpPr>
          <p:cNvPr id="213" name="Google Shape;213;p15"/>
          <p:cNvSpPr txBox="1"/>
          <p:nvPr>
            <p:ph idx="1" type="body"/>
          </p:nvPr>
        </p:nvSpPr>
        <p:spPr>
          <a:xfrm>
            <a:off x="381000" y="862500"/>
            <a:ext cx="82758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Each user on a computer system has a password, which is six to eight characters long, where each character is an uppercase letter or a digit. Each password must contain at least one digit. How many possible passwords are there?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381000" y="2274000"/>
            <a:ext cx="79926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25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Let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be the total number of passwords, and let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be the passwords of length 6, 7, and 8. 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34950" lvl="1" marL="22860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By the sum rule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34950" lvl="1" marL="22860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To find each of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, we find the number of passwords of the specified length composed of letters and digits and subtract the number composed only of letters. We find that: 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2,176,782,336 − 308,915,776 = 1,867,866,560.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78,364,164,096 − 8,031,810,176 = 70,332,353,920.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aseline="30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2,821,109,907,456 − 208,827,064,576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18288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2,612,282,842,880.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34950" lvl="1" marL="22860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Consequently,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i="1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aseline="-25000"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9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2,684,483,063,360.</a:t>
            </a:r>
            <a:endParaRPr sz="19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457200" y="18298"/>
            <a:ext cx="82296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Internet Addresses</a:t>
            </a:r>
            <a:endParaRPr/>
          </a:p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381000" y="1199650"/>
            <a:ext cx="8229600" cy="5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882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Version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of the Internet Protocol (IPv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) uses 32 bits.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882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A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largest networks, a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followed by a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-bit net_id and a 24-bit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882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B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medium-sized networks, a 10, followed by a 14-bit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net_id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and a 16-bit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882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C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smallest networks, a 110, followed by a 21-bit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net_id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and a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 Math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Neither Class D nor Class E addresses are assigned as the address of a computer on the internet. Only Classes A, B, and C are available.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1111111 is not available as the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net_id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of a Class A network.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Host_ids consisting of all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s and all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s are not available in any network.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2.jpg"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6900" y="1503375"/>
            <a:ext cx="5189801" cy="14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Internet Addresses</a:t>
            </a:r>
            <a:endParaRPr/>
          </a:p>
        </p:txBody>
      </p:sp>
      <p:sp>
        <p:nvSpPr>
          <p:cNvPr id="227" name="Google Shape;227;p17"/>
          <p:cNvSpPr txBox="1"/>
          <p:nvPr>
            <p:ph idx="1" type="body"/>
          </p:nvPr>
        </p:nvSpPr>
        <p:spPr>
          <a:xfrm>
            <a:off x="457200" y="1173475"/>
            <a:ext cx="8229600" cy="4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Example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How many different IPv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addresses are available for computers on the internet?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Solution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 both the sum and the product rule. Let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be the number of available addresses, and let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denote the number of addresses for the respective classes.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− 1 = 127 net_ids.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16,777,214 host_ids.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127∙ 16,777,214 = 2,130,706,178.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16,384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net_ids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16,534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host_ids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16,384 ∙ 16, 534 = 1,073,709,056.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21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2,097,152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net_ids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254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host_ids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2,097,152 ∙ 254 = 532,676,608.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Hence, the total number of available IPv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addresses is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 = 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+ 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+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= 2,130,706,178 + 1,073,709,056 + 532,676,608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 = 3, 737,091,842.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3581400" y="5715000"/>
            <a:ext cx="4724400" cy="923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Not Enough Today 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newer IPv6 protocol solves the problem of too few addresses.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Basic Counting Principles: Subtraction Rule</a:t>
            </a:r>
            <a:endParaRPr/>
          </a:p>
        </p:txBody>
      </p:sp>
      <p:sp>
        <p:nvSpPr>
          <p:cNvPr id="234" name="Google Shape;234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Subtraction Rule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a task can be done either in one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or in one of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ways, then the total number of ways to do the task is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minus the number of ways  to do the task that are common to the two different ways.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Also known as,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principle of inclusion-exclusion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4876800"/>
            <a:ext cx="4812030" cy="38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Bit Strings</a:t>
            </a:r>
            <a:endParaRPr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330525" y="1392625"/>
            <a:ext cx="82296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bit strings of length eight either start with 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bit or end with the two bits 00?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3.jpg" id="242" name="Google Shape;2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724" y="2419651"/>
            <a:ext cx="2128243" cy="220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 txBox="1"/>
          <p:nvPr/>
        </p:nvSpPr>
        <p:spPr>
          <a:xfrm>
            <a:off x="320775" y="2419650"/>
            <a:ext cx="82296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Solution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Use the subtraction rule.</a:t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                                    that start with a 1 bit:  2</a:t>
            </a: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128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                                    that end with bits 00:  2</a:t>
            </a: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64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                                that start with a 1 bit and end with bits 00 :  2</a:t>
            </a: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32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Cambria Math"/>
              <a:buChar char="➢"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Hence, the number is 128 + 64 − 32 = 160.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type="ctrTitle"/>
          </p:nvPr>
        </p:nvSpPr>
        <p:spPr>
          <a:xfrm>
            <a:off x="533400" y="19812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15: The Pigeonhole Principle</a:t>
            </a:r>
            <a:endParaRPr/>
          </a:p>
        </p:txBody>
      </p:sp>
      <p:sp>
        <p:nvSpPr>
          <p:cNvPr id="249" name="Google Shape;249;p22"/>
          <p:cNvSpPr txBox="1"/>
          <p:nvPr>
            <p:ph idx="1" type="subTitle"/>
          </p:nvPr>
        </p:nvSpPr>
        <p:spPr>
          <a:xfrm>
            <a:off x="533400" y="38381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6.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Lecture Summary</a:t>
            </a:r>
            <a:endParaRPr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❖"/>
            </a:pPr>
            <a:r>
              <a:rPr lang="en-US"/>
              <a:t>The Pigeonhole Principle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❖"/>
            </a:pPr>
            <a:r>
              <a:rPr lang="en-US"/>
              <a:t>The Generalized Pigeonhole Principle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Pigeonhole Principle</a:t>
            </a:r>
            <a:endParaRPr/>
          </a:p>
        </p:txBody>
      </p:sp>
      <p:sp>
        <p:nvSpPr>
          <p:cNvPr id="261" name="Google Shape;261;p24"/>
          <p:cNvSpPr txBox="1"/>
          <p:nvPr>
            <p:ph idx="1" type="body"/>
          </p:nvPr>
        </p:nvSpPr>
        <p:spPr>
          <a:xfrm>
            <a:off x="457200" y="1370150"/>
            <a:ext cx="82296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If a flock of 13 pigeons roosts in a set of  12 pigeonholes, one of the pigeonholes must have more than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pigeon.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endParaRPr b="1"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7.jp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133600"/>
            <a:ext cx="5382551" cy="179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342675" y="3817525"/>
            <a:ext cx="81918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Pigeonhole Principle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is a positive integer and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 objects are placed into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 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boxes, then at least one box contains two or more objects. 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Proof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We use a proof  by contraposition. Suppose none of the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boxes has more than one object. Then the total number of objects would be at most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This contradicts the statement that we have </a:t>
            </a:r>
            <a:r>
              <a:rPr i="1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 objects.</a:t>
            </a:r>
            <a:endParaRPr sz="24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2248410ee_3_6"/>
          <p:cNvSpPr txBox="1"/>
          <p:nvPr>
            <p:ph type="title"/>
          </p:nvPr>
        </p:nvSpPr>
        <p:spPr>
          <a:xfrm>
            <a:off x="457200" y="182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 sz="4100"/>
              <a:t>Picking Object Blindfolded</a:t>
            </a:r>
            <a:endParaRPr sz="4100"/>
          </a:p>
        </p:txBody>
      </p:sp>
      <p:sp>
        <p:nvSpPr>
          <p:cNvPr id="269" name="Google Shape;269;g322248410ee_3_6"/>
          <p:cNvSpPr txBox="1"/>
          <p:nvPr>
            <p:ph idx="1" type="body"/>
          </p:nvPr>
        </p:nvSpPr>
        <p:spPr>
          <a:xfrm>
            <a:off x="228600" y="1232034"/>
            <a:ext cx="8388300" cy="12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/>
              <a:t>     Example</a:t>
            </a:r>
            <a:r>
              <a:rPr lang="en-US" sz="1600"/>
              <a:t>: Suppose you are blindfolded and picking out balls from a box like below. </a:t>
            </a:r>
            <a:endParaRPr sz="16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/>
              <a:t>                       (a)  Minimum how many balls to pick to get 2 balls of same color?</a:t>
            </a:r>
            <a:endParaRPr sz="16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/>
              <a:t>                       (b)  Minimum how many balls to pick to get 2 red balls?   </a:t>
            </a:r>
            <a:endParaRPr sz="16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/>
              <a:t>      </a:t>
            </a:r>
            <a:endParaRPr sz="1600"/>
          </a:p>
        </p:txBody>
      </p:sp>
      <p:sp>
        <p:nvSpPr>
          <p:cNvPr id="270" name="Google Shape;270;g322248410ee_3_6"/>
          <p:cNvSpPr txBox="1"/>
          <p:nvPr/>
        </p:nvSpPr>
        <p:spPr>
          <a:xfrm>
            <a:off x="2330650" y="2690667"/>
            <a:ext cx="607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(a) Worst case scenario would be, you pick 1 balls from each color = 3 balls. Then if you pick your 4th ball, it must match any of the color, and you will have your 2 same color balls.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So, solution is </a:t>
            </a:r>
            <a:r>
              <a:rPr lang="en-US" sz="1600">
                <a:solidFill>
                  <a:srgbClr val="3C78D8"/>
                </a:solidFill>
                <a:latin typeface="Constantia"/>
                <a:ea typeface="Constantia"/>
                <a:cs typeface="Constantia"/>
                <a:sym typeface="Constantia"/>
              </a:rPr>
              <a:t>(1 Red+1 Blue + 1 Black) + 1 = 4 balls</a:t>
            </a:r>
            <a:endParaRPr sz="1600">
              <a:solidFill>
                <a:srgbClr val="3C78D8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1" name="Google Shape;271;g322248410ee_3_6"/>
          <p:cNvSpPr/>
          <p:nvPr/>
        </p:nvSpPr>
        <p:spPr>
          <a:xfrm>
            <a:off x="588075" y="2815433"/>
            <a:ext cx="1326300" cy="234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</a:rPr>
              <a:t>8 Red</a:t>
            </a:r>
            <a:endParaRPr b="1" sz="2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55CC"/>
                </a:solidFill>
              </a:rPr>
              <a:t>5 blue</a:t>
            </a:r>
            <a:endParaRPr b="1" sz="22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6 Black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74E13"/>
              </a:solidFill>
            </a:endParaRPr>
          </a:p>
        </p:txBody>
      </p:sp>
      <p:sp>
        <p:nvSpPr>
          <p:cNvPr id="272" name="Google Shape;272;g322248410ee_3_6"/>
          <p:cNvSpPr txBox="1"/>
          <p:nvPr/>
        </p:nvSpPr>
        <p:spPr>
          <a:xfrm>
            <a:off x="2406850" y="4519467"/>
            <a:ext cx="60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(b) Worst case scenario would be, you pick all the blue and black balls. Then if you pick your next 2 balls, it must be of red color.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So, solution is </a:t>
            </a:r>
            <a:r>
              <a:rPr lang="en-US" sz="1600">
                <a:solidFill>
                  <a:srgbClr val="3C78D8"/>
                </a:solidFill>
                <a:latin typeface="Constantia"/>
                <a:ea typeface="Constantia"/>
                <a:cs typeface="Constantia"/>
                <a:sym typeface="Constantia"/>
              </a:rPr>
              <a:t>(5 Blue + 6 Black + 1 Red) + 1 = 13 balls</a:t>
            </a:r>
            <a:endParaRPr sz="1600">
              <a:solidFill>
                <a:srgbClr val="3C78D8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type="title"/>
          </p:nvPr>
        </p:nvSpPr>
        <p:spPr>
          <a:xfrm>
            <a:off x="533400" y="551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Pigeonhole Principle</a:t>
            </a:r>
            <a:endParaRPr/>
          </a:p>
        </p:txBody>
      </p:sp>
      <p:sp>
        <p:nvSpPr>
          <p:cNvPr id="278" name="Google Shape;278;p26"/>
          <p:cNvSpPr txBox="1"/>
          <p:nvPr>
            <p:ph idx="1" type="body"/>
          </p:nvPr>
        </p:nvSpPr>
        <p:spPr>
          <a:xfrm>
            <a:off x="350325" y="2008874"/>
            <a:ext cx="82296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 1</a:t>
            </a:r>
            <a:r>
              <a:rPr lang="en-US" sz="2400"/>
              <a:t>: Among any group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367</a:t>
            </a:r>
            <a:r>
              <a:rPr lang="en-US" sz="2400"/>
              <a:t> people, there must be at least two with the same birthday, because there are only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366</a:t>
            </a:r>
            <a:r>
              <a:rPr lang="en-US" sz="2400"/>
              <a:t> possible birthdays.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	</a:t>
            </a:r>
            <a:r>
              <a:rPr b="1" lang="en-US" sz="2400"/>
              <a:t>Example 2: </a:t>
            </a:r>
            <a:r>
              <a:rPr lang="en-US" sz="2400"/>
              <a:t>How many students must be in a class to guarantee that at least two students receive the same score on the final exam, if the exam is graded on a scale from 0 to 100 points?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	</a:t>
            </a:r>
            <a:r>
              <a:rPr b="1" lang="en-US" sz="2400"/>
              <a:t>Solution: </a:t>
            </a:r>
            <a:r>
              <a:rPr lang="en-US" sz="2400"/>
              <a:t>There are 101 possible scores on the final. The pigeonhole principle shows that among any 102 students there must be at least 2 students with the same score.</a:t>
            </a:r>
            <a:endParaRPr sz="2400"/>
          </a:p>
        </p:txBody>
      </p:sp>
      <p:sp>
        <p:nvSpPr>
          <p:cNvPr id="279" name="Google Shape;279;p26"/>
          <p:cNvSpPr txBox="1"/>
          <p:nvPr/>
        </p:nvSpPr>
        <p:spPr>
          <a:xfrm>
            <a:off x="274125" y="3394875"/>
            <a:ext cx="8229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84f56c754_6_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Pigeonhole Principle</a:t>
            </a:r>
            <a:endParaRPr/>
          </a:p>
        </p:txBody>
      </p:sp>
      <p:sp>
        <p:nvSpPr>
          <p:cNvPr id="285" name="Google Shape;285;g3284f56c754_6_7"/>
          <p:cNvSpPr txBox="1"/>
          <p:nvPr>
            <p:ph idx="1" type="body"/>
          </p:nvPr>
        </p:nvSpPr>
        <p:spPr>
          <a:xfrm>
            <a:off x="350325" y="1704074"/>
            <a:ext cx="8229600" cy="4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    Example 3</a:t>
            </a:r>
            <a:r>
              <a:rPr lang="en-US" sz="2400"/>
              <a:t>: Show that for every integer </a:t>
            </a:r>
            <a:r>
              <a:rPr i="1" lang="en-US" sz="2400"/>
              <a:t>n</a:t>
            </a:r>
            <a:r>
              <a:rPr lang="en-US" sz="2400"/>
              <a:t> there is a multiple of </a:t>
            </a:r>
            <a:r>
              <a:rPr i="1" lang="en-US" sz="2400"/>
              <a:t>n</a:t>
            </a:r>
            <a:r>
              <a:rPr lang="en-US" sz="2400"/>
              <a:t> that has only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/>
              <a:t>s and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s in its decimal expansion. </a:t>
            </a:r>
            <a:endParaRPr sz="2400"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sz="2400"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   Solution</a:t>
            </a:r>
            <a:r>
              <a:rPr lang="en-US" sz="2400"/>
              <a:t>: Let </a:t>
            </a:r>
            <a:r>
              <a:rPr i="1" lang="en-US" sz="2400"/>
              <a:t>n</a:t>
            </a:r>
            <a:r>
              <a:rPr lang="en-US" sz="2400"/>
              <a:t> be a positive integer. Consider the </a:t>
            </a:r>
            <a:r>
              <a:rPr i="1" lang="en-US" sz="2400"/>
              <a:t>n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integers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400"/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111</a:t>
            </a:r>
            <a:r>
              <a:rPr lang="en-US" sz="2400"/>
              <a:t>, ….,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400"/>
              <a:t>…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(where the last has </a:t>
            </a:r>
            <a:r>
              <a:rPr i="1" lang="en-US" sz="2400"/>
              <a:t>n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1 1</a:t>
            </a:r>
            <a:r>
              <a:rPr lang="en-US" sz="2400"/>
              <a:t>s). There are </a:t>
            </a:r>
            <a:r>
              <a:rPr i="1" lang="en-US" sz="2400"/>
              <a:t>n</a:t>
            </a:r>
            <a:r>
              <a:rPr lang="en-US" sz="2400"/>
              <a:t> possible remainders when an integer is divided by </a:t>
            </a:r>
            <a:r>
              <a:rPr i="1" lang="en-US" sz="2400"/>
              <a:t>n</a:t>
            </a:r>
            <a:r>
              <a:rPr lang="en-US" sz="2400"/>
              <a:t>. By the pigeonhole principle, when each of the </a:t>
            </a:r>
            <a:r>
              <a:rPr i="1" lang="en-US" sz="2400"/>
              <a:t>n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integers is divided by </a:t>
            </a:r>
            <a:r>
              <a:rPr i="1" lang="en-US" sz="2400"/>
              <a:t>n</a:t>
            </a:r>
            <a:r>
              <a:rPr lang="en-US" sz="2400"/>
              <a:t>, at least two must have the same remainder. Subtract the smaller from the larger and the result is a multiple of </a:t>
            </a:r>
            <a:r>
              <a:rPr i="1" lang="en-US" sz="2400"/>
              <a:t>n</a:t>
            </a:r>
            <a:r>
              <a:rPr lang="en-US" sz="2400"/>
              <a:t> that has only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/>
              <a:t>s and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s in its decimal expansion. 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Generalized Pigeonhole Principle</a:t>
            </a:r>
            <a:endParaRPr sz="4000"/>
          </a:p>
        </p:txBody>
      </p:sp>
      <p:sp>
        <p:nvSpPr>
          <p:cNvPr id="291" name="Google Shape;291;p27"/>
          <p:cNvSpPr txBox="1"/>
          <p:nvPr>
            <p:ph idx="1" type="body"/>
          </p:nvPr>
        </p:nvSpPr>
        <p:spPr>
          <a:xfrm>
            <a:off x="457200" y="1460625"/>
            <a:ext cx="82296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 The Generalized Pigeonhole Principle</a:t>
            </a:r>
            <a:r>
              <a:rPr lang="en-US"/>
              <a:t>: If </a:t>
            </a:r>
            <a:r>
              <a:rPr i="1" lang="en-US"/>
              <a:t>N</a:t>
            </a:r>
            <a:r>
              <a:rPr lang="en-US"/>
              <a:t> objects are placed into </a:t>
            </a:r>
            <a:r>
              <a:rPr i="1" lang="en-US"/>
              <a:t>k</a:t>
            </a:r>
            <a:r>
              <a:rPr lang="en-US"/>
              <a:t> boxes, then there is at least one box containing at least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/>
              <a:t>N</a:t>
            </a:r>
            <a:r>
              <a:rPr lang="en-US"/>
              <a:t>/</a:t>
            </a:r>
            <a:r>
              <a:rPr i="1" lang="en-US"/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/>
              <a:t> objects.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 Proof</a:t>
            </a:r>
            <a:r>
              <a:rPr lang="en-US"/>
              <a:t>: We use a proof by contraposition. Suppose that none of the boxes contains more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/>
              <a:t>N</a:t>
            </a:r>
            <a:r>
              <a:rPr lang="en-US"/>
              <a:t>/</a:t>
            </a:r>
            <a:r>
              <a:rPr i="1" lang="en-US"/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− 1 </a:t>
            </a:r>
            <a:r>
              <a:rPr lang="en-US"/>
              <a:t>objects. Then the total number of objects is at most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where the inequality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/>
              <a:t>N</a:t>
            </a:r>
            <a:r>
              <a:rPr lang="en-US"/>
              <a:t>/</a:t>
            </a:r>
            <a:r>
              <a:rPr i="1" lang="en-US"/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/>
              <a:t>N</a:t>
            </a:r>
            <a:r>
              <a:rPr lang="en-US"/>
              <a:t>/</a:t>
            </a:r>
            <a:r>
              <a:rPr i="1" lang="en-US"/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has been used. This is a contradiction because there are a total of n objects.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</a:t>
            </a:r>
            <a:r>
              <a:rPr b="1" lang="en-US"/>
              <a:t>Example</a:t>
            </a:r>
            <a:r>
              <a:rPr lang="en-US"/>
              <a:t>: Among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/>
              <a:t> people there are at least      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⌈100</a:t>
            </a:r>
            <a:r>
              <a:rPr lang="en-US"/>
              <a:t>/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12⌉ = 9</a:t>
            </a:r>
            <a:r>
              <a:rPr lang="en-US"/>
              <a:t> who were born in the same month.</a:t>
            </a:r>
            <a:endParaRPr/>
          </a:p>
        </p:txBody>
      </p:sp>
      <p:pic>
        <p:nvPicPr>
          <p:cNvPr descr="addin_tmp.png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733800"/>
            <a:ext cx="3908870" cy="518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 flipH="1" rot="-5400000">
            <a:off x="8382000" y="5029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Generalized Pigeonhole Principle</a:t>
            </a:r>
            <a:endParaRPr sz="4000"/>
          </a:p>
        </p:txBody>
      </p: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381000" y="1249675"/>
            <a:ext cx="82296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 Example</a:t>
            </a:r>
            <a:r>
              <a:rPr lang="en-US" sz="2200"/>
              <a:t>:  a) How many cards must be selected from a standard deck of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200"/>
              <a:t> cards to guarantee that at least three cards of the same suit are chosen?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b) How many must be selected to guarantee that at least three hearts are selected?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/>
          </a:p>
        </p:txBody>
      </p:sp>
      <p:sp>
        <p:nvSpPr>
          <p:cNvPr id="300" name="Google Shape;300;p28"/>
          <p:cNvSpPr txBox="1"/>
          <p:nvPr/>
        </p:nvSpPr>
        <p:spPr>
          <a:xfrm>
            <a:off x="382700" y="3013975"/>
            <a:ext cx="8142600" cy="3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Solution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a) We assume four boxes; one for each suit. Using the generalized pigeonhole principle, at least one box contains at least 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/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4⌉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cards. At least three cards of one suit are selected if 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/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4⌉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≥3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. The smallest integer </a:t>
            </a:r>
            <a:r>
              <a:rPr i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such that 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/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4⌉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≥3 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               </a:t>
            </a:r>
            <a:r>
              <a:rPr i="1"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2 ∙ 4 + 1 = 9.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b) A deck contains 13 hearts and 39 cards which are not hearts. So, if we select 41 cards, we may have 39 cards which are not hearts along with 2 hearts. However, when we select 42 cards, we must have at least three hearts. (Note that the generalized pigeonhole principle is not used here.)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84f56c754_12_0"/>
          <p:cNvSpPr txBox="1"/>
          <p:nvPr>
            <p:ph type="title"/>
          </p:nvPr>
        </p:nvSpPr>
        <p:spPr>
          <a:xfrm>
            <a:off x="457200" y="113947"/>
            <a:ext cx="82296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Applications of</a:t>
            </a:r>
            <a:r>
              <a:rPr lang="en-US" sz="4000"/>
              <a:t> Pigeonhole Principle</a:t>
            </a:r>
            <a:endParaRPr sz="4000"/>
          </a:p>
        </p:txBody>
      </p:sp>
      <p:sp>
        <p:nvSpPr>
          <p:cNvPr id="306" name="Google Shape;306;g3284f56c754_12_0"/>
          <p:cNvSpPr txBox="1"/>
          <p:nvPr>
            <p:ph idx="1" type="body"/>
          </p:nvPr>
        </p:nvSpPr>
        <p:spPr>
          <a:xfrm>
            <a:off x="381000" y="1097275"/>
            <a:ext cx="82296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 Example</a:t>
            </a:r>
            <a:r>
              <a:rPr lang="en-US" sz="2200"/>
              <a:t>:  </a:t>
            </a:r>
            <a:r>
              <a:rPr lang="en-US" sz="2200"/>
              <a:t>During a month with 30 days, a baseball team plays at least one game a day, but no more than 45 games. Show that there must be a period of some number of consecutive days during which the team must play exactly 14 games.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/>
          </a:p>
        </p:txBody>
      </p:sp>
      <p:sp>
        <p:nvSpPr>
          <p:cNvPr id="307" name="Google Shape;307;g3284f56c754_12_0"/>
          <p:cNvSpPr txBox="1"/>
          <p:nvPr/>
        </p:nvSpPr>
        <p:spPr>
          <a:xfrm>
            <a:off x="424500" y="2388775"/>
            <a:ext cx="81426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Solution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Let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be the number of games played on or before the j-th day of the month. Then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 … 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30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is an increasing sequence of distinct positive integers, with 1 ≤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≤ 45. Moreover,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+ 14, … 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30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 is also an increasing sequence of distinct positive integers, with 15 ≤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 ≤ 59. The 60 positive integers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 … 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30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+ 14, … ,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30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 are all less than or equal to 59. 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Hence, by the pigeonhole principle two of these integers are equal. Because the integers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, j = 1, 2, … , 30 are all distinct and the integers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+ 14, j = 1, 2, … , 30 are all distinct, there must be indices i and j with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= a</a:t>
            </a:r>
            <a:r>
              <a:rPr baseline="-25000"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</a:t>
            </a:r>
            <a:r>
              <a:rPr lang="en-US" sz="2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+ 14. This means that exactly 14 games were played from day j + 1 to day i.</a:t>
            </a:r>
            <a:endParaRPr sz="2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2011-09-18T13:59:01Z</dcterms:created>
  <dc:creator>Richard Scherl</dc:creator>
</cp:coreProperties>
</file>