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7010400" cy="9296400"/>
  <p:embeddedFontLst>
    <p:embeddedFont>
      <p:font typeface="Constantia"/>
      <p:regular r:id="rId26"/>
      <p:bold r:id="rId27"/>
      <p:italic r:id="rId28"/>
      <p:boldItalic r:id="rId29"/>
    </p:embeddedFont>
    <p:embeddedFont>
      <p:font typeface="Cambria Math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/E9y87/7hynygPdSatS5crxPO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nstantia-regular.fntdata"/><Relationship Id="rId25" Type="http://schemas.openxmlformats.org/officeDocument/2006/relationships/slide" Target="slides/slide20.xml"/><Relationship Id="rId28" Type="http://schemas.openxmlformats.org/officeDocument/2006/relationships/font" Target="fonts/Constantia-italic.fntdata"/><Relationship Id="rId27" Type="http://schemas.openxmlformats.org/officeDocument/2006/relationships/font" Target="fonts/Constanti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CambriaMath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5a9a747328e1d4_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c5a9a747328e1d4_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50" spcFirstLastPara="1" rIns="93150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50" spcFirstLastPara="1" rIns="93150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1181100" y="698500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d9c987b82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30d9c987b82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0d9c987b82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0d9c987b82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0d9c987b82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0d9c987b82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0d9c987b82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0d9c987b82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30d9c987b82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0d9c987b82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0d9c987b82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30d9c987b82_0_24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40" name="Google Shape;40;g30d9c987b82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0d9c987b82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0d9c987b82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0d9c987b82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0d9c987b82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9c987b82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0d9c987b82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0d9c987b82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0d9c987b82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0d9c987b82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9c987b82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0d9c987b82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0d9c987b82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0d9c987b82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d9c987b82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0d9c987b82_0_42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3" cy="1239938"/>
          </a:xfrm>
        </p:grpSpPr>
        <p:sp>
          <p:nvSpPr>
            <p:cNvPr id="58" name="Google Shape;58;g30d9c987b82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0d9c987b82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0d9c987b82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0d9c987b82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0d9c987b82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9c987b82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0d9c987b82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d9c987b82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0d9c987b82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0d9c987b82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0d9c987b82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d9c987b82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0d9c987b82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0d9c987b82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0d9c987b82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0d9c987b82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0d9c987b82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0d9c987b82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d9c987b82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0d9c987b82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0d9c987b82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0d9c987b82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0d9c987b82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0d9c987b82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0d9c987b82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0d9c987b82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0d9c987b82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0d9c987b82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0d9c987b82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d9c987b82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0d9c987b82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0d9c987b82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d9c987b82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0d9c987b82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0d9c987b82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0d9c987b82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0d9c987b82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0d9c987b82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9c987b82_0_92"/>
          <p:cNvSpPr/>
          <p:nvPr/>
        </p:nvSpPr>
        <p:spPr>
          <a:xfrm flipH="1" rot="-10380037">
            <a:off x="4172417" y="1918649"/>
            <a:ext cx="4293497" cy="3360146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0d9c987b82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0d9c987b82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0d9c987b82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0d9c987b82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0d9c987b82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0d9c987b82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0d9c987b82_0_92"/>
          <p:cNvSpPr/>
          <p:nvPr>
            <p:ph idx="2" type="pic"/>
          </p:nvPr>
        </p:nvSpPr>
        <p:spPr>
          <a:xfrm rot="420005">
            <a:off x="4433574" y="1993209"/>
            <a:ext cx="3771211" cy="3210821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9c987b82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0d9c987b82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0d9c987b82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0d9c987b82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0d9c987b82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d9c987b82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0d9c987b82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0d9c987b82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0d9c987b82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0d9c987b82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0d9c987b82_0_0"/>
          <p:cNvGrpSpPr/>
          <p:nvPr/>
        </p:nvGrpSpPr>
        <p:grpSpPr>
          <a:xfrm>
            <a:off x="7600939" y="3"/>
            <a:ext cx="1542914" cy="1371650"/>
            <a:chOff x="6098378" y="5"/>
            <a:chExt cx="3045625" cy="2030570"/>
          </a:xfrm>
        </p:grpSpPr>
        <p:sp>
          <p:nvSpPr>
            <p:cNvPr id="11" name="Google Shape;11;g30d9c987b82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0d9c987b82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0d9c987b82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0d9c987b82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0d9c987b82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30d9c987b82_0_0"/>
          <p:cNvGrpSpPr/>
          <p:nvPr/>
        </p:nvGrpSpPr>
        <p:grpSpPr>
          <a:xfrm>
            <a:off x="-2" y="6104998"/>
            <a:ext cx="9144070" cy="752890"/>
            <a:chOff x="-10935211" y="3903669"/>
            <a:chExt cx="20079206" cy="1239937"/>
          </a:xfrm>
        </p:grpSpPr>
        <p:sp>
          <p:nvSpPr>
            <p:cNvPr id="17" name="Google Shape;17;g30d9c987b82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0d9c987b82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0d9c987b82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0d9c987b82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0d9c987b82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30d9c987b82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0d9c987b82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30d9c987b82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0d9c987b82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0d9c987b82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ctrTitle"/>
          </p:nvPr>
        </p:nvSpPr>
        <p:spPr>
          <a:xfrm>
            <a:off x="533400" y="1371600"/>
            <a:ext cx="6543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6: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127" name="Google Shape;127;p3"/>
          <p:cNvSpPr txBox="1"/>
          <p:nvPr>
            <p:ph idx="1" type="subTitle"/>
          </p:nvPr>
        </p:nvSpPr>
        <p:spPr>
          <a:xfrm>
            <a:off x="533400" y="3228530"/>
            <a:ext cx="65457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Section 2.1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Definition of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Describing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Roster Method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3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Set-Builder Notation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 Important Sets in Mathematics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Empty Set and Universal Set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Subsets and Set Equality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Cardinality of Sets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Tuples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Cartesian Product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Sets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unordered collection of objects.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 students in this class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 chairs in this room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objects in a set are called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elements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or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members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the set. A set is said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contain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its elements.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notation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denotes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element of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a member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write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∉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Describing a Set: Roster Method</a:t>
            </a:r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Order not important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b,c,a,d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Each distinct object is either a member or not; listing more than once does not change the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a,b,c,b,c,d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Elipses (…) may be used to describe a set without listing all of the members when the pattern is clear.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a,b,c,d, ……,z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Roster Method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vowels in the English alphabet: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V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{a,e,i,o,u}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 odd positive integers less than 10: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{1,3,5,7,9}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positive integers less than 100: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{1,2,3,……..,99}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514350" lvl="0" marL="5143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 of all integers less than 0: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{…., -3,-2,-1}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Some Important Sets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natural numbers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{0,1,2,3….}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integers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{…,-3,-2,-1,0,1,2,3,…}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Z⁺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positive integers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{1,2,3,…..}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real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b="1" baseline="30000"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positive real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 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complex numbers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set of rational numbers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Set-Builder Notation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6255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Specify the property or properties that all members must satisfy: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positive integer less than 100}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odd positive integer less than 10}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O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Z⁺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odd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10}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 predicate may be used: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11887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P(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Example: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Prime(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2556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9500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Positive rational numbers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b="1" baseline="30000"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/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for some positive integers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Interval Notation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1280400" y="1918225"/>
            <a:ext cx="5445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[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]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[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 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]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≤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=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|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closed interval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[a,b]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 open interval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(a,b)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5a9a747328e1d4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Universal Set and Empty Set</a:t>
            </a:r>
            <a:endParaRPr/>
          </a:p>
        </p:txBody>
      </p:sp>
      <p:sp>
        <p:nvSpPr>
          <p:cNvPr id="175" name="Google Shape;175;gc5a9a747328e1d4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universal 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U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the set containing everything currently under consideration. 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Sometimes implicit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Sometimes explicitly stated.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Contents depend on the context.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empty 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the set with no elements.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4" lvl="1" marL="9144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Symbolized as ∅ or, {} 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Venn Diagrams</a:t>
            </a:r>
            <a:endParaRPr/>
          </a:p>
        </p:txBody>
      </p:sp>
      <p:sp>
        <p:nvSpPr>
          <p:cNvPr id="181" name="Google Shape;181;p12"/>
          <p:cNvSpPr txBox="1"/>
          <p:nvPr>
            <p:ph idx="1" type="body"/>
          </p:nvPr>
        </p:nvSpPr>
        <p:spPr>
          <a:xfrm>
            <a:off x="457200" y="1935475"/>
            <a:ext cx="4114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 universal set is represented by a rectangle.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Sets are shown as ovals, circles or other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geometric shapes.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 Math"/>
              <a:buChar char="●"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Sometimes points are used to represent the particular elements of the set.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204.jpg"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5486400"/>
            <a:ext cx="893064" cy="103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 txBox="1"/>
          <p:nvPr/>
        </p:nvSpPr>
        <p:spPr>
          <a:xfrm>
            <a:off x="5943600" y="5638800"/>
            <a:ext cx="2819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John Venn (1834-1923)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Cambridge, UK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84" name="Google Shape;18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402" y="2002851"/>
            <a:ext cx="4236598" cy="240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Some things to remember</a:t>
            </a:r>
            <a:endParaRPr/>
          </a:p>
        </p:txBody>
      </p:sp>
      <p:sp>
        <p:nvSpPr>
          <p:cNvPr id="190" name="Google Shape;190;p1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Sets can be elements of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{{1,2,3},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{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b,c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{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Z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empty set is different from a set containing the empty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∅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≠ { ∅ }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 Equality</a:t>
            </a:r>
            <a:endParaRPr/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Two sets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equal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if and only if they have the same elements.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Therefore if A and B are sets, then A and B are equal if and only if                                               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We write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equal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  {1,3,5}   = {3, 5, 1}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  {1,5,5,5,3,3,1} = {1,3,5}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2060" y="3237550"/>
            <a:ext cx="3231833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Subsets</a:t>
            </a:r>
            <a:endParaRPr/>
          </a:p>
        </p:txBody>
      </p:sp>
      <p:sp>
        <p:nvSpPr>
          <p:cNvPr id="204" name="Google Shape;204;p16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subset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if and only if every element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also an element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notation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is used to indicate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subset of the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814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●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holds if and only if                                        is true.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1944" lvl="1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∅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, for every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Because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∅ is always false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1944" lvl="1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Font typeface="Calibri"/>
              <a:buChar char="○"/>
            </a:pP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for every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Because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4" y="3754807"/>
            <a:ext cx="2693194" cy="31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Showing a Set is or is not a Subset of Another Set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349350" y="1935475"/>
            <a:ext cx="84693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19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Showing  that A is a Subset of 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To show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show that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belongs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then x also belongs to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19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Showing that A is not a Subset of 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To show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not a subset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lang="en-US" u="sng">
                <a:latin typeface="Cambria Math"/>
                <a:ea typeface="Cambria Math"/>
                <a:cs typeface="Cambria Math"/>
                <a:sym typeface="Cambria Math"/>
              </a:rPr>
              <a:t>find an element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with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∉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(Such an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lang="en-US" u="sng">
                <a:latin typeface="Cambria Math"/>
                <a:ea typeface="Cambria Math"/>
                <a:cs typeface="Cambria Math"/>
                <a:sym typeface="Cambria Math"/>
              </a:rPr>
              <a:t>counterexample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to the claim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implies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∈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57199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all computer science majors at your school is a subset of all students at your school.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457200" lvl="1" marL="85039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Font typeface="Cambria Math"/>
              <a:buChar char="○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integers with squares less than 100 is not a subset of the set of nonnegative integers.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Another look at Equality of Sets</a:t>
            </a:r>
            <a:endParaRPr/>
          </a:p>
        </p:txBody>
      </p:sp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Recall that two sets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</a:t>
            </a:r>
            <a:r>
              <a:rPr i="1" lang="en-US"/>
              <a:t>equal</a:t>
            </a:r>
            <a:r>
              <a:rPr lang="en-US"/>
              <a:t>, denoted by        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, iff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Using logical equivalences we have that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 iff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 This is equivalent to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/>
              <a:t>                    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/>
              <a:t>B</a:t>
            </a:r>
            <a:r>
              <a:rPr lang="en-US"/>
              <a:t>        and      </a:t>
            </a:r>
            <a:r>
              <a:rPr i="1" lang="en-US"/>
              <a:t>B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⊆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/>
          </a:p>
        </p:txBody>
      </p:sp>
      <p:pic>
        <p:nvPicPr>
          <p:cNvPr descr="addin_tmp.png" id="218" name="Google Shape;2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962400"/>
            <a:ext cx="6700838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19" name="Google Shape;2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2667000"/>
            <a:ext cx="3231832" cy="382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 Subsets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⊆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but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≠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then we say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proper subset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denoted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⊂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⊂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then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is true.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Venn Diagram: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3200400"/>
            <a:ext cx="6755130" cy="38290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/>
          <p:nvPr/>
        </p:nvSpPr>
        <p:spPr>
          <a:xfrm>
            <a:off x="3778475" y="4495800"/>
            <a:ext cx="3308100" cy="1828800"/>
          </a:xfrm>
          <a:prstGeom prst="rect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477000" y="44958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648200" y="4648200"/>
            <a:ext cx="1219200" cy="1295400"/>
          </a:xfrm>
          <a:prstGeom prst="ellipse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029200" y="5105400"/>
            <a:ext cx="457200" cy="381000"/>
          </a:xfrm>
          <a:prstGeom prst="ellipse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5029200" y="47244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5029200" y="5105400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</a:t>
            </a:r>
            <a:endParaRPr b="0" i="1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Set Cardinality</a:t>
            </a:r>
            <a:endParaRPr/>
          </a:p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9525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there are exactly n distinct elements in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 nonnegative integer, we say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finite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Otherwise it is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infinite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9525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cardinality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of  a finite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A,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denoted by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|,  is the number of (distinct) elements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|ø|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Let S be the letters of the English alphabet. Then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= 26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|{1,2,3}|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|{ø}|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85445" lvl="2" marL="6858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Font typeface="Calibri"/>
              <a:buAutoNum type="arabicPeriod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set of integers is infinite.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Power Sets</a:t>
            </a:r>
            <a:endParaRPr/>
          </a:p>
        </p:txBody>
      </p:sp>
      <p:sp>
        <p:nvSpPr>
          <p:cNvPr id="244" name="Google Shape;244;p2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The set of all subsets of a set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denoted P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)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is called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power set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{a, b} then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P(A) = {ø, {a}, {b}, {a, b}}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{ø, {a, b}} then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   P(A) = {ø, {ø}, {{a, b}}, {ø, {a, b}}}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a set has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elements, then the cardinality of the power set is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ⁿ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Cartesian Product</a:t>
            </a:r>
            <a:endParaRPr/>
          </a:p>
        </p:txBody>
      </p:sp>
      <p:sp>
        <p:nvSpPr>
          <p:cNvPr id="250" name="Google Shape;250;p23"/>
          <p:cNvSpPr txBox="1"/>
          <p:nvPr>
            <p:ph idx="1" type="body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75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Cartesian Product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of two sets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denoted by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the set of ordered pairs (a,b) where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and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a,b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), 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),(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b,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4275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7415" lvl="0" marL="27432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SzPts val="2400"/>
              <a:buChar char="●"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A subset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of the Cartesian product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called a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relation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from the set A to the set B.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88055" lvl="0" marL="274320" rtl="0" algn="l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286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endParaRPr i="1"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273" y="3046100"/>
            <a:ext cx="5143500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206.jp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381000"/>
            <a:ext cx="899160" cy="104241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6400800" y="533400"/>
            <a:ext cx="1752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é Descartes (1596-1650)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Cartesian Product </a:t>
            </a:r>
            <a:endParaRPr/>
          </a:p>
        </p:txBody>
      </p:sp>
      <p:sp>
        <p:nvSpPr>
          <p:cNvPr id="259" name="Google Shape;259;p24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Definition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The cartesian products of the sets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,……,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denoted by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…… ×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, is the set of ordered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-tuples (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,……,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)  where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belongs to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for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…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What is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{0,1},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{1,2} and   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= {0,1,2}</a:t>
            </a:r>
            <a:endParaRPr b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 Solution: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{(0,1,0), (0,1,1), (0,1,2),(0,2,0), (0,2,1), (0,2,2),(1,1,0), (1,1,1), (1,1,2), (1,2,0), (1,2,1), (1,2,2)}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1" y="3429000"/>
            <a:ext cx="6386512" cy="688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2011-03-27T19:09:13Z</dcterms:created>
  <dc:creator>Richard Scherl</dc:creator>
</cp:coreProperties>
</file>