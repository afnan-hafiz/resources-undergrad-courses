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6858000" cy="9144000"/>
  <p:embeddedFontLst>
    <p:embeddedFont>
      <p:font typeface="Constantia"/>
      <p:regular r:id="rId20"/>
      <p:bold r:id="rId21"/>
      <p:italic r:id="rId22"/>
      <p:boldItalic r:id="rId23"/>
    </p:embeddedFont>
    <p:embeddedFont>
      <p:font typeface="Cambria Math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9lNE1r0XatGon9a2cuq/ffnC6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1FD448-BD78-459D-9298-3BC892159AE2}">
  <a:tblStyle styleId="{C41FD448-BD78-459D-9298-3BC892159AE2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fill>
          <a:solidFill>
            <a:srgbClr val="CAD4EA"/>
          </a:solidFill>
        </a:fill>
      </a:tcStyle>
    </a:band1H>
    <a:band2H>
      <a:tcTxStyle/>
    </a:band2H>
    <a:band1V>
      <a:tcTxStyle/>
      <a:tcStyle>
        <a:fill>
          <a:solidFill>
            <a:srgbClr val="CAD4EA"/>
          </a:solidFill>
        </a:fill>
      </a:tcStyle>
    </a:band1V>
    <a:band2V>
      <a:tcTxStyle/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nstantia-regular.fntdata"/><Relationship Id="rId22" Type="http://schemas.openxmlformats.org/officeDocument/2006/relationships/font" Target="fonts/Constantia-italic.fntdata"/><Relationship Id="rId21" Type="http://schemas.openxmlformats.org/officeDocument/2006/relationships/font" Target="fonts/Constantia-bold.fntdata"/><Relationship Id="rId24" Type="http://schemas.openxmlformats.org/officeDocument/2006/relationships/font" Target="fonts/CambriaMath-regular.fntdata"/><Relationship Id="rId23" Type="http://schemas.openxmlformats.org/officeDocument/2006/relationships/font" Target="fonts/Constanti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2ff2a6907bd_1_1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2ff2a6907bd_1_18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g2ff2a6907bd_1_18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2ff2a6907bd_1_18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2ff2a6907bd_1_18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CFE2F3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g2ff2a6907bd_1_24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31" name="Google Shape;31;g2ff2a6907bd_1_2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g2ff2a6907bd_1_2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g2ff2a6907bd_1_2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g2ff2a6907bd_1_2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g2ff2a6907bd_1_2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g2ff2a6907bd_1_24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2ff2a6907bd_1_24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2470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8" name="Google Shape;38;g2ff2a6907bd_1_2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2ff2a6907bd_1_2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2ff2a6907bd_1_2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1" name="Google Shape;41;g2ff2a6907bd_1_24"/>
          <p:cNvGrpSpPr/>
          <p:nvPr/>
        </p:nvGrpSpPr>
        <p:grpSpPr>
          <a:xfrm>
            <a:off x="175" y="5715115"/>
            <a:ext cx="9144053" cy="1142603"/>
            <a:chOff x="-4085248" y="3903669"/>
            <a:chExt cx="13229244" cy="1239938"/>
          </a:xfrm>
        </p:grpSpPr>
        <p:sp>
          <p:nvSpPr>
            <p:cNvPr id="42" name="Google Shape;42;g2ff2a6907bd_1_2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g2ff2a6907bd_1_2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g2ff2a6907bd_1_2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g2ff2a6907bd_1_2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g2ff2a6907bd_1_24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CFE2F3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f2a6907bd_1_42"/>
          <p:cNvSpPr txBox="1"/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600"/>
              <a:buFont typeface="Calibri"/>
              <a:buNone/>
              <a:defRPr b="1" sz="5600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2ff2a6907bd_1_42"/>
          <p:cNvSpPr txBox="1"/>
          <p:nvPr>
            <p:ph idx="1" type="body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090"/>
              <a:buNone/>
              <a:defRPr sz="2200">
                <a:solidFill>
                  <a:srgbClr val="000000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120"/>
              <a:buNone/>
              <a:defRPr sz="1600">
                <a:solidFill>
                  <a:srgbClr val="000000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910"/>
              <a:buNone/>
              <a:defRPr sz="1400">
                <a:solidFill>
                  <a:srgbClr val="000000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g2ff2a6907bd_1_4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2ff2a6907bd_1_4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2ff2a6907bd_1_42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3" name="Google Shape;53;g2ff2a6907bd_1_42"/>
          <p:cNvGrpSpPr/>
          <p:nvPr/>
        </p:nvGrpSpPr>
        <p:grpSpPr>
          <a:xfrm>
            <a:off x="175" y="5715115"/>
            <a:ext cx="9144053" cy="1142603"/>
            <a:chOff x="-4085248" y="3903669"/>
            <a:chExt cx="13229244" cy="1239938"/>
          </a:xfrm>
        </p:grpSpPr>
        <p:sp>
          <p:nvSpPr>
            <p:cNvPr id="54" name="Google Shape;54;g2ff2a6907bd_1_42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g2ff2a6907bd_1_42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g2ff2a6907bd_1_42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g2ff2a6907bd_1_42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g2ff2a6907bd_1_42"/>
            <p:cNvSpPr/>
            <p:nvPr/>
          </p:nvSpPr>
          <p:spPr>
            <a:xfrm>
              <a:off x="-4085248" y="4891607"/>
              <a:ext cx="132291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ff2a6907bd_1_5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2ff2a6907bd_1_54"/>
          <p:cNvSpPr txBox="1"/>
          <p:nvPr>
            <p:ph idx="1" type="body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g2ff2a6907bd_1_54"/>
          <p:cNvSpPr txBox="1"/>
          <p:nvPr>
            <p:ph idx="2" type="body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g2ff2a6907bd_1_54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2ff2a6907bd_1_54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2ff2a6907bd_1_54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ff2a6907bd_1_6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g2ff2a6907bd_1_61"/>
          <p:cNvSpPr txBox="1"/>
          <p:nvPr>
            <p:ph idx="1" type="body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g2ff2a6907bd_1_61"/>
          <p:cNvSpPr txBox="1"/>
          <p:nvPr>
            <p:ph idx="2" type="body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g2ff2a6907bd_1_61"/>
          <p:cNvSpPr txBox="1"/>
          <p:nvPr>
            <p:ph idx="3" type="body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g2ff2a6907bd_1_61"/>
          <p:cNvSpPr txBox="1"/>
          <p:nvPr>
            <p:ph idx="4" type="body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g2ff2a6907bd_1_6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2ff2a6907bd_1_6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2ff2a6907bd_1_6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g2ff2a6907bd_1_70"/>
          <p:cNvGrpSpPr/>
          <p:nvPr/>
        </p:nvGrpSpPr>
        <p:grpSpPr>
          <a:xfrm>
            <a:off x="6098378" y="7"/>
            <a:ext cx="3045625" cy="2707359"/>
            <a:chOff x="6098378" y="5"/>
            <a:chExt cx="3045625" cy="2030570"/>
          </a:xfrm>
        </p:grpSpPr>
        <p:sp>
          <p:nvSpPr>
            <p:cNvPr id="77" name="Google Shape;77;g2ff2a6907bd_1_7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g2ff2a6907bd_1_7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g2ff2a6907bd_1_7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g2ff2a6907bd_1_7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g2ff2a6907bd_1_7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g2ff2a6907bd_1_70"/>
          <p:cNvSpPr txBox="1"/>
          <p:nvPr>
            <p:ph type="title"/>
          </p:nvPr>
        </p:nvSpPr>
        <p:spPr>
          <a:xfrm>
            <a:off x="457200" y="19994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2ff2a6907bd_1_7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2ff2a6907bd_1_7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2ff2a6907bd_1_7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ff2a6907bd_1_8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2ff2a6907bd_1_8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2ff2a6907bd_1_8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f2a6907bd_1_85"/>
          <p:cNvSpPr txBox="1"/>
          <p:nvPr>
            <p:ph type="title"/>
          </p:nvPr>
        </p:nvSpPr>
        <p:spPr>
          <a:xfrm>
            <a:off x="685800" y="514352"/>
            <a:ext cx="27432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2ff2a6907bd_1_85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g2ff2a6907bd_1_85"/>
          <p:cNvSpPr txBox="1"/>
          <p:nvPr>
            <p:ph idx="2" type="body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g2ff2a6907bd_1_85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2ff2a6907bd_1_85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2ff2a6907bd_1_85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ff2a6907bd_1_92"/>
          <p:cNvSpPr/>
          <p:nvPr/>
        </p:nvSpPr>
        <p:spPr>
          <a:xfrm flipH="1" rot="-10380037">
            <a:off x="4172401" y="1918610"/>
            <a:ext cx="4293497" cy="3360183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10" rotWithShape="0" algn="tl" dir="7500000" dist="38500" sy="100080">
              <a:srgbClr val="000000">
                <a:alpha val="247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9" name="Google Shape;99;g2ff2a6907bd_1_92"/>
          <p:cNvSpPr/>
          <p:nvPr/>
        </p:nvSpPr>
        <p:spPr>
          <a:xfrm flipH="1" rot="-10380733">
            <a:off x="8004114" y="5359839"/>
            <a:ext cx="155354" cy="155354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7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0" name="Google Shape;100;g2ff2a6907bd_1_92"/>
          <p:cNvSpPr txBox="1"/>
          <p:nvPr>
            <p:ph type="title"/>
          </p:nvPr>
        </p:nvSpPr>
        <p:spPr>
          <a:xfrm>
            <a:off x="609600" y="1177000"/>
            <a:ext cx="3352800" cy="1582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  <a:defRPr b="1" sz="3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1" name="Google Shape;101;g2ff2a6907bd_1_92"/>
          <p:cNvSpPr txBox="1"/>
          <p:nvPr>
            <p:ph idx="1" type="body"/>
          </p:nvPr>
        </p:nvSpPr>
        <p:spPr>
          <a:xfrm>
            <a:off x="609600" y="2828775"/>
            <a:ext cx="33528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2400"/>
              <a:buFont typeface="Constantia"/>
              <a:buNone/>
              <a:defRPr sz="2400"/>
            </a:lvl1pPr>
            <a:lvl2pPr indent="-355600" lvl="1" marL="914400" algn="l">
              <a:spcBef>
                <a:spcPts val="240"/>
              </a:spcBef>
              <a:spcAft>
                <a:spcPts val="0"/>
              </a:spcAft>
              <a:buSzPts val="2000"/>
              <a:buChar char="⚫"/>
              <a:defRPr sz="2000"/>
            </a:lvl2pPr>
            <a:lvl3pPr indent="-342900" lvl="2" marL="1371600" algn="l">
              <a:spcBef>
                <a:spcPts val="200"/>
              </a:spcBef>
              <a:spcAft>
                <a:spcPts val="0"/>
              </a:spcAft>
              <a:buSzPts val="1800"/>
              <a:buChar char="⚫"/>
              <a:defRPr sz="1800"/>
            </a:lvl3pPr>
            <a:lvl4pPr indent="-330200" lvl="3" marL="1828800" algn="l">
              <a:spcBef>
                <a:spcPts val="180"/>
              </a:spcBef>
              <a:spcAft>
                <a:spcPts val="0"/>
              </a:spcAft>
              <a:buSzPts val="1600"/>
              <a:buChar char="⚫"/>
              <a:defRPr sz="1600"/>
            </a:lvl4pPr>
            <a:lvl5pPr indent="-317500" lvl="4" marL="2286000" algn="l">
              <a:spcBef>
                <a:spcPts val="180"/>
              </a:spcBef>
              <a:spcAft>
                <a:spcPts val="0"/>
              </a:spcAft>
              <a:buSzPts val="1400"/>
              <a:buChar char="⚫"/>
              <a:defRPr sz="1400"/>
            </a:lvl5pPr>
            <a:lvl6pPr indent="-304800" lvl="5" marL="2743200" algn="l"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6pPr>
            <a:lvl7pPr indent="-304800" lvl="6" marL="3200400" algn="l">
              <a:spcBef>
                <a:spcPts val="360"/>
              </a:spcBef>
              <a:spcAft>
                <a:spcPts val="0"/>
              </a:spcAft>
              <a:buSzPts val="1200"/>
              <a:buChar char="⚫"/>
              <a:defRPr sz="1200"/>
            </a:lvl7pPr>
            <a:lvl8pPr indent="-304800" lvl="7" marL="3657600" algn="l"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algn="l">
              <a:spcBef>
                <a:spcPts val="36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02" name="Google Shape;102;g2ff2a6907bd_1_92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2ff2a6907bd_1_92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2ff2a6907bd_1_92"/>
          <p:cNvSpPr txBox="1"/>
          <p:nvPr>
            <p:ph idx="12" type="sldNum"/>
          </p:nvPr>
        </p:nvSpPr>
        <p:spPr>
          <a:xfrm>
            <a:off x="8077200" y="6356350"/>
            <a:ext cx="60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g2ff2a6907bd_1_92"/>
          <p:cNvSpPr/>
          <p:nvPr>
            <p:ph idx="2" type="pic"/>
          </p:nvPr>
        </p:nvSpPr>
        <p:spPr>
          <a:xfrm rot="420005">
            <a:off x="4433519" y="1993203"/>
            <a:ext cx="3771211" cy="3210857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f2a6907bd_1_10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g2ff2a6907bd_1_101"/>
          <p:cNvSpPr txBox="1"/>
          <p:nvPr>
            <p:ph idx="1" type="body"/>
          </p:nvPr>
        </p:nvSpPr>
        <p:spPr>
          <a:xfrm rot="5400000">
            <a:off x="2377500" y="15180"/>
            <a:ext cx="43890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g2ff2a6907bd_1_101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2ff2a6907bd_1_101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g2ff2a6907bd_1_101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ff2a6907bd_1_107"/>
          <p:cNvSpPr txBox="1"/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2ff2a6907bd_1_107"/>
          <p:cNvSpPr txBox="1"/>
          <p:nvPr>
            <p:ph idx="1" type="body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g2ff2a6907bd_1_107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2ff2a6907bd_1_107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2ff2a6907bd_1_107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2" ty="0" sy="65002"/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g2ff2a6907bd_1_0"/>
          <p:cNvGrpSpPr/>
          <p:nvPr/>
        </p:nvGrpSpPr>
        <p:grpSpPr>
          <a:xfrm>
            <a:off x="7600940" y="3"/>
            <a:ext cx="1542914" cy="1371650"/>
            <a:chOff x="6098378" y="5"/>
            <a:chExt cx="3045625" cy="2030570"/>
          </a:xfrm>
        </p:grpSpPr>
        <p:sp>
          <p:nvSpPr>
            <p:cNvPr id="7" name="Google Shape;7;g2ff2a6907bd_1_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g2ff2a6907bd_1_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3949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g2ff2a6907bd_1_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" name="Google Shape;10;g2ff2a6907bd_1_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212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g2ff2a6907bd_1_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7890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" name="Google Shape;12;g2ff2a6907bd_1_0"/>
          <p:cNvGrpSpPr/>
          <p:nvPr/>
        </p:nvGrpSpPr>
        <p:grpSpPr>
          <a:xfrm>
            <a:off x="-2" y="6104999"/>
            <a:ext cx="9144071" cy="752890"/>
            <a:chOff x="-10935211" y="3903669"/>
            <a:chExt cx="20079207" cy="1239937"/>
          </a:xfrm>
        </p:grpSpPr>
        <p:sp>
          <p:nvSpPr>
            <p:cNvPr id="13" name="Google Shape;13;g2ff2a6907bd_1_0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g2ff2a6907bd_1_0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F062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g2ff2a6907bd_1_0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D233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g2ff2a6907bd_1_0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9C25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g2ff2a6907bd_1_0"/>
            <p:cNvSpPr/>
            <p:nvPr/>
          </p:nvSpPr>
          <p:spPr>
            <a:xfrm>
              <a:off x="-10935211" y="4891606"/>
              <a:ext cx="20079000" cy="252000"/>
            </a:xfrm>
            <a:prstGeom prst="rect">
              <a:avLst/>
            </a:prstGeom>
            <a:solidFill>
              <a:srgbClr val="2A39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" name="Google Shape;18;g2ff2a6907bd_1_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000"/>
              <a:buFont typeface="Calibri"/>
              <a:buNone/>
              <a:defRPr b="0" i="0" sz="5000" u="none" cap="none" strike="noStrike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g2ff2a6907bd_1_0"/>
          <p:cNvSpPr txBox="1"/>
          <p:nvPr>
            <p:ph idx="1" type="body"/>
          </p:nvPr>
        </p:nvSpPr>
        <p:spPr>
          <a:xfrm>
            <a:off x="457200" y="1935480"/>
            <a:ext cx="8229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0" name="Google Shape;20;g2ff2a6907bd_1_0"/>
          <p:cNvSpPr txBox="1"/>
          <p:nvPr>
            <p:ph idx="10" type="dt"/>
          </p:nvPr>
        </p:nvSpPr>
        <p:spPr>
          <a:xfrm>
            <a:off x="457200" y="65087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1" name="Google Shape;21;g2ff2a6907bd_1_0"/>
          <p:cNvSpPr txBox="1"/>
          <p:nvPr>
            <p:ph idx="11" type="ftr"/>
          </p:nvPr>
        </p:nvSpPr>
        <p:spPr>
          <a:xfrm>
            <a:off x="2667000" y="6508750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2" name="Google Shape;22;g2ff2a6907bd_1_0"/>
          <p:cNvSpPr txBox="1"/>
          <p:nvPr>
            <p:ph idx="12" type="sldNum"/>
          </p:nvPr>
        </p:nvSpPr>
        <p:spPr>
          <a:xfrm>
            <a:off x="7924800" y="6508750"/>
            <a:ext cx="762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The Foundations: Logic and Proofs</a:t>
            </a:r>
            <a:endParaRPr/>
          </a:p>
        </p:txBody>
      </p:sp>
      <p:sp>
        <p:nvSpPr>
          <p:cNvPr id="123" name="Google Shape;123;p1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Chapter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, Part I: Propositional Logic</a:t>
            </a:r>
            <a:endParaRPr/>
          </a:p>
        </p:txBody>
      </p:sp>
      <p:sp>
        <p:nvSpPr>
          <p:cNvPr id="124" name="Google Shape;124;p1"/>
          <p:cNvSpPr txBox="1"/>
          <p:nvPr/>
        </p:nvSpPr>
        <p:spPr>
          <a:xfrm>
            <a:off x="0" y="6580220"/>
            <a:ext cx="9144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51400" lIns="102825" spcFirstLastPara="1" rIns="102825" wrap="square" tIns="514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Copyright ©  McGraw-Hill Education.  All rights reserved. No reproduction or distribution without the prior written consent of McGraw-Hill Education.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Chapter Summary</a:t>
            </a:r>
            <a:endParaRPr/>
          </a:p>
        </p:txBody>
      </p:sp>
      <p:sp>
        <p:nvSpPr>
          <p:cNvPr id="130" name="Google Shape;130;p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39029" lvl="0" marL="274320" rtl="0" algn="l"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Propositional Logic</a:t>
            </a:r>
            <a:endParaRPr/>
          </a:p>
          <a:p>
            <a:pPr indent="-217741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The Language of Propositions</a:t>
            </a:r>
            <a:endParaRPr/>
          </a:p>
          <a:p>
            <a:pPr indent="-217741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Applications</a:t>
            </a:r>
            <a:endParaRPr/>
          </a:p>
          <a:p>
            <a:pPr indent="-217741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Logical Equivalences</a:t>
            </a:r>
            <a:endParaRPr/>
          </a:p>
          <a:p>
            <a:pPr indent="-239029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Predicate Logic</a:t>
            </a:r>
            <a:endParaRPr/>
          </a:p>
          <a:p>
            <a:pPr indent="-217741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The Language of Quantifiers</a:t>
            </a:r>
            <a:endParaRPr/>
          </a:p>
          <a:p>
            <a:pPr indent="-217741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Logical Equivalences</a:t>
            </a:r>
            <a:endParaRPr/>
          </a:p>
          <a:p>
            <a:pPr indent="-217741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Nested Quantifiers</a:t>
            </a:r>
            <a:endParaRPr/>
          </a:p>
          <a:p>
            <a:pPr indent="-239029" lvl="0" marL="274320" rtl="0" algn="l">
              <a:spcBef>
                <a:spcPts val="481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Proofs</a:t>
            </a:r>
            <a:endParaRPr/>
          </a:p>
          <a:p>
            <a:pPr indent="-217741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Rules of Inference</a:t>
            </a:r>
            <a:endParaRPr/>
          </a:p>
          <a:p>
            <a:pPr indent="-217741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Proof Methods</a:t>
            </a:r>
            <a:endParaRPr/>
          </a:p>
          <a:p>
            <a:pPr indent="-217741" lvl="1" marL="640080" rtl="0" algn="l">
              <a:spcBef>
                <a:spcPts val="444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Proof Strategy</a:t>
            </a:r>
            <a:endParaRPr/>
          </a:p>
          <a:p>
            <a:pPr indent="-129238" lvl="0" marL="27432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46888" lvl="1" marL="640080" rtl="0" algn="l">
              <a:spcBef>
                <a:spcPts val="444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129238" lvl="0" marL="274320" rtl="0" algn="l">
              <a:spcBef>
                <a:spcPts val="481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Propositional Logic Summary</a:t>
            </a:r>
            <a:endParaRPr/>
          </a:p>
        </p:txBody>
      </p:sp>
      <p:sp>
        <p:nvSpPr>
          <p:cNvPr id="136" name="Google Shape;136;p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39029" lvl="0" marL="274320" rtl="0" algn="l"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The Language of Propositions</a:t>
            </a:r>
            <a:endParaRPr/>
          </a:p>
          <a:p>
            <a:pPr indent="-217741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Connectives</a:t>
            </a:r>
            <a:endParaRPr/>
          </a:p>
          <a:p>
            <a:pPr indent="-217741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Truth Values</a:t>
            </a:r>
            <a:endParaRPr/>
          </a:p>
          <a:p>
            <a:pPr indent="-217741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Truth Tables</a:t>
            </a:r>
            <a:endParaRPr/>
          </a:p>
          <a:p>
            <a:pPr indent="-239029" lvl="0" marL="274320" rtl="0" algn="l"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Applications</a:t>
            </a:r>
            <a:endParaRPr/>
          </a:p>
          <a:p>
            <a:pPr indent="-217741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Translating English Sentences</a:t>
            </a:r>
            <a:endParaRPr/>
          </a:p>
          <a:p>
            <a:pPr indent="-217741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System Specifications</a:t>
            </a:r>
            <a:endParaRPr/>
          </a:p>
          <a:p>
            <a:pPr indent="-217741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Logic Puzzles</a:t>
            </a:r>
            <a:endParaRPr/>
          </a:p>
          <a:p>
            <a:pPr indent="-217741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Logic Circuits </a:t>
            </a:r>
            <a:endParaRPr/>
          </a:p>
          <a:p>
            <a:pPr indent="-239029" lvl="0" marL="274320" rtl="0" algn="l"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Logical Equivalences</a:t>
            </a:r>
            <a:endParaRPr/>
          </a:p>
          <a:p>
            <a:pPr indent="-217741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Important Equivalences</a:t>
            </a:r>
            <a:endParaRPr/>
          </a:p>
          <a:p>
            <a:pPr indent="-217741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Showing Equivalence</a:t>
            </a:r>
            <a:endParaRPr/>
          </a:p>
          <a:p>
            <a:pPr indent="-217741" lvl="1" marL="640080" rtl="0" algn="l">
              <a:spcBef>
                <a:spcPts val="408"/>
              </a:spcBef>
              <a:spcAft>
                <a:spcPts val="0"/>
              </a:spcAft>
              <a:buSzPct val="85000"/>
              <a:buChar char="○"/>
            </a:pPr>
            <a:r>
              <a:rPr lang="en-US"/>
              <a:t>Satisfiability</a:t>
            </a:r>
            <a:endParaRPr/>
          </a:p>
          <a:p>
            <a:pPr indent="-141001" lvl="0" marL="27432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141001" lvl="0" marL="27432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246888" lvl="1" marL="640080" rtl="0" algn="l">
              <a:spcBef>
                <a:spcPts val="408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-141001" lvl="0" marL="27432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Lecture 1: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Propositional Logic</a:t>
            </a:r>
            <a:endParaRPr/>
          </a:p>
        </p:txBody>
      </p:sp>
      <p:sp>
        <p:nvSpPr>
          <p:cNvPr id="142" name="Google Shape;142;p4"/>
          <p:cNvSpPr txBox="1"/>
          <p:nvPr>
            <p:ph idx="1" type="subTitle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Section 1.1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Propositions</a:t>
            </a:r>
            <a:endParaRPr/>
          </a:p>
        </p:txBody>
      </p:sp>
      <p:sp>
        <p:nvSpPr>
          <p:cNvPr id="148" name="Google Shape;148;p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A </a:t>
            </a:r>
            <a:r>
              <a:rPr i="1" lang="en-US"/>
              <a:t>proposition</a:t>
            </a:r>
            <a:r>
              <a:rPr lang="en-US"/>
              <a:t> is a declarative sentence that is either true or false.</a:t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Examples of propositions:</a:t>
            </a:r>
            <a:endParaRPr/>
          </a:p>
          <a:p>
            <a:pPr indent="-514350" lvl="1" marL="880110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lang="en-US"/>
              <a:t>The Moon is made of green cheese.</a:t>
            </a:r>
            <a:endParaRPr/>
          </a:p>
          <a:p>
            <a:pPr indent="-514350" lvl="1" marL="880110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lang="en-US"/>
              <a:t>Trenton is the capital of New Jersey.</a:t>
            </a:r>
            <a:endParaRPr/>
          </a:p>
          <a:p>
            <a:pPr indent="-514350" lvl="1" marL="880110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lang="en-US"/>
              <a:t>Toronto is the capital of Canada.</a:t>
            </a:r>
            <a:endParaRPr/>
          </a:p>
          <a:p>
            <a:pPr indent="-514350" lvl="1" marL="880110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1</a:t>
            </a:r>
            <a:endParaRPr/>
          </a:p>
          <a:p>
            <a:pPr indent="-514350" lvl="1" marL="880110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/>
              <a:t> +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0</a:t>
            </a:r>
            <a:r>
              <a:rPr lang="en-US"/>
              <a:t> =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2</a:t>
            </a:r>
            <a:endParaRPr/>
          </a:p>
          <a:p>
            <a:pPr indent="-274320" lvl="0" marL="274320" rtl="0" algn="l">
              <a:spcBef>
                <a:spcPts val="442"/>
              </a:spcBef>
              <a:spcAft>
                <a:spcPts val="0"/>
              </a:spcAft>
              <a:buSzPct val="95000"/>
              <a:buChar char="●"/>
            </a:pPr>
            <a:r>
              <a:rPr lang="en-US"/>
              <a:t>Examples that are not propositions.</a:t>
            </a:r>
            <a:endParaRPr/>
          </a:p>
          <a:p>
            <a:pPr indent="-514350" lvl="1" marL="880110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lang="en-US"/>
              <a:t>Sit down!</a:t>
            </a:r>
            <a:endParaRPr/>
          </a:p>
          <a:p>
            <a:pPr indent="-514350" lvl="1" marL="880110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lang="en-US"/>
              <a:t>What time is it?</a:t>
            </a:r>
            <a:endParaRPr/>
          </a:p>
          <a:p>
            <a:pPr indent="-514350" lvl="1" marL="880110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i="1" lang="en-US"/>
              <a:t>x</a:t>
            </a:r>
            <a:r>
              <a:rPr lang="en-US"/>
              <a:t> + 1 = 2</a:t>
            </a:r>
            <a:endParaRPr/>
          </a:p>
          <a:p>
            <a:pPr indent="-514350" lvl="1" marL="880110" rtl="0" algn="l">
              <a:spcBef>
                <a:spcPts val="408"/>
              </a:spcBef>
              <a:spcAft>
                <a:spcPts val="0"/>
              </a:spcAft>
              <a:buSzPct val="85000"/>
              <a:buFont typeface="Calibri"/>
              <a:buAutoNum type="alphaLcParenR"/>
            </a:pPr>
            <a:r>
              <a:rPr i="1" lang="en-US"/>
              <a:t>x</a:t>
            </a:r>
            <a:r>
              <a:rPr lang="en-US"/>
              <a:t> + </a:t>
            </a:r>
            <a:r>
              <a:rPr i="1" lang="en-US"/>
              <a:t>y </a:t>
            </a:r>
            <a:r>
              <a:rPr lang="en-US"/>
              <a:t>= </a:t>
            </a:r>
            <a:r>
              <a:rPr i="1" lang="en-US"/>
              <a:t>z</a:t>
            </a:r>
            <a:endParaRPr/>
          </a:p>
          <a:p>
            <a:pPr indent="-141001" lvl="0" marL="274320" rtl="0" algn="l">
              <a:spcBef>
                <a:spcPts val="442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Propositional Logic</a:t>
            </a:r>
            <a:endParaRPr/>
          </a:p>
        </p:txBody>
      </p:sp>
      <p:sp>
        <p:nvSpPr>
          <p:cNvPr id="154" name="Google Shape;154;p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Propositions that cannot be expressed in terms of simpler propositions are called </a:t>
            </a:r>
            <a:r>
              <a:rPr b="1" lang="en-US"/>
              <a:t>atomic propositions</a:t>
            </a:r>
            <a:r>
              <a:rPr lang="en-US"/>
              <a:t>.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Constructing Propositions</a:t>
            </a:r>
            <a:endParaRPr/>
          </a:p>
          <a:p>
            <a:pPr indent="-246380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Propositional Variables: </a:t>
            </a:r>
            <a:r>
              <a:rPr i="1" lang="en-US"/>
              <a:t>p</a:t>
            </a:r>
            <a:r>
              <a:rPr lang="en-US"/>
              <a:t>, </a:t>
            </a:r>
            <a:r>
              <a:rPr i="1" lang="en-US"/>
              <a:t>q, r</a:t>
            </a:r>
            <a:r>
              <a:rPr lang="en-US"/>
              <a:t>, </a:t>
            </a:r>
            <a:r>
              <a:rPr i="1" lang="en-US"/>
              <a:t>s</a:t>
            </a:r>
            <a:r>
              <a:rPr lang="en-US"/>
              <a:t>, …</a:t>
            </a:r>
            <a:endParaRPr/>
          </a:p>
          <a:p>
            <a:pPr indent="-246380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The proposition that is always true is denoted by </a:t>
            </a:r>
            <a:r>
              <a:rPr b="1" lang="en-US"/>
              <a:t>T</a:t>
            </a:r>
            <a:r>
              <a:rPr lang="en-US"/>
              <a:t> and the proposition that is always false is denoted by </a:t>
            </a:r>
            <a:r>
              <a:rPr b="1" lang="en-US"/>
              <a:t>F</a:t>
            </a:r>
            <a:r>
              <a:rPr lang="en-US"/>
              <a:t>.</a:t>
            </a:r>
            <a:endParaRPr>
              <a:latin typeface="Cambria Math"/>
              <a:ea typeface="Cambria Math"/>
              <a:cs typeface="Cambria Math"/>
              <a:sym typeface="Cambria Math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Propositional Logic</a:t>
            </a:r>
            <a:endParaRPr/>
          </a:p>
        </p:txBody>
      </p:sp>
      <p:sp>
        <p:nvSpPr>
          <p:cNvPr id="160" name="Google Shape;160;p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Constructing Propositions</a:t>
            </a:r>
            <a:endParaRPr/>
          </a:p>
          <a:p>
            <a:pPr indent="-246380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Propositional Variables: </a:t>
            </a:r>
            <a:r>
              <a:rPr i="1" lang="en-US"/>
              <a:t>p</a:t>
            </a:r>
            <a:r>
              <a:rPr lang="en-US"/>
              <a:t>, </a:t>
            </a:r>
            <a:r>
              <a:rPr i="1" lang="en-US"/>
              <a:t>q, r</a:t>
            </a:r>
            <a:r>
              <a:rPr lang="en-US"/>
              <a:t>, </a:t>
            </a:r>
            <a:r>
              <a:rPr i="1" lang="en-US"/>
              <a:t>s</a:t>
            </a:r>
            <a:r>
              <a:rPr lang="en-US"/>
              <a:t>, …</a:t>
            </a:r>
            <a:endParaRPr/>
          </a:p>
          <a:p>
            <a:pPr indent="-246380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The proposition that is always true is denoted by </a:t>
            </a:r>
            <a:r>
              <a:rPr b="1" lang="en-US"/>
              <a:t>T</a:t>
            </a:r>
            <a:r>
              <a:rPr lang="en-US"/>
              <a:t> and the proposition that is always false is denoted by </a:t>
            </a:r>
            <a:r>
              <a:rPr b="1" lang="en-US"/>
              <a:t>F</a:t>
            </a:r>
            <a:r>
              <a:rPr lang="en-US"/>
              <a:t>.</a:t>
            </a:r>
            <a:endParaRPr/>
          </a:p>
          <a:p>
            <a:pPr indent="-246380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○"/>
            </a:pPr>
            <a:r>
              <a:rPr lang="en-US"/>
              <a:t>Compound Propositions: constructed from logical connectives and other propositions</a:t>
            </a:r>
            <a:endParaRPr/>
          </a:p>
          <a:p>
            <a:pPr indent="-246380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■"/>
            </a:pPr>
            <a:r>
              <a:rPr lang="en-US"/>
              <a:t>Negation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endParaRPr/>
          </a:p>
          <a:p>
            <a:pPr indent="-246380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■"/>
            </a:pPr>
            <a:r>
              <a:rPr lang="en-US"/>
              <a:t>Conjunction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</a:t>
            </a:r>
            <a:endParaRPr/>
          </a:p>
          <a:p>
            <a:pPr indent="-246380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■"/>
            </a:pPr>
            <a:r>
              <a:rPr lang="en-US"/>
              <a:t>Disjunction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∨</a:t>
            </a:r>
            <a:endParaRPr/>
          </a:p>
          <a:p>
            <a:pPr indent="-246380" lvl="2" marL="914400" rtl="0" algn="l">
              <a:spcBef>
                <a:spcPts val="480"/>
              </a:spcBef>
              <a:spcAft>
                <a:spcPts val="0"/>
              </a:spcAft>
              <a:buSzPts val="1470"/>
              <a:buChar char="■"/>
            </a:pPr>
            <a:r>
              <a:rPr lang="en-US"/>
              <a:t>Implication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→</a:t>
            </a:r>
            <a:endParaRPr/>
          </a:p>
          <a:p>
            <a:pPr indent="-246380" lvl="2" marL="914400" rtl="0" algn="l">
              <a:spcBef>
                <a:spcPts val="480"/>
              </a:spcBef>
              <a:spcAft>
                <a:spcPts val="0"/>
              </a:spcAft>
              <a:buSzPts val="1470"/>
              <a:buChar char="■"/>
            </a:pPr>
            <a:r>
              <a:rPr lang="en-US"/>
              <a:t>Biconditional </a:t>
            </a:r>
            <a:r>
              <a:rPr lang="en-US" sz="2400">
                <a:latin typeface="Cambria Math"/>
                <a:ea typeface="Cambria Math"/>
                <a:cs typeface="Cambria Math"/>
                <a:sym typeface="Cambria Math"/>
              </a:rPr>
              <a:t>↔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Compound Propositions: Negation</a:t>
            </a:r>
            <a:endParaRPr/>
          </a:p>
        </p:txBody>
      </p:sp>
      <p:pic>
        <p:nvPicPr>
          <p:cNvPr descr="A text on a white background&#10;&#10;Description automatically generated" id="166" name="Google Shape;166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96064"/>
            <a:ext cx="8229600" cy="2467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/>
              <a:t>Compound Propositions: Negation</a:t>
            </a:r>
            <a:endParaRPr/>
          </a:p>
        </p:txBody>
      </p:sp>
      <p:sp>
        <p:nvSpPr>
          <p:cNvPr id="172" name="Google Shape;172;p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1" marL="27432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80"/>
              <a:buChar char="●"/>
            </a:pPr>
            <a:r>
              <a:rPr lang="en-US"/>
              <a:t>The </a:t>
            </a:r>
            <a:r>
              <a:rPr i="1" lang="en-US"/>
              <a:t>negation</a:t>
            </a:r>
            <a:r>
              <a:rPr lang="en-US"/>
              <a:t> of a proposition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is  denoted by 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and has this truth table:</a:t>
            </a:r>
            <a:endParaRPr/>
          </a:p>
          <a:p>
            <a:pPr indent="-129540" lvl="1" marL="274320" rtl="0" algn="l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280"/>
              <a:buNone/>
            </a:pPr>
            <a:r>
              <a:t/>
            </a:r>
            <a:endParaRPr/>
          </a:p>
          <a:p>
            <a:pPr indent="-129540" lvl="1" marL="274320" rtl="0" algn="l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28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b="1" lang="en-US"/>
              <a:t>Example</a:t>
            </a:r>
            <a:r>
              <a:rPr lang="en-US"/>
              <a:t>: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denotes “The earth is round.”, then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¬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   denotes “It is not the case that the earth is round,” or more simply “The earth is not round.”  </a:t>
            </a:r>
            <a:endParaRPr/>
          </a:p>
        </p:txBody>
      </p:sp>
      <p:graphicFrame>
        <p:nvGraphicFramePr>
          <p:cNvPr id="173" name="Google Shape;173;p9"/>
          <p:cNvGraphicFramePr/>
          <p:nvPr/>
        </p:nvGraphicFramePr>
        <p:xfrm>
          <a:off x="1828800" y="2971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{C41FD448-BD78-459D-9298-3BC892159AE2}</a:tableStyleId>
              </a:tblPr>
              <a:tblGrid>
                <a:gridCol w="2819400"/>
                <a:gridCol w="2819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1" lang="en-US" sz="18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¬</a:t>
                      </a: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r>
                        <a:rPr lang="en-US" sz="1800"/>
                        <a:t>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Conjunction &amp; Disjunction</a:t>
            </a:r>
            <a:endParaRPr/>
          </a:p>
        </p:txBody>
      </p:sp>
      <p:pic>
        <p:nvPicPr>
          <p:cNvPr descr="A close-up of a sign&#10;&#10;Description automatically generated" id="179" name="Google Shape;179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265099"/>
            <a:ext cx="8229600" cy="8814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sign&#10;&#10;Description automatically generated" id="180" name="Google Shape;18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264" y="3666925"/>
            <a:ext cx="8225472" cy="8761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Conjunction</a:t>
            </a:r>
            <a:endParaRPr/>
          </a:p>
        </p:txBody>
      </p:sp>
      <p:sp>
        <p:nvSpPr>
          <p:cNvPr id="186" name="Google Shape;186;p1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</a:t>
            </a:r>
            <a:r>
              <a:rPr i="1" lang="en-US"/>
              <a:t>conjunction</a:t>
            </a:r>
            <a:r>
              <a:rPr lang="en-US"/>
              <a:t> of propositions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and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 is denoted by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  </a:t>
            </a:r>
            <a:r>
              <a:rPr lang="en-US"/>
              <a:t>and has this truth table: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b="1" lang="en-US"/>
              <a:t>Example</a:t>
            </a:r>
            <a:r>
              <a:rPr lang="en-US"/>
              <a:t>: 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denotes “I am at home.”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 denotes “It is raining.” then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∧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denotes “I am at home and it is raining.”</a:t>
            </a:r>
            <a:endParaRPr/>
          </a:p>
        </p:txBody>
      </p:sp>
      <p:graphicFrame>
        <p:nvGraphicFramePr>
          <p:cNvPr id="187" name="Google Shape;187;p11"/>
          <p:cNvGraphicFramePr/>
          <p:nvPr/>
        </p:nvGraphicFramePr>
        <p:xfrm>
          <a:off x="1295400" y="2819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{C41FD448-BD78-459D-9298-3BC892159AE2}</a:tableStyleId>
              </a:tblPr>
              <a:tblGrid>
                <a:gridCol w="2032000"/>
                <a:gridCol w="2032000"/>
                <a:gridCol w="20320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 </a:t>
                      </a: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∧ </a:t>
                      </a: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 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Disjunction</a:t>
            </a:r>
            <a:endParaRPr/>
          </a:p>
        </p:txBody>
      </p:sp>
      <p:sp>
        <p:nvSpPr>
          <p:cNvPr id="193" name="Google Shape;193;p12"/>
          <p:cNvSpPr txBox="1"/>
          <p:nvPr>
            <p:ph idx="1" type="body"/>
          </p:nvPr>
        </p:nvSpPr>
        <p:spPr>
          <a:xfrm>
            <a:off x="457200" y="1935480"/>
            <a:ext cx="8229600" cy="4693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The </a:t>
            </a:r>
            <a:r>
              <a:rPr i="1" lang="en-US"/>
              <a:t>disjunction</a:t>
            </a:r>
            <a:r>
              <a:rPr lang="en-US"/>
              <a:t> of propositions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  is denoted by 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∨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and has this truth table: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b="1"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●"/>
            </a:pPr>
            <a:r>
              <a:rPr b="1" lang="en-US"/>
              <a:t>Example</a:t>
            </a:r>
            <a:r>
              <a:rPr lang="en-US"/>
              <a:t>:  If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/>
              <a:t>  denotes “I am at home.” and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 denotes “It is raining.” then 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>
                <a:latin typeface="Cambria Math"/>
                <a:ea typeface="Cambria Math"/>
                <a:cs typeface="Cambria Math"/>
                <a:sym typeface="Cambria Math"/>
              </a:rPr>
              <a:t>∨</a:t>
            </a:r>
            <a:r>
              <a:rPr i="1" lang="en-US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/>
              <a:t> denotes “I am at home or it is raining.”</a:t>
            </a:r>
            <a:endParaRPr/>
          </a:p>
        </p:txBody>
      </p:sp>
      <p:graphicFrame>
        <p:nvGraphicFramePr>
          <p:cNvPr id="194" name="Google Shape;194;p12"/>
          <p:cNvGraphicFramePr/>
          <p:nvPr/>
        </p:nvGraphicFramePr>
        <p:xfrm>
          <a:off x="1524000" y="3124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{C41FD448-BD78-459D-9298-3BC892159AE2}</a:tableStyleId>
              </a:tblPr>
              <a:tblGrid>
                <a:gridCol w="1879600"/>
                <a:gridCol w="1879600"/>
                <a:gridCol w="1879600"/>
              </a:tblGrid>
              <a:tr h="21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r>
                        <a:rPr lang="en-US" sz="1800"/>
                        <a:t>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 </a:t>
                      </a:r>
                      <a:r>
                        <a:rPr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∨</a:t>
                      </a: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br>
              <a:rPr lang="en-US"/>
            </a:br>
            <a:r>
              <a:rPr lang="en-US"/>
              <a:t>The Connective Or in English</a:t>
            </a:r>
            <a:endParaRPr/>
          </a:p>
        </p:txBody>
      </p:sp>
      <p:sp>
        <p:nvSpPr>
          <p:cNvPr id="200" name="Google Shape;200;p13"/>
          <p:cNvSpPr txBox="1"/>
          <p:nvPr>
            <p:ph idx="1" type="body"/>
          </p:nvPr>
        </p:nvSpPr>
        <p:spPr>
          <a:xfrm>
            <a:off x="381000" y="175260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●"/>
            </a:pPr>
            <a:r>
              <a:rPr lang="en-US"/>
              <a:t>In English “or” has two distinct meanings.</a:t>
            </a:r>
            <a:endParaRPr/>
          </a:p>
          <a:p>
            <a:pPr indent="-246380" lvl="1" marL="640080" rtl="0" algn="l">
              <a:spcBef>
                <a:spcPts val="360"/>
              </a:spcBef>
              <a:spcAft>
                <a:spcPts val="0"/>
              </a:spcAft>
              <a:buSzPts val="1530"/>
              <a:buChar char="○"/>
            </a:pPr>
            <a:r>
              <a:rPr lang="en-US" sz="1800"/>
              <a:t> “Inclusive Or”  - In the sentence “Students who have taken CSE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230 </a:t>
            </a:r>
            <a:r>
              <a:rPr lang="en-US" sz="1800"/>
              <a:t>or Math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120</a:t>
            </a:r>
            <a:r>
              <a:rPr lang="en-US" sz="1800"/>
              <a:t> may take this class,” we assume that students need to have taken one of the prerequisites, but may have taken both. This is the meaning of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disjunction. For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p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∨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q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 to be true, either one or both of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p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and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q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must be true.</a:t>
            </a:r>
            <a:endParaRPr/>
          </a:p>
          <a:p>
            <a:pPr indent="-246380" lvl="1" marL="640080" rtl="0" algn="l">
              <a:spcBef>
                <a:spcPts val="360"/>
              </a:spcBef>
              <a:spcAft>
                <a:spcPts val="0"/>
              </a:spcAft>
              <a:buSzPts val="1530"/>
              <a:buChar char="○"/>
            </a:pPr>
            <a:r>
              <a:rPr lang="en-US" sz="1800"/>
              <a:t>“Exclusive Or”  - When reading the sentence “Soup or salad comes with this entrée,” we do not expect to be able to get </a:t>
            </a:r>
            <a:r>
              <a:rPr b="1" lang="en-US" sz="1800"/>
              <a:t>both </a:t>
            </a:r>
            <a:r>
              <a:rPr lang="en-US" sz="1800"/>
              <a:t>soup and salad. This is the meaning of Exclusive Or (Xor). In </a:t>
            </a:r>
            <a:r>
              <a:rPr i="1" lang="en-US" sz="1800"/>
              <a:t>p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 ⊕ </a:t>
            </a:r>
            <a:r>
              <a:rPr i="1" lang="en-US" sz="1800">
                <a:latin typeface="Cambria Math"/>
                <a:ea typeface="Cambria Math"/>
                <a:cs typeface="Cambria Math"/>
                <a:sym typeface="Cambria Math"/>
              </a:rPr>
              <a:t>q , </a:t>
            </a:r>
            <a:r>
              <a:rPr lang="en-US" sz="1800"/>
              <a:t>one of </a:t>
            </a:r>
            <a:r>
              <a:rPr i="1" lang="en-US" sz="1800"/>
              <a:t>p</a:t>
            </a:r>
            <a:r>
              <a:rPr lang="en-US" sz="1800"/>
              <a:t> and </a:t>
            </a:r>
            <a:r>
              <a:rPr i="1" lang="en-US" sz="1800"/>
              <a:t>q</a:t>
            </a:r>
            <a:r>
              <a:rPr lang="en-US" sz="1800"/>
              <a:t> must be true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, but not both.  The truth table for ⊕ is:</a:t>
            </a:r>
            <a:endParaRPr i="1" sz="1800"/>
          </a:p>
          <a:p>
            <a:pPr indent="-149225" lvl="1" marL="640080" rtl="0" algn="l">
              <a:spcBef>
                <a:spcPts val="36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 sz="1800"/>
          </a:p>
        </p:txBody>
      </p:sp>
      <p:graphicFrame>
        <p:nvGraphicFramePr>
          <p:cNvPr id="201" name="Google Shape;201;p13"/>
          <p:cNvGraphicFramePr/>
          <p:nvPr/>
        </p:nvGraphicFramePr>
        <p:xfrm>
          <a:off x="1905000" y="4648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{C41FD448-BD78-459D-9298-3BC892159AE2}</a:tableStyleId>
              </a:tblPr>
              <a:tblGrid>
                <a:gridCol w="1549400"/>
                <a:gridCol w="1549400"/>
                <a:gridCol w="15494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 Math"/>
                        <a:buNone/>
                      </a:pP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p </a:t>
                      </a:r>
                      <a:r>
                        <a:rPr i="0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⊕</a:t>
                      </a:r>
                      <a:r>
                        <a:rPr i="1" lang="en-US" sz="1800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q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o 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2013-09-13T22:27:42Z</dcterms:created>
  <dc:creator>Richard Scherl</dc:creator>
</cp:coreProperties>
</file>