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6858000" cx="9144000"/>
  <p:notesSz cx="6858000" cy="9144000"/>
  <p:embeddedFontLst>
    <p:embeddedFont>
      <p:font typeface="Constantia"/>
      <p:regular r:id="rId39"/>
      <p:bold r:id="rId40"/>
      <p:italic r:id="rId41"/>
      <p:boldItalic r:id="rId42"/>
    </p:embeddedFont>
    <p:embeddedFont>
      <p:font typeface="Cambria Math"/>
      <p:regular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4" roundtripDataSignature="AMtx7mjBc+F391KtYfAstnT6ebeyFPfh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E69133B-24DE-4460-8FC3-97C58CF39A11}">
  <a:tblStyle styleId="{6E69133B-24DE-4460-8FC3-97C58CF39A11}" styleName="Table_0">
    <a:wholeTbl>
      <a:tcTxStyle b="off" i="off">
        <a:font>
          <a:latin typeface="Constantia"/>
          <a:ea typeface="Constantia"/>
          <a:cs typeface="Constantia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5"/>
          </a:solidFill>
        </a:fill>
      </a:tcStyle>
    </a:wholeTbl>
    <a:band1H>
      <a:tcTxStyle/>
      <a:tcStyle>
        <a:fill>
          <a:solidFill>
            <a:srgbClr val="CAD4EA"/>
          </a:solidFill>
        </a:fill>
      </a:tcStyle>
    </a:band1H>
    <a:band2H>
      <a:tcTxStyle/>
    </a:band2H>
    <a:band1V>
      <a:tcTxStyle/>
      <a:tcStyle>
        <a:fill>
          <a:solidFill>
            <a:srgbClr val="CAD4EA"/>
          </a:solidFill>
        </a:fill>
      </a:tcStyle>
    </a:band1V>
    <a:band2V>
      <a:tcTxStyle/>
    </a:band2V>
    <a:la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onstantia-bold.fntdata"/><Relationship Id="rId20" Type="http://schemas.openxmlformats.org/officeDocument/2006/relationships/slide" Target="slides/slide14.xml"/><Relationship Id="rId42" Type="http://schemas.openxmlformats.org/officeDocument/2006/relationships/font" Target="fonts/Constantia-boldItalic.fntdata"/><Relationship Id="rId41" Type="http://schemas.openxmlformats.org/officeDocument/2006/relationships/font" Target="fonts/Constantia-italic.fntdata"/><Relationship Id="rId22" Type="http://schemas.openxmlformats.org/officeDocument/2006/relationships/slide" Target="slides/slide16.xml"/><Relationship Id="rId44" Type="http://customschemas.google.com/relationships/presentationmetadata" Target="metadata"/><Relationship Id="rId21" Type="http://schemas.openxmlformats.org/officeDocument/2006/relationships/slide" Target="slides/slide15.xml"/><Relationship Id="rId43" Type="http://schemas.openxmlformats.org/officeDocument/2006/relationships/font" Target="fonts/CambriaMath-regular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Constantia-regular.fntdata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01717a13b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01717a13b1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01717a13b1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01717a13b1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01717a13b1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01717a13b1_0_2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01717a13b1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01717a13b1_0_3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01717a13b1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01717a13b1_0_4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0166ce1dc7_0_1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30166ce1dc7_0_18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g30166ce1dc7_0_18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g30166ce1dc7_0_18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30166ce1dc7_0_18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CFE2F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g30166ce1dc7_0_24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35" name="Google Shape;35;g30166ce1dc7_0_2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g30166ce1dc7_0_2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g30166ce1dc7_0_2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g30166ce1dc7_0_2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g30166ce1dc7_0_2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" name="Google Shape;40;g30166ce1dc7_0_24"/>
          <p:cNvSpPr txBox="1"/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30166ce1dc7_0_24"/>
          <p:cNvSpPr txBox="1"/>
          <p:nvPr>
            <p:ph idx="1" type="subTitle"/>
          </p:nvPr>
        </p:nvSpPr>
        <p:spPr>
          <a:xfrm>
            <a:off x="533400" y="32285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247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" name="Google Shape;42;g30166ce1dc7_0_24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g30166ce1dc7_0_24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30166ce1dc7_0_24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5" name="Google Shape;45;g30166ce1dc7_0_24"/>
          <p:cNvGrpSpPr/>
          <p:nvPr/>
        </p:nvGrpSpPr>
        <p:grpSpPr>
          <a:xfrm>
            <a:off x="175" y="5715115"/>
            <a:ext cx="9144053" cy="1142603"/>
            <a:chOff x="-4085248" y="3903669"/>
            <a:chExt cx="13229244" cy="1239938"/>
          </a:xfrm>
        </p:grpSpPr>
        <p:sp>
          <p:nvSpPr>
            <p:cNvPr id="46" name="Google Shape;46;g30166ce1dc7_0_2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g30166ce1dc7_0_2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g30166ce1dc7_0_2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g30166ce1dc7_0_2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g30166ce1dc7_0_24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CFE2F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0166ce1dc7_0_42"/>
          <p:cNvSpPr txBox="1"/>
          <p:nvPr>
            <p:ph type="title"/>
          </p:nvPr>
        </p:nvSpPr>
        <p:spPr>
          <a:xfrm>
            <a:off x="530352" y="1316736"/>
            <a:ext cx="77724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0166ce1dc7_0_42"/>
          <p:cNvSpPr txBox="1"/>
          <p:nvPr>
            <p:ph idx="1" type="body"/>
          </p:nvPr>
        </p:nvSpPr>
        <p:spPr>
          <a:xfrm>
            <a:off x="530352" y="2704664"/>
            <a:ext cx="77724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090"/>
              <a:buNone/>
              <a:defRPr sz="2200">
                <a:solidFill>
                  <a:srgbClr val="000000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53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120"/>
              <a:buNone/>
              <a:defRPr sz="1600">
                <a:solidFill>
                  <a:srgbClr val="000000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g30166ce1dc7_0_4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g30166ce1dc7_0_4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0166ce1dc7_0_42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7" name="Google Shape;57;g30166ce1dc7_0_42"/>
          <p:cNvGrpSpPr/>
          <p:nvPr/>
        </p:nvGrpSpPr>
        <p:grpSpPr>
          <a:xfrm>
            <a:off x="175" y="5715115"/>
            <a:ext cx="9144053" cy="1142603"/>
            <a:chOff x="-4085248" y="3903669"/>
            <a:chExt cx="13229244" cy="1239938"/>
          </a:xfrm>
        </p:grpSpPr>
        <p:sp>
          <p:nvSpPr>
            <p:cNvPr id="58" name="Google Shape;58;g30166ce1dc7_0_42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g30166ce1dc7_0_42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g30166ce1dc7_0_42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g30166ce1dc7_0_42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g30166ce1dc7_0_42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166ce1dc7_0_5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0166ce1dc7_0_54"/>
          <p:cNvSpPr txBox="1"/>
          <p:nvPr>
            <p:ph idx="1" type="body"/>
          </p:nvPr>
        </p:nvSpPr>
        <p:spPr>
          <a:xfrm>
            <a:off x="457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30166ce1dc7_0_54"/>
          <p:cNvSpPr txBox="1"/>
          <p:nvPr>
            <p:ph idx="2" type="body"/>
          </p:nvPr>
        </p:nvSpPr>
        <p:spPr>
          <a:xfrm>
            <a:off x="4648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g30166ce1dc7_0_54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30166ce1dc7_0_54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30166ce1dc7_0_54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0166ce1dc7_0_6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g30166ce1dc7_0_61"/>
          <p:cNvSpPr txBox="1"/>
          <p:nvPr>
            <p:ph idx="1" type="body"/>
          </p:nvPr>
        </p:nvSpPr>
        <p:spPr>
          <a:xfrm>
            <a:off x="457200" y="1855248"/>
            <a:ext cx="40401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g30166ce1dc7_0_61"/>
          <p:cNvSpPr txBox="1"/>
          <p:nvPr>
            <p:ph idx="2" type="body"/>
          </p:nvPr>
        </p:nvSpPr>
        <p:spPr>
          <a:xfrm>
            <a:off x="4645025" y="1859757"/>
            <a:ext cx="40419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g30166ce1dc7_0_61"/>
          <p:cNvSpPr txBox="1"/>
          <p:nvPr>
            <p:ph idx="3" type="body"/>
          </p:nvPr>
        </p:nvSpPr>
        <p:spPr>
          <a:xfrm>
            <a:off x="457200" y="2514600"/>
            <a:ext cx="40401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g30166ce1dc7_0_61"/>
          <p:cNvSpPr txBox="1"/>
          <p:nvPr>
            <p:ph idx="4" type="body"/>
          </p:nvPr>
        </p:nvSpPr>
        <p:spPr>
          <a:xfrm>
            <a:off x="4645025" y="2514600"/>
            <a:ext cx="40419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g30166ce1dc7_0_6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30166ce1dc7_0_6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0166ce1dc7_0_6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g30166ce1dc7_0_70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81" name="Google Shape;81;g30166ce1dc7_0_7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g30166ce1dc7_0_7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g30166ce1dc7_0_7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g30166ce1dc7_0_7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g30166ce1dc7_0_7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" name="Google Shape;86;g30166ce1dc7_0_70"/>
          <p:cNvSpPr txBox="1"/>
          <p:nvPr>
            <p:ph type="title"/>
          </p:nvPr>
        </p:nvSpPr>
        <p:spPr>
          <a:xfrm>
            <a:off x="457200" y="19994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0166ce1dc7_0_70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0166ce1dc7_0_70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0166ce1dc7_0_70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0166ce1dc7_0_8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0166ce1dc7_0_8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30166ce1dc7_0_8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166ce1dc7_0_85"/>
          <p:cNvSpPr txBox="1"/>
          <p:nvPr>
            <p:ph type="title"/>
          </p:nvPr>
        </p:nvSpPr>
        <p:spPr>
          <a:xfrm>
            <a:off x="685800" y="514352"/>
            <a:ext cx="27432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30166ce1dc7_0_85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g30166ce1dc7_0_85"/>
          <p:cNvSpPr txBox="1"/>
          <p:nvPr>
            <p:ph idx="2" type="body"/>
          </p:nvPr>
        </p:nvSpPr>
        <p:spPr>
          <a:xfrm>
            <a:off x="3575050" y="1676400"/>
            <a:ext cx="5111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g30166ce1dc7_0_85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g30166ce1dc7_0_85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0166ce1dc7_0_85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0166ce1dc7_0_92"/>
          <p:cNvSpPr/>
          <p:nvPr/>
        </p:nvSpPr>
        <p:spPr>
          <a:xfrm flipH="1" rot="-10380037">
            <a:off x="4172401" y="1918610"/>
            <a:ext cx="4293497" cy="3360183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10" rotWithShape="0" algn="tl" dir="7500000" dist="38500" sy="100080">
              <a:srgbClr val="000000">
                <a:alpha val="247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3" name="Google Shape;103;g30166ce1dc7_0_92"/>
          <p:cNvSpPr/>
          <p:nvPr/>
        </p:nvSpPr>
        <p:spPr>
          <a:xfrm flipH="1" rot="-10380733">
            <a:off x="8004114" y="5359839"/>
            <a:ext cx="155354" cy="155354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67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4" name="Google Shape;104;g30166ce1dc7_0_92"/>
          <p:cNvSpPr txBox="1"/>
          <p:nvPr>
            <p:ph type="title"/>
          </p:nvPr>
        </p:nvSpPr>
        <p:spPr>
          <a:xfrm>
            <a:off x="609600" y="1177000"/>
            <a:ext cx="33528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b="1"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5" name="Google Shape;105;g30166ce1dc7_0_92"/>
          <p:cNvSpPr txBox="1"/>
          <p:nvPr>
            <p:ph idx="1" type="body"/>
          </p:nvPr>
        </p:nvSpPr>
        <p:spPr>
          <a:xfrm>
            <a:off x="609600" y="2828775"/>
            <a:ext cx="3352800" cy="21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spcBef>
                <a:spcPts val="250"/>
              </a:spcBef>
              <a:spcAft>
                <a:spcPts val="0"/>
              </a:spcAft>
              <a:buSzPts val="2400"/>
              <a:buFont typeface="Constantia"/>
              <a:buNone/>
              <a:defRPr sz="2400"/>
            </a:lvl1pPr>
            <a:lvl2pPr indent="-355600" lvl="1" marL="914400" algn="l">
              <a:spcBef>
                <a:spcPts val="240"/>
              </a:spcBef>
              <a:spcAft>
                <a:spcPts val="0"/>
              </a:spcAft>
              <a:buSzPts val="2000"/>
              <a:buChar char="⚫"/>
              <a:defRPr sz="2000"/>
            </a:lvl2pPr>
            <a:lvl3pPr indent="-342900" lvl="2" marL="1371600" algn="l">
              <a:spcBef>
                <a:spcPts val="200"/>
              </a:spcBef>
              <a:spcAft>
                <a:spcPts val="0"/>
              </a:spcAft>
              <a:buSzPts val="1800"/>
              <a:buChar char="⚫"/>
              <a:defRPr sz="1800"/>
            </a:lvl3pPr>
            <a:lvl4pPr indent="-330200" lvl="3" marL="1828800" algn="l">
              <a:spcBef>
                <a:spcPts val="180"/>
              </a:spcBef>
              <a:spcAft>
                <a:spcPts val="0"/>
              </a:spcAft>
              <a:buSzPts val="1600"/>
              <a:buChar char="⚫"/>
              <a:defRPr sz="1600"/>
            </a:lvl4pPr>
            <a:lvl5pPr indent="-317500" lvl="4" marL="2286000" algn="l">
              <a:spcBef>
                <a:spcPts val="180"/>
              </a:spcBef>
              <a:spcAft>
                <a:spcPts val="0"/>
              </a:spcAft>
              <a:buSzPts val="1400"/>
              <a:buChar char="⚫"/>
              <a:defRPr sz="1400"/>
            </a:lvl5pPr>
            <a:lvl6pPr indent="-304800" lvl="5" marL="2743200" algn="l"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6pPr>
            <a:lvl7pPr indent="-304800" lvl="6" marL="3200400" algn="l"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7pPr>
            <a:lvl8pPr indent="-304800" lvl="7" marL="3657600" algn="l"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106" name="Google Shape;106;g30166ce1dc7_0_9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0166ce1dc7_0_9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30166ce1dc7_0_92"/>
          <p:cNvSpPr txBox="1"/>
          <p:nvPr>
            <p:ph idx="12" type="sldNum"/>
          </p:nvPr>
        </p:nvSpPr>
        <p:spPr>
          <a:xfrm>
            <a:off x="8077200" y="6356350"/>
            <a:ext cx="609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g30166ce1dc7_0_92"/>
          <p:cNvSpPr/>
          <p:nvPr>
            <p:ph idx="2" type="pic"/>
          </p:nvPr>
        </p:nvSpPr>
        <p:spPr>
          <a:xfrm rot="420005">
            <a:off x="4433519" y="1993203"/>
            <a:ext cx="3771211" cy="3210857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0166ce1dc7_0_10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g30166ce1dc7_0_101"/>
          <p:cNvSpPr txBox="1"/>
          <p:nvPr>
            <p:ph idx="1" type="body"/>
          </p:nvPr>
        </p:nvSpPr>
        <p:spPr>
          <a:xfrm rot="5400000">
            <a:off x="2377500" y="15180"/>
            <a:ext cx="43890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g30166ce1dc7_0_10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0166ce1dc7_0_10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0166ce1dc7_0_10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0166ce1dc7_0_107"/>
          <p:cNvSpPr txBox="1"/>
          <p:nvPr>
            <p:ph type="title"/>
          </p:nvPr>
        </p:nvSpPr>
        <p:spPr>
          <a:xfrm rot="5400000">
            <a:off x="5052150" y="2491651"/>
            <a:ext cx="5211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0166ce1dc7_0_107"/>
          <p:cNvSpPr txBox="1"/>
          <p:nvPr>
            <p:ph idx="1" type="body"/>
          </p:nvPr>
        </p:nvSpPr>
        <p:spPr>
          <a:xfrm rot="5400000">
            <a:off x="861150" y="510451"/>
            <a:ext cx="52119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g30166ce1dc7_0_107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g30166ce1dc7_0_107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g30166ce1dc7_0_107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2" ty="0" sy="65002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g30166ce1dc7_0_0"/>
          <p:cNvGrpSpPr/>
          <p:nvPr/>
        </p:nvGrpSpPr>
        <p:grpSpPr>
          <a:xfrm>
            <a:off x="7600940" y="3"/>
            <a:ext cx="1542914" cy="1371650"/>
            <a:chOff x="6098378" y="5"/>
            <a:chExt cx="3045625" cy="2030570"/>
          </a:xfrm>
        </p:grpSpPr>
        <p:sp>
          <p:nvSpPr>
            <p:cNvPr id="11" name="Google Shape;11;g30166ce1dc7_0_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g30166ce1dc7_0_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0166ce1dc7_0_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g30166ce1dc7_0_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g30166ce1dc7_0_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" name="Google Shape;16;g30166ce1dc7_0_0"/>
          <p:cNvGrpSpPr/>
          <p:nvPr/>
        </p:nvGrpSpPr>
        <p:grpSpPr>
          <a:xfrm>
            <a:off x="-2" y="6104999"/>
            <a:ext cx="9144071" cy="752890"/>
            <a:chOff x="-10935211" y="3903669"/>
            <a:chExt cx="20079207" cy="1239937"/>
          </a:xfrm>
        </p:grpSpPr>
        <p:sp>
          <p:nvSpPr>
            <p:cNvPr id="17" name="Google Shape;17;g30166ce1dc7_0_0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g30166ce1dc7_0_0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g30166ce1dc7_0_0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g30166ce1dc7_0_0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g30166ce1dc7_0_0"/>
            <p:cNvSpPr/>
            <p:nvPr/>
          </p:nvSpPr>
          <p:spPr>
            <a:xfrm>
              <a:off x="-10935211" y="4891606"/>
              <a:ext cx="200790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" name="Google Shape;22;g30166ce1dc7_0_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000"/>
              <a:buFont typeface="Calibri"/>
              <a:buNone/>
              <a:defRPr b="0" i="0" sz="50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Google Shape;23;g30166ce1dc7_0_0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algn="l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4" name="Google Shape;24;g30166ce1dc7_0_0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5" name="Google Shape;25;g30166ce1dc7_0_0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6" name="Google Shape;26;g30166ce1dc7_0_0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jp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01717a13b1_0_7"/>
          <p:cNvSpPr txBox="1"/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Lecture 3: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Propositional Equivalence</a:t>
            </a:r>
            <a:endParaRPr/>
          </a:p>
        </p:txBody>
      </p:sp>
      <p:sp>
        <p:nvSpPr>
          <p:cNvPr id="127" name="Google Shape;127;g301717a13b1_0_7"/>
          <p:cNvSpPr txBox="1"/>
          <p:nvPr>
            <p:ph idx="1" type="subTitle"/>
          </p:nvPr>
        </p:nvSpPr>
        <p:spPr>
          <a:xfrm>
            <a:off x="533400" y="32285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/>
              <a:t>Section 1.3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01717a13b1_0_12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Tautologies, Contradictions, and Contingencies</a:t>
            </a:r>
            <a:endParaRPr/>
          </a:p>
        </p:txBody>
      </p:sp>
      <p:sp>
        <p:nvSpPr>
          <p:cNvPr id="133" name="Google Shape;133;g301717a13b1_0_125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A  </a:t>
            </a:r>
            <a:r>
              <a:rPr i="1" lang="en-US"/>
              <a:t>tautology</a:t>
            </a:r>
            <a:r>
              <a:rPr lang="en-US"/>
              <a:t> is a proposition which is always true.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Example: 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="1" lang="en-US"/>
              <a:t>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∨¬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/>
              <a:t> 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A  </a:t>
            </a:r>
            <a:r>
              <a:rPr i="1" lang="en-US"/>
              <a:t>contradiction</a:t>
            </a:r>
            <a:r>
              <a:rPr lang="en-US"/>
              <a:t> is a proposition which is always false.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Example: 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="1" lang="en-US"/>
              <a:t>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∧¬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/>
              <a:t>    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A  </a:t>
            </a:r>
            <a:r>
              <a:rPr i="1" lang="en-US"/>
              <a:t>contingency</a:t>
            </a:r>
            <a:r>
              <a:rPr lang="en-US"/>
              <a:t> is a proposition which is neither a tautology nor a contradiction, such as  </a:t>
            </a:r>
            <a:r>
              <a:rPr b="1" i="1" lang="en-US"/>
              <a:t>p</a:t>
            </a:r>
            <a:endParaRPr b="1"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                 </a:t>
            </a:r>
            <a:endParaRPr/>
          </a:p>
        </p:txBody>
      </p:sp>
      <p:sp>
        <p:nvSpPr>
          <p:cNvPr id="134" name="Google Shape;134;g301717a13b1_0_125"/>
          <p:cNvSpPr txBox="1"/>
          <p:nvPr/>
        </p:nvSpPr>
        <p:spPr>
          <a:xfrm>
            <a:off x="5997889" y="954882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graphicFrame>
        <p:nvGraphicFramePr>
          <p:cNvPr id="135" name="Google Shape;135;g301717a13b1_0_125"/>
          <p:cNvGraphicFramePr/>
          <p:nvPr/>
        </p:nvGraphicFramePr>
        <p:xfrm>
          <a:off x="1676400" y="4953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{6E69133B-24DE-4460-8FC3-97C58CF39A11}</a:tableStyleId>
              </a:tblPr>
              <a:tblGrid>
                <a:gridCol w="1543050"/>
                <a:gridCol w="1504950"/>
                <a:gridCol w="1524000"/>
                <a:gridCol w="1524000"/>
              </a:tblGrid>
              <a:tr h="137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</a:t>
                      </a:r>
                      <a:endParaRPr b="0" i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¬</a:t>
                      </a:r>
                      <a:r>
                        <a:rPr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</a:t>
                      </a:r>
                      <a:r>
                        <a:rPr lang="en-US" sz="1800"/>
                        <a:t> </a:t>
                      </a:r>
                      <a:r>
                        <a:rPr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∨¬</a:t>
                      </a:r>
                      <a:r>
                        <a:rPr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</a:t>
                      </a:r>
                      <a:r>
                        <a:rPr lang="en-US" sz="1800"/>
                        <a:t> 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 Math"/>
                        <a:buNone/>
                      </a:pPr>
                      <a:r>
                        <a:rPr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</a:t>
                      </a:r>
                      <a:r>
                        <a:rPr lang="en-US" sz="1800"/>
                        <a:t> </a:t>
                      </a:r>
                      <a:r>
                        <a:rPr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∧¬</a:t>
                      </a:r>
                      <a:r>
                        <a:rPr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</a:t>
                      </a:r>
                      <a:r>
                        <a:rPr lang="en-US" sz="1800"/>
                        <a:t> 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6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21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01717a13b1_0_245"/>
          <p:cNvSpPr txBox="1"/>
          <p:nvPr>
            <p:ph type="title"/>
          </p:nvPr>
        </p:nvSpPr>
        <p:spPr>
          <a:xfrm>
            <a:off x="457200" y="323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Logical Equivalence: Examples</a:t>
            </a:r>
            <a:endParaRPr/>
          </a:p>
        </p:txBody>
      </p:sp>
      <p:sp>
        <p:nvSpPr>
          <p:cNvPr id="141" name="Google Shape;141;g301717a13b1_0_245"/>
          <p:cNvSpPr txBox="1"/>
          <p:nvPr>
            <p:ph idx="1" type="body"/>
          </p:nvPr>
        </p:nvSpPr>
        <p:spPr>
          <a:xfrm>
            <a:off x="457200" y="16306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2000"/>
              <a:t>Two compound propositions p and q are </a:t>
            </a:r>
            <a:r>
              <a:rPr i="1" lang="en-US" sz="2000"/>
              <a:t>logically equivalent</a:t>
            </a:r>
            <a:r>
              <a:rPr lang="en-US" sz="2000"/>
              <a:t> if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p↔q</a:t>
            </a:r>
            <a:r>
              <a:rPr lang="en-US" sz="2000"/>
              <a:t>  is a tautology.</a:t>
            </a:r>
            <a:endParaRPr/>
          </a:p>
          <a:p>
            <a:pPr indent="-514350" lvl="0" marL="514350" rtl="0" algn="l">
              <a:spcBef>
                <a:spcPts val="400"/>
              </a:spcBef>
              <a:spcAft>
                <a:spcPts val="0"/>
              </a:spcAft>
              <a:buSzPts val="1900"/>
              <a:buChar char="●"/>
            </a:pPr>
            <a:r>
              <a:rPr lang="en-US" sz="2000"/>
              <a:t>We write this as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p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⇔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q</a:t>
            </a:r>
            <a:r>
              <a:rPr lang="en-US" sz="2000"/>
              <a:t>   or as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p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≡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 sz="2000"/>
              <a:t> where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 sz="2000"/>
              <a:t> and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 sz="2000"/>
              <a:t> are compound propositions.</a:t>
            </a:r>
            <a:endParaRPr/>
          </a:p>
          <a:p>
            <a:pPr indent="-514350" lvl="0" marL="514350" rtl="0" algn="l">
              <a:spcBef>
                <a:spcPts val="400"/>
              </a:spcBef>
              <a:spcAft>
                <a:spcPts val="0"/>
              </a:spcAft>
              <a:buSzPts val="1900"/>
              <a:buChar char="●"/>
            </a:pPr>
            <a:r>
              <a:rPr lang="en-US" sz="2000"/>
              <a:t>Two compound propositions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 sz="2000"/>
              <a:t> and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 sz="2000"/>
              <a:t> are equivalent if and only if the columns in a truth table giving their truth values agree.</a:t>
            </a:r>
            <a:endParaRPr/>
          </a:p>
          <a:p>
            <a:pPr indent="-514350" lvl="0" marL="514350" rtl="0" algn="l">
              <a:spcBef>
                <a:spcPts val="400"/>
              </a:spcBef>
              <a:spcAft>
                <a:spcPts val="0"/>
              </a:spcAft>
              <a:buSzPts val="1900"/>
              <a:buChar char="●"/>
            </a:pPr>
            <a:r>
              <a:rPr lang="en-US" sz="2000"/>
              <a:t>This truth table shows that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¬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p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∨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q  </a:t>
            </a:r>
            <a:r>
              <a:rPr lang="en-US" sz="2000"/>
              <a:t>is equivalent to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p → q.</a:t>
            </a:r>
            <a:endParaRPr sz="2000"/>
          </a:p>
        </p:txBody>
      </p:sp>
      <p:graphicFrame>
        <p:nvGraphicFramePr>
          <p:cNvPr id="142" name="Google Shape;142;g301717a13b1_0_245"/>
          <p:cNvGraphicFramePr/>
          <p:nvPr/>
        </p:nvGraphicFramePr>
        <p:xfrm>
          <a:off x="1447800" y="4124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{6E69133B-24DE-4460-8FC3-97C58CF39A11}</a:tableStyleId>
              </a:tblPr>
              <a:tblGrid>
                <a:gridCol w="914400"/>
                <a:gridCol w="914400"/>
                <a:gridCol w="1219200"/>
                <a:gridCol w="1447800"/>
                <a:gridCol w="1752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q</a:t>
                      </a:r>
                      <a:r>
                        <a:rPr lang="en-US" sz="1800"/>
                        <a:t> 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 Math"/>
                        <a:buNone/>
                      </a:pPr>
                      <a:r>
                        <a:rPr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¬</a:t>
                      </a:r>
                      <a:r>
                        <a:rPr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 Math"/>
                        <a:buNone/>
                      </a:pPr>
                      <a:r>
                        <a:rPr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¬</a:t>
                      </a:r>
                      <a:r>
                        <a:rPr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 </a:t>
                      </a:r>
                      <a:r>
                        <a:rPr i="0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∨ </a:t>
                      </a:r>
                      <a:r>
                        <a:rPr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q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 Math"/>
                        <a:buNone/>
                      </a:pPr>
                      <a:r>
                        <a:rPr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p→ q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</a:t>
                      </a:r>
                      <a:endParaRPr b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</a:t>
                      </a:r>
                      <a:endParaRPr b="1"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F</a:t>
                      </a:r>
                      <a:endParaRPr b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F</a:t>
                      </a:r>
                      <a:endParaRPr b="1"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</a:t>
                      </a:r>
                      <a:endParaRPr b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</a:t>
                      </a:r>
                      <a:endParaRPr b="1"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</a:t>
                      </a:r>
                      <a:endParaRPr b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</a:t>
                      </a:r>
                      <a:endParaRPr b="1"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01717a13b1_0_364"/>
          <p:cNvSpPr txBox="1"/>
          <p:nvPr>
            <p:ph type="title"/>
          </p:nvPr>
        </p:nvSpPr>
        <p:spPr>
          <a:xfrm>
            <a:off x="457200" y="521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Example: De Morgan’s Laws</a:t>
            </a:r>
            <a:endParaRPr/>
          </a:p>
        </p:txBody>
      </p:sp>
      <p:pic>
        <p:nvPicPr>
          <p:cNvPr descr="addin_tmp.png" id="148" name="Google Shape;148;g301717a13b1_0_36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1905000"/>
            <a:ext cx="3123300" cy="38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149" name="Google Shape;149;g301717a13b1_0_3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2590800"/>
            <a:ext cx="3123248" cy="38290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0" name="Google Shape;150;g301717a13b1_0_364"/>
          <p:cNvGraphicFramePr/>
          <p:nvPr/>
        </p:nvGraphicFramePr>
        <p:xfrm>
          <a:off x="228600" y="4419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{6E69133B-24DE-4460-8FC3-97C58CF39A11}</a:tableStyleId>
              </a:tblPr>
              <a:tblGrid>
                <a:gridCol w="914400"/>
                <a:gridCol w="914400"/>
                <a:gridCol w="1219200"/>
                <a:gridCol w="990600"/>
                <a:gridCol w="1371600"/>
                <a:gridCol w="1447800"/>
                <a:gridCol w="1752600"/>
              </a:tblGrid>
              <a:tr h="401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</a:t>
                      </a:r>
                      <a:endParaRPr b="0" i="1"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q</a:t>
                      </a:r>
                      <a:endParaRPr b="0" i="1"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 Math"/>
                        <a:buNone/>
                      </a:pPr>
                      <a:r>
                        <a:rPr b="0"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¬p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 Math"/>
                        <a:buNone/>
                      </a:pPr>
                      <a:r>
                        <a:rPr b="0"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¬q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tantia"/>
                        <a:buNone/>
                      </a:pPr>
                      <a:r>
                        <a:rPr b="0" lang="en-US" sz="1800"/>
                        <a:t>(</a:t>
                      </a:r>
                      <a:r>
                        <a:rPr b="0" i="1" lang="en-US" sz="1800"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p</a:t>
                      </a:r>
                      <a:r>
                        <a:rPr b="0" i="0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∨</a:t>
                      </a:r>
                      <a:r>
                        <a:rPr b="0" i="1" lang="en-US" sz="1800"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q</a:t>
                      </a:r>
                      <a:r>
                        <a:rPr b="0" i="0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)</a:t>
                      </a:r>
                      <a:endParaRPr b="0" i="0"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 Math"/>
                        <a:buNone/>
                      </a:pPr>
                      <a:r>
                        <a:rPr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¬</a:t>
                      </a:r>
                      <a:r>
                        <a:rPr lang="en-US" sz="1800"/>
                        <a:t>(</a:t>
                      </a:r>
                      <a:r>
                        <a:rPr i="1" lang="en-US" sz="1800"/>
                        <a:t>p</a:t>
                      </a:r>
                      <a:r>
                        <a:rPr i="0" lang="en-US" sz="1800"/>
                        <a:t>∨</a:t>
                      </a:r>
                      <a:r>
                        <a:rPr i="1" lang="en-US" sz="1800"/>
                        <a:t>q</a:t>
                      </a:r>
                      <a:r>
                        <a:rPr i="0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)</a:t>
                      </a:r>
                      <a:endParaRPr i="0"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 Math"/>
                        <a:buNone/>
                      </a:pPr>
                      <a:r>
                        <a:rPr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¬</a:t>
                      </a:r>
                      <a:r>
                        <a:rPr i="1" lang="en-US" sz="1800"/>
                        <a:t>p</a:t>
                      </a:r>
                      <a:r>
                        <a:rPr i="0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∧¬</a:t>
                      </a:r>
                      <a:r>
                        <a:rPr i="1" lang="en-US" sz="1800"/>
                        <a:t>q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1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F</a:t>
                      </a:r>
                      <a:endParaRPr b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F</a:t>
                      </a:r>
                      <a:endParaRPr b="1" sz="1800"/>
                    </a:p>
                  </a:txBody>
                  <a:tcPr marT="45725" marB="45725" marR="91450" marL="91450"/>
                </a:tc>
              </a:tr>
              <a:tr h="401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F</a:t>
                      </a:r>
                      <a:endParaRPr b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F</a:t>
                      </a:r>
                      <a:endParaRPr b="1" sz="1800"/>
                    </a:p>
                  </a:txBody>
                  <a:tcPr marT="45725" marB="45725" marR="91450" marL="91450"/>
                </a:tc>
              </a:tr>
              <a:tr h="401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F</a:t>
                      </a:r>
                      <a:endParaRPr b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F</a:t>
                      </a:r>
                      <a:endParaRPr b="1" sz="1800"/>
                    </a:p>
                  </a:txBody>
                  <a:tcPr marT="45725" marB="45725" marR="91450" marL="91450"/>
                </a:tc>
              </a:tr>
              <a:tr h="401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</a:t>
                      </a:r>
                      <a:endParaRPr b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</a:t>
                      </a:r>
                      <a:endParaRPr b="1"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51" name="Google Shape;151;g301717a13b1_0_364"/>
          <p:cNvSpPr txBox="1"/>
          <p:nvPr/>
        </p:nvSpPr>
        <p:spPr>
          <a:xfrm>
            <a:off x="457200" y="3581400"/>
            <a:ext cx="723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This truth table shows that De Morgan’s Second Law holds.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descr="0106.jpg" id="152" name="Google Shape;152;g301717a13b1_0_3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85450" y="3124200"/>
            <a:ext cx="874014" cy="102108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01717a13b1_0_364"/>
          <p:cNvSpPr txBox="1"/>
          <p:nvPr/>
        </p:nvSpPr>
        <p:spPr>
          <a:xfrm>
            <a:off x="6324600" y="2209800"/>
            <a:ext cx="243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Augustus De Morgan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54" name="Google Shape;154;g301717a13b1_0_364"/>
          <p:cNvSpPr txBox="1"/>
          <p:nvPr/>
        </p:nvSpPr>
        <p:spPr>
          <a:xfrm>
            <a:off x="6934200" y="266700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1806-1871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01717a13b1_0_488"/>
          <p:cNvSpPr txBox="1"/>
          <p:nvPr>
            <p:ph type="title"/>
          </p:nvPr>
        </p:nvSpPr>
        <p:spPr>
          <a:xfrm>
            <a:off x="457200" y="-117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Example: Distributive Laws</a:t>
            </a:r>
            <a:endParaRPr/>
          </a:p>
        </p:txBody>
      </p:sp>
      <p:graphicFrame>
        <p:nvGraphicFramePr>
          <p:cNvPr id="160" name="Google Shape;160;g301717a13b1_0_488"/>
          <p:cNvGraphicFramePr/>
          <p:nvPr/>
        </p:nvGraphicFramePr>
        <p:xfrm>
          <a:off x="304800" y="2971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{6E69133B-24DE-4460-8FC3-97C58CF39A11}</a:tableStyleId>
              </a:tblPr>
              <a:tblGrid>
                <a:gridCol w="534650"/>
                <a:gridCol w="534675"/>
                <a:gridCol w="652825"/>
                <a:gridCol w="1018150"/>
                <a:gridCol w="1364750"/>
                <a:gridCol w="1172950"/>
                <a:gridCol w="1051000"/>
                <a:gridCol w="2281575"/>
              </a:tblGrid>
              <a:tr h="401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</a:t>
                      </a:r>
                      <a:endParaRPr b="0" i="1"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q</a:t>
                      </a:r>
                      <a:endParaRPr b="0" i="1"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 Math"/>
                        <a:buNone/>
                      </a:pPr>
                      <a:r>
                        <a:rPr b="0"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 Math"/>
                        <a:buNone/>
                      </a:pPr>
                      <a:r>
                        <a:rPr b="0"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q </a:t>
                      </a:r>
                      <a:r>
                        <a:rPr b="0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∧ </a:t>
                      </a:r>
                      <a:r>
                        <a:rPr b="0"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tantia"/>
                        <a:buNone/>
                      </a:pPr>
                      <a:r>
                        <a:rPr i="1" lang="en-US" sz="1800"/>
                        <a:t>p </a:t>
                      </a:r>
                      <a:r>
                        <a:rPr i="0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∨ </a:t>
                      </a:r>
                      <a:r>
                        <a:rPr i="1" lang="en-US" sz="1800"/>
                        <a:t>(</a:t>
                      </a:r>
                      <a:r>
                        <a:rPr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q </a:t>
                      </a:r>
                      <a:r>
                        <a:rPr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∧ </a:t>
                      </a:r>
                      <a:r>
                        <a:rPr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r</a:t>
                      </a:r>
                      <a:r>
                        <a:rPr i="1" lang="en-US" sz="1800"/>
                        <a:t>)</a:t>
                      </a:r>
                      <a:endParaRPr i="0"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 Math"/>
                        <a:buNone/>
                      </a:pPr>
                      <a:r>
                        <a:rPr b="0" i="1" lang="en-US" sz="1800"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p </a:t>
                      </a:r>
                      <a:r>
                        <a:rPr b="0" i="0" lang="en-US" sz="1800"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∨ </a:t>
                      </a:r>
                      <a:r>
                        <a:rPr b="0" i="1" lang="en-US" sz="1800"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q</a:t>
                      </a:r>
                      <a:endParaRPr b="0" i="0"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 Math"/>
                        <a:buNone/>
                      </a:pPr>
                      <a:r>
                        <a:rPr b="0" i="1" lang="en-US" sz="1800"/>
                        <a:t>p </a:t>
                      </a:r>
                      <a:r>
                        <a:rPr b="0" lang="en-US" sz="1800"/>
                        <a:t>∨ </a:t>
                      </a:r>
                      <a:r>
                        <a:rPr b="0" i="1" lang="en-US" sz="1800"/>
                        <a:t>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 Math"/>
                        <a:buNone/>
                      </a:pPr>
                      <a:r>
                        <a:rPr i="1" lang="en-US" sz="1800"/>
                        <a:t>(</a:t>
                      </a:r>
                      <a:r>
                        <a:rPr i="1" lang="en-US" sz="1800"/>
                        <a:t>p </a:t>
                      </a:r>
                      <a:r>
                        <a:rPr lang="en-US" sz="1800"/>
                        <a:t>∨ </a:t>
                      </a:r>
                      <a:r>
                        <a:rPr i="1" lang="en-US" sz="1800"/>
                        <a:t>q) </a:t>
                      </a:r>
                      <a:r>
                        <a:rPr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∧</a:t>
                      </a:r>
                      <a:r>
                        <a:rPr i="1" lang="en-US" sz="1800"/>
                        <a:t> (p </a:t>
                      </a:r>
                      <a:r>
                        <a:rPr lang="en-US" sz="1800"/>
                        <a:t>∨ </a:t>
                      </a:r>
                      <a:r>
                        <a:rPr i="1" lang="en-US" sz="1800"/>
                        <a:t>r)</a:t>
                      </a:r>
                      <a:endParaRPr i="1"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/>
                </a:tc>
              </a:tr>
              <a:tr h="401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</a:t>
                      </a:r>
                      <a:endParaRPr b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</a:t>
                      </a:r>
                      <a:endParaRPr b="1" sz="1800"/>
                    </a:p>
                  </a:txBody>
                  <a:tcPr marT="45725" marB="45725" marR="91450" marL="91450"/>
                </a:tc>
              </a:tr>
              <a:tr h="401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</a:t>
                      </a:r>
                      <a:endParaRPr b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</a:t>
                      </a:r>
                      <a:endParaRPr b="1" sz="1800"/>
                    </a:p>
                  </a:txBody>
                  <a:tcPr marT="45725" marB="45725" marR="91450" marL="91450"/>
                </a:tc>
              </a:tr>
              <a:tr h="401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</a:t>
                      </a:r>
                      <a:endParaRPr b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</a:t>
                      </a:r>
                      <a:endParaRPr b="1" sz="1800"/>
                    </a:p>
                  </a:txBody>
                  <a:tcPr marT="45725" marB="45725" marR="91450" marL="91450"/>
                </a:tc>
              </a:tr>
              <a:tr h="401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</a:t>
                      </a:r>
                      <a:endParaRPr b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</a:t>
                      </a:r>
                      <a:endParaRPr b="1" sz="1800"/>
                    </a:p>
                  </a:txBody>
                  <a:tcPr marT="45725" marB="45725" marR="91450" marL="91450"/>
                </a:tc>
              </a:tr>
              <a:tr h="401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</a:t>
                      </a:r>
                      <a:endParaRPr b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</a:t>
                      </a:r>
                      <a:endParaRPr b="1" sz="1800"/>
                    </a:p>
                  </a:txBody>
                  <a:tcPr marT="45725" marB="45725" marR="91450" marL="91450"/>
                </a:tc>
              </a:tr>
              <a:tr h="401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F</a:t>
                      </a:r>
                      <a:endParaRPr b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F</a:t>
                      </a:r>
                      <a:endParaRPr b="1" sz="1800"/>
                    </a:p>
                  </a:txBody>
                  <a:tcPr marT="45725" marB="45725" marR="91450" marL="91450"/>
                </a:tc>
              </a:tr>
              <a:tr h="401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F</a:t>
                      </a:r>
                      <a:endParaRPr b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F</a:t>
                      </a:r>
                      <a:endParaRPr b="1" sz="1800"/>
                    </a:p>
                  </a:txBody>
                  <a:tcPr marT="45725" marB="45725" marR="91450" marL="91450"/>
                </a:tc>
              </a:tr>
              <a:tr h="401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F</a:t>
                      </a:r>
                      <a:endParaRPr b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F</a:t>
                      </a:r>
                      <a:endParaRPr b="1"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61" name="Google Shape;161;g301717a13b1_0_488"/>
          <p:cNvSpPr txBox="1"/>
          <p:nvPr/>
        </p:nvSpPr>
        <p:spPr>
          <a:xfrm>
            <a:off x="523200" y="2377625"/>
            <a:ext cx="839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This truth table shows that distributive law of disjunction over conjunction holds.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162" name="Google Shape;162;g301717a13b1_0_4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9325" y="1025063"/>
            <a:ext cx="4629150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Predicates and Quantifiers</a:t>
            </a:r>
            <a:endParaRPr/>
          </a:p>
        </p:txBody>
      </p:sp>
      <p:sp>
        <p:nvSpPr>
          <p:cNvPr id="168" name="Google Shape;168;p3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/>
              <a:t>Section 1.4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Section Summary</a:t>
            </a:r>
            <a:endParaRPr/>
          </a:p>
        </p:txBody>
      </p:sp>
      <p:sp>
        <p:nvSpPr>
          <p:cNvPr id="174" name="Google Shape;174;p4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Predicates 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Variables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Quantifiers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Universal Quantifier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Existential Quantifier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Negating Quantifiers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De Morgan’s Laws for Quantifiers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Translating English to Logic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Introducing Predicate Logic</a:t>
            </a:r>
            <a:endParaRPr/>
          </a:p>
        </p:txBody>
      </p:sp>
      <p:sp>
        <p:nvSpPr>
          <p:cNvPr id="180" name="Google Shape;180;p6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Predicate logic uses the following new features: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Variables:   </a:t>
            </a:r>
            <a:r>
              <a:rPr i="1" lang="en-US"/>
              <a:t>x</a:t>
            </a:r>
            <a:r>
              <a:rPr lang="en-US"/>
              <a:t>, </a:t>
            </a:r>
            <a:r>
              <a:rPr i="1" lang="en-US"/>
              <a:t>y</a:t>
            </a:r>
            <a:r>
              <a:rPr lang="en-US"/>
              <a:t>, </a:t>
            </a:r>
            <a:r>
              <a:rPr i="1" lang="en-US"/>
              <a:t>z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Predicates:</a:t>
            </a:r>
            <a:r>
              <a:rPr i="1" lang="en-US"/>
              <a:t>  </a:t>
            </a:r>
            <a:r>
              <a:rPr lang="en-US"/>
              <a:t> </a:t>
            </a:r>
            <a:r>
              <a:rPr i="1" lang="en-US"/>
              <a:t>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), </a:t>
            </a:r>
            <a:r>
              <a:rPr i="1" lang="en-US"/>
              <a:t>M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Quantifiers (</a:t>
            </a:r>
            <a:r>
              <a:rPr i="1" lang="en-US"/>
              <a:t>to be covered in a few slides</a:t>
            </a:r>
            <a:r>
              <a:rPr lang="en-US"/>
              <a:t>):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i="1" lang="en-US"/>
              <a:t>Propositional functions</a:t>
            </a:r>
            <a:r>
              <a:rPr lang="en-US"/>
              <a:t> are a generalization of propositions. 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They contain </a:t>
            </a:r>
            <a:r>
              <a:rPr lang="en-US" u="sng"/>
              <a:t>variables</a:t>
            </a:r>
            <a:r>
              <a:rPr lang="en-US"/>
              <a:t> and a </a:t>
            </a:r>
            <a:r>
              <a:rPr lang="en-US" u="sng"/>
              <a:t>predicate</a:t>
            </a:r>
            <a:r>
              <a:rPr lang="en-US"/>
              <a:t>, e.g., </a:t>
            </a:r>
            <a:r>
              <a:rPr i="1" lang="en-US"/>
              <a:t>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Variables can be replaced by elements from their </a:t>
            </a:r>
            <a:r>
              <a:rPr b="1" i="1" lang="en-US"/>
              <a:t>domain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Propositional Functions</a:t>
            </a:r>
            <a:endParaRPr/>
          </a:p>
        </p:txBody>
      </p:sp>
      <p:sp>
        <p:nvSpPr>
          <p:cNvPr id="186" name="Google Shape;186;p7"/>
          <p:cNvSpPr txBox="1"/>
          <p:nvPr>
            <p:ph idx="1" type="body"/>
          </p:nvPr>
        </p:nvSpPr>
        <p:spPr>
          <a:xfrm>
            <a:off x="457200" y="1935475"/>
            <a:ext cx="8229600" cy="45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6082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Propositional functions become propositions (and have truth values) when their variables are each replaced by a value from the </a:t>
            </a:r>
            <a:r>
              <a:rPr i="1" lang="en-US"/>
              <a:t>domain </a:t>
            </a:r>
            <a:r>
              <a:rPr lang="en-US" sz="2400"/>
              <a:t>(or </a:t>
            </a:r>
            <a:r>
              <a:rPr i="1" lang="en-US" sz="2400"/>
              <a:t>bound</a:t>
            </a:r>
            <a:r>
              <a:rPr lang="en-US" sz="2400"/>
              <a:t> by a quantifier, as we will see later)</a:t>
            </a:r>
            <a:r>
              <a:rPr lang="en-US"/>
              <a:t>.</a:t>
            </a:r>
            <a:endParaRPr/>
          </a:p>
          <a:p>
            <a:pPr indent="-286083" lvl="0" marL="274320" rtl="0" algn="l">
              <a:spcBef>
                <a:spcPts val="481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For example, let</a:t>
            </a:r>
            <a:r>
              <a:rPr i="1" lang="en-US"/>
              <a:t> P(x)</a:t>
            </a:r>
            <a:r>
              <a:rPr lang="en-US"/>
              <a:t> denote  “</a:t>
            </a:r>
            <a:r>
              <a:rPr i="1" lang="en-US"/>
              <a:t>x</a:t>
            </a:r>
            <a:r>
              <a:rPr lang="en-US"/>
              <a:t> &gt;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0”</a:t>
            </a:r>
            <a:r>
              <a:rPr lang="en-US"/>
              <a:t> and the domain be the integers. Then:</a:t>
            </a:r>
            <a:endParaRPr/>
          </a:p>
          <a:p>
            <a:pPr indent="-246888" lvl="1" marL="640080" rtl="0" algn="l">
              <a:spcBef>
                <a:spcPts val="0"/>
              </a:spcBef>
              <a:spcAft>
                <a:spcPts val="0"/>
              </a:spcAft>
              <a:buSzPts val="1530"/>
              <a:buChar char="○"/>
            </a:pPr>
            <a:r>
              <a:rPr lang="en-US"/>
              <a:t>P(-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)   is false.</a:t>
            </a:r>
            <a:endParaRPr/>
          </a:p>
          <a:p>
            <a:pPr indent="-246888" lvl="1" marL="640080" rtl="0" algn="l">
              <a:spcBef>
                <a:spcPts val="0"/>
              </a:spcBef>
              <a:spcAft>
                <a:spcPts val="0"/>
              </a:spcAft>
              <a:buSzPts val="1530"/>
              <a:buChar char="○"/>
            </a:pPr>
            <a:r>
              <a:rPr lang="en-US"/>
              <a:t>P(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/>
              <a:t>)   is false.</a:t>
            </a:r>
            <a:endParaRPr/>
          </a:p>
          <a:p>
            <a:pPr indent="-246888" lvl="1" marL="640080" rtl="0" algn="l">
              <a:spcBef>
                <a:spcPts val="0"/>
              </a:spcBef>
              <a:spcAft>
                <a:spcPts val="0"/>
              </a:spcAft>
              <a:buSzPts val="1530"/>
              <a:buChar char="○"/>
            </a:pPr>
            <a:r>
              <a:rPr lang="en-US"/>
              <a:t>P(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)  is true. </a:t>
            </a:r>
            <a:endParaRPr/>
          </a:p>
          <a:p>
            <a:pPr indent="-286082" lvl="0" marL="274320" rtl="0" algn="l">
              <a:spcBef>
                <a:spcPts val="481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Often the domain is denoted by </a:t>
            </a:r>
            <a:r>
              <a:rPr i="1" lang="en-US"/>
              <a:t>U</a:t>
            </a:r>
            <a:r>
              <a:rPr lang="en-US"/>
              <a:t>. So in this example </a:t>
            </a:r>
            <a:r>
              <a:rPr i="1" lang="en-US"/>
              <a:t>U</a:t>
            </a:r>
            <a:r>
              <a:rPr lang="en-US"/>
              <a:t> is the integers.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Examples of Propositional Functions</a:t>
            </a:r>
            <a:endParaRPr/>
          </a:p>
        </p:txBody>
      </p:sp>
      <p:sp>
        <p:nvSpPr>
          <p:cNvPr id="192" name="Google Shape;192;p8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0961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Let “</a:t>
            </a:r>
            <a:r>
              <a:rPr i="1" lang="en-US"/>
              <a:t>x</a:t>
            </a:r>
            <a:r>
              <a:rPr lang="en-US"/>
              <a:t> + </a:t>
            </a:r>
            <a:r>
              <a:rPr i="1" lang="en-US"/>
              <a:t>y</a:t>
            </a:r>
            <a:r>
              <a:rPr lang="en-US"/>
              <a:t> = </a:t>
            </a:r>
            <a:r>
              <a:rPr i="1" lang="en-US"/>
              <a:t>z” </a:t>
            </a:r>
            <a:r>
              <a:rPr lang="en-US"/>
              <a:t>be denoted by  </a:t>
            </a:r>
            <a:r>
              <a:rPr i="1" lang="en-US"/>
              <a:t>R</a:t>
            </a:r>
            <a:r>
              <a:rPr lang="en-US"/>
              <a:t>(</a:t>
            </a:r>
            <a:r>
              <a:rPr i="1" lang="en-US"/>
              <a:t>x, y, z</a:t>
            </a:r>
            <a:r>
              <a:rPr lang="en-US"/>
              <a:t>)</a:t>
            </a:r>
            <a:r>
              <a:rPr i="1" lang="en-US"/>
              <a:t> </a:t>
            </a:r>
            <a:r>
              <a:rPr lang="en-US"/>
              <a:t>and </a:t>
            </a:r>
            <a:r>
              <a:rPr i="1" lang="en-US"/>
              <a:t>U</a:t>
            </a:r>
            <a:r>
              <a:rPr lang="en-US"/>
              <a:t> (for all three variables) be the integers. </a:t>
            </a:r>
            <a:endParaRPr/>
          </a:p>
          <a:p>
            <a:pPr indent="0" lvl="0" marL="27432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Find these truth values:</a:t>
            </a:r>
            <a:r>
              <a:rPr i="1" lang="en-US"/>
              <a:t> </a:t>
            </a:r>
            <a:endParaRPr/>
          </a:p>
          <a:p>
            <a:pPr indent="-246888" lvl="1" marL="640080" rtl="0" algn="l">
              <a:spcBef>
                <a:spcPts val="372"/>
              </a:spcBef>
              <a:spcAft>
                <a:spcPts val="0"/>
              </a:spcAft>
              <a:buSzPts val="2040"/>
              <a:buNone/>
            </a:pPr>
            <a:r>
              <a:rPr lang="en-US"/>
              <a:t>R(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2,-1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/>
              <a:t>)        </a:t>
            </a:r>
            <a:r>
              <a:rPr b="1" lang="en-US"/>
              <a:t>Solution:  F</a:t>
            </a:r>
            <a:endParaRPr/>
          </a:p>
          <a:p>
            <a:pPr indent="-246888" lvl="1" marL="640080" rtl="0" algn="l">
              <a:spcBef>
                <a:spcPts val="372"/>
              </a:spcBef>
              <a:spcAft>
                <a:spcPts val="0"/>
              </a:spcAft>
              <a:buSzPts val="2040"/>
              <a:buNone/>
            </a:pPr>
            <a:r>
              <a:rPr lang="en-US"/>
              <a:t>R(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3,4,7</a:t>
            </a:r>
            <a:r>
              <a:rPr lang="en-US"/>
              <a:t>)         </a:t>
            </a:r>
            <a:r>
              <a:rPr b="1" lang="en-US"/>
              <a:t>Solution: T</a:t>
            </a:r>
            <a:endParaRPr/>
          </a:p>
          <a:p>
            <a:pPr indent="-246888" lvl="1" marL="640080" rtl="0" algn="l">
              <a:spcBef>
                <a:spcPts val="372"/>
              </a:spcBef>
              <a:spcAft>
                <a:spcPts val="0"/>
              </a:spcAft>
              <a:buSzPts val="2040"/>
              <a:buNone/>
            </a:pPr>
            <a:r>
              <a:rPr lang="en-US"/>
              <a:t>R(</a:t>
            </a:r>
            <a:r>
              <a:rPr i="1" lang="en-US"/>
              <a:t>x</a:t>
            </a:r>
            <a:r>
              <a:rPr lang="en-US"/>
              <a:t>,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, </a:t>
            </a:r>
            <a:r>
              <a:rPr i="1" lang="en-US"/>
              <a:t>z</a:t>
            </a:r>
            <a:r>
              <a:rPr lang="en-US"/>
              <a:t>)       </a:t>
            </a:r>
            <a:r>
              <a:rPr b="1" lang="en-US"/>
              <a:t>Solution: Not a Proposition</a:t>
            </a:r>
            <a:endParaRPr b="1"/>
          </a:p>
          <a:p>
            <a:pPr indent="-246888" lvl="1" marL="640080" rtl="0" algn="l">
              <a:spcBef>
                <a:spcPts val="372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b="1"/>
          </a:p>
          <a:p>
            <a:pPr indent="-309610" lvl="0" marL="274320" rtl="0" algn="l">
              <a:spcBef>
                <a:spcPts val="403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Now let  “</a:t>
            </a:r>
            <a:r>
              <a:rPr i="1" lang="en-US"/>
              <a:t>x</a:t>
            </a:r>
            <a:r>
              <a:rPr lang="en-US"/>
              <a:t> - </a:t>
            </a:r>
            <a:r>
              <a:rPr i="1" lang="en-US"/>
              <a:t>y</a:t>
            </a:r>
            <a:r>
              <a:rPr lang="en-US"/>
              <a:t> = </a:t>
            </a:r>
            <a:r>
              <a:rPr i="1" lang="en-US"/>
              <a:t>z” </a:t>
            </a:r>
            <a:r>
              <a:rPr lang="en-US"/>
              <a:t>be denoted by </a:t>
            </a:r>
            <a:r>
              <a:rPr i="1" lang="en-US"/>
              <a:t>Q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, </a:t>
            </a:r>
            <a:r>
              <a:rPr i="1" lang="en-US"/>
              <a:t>y</a:t>
            </a:r>
            <a:r>
              <a:rPr lang="en-US"/>
              <a:t>, </a:t>
            </a:r>
            <a:r>
              <a:rPr i="1" lang="en-US"/>
              <a:t>z</a:t>
            </a:r>
            <a:r>
              <a:rPr lang="en-US"/>
              <a:t>), with U as the integers.</a:t>
            </a:r>
            <a:r>
              <a:rPr i="1" lang="en-US"/>
              <a:t> </a:t>
            </a:r>
            <a:r>
              <a:rPr lang="en-US"/>
              <a:t>Find</a:t>
            </a:r>
            <a:r>
              <a:rPr b="1" lang="en-US"/>
              <a:t> </a:t>
            </a:r>
            <a:r>
              <a:rPr lang="en-US"/>
              <a:t>these truth values:</a:t>
            </a:r>
            <a:endParaRPr/>
          </a:p>
          <a:p>
            <a:pPr indent="0" lvl="0" marL="274320" rtl="0" algn="l">
              <a:spcBef>
                <a:spcPts val="372"/>
              </a:spcBef>
              <a:spcAft>
                <a:spcPts val="0"/>
              </a:spcAft>
              <a:buNone/>
            </a:pPr>
            <a:r>
              <a:rPr lang="en-US"/>
              <a:t>Q(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2,-1,3</a:t>
            </a:r>
            <a:r>
              <a:rPr lang="en-US"/>
              <a:t>)      </a:t>
            </a:r>
            <a:r>
              <a:rPr b="1" lang="en-US"/>
              <a:t>Solution:  T</a:t>
            </a:r>
            <a:endParaRPr/>
          </a:p>
          <a:p>
            <a:pPr indent="0" lvl="0" marL="274320" rtl="0" algn="l">
              <a:spcBef>
                <a:spcPts val="372"/>
              </a:spcBef>
              <a:spcAft>
                <a:spcPts val="0"/>
              </a:spcAft>
              <a:buNone/>
            </a:pPr>
            <a:r>
              <a:rPr lang="en-US"/>
              <a:t>Q(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3,4,7</a:t>
            </a:r>
            <a:r>
              <a:rPr lang="en-US"/>
              <a:t>)       </a:t>
            </a:r>
            <a:r>
              <a:rPr b="1" lang="en-US"/>
              <a:t>Solution: F</a:t>
            </a:r>
            <a:endParaRPr/>
          </a:p>
          <a:p>
            <a:pPr indent="0" lvl="0" marL="274320" rtl="0" algn="l">
              <a:spcBef>
                <a:spcPts val="372"/>
              </a:spcBef>
              <a:spcAft>
                <a:spcPts val="0"/>
              </a:spcAft>
              <a:buNone/>
            </a:pPr>
            <a:r>
              <a:rPr lang="en-US"/>
              <a:t>Q(</a:t>
            </a:r>
            <a:r>
              <a:rPr i="1" lang="en-US"/>
              <a:t>x</a:t>
            </a:r>
            <a:r>
              <a:rPr lang="en-US"/>
              <a:t>,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, </a:t>
            </a:r>
            <a:r>
              <a:rPr i="1" lang="en-US"/>
              <a:t>z</a:t>
            </a:r>
            <a:r>
              <a:rPr lang="en-US"/>
              <a:t>)    </a:t>
            </a:r>
            <a:r>
              <a:rPr b="1" lang="en-US"/>
              <a:t>Solution:  Not a Proposition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Compound Expressions</a:t>
            </a:r>
            <a:endParaRPr/>
          </a:p>
        </p:txBody>
      </p:sp>
      <p:sp>
        <p:nvSpPr>
          <p:cNvPr id="198" name="Google Shape;198;p9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97846" lvl="0" marL="274320" rtl="0" algn="l">
              <a:spcBef>
                <a:spcPts val="442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If </a:t>
            </a:r>
            <a:r>
              <a:rPr i="1" lang="en-US"/>
              <a:t>P(x)</a:t>
            </a:r>
            <a:r>
              <a:rPr lang="en-US"/>
              <a:t> denotes  “</a:t>
            </a:r>
            <a:r>
              <a:rPr i="1" lang="en-US"/>
              <a:t>x</a:t>
            </a:r>
            <a:r>
              <a:rPr lang="en-US"/>
              <a:t> &gt;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0,”</a:t>
            </a:r>
            <a:r>
              <a:rPr lang="en-US"/>
              <a:t> find these truth values:</a:t>
            </a:r>
            <a:endParaRPr/>
          </a:p>
          <a:p>
            <a:pPr indent="-246888" lvl="1" marL="640080" rtl="0" algn="l">
              <a:spcBef>
                <a:spcPts val="408"/>
              </a:spcBef>
              <a:spcAft>
                <a:spcPts val="0"/>
              </a:spcAft>
              <a:buSzPts val="2040"/>
              <a:buNone/>
            </a:pPr>
            <a:r>
              <a:rPr lang="en-US"/>
              <a:t>P(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)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∨ P(-1)        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Solution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T</a:t>
            </a:r>
            <a:endParaRPr/>
          </a:p>
          <a:p>
            <a:pPr indent="-246888" lvl="1" marL="640080" rtl="0" algn="l">
              <a:spcBef>
                <a:spcPts val="408"/>
              </a:spcBef>
              <a:spcAft>
                <a:spcPts val="0"/>
              </a:spcAft>
              <a:buSzPts val="2040"/>
              <a:buNone/>
            </a:pPr>
            <a:r>
              <a:rPr lang="en-US"/>
              <a:t>P(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)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∧ P(-1)        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Solution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F</a:t>
            </a:r>
            <a:endParaRPr/>
          </a:p>
          <a:p>
            <a:pPr indent="-246888" lvl="1" marL="640080" rtl="0" algn="l">
              <a:spcBef>
                <a:spcPts val="408"/>
              </a:spcBef>
              <a:spcAft>
                <a:spcPts val="0"/>
              </a:spcAft>
              <a:buSzPts val="2040"/>
              <a:buNone/>
            </a:pPr>
            <a:r>
              <a:rPr lang="en-US"/>
              <a:t>P(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)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→ P(-1)       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Solution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F</a:t>
            </a:r>
            <a:endParaRPr/>
          </a:p>
          <a:p>
            <a:pPr indent="-246888" lvl="1" marL="640080" rtl="0" algn="l">
              <a:spcBef>
                <a:spcPts val="408"/>
              </a:spcBef>
              <a:spcAft>
                <a:spcPts val="0"/>
              </a:spcAft>
              <a:buSzPts val="2040"/>
              <a:buNone/>
            </a:pPr>
            <a:r>
              <a:rPr lang="en-US"/>
              <a:t>P(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)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→ ¬P(-1)    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Solution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T</a:t>
            </a:r>
            <a:endParaRPr/>
          </a:p>
          <a:p>
            <a:pPr indent="-297846" lvl="0" marL="274320" rtl="0" algn="l">
              <a:spcBef>
                <a:spcPts val="442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Expressions with variables are not propositions and therefore do not have truth values.  For example,</a:t>
            </a:r>
            <a:endParaRPr/>
          </a:p>
          <a:p>
            <a:pPr indent="-246888" lvl="1" marL="640080" rtl="0" algn="l">
              <a:spcBef>
                <a:spcPts val="408"/>
              </a:spcBef>
              <a:spcAft>
                <a:spcPts val="0"/>
              </a:spcAft>
              <a:buSzPts val="2040"/>
              <a:buNone/>
            </a:pPr>
            <a:r>
              <a:rPr lang="en-US"/>
              <a:t>P(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)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∧ P(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y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      </a:t>
            </a:r>
            <a:endParaRPr/>
          </a:p>
          <a:p>
            <a:pPr indent="-246888" lvl="1" marL="640080" rtl="0" algn="l">
              <a:spcBef>
                <a:spcPts val="408"/>
              </a:spcBef>
              <a:spcAft>
                <a:spcPts val="0"/>
              </a:spcAft>
              <a:buSzPts val="2040"/>
              <a:buNone/>
            </a:pPr>
            <a:r>
              <a:rPr lang="en-US"/>
              <a:t>P(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/>
              <a:t>)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→ P(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y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     </a:t>
            </a:r>
            <a:endParaRPr/>
          </a:p>
          <a:p>
            <a:pPr indent="-297846" lvl="0" marL="274320" rtl="0" algn="l">
              <a:spcBef>
                <a:spcPts val="442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When used with quantifiers (to be introduced next), these expressions (propositional functions) become propositions.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Quantifiers</a:t>
            </a:r>
            <a:endParaRPr/>
          </a:p>
        </p:txBody>
      </p:sp>
      <p:sp>
        <p:nvSpPr>
          <p:cNvPr id="204" name="Google Shape;204;p10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We need </a:t>
            </a:r>
            <a:r>
              <a:rPr i="1" lang="en-US"/>
              <a:t>quantifiers</a:t>
            </a:r>
            <a:r>
              <a:rPr lang="en-US"/>
              <a:t> to express the meaning of English words including </a:t>
            </a:r>
            <a:r>
              <a:rPr i="1" lang="en-US"/>
              <a:t>all</a:t>
            </a:r>
            <a:r>
              <a:rPr lang="en-US"/>
              <a:t> and </a:t>
            </a:r>
            <a:r>
              <a:rPr i="1" lang="en-US"/>
              <a:t>some</a:t>
            </a:r>
            <a:r>
              <a:rPr lang="en-US"/>
              <a:t>:</a:t>
            </a:r>
            <a:endParaRPr/>
          </a:p>
          <a:p>
            <a:pPr indent="-246888" lvl="1" marL="640080" rtl="0" algn="l">
              <a:spcBef>
                <a:spcPts val="444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“All men are Mortal.”</a:t>
            </a:r>
            <a:endParaRPr/>
          </a:p>
          <a:p>
            <a:pPr indent="-246888" lvl="1" marL="640080" rtl="0" algn="l">
              <a:spcBef>
                <a:spcPts val="444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“Some cats do not have fur.”</a:t>
            </a:r>
            <a:endParaRPr/>
          </a:p>
          <a:p>
            <a:pPr indent="-274320" lvl="0" marL="274320" rtl="0" algn="l">
              <a:spcBef>
                <a:spcPts val="481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The two most important quantifiers are:</a:t>
            </a:r>
            <a:endParaRPr/>
          </a:p>
          <a:p>
            <a:pPr indent="-246888" lvl="1" marL="640080" rtl="0" algn="l">
              <a:spcBef>
                <a:spcPts val="518"/>
              </a:spcBef>
              <a:spcAft>
                <a:spcPts val="0"/>
              </a:spcAft>
              <a:buSzPct val="85000"/>
              <a:buChar char="○"/>
            </a:pPr>
            <a:r>
              <a:rPr i="1" lang="en-US"/>
              <a:t>Universal Quantifier, </a:t>
            </a:r>
            <a:r>
              <a:rPr b="1" lang="en-US"/>
              <a:t>“</a:t>
            </a:r>
            <a:r>
              <a:rPr lang="en-US"/>
              <a:t>For all,”   symbol: </a:t>
            </a:r>
            <a:r>
              <a:rPr b="1" lang="en-US" sz="2800"/>
              <a:t>∀</a:t>
            </a:r>
            <a:endParaRPr/>
          </a:p>
          <a:p>
            <a:pPr indent="-246888" lvl="1" marL="640080" rtl="0" algn="l">
              <a:spcBef>
                <a:spcPts val="518"/>
              </a:spcBef>
              <a:spcAft>
                <a:spcPts val="0"/>
              </a:spcAft>
              <a:buSzPct val="85000"/>
              <a:buChar char="○"/>
            </a:pPr>
            <a:r>
              <a:rPr i="1" lang="en-US"/>
              <a:t>Existential Quantifier</a:t>
            </a:r>
            <a:r>
              <a:rPr lang="en-US"/>
              <a:t>, “There exists,”  symbol: </a:t>
            </a:r>
            <a:r>
              <a:rPr b="1" lang="en-US" sz="2800"/>
              <a:t>∃</a:t>
            </a:r>
            <a:endParaRPr/>
          </a:p>
          <a:p>
            <a:pPr indent="-274320" lvl="0" marL="274320" rtl="0" algn="l">
              <a:spcBef>
                <a:spcPts val="481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We write as in ∀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and ∃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).</a:t>
            </a:r>
            <a:endParaRPr/>
          </a:p>
          <a:p>
            <a:pPr indent="-274320" lvl="0" marL="274320" rtl="0" algn="l">
              <a:spcBef>
                <a:spcPts val="481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∀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means </a:t>
            </a:r>
            <a:r>
              <a:rPr i="1" lang="en-US"/>
              <a:t>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is true for </a:t>
            </a:r>
            <a:r>
              <a:rPr lang="en-US" u="sng"/>
              <a:t>every</a:t>
            </a:r>
            <a:r>
              <a:rPr lang="en-US"/>
              <a:t> </a:t>
            </a:r>
            <a:r>
              <a:rPr i="1" lang="en-US"/>
              <a:t>x</a:t>
            </a:r>
            <a:r>
              <a:rPr lang="en-US"/>
              <a:t> in the </a:t>
            </a:r>
            <a:r>
              <a:rPr i="1" lang="en-US"/>
              <a:t>domain</a:t>
            </a:r>
            <a:r>
              <a:rPr lang="en-US"/>
              <a:t>.</a:t>
            </a:r>
            <a:endParaRPr/>
          </a:p>
          <a:p>
            <a:pPr indent="-274320" lvl="0" marL="274320" rtl="0" algn="l">
              <a:spcBef>
                <a:spcPts val="481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∃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means </a:t>
            </a:r>
            <a:r>
              <a:rPr i="1" lang="en-US"/>
              <a:t>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is true for </a:t>
            </a:r>
            <a:r>
              <a:rPr lang="en-US" u="sng"/>
              <a:t>some</a:t>
            </a:r>
            <a:r>
              <a:rPr lang="en-US"/>
              <a:t> </a:t>
            </a:r>
            <a:r>
              <a:rPr i="1" lang="en-US"/>
              <a:t>x</a:t>
            </a:r>
            <a:r>
              <a:rPr lang="en-US"/>
              <a:t> in the </a:t>
            </a:r>
            <a:r>
              <a:rPr i="1" lang="en-US"/>
              <a:t>domain</a:t>
            </a:r>
            <a:r>
              <a:rPr lang="en-US"/>
              <a:t>.</a:t>
            </a:r>
            <a:endParaRPr/>
          </a:p>
          <a:p>
            <a:pPr indent="-274319" lvl="0" marL="274320" rtl="0" algn="l">
              <a:spcBef>
                <a:spcPts val="481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The quantifiers are said to bind the variable </a:t>
            </a:r>
            <a:r>
              <a:rPr i="1" lang="en-US"/>
              <a:t>x </a:t>
            </a:r>
            <a:r>
              <a:rPr lang="en-US"/>
              <a:t>in these expressions. </a:t>
            </a:r>
            <a:endParaRPr/>
          </a:p>
        </p:txBody>
      </p:sp>
      <p:pic>
        <p:nvPicPr>
          <p:cNvPr descr="0109.jpg" id="205" name="Google Shape;20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8400" y="304800"/>
            <a:ext cx="890778" cy="1030224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0"/>
          <p:cNvSpPr txBox="1"/>
          <p:nvPr/>
        </p:nvSpPr>
        <p:spPr>
          <a:xfrm>
            <a:off x="5334000" y="1371600"/>
            <a:ext cx="2895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Charles Peirce (1839-1914)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Universal Quantifier</a:t>
            </a:r>
            <a:endParaRPr/>
          </a:p>
        </p:txBody>
      </p:sp>
      <p:sp>
        <p:nvSpPr>
          <p:cNvPr id="212" name="Google Shape;212;p11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1" marL="27432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280"/>
              <a:buChar char="○"/>
            </a:pPr>
            <a:r>
              <a:rPr lang="en-US"/>
              <a:t>∀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</a:t>
            </a:r>
            <a:r>
              <a:rPr i="1" lang="en-US"/>
              <a:t>  </a:t>
            </a:r>
            <a:r>
              <a:rPr lang="en-US"/>
              <a:t>is read as </a:t>
            </a:r>
            <a:r>
              <a:rPr i="1" lang="en-US"/>
              <a:t>“</a:t>
            </a:r>
            <a:r>
              <a:rPr lang="en-US"/>
              <a:t>For all </a:t>
            </a:r>
            <a:r>
              <a:rPr i="1" lang="en-US"/>
              <a:t>x</a:t>
            </a:r>
            <a:r>
              <a:rPr lang="en-US"/>
              <a:t>, P(</a:t>
            </a:r>
            <a:r>
              <a:rPr i="1" lang="en-US"/>
              <a:t>x</a:t>
            </a:r>
            <a:r>
              <a:rPr lang="en-US"/>
              <a:t>)” or “For every </a:t>
            </a:r>
            <a:r>
              <a:rPr i="1" lang="en-US"/>
              <a:t>x</a:t>
            </a:r>
            <a:r>
              <a:rPr lang="en-US"/>
              <a:t>, P(</a:t>
            </a:r>
            <a:r>
              <a:rPr i="1" lang="en-US"/>
              <a:t>x</a:t>
            </a:r>
            <a:r>
              <a:rPr lang="en-US"/>
              <a:t>)”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b="1" lang="en-US"/>
              <a:t>Examples</a:t>
            </a:r>
            <a:r>
              <a:rPr lang="en-US"/>
              <a:t>:</a:t>
            </a:r>
            <a:endParaRPr/>
          </a:p>
          <a:p>
            <a:pPr indent="-457199" lvl="2" marL="1124712" rtl="0" algn="l">
              <a:spcBef>
                <a:spcPts val="420"/>
              </a:spcBef>
              <a:spcAft>
                <a:spcPts val="0"/>
              </a:spcAft>
              <a:buSzPts val="1470"/>
              <a:buFont typeface="Calibri"/>
              <a:buChar char="■"/>
            </a:pPr>
            <a:r>
              <a:rPr lang="en-US"/>
              <a:t>If</a:t>
            </a:r>
            <a:r>
              <a:rPr i="1" lang="en-US"/>
              <a:t> P(x)</a:t>
            </a:r>
            <a:r>
              <a:rPr lang="en-US"/>
              <a:t> denotes  “</a:t>
            </a:r>
            <a:r>
              <a:rPr i="1" lang="en-US"/>
              <a:t>x</a:t>
            </a:r>
            <a:r>
              <a:rPr lang="en-US"/>
              <a:t> &gt;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0”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U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the integers, then </a:t>
            </a:r>
            <a:r>
              <a:rPr lang="en-US"/>
              <a:t>∀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is false.</a:t>
            </a:r>
            <a:endParaRPr/>
          </a:p>
          <a:p>
            <a:pPr indent="-457199" lvl="2" marL="1124712" rtl="0" algn="l">
              <a:spcBef>
                <a:spcPts val="420"/>
              </a:spcBef>
              <a:spcAft>
                <a:spcPts val="0"/>
              </a:spcAft>
              <a:buSzPts val="1470"/>
              <a:buFont typeface="Calibri"/>
              <a:buChar char="■"/>
            </a:pPr>
            <a:r>
              <a:rPr lang="en-US"/>
              <a:t>If</a:t>
            </a:r>
            <a:r>
              <a:rPr i="1" lang="en-US"/>
              <a:t> P(x)</a:t>
            </a:r>
            <a:r>
              <a:rPr lang="en-US"/>
              <a:t> denotes  “</a:t>
            </a:r>
            <a:r>
              <a:rPr i="1" lang="en-US"/>
              <a:t>x</a:t>
            </a:r>
            <a:r>
              <a:rPr lang="en-US"/>
              <a:t> &gt;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0”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U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is the positive integers, then     </a:t>
            </a:r>
            <a:r>
              <a:rPr lang="en-US"/>
              <a:t>∀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is true.</a:t>
            </a:r>
            <a:endParaRPr/>
          </a:p>
          <a:p>
            <a:pPr indent="-457199" lvl="2" marL="1124712" rtl="0" algn="l">
              <a:spcBef>
                <a:spcPts val="420"/>
              </a:spcBef>
              <a:spcAft>
                <a:spcPts val="0"/>
              </a:spcAft>
              <a:buSzPts val="1470"/>
              <a:buFont typeface="Calibri"/>
              <a:buChar char="■"/>
            </a:pPr>
            <a:r>
              <a:rPr lang="en-US"/>
              <a:t>If</a:t>
            </a:r>
            <a:r>
              <a:rPr i="1" lang="en-US"/>
              <a:t> P(x)</a:t>
            </a:r>
            <a:r>
              <a:rPr lang="en-US"/>
              <a:t> denotes  “</a:t>
            </a:r>
            <a:r>
              <a:rPr i="1" lang="en-US"/>
              <a:t>x</a:t>
            </a:r>
            <a:r>
              <a:rPr lang="en-US"/>
              <a:t> is even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”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U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is the integers,  then </a:t>
            </a:r>
            <a:r>
              <a:rPr lang="en-US"/>
              <a:t>∀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is false.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Existential Quantifier</a:t>
            </a:r>
            <a:endParaRPr/>
          </a:p>
        </p:txBody>
      </p:sp>
      <p:sp>
        <p:nvSpPr>
          <p:cNvPr id="218" name="Google Shape;218;p12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∃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is read as </a:t>
            </a:r>
            <a:r>
              <a:rPr i="1" lang="en-US"/>
              <a:t>“</a:t>
            </a:r>
            <a:r>
              <a:rPr lang="en-US"/>
              <a:t>For some </a:t>
            </a:r>
            <a:r>
              <a:rPr i="1" lang="en-US"/>
              <a:t>x</a:t>
            </a:r>
            <a:r>
              <a:rPr lang="en-US"/>
              <a:t>, P(</a:t>
            </a:r>
            <a:r>
              <a:rPr i="1" lang="en-US"/>
              <a:t>x</a:t>
            </a:r>
            <a:r>
              <a:rPr lang="en-US"/>
              <a:t>)”,  or as “There is an </a:t>
            </a:r>
            <a:r>
              <a:rPr i="1" lang="en-US"/>
              <a:t>x</a:t>
            </a:r>
            <a:r>
              <a:rPr lang="en-US"/>
              <a:t> such that P(</a:t>
            </a:r>
            <a:r>
              <a:rPr i="1" lang="en-US"/>
              <a:t>x</a:t>
            </a:r>
            <a:r>
              <a:rPr lang="en-US"/>
              <a:t>),”  or “For at least one </a:t>
            </a:r>
            <a:r>
              <a:rPr i="1" lang="en-US"/>
              <a:t>x</a:t>
            </a:r>
            <a:r>
              <a:rPr lang="en-US"/>
              <a:t>, P(</a:t>
            </a:r>
            <a:r>
              <a:rPr i="1" lang="en-US"/>
              <a:t>x</a:t>
            </a:r>
            <a:r>
              <a:rPr lang="en-US"/>
              <a:t>).” 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b="1" lang="en-US"/>
              <a:t>Examples</a:t>
            </a:r>
            <a:r>
              <a:rPr lang="en-US"/>
              <a:t>:</a:t>
            </a:r>
            <a:endParaRPr/>
          </a:p>
          <a:p>
            <a:pPr indent="-457199" lvl="2" marL="1124712" rtl="0" algn="l">
              <a:spcBef>
                <a:spcPts val="420"/>
              </a:spcBef>
              <a:spcAft>
                <a:spcPts val="0"/>
              </a:spcAft>
              <a:buSzPts val="1470"/>
              <a:buFont typeface="Calibri"/>
              <a:buChar char="■"/>
            </a:pPr>
            <a:r>
              <a:rPr i="1" lang="en-US"/>
              <a:t> </a:t>
            </a:r>
            <a:r>
              <a:rPr lang="en-US"/>
              <a:t>If</a:t>
            </a:r>
            <a:r>
              <a:rPr i="1" lang="en-US"/>
              <a:t> P(x)</a:t>
            </a:r>
            <a:r>
              <a:rPr lang="en-US"/>
              <a:t> denotes  “</a:t>
            </a:r>
            <a:r>
              <a:rPr i="1" lang="en-US"/>
              <a:t>x</a:t>
            </a:r>
            <a:r>
              <a:rPr lang="en-US"/>
              <a:t> &gt;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0”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U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is the integers, then ∃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is true. It is also true if U is the positive integers.</a:t>
            </a:r>
            <a:endParaRPr/>
          </a:p>
          <a:p>
            <a:pPr indent="-457199" lvl="2" marL="1124712" rtl="0" algn="l">
              <a:spcBef>
                <a:spcPts val="420"/>
              </a:spcBef>
              <a:spcAft>
                <a:spcPts val="0"/>
              </a:spcAft>
              <a:buSzPts val="1470"/>
              <a:buFont typeface="Calibri"/>
              <a:buChar char="■"/>
            </a:pPr>
            <a:r>
              <a:rPr lang="en-US"/>
              <a:t>If</a:t>
            </a:r>
            <a:r>
              <a:rPr i="1" lang="en-US"/>
              <a:t> P(x)</a:t>
            </a:r>
            <a:r>
              <a:rPr lang="en-US"/>
              <a:t> denotes  “</a:t>
            </a:r>
            <a:r>
              <a:rPr i="1" lang="en-US"/>
              <a:t>x</a:t>
            </a:r>
            <a:r>
              <a:rPr lang="en-US"/>
              <a:t> &lt;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0”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U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is the positive integers,  then     ∃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is false.</a:t>
            </a:r>
            <a:endParaRPr/>
          </a:p>
          <a:p>
            <a:pPr indent="-457199" lvl="2" marL="1124712" rtl="0" algn="l">
              <a:spcBef>
                <a:spcPts val="420"/>
              </a:spcBef>
              <a:spcAft>
                <a:spcPts val="0"/>
              </a:spcAft>
              <a:buSzPts val="1470"/>
              <a:buFont typeface="Calibri"/>
              <a:buChar char="■"/>
            </a:pPr>
            <a:r>
              <a:rPr lang="en-US"/>
              <a:t>If</a:t>
            </a:r>
            <a:r>
              <a:rPr i="1" lang="en-US"/>
              <a:t> P(x)</a:t>
            </a:r>
            <a:r>
              <a:rPr lang="en-US"/>
              <a:t> denotes  “</a:t>
            </a:r>
            <a:r>
              <a:rPr i="1" lang="en-US"/>
              <a:t>x</a:t>
            </a:r>
            <a:r>
              <a:rPr lang="en-US"/>
              <a:t> is even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”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U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is the integers,  then ∃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is true.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Thinking about Quantifiers</a:t>
            </a:r>
            <a:endParaRPr/>
          </a:p>
        </p:txBody>
      </p:sp>
      <p:sp>
        <p:nvSpPr>
          <p:cNvPr id="224" name="Google Shape;224;p14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When the domain is finite, we can think of quantification as looping through the elements of the domain.</a:t>
            </a:r>
            <a:endParaRPr/>
          </a:p>
          <a:p>
            <a:pPr indent="-274320" lvl="0" marL="274320" rtl="0" algn="l">
              <a:spcBef>
                <a:spcPts val="442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To evaluate ∀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loop through all </a:t>
            </a:r>
            <a:r>
              <a:rPr i="1" lang="en-US"/>
              <a:t>x</a:t>
            </a:r>
            <a:r>
              <a:rPr lang="en-US"/>
              <a:t> in the domain. </a:t>
            </a:r>
            <a:endParaRPr/>
          </a:p>
          <a:p>
            <a:pPr indent="-246888" lvl="1" marL="640080" rtl="0" algn="l">
              <a:spcBef>
                <a:spcPts val="408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If at every step P(</a:t>
            </a:r>
            <a:r>
              <a:rPr i="1" lang="en-US"/>
              <a:t>x</a:t>
            </a:r>
            <a:r>
              <a:rPr lang="en-US"/>
              <a:t>) is true, then ∀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is true. </a:t>
            </a:r>
            <a:endParaRPr/>
          </a:p>
          <a:p>
            <a:pPr indent="-246888" lvl="1" marL="640080" rtl="0" algn="l">
              <a:spcBef>
                <a:spcPts val="408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If at a step P(</a:t>
            </a:r>
            <a:r>
              <a:rPr i="1" lang="en-US"/>
              <a:t>x</a:t>
            </a:r>
            <a:r>
              <a:rPr lang="en-US"/>
              <a:t>) is false, then ∀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is false and the loop terminates. </a:t>
            </a:r>
            <a:endParaRPr/>
          </a:p>
          <a:p>
            <a:pPr indent="-274320" lvl="0" marL="274320" rtl="0" algn="l">
              <a:spcBef>
                <a:spcPts val="442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To evaluate ∃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loop through all </a:t>
            </a:r>
            <a:r>
              <a:rPr i="1" lang="en-US"/>
              <a:t>x</a:t>
            </a:r>
            <a:r>
              <a:rPr lang="en-US"/>
              <a:t> in the domain. </a:t>
            </a:r>
            <a:endParaRPr/>
          </a:p>
          <a:p>
            <a:pPr indent="-246888" lvl="1" marL="640080" rtl="0" algn="l">
              <a:spcBef>
                <a:spcPts val="408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If at some step, P(</a:t>
            </a:r>
            <a:r>
              <a:rPr i="1" lang="en-US"/>
              <a:t>x</a:t>
            </a:r>
            <a:r>
              <a:rPr lang="en-US"/>
              <a:t>) is true, then ∃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is true and the loop terminates. </a:t>
            </a:r>
            <a:endParaRPr/>
          </a:p>
          <a:p>
            <a:pPr indent="-246888" lvl="1" marL="640080" rtl="0" algn="l">
              <a:spcBef>
                <a:spcPts val="408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If the loop ends without finding an </a:t>
            </a:r>
            <a:r>
              <a:rPr i="1" lang="en-US"/>
              <a:t>x</a:t>
            </a:r>
            <a:r>
              <a:rPr lang="en-US"/>
              <a:t> for which P(</a:t>
            </a:r>
            <a:r>
              <a:rPr i="1" lang="en-US"/>
              <a:t>x</a:t>
            </a:r>
            <a:r>
              <a:rPr lang="en-US"/>
              <a:t>) is true, then ∃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is false.</a:t>
            </a:r>
            <a:endParaRPr/>
          </a:p>
          <a:p>
            <a:pPr indent="-274320" lvl="0" marL="274320" rtl="0" algn="l">
              <a:spcBef>
                <a:spcPts val="442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Even if the domains are infinite, we can still think of the quantifiers this fashion, but the loops will not terminate in some cases.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Properties of Quantifiers</a:t>
            </a:r>
            <a:endParaRPr/>
          </a:p>
        </p:txBody>
      </p:sp>
      <p:sp>
        <p:nvSpPr>
          <p:cNvPr id="230" name="Google Shape;230;p15"/>
          <p:cNvSpPr txBox="1"/>
          <p:nvPr>
            <p:ph idx="1" type="body"/>
          </p:nvPr>
        </p:nvSpPr>
        <p:spPr>
          <a:xfrm>
            <a:off x="457200" y="1935475"/>
            <a:ext cx="8229600" cy="4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6083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The truth value of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∃x P(x)</a:t>
            </a:r>
            <a:r>
              <a:rPr lang="en-US"/>
              <a:t> 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∀ x P(x)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depend on both the propositional function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P(x)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and on  the domain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U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/>
          </a:p>
          <a:p>
            <a:pPr indent="-286083" lvl="0" marL="274320" rtl="0" algn="l">
              <a:spcBef>
                <a:spcPts val="481"/>
              </a:spcBef>
              <a:spcAft>
                <a:spcPts val="0"/>
              </a:spcAft>
              <a:buSzPts val="2470"/>
              <a:buChar char="●"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Examples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</a:t>
            </a:r>
            <a:endParaRPr/>
          </a:p>
          <a:p>
            <a:pPr indent="-466915" lvl="1" marL="850392" rtl="0" algn="l">
              <a:spcBef>
                <a:spcPts val="444"/>
              </a:spcBef>
              <a:spcAft>
                <a:spcPts val="0"/>
              </a:spcAft>
              <a:buSzPts val="2040"/>
              <a:buFont typeface="Calibri"/>
              <a:buChar char="○"/>
            </a:pPr>
            <a:r>
              <a:rPr lang="en-US"/>
              <a:t>If </a:t>
            </a:r>
            <a:r>
              <a:rPr i="1" lang="en-US"/>
              <a:t>U</a:t>
            </a:r>
            <a:r>
              <a:rPr lang="en-US"/>
              <a:t> is the  positive integers and </a:t>
            </a:r>
            <a:r>
              <a:rPr i="1" lang="en-US"/>
              <a:t>P(x) </a:t>
            </a:r>
            <a:r>
              <a:rPr lang="en-US"/>
              <a:t>is the statement           “</a:t>
            </a:r>
            <a:r>
              <a:rPr i="1" lang="en-US"/>
              <a:t>x</a:t>
            </a:r>
            <a:r>
              <a:rPr lang="en-US"/>
              <a:t> &lt;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”, then 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∃x P(x)</a:t>
            </a:r>
            <a:r>
              <a:rPr b="1" lang="en-US"/>
              <a:t> is true, but 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∀x P(x) 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is false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/>
          </a:p>
          <a:p>
            <a:pPr indent="-466915" lvl="1" marL="850392" rtl="0" algn="l">
              <a:spcBef>
                <a:spcPts val="444"/>
              </a:spcBef>
              <a:spcAft>
                <a:spcPts val="0"/>
              </a:spcAft>
              <a:buSzPts val="2040"/>
              <a:buFont typeface="Calibri"/>
              <a:buChar char="○"/>
            </a:pPr>
            <a:r>
              <a:rPr lang="en-US"/>
              <a:t>If </a:t>
            </a:r>
            <a:r>
              <a:rPr i="1" lang="en-US"/>
              <a:t>U</a:t>
            </a:r>
            <a:r>
              <a:rPr lang="en-US"/>
              <a:t> is the negative integers and </a:t>
            </a:r>
            <a:r>
              <a:rPr i="1" lang="en-US"/>
              <a:t>P(x) </a:t>
            </a:r>
            <a:r>
              <a:rPr lang="en-US"/>
              <a:t>is the statement           “</a:t>
            </a:r>
            <a:r>
              <a:rPr i="1" lang="en-US"/>
              <a:t>x</a:t>
            </a:r>
            <a:r>
              <a:rPr lang="en-US"/>
              <a:t> &lt;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”, then </a:t>
            </a:r>
            <a:r>
              <a:rPr b="1" lang="en-US"/>
              <a:t>both 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∃x P(x)</a:t>
            </a:r>
            <a:r>
              <a:rPr b="1" lang="en-US"/>
              <a:t>  and  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∀x P(x) 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are true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/>
          </a:p>
          <a:p>
            <a:pPr indent="-466915" lvl="1" marL="850392" rtl="0" algn="l">
              <a:spcBef>
                <a:spcPts val="444"/>
              </a:spcBef>
              <a:spcAft>
                <a:spcPts val="0"/>
              </a:spcAft>
              <a:buSzPts val="2040"/>
              <a:buFont typeface="Calibri"/>
              <a:buChar char="○"/>
            </a:pPr>
            <a:r>
              <a:rPr lang="en-US"/>
              <a:t>If </a:t>
            </a:r>
            <a:r>
              <a:rPr i="1" lang="en-US"/>
              <a:t>U</a:t>
            </a:r>
            <a:r>
              <a:rPr lang="en-US"/>
              <a:t> consists of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,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lang="en-US"/>
              <a:t>, and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/>
              <a:t>, and </a:t>
            </a:r>
            <a:r>
              <a:rPr i="1" lang="en-US"/>
              <a:t>P(x) </a:t>
            </a:r>
            <a:r>
              <a:rPr lang="en-US"/>
              <a:t>is the statement           “</a:t>
            </a:r>
            <a:r>
              <a:rPr i="1" lang="en-US"/>
              <a:t>x</a:t>
            </a:r>
            <a:r>
              <a:rPr lang="en-US"/>
              <a:t> &gt;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”, then </a:t>
            </a:r>
            <a:r>
              <a:rPr b="1" lang="en-US"/>
              <a:t>both</a:t>
            </a:r>
            <a:r>
              <a:rPr lang="en-US"/>
              <a:t> 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∃x P(x)</a:t>
            </a:r>
            <a:r>
              <a:rPr b="1" lang="en-US"/>
              <a:t>   and 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∀x P(x) 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are true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466915" lvl="1" marL="850392" rtl="0" algn="l">
              <a:spcBef>
                <a:spcPts val="444"/>
              </a:spcBef>
              <a:spcAft>
                <a:spcPts val="0"/>
              </a:spcAft>
              <a:buSzPts val="2040"/>
              <a:buFont typeface="Calibri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But if </a:t>
            </a:r>
            <a:r>
              <a:rPr i="1" lang="en-US"/>
              <a:t>P(x) </a:t>
            </a:r>
            <a:r>
              <a:rPr lang="en-US"/>
              <a:t>is the statement “</a:t>
            </a:r>
            <a:r>
              <a:rPr i="1" lang="en-US"/>
              <a:t>x</a:t>
            </a:r>
            <a:r>
              <a:rPr lang="en-US"/>
              <a:t> &lt;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”, then </a:t>
            </a:r>
            <a:r>
              <a:rPr b="1" lang="en-US"/>
              <a:t>both 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∃x P(x)</a:t>
            </a:r>
            <a:r>
              <a:rPr b="1" lang="en-US"/>
              <a:t>   and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∀ x P(x) 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are false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Precedence of Quantifiers</a:t>
            </a:r>
            <a:endParaRPr/>
          </a:p>
        </p:txBody>
      </p:sp>
      <p:sp>
        <p:nvSpPr>
          <p:cNvPr id="236" name="Google Shape;236;p16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The quantifiers ∀ and  ∃ have higher precedence than all the logical operators.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For example,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∀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P(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 ∨ Q(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  </a:t>
            </a:r>
            <a:r>
              <a:rPr lang="en-US"/>
              <a:t>means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(∀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P(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))∨ Q(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</a:t>
            </a:r>
            <a:r>
              <a:rPr lang="en-US"/>
              <a:t>  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∀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(P(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 ∨ Q(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)) means something different.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Unfortunately, often people write ∀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P(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 ∨ Q(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  when they mean ∀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P(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 ∨ Q(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)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Translating from English to Logic</a:t>
            </a:r>
            <a:endParaRPr/>
          </a:p>
        </p:txBody>
      </p:sp>
      <p:sp>
        <p:nvSpPr>
          <p:cNvPr id="242" name="Google Shape;242;p17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Example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:  Translate the following sentence into predicate logic: “Every student in this class has taken a course in Java.”</a:t>
            </a:r>
            <a:endParaRPr/>
          </a:p>
          <a:p>
            <a:pPr indent="-274320" lvl="0" marL="274320" rtl="0" algn="l"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Solution</a:t>
            </a:r>
            <a:r>
              <a:rPr lang="en-US"/>
              <a:t>:</a:t>
            </a:r>
            <a:endParaRPr/>
          </a:p>
          <a:p>
            <a:pPr indent="-274320" lvl="0" marL="274320" rtl="0" algn="l"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/>
              <a:t>  First decide on the domain </a:t>
            </a:r>
            <a:r>
              <a:rPr i="1" lang="en-US"/>
              <a:t>U</a:t>
            </a:r>
            <a:r>
              <a:rPr lang="en-US"/>
              <a:t>. </a:t>
            </a:r>
            <a:endParaRPr/>
          </a:p>
          <a:p>
            <a:pPr indent="-246888" lvl="1" marL="640080" rtl="0" algn="l">
              <a:spcBef>
                <a:spcPts val="444"/>
              </a:spcBef>
              <a:spcAft>
                <a:spcPts val="0"/>
              </a:spcAft>
              <a:buSzPts val="2040"/>
              <a:buNone/>
            </a:pPr>
            <a:r>
              <a:rPr b="1" lang="en-US"/>
              <a:t>Solution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: If </a:t>
            </a:r>
            <a:r>
              <a:rPr i="1" lang="en-US"/>
              <a:t>U</a:t>
            </a:r>
            <a:r>
              <a:rPr lang="en-US"/>
              <a:t> is all students in this class, define a propositional function J(</a:t>
            </a:r>
            <a:r>
              <a:rPr i="1" lang="en-US"/>
              <a:t>x</a:t>
            </a:r>
            <a:r>
              <a:rPr lang="en-US"/>
              <a:t>) denoting “x has taken a course in Java” and translate as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∀x J(x). </a:t>
            </a:r>
            <a:endParaRPr/>
          </a:p>
          <a:p>
            <a:pPr indent="-246888" lvl="1" marL="640080" rtl="0" algn="l">
              <a:spcBef>
                <a:spcPts val="444"/>
              </a:spcBef>
              <a:spcAft>
                <a:spcPts val="0"/>
              </a:spcAft>
              <a:buSzPts val="2040"/>
              <a:buNone/>
            </a:pPr>
            <a:r>
              <a:rPr b="1" lang="en-US"/>
              <a:t>Solution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: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/>
              <a:t>But if </a:t>
            </a:r>
            <a:r>
              <a:rPr i="1" lang="en-US"/>
              <a:t>U</a:t>
            </a:r>
            <a:r>
              <a:rPr lang="en-US"/>
              <a:t> is all people, also define a propositional  function S(x) denoting “x is a student in this class” and translate as   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∀x (S(x)→ J(x))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/>
          </a:p>
          <a:p>
            <a:pPr indent="-246887" lvl="2" marL="914400" rtl="0" algn="l">
              <a:spcBef>
                <a:spcPts val="388"/>
              </a:spcBef>
              <a:spcAft>
                <a:spcPts val="0"/>
              </a:spcAft>
              <a:buSzPts val="1470"/>
              <a:buNone/>
            </a:pP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            ∀x (S(x)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∧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J(x))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is not correct.  What does it mean?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Translating from English to Logic</a:t>
            </a:r>
            <a:endParaRPr/>
          </a:p>
        </p:txBody>
      </p:sp>
      <p:sp>
        <p:nvSpPr>
          <p:cNvPr id="248" name="Google Shape;248;p18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Example 2</a:t>
            </a:r>
            <a:r>
              <a:rPr lang="en-US"/>
              <a:t>: Translate the following sentence into predicate logic: “Some student in this class has taken a course in Java.” 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Solution</a:t>
            </a:r>
            <a:r>
              <a:rPr lang="en-US"/>
              <a:t>: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First decide on the domain </a:t>
            </a:r>
            <a:r>
              <a:rPr i="1" lang="en-US"/>
              <a:t>U</a:t>
            </a:r>
            <a:r>
              <a:rPr lang="en-US"/>
              <a:t>. 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b="1" lang="en-US"/>
              <a:t>Solution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: If </a:t>
            </a:r>
            <a:r>
              <a:rPr i="1" lang="en-US"/>
              <a:t>U</a:t>
            </a:r>
            <a:r>
              <a:rPr lang="en-US"/>
              <a:t> is all students in this class, translate as 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                          ∃x J(x)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b="1" lang="en-US"/>
              <a:t>Solution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: But if </a:t>
            </a:r>
            <a:r>
              <a:rPr i="1" lang="en-US"/>
              <a:t>U</a:t>
            </a:r>
            <a:r>
              <a:rPr lang="en-US"/>
              <a:t> is all people, then translate as               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∃x (S(x) ∧ J(x)) </a:t>
            </a:r>
            <a:endParaRPr/>
          </a:p>
          <a:p>
            <a:pPr indent="-246887" lvl="2" marL="914400" rtl="0" algn="l">
              <a:spcBef>
                <a:spcPts val="420"/>
              </a:spcBef>
              <a:spcAft>
                <a:spcPts val="0"/>
              </a:spcAft>
              <a:buSzPts val="1470"/>
              <a:buNone/>
            </a:pP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       ∃x (S(x)→ J(x))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not correct. What does it mean?</a:t>
            </a:r>
            <a:endParaRPr/>
          </a:p>
          <a:p>
            <a:pPr indent="-11734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Equivalences in Predicate Logic</a:t>
            </a:r>
            <a:endParaRPr/>
          </a:p>
        </p:txBody>
      </p:sp>
      <p:sp>
        <p:nvSpPr>
          <p:cNvPr id="255" name="Google Shape;255;p20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Statements involving predicates and quantifiers are </a:t>
            </a:r>
            <a:r>
              <a:rPr i="1" lang="en-US"/>
              <a:t>logically equivalent </a:t>
            </a:r>
            <a:r>
              <a:rPr lang="en-US"/>
              <a:t>if and only if they have the same truth value 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for every predicate substituted into these statements and 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for every domain of discourse used for the variables in the expressions. 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The notation </a:t>
            </a:r>
            <a:r>
              <a:rPr i="1" lang="en-US"/>
              <a:t>S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T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indicates that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T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are logically equivalent. 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Example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 ∀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¬¬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S(x)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≡ ∀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 S(x)</a:t>
            </a:r>
            <a:endParaRPr i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Thinking about Quantifiers as Conjunctions and Disjunctions</a:t>
            </a:r>
            <a:endParaRPr/>
          </a:p>
        </p:txBody>
      </p:sp>
      <p:sp>
        <p:nvSpPr>
          <p:cNvPr id="262" name="Google Shape;262;p21"/>
          <p:cNvSpPr txBox="1"/>
          <p:nvPr>
            <p:ph idx="1" type="body"/>
          </p:nvPr>
        </p:nvSpPr>
        <p:spPr>
          <a:xfrm>
            <a:off x="457200" y="1935475"/>
            <a:ext cx="8229600" cy="4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86083" lvl="0" marL="274320" rtl="0" algn="l">
              <a:spcBef>
                <a:spcPts val="0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If the domain is finite, a universally quantified proposition is equivalent to a conjunction of propositions without quantifiers and an existentially quantified proposition is equivalent to  a disjunction of propositions without quantifiers. </a:t>
            </a:r>
            <a:endParaRPr/>
          </a:p>
          <a:p>
            <a:pPr indent="-286083" lvl="0" marL="274320" rtl="0" algn="l">
              <a:spcBef>
                <a:spcPts val="1000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If </a:t>
            </a:r>
            <a:r>
              <a:rPr i="1" lang="en-US"/>
              <a:t>U</a:t>
            </a:r>
            <a:r>
              <a:rPr lang="en-US"/>
              <a:t> consists of the integers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, and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:</a:t>
            </a:r>
            <a:endParaRPr/>
          </a:p>
          <a:p>
            <a:pPr indent="0" lvl="0" marL="0" rtl="0" algn="l"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86083" lvl="0" marL="274320" rtl="0" algn="l">
              <a:spcBef>
                <a:spcPts val="442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Even if the domains are infinite, you can still think of the quantifiers in this fashion, but the equivalent expressions without quantifiers will be infinitely long.</a:t>
            </a:r>
            <a:endParaRPr/>
          </a:p>
        </p:txBody>
      </p:sp>
      <p:pic>
        <p:nvPicPr>
          <p:cNvPr descr="addin_tmp.png" id="263" name="Google Shape;26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3976575"/>
            <a:ext cx="4079081" cy="3190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264" name="Google Shape;26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3600" y="4662375"/>
            <a:ext cx="4062413" cy="319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Negating Quantified Expressions</a:t>
            </a:r>
            <a:endParaRPr/>
          </a:p>
        </p:txBody>
      </p:sp>
      <p:sp>
        <p:nvSpPr>
          <p:cNvPr id="270" name="Google Shape;270;p22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Consider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∀x J(x)</a:t>
            </a:r>
            <a:endParaRPr/>
          </a:p>
          <a:p>
            <a:pPr indent="-457200" lvl="1" marL="850392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lang="en-US"/>
              <a:t>“Every student in your class has taken a course in Java.”</a:t>
            </a:r>
            <a:endParaRPr/>
          </a:p>
          <a:p>
            <a:pPr indent="-457200" lvl="1" marL="850392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lang="en-US"/>
              <a:t> Here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J(x)</a:t>
            </a:r>
            <a:r>
              <a:rPr lang="en-US"/>
              <a:t>  is “x has taken a course in Java” and </a:t>
            </a:r>
            <a:endParaRPr/>
          </a:p>
          <a:p>
            <a:pPr indent="-457200" lvl="1" marL="850392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lang="en-US"/>
              <a:t> the domain is students in your class. 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Negating the original statement gives “</a:t>
            </a:r>
            <a:r>
              <a:rPr i="1" lang="en-US"/>
              <a:t>It is not the case that</a:t>
            </a:r>
            <a:r>
              <a:rPr lang="en-US"/>
              <a:t> every student in your class has taken Java.” This implies that “There is a student in your class who has not taken Java.”</a:t>
            </a:r>
            <a:endParaRPr/>
          </a:p>
          <a:p>
            <a:pPr indent="0" lvl="0" marL="274320" rtl="0" algn="l">
              <a:spcBef>
                <a:spcPts val="520"/>
              </a:spcBef>
              <a:spcAft>
                <a:spcPts val="0"/>
              </a:spcAft>
              <a:buNone/>
            </a:pP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  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Symbolically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 ¬∀x J(x)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∃x ¬J(x)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are equivalent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Negating Quantified Expressions (</a:t>
            </a:r>
            <a:r>
              <a:rPr i="1" lang="en-US"/>
              <a:t>continued</a:t>
            </a:r>
            <a:r>
              <a:rPr lang="en-US"/>
              <a:t>)</a:t>
            </a:r>
            <a:endParaRPr/>
          </a:p>
        </p:txBody>
      </p:sp>
      <p:sp>
        <p:nvSpPr>
          <p:cNvPr id="276" name="Google Shape;276;p23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Now Consider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∃ x J(x)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lang="en-US"/>
              <a:t>“There is a student in this class who has taken a course in Java.”</a:t>
            </a:r>
            <a:endParaRPr i="1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lang="en-US"/>
              <a:t>Where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J(x)</a:t>
            </a:r>
            <a:r>
              <a:rPr lang="en-US"/>
              <a:t>  is “x has taken a course in Java.”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Negating the original statement gives “It is not the case that there is a student in this class who has taken Java.” This implies that “Every student in this class has not taken Java”</a:t>
            </a:r>
            <a:endParaRPr/>
          </a:p>
          <a:p>
            <a:pPr indent="0" lvl="0" marL="274320" rtl="0" algn="l">
              <a:spcBef>
                <a:spcPts val="520"/>
              </a:spcBef>
              <a:spcAft>
                <a:spcPts val="0"/>
              </a:spcAft>
              <a:buNone/>
            </a:pP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  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Symbolically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¬∃x J(x)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∀x ¬J(x)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are equivalent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De Morgan’s Laws for Quantifiers</a:t>
            </a:r>
            <a:endParaRPr/>
          </a:p>
        </p:txBody>
      </p:sp>
      <p:sp>
        <p:nvSpPr>
          <p:cNvPr id="282" name="Google Shape;282;p24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The rules for negating quantifiers are:</a:t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The reasoning in the table shows that:</a:t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able20.jpg" id="283" name="Google Shape;28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2438400"/>
            <a:ext cx="5024628" cy="12161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284" name="Google Shape;28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2200" y="4419600"/>
            <a:ext cx="3431858" cy="382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285" name="Google Shape;28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86000" y="5105400"/>
            <a:ext cx="3431858" cy="382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Translation from English to Logic</a:t>
            </a:r>
            <a:endParaRPr/>
          </a:p>
        </p:txBody>
      </p:sp>
      <p:sp>
        <p:nvSpPr>
          <p:cNvPr id="291" name="Google Shape;291;p25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Examples</a:t>
            </a:r>
            <a:r>
              <a:rPr lang="en-US"/>
              <a:t>:</a:t>
            </a:r>
            <a:endParaRPr/>
          </a:p>
          <a:p>
            <a:pPr indent="-514350" lvl="0" marL="514350" rtl="0" algn="l">
              <a:spcBef>
                <a:spcPts val="520"/>
              </a:spcBef>
              <a:spcAft>
                <a:spcPts val="0"/>
              </a:spcAft>
              <a:buSzPts val="2470"/>
              <a:buFont typeface="Calibri"/>
              <a:buAutoNum type="arabicPeriod"/>
            </a:pPr>
            <a:r>
              <a:rPr lang="en-US"/>
              <a:t>“Some student in this class has visited Mexico.”</a:t>
            </a:r>
            <a:endParaRPr/>
          </a:p>
          <a:p>
            <a:pPr indent="-457200" lvl="1" marL="850392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lang="en-US"/>
              <a:t>   </a:t>
            </a:r>
            <a:r>
              <a:rPr b="1" lang="en-US"/>
              <a:t>Solution</a:t>
            </a:r>
            <a:r>
              <a:rPr lang="en-US"/>
              <a:t>: Let </a:t>
            </a:r>
            <a:r>
              <a:rPr i="1" lang="en-US"/>
              <a:t>M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denote “</a:t>
            </a:r>
            <a:r>
              <a:rPr i="1" lang="en-US"/>
              <a:t>x</a:t>
            </a:r>
            <a:r>
              <a:rPr lang="en-US"/>
              <a:t> has visited Mexico” and </a:t>
            </a:r>
            <a:r>
              <a:rPr i="1" lang="en-US"/>
              <a:t>S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denote “</a:t>
            </a:r>
            <a:r>
              <a:rPr i="1" lang="en-US"/>
              <a:t>x</a:t>
            </a:r>
            <a:r>
              <a:rPr lang="en-US"/>
              <a:t> is a student in this class,” 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U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be all people.</a:t>
            </a:r>
            <a:endParaRPr/>
          </a:p>
          <a:p>
            <a:pPr indent="-457200" lvl="1" marL="850392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lang="en-US"/>
              <a:t>                      ∃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  (S(x)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∧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M(x))</a:t>
            </a:r>
            <a:endParaRPr/>
          </a:p>
          <a:p>
            <a:pPr indent="-514350" lvl="0" marL="514350" rtl="0" algn="l">
              <a:spcBef>
                <a:spcPts val="520"/>
              </a:spcBef>
              <a:spcAft>
                <a:spcPts val="0"/>
              </a:spcAft>
              <a:buSzPts val="2470"/>
              <a:buFont typeface="Calibri"/>
              <a:buAutoNum type="arabicPeriod"/>
            </a:pPr>
            <a:r>
              <a:rPr lang="en-US"/>
              <a:t>“Every student in this class has visited Canada or Mexico.”</a:t>
            </a:r>
            <a:endParaRPr/>
          </a:p>
          <a:p>
            <a:pPr indent="-457200" lvl="1" marL="850392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lang="en-US"/>
              <a:t>  </a:t>
            </a:r>
            <a:r>
              <a:rPr b="1" lang="en-US"/>
              <a:t>Solution</a:t>
            </a:r>
            <a:r>
              <a:rPr lang="en-US"/>
              <a:t>: Add </a:t>
            </a:r>
            <a:r>
              <a:rPr i="1" lang="en-US"/>
              <a:t>C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denoting “</a:t>
            </a:r>
            <a:r>
              <a:rPr i="1" lang="en-US"/>
              <a:t>x</a:t>
            </a:r>
            <a:r>
              <a:rPr lang="en-US"/>
              <a:t> has visited Canada.”</a:t>
            </a:r>
            <a:endParaRPr/>
          </a:p>
          <a:p>
            <a:pPr indent="-457200" lvl="1" marL="850392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                   ∀x (S(x)→ (M(x)∨C(x)))</a:t>
            </a:r>
            <a:endParaRPr i="1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Some Fun with Translating from English into Logical Expressions</a:t>
            </a:r>
            <a:endParaRPr/>
          </a:p>
        </p:txBody>
      </p:sp>
      <p:sp>
        <p:nvSpPr>
          <p:cNvPr id="297" name="Google Shape;297;p26"/>
          <p:cNvSpPr txBox="1"/>
          <p:nvPr>
            <p:ph idx="1" type="body"/>
          </p:nvPr>
        </p:nvSpPr>
        <p:spPr>
          <a:xfrm>
            <a:off x="457200" y="1935475"/>
            <a:ext cx="8229600" cy="30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U = {fleegles, snurds, thingamabobs}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i="1" lang="en-US"/>
              <a:t>F(x)</a:t>
            </a:r>
            <a:r>
              <a:rPr lang="en-US"/>
              <a:t>: </a:t>
            </a:r>
            <a:r>
              <a:rPr i="1" lang="en-US"/>
              <a:t>x</a:t>
            </a:r>
            <a:r>
              <a:rPr lang="en-US"/>
              <a:t> is a fleegle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i="1" lang="en-US"/>
              <a:t>S(x)</a:t>
            </a:r>
            <a:r>
              <a:rPr lang="en-US"/>
              <a:t>: </a:t>
            </a:r>
            <a:r>
              <a:rPr i="1" lang="en-US"/>
              <a:t>x</a:t>
            </a:r>
            <a:r>
              <a:rPr lang="en-US"/>
              <a:t> is a snurd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i="1" lang="en-US"/>
              <a:t>T(x)</a:t>
            </a:r>
            <a:r>
              <a:rPr lang="en-US"/>
              <a:t>: x is a thingamabob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   </a:t>
            </a:r>
            <a:r>
              <a:rPr lang="en-US"/>
              <a:t>Translate “Everything is a fleegle”</a:t>
            </a:r>
            <a:endParaRPr i="1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sp>
        <p:nvSpPr>
          <p:cNvPr id="298" name="Google Shape;298;p26"/>
          <p:cNvSpPr txBox="1"/>
          <p:nvPr/>
        </p:nvSpPr>
        <p:spPr>
          <a:xfrm>
            <a:off x="697350" y="4623975"/>
            <a:ext cx="5990700" cy="1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Solution</a:t>
            </a:r>
            <a:r>
              <a:rPr lang="en-US" sz="2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: </a:t>
            </a:r>
            <a:r>
              <a:rPr i="1"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∀x F(x)</a:t>
            </a:r>
            <a:endParaRPr sz="26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Translation (cont)</a:t>
            </a:r>
            <a:endParaRPr/>
          </a:p>
        </p:txBody>
      </p:sp>
      <p:sp>
        <p:nvSpPr>
          <p:cNvPr id="304" name="Google Shape;304;p27"/>
          <p:cNvSpPr txBox="1"/>
          <p:nvPr>
            <p:ph idx="1" type="body"/>
          </p:nvPr>
        </p:nvSpPr>
        <p:spPr>
          <a:xfrm>
            <a:off x="457200" y="1935475"/>
            <a:ext cx="8229600" cy="31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U = {fleegles, snurds, thingamabobs}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i="1" lang="en-US"/>
              <a:t>F(x)</a:t>
            </a:r>
            <a:r>
              <a:rPr lang="en-US"/>
              <a:t>: </a:t>
            </a:r>
            <a:r>
              <a:rPr i="1" lang="en-US"/>
              <a:t>x</a:t>
            </a:r>
            <a:r>
              <a:rPr lang="en-US"/>
              <a:t> is a fleegle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i="1" lang="en-US"/>
              <a:t>S(x)</a:t>
            </a:r>
            <a:r>
              <a:rPr lang="en-US"/>
              <a:t>: </a:t>
            </a:r>
            <a:r>
              <a:rPr i="1" lang="en-US"/>
              <a:t>x</a:t>
            </a:r>
            <a:r>
              <a:rPr lang="en-US"/>
              <a:t> is a snurd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i="1" lang="en-US"/>
              <a:t>T(x)</a:t>
            </a:r>
            <a:r>
              <a:rPr lang="en-US"/>
              <a:t>: </a:t>
            </a:r>
            <a:r>
              <a:rPr i="1" lang="en-US"/>
              <a:t>x</a:t>
            </a:r>
            <a:r>
              <a:rPr lang="en-US"/>
              <a:t> is a thingamabob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 “Nothing is a snurd.”</a:t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sp>
        <p:nvSpPr>
          <p:cNvPr id="305" name="Google Shape;305;p27"/>
          <p:cNvSpPr txBox="1"/>
          <p:nvPr/>
        </p:nvSpPr>
        <p:spPr>
          <a:xfrm>
            <a:off x="389250" y="4852225"/>
            <a:ext cx="7440000" cy="12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 Solution</a:t>
            </a:r>
            <a:r>
              <a:rPr lang="en-US" sz="2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: </a:t>
            </a:r>
            <a:r>
              <a:rPr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¬</a:t>
            </a:r>
            <a:r>
              <a:rPr lang="en-US" sz="2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∃</a:t>
            </a:r>
            <a:r>
              <a:rPr i="1"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x S(x)   </a:t>
            </a:r>
            <a:r>
              <a:rPr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What is this equivalent to?</a:t>
            </a:r>
            <a:endParaRPr sz="2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lang="en-US" sz="2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 </a:t>
            </a:r>
            <a:r>
              <a:rPr b="1" lang="en-US" sz="2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Solution</a:t>
            </a:r>
            <a:r>
              <a:rPr lang="en-US" sz="2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:   ∀</a:t>
            </a:r>
            <a:r>
              <a:rPr i="1"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x </a:t>
            </a:r>
            <a:r>
              <a:rPr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¬ </a:t>
            </a:r>
            <a:r>
              <a:rPr i="1"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S(x) </a:t>
            </a:r>
            <a:endParaRPr sz="26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Translation (cont)</a:t>
            </a:r>
            <a:endParaRPr/>
          </a:p>
        </p:txBody>
      </p:sp>
      <p:sp>
        <p:nvSpPr>
          <p:cNvPr id="311" name="Google Shape;311;p28"/>
          <p:cNvSpPr txBox="1"/>
          <p:nvPr>
            <p:ph idx="1" type="body"/>
          </p:nvPr>
        </p:nvSpPr>
        <p:spPr>
          <a:xfrm>
            <a:off x="457200" y="1935476"/>
            <a:ext cx="8229600" cy="3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U = {fleegles, snurds, thingamabobs}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i="1" lang="en-US"/>
              <a:t>F(x)</a:t>
            </a:r>
            <a:r>
              <a:rPr lang="en-US"/>
              <a:t>: </a:t>
            </a:r>
            <a:r>
              <a:rPr i="1" lang="en-US"/>
              <a:t>x</a:t>
            </a:r>
            <a:r>
              <a:rPr lang="en-US"/>
              <a:t> is a fleegle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i="1" lang="en-US"/>
              <a:t>S(x)</a:t>
            </a:r>
            <a:r>
              <a:rPr lang="en-US"/>
              <a:t>: </a:t>
            </a:r>
            <a:r>
              <a:rPr i="1" lang="en-US"/>
              <a:t>x</a:t>
            </a:r>
            <a:r>
              <a:rPr lang="en-US"/>
              <a:t> is a snurd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i="1" lang="en-US"/>
              <a:t>T(x)</a:t>
            </a:r>
            <a:r>
              <a:rPr lang="en-US"/>
              <a:t>: </a:t>
            </a:r>
            <a:r>
              <a:rPr i="1" lang="en-US"/>
              <a:t>x</a:t>
            </a:r>
            <a:r>
              <a:rPr lang="en-US"/>
              <a:t> is a thingamabob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“All fleegles are snurds.”</a:t>
            </a:r>
            <a:endParaRPr/>
          </a:p>
        </p:txBody>
      </p:sp>
      <p:sp>
        <p:nvSpPr>
          <p:cNvPr id="312" name="Google Shape;312;p28"/>
          <p:cNvSpPr txBox="1"/>
          <p:nvPr/>
        </p:nvSpPr>
        <p:spPr>
          <a:xfrm>
            <a:off x="583200" y="5206075"/>
            <a:ext cx="61962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Solution</a:t>
            </a:r>
            <a:r>
              <a:rPr lang="en-US" sz="2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: </a:t>
            </a:r>
            <a:r>
              <a:rPr i="1"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∀x (F(x)→ S(x))</a:t>
            </a:r>
            <a:endParaRPr i="1" sz="2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Translation (cont)</a:t>
            </a:r>
            <a:endParaRPr/>
          </a:p>
        </p:txBody>
      </p:sp>
      <p:sp>
        <p:nvSpPr>
          <p:cNvPr id="318" name="Google Shape;318;p29"/>
          <p:cNvSpPr txBox="1"/>
          <p:nvPr>
            <p:ph idx="1" type="body"/>
          </p:nvPr>
        </p:nvSpPr>
        <p:spPr>
          <a:xfrm>
            <a:off x="457200" y="1935477"/>
            <a:ext cx="8229600" cy="30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U = {fleegles, snurds, thingamabobs}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i="1" lang="en-US"/>
              <a:t>F(x)</a:t>
            </a:r>
            <a:r>
              <a:rPr lang="en-US"/>
              <a:t>: </a:t>
            </a:r>
            <a:r>
              <a:rPr i="1" lang="en-US"/>
              <a:t>x</a:t>
            </a:r>
            <a:r>
              <a:rPr lang="en-US"/>
              <a:t> is a fleegle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i="1" lang="en-US"/>
              <a:t>S(x)</a:t>
            </a:r>
            <a:r>
              <a:rPr lang="en-US"/>
              <a:t>: </a:t>
            </a:r>
            <a:r>
              <a:rPr i="1" lang="en-US"/>
              <a:t>x</a:t>
            </a:r>
            <a:r>
              <a:rPr lang="en-US"/>
              <a:t> is a snurd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i="1" lang="en-US"/>
              <a:t>T(x)</a:t>
            </a:r>
            <a:r>
              <a:rPr lang="en-US"/>
              <a:t>: </a:t>
            </a:r>
            <a:r>
              <a:rPr i="1" lang="en-US"/>
              <a:t>x</a:t>
            </a:r>
            <a:r>
              <a:rPr lang="en-US"/>
              <a:t> is a thingamabobs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“Some fleegles are thingamabobs.”</a:t>
            </a:r>
            <a:endParaRPr/>
          </a:p>
        </p:txBody>
      </p:sp>
      <p:sp>
        <p:nvSpPr>
          <p:cNvPr id="319" name="Google Shape;319;p29"/>
          <p:cNvSpPr txBox="1"/>
          <p:nvPr/>
        </p:nvSpPr>
        <p:spPr>
          <a:xfrm>
            <a:off x="549000" y="5183125"/>
            <a:ext cx="68580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Solution</a:t>
            </a:r>
            <a:r>
              <a:rPr lang="en-US" sz="2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: ∃</a:t>
            </a:r>
            <a:r>
              <a:rPr i="1"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x (F(x) </a:t>
            </a:r>
            <a:r>
              <a:rPr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∧ </a:t>
            </a:r>
            <a:r>
              <a:rPr i="1"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T(x))</a:t>
            </a:r>
            <a:endParaRPr i="1" sz="2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Translation (cont)</a:t>
            </a:r>
            <a:endParaRPr/>
          </a:p>
        </p:txBody>
      </p:sp>
      <p:sp>
        <p:nvSpPr>
          <p:cNvPr id="325" name="Google Shape;325;p30"/>
          <p:cNvSpPr txBox="1"/>
          <p:nvPr>
            <p:ph idx="1" type="body"/>
          </p:nvPr>
        </p:nvSpPr>
        <p:spPr>
          <a:xfrm>
            <a:off x="457200" y="1935477"/>
            <a:ext cx="8229600" cy="26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U = {fleegles, snurds, thingamabobs}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i="1" lang="en-US"/>
              <a:t>F(x)</a:t>
            </a:r>
            <a:r>
              <a:rPr lang="en-US"/>
              <a:t>: </a:t>
            </a:r>
            <a:r>
              <a:rPr i="1" lang="en-US"/>
              <a:t>x</a:t>
            </a:r>
            <a:r>
              <a:rPr lang="en-US"/>
              <a:t> is a fleegle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i="1" lang="en-US"/>
              <a:t>S(x)</a:t>
            </a:r>
            <a:r>
              <a:rPr lang="en-US"/>
              <a:t>: </a:t>
            </a:r>
            <a:r>
              <a:rPr i="1" lang="en-US"/>
              <a:t>x </a:t>
            </a:r>
            <a:r>
              <a:rPr lang="en-US"/>
              <a:t>is a snurd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i="1" lang="en-US"/>
              <a:t>T(x)</a:t>
            </a:r>
            <a:r>
              <a:rPr lang="en-US"/>
              <a:t>: </a:t>
            </a:r>
            <a:r>
              <a:rPr i="1" lang="en-US"/>
              <a:t>x</a:t>
            </a:r>
            <a:r>
              <a:rPr lang="en-US"/>
              <a:t> is a thingamabob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 “No snurd is a thingamabob.”</a:t>
            </a:r>
            <a:endParaRPr/>
          </a:p>
        </p:txBody>
      </p:sp>
      <p:sp>
        <p:nvSpPr>
          <p:cNvPr id="326" name="Google Shape;326;p30"/>
          <p:cNvSpPr txBox="1"/>
          <p:nvPr/>
        </p:nvSpPr>
        <p:spPr>
          <a:xfrm>
            <a:off x="457700" y="472667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 Solution</a:t>
            </a:r>
            <a:r>
              <a:rPr lang="en-US" sz="2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: </a:t>
            </a:r>
            <a:r>
              <a:rPr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¬</a:t>
            </a:r>
            <a:r>
              <a:rPr lang="en-US" sz="2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∃</a:t>
            </a:r>
            <a:r>
              <a:rPr i="1"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x (S(x) </a:t>
            </a:r>
            <a:r>
              <a:rPr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∧ </a:t>
            </a:r>
            <a:r>
              <a:rPr i="1"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T(x))  </a:t>
            </a:r>
            <a:r>
              <a:rPr lang="en-US" sz="23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What is this equivalent to?</a:t>
            </a:r>
            <a:endParaRPr sz="23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lang="en-US" sz="2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 </a:t>
            </a:r>
            <a:r>
              <a:rPr b="1" lang="en-US" sz="2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Solution</a:t>
            </a:r>
            <a:r>
              <a:rPr lang="en-US" sz="2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: ∀</a:t>
            </a:r>
            <a:r>
              <a:rPr i="1"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x (</a:t>
            </a:r>
            <a:r>
              <a:rPr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¬</a:t>
            </a:r>
            <a:r>
              <a:rPr i="1"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S(x) ∨ </a:t>
            </a:r>
            <a:r>
              <a:rPr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¬</a:t>
            </a:r>
            <a:r>
              <a:rPr i="1"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T(x))</a:t>
            </a:r>
            <a:endParaRPr sz="26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Translation (cont)</a:t>
            </a:r>
            <a:endParaRPr/>
          </a:p>
        </p:txBody>
      </p:sp>
      <p:sp>
        <p:nvSpPr>
          <p:cNvPr id="332" name="Google Shape;332;p31"/>
          <p:cNvSpPr txBox="1"/>
          <p:nvPr>
            <p:ph idx="1" type="body"/>
          </p:nvPr>
        </p:nvSpPr>
        <p:spPr>
          <a:xfrm>
            <a:off x="457200" y="1935477"/>
            <a:ext cx="8229600" cy="27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U = {fleegles, snurds, thingamabobs}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i="1" lang="en-US"/>
              <a:t>F(x)</a:t>
            </a:r>
            <a:r>
              <a:rPr lang="en-US"/>
              <a:t>: x is a fleegle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i="1" lang="en-US"/>
              <a:t>S(x)</a:t>
            </a:r>
            <a:r>
              <a:rPr lang="en-US"/>
              <a:t>: </a:t>
            </a:r>
            <a:r>
              <a:rPr i="1" lang="en-US"/>
              <a:t>x</a:t>
            </a:r>
            <a:r>
              <a:rPr lang="en-US"/>
              <a:t> is a snurd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i="1" lang="en-US"/>
              <a:t>T(x)</a:t>
            </a:r>
            <a:r>
              <a:rPr lang="en-US"/>
              <a:t>: </a:t>
            </a:r>
            <a:r>
              <a:rPr i="1" lang="en-US"/>
              <a:t>x</a:t>
            </a:r>
            <a:r>
              <a:rPr lang="en-US"/>
              <a:t> is a thingamabob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“If any fleegle is a snurd then it is also a thingamabob.”</a:t>
            </a:r>
            <a:endParaRPr/>
          </a:p>
        </p:txBody>
      </p:sp>
      <p:sp>
        <p:nvSpPr>
          <p:cNvPr id="333" name="Google Shape;333;p31"/>
          <p:cNvSpPr txBox="1"/>
          <p:nvPr/>
        </p:nvSpPr>
        <p:spPr>
          <a:xfrm>
            <a:off x="480525" y="4954900"/>
            <a:ext cx="8295900" cy="8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 Solution</a:t>
            </a:r>
            <a:r>
              <a:rPr lang="en-US" sz="2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: </a:t>
            </a:r>
            <a:r>
              <a:rPr i="1"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∀x ((F(x) </a:t>
            </a:r>
            <a:r>
              <a:rPr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∧</a:t>
            </a:r>
            <a:r>
              <a:rPr i="1"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S(x))→ T(x))</a:t>
            </a:r>
            <a:endParaRPr i="1" sz="2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Lewis Carroll Example</a:t>
            </a:r>
            <a:endParaRPr/>
          </a:p>
        </p:txBody>
      </p:sp>
      <p:sp>
        <p:nvSpPr>
          <p:cNvPr id="339" name="Google Shape;339;p33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The first two are called </a:t>
            </a:r>
            <a:r>
              <a:rPr i="1" lang="en-US"/>
              <a:t>premises</a:t>
            </a:r>
            <a:r>
              <a:rPr lang="en-US"/>
              <a:t> and the third is called the </a:t>
            </a:r>
            <a:r>
              <a:rPr i="1" lang="en-US"/>
              <a:t>conclusion</a:t>
            </a:r>
            <a:r>
              <a:rPr lang="en-US"/>
              <a:t>. </a:t>
            </a:r>
            <a:endParaRPr/>
          </a:p>
          <a:p>
            <a:pPr indent="-457200" lvl="1" marL="850392" rtl="0" algn="l">
              <a:spcBef>
                <a:spcPts val="408"/>
              </a:spcBef>
              <a:spcAft>
                <a:spcPts val="0"/>
              </a:spcAft>
              <a:buSzPct val="85000"/>
              <a:buFont typeface="Calibri"/>
              <a:buChar char="○"/>
            </a:pPr>
            <a:r>
              <a:rPr lang="en-US"/>
              <a:t>“All lions are fierce.”</a:t>
            </a:r>
            <a:endParaRPr/>
          </a:p>
          <a:p>
            <a:pPr indent="-457200" lvl="1" marL="850392" rtl="0" algn="l">
              <a:spcBef>
                <a:spcPts val="408"/>
              </a:spcBef>
              <a:spcAft>
                <a:spcPts val="0"/>
              </a:spcAft>
              <a:buSzPct val="85000"/>
              <a:buFont typeface="Calibri"/>
              <a:buChar char="○"/>
            </a:pPr>
            <a:r>
              <a:rPr lang="en-US"/>
              <a:t>“Some lions do not drink coffee.”</a:t>
            </a:r>
            <a:endParaRPr/>
          </a:p>
          <a:p>
            <a:pPr indent="-457200" lvl="1" marL="850392" rtl="0" algn="l">
              <a:spcBef>
                <a:spcPts val="408"/>
              </a:spcBef>
              <a:spcAft>
                <a:spcPts val="0"/>
              </a:spcAft>
              <a:buSzPct val="85000"/>
              <a:buFont typeface="Calibri"/>
              <a:buChar char="○"/>
            </a:pPr>
            <a:r>
              <a:rPr lang="en-US"/>
              <a:t>“Some fierce creatures do not drink coffee.” </a:t>
            </a:r>
            <a:endParaRPr/>
          </a:p>
          <a:p>
            <a:pPr indent="-457200" lvl="0" marL="484632" rtl="0" algn="l">
              <a:spcBef>
                <a:spcPts val="442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Here is one way to translate these statements to predicate logic. Let P(x), Q(x), and R(x) be the propositional functions “x is a lion,” “x is fierce,” and “x drinks coffee,” respectively.</a:t>
            </a:r>
            <a:endParaRPr/>
          </a:p>
          <a:p>
            <a:pPr indent="-457200" lvl="1" marL="850392" rtl="0" algn="l">
              <a:spcBef>
                <a:spcPts val="408"/>
              </a:spcBef>
              <a:spcAft>
                <a:spcPts val="0"/>
              </a:spcAft>
              <a:buSzPct val="85000"/>
              <a:buFont typeface="Calibri"/>
              <a:buChar char="○"/>
            </a:pP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∀x (P(x)→ Q(x))</a:t>
            </a:r>
            <a:endParaRPr/>
          </a:p>
          <a:p>
            <a:pPr indent="-457200" lvl="1" marL="850392" rtl="0" algn="l">
              <a:spcBef>
                <a:spcPts val="408"/>
              </a:spcBef>
              <a:spcAft>
                <a:spcPts val="0"/>
              </a:spcAft>
              <a:buSzPct val="85000"/>
              <a:buFont typeface="Calibri"/>
              <a:buChar char="○"/>
            </a:pPr>
            <a:r>
              <a:rPr lang="en-US"/>
              <a:t>∃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 (P(x)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∧ ¬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R(x))</a:t>
            </a:r>
            <a:endParaRPr/>
          </a:p>
          <a:p>
            <a:pPr indent="-457200" lvl="1" marL="850392" rtl="0" algn="l">
              <a:spcBef>
                <a:spcPts val="408"/>
              </a:spcBef>
              <a:spcAft>
                <a:spcPts val="0"/>
              </a:spcAft>
              <a:buSzPct val="85000"/>
              <a:buFont typeface="Calibri"/>
              <a:buChar char="○"/>
            </a:pPr>
            <a:r>
              <a:rPr lang="en-US"/>
              <a:t>∃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 (Q(x)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∧ ¬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R(x))</a:t>
            </a:r>
            <a:endParaRPr/>
          </a:p>
          <a:p>
            <a:pPr indent="-457200" lvl="0" marL="484632" rtl="0" algn="l">
              <a:spcBef>
                <a:spcPts val="442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Later we will see how to prove that the conclusion follows from the premises.</a:t>
            </a:r>
            <a:endParaRPr/>
          </a:p>
        </p:txBody>
      </p:sp>
      <p:pic>
        <p:nvPicPr>
          <p:cNvPr descr="0110.jpg" id="340" name="Google Shape;34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6600" y="76200"/>
            <a:ext cx="886968" cy="103632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3"/>
          <p:cNvSpPr txBox="1"/>
          <p:nvPr/>
        </p:nvSpPr>
        <p:spPr>
          <a:xfrm>
            <a:off x="6096000" y="1066800"/>
            <a:ext cx="28956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Charles Lutwidge Dodgson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(AKA Lewis Caroll)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    (1832-1898)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eo 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2013-09-23T20:53:45Z</dcterms:created>
  <dc:creator>Richard Scherl</dc:creator>
</cp:coreProperties>
</file>