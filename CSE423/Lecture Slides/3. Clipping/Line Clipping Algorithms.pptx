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y="6858000" cx="12192000"/>
  <p:notesSz cx="6858000" cy="9144000"/>
  <p:embeddedFontLst>
    <p:embeddedFont>
      <p:font typeface="Arial Narrow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6CCB6A-8AA6-42B0-952A-9FB4939EC020}">
  <a:tblStyle styleId="{8F6CCB6A-8AA6-42B0-952A-9FB4939EC02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82BC4144-E710-4EA7-9ED2-0505352B77E4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 b="off" i="off"/>
      <a:tcStyle>
        <a:fill>
          <a:solidFill>
            <a:srgbClr val="CACA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CAC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ArialNarrow-italic.fntdata"/><Relationship Id="rId61" Type="http://schemas.openxmlformats.org/officeDocument/2006/relationships/font" Target="fonts/ArialNarrow-bold.fntdata"/><Relationship Id="rId20" Type="http://schemas.openxmlformats.org/officeDocument/2006/relationships/slide" Target="slides/slide15.xml"/><Relationship Id="rId63" Type="http://schemas.openxmlformats.org/officeDocument/2006/relationships/font" Target="fonts/ArialNarrow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ArialNarrow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281c70e1a_0_1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25281c70e1a_0_10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5281c70e1a_0_1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25281c70e1a_0_10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2bc8b8c915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5" name="Google Shape;405;g32bc8b8c915_1_1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dcfead7443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2dcfead744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8" name="Google Shape;4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3" name="Google Shape;4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6" name="Google Shape;46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8" name="Google Shape;48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0" name="Google Shape;51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2" name="Google Shape;53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8" name="Google Shape;61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3" name="Google Shape;62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9" name="Google Shape;62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5" name="Google Shape;63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1" name="Google Shape;64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7" name="Google Shape;64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25281c70e1a_0_1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3" name="Google Shape;653;g25281c70e1a_0_19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5281c70e1a_0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5" name="Google Shape;665;g25281c70e1a_0_10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5281c70e1a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1" name="Google Shape;671;g25281c70e1a_0_4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25281c70e1a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5" name="Google Shape;685;g25281c70e1a_0_4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25281c70e1a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1" name="Google Shape;701;g25281c70e1a_0_4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25281c70e1a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7" name="Google Shape;717;g25281c70e1a_0_5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25281c70e1a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2" name="Google Shape;732;g25281c70e1a_0_5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5281c70e1a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8" name="Google Shape;748;g25281c70e1a_0_5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5281c70e1a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6" name="Google Shape;766;g25281c70e1a_0_5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5281c70e1a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8" name="Google Shape;788;g25281c70e1a_0_5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5281c70e1a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0" name="Google Shape;810;g25281c70e1a_0_5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25281c70e1a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7" name="Google Shape;837;g25281c70e1a_0_6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5281c70e1a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7" name="Google Shape;857;g25281c70e1a_0_6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25281c70e1a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7" name="Google Shape;887;g25281c70e1a_0_6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25281c70e1a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8" name="Google Shape;918;g25281c70e1a_0_7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5281c70e1a_0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9" name="Google Shape;929;g25281c70e1a_0_7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25281c70e1a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0" name="Google Shape;940;g25281c70e1a_0_7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25281c70e1a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9" name="Google Shape;959;g25281c70e1a_0_7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25281c70e1a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9" name="Google Shape;989;g25281c70e1a_0_7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25281c70e1a_0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8" name="Google Shape;998;g25281c70e1a_0_7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25281c70e1a_0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4" name="Google Shape;1004;g25281c70e1a_0_7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25281c70e1a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2" name="Google Shape;1012;g25281c70e1a_0_7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25281c70e1a_0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1" name="Google Shape;1021;g25281c70e1a_0_7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25281c70e1a_0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7" name="Google Shape;1027;g25281c70e1a_0_8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5281c70e1a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3" name="Google Shape;1033;g25281c70e1a_0_8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5281c70e1a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3" name="Google Shape;1043;g25281c70e1a_0_8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2bc8b8c915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3" name="Google Shape;1053;g32bc8b8c915_1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5281c70e1a_0_1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3" name="Google Shape;1063;g25281c70e1a_0_15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25281c70e1a_0_1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2" name="Google Shape;1092;g25281c70e1a_0_13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25.png"/><Relationship Id="rId7" Type="http://schemas.openxmlformats.org/officeDocument/2006/relationships/image" Target="../media/image19.png"/><Relationship Id="rId8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image" Target="../media/image35.png"/><Relationship Id="rId6" Type="http://schemas.openxmlformats.org/officeDocument/2006/relationships/image" Target="../media/image31.png"/><Relationship Id="rId7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Relationship Id="rId7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28.png"/><Relationship Id="rId5" Type="http://schemas.openxmlformats.org/officeDocument/2006/relationships/image" Target="../media/image21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Relationship Id="rId8" Type="http://schemas.openxmlformats.org/officeDocument/2006/relationships/image" Target="../media/image3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11" Type="http://schemas.openxmlformats.org/officeDocument/2006/relationships/image" Target="../media/image33.png"/><Relationship Id="rId10" Type="http://schemas.openxmlformats.org/officeDocument/2006/relationships/image" Target="../media/image38.png"/><Relationship Id="rId12" Type="http://schemas.openxmlformats.org/officeDocument/2006/relationships/image" Target="../media/image34.png"/><Relationship Id="rId9" Type="http://schemas.openxmlformats.org/officeDocument/2006/relationships/image" Target="../media/image28.png"/><Relationship Id="rId5" Type="http://schemas.openxmlformats.org/officeDocument/2006/relationships/image" Target="../media/image21.png"/><Relationship Id="rId6" Type="http://schemas.openxmlformats.org/officeDocument/2006/relationships/image" Target="../media/image30.png"/><Relationship Id="rId7" Type="http://schemas.openxmlformats.org/officeDocument/2006/relationships/image" Target="../media/image27.png"/><Relationship Id="rId8" Type="http://schemas.openxmlformats.org/officeDocument/2006/relationships/image" Target="../media/image3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11" Type="http://schemas.openxmlformats.org/officeDocument/2006/relationships/image" Target="../media/image33.png"/><Relationship Id="rId10" Type="http://schemas.openxmlformats.org/officeDocument/2006/relationships/image" Target="../media/image38.png"/><Relationship Id="rId12" Type="http://schemas.openxmlformats.org/officeDocument/2006/relationships/image" Target="../media/image34.png"/><Relationship Id="rId9" Type="http://schemas.openxmlformats.org/officeDocument/2006/relationships/image" Target="../media/image28.png"/><Relationship Id="rId5" Type="http://schemas.openxmlformats.org/officeDocument/2006/relationships/image" Target="../media/image21.png"/><Relationship Id="rId6" Type="http://schemas.openxmlformats.org/officeDocument/2006/relationships/image" Target="../media/image37.png"/><Relationship Id="rId7" Type="http://schemas.openxmlformats.org/officeDocument/2006/relationships/image" Target="../media/image27.png"/><Relationship Id="rId8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33.png"/><Relationship Id="rId13" Type="http://schemas.openxmlformats.org/officeDocument/2006/relationships/image" Target="../media/image40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Relationship Id="rId4" Type="http://schemas.openxmlformats.org/officeDocument/2006/relationships/image" Target="../media/image36.png"/><Relationship Id="rId9" Type="http://schemas.openxmlformats.org/officeDocument/2006/relationships/image" Target="../media/image38.png"/><Relationship Id="rId5" Type="http://schemas.openxmlformats.org/officeDocument/2006/relationships/image" Target="../media/image21.png"/><Relationship Id="rId6" Type="http://schemas.openxmlformats.org/officeDocument/2006/relationships/image" Target="../media/image27.png"/><Relationship Id="rId7" Type="http://schemas.openxmlformats.org/officeDocument/2006/relationships/image" Target="../media/image32.png"/><Relationship Id="rId8" Type="http://schemas.openxmlformats.org/officeDocument/2006/relationships/image" Target="../media/image2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3.png"/><Relationship Id="rId4" Type="http://schemas.openxmlformats.org/officeDocument/2006/relationships/image" Target="../media/image47.png"/><Relationship Id="rId5" Type="http://schemas.openxmlformats.org/officeDocument/2006/relationships/image" Target="../media/image60.png"/><Relationship Id="rId6" Type="http://schemas.openxmlformats.org/officeDocument/2006/relationships/image" Target="../media/image5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9.png"/><Relationship Id="rId4" Type="http://schemas.openxmlformats.org/officeDocument/2006/relationships/image" Target="../media/image44.png"/><Relationship Id="rId5" Type="http://schemas.openxmlformats.org/officeDocument/2006/relationships/image" Target="../media/image41.png"/><Relationship Id="rId6" Type="http://schemas.openxmlformats.org/officeDocument/2006/relationships/image" Target="../media/image5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0.png"/><Relationship Id="rId4" Type="http://schemas.openxmlformats.org/officeDocument/2006/relationships/image" Target="../media/image45.png"/><Relationship Id="rId5" Type="http://schemas.openxmlformats.org/officeDocument/2006/relationships/image" Target="../media/image62.png"/><Relationship Id="rId6" Type="http://schemas.openxmlformats.org/officeDocument/2006/relationships/image" Target="../media/image54.png"/><Relationship Id="rId7" Type="http://schemas.openxmlformats.org/officeDocument/2006/relationships/image" Target="../media/image5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8.png"/><Relationship Id="rId4" Type="http://schemas.openxmlformats.org/officeDocument/2006/relationships/image" Target="../media/image55.png"/><Relationship Id="rId5" Type="http://schemas.openxmlformats.org/officeDocument/2006/relationships/image" Target="../media/image62.png"/><Relationship Id="rId6" Type="http://schemas.openxmlformats.org/officeDocument/2006/relationships/image" Target="../media/image5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2.png"/><Relationship Id="rId4" Type="http://schemas.openxmlformats.org/officeDocument/2006/relationships/image" Target="../media/image61.png"/><Relationship Id="rId5" Type="http://schemas.openxmlformats.org/officeDocument/2006/relationships/image" Target="../media/image5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8.png"/><Relationship Id="rId4" Type="http://schemas.openxmlformats.org/officeDocument/2006/relationships/image" Target="../media/image78.png"/><Relationship Id="rId5" Type="http://schemas.openxmlformats.org/officeDocument/2006/relationships/image" Target="../media/image6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8.png"/><Relationship Id="rId4" Type="http://schemas.openxmlformats.org/officeDocument/2006/relationships/image" Target="../media/image69.png"/><Relationship Id="rId5" Type="http://schemas.openxmlformats.org/officeDocument/2006/relationships/image" Target="../media/image6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5.png"/><Relationship Id="rId4" Type="http://schemas.openxmlformats.org/officeDocument/2006/relationships/image" Target="../media/image64.png"/><Relationship Id="rId5" Type="http://schemas.openxmlformats.org/officeDocument/2006/relationships/image" Target="../media/image70.png"/><Relationship Id="rId6" Type="http://schemas.openxmlformats.org/officeDocument/2006/relationships/image" Target="../media/image7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5.png"/><Relationship Id="rId4" Type="http://schemas.openxmlformats.org/officeDocument/2006/relationships/image" Target="../media/image79.png"/><Relationship Id="rId5" Type="http://schemas.openxmlformats.org/officeDocument/2006/relationships/image" Target="../media/image74.png"/><Relationship Id="rId6" Type="http://schemas.openxmlformats.org/officeDocument/2006/relationships/image" Target="../media/image68.png"/><Relationship Id="rId7" Type="http://schemas.openxmlformats.org/officeDocument/2006/relationships/image" Target="../media/image6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5.png"/><Relationship Id="rId4" Type="http://schemas.openxmlformats.org/officeDocument/2006/relationships/image" Target="../media/image71.png"/><Relationship Id="rId5" Type="http://schemas.openxmlformats.org/officeDocument/2006/relationships/image" Target="../media/image73.png"/><Relationship Id="rId6" Type="http://schemas.openxmlformats.org/officeDocument/2006/relationships/image" Target="../media/image75.png"/><Relationship Id="rId7" Type="http://schemas.openxmlformats.org/officeDocument/2006/relationships/image" Target="../media/image7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Line Clipping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Cohen-Sutherland Algo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What is Clipping?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" name="Google Shape;124;p14"/>
          <p:cNvPicPr preferRelativeResize="0"/>
          <p:nvPr/>
        </p:nvPicPr>
        <p:blipFill rotWithShape="1">
          <a:blip r:embed="rId3">
            <a:alphaModFix/>
          </a:blip>
          <a:srcRect b="26039" l="9951" r="29726" t="30209"/>
          <a:stretch/>
        </p:blipFill>
        <p:spPr>
          <a:xfrm>
            <a:off x="812800" y="1981200"/>
            <a:ext cx="104648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5"/>
          <p:cNvGrpSpPr/>
          <p:nvPr/>
        </p:nvGrpSpPr>
        <p:grpSpPr>
          <a:xfrm>
            <a:off x="2761083" y="1471103"/>
            <a:ext cx="6987217" cy="2886211"/>
            <a:chOff x="3071184" y="3514589"/>
            <a:chExt cx="6987217" cy="2886211"/>
          </a:xfrm>
        </p:grpSpPr>
        <p:grpSp>
          <p:nvGrpSpPr>
            <p:cNvPr id="130" name="Google Shape;130;p15"/>
            <p:cNvGrpSpPr/>
            <p:nvPr/>
          </p:nvGrpSpPr>
          <p:grpSpPr>
            <a:xfrm>
              <a:off x="3071184" y="4114800"/>
              <a:ext cx="6987217" cy="2286000"/>
              <a:chOff x="898" y="2208"/>
              <a:chExt cx="4574" cy="1584"/>
            </a:xfrm>
          </p:grpSpPr>
          <p:sp>
            <p:nvSpPr>
              <p:cNvPr id="131" name="Google Shape;131;p15"/>
              <p:cNvSpPr/>
              <p:nvPr/>
            </p:nvSpPr>
            <p:spPr>
              <a:xfrm>
                <a:off x="5280" y="2304"/>
                <a:ext cx="96" cy="144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3264" y="3648"/>
                <a:ext cx="2112" cy="1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>
                <a:off x="3120" y="2352"/>
                <a:ext cx="144" cy="144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3120" y="2208"/>
                <a:ext cx="2256" cy="1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5" name="Google Shape;135;p15"/>
              <p:cNvGrpSpPr/>
              <p:nvPr/>
            </p:nvGrpSpPr>
            <p:grpSpPr>
              <a:xfrm>
                <a:off x="898" y="2545"/>
                <a:ext cx="1453" cy="1041"/>
                <a:chOff x="974" y="2440"/>
                <a:chExt cx="1666" cy="1299"/>
              </a:xfrm>
            </p:grpSpPr>
            <p:grpSp>
              <p:nvGrpSpPr>
                <p:cNvPr id="136" name="Google Shape;136;p15"/>
                <p:cNvGrpSpPr/>
                <p:nvPr/>
              </p:nvGrpSpPr>
              <p:grpSpPr>
                <a:xfrm>
                  <a:off x="974" y="2555"/>
                  <a:ext cx="1666" cy="1184"/>
                  <a:chOff x="1872" y="1499"/>
                  <a:chExt cx="2304" cy="1909"/>
                </a:xfrm>
              </p:grpSpPr>
              <p:grpSp>
                <p:nvGrpSpPr>
                  <p:cNvPr id="137" name="Google Shape;137;p15"/>
                  <p:cNvGrpSpPr/>
                  <p:nvPr/>
                </p:nvGrpSpPr>
                <p:grpSpPr>
                  <a:xfrm>
                    <a:off x="2064" y="2112"/>
                    <a:ext cx="1480" cy="969"/>
                    <a:chOff x="2928" y="2544"/>
                    <a:chExt cx="2448" cy="1440"/>
                  </a:xfrm>
                </p:grpSpPr>
                <p:sp>
                  <p:nvSpPr>
                    <p:cNvPr id="138" name="Google Shape;138;p15"/>
                    <p:cNvSpPr/>
                    <p:nvPr/>
                  </p:nvSpPr>
                  <p:spPr>
                    <a:xfrm>
                      <a:off x="3408" y="3024"/>
                      <a:ext cx="1536" cy="960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39" name="Google Shape;139;p15"/>
                    <p:cNvCxnSpPr/>
                    <p:nvPr/>
                  </p:nvCxnSpPr>
                  <p:spPr>
                    <a:xfrm rot="10800000">
                      <a:off x="2928" y="3024"/>
                      <a:ext cx="48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40" name="Google Shape;140;p15"/>
                    <p:cNvCxnSpPr/>
                    <p:nvPr/>
                  </p:nvCxnSpPr>
                  <p:spPr>
                    <a:xfrm rot="10800000">
                      <a:off x="4848" y="3024"/>
                      <a:ext cx="52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41" name="Google Shape;141;p15"/>
                    <p:cNvCxnSpPr/>
                    <p:nvPr/>
                  </p:nvCxnSpPr>
                  <p:spPr>
                    <a:xfrm flipH="1" rot="10800000">
                      <a:off x="2928" y="2544"/>
                      <a:ext cx="576" cy="48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42" name="Google Shape;142;p15"/>
                    <p:cNvCxnSpPr/>
                    <p:nvPr/>
                  </p:nvCxnSpPr>
                  <p:spPr>
                    <a:xfrm>
                      <a:off x="3504" y="2544"/>
                      <a:ext cx="124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43" name="Google Shape;143;p15"/>
                    <p:cNvCxnSpPr/>
                    <p:nvPr/>
                  </p:nvCxnSpPr>
                  <p:spPr>
                    <a:xfrm>
                      <a:off x="4752" y="2544"/>
                      <a:ext cx="624" cy="48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144" name="Google Shape;144;p15"/>
                    <p:cNvSpPr/>
                    <p:nvPr/>
                  </p:nvSpPr>
                  <p:spPr>
                    <a:xfrm>
                      <a:off x="3648" y="3168"/>
                      <a:ext cx="384" cy="288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45" name="Google Shape;145;p15"/>
                    <p:cNvCxnSpPr/>
                    <p:nvPr/>
                  </p:nvCxnSpPr>
                  <p:spPr>
                    <a:xfrm>
                      <a:off x="3648" y="3312"/>
                      <a:ext cx="384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46" name="Google Shape;146;p15"/>
                    <p:cNvCxnSpPr/>
                    <p:nvPr/>
                  </p:nvCxnSpPr>
                  <p:spPr>
                    <a:xfrm>
                      <a:off x="3840" y="3168"/>
                      <a:ext cx="0" cy="288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147" name="Google Shape;147;p15"/>
                    <p:cNvSpPr/>
                    <p:nvPr/>
                  </p:nvSpPr>
                  <p:spPr>
                    <a:xfrm>
                      <a:off x="4224" y="3312"/>
                      <a:ext cx="384" cy="672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48" name="Google Shape;148;p15"/>
                  <p:cNvSpPr/>
                  <p:nvPr/>
                </p:nvSpPr>
                <p:spPr>
                  <a:xfrm>
                    <a:off x="3600" y="2064"/>
                    <a:ext cx="96" cy="1056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9" name="Google Shape;149;p15"/>
                  <p:cNvSpPr/>
                  <p:nvPr/>
                </p:nvSpPr>
                <p:spPr>
                  <a:xfrm>
                    <a:off x="3015" y="1499"/>
                    <a:ext cx="1161" cy="661"/>
                  </a:xfrm>
                  <a:custGeom>
                    <a:rect b="b" l="l" r="r" t="t"/>
                    <a:pathLst>
                      <a:path extrusionOk="0" h="661" w="1161">
                        <a:moveTo>
                          <a:pt x="108" y="457"/>
                        </a:moveTo>
                        <a:cubicBezTo>
                          <a:pt x="95" y="403"/>
                          <a:pt x="67" y="344"/>
                          <a:pt x="27" y="304"/>
                        </a:cubicBezTo>
                        <a:cubicBezTo>
                          <a:pt x="5" y="238"/>
                          <a:pt x="14" y="268"/>
                          <a:pt x="0" y="214"/>
                        </a:cubicBezTo>
                        <a:cubicBezTo>
                          <a:pt x="19" y="138"/>
                          <a:pt x="47" y="78"/>
                          <a:pt x="126" y="52"/>
                        </a:cubicBezTo>
                        <a:cubicBezTo>
                          <a:pt x="178" y="0"/>
                          <a:pt x="220" y="23"/>
                          <a:pt x="279" y="52"/>
                        </a:cubicBezTo>
                        <a:cubicBezTo>
                          <a:pt x="291" y="70"/>
                          <a:pt x="294" y="113"/>
                          <a:pt x="315" y="106"/>
                        </a:cubicBezTo>
                        <a:cubicBezTo>
                          <a:pt x="345" y="96"/>
                          <a:pt x="368" y="70"/>
                          <a:pt x="396" y="61"/>
                        </a:cubicBezTo>
                        <a:cubicBezTo>
                          <a:pt x="436" y="48"/>
                          <a:pt x="415" y="56"/>
                          <a:pt x="459" y="34"/>
                        </a:cubicBezTo>
                        <a:cubicBezTo>
                          <a:pt x="477" y="37"/>
                          <a:pt x="499" y="31"/>
                          <a:pt x="513" y="43"/>
                        </a:cubicBezTo>
                        <a:cubicBezTo>
                          <a:pt x="532" y="59"/>
                          <a:pt x="523" y="92"/>
                          <a:pt x="531" y="115"/>
                        </a:cubicBezTo>
                        <a:cubicBezTo>
                          <a:pt x="613" y="63"/>
                          <a:pt x="576" y="77"/>
                          <a:pt x="639" y="61"/>
                        </a:cubicBezTo>
                        <a:cubicBezTo>
                          <a:pt x="659" y="102"/>
                          <a:pt x="650" y="128"/>
                          <a:pt x="693" y="142"/>
                        </a:cubicBezTo>
                        <a:cubicBezTo>
                          <a:pt x="717" y="136"/>
                          <a:pt x="744" y="137"/>
                          <a:pt x="765" y="124"/>
                        </a:cubicBezTo>
                        <a:cubicBezTo>
                          <a:pt x="780" y="115"/>
                          <a:pt x="793" y="103"/>
                          <a:pt x="810" y="97"/>
                        </a:cubicBezTo>
                        <a:cubicBezTo>
                          <a:pt x="848" y="84"/>
                          <a:pt x="889" y="83"/>
                          <a:pt x="927" y="70"/>
                        </a:cubicBezTo>
                        <a:cubicBezTo>
                          <a:pt x="954" y="124"/>
                          <a:pt x="917" y="202"/>
                          <a:pt x="954" y="250"/>
                        </a:cubicBezTo>
                        <a:cubicBezTo>
                          <a:pt x="976" y="279"/>
                          <a:pt x="1026" y="256"/>
                          <a:pt x="1062" y="259"/>
                        </a:cubicBezTo>
                        <a:cubicBezTo>
                          <a:pt x="1062" y="259"/>
                          <a:pt x="1124" y="288"/>
                          <a:pt x="1125" y="295"/>
                        </a:cubicBezTo>
                        <a:cubicBezTo>
                          <a:pt x="1139" y="363"/>
                          <a:pt x="1135" y="433"/>
                          <a:pt x="1143" y="502"/>
                        </a:cubicBezTo>
                        <a:cubicBezTo>
                          <a:pt x="1144" y="511"/>
                          <a:pt x="1149" y="520"/>
                          <a:pt x="1152" y="529"/>
                        </a:cubicBezTo>
                        <a:cubicBezTo>
                          <a:pt x="1140" y="661"/>
                          <a:pt x="1161" y="642"/>
                          <a:pt x="1035" y="628"/>
                        </a:cubicBezTo>
                        <a:cubicBezTo>
                          <a:pt x="1017" y="616"/>
                          <a:pt x="999" y="604"/>
                          <a:pt x="981" y="592"/>
                        </a:cubicBezTo>
                        <a:cubicBezTo>
                          <a:pt x="965" y="581"/>
                          <a:pt x="880" y="638"/>
                          <a:pt x="855" y="646"/>
                        </a:cubicBezTo>
                        <a:cubicBezTo>
                          <a:pt x="842" y="608"/>
                          <a:pt x="820" y="595"/>
                          <a:pt x="783" y="583"/>
                        </a:cubicBezTo>
                        <a:cubicBezTo>
                          <a:pt x="765" y="595"/>
                          <a:pt x="747" y="607"/>
                          <a:pt x="729" y="619"/>
                        </a:cubicBezTo>
                        <a:cubicBezTo>
                          <a:pt x="719" y="625"/>
                          <a:pt x="678" y="594"/>
                          <a:pt x="675" y="592"/>
                        </a:cubicBezTo>
                        <a:cubicBezTo>
                          <a:pt x="653" y="581"/>
                          <a:pt x="615" y="577"/>
                          <a:pt x="594" y="574"/>
                        </a:cubicBezTo>
                        <a:cubicBezTo>
                          <a:pt x="479" y="586"/>
                          <a:pt x="525" y="562"/>
                          <a:pt x="450" y="637"/>
                        </a:cubicBezTo>
                        <a:cubicBezTo>
                          <a:pt x="437" y="650"/>
                          <a:pt x="396" y="655"/>
                          <a:pt x="396" y="655"/>
                        </a:cubicBezTo>
                        <a:cubicBezTo>
                          <a:pt x="360" y="652"/>
                          <a:pt x="321" y="660"/>
                          <a:pt x="288" y="646"/>
                        </a:cubicBezTo>
                        <a:cubicBezTo>
                          <a:pt x="268" y="637"/>
                          <a:pt x="252" y="592"/>
                          <a:pt x="252" y="592"/>
                        </a:cubicBezTo>
                        <a:cubicBezTo>
                          <a:pt x="235" y="524"/>
                          <a:pt x="207" y="537"/>
                          <a:pt x="135" y="529"/>
                        </a:cubicBezTo>
                        <a:cubicBezTo>
                          <a:pt x="126" y="501"/>
                          <a:pt x="135" y="403"/>
                          <a:pt x="108" y="457"/>
                        </a:cubicBezTo>
                        <a:close/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50" name="Google Shape;150;p15"/>
                  <p:cNvGrpSpPr/>
                  <p:nvPr/>
                </p:nvGrpSpPr>
                <p:grpSpPr>
                  <a:xfrm>
                    <a:off x="1872" y="2880"/>
                    <a:ext cx="440" cy="389"/>
                    <a:chOff x="2832" y="3456"/>
                    <a:chExt cx="816" cy="528"/>
                  </a:xfrm>
                </p:grpSpPr>
                <p:sp>
                  <p:nvSpPr>
                    <p:cNvPr id="151" name="Google Shape;151;p15"/>
                    <p:cNvSpPr/>
                    <p:nvPr/>
                  </p:nvSpPr>
                  <p:spPr>
                    <a:xfrm>
                      <a:off x="3120" y="3648"/>
                      <a:ext cx="384" cy="144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2" name="Google Shape;152;p15"/>
                    <p:cNvSpPr/>
                    <p:nvPr/>
                  </p:nvSpPr>
                  <p:spPr>
                    <a:xfrm>
                      <a:off x="2832" y="3552"/>
                      <a:ext cx="192" cy="9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3" name="Google Shape;153;p15"/>
                    <p:cNvSpPr/>
                    <p:nvPr/>
                  </p:nvSpPr>
                  <p:spPr>
                    <a:xfrm>
                      <a:off x="3024" y="3552"/>
                      <a:ext cx="144" cy="9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54" name="Google Shape;154;p15"/>
                    <p:cNvCxnSpPr/>
                    <p:nvPr/>
                  </p:nvCxnSpPr>
                  <p:spPr>
                    <a:xfrm flipH="1">
                      <a:off x="3024" y="3792"/>
                      <a:ext cx="144" cy="1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55" name="Google Shape;155;p15"/>
                    <p:cNvCxnSpPr/>
                    <p:nvPr/>
                  </p:nvCxnSpPr>
                  <p:spPr>
                    <a:xfrm>
                      <a:off x="3168" y="3792"/>
                      <a:ext cx="48" cy="1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56" name="Google Shape;156;p15"/>
                    <p:cNvCxnSpPr/>
                    <p:nvPr/>
                  </p:nvCxnSpPr>
                  <p:spPr>
                    <a:xfrm flipH="1">
                      <a:off x="3408" y="3792"/>
                      <a:ext cx="48" cy="1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57" name="Google Shape;157;p15"/>
                    <p:cNvCxnSpPr/>
                    <p:nvPr/>
                  </p:nvCxnSpPr>
                  <p:spPr>
                    <a:xfrm>
                      <a:off x="3504" y="3792"/>
                      <a:ext cx="96" cy="1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58" name="Google Shape;158;p15"/>
                    <p:cNvCxnSpPr/>
                    <p:nvPr/>
                  </p:nvCxnSpPr>
                  <p:spPr>
                    <a:xfrm flipH="1" rot="10800000">
                      <a:off x="3504" y="3648"/>
                      <a:ext cx="96" cy="48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59" name="Google Shape;159;p15"/>
                    <p:cNvCxnSpPr/>
                    <p:nvPr/>
                  </p:nvCxnSpPr>
                  <p:spPr>
                    <a:xfrm flipH="1" rot="10800000">
                      <a:off x="3600" y="3456"/>
                      <a:ext cx="48" cy="1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160" name="Google Shape;160;p15"/>
                    <p:cNvSpPr/>
                    <p:nvPr/>
                  </p:nvSpPr>
                  <p:spPr>
                    <a:xfrm>
                      <a:off x="2928" y="3456"/>
                      <a:ext cx="96" cy="96"/>
                    </a:xfrm>
                    <a:prstGeom prst="triangle">
                      <a:avLst>
                        <a:gd fmla="val 50000" name="adj"/>
                      </a:avLst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1" name="Google Shape;161;p15"/>
                    <p:cNvSpPr/>
                    <p:nvPr/>
                  </p:nvSpPr>
                  <p:spPr>
                    <a:xfrm>
                      <a:off x="3072" y="3456"/>
                      <a:ext cx="96" cy="96"/>
                    </a:xfrm>
                    <a:prstGeom prst="triangle">
                      <a:avLst>
                        <a:gd fmla="val 50000" name="adj"/>
                      </a:avLst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cxnSp>
                <p:nvCxnSpPr>
                  <p:cNvPr id="162" name="Google Shape;162;p15"/>
                  <p:cNvCxnSpPr/>
                  <p:nvPr/>
                </p:nvCxnSpPr>
                <p:spPr>
                  <a:xfrm flipH="1">
                    <a:off x="2448" y="3072"/>
                    <a:ext cx="384" cy="33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63" name="Google Shape;163;p15"/>
                  <p:cNvCxnSpPr/>
                  <p:nvPr/>
                </p:nvCxnSpPr>
                <p:spPr>
                  <a:xfrm flipH="1">
                    <a:off x="2880" y="3072"/>
                    <a:ext cx="192" cy="33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64" name="Google Shape;164;p15"/>
                <p:cNvSpPr/>
                <p:nvPr/>
              </p:nvSpPr>
              <p:spPr>
                <a:xfrm>
                  <a:off x="1212" y="2440"/>
                  <a:ext cx="1284" cy="595"/>
                </a:xfrm>
                <a:prstGeom prst="rect">
                  <a:avLst/>
                </a:prstGeom>
                <a:noFill/>
                <a:ln cap="flat" cmpd="sng" w="38100">
                  <a:solidFill>
                    <a:schemeClr val="dk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65" name="Google Shape;165;p15"/>
              <p:cNvCxnSpPr/>
              <p:nvPr/>
            </p:nvCxnSpPr>
            <p:spPr>
              <a:xfrm flipH="1" rot="10800000">
                <a:off x="3268" y="3375"/>
                <a:ext cx="204" cy="25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6" name="Google Shape;166;p15"/>
              <p:cNvCxnSpPr/>
              <p:nvPr/>
            </p:nvCxnSpPr>
            <p:spPr>
              <a:xfrm>
                <a:off x="3472" y="3375"/>
                <a:ext cx="856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7" name="Google Shape;167;p15"/>
              <p:cNvCxnSpPr/>
              <p:nvPr/>
            </p:nvCxnSpPr>
            <p:spPr>
              <a:xfrm>
                <a:off x="4328" y="3375"/>
                <a:ext cx="332" cy="3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68" name="Google Shape;168;p15"/>
              <p:cNvSpPr/>
              <p:nvPr/>
            </p:nvSpPr>
            <p:spPr>
              <a:xfrm>
                <a:off x="4834" y="3360"/>
                <a:ext cx="116" cy="318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>
                <a:off x="4155" y="2551"/>
                <a:ext cx="1317" cy="889"/>
              </a:xfrm>
              <a:custGeom>
                <a:rect b="b" l="l" r="r" t="t"/>
                <a:pathLst>
                  <a:path extrusionOk="0" h="661" w="1161">
                    <a:moveTo>
                      <a:pt x="108" y="457"/>
                    </a:moveTo>
                    <a:cubicBezTo>
                      <a:pt x="95" y="403"/>
                      <a:pt x="67" y="344"/>
                      <a:pt x="27" y="304"/>
                    </a:cubicBezTo>
                    <a:cubicBezTo>
                      <a:pt x="5" y="238"/>
                      <a:pt x="14" y="268"/>
                      <a:pt x="0" y="214"/>
                    </a:cubicBezTo>
                    <a:cubicBezTo>
                      <a:pt x="19" y="138"/>
                      <a:pt x="47" y="78"/>
                      <a:pt x="126" y="52"/>
                    </a:cubicBezTo>
                    <a:cubicBezTo>
                      <a:pt x="178" y="0"/>
                      <a:pt x="220" y="23"/>
                      <a:pt x="279" y="52"/>
                    </a:cubicBezTo>
                    <a:cubicBezTo>
                      <a:pt x="291" y="70"/>
                      <a:pt x="294" y="113"/>
                      <a:pt x="315" y="106"/>
                    </a:cubicBezTo>
                    <a:cubicBezTo>
                      <a:pt x="345" y="96"/>
                      <a:pt x="368" y="70"/>
                      <a:pt x="396" y="61"/>
                    </a:cubicBezTo>
                    <a:cubicBezTo>
                      <a:pt x="436" y="48"/>
                      <a:pt x="415" y="56"/>
                      <a:pt x="459" y="34"/>
                    </a:cubicBezTo>
                    <a:cubicBezTo>
                      <a:pt x="477" y="37"/>
                      <a:pt x="499" y="31"/>
                      <a:pt x="513" y="43"/>
                    </a:cubicBezTo>
                    <a:cubicBezTo>
                      <a:pt x="532" y="59"/>
                      <a:pt x="523" y="92"/>
                      <a:pt x="531" y="115"/>
                    </a:cubicBezTo>
                    <a:cubicBezTo>
                      <a:pt x="613" y="63"/>
                      <a:pt x="576" y="77"/>
                      <a:pt x="639" y="61"/>
                    </a:cubicBezTo>
                    <a:cubicBezTo>
                      <a:pt x="659" y="102"/>
                      <a:pt x="650" y="128"/>
                      <a:pt x="693" y="142"/>
                    </a:cubicBezTo>
                    <a:cubicBezTo>
                      <a:pt x="717" y="136"/>
                      <a:pt x="744" y="137"/>
                      <a:pt x="765" y="124"/>
                    </a:cubicBezTo>
                    <a:cubicBezTo>
                      <a:pt x="780" y="115"/>
                      <a:pt x="793" y="103"/>
                      <a:pt x="810" y="97"/>
                    </a:cubicBezTo>
                    <a:cubicBezTo>
                      <a:pt x="848" y="84"/>
                      <a:pt x="889" y="83"/>
                      <a:pt x="927" y="70"/>
                    </a:cubicBezTo>
                    <a:cubicBezTo>
                      <a:pt x="954" y="124"/>
                      <a:pt x="917" y="202"/>
                      <a:pt x="954" y="250"/>
                    </a:cubicBezTo>
                    <a:cubicBezTo>
                      <a:pt x="976" y="279"/>
                      <a:pt x="1026" y="256"/>
                      <a:pt x="1062" y="259"/>
                    </a:cubicBezTo>
                    <a:cubicBezTo>
                      <a:pt x="1062" y="259"/>
                      <a:pt x="1124" y="288"/>
                      <a:pt x="1125" y="295"/>
                    </a:cubicBezTo>
                    <a:cubicBezTo>
                      <a:pt x="1139" y="363"/>
                      <a:pt x="1135" y="433"/>
                      <a:pt x="1143" y="502"/>
                    </a:cubicBezTo>
                    <a:cubicBezTo>
                      <a:pt x="1144" y="511"/>
                      <a:pt x="1149" y="520"/>
                      <a:pt x="1152" y="529"/>
                    </a:cubicBezTo>
                    <a:cubicBezTo>
                      <a:pt x="1140" y="661"/>
                      <a:pt x="1161" y="642"/>
                      <a:pt x="1035" y="628"/>
                    </a:cubicBezTo>
                    <a:cubicBezTo>
                      <a:pt x="1017" y="616"/>
                      <a:pt x="999" y="604"/>
                      <a:pt x="981" y="592"/>
                    </a:cubicBezTo>
                    <a:cubicBezTo>
                      <a:pt x="965" y="581"/>
                      <a:pt x="880" y="638"/>
                      <a:pt x="855" y="646"/>
                    </a:cubicBezTo>
                    <a:cubicBezTo>
                      <a:pt x="842" y="608"/>
                      <a:pt x="820" y="595"/>
                      <a:pt x="783" y="583"/>
                    </a:cubicBezTo>
                    <a:cubicBezTo>
                      <a:pt x="765" y="595"/>
                      <a:pt x="747" y="607"/>
                      <a:pt x="729" y="619"/>
                    </a:cubicBezTo>
                    <a:cubicBezTo>
                      <a:pt x="719" y="625"/>
                      <a:pt x="678" y="594"/>
                      <a:pt x="675" y="592"/>
                    </a:cubicBezTo>
                    <a:cubicBezTo>
                      <a:pt x="653" y="581"/>
                      <a:pt x="615" y="577"/>
                      <a:pt x="594" y="574"/>
                    </a:cubicBezTo>
                    <a:cubicBezTo>
                      <a:pt x="479" y="586"/>
                      <a:pt x="525" y="562"/>
                      <a:pt x="450" y="637"/>
                    </a:cubicBezTo>
                    <a:cubicBezTo>
                      <a:pt x="437" y="650"/>
                      <a:pt x="396" y="655"/>
                      <a:pt x="396" y="655"/>
                    </a:cubicBezTo>
                    <a:cubicBezTo>
                      <a:pt x="360" y="652"/>
                      <a:pt x="321" y="660"/>
                      <a:pt x="288" y="646"/>
                    </a:cubicBezTo>
                    <a:cubicBezTo>
                      <a:pt x="268" y="637"/>
                      <a:pt x="252" y="592"/>
                      <a:pt x="252" y="592"/>
                    </a:cubicBezTo>
                    <a:cubicBezTo>
                      <a:pt x="235" y="524"/>
                      <a:pt x="207" y="537"/>
                      <a:pt x="135" y="529"/>
                    </a:cubicBezTo>
                    <a:cubicBezTo>
                      <a:pt x="126" y="501"/>
                      <a:pt x="135" y="403"/>
                      <a:pt x="108" y="45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5"/>
              <p:cNvSpPr/>
              <p:nvPr/>
            </p:nvSpPr>
            <p:spPr>
              <a:xfrm>
                <a:off x="5280" y="2592"/>
                <a:ext cx="96" cy="1056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>
                <a:off x="3264" y="2352"/>
                <a:ext cx="2015" cy="1291"/>
              </a:xfrm>
              <a:prstGeom prst="rect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>
                <a:off x="5376" y="2880"/>
                <a:ext cx="96" cy="57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>
                <a:off x="2592" y="2880"/>
                <a:ext cx="336" cy="336"/>
              </a:xfrm>
              <a:prstGeom prst="rightArrow">
                <a:avLst>
                  <a:gd fmla="val 50000" name="adj1"/>
                  <a:gd fmla="val 25000" name="adj2"/>
                </a:avLst>
              </a:prstGeom>
              <a:solidFill>
                <a:schemeClr val="hlink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4" name="Google Shape;174;p15"/>
            <p:cNvSpPr txBox="1"/>
            <p:nvPr/>
          </p:nvSpPr>
          <p:spPr>
            <a:xfrm>
              <a:off x="6625240" y="3514589"/>
              <a:ext cx="22820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Clipped view in screen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static.javatpoint.com/tutorial/computer-graphics/images/computer-graphics-clipping1.jpg" id="179" name="Google Shape;1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6726" y="2142890"/>
            <a:ext cx="6305550" cy="287655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 txBox="1"/>
          <p:nvPr/>
        </p:nvSpPr>
        <p:spPr>
          <a:xfrm>
            <a:off x="5368446" y="1025718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Clipping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>
            <p:ph type="title"/>
          </p:nvPr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Clipping in a Raster World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7"/>
          <p:cNvSpPr txBox="1"/>
          <p:nvPr>
            <p:ph idx="1" type="body"/>
          </p:nvPr>
        </p:nvSpPr>
        <p:spPr>
          <a:xfrm>
            <a:off x="498475" y="1047750"/>
            <a:ext cx="113793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Clipping techniques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Analytical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Lines, polygons etc.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Floating point graphics package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During scan conversion (scissoring)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Checking extrema suffices, internal points can be ignored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Circles, curves etc.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During writing a pixel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Outline primitive not much larger, few pixels are clipped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/>
          <p:nvPr/>
        </p:nvSpPr>
        <p:spPr>
          <a:xfrm>
            <a:off x="961577" y="395825"/>
            <a:ext cx="8229600" cy="1801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point (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x,y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is not clipped if: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x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x ≤ x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y ≤ y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endParaRPr b="0" baseline="-25000" i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otherwise it is clipped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2" name="Google Shape;192;p18"/>
          <p:cNvCxnSpPr/>
          <p:nvPr/>
        </p:nvCxnSpPr>
        <p:spPr>
          <a:xfrm rot="10800000">
            <a:off x="1766805" y="3629564"/>
            <a:ext cx="4022725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18"/>
          <p:cNvCxnSpPr/>
          <p:nvPr/>
        </p:nvCxnSpPr>
        <p:spPr>
          <a:xfrm>
            <a:off x="1200067" y="5729826"/>
            <a:ext cx="45386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" name="Google Shape;194;p18"/>
          <p:cNvCxnSpPr/>
          <p:nvPr/>
        </p:nvCxnSpPr>
        <p:spPr>
          <a:xfrm rot="10800000">
            <a:off x="1662030" y="2704051"/>
            <a:ext cx="0" cy="33543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5" name="Google Shape;195;p18"/>
          <p:cNvSpPr/>
          <p:nvPr/>
        </p:nvSpPr>
        <p:spPr>
          <a:xfrm>
            <a:off x="2643105" y="3626389"/>
            <a:ext cx="1978025" cy="131921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18"/>
          <p:cNvCxnSpPr/>
          <p:nvPr/>
        </p:nvCxnSpPr>
        <p:spPr>
          <a:xfrm rot="10800000">
            <a:off x="1555667" y="3624801"/>
            <a:ext cx="1968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18"/>
          <p:cNvCxnSpPr/>
          <p:nvPr/>
        </p:nvCxnSpPr>
        <p:spPr>
          <a:xfrm rot="10800000">
            <a:off x="1555667" y="4959889"/>
            <a:ext cx="1968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18"/>
          <p:cNvCxnSpPr/>
          <p:nvPr/>
        </p:nvCxnSpPr>
        <p:spPr>
          <a:xfrm>
            <a:off x="2649455" y="5636164"/>
            <a:ext cx="0" cy="2000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18"/>
          <p:cNvCxnSpPr/>
          <p:nvPr/>
        </p:nvCxnSpPr>
        <p:spPr>
          <a:xfrm>
            <a:off x="4619542" y="5636164"/>
            <a:ext cx="0" cy="2000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18"/>
          <p:cNvSpPr txBox="1"/>
          <p:nvPr/>
        </p:nvSpPr>
        <p:spPr>
          <a:xfrm>
            <a:off x="988930" y="3399376"/>
            <a:ext cx="5905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988930" y="4748751"/>
            <a:ext cx="547687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2319255" y="5726651"/>
            <a:ext cx="547687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4290930" y="5728239"/>
            <a:ext cx="5905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3108242" y="3235864"/>
            <a:ext cx="996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4094080" y="4024851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4949742" y="3434301"/>
            <a:ext cx="74613" cy="7461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4103605" y="3929601"/>
            <a:ext cx="366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5000542" y="3331114"/>
            <a:ext cx="366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2839955" y="3807364"/>
            <a:ext cx="366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1923967" y="4062951"/>
            <a:ext cx="366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3700380" y="5193251"/>
            <a:ext cx="4302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3235242" y="4531264"/>
            <a:ext cx="366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3328905" y="2783426"/>
            <a:ext cx="366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5000542" y="4616989"/>
            <a:ext cx="366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4870367" y="3235864"/>
            <a:ext cx="481013" cy="4826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4794167" y="2986626"/>
            <a:ext cx="6969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Clipped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2639930" y="4135976"/>
            <a:ext cx="194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Points Within the Window are Not Clipped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18"/>
          <p:cNvCxnSpPr/>
          <p:nvPr/>
        </p:nvCxnSpPr>
        <p:spPr>
          <a:xfrm rot="10800000">
            <a:off x="1777917" y="4958301"/>
            <a:ext cx="4021138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18"/>
          <p:cNvCxnSpPr/>
          <p:nvPr/>
        </p:nvCxnSpPr>
        <p:spPr>
          <a:xfrm rot="5400000">
            <a:off x="1190542" y="4166139"/>
            <a:ext cx="291465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18"/>
          <p:cNvCxnSpPr/>
          <p:nvPr/>
        </p:nvCxnSpPr>
        <p:spPr>
          <a:xfrm rot="5400000">
            <a:off x="3162217" y="4145501"/>
            <a:ext cx="291465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18"/>
          <p:cNvSpPr/>
          <p:nvPr/>
        </p:nvSpPr>
        <p:spPr>
          <a:xfrm>
            <a:off x="2811380" y="3901026"/>
            <a:ext cx="74612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3219367" y="4624926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1904917" y="4178839"/>
            <a:ext cx="76200" cy="7461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3671805" y="5298026"/>
            <a:ext cx="76200" cy="7461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3300330" y="2886614"/>
            <a:ext cx="74612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3178092" y="2675476"/>
            <a:ext cx="481013" cy="481013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3621005" y="2791364"/>
            <a:ext cx="6969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Clipped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3571792" y="5107526"/>
            <a:ext cx="482600" cy="481013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2919330" y="5217064"/>
            <a:ext cx="6969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Clipped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1798555" y="3989926"/>
            <a:ext cx="481012" cy="481013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1722355" y="3740689"/>
            <a:ext cx="6969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Clipped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8631762" y="3532300"/>
            <a:ext cx="1978025" cy="131921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10092262" y="3835512"/>
            <a:ext cx="366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8828612" y="3713275"/>
            <a:ext cx="366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9223899" y="4437175"/>
            <a:ext cx="366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8800037" y="3806937"/>
            <a:ext cx="74612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9208024" y="4530837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10074713" y="3950392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6948503" y="4024851"/>
            <a:ext cx="513272" cy="484909"/>
          </a:xfrm>
          <a:prstGeom prst="rightArrow">
            <a:avLst>
              <a:gd fmla="val 50000" name="adj1"/>
              <a:gd fmla="val 25000" name="adj2"/>
            </a:avLst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19"/>
          <p:cNvGrpSpPr/>
          <p:nvPr/>
        </p:nvGrpSpPr>
        <p:grpSpPr>
          <a:xfrm>
            <a:off x="378625" y="1502906"/>
            <a:ext cx="5148263" cy="3617912"/>
            <a:chOff x="3272900" y="1502908"/>
            <a:chExt cx="5148263" cy="3617913"/>
          </a:xfrm>
        </p:grpSpPr>
        <p:cxnSp>
          <p:nvCxnSpPr>
            <p:cNvPr id="245" name="Google Shape;245;p19"/>
            <p:cNvCxnSpPr/>
            <p:nvPr/>
          </p:nvCxnSpPr>
          <p:spPr>
            <a:xfrm rot="5400000">
              <a:off x="3453875" y="3088820"/>
              <a:ext cx="3171825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6" name="Google Shape;246;p19"/>
            <p:cNvCxnSpPr/>
            <p:nvPr/>
          </p:nvCxnSpPr>
          <p:spPr>
            <a:xfrm rot="5400000">
              <a:off x="5555725" y="3123745"/>
              <a:ext cx="3173413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7" name="Google Shape;247;p19"/>
            <p:cNvCxnSpPr/>
            <p:nvPr/>
          </p:nvCxnSpPr>
          <p:spPr>
            <a:xfrm rot="10800000">
              <a:off x="4041250" y="2523670"/>
              <a:ext cx="4335463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8" name="Google Shape;248;p19"/>
            <p:cNvCxnSpPr/>
            <p:nvPr/>
          </p:nvCxnSpPr>
          <p:spPr>
            <a:xfrm rot="10800000">
              <a:off x="4085700" y="3915907"/>
              <a:ext cx="4335463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9" name="Google Shape;249;p19"/>
            <p:cNvSpPr/>
            <p:nvPr/>
          </p:nvSpPr>
          <p:spPr>
            <a:xfrm>
              <a:off x="5036613" y="2509382"/>
              <a:ext cx="2108200" cy="140652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0" name="Google Shape;250;p19"/>
            <p:cNvCxnSpPr/>
            <p:nvPr/>
          </p:nvCxnSpPr>
          <p:spPr>
            <a:xfrm rot="10800000">
              <a:off x="3876150" y="2518907"/>
              <a:ext cx="2111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1" name="Google Shape;251;p19"/>
            <p:cNvCxnSpPr/>
            <p:nvPr/>
          </p:nvCxnSpPr>
          <p:spPr>
            <a:xfrm rot="10800000">
              <a:off x="3876150" y="3917495"/>
              <a:ext cx="2111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19"/>
            <p:cNvCxnSpPr/>
            <p:nvPr/>
          </p:nvCxnSpPr>
          <p:spPr>
            <a:xfrm>
              <a:off x="5042963" y="4652507"/>
              <a:ext cx="0" cy="2127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3" name="Google Shape;253;p19"/>
            <p:cNvCxnSpPr/>
            <p:nvPr/>
          </p:nvCxnSpPr>
          <p:spPr>
            <a:xfrm>
              <a:off x="7143225" y="4636632"/>
              <a:ext cx="0" cy="228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4" name="Google Shape;254;p19"/>
            <p:cNvSpPr txBox="1"/>
            <p:nvPr/>
          </p:nvSpPr>
          <p:spPr>
            <a:xfrm>
              <a:off x="3272900" y="2307770"/>
              <a:ext cx="590550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>
              <a:off x="3272900" y="3706357"/>
              <a:ext cx="547688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9"/>
            <p:cNvSpPr txBox="1"/>
            <p:nvPr/>
          </p:nvSpPr>
          <p:spPr>
            <a:xfrm>
              <a:off x="4690538" y="4749345"/>
              <a:ext cx="547688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9"/>
            <p:cNvSpPr txBox="1"/>
            <p:nvPr/>
          </p:nvSpPr>
          <p:spPr>
            <a:xfrm>
              <a:off x="6792388" y="4750932"/>
              <a:ext cx="590550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9"/>
            <p:cNvSpPr txBox="1"/>
            <p:nvPr/>
          </p:nvSpPr>
          <p:spPr>
            <a:xfrm>
              <a:off x="5531913" y="2095045"/>
              <a:ext cx="9969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Window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9" name="Google Shape;259;p19"/>
            <p:cNvCxnSpPr/>
            <p:nvPr/>
          </p:nvCxnSpPr>
          <p:spPr>
            <a:xfrm flipH="1" rot="10800000">
              <a:off x="5320775" y="2655432"/>
              <a:ext cx="701675" cy="3508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260" name="Google Shape;260;p19"/>
            <p:cNvCxnSpPr/>
            <p:nvPr/>
          </p:nvCxnSpPr>
          <p:spPr>
            <a:xfrm flipH="1" rot="10800000">
              <a:off x="4341288" y="1807707"/>
              <a:ext cx="1028700" cy="8477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261" name="Google Shape;261;p19"/>
            <p:cNvCxnSpPr/>
            <p:nvPr/>
          </p:nvCxnSpPr>
          <p:spPr>
            <a:xfrm>
              <a:off x="5420788" y="3682545"/>
              <a:ext cx="742950" cy="584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262" name="Google Shape;262;p19"/>
            <p:cNvCxnSpPr/>
            <p:nvPr/>
          </p:nvCxnSpPr>
          <p:spPr>
            <a:xfrm>
              <a:off x="4620688" y="3249157"/>
              <a:ext cx="2943225" cy="457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263" name="Google Shape;263;p19"/>
            <p:cNvSpPr txBox="1"/>
            <p:nvPr/>
          </p:nvSpPr>
          <p:spPr>
            <a:xfrm>
              <a:off x="4126975" y="2688770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9"/>
            <p:cNvSpPr txBox="1"/>
            <p:nvPr/>
          </p:nvSpPr>
          <p:spPr>
            <a:xfrm>
              <a:off x="6017688" y="2537957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9"/>
            <p:cNvSpPr txBox="1"/>
            <p:nvPr/>
          </p:nvSpPr>
          <p:spPr>
            <a:xfrm>
              <a:off x="5146150" y="3006270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9"/>
            <p:cNvSpPr txBox="1"/>
            <p:nvPr/>
          </p:nvSpPr>
          <p:spPr>
            <a:xfrm>
              <a:off x="4131738" y="3258682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9"/>
            <p:cNvSpPr txBox="1"/>
            <p:nvPr/>
          </p:nvSpPr>
          <p:spPr>
            <a:xfrm>
              <a:off x="6163738" y="4181020"/>
              <a:ext cx="4395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9"/>
            <p:cNvSpPr txBox="1"/>
            <p:nvPr/>
          </p:nvSpPr>
          <p:spPr>
            <a:xfrm>
              <a:off x="5414438" y="3507920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9"/>
            <p:cNvSpPr txBox="1"/>
            <p:nvPr/>
          </p:nvSpPr>
          <p:spPr>
            <a:xfrm>
              <a:off x="5355700" y="1675945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9"/>
            <p:cNvSpPr txBox="1"/>
            <p:nvPr/>
          </p:nvSpPr>
          <p:spPr>
            <a:xfrm>
              <a:off x="7549625" y="3565070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1" name="Google Shape;271;p19"/>
            <p:cNvCxnSpPr/>
            <p:nvPr/>
          </p:nvCxnSpPr>
          <p:spPr>
            <a:xfrm flipH="1" rot="10800000">
              <a:off x="4438125" y="4471532"/>
              <a:ext cx="3068638" cy="1730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272" name="Google Shape;272;p19"/>
            <p:cNvSpPr txBox="1"/>
            <p:nvPr/>
          </p:nvSpPr>
          <p:spPr>
            <a:xfrm>
              <a:off x="3995213" y="4323895"/>
              <a:ext cx="4395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9"/>
            <p:cNvSpPr txBox="1"/>
            <p:nvPr/>
          </p:nvSpPr>
          <p:spPr>
            <a:xfrm>
              <a:off x="7508350" y="4328657"/>
              <a:ext cx="4395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74" name="Google Shape;274;p19"/>
          <p:cNvCxnSpPr/>
          <p:nvPr/>
        </p:nvCxnSpPr>
        <p:spPr>
          <a:xfrm rot="5400000">
            <a:off x="6800774" y="3087233"/>
            <a:ext cx="3171825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19"/>
          <p:cNvCxnSpPr/>
          <p:nvPr/>
        </p:nvCxnSpPr>
        <p:spPr>
          <a:xfrm rot="5400000">
            <a:off x="8902624" y="3122158"/>
            <a:ext cx="3173413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19"/>
          <p:cNvCxnSpPr/>
          <p:nvPr/>
        </p:nvCxnSpPr>
        <p:spPr>
          <a:xfrm rot="10800000">
            <a:off x="7388149" y="2522083"/>
            <a:ext cx="4335463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19"/>
          <p:cNvCxnSpPr/>
          <p:nvPr/>
        </p:nvCxnSpPr>
        <p:spPr>
          <a:xfrm rot="10800000">
            <a:off x="7432599" y="3914320"/>
            <a:ext cx="4335463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19"/>
          <p:cNvSpPr/>
          <p:nvPr/>
        </p:nvSpPr>
        <p:spPr>
          <a:xfrm>
            <a:off x="8383512" y="2507795"/>
            <a:ext cx="2108200" cy="14065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19"/>
          <p:cNvCxnSpPr/>
          <p:nvPr/>
        </p:nvCxnSpPr>
        <p:spPr>
          <a:xfrm rot="10800000">
            <a:off x="7223049" y="2517320"/>
            <a:ext cx="21113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19"/>
          <p:cNvCxnSpPr/>
          <p:nvPr/>
        </p:nvCxnSpPr>
        <p:spPr>
          <a:xfrm rot="10800000">
            <a:off x="7223049" y="3915908"/>
            <a:ext cx="21113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19"/>
          <p:cNvCxnSpPr/>
          <p:nvPr/>
        </p:nvCxnSpPr>
        <p:spPr>
          <a:xfrm>
            <a:off x="8389862" y="4650920"/>
            <a:ext cx="0" cy="212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19"/>
          <p:cNvCxnSpPr/>
          <p:nvPr/>
        </p:nvCxnSpPr>
        <p:spPr>
          <a:xfrm>
            <a:off x="10490124" y="4635045"/>
            <a:ext cx="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9"/>
          <p:cNvSpPr txBox="1"/>
          <p:nvPr/>
        </p:nvSpPr>
        <p:spPr>
          <a:xfrm>
            <a:off x="6619799" y="2306183"/>
            <a:ext cx="5905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6619799" y="3704770"/>
            <a:ext cx="5476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8037437" y="4747758"/>
            <a:ext cx="5476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9"/>
          <p:cNvSpPr txBox="1"/>
          <p:nvPr/>
        </p:nvSpPr>
        <p:spPr>
          <a:xfrm>
            <a:off x="10139287" y="4749345"/>
            <a:ext cx="5905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9"/>
          <p:cNvSpPr txBox="1"/>
          <p:nvPr/>
        </p:nvSpPr>
        <p:spPr>
          <a:xfrm>
            <a:off x="8878812" y="2093458"/>
            <a:ext cx="996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19"/>
          <p:cNvCxnSpPr/>
          <p:nvPr/>
        </p:nvCxnSpPr>
        <p:spPr>
          <a:xfrm flipH="1" rot="10800000">
            <a:off x="8667674" y="2653845"/>
            <a:ext cx="701675" cy="3508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289" name="Google Shape;289;p19"/>
          <p:cNvCxnSpPr/>
          <p:nvPr/>
        </p:nvCxnSpPr>
        <p:spPr>
          <a:xfrm>
            <a:off x="8767687" y="3680958"/>
            <a:ext cx="276839" cy="21768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290" name="Google Shape;290;p19"/>
          <p:cNvCxnSpPr/>
          <p:nvPr/>
        </p:nvCxnSpPr>
        <p:spPr>
          <a:xfrm>
            <a:off x="8383512" y="3312180"/>
            <a:ext cx="2113420" cy="32829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91" name="Google Shape;291;p19"/>
          <p:cNvSpPr txBox="1"/>
          <p:nvPr/>
        </p:nvSpPr>
        <p:spPr>
          <a:xfrm>
            <a:off x="9364587" y="2536370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8493049" y="3004683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9"/>
          <p:cNvSpPr txBox="1"/>
          <p:nvPr/>
        </p:nvSpPr>
        <p:spPr>
          <a:xfrm>
            <a:off x="7962031" y="3155495"/>
            <a:ext cx="4219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P’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9"/>
          <p:cNvSpPr txBox="1"/>
          <p:nvPr/>
        </p:nvSpPr>
        <p:spPr>
          <a:xfrm>
            <a:off x="9070966" y="3912995"/>
            <a:ext cx="4892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P’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9"/>
          <p:cNvSpPr txBox="1"/>
          <p:nvPr/>
        </p:nvSpPr>
        <p:spPr>
          <a:xfrm>
            <a:off x="8761337" y="3506333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10495831" y="3534213"/>
            <a:ext cx="4219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P’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5849648" y="3122158"/>
            <a:ext cx="513272" cy="484909"/>
          </a:xfrm>
          <a:prstGeom prst="rightArrow">
            <a:avLst>
              <a:gd fmla="val 50000" name="adj1"/>
              <a:gd fmla="val 25000" name="adj2"/>
            </a:avLst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0"/>
          <p:cNvSpPr txBox="1"/>
          <p:nvPr/>
        </p:nvSpPr>
        <p:spPr>
          <a:xfrm>
            <a:off x="1959997" y="72125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 Code/Outcode</a:t>
            </a:r>
            <a:endParaRPr b="1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World space is divided into regions based on the window boundaries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region has a unique four bit outcode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Outcodes indicate the position of the regions with respect to the window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3" name="Google Shape;303;p20"/>
          <p:cNvGraphicFramePr/>
          <p:nvPr/>
        </p:nvGraphicFramePr>
        <p:xfrm>
          <a:off x="5898585" y="335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{8F6CCB6A-8AA6-42B0-952A-9FB4939EC020}</a:tableStyleId>
              </a:tblPr>
              <a:tblGrid>
                <a:gridCol w="1230300"/>
                <a:gridCol w="1230325"/>
                <a:gridCol w="1230300"/>
              </a:tblGrid>
              <a:tr h="87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4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Window</a:t>
                      </a:r>
                      <a:endParaRPr b="0" i="0" sz="2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04" name="Google Shape;304;p20"/>
          <p:cNvGrpSpPr/>
          <p:nvPr/>
        </p:nvGrpSpPr>
        <p:grpSpPr>
          <a:xfrm>
            <a:off x="2396560" y="4001025"/>
            <a:ext cx="2884487" cy="1368425"/>
            <a:chOff x="973" y="2626"/>
            <a:chExt cx="1817" cy="862"/>
          </a:xfrm>
        </p:grpSpPr>
        <p:sp>
          <p:nvSpPr>
            <p:cNvPr id="305" name="Google Shape;305;p20"/>
            <p:cNvSpPr/>
            <p:nvPr/>
          </p:nvSpPr>
          <p:spPr>
            <a:xfrm>
              <a:off x="973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above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142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below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1882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right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233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left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0"/>
            <p:cNvSpPr txBox="1"/>
            <p:nvPr/>
          </p:nvSpPr>
          <p:spPr>
            <a:xfrm>
              <a:off x="109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0"/>
            <p:cNvSpPr txBox="1"/>
            <p:nvPr/>
          </p:nvSpPr>
          <p:spPr>
            <a:xfrm>
              <a:off x="154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0"/>
            <p:cNvSpPr txBox="1"/>
            <p:nvPr/>
          </p:nvSpPr>
          <p:spPr>
            <a:xfrm>
              <a:off x="200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0"/>
            <p:cNvSpPr txBox="1"/>
            <p:nvPr/>
          </p:nvSpPr>
          <p:spPr>
            <a:xfrm>
              <a:off x="245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0"/>
            <p:cNvSpPr txBox="1"/>
            <p:nvPr/>
          </p:nvSpPr>
          <p:spPr>
            <a:xfrm>
              <a:off x="1364" y="3255"/>
              <a:ext cx="100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 Code 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1"/>
          <p:cNvSpPr txBox="1"/>
          <p:nvPr/>
        </p:nvSpPr>
        <p:spPr>
          <a:xfrm>
            <a:off x="1959997" y="72125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World space is divided into regions based on the window boundaries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region has a unique four bit outcode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Outcodes indicate the position of the regions with respect to the window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9" name="Google Shape;319;p21"/>
          <p:cNvGraphicFramePr/>
          <p:nvPr/>
        </p:nvGraphicFramePr>
        <p:xfrm>
          <a:off x="5898585" y="335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{8F6CCB6A-8AA6-42B0-952A-9FB4939EC020}</a:tableStyleId>
              </a:tblPr>
              <a:tblGrid>
                <a:gridCol w="1230300"/>
                <a:gridCol w="1230325"/>
                <a:gridCol w="1230300"/>
              </a:tblGrid>
              <a:tr h="87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4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Window</a:t>
                      </a:r>
                      <a:endParaRPr b="0" i="0" sz="2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20" name="Google Shape;320;p21"/>
          <p:cNvGrpSpPr/>
          <p:nvPr/>
        </p:nvGrpSpPr>
        <p:grpSpPr>
          <a:xfrm>
            <a:off x="2396560" y="4001025"/>
            <a:ext cx="2884487" cy="1368425"/>
            <a:chOff x="973" y="2626"/>
            <a:chExt cx="1817" cy="862"/>
          </a:xfrm>
        </p:grpSpPr>
        <p:sp>
          <p:nvSpPr>
            <p:cNvPr id="321" name="Google Shape;321;p21"/>
            <p:cNvSpPr/>
            <p:nvPr/>
          </p:nvSpPr>
          <p:spPr>
            <a:xfrm>
              <a:off x="973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above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1"/>
            <p:cNvSpPr/>
            <p:nvPr/>
          </p:nvSpPr>
          <p:spPr>
            <a:xfrm>
              <a:off x="142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below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1"/>
            <p:cNvSpPr/>
            <p:nvPr/>
          </p:nvSpPr>
          <p:spPr>
            <a:xfrm>
              <a:off x="1882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right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1"/>
            <p:cNvSpPr/>
            <p:nvPr/>
          </p:nvSpPr>
          <p:spPr>
            <a:xfrm>
              <a:off x="233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left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1"/>
            <p:cNvSpPr txBox="1"/>
            <p:nvPr/>
          </p:nvSpPr>
          <p:spPr>
            <a:xfrm>
              <a:off x="109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1"/>
            <p:cNvSpPr txBox="1"/>
            <p:nvPr/>
          </p:nvSpPr>
          <p:spPr>
            <a:xfrm>
              <a:off x="154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1"/>
            <p:cNvSpPr txBox="1"/>
            <p:nvPr/>
          </p:nvSpPr>
          <p:spPr>
            <a:xfrm>
              <a:off x="200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1"/>
            <p:cNvSpPr txBox="1"/>
            <p:nvPr/>
          </p:nvSpPr>
          <p:spPr>
            <a:xfrm>
              <a:off x="245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1"/>
            <p:cNvSpPr txBox="1"/>
            <p:nvPr/>
          </p:nvSpPr>
          <p:spPr>
            <a:xfrm>
              <a:off x="1364" y="3255"/>
              <a:ext cx="100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 Code 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0" name="Google Shape;330;p21"/>
          <p:cNvSpPr txBox="1"/>
          <p:nvPr/>
        </p:nvSpPr>
        <p:spPr>
          <a:xfrm>
            <a:off x="6308159" y="4847163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6292284" y="4940825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6185127" y="3342973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6169252" y="3436635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7924233" y="5765653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7910842" y="5852866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7924234" y="4602688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7908359" y="4696350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"/>
          <p:cNvSpPr txBox="1"/>
          <p:nvPr>
            <p:ph idx="1" type="body"/>
          </p:nvPr>
        </p:nvSpPr>
        <p:spPr>
          <a:xfrm>
            <a:off x="726881" y="114181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Calculate_outcode(x,y){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(x&lt;x</a:t>
            </a:r>
            <a:r>
              <a:rPr baseline="-25000" lang="en-US"/>
              <a:t>min</a:t>
            </a:r>
            <a:r>
              <a:rPr lang="en-US"/>
              <a:t>) bit0 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bit0=0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(x&gt;x</a:t>
            </a:r>
            <a:r>
              <a:rPr baseline="-25000" lang="en-US"/>
              <a:t>max</a:t>
            </a:r>
            <a:r>
              <a:rPr lang="en-US"/>
              <a:t>) bit1=1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bit1=0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if(y&lt;y</a:t>
            </a:r>
            <a:r>
              <a:rPr baseline="-25000" lang="en-US"/>
              <a:t>min</a:t>
            </a:r>
            <a:r>
              <a:rPr lang="en-US"/>
              <a:t>) bit2=1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bit2=0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(y&gt;y</a:t>
            </a:r>
            <a:r>
              <a:rPr baseline="-25000" lang="en-US"/>
              <a:t>max</a:t>
            </a:r>
            <a:r>
              <a:rPr lang="en-US"/>
              <a:t>) bit3=1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bit3=0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}</a:t>
            </a:r>
            <a:endParaRPr/>
          </a:p>
        </p:txBody>
      </p:sp>
      <p:grpSp>
        <p:nvGrpSpPr>
          <p:cNvPr id="343" name="Google Shape;343;p22"/>
          <p:cNvGrpSpPr/>
          <p:nvPr/>
        </p:nvGrpSpPr>
        <p:grpSpPr>
          <a:xfrm>
            <a:off x="1283378" y="5249380"/>
            <a:ext cx="2884487" cy="1368425"/>
            <a:chOff x="973" y="2626"/>
            <a:chExt cx="1817" cy="862"/>
          </a:xfrm>
        </p:grpSpPr>
        <p:sp>
          <p:nvSpPr>
            <p:cNvPr id="344" name="Google Shape;344;p22"/>
            <p:cNvSpPr/>
            <p:nvPr/>
          </p:nvSpPr>
          <p:spPr>
            <a:xfrm>
              <a:off x="973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above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142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below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1882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right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2"/>
            <p:cNvSpPr/>
            <p:nvPr/>
          </p:nvSpPr>
          <p:spPr>
            <a:xfrm>
              <a:off x="233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left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22"/>
            <p:cNvSpPr txBox="1"/>
            <p:nvPr/>
          </p:nvSpPr>
          <p:spPr>
            <a:xfrm>
              <a:off x="109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22"/>
            <p:cNvSpPr txBox="1"/>
            <p:nvPr/>
          </p:nvSpPr>
          <p:spPr>
            <a:xfrm>
              <a:off x="154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22"/>
            <p:cNvSpPr txBox="1"/>
            <p:nvPr/>
          </p:nvSpPr>
          <p:spPr>
            <a:xfrm>
              <a:off x="200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2"/>
            <p:cNvSpPr txBox="1"/>
            <p:nvPr/>
          </p:nvSpPr>
          <p:spPr>
            <a:xfrm>
              <a:off x="245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2"/>
            <p:cNvSpPr txBox="1"/>
            <p:nvPr/>
          </p:nvSpPr>
          <p:spPr>
            <a:xfrm>
              <a:off x="1364" y="3255"/>
              <a:ext cx="100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 Code 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3"/>
          <p:cNvSpPr txBox="1"/>
          <p:nvPr>
            <p:ph idx="1" type="body"/>
          </p:nvPr>
        </p:nvSpPr>
        <p:spPr>
          <a:xfrm>
            <a:off x="726881" y="114181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Calculate_outcode(x,y){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(x&lt;x</a:t>
            </a:r>
            <a:r>
              <a:rPr baseline="-25000" lang="en-US"/>
              <a:t>min</a:t>
            </a:r>
            <a:r>
              <a:rPr lang="en-US"/>
              <a:t>) bit0 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bit0=0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(x&gt;x</a:t>
            </a:r>
            <a:r>
              <a:rPr baseline="-25000" lang="en-US"/>
              <a:t>max</a:t>
            </a:r>
            <a:r>
              <a:rPr lang="en-US"/>
              <a:t>) bit1=1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bit1=0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if(y&lt;y</a:t>
            </a:r>
            <a:r>
              <a:rPr baseline="-25000" lang="en-US"/>
              <a:t>min</a:t>
            </a:r>
            <a:r>
              <a:rPr lang="en-US"/>
              <a:t>) bit2=1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bit2=0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(y&gt;y</a:t>
            </a:r>
            <a:r>
              <a:rPr baseline="-25000" lang="en-US"/>
              <a:t>max</a:t>
            </a:r>
            <a:r>
              <a:rPr lang="en-US"/>
              <a:t>) bit3=1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bit3=0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}</a:t>
            </a:r>
            <a:endParaRPr/>
          </a:p>
        </p:txBody>
      </p:sp>
      <p:grpSp>
        <p:nvGrpSpPr>
          <p:cNvPr id="358" name="Google Shape;358;p23"/>
          <p:cNvGrpSpPr/>
          <p:nvPr/>
        </p:nvGrpSpPr>
        <p:grpSpPr>
          <a:xfrm>
            <a:off x="4926772" y="1508525"/>
            <a:ext cx="5549900" cy="3617913"/>
            <a:chOff x="1120" y="1978"/>
            <a:chExt cx="3496" cy="2279"/>
          </a:xfrm>
        </p:grpSpPr>
        <p:cxnSp>
          <p:nvCxnSpPr>
            <p:cNvPr id="359" name="Google Shape;359;p23"/>
            <p:cNvCxnSpPr/>
            <p:nvPr/>
          </p:nvCxnSpPr>
          <p:spPr>
            <a:xfrm rot="5400000">
              <a:off x="1234" y="2977"/>
              <a:ext cx="199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0" name="Google Shape;360;p23"/>
            <p:cNvCxnSpPr/>
            <p:nvPr/>
          </p:nvCxnSpPr>
          <p:spPr>
            <a:xfrm rot="5400000">
              <a:off x="2558" y="2999"/>
              <a:ext cx="1999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1" name="Google Shape;361;p23"/>
            <p:cNvCxnSpPr/>
            <p:nvPr/>
          </p:nvCxnSpPr>
          <p:spPr>
            <a:xfrm rot="10800000">
              <a:off x="1604" y="2621"/>
              <a:ext cx="2731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2" name="Google Shape;362;p23"/>
            <p:cNvCxnSpPr/>
            <p:nvPr/>
          </p:nvCxnSpPr>
          <p:spPr>
            <a:xfrm rot="10800000">
              <a:off x="1632" y="3498"/>
              <a:ext cx="2731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3" name="Google Shape;363;p23"/>
            <p:cNvCxnSpPr/>
            <p:nvPr/>
          </p:nvCxnSpPr>
          <p:spPr>
            <a:xfrm>
              <a:off x="1262" y="4025"/>
              <a:ext cx="304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4" name="Google Shape;364;p23"/>
            <p:cNvCxnSpPr/>
            <p:nvPr/>
          </p:nvCxnSpPr>
          <p:spPr>
            <a:xfrm rot="10800000">
              <a:off x="1572" y="1994"/>
              <a:ext cx="0" cy="225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65" name="Google Shape;365;p23"/>
            <p:cNvSpPr/>
            <p:nvPr/>
          </p:nvSpPr>
          <p:spPr>
            <a:xfrm>
              <a:off x="2231" y="2612"/>
              <a:ext cx="1328" cy="886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6" name="Google Shape;366;p23"/>
            <p:cNvCxnSpPr/>
            <p:nvPr/>
          </p:nvCxnSpPr>
          <p:spPr>
            <a:xfrm rot="10800000">
              <a:off x="1500" y="2618"/>
              <a:ext cx="13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7" name="Google Shape;367;p23"/>
            <p:cNvCxnSpPr/>
            <p:nvPr/>
          </p:nvCxnSpPr>
          <p:spPr>
            <a:xfrm rot="10800000">
              <a:off x="1500" y="3499"/>
              <a:ext cx="13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8" name="Google Shape;368;p23"/>
            <p:cNvCxnSpPr/>
            <p:nvPr/>
          </p:nvCxnSpPr>
          <p:spPr>
            <a:xfrm>
              <a:off x="2235" y="3962"/>
              <a:ext cx="0" cy="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9" name="Google Shape;369;p23"/>
            <p:cNvCxnSpPr/>
            <p:nvPr/>
          </p:nvCxnSpPr>
          <p:spPr>
            <a:xfrm>
              <a:off x="3558" y="3952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0" name="Google Shape;370;p23"/>
            <p:cNvSpPr txBox="1"/>
            <p:nvPr/>
          </p:nvSpPr>
          <p:spPr>
            <a:xfrm>
              <a:off x="1120" y="2485"/>
              <a:ext cx="37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3"/>
            <p:cNvSpPr txBox="1"/>
            <p:nvPr/>
          </p:nvSpPr>
          <p:spPr>
            <a:xfrm>
              <a:off x="1120" y="3366"/>
              <a:ext cx="34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3"/>
            <p:cNvSpPr txBox="1"/>
            <p:nvPr/>
          </p:nvSpPr>
          <p:spPr>
            <a:xfrm>
              <a:off x="2013" y="4023"/>
              <a:ext cx="34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3"/>
            <p:cNvSpPr txBox="1"/>
            <p:nvPr/>
          </p:nvSpPr>
          <p:spPr>
            <a:xfrm>
              <a:off x="3337" y="4024"/>
              <a:ext cx="37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3"/>
            <p:cNvSpPr txBox="1"/>
            <p:nvPr/>
          </p:nvSpPr>
          <p:spPr>
            <a:xfrm>
              <a:off x="2543" y="2351"/>
              <a:ext cx="6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Window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5" name="Google Shape;375;p23"/>
            <p:cNvCxnSpPr/>
            <p:nvPr/>
          </p:nvCxnSpPr>
          <p:spPr>
            <a:xfrm flipH="1" rot="10800000">
              <a:off x="2410" y="2704"/>
              <a:ext cx="442" cy="2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376" name="Google Shape;376;p23"/>
            <p:cNvCxnSpPr/>
            <p:nvPr/>
          </p:nvCxnSpPr>
          <p:spPr>
            <a:xfrm flipH="1" rot="10800000">
              <a:off x="1793" y="2170"/>
              <a:ext cx="648" cy="5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377" name="Google Shape;377;p23"/>
            <p:cNvCxnSpPr/>
            <p:nvPr/>
          </p:nvCxnSpPr>
          <p:spPr>
            <a:xfrm>
              <a:off x="2473" y="3351"/>
              <a:ext cx="468" cy="3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378" name="Google Shape;378;p23"/>
            <p:cNvCxnSpPr/>
            <p:nvPr/>
          </p:nvCxnSpPr>
          <p:spPr>
            <a:xfrm>
              <a:off x="1969" y="3078"/>
              <a:ext cx="18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379" name="Google Shape;379;p23"/>
            <p:cNvSpPr txBox="1"/>
            <p:nvPr/>
          </p:nvSpPr>
          <p:spPr>
            <a:xfrm>
              <a:off x="1658" y="2725"/>
              <a:ext cx="58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[0001]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3"/>
            <p:cNvSpPr txBox="1"/>
            <p:nvPr/>
          </p:nvSpPr>
          <p:spPr>
            <a:xfrm>
              <a:off x="2849" y="2630"/>
              <a:ext cx="57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[0000]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3"/>
            <p:cNvSpPr txBox="1"/>
            <p:nvPr/>
          </p:nvSpPr>
          <p:spPr>
            <a:xfrm>
              <a:off x="2300" y="2925"/>
              <a:ext cx="58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3"/>
            <p:cNvSpPr txBox="1"/>
            <p:nvPr/>
          </p:nvSpPr>
          <p:spPr>
            <a:xfrm>
              <a:off x="1661" y="3084"/>
              <a:ext cx="58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[0001]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3"/>
            <p:cNvSpPr txBox="1"/>
            <p:nvPr/>
          </p:nvSpPr>
          <p:spPr>
            <a:xfrm>
              <a:off x="2941" y="3665"/>
              <a:ext cx="62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[0100]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3"/>
            <p:cNvSpPr txBox="1"/>
            <p:nvPr/>
          </p:nvSpPr>
          <p:spPr>
            <a:xfrm>
              <a:off x="2469" y="3241"/>
              <a:ext cx="58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3"/>
            <p:cNvSpPr txBox="1"/>
            <p:nvPr/>
          </p:nvSpPr>
          <p:spPr>
            <a:xfrm>
              <a:off x="2432" y="2087"/>
              <a:ext cx="57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[1000]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3"/>
            <p:cNvSpPr txBox="1"/>
            <p:nvPr/>
          </p:nvSpPr>
          <p:spPr>
            <a:xfrm>
              <a:off x="3814" y="3277"/>
              <a:ext cx="58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[0010]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7" name="Google Shape;387;p23"/>
            <p:cNvCxnSpPr/>
            <p:nvPr/>
          </p:nvCxnSpPr>
          <p:spPr>
            <a:xfrm rot="10800000">
              <a:off x="3667" y="2070"/>
              <a:ext cx="338" cy="9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388" name="Google Shape;388;p23"/>
            <p:cNvSpPr txBox="1"/>
            <p:nvPr/>
          </p:nvSpPr>
          <p:spPr>
            <a:xfrm>
              <a:off x="3991" y="2920"/>
              <a:ext cx="62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[0010]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23"/>
            <p:cNvSpPr txBox="1"/>
            <p:nvPr/>
          </p:nvSpPr>
          <p:spPr>
            <a:xfrm>
              <a:off x="3675" y="1995"/>
              <a:ext cx="61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[1010]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0" name="Google Shape;390;p23"/>
            <p:cNvCxnSpPr/>
            <p:nvPr/>
          </p:nvCxnSpPr>
          <p:spPr>
            <a:xfrm flipH="1" rot="10800000">
              <a:off x="1854" y="3848"/>
              <a:ext cx="1933" cy="1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391" name="Google Shape;391;p23"/>
            <p:cNvSpPr txBox="1"/>
            <p:nvPr/>
          </p:nvSpPr>
          <p:spPr>
            <a:xfrm>
              <a:off x="1575" y="3755"/>
              <a:ext cx="62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[0101]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3"/>
            <p:cNvSpPr txBox="1"/>
            <p:nvPr/>
          </p:nvSpPr>
          <p:spPr>
            <a:xfrm>
              <a:off x="3788" y="3758"/>
              <a:ext cx="62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[0110]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3" name="Google Shape;393;p23"/>
          <p:cNvGrpSpPr/>
          <p:nvPr/>
        </p:nvGrpSpPr>
        <p:grpSpPr>
          <a:xfrm>
            <a:off x="1283378" y="5249380"/>
            <a:ext cx="2884487" cy="1368425"/>
            <a:chOff x="973" y="2626"/>
            <a:chExt cx="1817" cy="862"/>
          </a:xfrm>
        </p:grpSpPr>
        <p:sp>
          <p:nvSpPr>
            <p:cNvPr id="394" name="Google Shape;394;p23"/>
            <p:cNvSpPr/>
            <p:nvPr/>
          </p:nvSpPr>
          <p:spPr>
            <a:xfrm>
              <a:off x="973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above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3"/>
            <p:cNvSpPr/>
            <p:nvPr/>
          </p:nvSpPr>
          <p:spPr>
            <a:xfrm>
              <a:off x="142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below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3"/>
            <p:cNvSpPr/>
            <p:nvPr/>
          </p:nvSpPr>
          <p:spPr>
            <a:xfrm>
              <a:off x="1882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right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3"/>
            <p:cNvSpPr/>
            <p:nvPr/>
          </p:nvSpPr>
          <p:spPr>
            <a:xfrm>
              <a:off x="233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left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3"/>
            <p:cNvSpPr txBox="1"/>
            <p:nvPr/>
          </p:nvSpPr>
          <p:spPr>
            <a:xfrm>
              <a:off x="109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3"/>
            <p:cNvSpPr txBox="1"/>
            <p:nvPr/>
          </p:nvSpPr>
          <p:spPr>
            <a:xfrm>
              <a:off x="154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3"/>
            <p:cNvSpPr txBox="1"/>
            <p:nvPr/>
          </p:nvSpPr>
          <p:spPr>
            <a:xfrm>
              <a:off x="200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3"/>
            <p:cNvSpPr txBox="1"/>
            <p:nvPr/>
          </p:nvSpPr>
          <p:spPr>
            <a:xfrm>
              <a:off x="245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3"/>
            <p:cNvSpPr txBox="1"/>
            <p:nvPr/>
          </p:nvSpPr>
          <p:spPr>
            <a:xfrm>
              <a:off x="1364" y="3255"/>
              <a:ext cx="100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 Code 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4"/>
          <p:cNvSpPr txBox="1"/>
          <p:nvPr>
            <p:ph idx="1" type="body"/>
          </p:nvPr>
        </p:nvSpPr>
        <p:spPr>
          <a:xfrm>
            <a:off x="726881" y="503853"/>
            <a:ext cx="105156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Calculate_Outcode_3D(x,y,z){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(x&lt;x</a:t>
            </a:r>
            <a:r>
              <a:rPr baseline="-25000" lang="en-US"/>
              <a:t>min</a:t>
            </a:r>
            <a:r>
              <a:rPr lang="en-US"/>
              <a:t>) bit0 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bit0=0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(x&gt;x</a:t>
            </a:r>
            <a:r>
              <a:rPr baseline="-25000" lang="en-US"/>
              <a:t>max</a:t>
            </a:r>
            <a:r>
              <a:rPr lang="en-US"/>
              <a:t>) bit1=1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bit1=0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if(y&lt;y</a:t>
            </a:r>
            <a:r>
              <a:rPr baseline="-25000" lang="en-US"/>
              <a:t>min</a:t>
            </a:r>
            <a:r>
              <a:rPr lang="en-US"/>
              <a:t>) bit2=1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bit2=0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(y&gt;y</a:t>
            </a:r>
            <a:r>
              <a:rPr baseline="-25000" lang="en-US"/>
              <a:t>max</a:t>
            </a:r>
            <a:r>
              <a:rPr lang="en-US"/>
              <a:t>) bit3=1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bit3=0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if(z&lt;z</a:t>
            </a:r>
            <a:r>
              <a:rPr baseline="-25000" lang="en-US"/>
              <a:t>min</a:t>
            </a:r>
            <a:r>
              <a:rPr lang="en-US"/>
              <a:t>) bit4=1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bit4=0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(z&gt;z</a:t>
            </a:r>
            <a:r>
              <a:rPr baseline="-25000" lang="en-US"/>
              <a:t>max</a:t>
            </a:r>
            <a:r>
              <a:rPr lang="en-US"/>
              <a:t>) bit5=1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bit5=0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}</a:t>
            </a:r>
            <a:endParaRPr/>
          </a:p>
        </p:txBody>
      </p:sp>
      <p:graphicFrame>
        <p:nvGraphicFramePr>
          <p:cNvPr id="408" name="Google Shape;408;p24"/>
          <p:cNvGraphicFramePr/>
          <p:nvPr/>
        </p:nvGraphicFramePr>
        <p:xfrm>
          <a:off x="6335485" y="23642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{82BC4144-E710-4EA7-9ED2-0505352B77E4}</a:tableStyleId>
              </a:tblPr>
              <a:tblGrid>
                <a:gridCol w="660975"/>
                <a:gridCol w="780350"/>
                <a:gridCol w="780350"/>
                <a:gridCol w="780350"/>
                <a:gridCol w="780350"/>
                <a:gridCol w="780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Near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Far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Above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Below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Right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Left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Region 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5"/>
          <p:cNvSpPr txBox="1"/>
          <p:nvPr>
            <p:ph idx="1" type="body"/>
          </p:nvPr>
        </p:nvSpPr>
        <p:spPr>
          <a:xfrm>
            <a:off x="838200" y="1517200"/>
            <a:ext cx="10515600" cy="4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3200" u="sng">
                <a:solidFill>
                  <a:srgbClr val="4A86E8"/>
                </a:solidFill>
              </a:rPr>
              <a:t>Condition of Trivial Acceptance:</a:t>
            </a:r>
            <a:endParaRPr b="1" sz="3200" u="sng">
              <a:solidFill>
                <a:srgbClr val="4A86E8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Lines that are completely </a:t>
            </a:r>
            <a:r>
              <a:rPr b="1" lang="en-US">
                <a:solidFill>
                  <a:srgbClr val="4A86E8"/>
                </a:solidFill>
              </a:rPr>
              <a:t>INSIDE</a:t>
            </a:r>
            <a:endParaRPr b="1">
              <a:solidFill>
                <a:srgbClr val="4A86E8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OC1==OC2==0000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3200" u="sng">
                <a:solidFill>
                  <a:srgbClr val="CC4125"/>
                </a:solidFill>
              </a:rPr>
              <a:t>Condition of Trivial Rejection:</a:t>
            </a:r>
            <a:endParaRPr b="1" sz="3200" u="sng">
              <a:solidFill>
                <a:srgbClr val="CC4125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Lines that are completely </a:t>
            </a:r>
            <a:r>
              <a:rPr b="1" lang="en-US">
                <a:solidFill>
                  <a:srgbClr val="CC4125"/>
                </a:solidFill>
              </a:rPr>
              <a:t>OUTSIDE</a:t>
            </a:r>
            <a:endParaRPr b="1">
              <a:solidFill>
                <a:srgbClr val="CC4125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(OC1 AND OC2) != 0000</a:t>
            </a:r>
            <a:endParaRPr/>
          </a:p>
        </p:txBody>
      </p:sp>
      <p:grpSp>
        <p:nvGrpSpPr>
          <p:cNvPr id="414" name="Google Shape;414;p25"/>
          <p:cNvGrpSpPr/>
          <p:nvPr/>
        </p:nvGrpSpPr>
        <p:grpSpPr>
          <a:xfrm>
            <a:off x="6621077" y="1291848"/>
            <a:ext cx="5439006" cy="3574544"/>
            <a:chOff x="5626487" y="1063252"/>
            <a:chExt cx="5784946" cy="4070308"/>
          </a:xfrm>
        </p:grpSpPr>
        <p:cxnSp>
          <p:nvCxnSpPr>
            <p:cNvPr id="415" name="Google Shape;415;p25"/>
            <p:cNvCxnSpPr/>
            <p:nvPr/>
          </p:nvCxnSpPr>
          <p:spPr>
            <a:xfrm rot="5400000">
              <a:off x="5829885" y="2845252"/>
              <a:ext cx="35640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6" name="Google Shape;416;p25"/>
            <p:cNvCxnSpPr/>
            <p:nvPr/>
          </p:nvCxnSpPr>
          <p:spPr>
            <a:xfrm rot="5400000">
              <a:off x="8191662" y="2884504"/>
              <a:ext cx="35658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7" name="Google Shape;417;p25"/>
            <p:cNvCxnSpPr/>
            <p:nvPr/>
          </p:nvCxnSpPr>
          <p:spPr>
            <a:xfrm rot="10800000">
              <a:off x="6489786" y="2210252"/>
              <a:ext cx="48717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8" name="Google Shape;418;p25"/>
            <p:cNvCxnSpPr/>
            <p:nvPr/>
          </p:nvCxnSpPr>
          <p:spPr>
            <a:xfrm rot="10800000">
              <a:off x="6539733" y="3774667"/>
              <a:ext cx="48717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19" name="Google Shape;419;p25"/>
            <p:cNvSpPr/>
            <p:nvPr/>
          </p:nvSpPr>
          <p:spPr>
            <a:xfrm>
              <a:off x="7608317" y="2194198"/>
              <a:ext cx="2368800" cy="15804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0" name="Google Shape;420;p25"/>
            <p:cNvCxnSpPr/>
            <p:nvPr/>
          </p:nvCxnSpPr>
          <p:spPr>
            <a:xfrm rot="10800000">
              <a:off x="6304290" y="2204901"/>
              <a:ext cx="237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1" name="Google Shape;421;p25"/>
            <p:cNvCxnSpPr/>
            <p:nvPr/>
          </p:nvCxnSpPr>
          <p:spPr>
            <a:xfrm rot="10800000">
              <a:off x="6304290" y="3776451"/>
              <a:ext cx="237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2" name="Google Shape;422;p25"/>
            <p:cNvCxnSpPr/>
            <p:nvPr/>
          </p:nvCxnSpPr>
          <p:spPr>
            <a:xfrm>
              <a:off x="7615452" y="4602362"/>
              <a:ext cx="0" cy="239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3" name="Google Shape;423;p25"/>
            <p:cNvCxnSpPr/>
            <p:nvPr/>
          </p:nvCxnSpPr>
          <p:spPr>
            <a:xfrm>
              <a:off x="9975454" y="4584524"/>
              <a:ext cx="0" cy="256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24" name="Google Shape;424;p25"/>
            <p:cNvSpPr txBox="1"/>
            <p:nvPr/>
          </p:nvSpPr>
          <p:spPr>
            <a:xfrm>
              <a:off x="5626487" y="1967652"/>
              <a:ext cx="6636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5"/>
            <p:cNvSpPr txBox="1"/>
            <p:nvPr/>
          </p:nvSpPr>
          <p:spPr>
            <a:xfrm>
              <a:off x="5626487" y="3539202"/>
              <a:ext cx="6153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5"/>
            <p:cNvSpPr txBox="1"/>
            <p:nvPr/>
          </p:nvSpPr>
          <p:spPr>
            <a:xfrm>
              <a:off x="7219443" y="4711176"/>
              <a:ext cx="6153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5"/>
            <p:cNvSpPr txBox="1"/>
            <p:nvPr/>
          </p:nvSpPr>
          <p:spPr>
            <a:xfrm>
              <a:off x="9581228" y="4712960"/>
              <a:ext cx="6636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5"/>
            <p:cNvSpPr txBox="1"/>
            <p:nvPr/>
          </p:nvSpPr>
          <p:spPr>
            <a:xfrm>
              <a:off x="8164871" y="1728619"/>
              <a:ext cx="11202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Window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9" name="Google Shape;429;p25"/>
            <p:cNvCxnSpPr/>
            <p:nvPr/>
          </p:nvCxnSpPr>
          <p:spPr>
            <a:xfrm flipH="1" rot="10800000">
              <a:off x="8012180" y="2667591"/>
              <a:ext cx="1283700" cy="432300"/>
            </a:xfrm>
            <a:prstGeom prst="straightConnector1">
              <a:avLst/>
            </a:prstGeom>
            <a:noFill/>
            <a:ln cap="flat" cmpd="sng" w="28575">
              <a:solidFill>
                <a:srgbClr val="4A86E8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430" name="Google Shape;430;p25"/>
            <p:cNvSpPr txBox="1"/>
            <p:nvPr/>
          </p:nvSpPr>
          <p:spPr>
            <a:xfrm>
              <a:off x="9223143" y="2566058"/>
              <a:ext cx="921900" cy="5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[0000]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5"/>
            <p:cNvSpPr txBox="1"/>
            <p:nvPr/>
          </p:nvSpPr>
          <p:spPr>
            <a:xfrm>
              <a:off x="7724372" y="3026100"/>
              <a:ext cx="938100" cy="5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2" name="Google Shape;432;p25"/>
          <p:cNvGrpSpPr/>
          <p:nvPr/>
        </p:nvGrpSpPr>
        <p:grpSpPr>
          <a:xfrm>
            <a:off x="8648825" y="3935274"/>
            <a:ext cx="3143829" cy="635758"/>
            <a:chOff x="7724372" y="2889290"/>
            <a:chExt cx="3516588" cy="773710"/>
          </a:xfrm>
        </p:grpSpPr>
        <p:cxnSp>
          <p:nvCxnSpPr>
            <p:cNvPr id="433" name="Google Shape;433;p25"/>
            <p:cNvCxnSpPr/>
            <p:nvPr/>
          </p:nvCxnSpPr>
          <p:spPr>
            <a:xfrm flipH="1" rot="10800000">
              <a:off x="8012180" y="2889291"/>
              <a:ext cx="2503800" cy="210600"/>
            </a:xfrm>
            <a:prstGeom prst="straightConnector1">
              <a:avLst/>
            </a:prstGeom>
            <a:noFill/>
            <a:ln cap="flat" cmpd="sng" w="28575">
              <a:solidFill>
                <a:srgbClr val="CC4125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434" name="Google Shape;434;p25"/>
            <p:cNvSpPr txBox="1"/>
            <p:nvPr/>
          </p:nvSpPr>
          <p:spPr>
            <a:xfrm>
              <a:off x="10319060" y="2889290"/>
              <a:ext cx="921900" cy="6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[0110]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5"/>
            <p:cNvSpPr txBox="1"/>
            <p:nvPr/>
          </p:nvSpPr>
          <p:spPr>
            <a:xfrm>
              <a:off x="7724372" y="3026100"/>
              <a:ext cx="938100" cy="6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[0100]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6"/>
          <p:cNvSpPr txBox="1"/>
          <p:nvPr/>
        </p:nvSpPr>
        <p:spPr>
          <a:xfrm>
            <a:off x="726875" y="333950"/>
            <a:ext cx="5653800" cy="6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if(oc1 == oc2 == 0000)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if((oc1 AND oc2)!=0000){ // condition to check matching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7"/>
          <p:cNvSpPr txBox="1"/>
          <p:nvPr>
            <p:ph idx="1" type="body"/>
          </p:nvPr>
        </p:nvSpPr>
        <p:spPr>
          <a:xfrm>
            <a:off x="726875" y="333950"/>
            <a:ext cx="5667900" cy="6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cohen-Sutherland(x1, y1, x2, y2):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oc1 = calculate_outcode(x1, y1),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oc2 = calculate_outcode(x2, y2);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while(true)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if (oc1 == oc2 == 0000)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//declare completely inside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output (x1, y1), (x2, y2) as clipped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break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else if ((oc1 AND oc2)!=0000) { // condition to check matching bit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//declare completely outside and clip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break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if(oc1 != 0000){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(x1, y1) = find intersection point of line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             and the boundary corresponding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              to non-zero bit of oc1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oc1 = calculate_outcode(x1, y1)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(x2, y2) = find intersection point of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                                  and the boundary corresponding 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                                  to non-zero bit of oc2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oc2 = calculate_outcode(x2, y2)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continue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}</a:t>
            </a:r>
            <a:endParaRPr sz="1400"/>
          </a:p>
        </p:txBody>
      </p:sp>
      <p:grpSp>
        <p:nvGrpSpPr>
          <p:cNvPr id="446" name="Google Shape;446;p27"/>
          <p:cNvGrpSpPr/>
          <p:nvPr/>
        </p:nvGrpSpPr>
        <p:grpSpPr>
          <a:xfrm>
            <a:off x="5626487" y="1063252"/>
            <a:ext cx="5784946" cy="4065339"/>
            <a:chOff x="5626487" y="1063252"/>
            <a:chExt cx="5784946" cy="4065339"/>
          </a:xfrm>
        </p:grpSpPr>
        <p:cxnSp>
          <p:nvCxnSpPr>
            <p:cNvPr id="447" name="Google Shape;447;p27"/>
            <p:cNvCxnSpPr/>
            <p:nvPr/>
          </p:nvCxnSpPr>
          <p:spPr>
            <a:xfrm rot="5400000">
              <a:off x="5829843" y="2845294"/>
              <a:ext cx="3564084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8" name="Google Shape;448;p27"/>
            <p:cNvCxnSpPr/>
            <p:nvPr/>
          </p:nvCxnSpPr>
          <p:spPr>
            <a:xfrm rot="5400000">
              <a:off x="8191628" y="2884538"/>
              <a:ext cx="356586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9" name="Google Shape;449;p27"/>
            <p:cNvCxnSpPr/>
            <p:nvPr/>
          </p:nvCxnSpPr>
          <p:spPr>
            <a:xfrm rot="10800000">
              <a:off x="6489859" y="2210252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0" name="Google Shape;450;p27"/>
            <p:cNvCxnSpPr/>
            <p:nvPr/>
          </p:nvCxnSpPr>
          <p:spPr>
            <a:xfrm rot="10800000">
              <a:off x="6539806" y="3774667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1" name="Google Shape;451;p27"/>
            <p:cNvSpPr/>
            <p:nvPr/>
          </p:nvSpPr>
          <p:spPr>
            <a:xfrm>
              <a:off x="7608317" y="2194198"/>
              <a:ext cx="2368920" cy="158047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2" name="Google Shape;452;p27"/>
            <p:cNvCxnSpPr/>
            <p:nvPr/>
          </p:nvCxnSpPr>
          <p:spPr>
            <a:xfrm rot="10800000">
              <a:off x="6304341" y="220490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3" name="Google Shape;453;p27"/>
            <p:cNvCxnSpPr/>
            <p:nvPr/>
          </p:nvCxnSpPr>
          <p:spPr>
            <a:xfrm rot="10800000">
              <a:off x="6304341" y="377645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4" name="Google Shape;454;p27"/>
            <p:cNvCxnSpPr/>
            <p:nvPr/>
          </p:nvCxnSpPr>
          <p:spPr>
            <a:xfrm>
              <a:off x="7615452" y="4602362"/>
              <a:ext cx="0" cy="2390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5" name="Google Shape;455;p27"/>
            <p:cNvCxnSpPr/>
            <p:nvPr/>
          </p:nvCxnSpPr>
          <p:spPr>
            <a:xfrm>
              <a:off x="9975454" y="4584524"/>
              <a:ext cx="0" cy="2568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6" name="Google Shape;456;p27"/>
            <p:cNvSpPr txBox="1"/>
            <p:nvPr/>
          </p:nvSpPr>
          <p:spPr>
            <a:xfrm>
              <a:off x="5626487" y="1967652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27"/>
            <p:cNvSpPr txBox="1"/>
            <p:nvPr/>
          </p:nvSpPr>
          <p:spPr>
            <a:xfrm>
              <a:off x="5626487" y="3539202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27"/>
            <p:cNvSpPr txBox="1"/>
            <p:nvPr/>
          </p:nvSpPr>
          <p:spPr>
            <a:xfrm>
              <a:off x="7219443" y="4711176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27"/>
            <p:cNvSpPr txBox="1"/>
            <p:nvPr/>
          </p:nvSpPr>
          <p:spPr>
            <a:xfrm>
              <a:off x="9581228" y="4712960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7"/>
            <p:cNvSpPr txBox="1"/>
            <p:nvPr/>
          </p:nvSpPr>
          <p:spPr>
            <a:xfrm>
              <a:off x="8164871" y="1728619"/>
              <a:ext cx="1120242" cy="412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Window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1" name="Google Shape;461;p27"/>
            <p:cNvCxnSpPr/>
            <p:nvPr/>
          </p:nvCxnSpPr>
          <p:spPr>
            <a:xfrm flipH="1" rot="10800000">
              <a:off x="6438127" y="1227363"/>
              <a:ext cx="3731763" cy="31617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462" name="Google Shape;462;p27"/>
            <p:cNvSpPr txBox="1"/>
            <p:nvPr/>
          </p:nvSpPr>
          <p:spPr>
            <a:xfrm>
              <a:off x="10184161" y="1093577"/>
              <a:ext cx="9220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[1010]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7"/>
            <p:cNvSpPr txBox="1"/>
            <p:nvPr/>
          </p:nvSpPr>
          <p:spPr>
            <a:xfrm>
              <a:off x="6420289" y="4332933"/>
              <a:ext cx="93807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[0101]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8"/>
          <p:cNvSpPr txBox="1"/>
          <p:nvPr>
            <p:ph idx="1" type="body"/>
          </p:nvPr>
        </p:nvSpPr>
        <p:spPr>
          <a:xfrm>
            <a:off x="726874" y="333949"/>
            <a:ext cx="5563200" cy="6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cohen-Sutherland(x1, y1, x2, y2):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oc1 = calculate_outcode(x1, y1),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oc2 = calculate_outcode(x2, y2);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while(true)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if (oc1 == oc2 == 0000)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//declare completely inside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output (x1, y1), (x2, y2) as clipped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break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else if ((oc1 AND oc2)!=0000) { // condition to check matching bit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//declare completely outside and clip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break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if(oc1 != 0000){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(x1, y1) = find intersection point of line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             and the boundary corresponding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              to non-zero bit of oc1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oc1 = calculate_outcode(x1, y1)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(x2, y2) = find intersection point of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                                  and the boundary corresponding 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                                  to non-zero bit of oc2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oc2 = calculate_outcode(x2, y2)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continue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}</a:t>
            </a:r>
            <a:endParaRPr sz="1400"/>
          </a:p>
        </p:txBody>
      </p:sp>
      <p:cxnSp>
        <p:nvCxnSpPr>
          <p:cNvPr id="469" name="Google Shape;469;p28"/>
          <p:cNvCxnSpPr/>
          <p:nvPr/>
        </p:nvCxnSpPr>
        <p:spPr>
          <a:xfrm rot="5400000">
            <a:off x="5829843" y="2845294"/>
            <a:ext cx="3564084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0" name="Google Shape;470;p28"/>
          <p:cNvCxnSpPr/>
          <p:nvPr/>
        </p:nvCxnSpPr>
        <p:spPr>
          <a:xfrm rot="5400000">
            <a:off x="8191628" y="2884538"/>
            <a:ext cx="3565868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1" name="Google Shape;471;p28"/>
          <p:cNvCxnSpPr/>
          <p:nvPr/>
        </p:nvCxnSpPr>
        <p:spPr>
          <a:xfrm rot="10800000">
            <a:off x="6489859" y="2210252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2" name="Google Shape;472;p28"/>
          <p:cNvCxnSpPr/>
          <p:nvPr/>
        </p:nvCxnSpPr>
        <p:spPr>
          <a:xfrm rot="10800000">
            <a:off x="6539806" y="3774667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p28"/>
          <p:cNvSpPr/>
          <p:nvPr/>
        </p:nvSpPr>
        <p:spPr>
          <a:xfrm>
            <a:off x="7608317" y="2194198"/>
            <a:ext cx="2368920" cy="158047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4" name="Google Shape;474;p28"/>
          <p:cNvCxnSpPr/>
          <p:nvPr/>
        </p:nvCxnSpPr>
        <p:spPr>
          <a:xfrm rot="10800000">
            <a:off x="6304341" y="220490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5" name="Google Shape;475;p28"/>
          <p:cNvCxnSpPr/>
          <p:nvPr/>
        </p:nvCxnSpPr>
        <p:spPr>
          <a:xfrm rot="10800000">
            <a:off x="6304341" y="377645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6" name="Google Shape;476;p28"/>
          <p:cNvCxnSpPr/>
          <p:nvPr/>
        </p:nvCxnSpPr>
        <p:spPr>
          <a:xfrm>
            <a:off x="7615452" y="4602362"/>
            <a:ext cx="0" cy="2390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7" name="Google Shape;477;p28"/>
          <p:cNvCxnSpPr/>
          <p:nvPr/>
        </p:nvCxnSpPr>
        <p:spPr>
          <a:xfrm>
            <a:off x="9975454" y="4584524"/>
            <a:ext cx="0" cy="2568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8" name="Google Shape;478;p28"/>
          <p:cNvSpPr txBox="1"/>
          <p:nvPr/>
        </p:nvSpPr>
        <p:spPr>
          <a:xfrm>
            <a:off x="5626487" y="1967652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8"/>
          <p:cNvSpPr txBox="1"/>
          <p:nvPr/>
        </p:nvSpPr>
        <p:spPr>
          <a:xfrm>
            <a:off x="5626487" y="3539202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8"/>
          <p:cNvSpPr txBox="1"/>
          <p:nvPr/>
        </p:nvSpPr>
        <p:spPr>
          <a:xfrm>
            <a:off x="7219443" y="4711176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8"/>
          <p:cNvSpPr txBox="1"/>
          <p:nvPr/>
        </p:nvSpPr>
        <p:spPr>
          <a:xfrm>
            <a:off x="9581228" y="4712960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8"/>
          <p:cNvSpPr txBox="1"/>
          <p:nvPr/>
        </p:nvSpPr>
        <p:spPr>
          <a:xfrm>
            <a:off x="8164871" y="1728619"/>
            <a:ext cx="1120242" cy="4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3" name="Google Shape;483;p28"/>
          <p:cNvCxnSpPr/>
          <p:nvPr/>
        </p:nvCxnSpPr>
        <p:spPr>
          <a:xfrm flipH="1" rot="10800000">
            <a:off x="7156174" y="1227363"/>
            <a:ext cx="3013716" cy="25533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84" name="Google Shape;484;p28"/>
          <p:cNvSpPr txBox="1"/>
          <p:nvPr/>
        </p:nvSpPr>
        <p:spPr>
          <a:xfrm>
            <a:off x="10184161" y="1093577"/>
            <a:ext cx="9220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[1010]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8"/>
          <p:cNvSpPr txBox="1"/>
          <p:nvPr/>
        </p:nvSpPr>
        <p:spPr>
          <a:xfrm>
            <a:off x="6746811" y="3858508"/>
            <a:ext cx="9778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 [0001]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9"/>
          <p:cNvSpPr txBox="1"/>
          <p:nvPr>
            <p:ph idx="1" type="body"/>
          </p:nvPr>
        </p:nvSpPr>
        <p:spPr>
          <a:xfrm>
            <a:off x="726874" y="333950"/>
            <a:ext cx="5514900" cy="6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cohen-Sutherland(x1, y1, x2, y2):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oc1 = calculate_outcode(x1, y1),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oc2 = calculate_outcode(x2, y2);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while(true)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if (oc1 == oc2 == 0000)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//declare completely inside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output (x1, y1), (x2, y2) as clipped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break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else if ((oc1 AND oc2)!=0000) { // condition to check matching bit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//declare completely outside and clip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break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if(oc1 != 0000){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(x1, y1) = find intersection point of line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             and the boundary corresponding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              to non-zero bit of oc1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oc1 = calculate_outcode(x1, y1)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(x2, y2) = find intersection point of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                                  and the boundary corresponding 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                                  to non-zero bit of oc2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oc2 = calculate_outcode(x2, y2)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continue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}</a:t>
            </a:r>
            <a:endParaRPr sz="1400"/>
          </a:p>
        </p:txBody>
      </p:sp>
      <p:cxnSp>
        <p:nvCxnSpPr>
          <p:cNvPr id="491" name="Google Shape;491;p29"/>
          <p:cNvCxnSpPr/>
          <p:nvPr/>
        </p:nvCxnSpPr>
        <p:spPr>
          <a:xfrm rot="5400000">
            <a:off x="5829843" y="2845294"/>
            <a:ext cx="3564084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2" name="Google Shape;492;p29"/>
          <p:cNvCxnSpPr/>
          <p:nvPr/>
        </p:nvCxnSpPr>
        <p:spPr>
          <a:xfrm rot="5400000">
            <a:off x="8191628" y="2884538"/>
            <a:ext cx="3565868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3" name="Google Shape;493;p29"/>
          <p:cNvCxnSpPr/>
          <p:nvPr/>
        </p:nvCxnSpPr>
        <p:spPr>
          <a:xfrm rot="10800000">
            <a:off x="6489859" y="2210252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p29"/>
          <p:cNvCxnSpPr/>
          <p:nvPr/>
        </p:nvCxnSpPr>
        <p:spPr>
          <a:xfrm rot="10800000">
            <a:off x="6539806" y="3774667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5" name="Google Shape;495;p29"/>
          <p:cNvSpPr/>
          <p:nvPr/>
        </p:nvSpPr>
        <p:spPr>
          <a:xfrm>
            <a:off x="7608317" y="2194198"/>
            <a:ext cx="2368920" cy="158047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p29"/>
          <p:cNvCxnSpPr/>
          <p:nvPr/>
        </p:nvCxnSpPr>
        <p:spPr>
          <a:xfrm rot="10800000">
            <a:off x="6304341" y="220490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7" name="Google Shape;497;p29"/>
          <p:cNvCxnSpPr/>
          <p:nvPr/>
        </p:nvCxnSpPr>
        <p:spPr>
          <a:xfrm rot="10800000">
            <a:off x="6304341" y="377645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8" name="Google Shape;498;p29"/>
          <p:cNvCxnSpPr/>
          <p:nvPr/>
        </p:nvCxnSpPr>
        <p:spPr>
          <a:xfrm>
            <a:off x="7615452" y="4602362"/>
            <a:ext cx="0" cy="2390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29"/>
          <p:cNvCxnSpPr/>
          <p:nvPr/>
        </p:nvCxnSpPr>
        <p:spPr>
          <a:xfrm>
            <a:off x="9975454" y="4584524"/>
            <a:ext cx="0" cy="2568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p29"/>
          <p:cNvSpPr txBox="1"/>
          <p:nvPr/>
        </p:nvSpPr>
        <p:spPr>
          <a:xfrm>
            <a:off x="5626487" y="1967652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9"/>
          <p:cNvSpPr txBox="1"/>
          <p:nvPr/>
        </p:nvSpPr>
        <p:spPr>
          <a:xfrm>
            <a:off x="5626487" y="3539202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9"/>
          <p:cNvSpPr txBox="1"/>
          <p:nvPr/>
        </p:nvSpPr>
        <p:spPr>
          <a:xfrm>
            <a:off x="7219443" y="4711176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9"/>
          <p:cNvSpPr txBox="1"/>
          <p:nvPr/>
        </p:nvSpPr>
        <p:spPr>
          <a:xfrm>
            <a:off x="9581228" y="4712960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9"/>
          <p:cNvSpPr txBox="1"/>
          <p:nvPr/>
        </p:nvSpPr>
        <p:spPr>
          <a:xfrm>
            <a:off x="8164871" y="1728619"/>
            <a:ext cx="1120242" cy="4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5" name="Google Shape;505;p29"/>
          <p:cNvCxnSpPr/>
          <p:nvPr/>
        </p:nvCxnSpPr>
        <p:spPr>
          <a:xfrm flipH="1" rot="10800000">
            <a:off x="7604751" y="1163884"/>
            <a:ext cx="2640060" cy="223680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06" name="Google Shape;506;p29"/>
          <p:cNvSpPr txBox="1"/>
          <p:nvPr/>
        </p:nvSpPr>
        <p:spPr>
          <a:xfrm>
            <a:off x="10043345" y="1228669"/>
            <a:ext cx="97174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[1010]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9"/>
          <p:cNvSpPr txBox="1"/>
          <p:nvPr/>
        </p:nvSpPr>
        <p:spPr>
          <a:xfrm>
            <a:off x="6666012" y="3343953"/>
            <a:ext cx="10310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’’ [0000]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0"/>
          <p:cNvSpPr txBox="1"/>
          <p:nvPr>
            <p:ph idx="1" type="body"/>
          </p:nvPr>
        </p:nvSpPr>
        <p:spPr>
          <a:xfrm>
            <a:off x="726874" y="333949"/>
            <a:ext cx="5563200" cy="6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cohen-Sutherland(x1, y1, x2, y2):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oc1 = calculate_outcode(x1, y1),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oc2 = calculate_outcode(x2, y2);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while(true)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if (oc1 == oc2 == 0000)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//declare completely inside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output (x1, y1), (x2, y2) as clipped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break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else if ((oc1 AND oc2)!=0000) { // condition to check matching bit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//declare completely outside and clip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break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if(oc1 != 0000){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(x1, y1) = find intersection point of line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             and the boundary corresponding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              to non-zero bit of oc1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oc1 = calculate_outcode(x1, y1)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(x2, y2) = find intersection point of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                                  and the boundary corresponding 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                                  to non-zero bit of oc2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	oc2 = calculate_outcode(x2, y2)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	continue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}</a:t>
            </a:r>
            <a:endParaRPr sz="1400"/>
          </a:p>
        </p:txBody>
      </p:sp>
      <p:cxnSp>
        <p:nvCxnSpPr>
          <p:cNvPr id="513" name="Google Shape;513;p30"/>
          <p:cNvCxnSpPr/>
          <p:nvPr/>
        </p:nvCxnSpPr>
        <p:spPr>
          <a:xfrm rot="5400000">
            <a:off x="5829843" y="2845294"/>
            <a:ext cx="3564084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4" name="Google Shape;514;p30"/>
          <p:cNvCxnSpPr/>
          <p:nvPr/>
        </p:nvCxnSpPr>
        <p:spPr>
          <a:xfrm rot="5400000">
            <a:off x="8191628" y="2884538"/>
            <a:ext cx="3565868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5" name="Google Shape;515;p30"/>
          <p:cNvCxnSpPr/>
          <p:nvPr/>
        </p:nvCxnSpPr>
        <p:spPr>
          <a:xfrm rot="10800000">
            <a:off x="6489859" y="2210252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6" name="Google Shape;516;p30"/>
          <p:cNvCxnSpPr/>
          <p:nvPr/>
        </p:nvCxnSpPr>
        <p:spPr>
          <a:xfrm rot="10800000">
            <a:off x="6539806" y="3774667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7" name="Google Shape;517;p30"/>
          <p:cNvSpPr/>
          <p:nvPr/>
        </p:nvSpPr>
        <p:spPr>
          <a:xfrm>
            <a:off x="7608317" y="2194198"/>
            <a:ext cx="2368920" cy="158047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8" name="Google Shape;518;p30"/>
          <p:cNvCxnSpPr/>
          <p:nvPr/>
        </p:nvCxnSpPr>
        <p:spPr>
          <a:xfrm rot="10800000">
            <a:off x="6304341" y="220490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9" name="Google Shape;519;p30"/>
          <p:cNvCxnSpPr/>
          <p:nvPr/>
        </p:nvCxnSpPr>
        <p:spPr>
          <a:xfrm rot="10800000">
            <a:off x="6304341" y="377645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0" name="Google Shape;520;p30"/>
          <p:cNvCxnSpPr/>
          <p:nvPr/>
        </p:nvCxnSpPr>
        <p:spPr>
          <a:xfrm>
            <a:off x="7615452" y="4602362"/>
            <a:ext cx="0" cy="2390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1" name="Google Shape;521;p30"/>
          <p:cNvCxnSpPr/>
          <p:nvPr/>
        </p:nvCxnSpPr>
        <p:spPr>
          <a:xfrm>
            <a:off x="9975454" y="4584524"/>
            <a:ext cx="0" cy="2568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2" name="Google Shape;522;p30"/>
          <p:cNvSpPr txBox="1"/>
          <p:nvPr/>
        </p:nvSpPr>
        <p:spPr>
          <a:xfrm>
            <a:off x="5626487" y="1967652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0"/>
          <p:cNvSpPr txBox="1"/>
          <p:nvPr/>
        </p:nvSpPr>
        <p:spPr>
          <a:xfrm>
            <a:off x="5626487" y="3539202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0"/>
          <p:cNvSpPr txBox="1"/>
          <p:nvPr/>
        </p:nvSpPr>
        <p:spPr>
          <a:xfrm>
            <a:off x="7219443" y="4711176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0"/>
          <p:cNvSpPr txBox="1"/>
          <p:nvPr/>
        </p:nvSpPr>
        <p:spPr>
          <a:xfrm>
            <a:off x="9581228" y="4712960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0"/>
          <p:cNvSpPr txBox="1"/>
          <p:nvPr/>
        </p:nvSpPr>
        <p:spPr>
          <a:xfrm>
            <a:off x="8164871" y="1728619"/>
            <a:ext cx="1120242" cy="4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7" name="Google Shape;527;p30"/>
          <p:cNvCxnSpPr/>
          <p:nvPr/>
        </p:nvCxnSpPr>
        <p:spPr>
          <a:xfrm flipH="1" rot="10800000">
            <a:off x="7604751" y="2205585"/>
            <a:ext cx="1410560" cy="119510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28" name="Google Shape;528;p30"/>
          <p:cNvSpPr txBox="1"/>
          <p:nvPr/>
        </p:nvSpPr>
        <p:spPr>
          <a:xfrm>
            <a:off x="9120204" y="1890669"/>
            <a:ext cx="101155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 [0000]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0"/>
          <p:cNvSpPr txBox="1"/>
          <p:nvPr/>
        </p:nvSpPr>
        <p:spPr>
          <a:xfrm>
            <a:off x="6666012" y="3343953"/>
            <a:ext cx="10310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’’ [0000]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4" name="Google Shape;534;p31"/>
          <p:cNvGrpSpPr/>
          <p:nvPr/>
        </p:nvGrpSpPr>
        <p:grpSpPr>
          <a:xfrm>
            <a:off x="2456536" y="212462"/>
            <a:ext cx="3284410" cy="2308101"/>
            <a:chOff x="5626487" y="1063252"/>
            <a:chExt cx="5784946" cy="4065339"/>
          </a:xfrm>
        </p:grpSpPr>
        <p:cxnSp>
          <p:nvCxnSpPr>
            <p:cNvPr id="535" name="Google Shape;535;p31"/>
            <p:cNvCxnSpPr/>
            <p:nvPr/>
          </p:nvCxnSpPr>
          <p:spPr>
            <a:xfrm rot="5400000">
              <a:off x="5829843" y="2845294"/>
              <a:ext cx="3564084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6" name="Google Shape;536;p31"/>
            <p:cNvCxnSpPr/>
            <p:nvPr/>
          </p:nvCxnSpPr>
          <p:spPr>
            <a:xfrm rot="5400000">
              <a:off x="8191628" y="2884538"/>
              <a:ext cx="356586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7" name="Google Shape;537;p31"/>
            <p:cNvCxnSpPr/>
            <p:nvPr/>
          </p:nvCxnSpPr>
          <p:spPr>
            <a:xfrm rot="10800000">
              <a:off x="6489859" y="2210252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8" name="Google Shape;538;p31"/>
            <p:cNvCxnSpPr/>
            <p:nvPr/>
          </p:nvCxnSpPr>
          <p:spPr>
            <a:xfrm rot="10800000">
              <a:off x="6539806" y="3774667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9" name="Google Shape;539;p31"/>
            <p:cNvSpPr/>
            <p:nvPr/>
          </p:nvSpPr>
          <p:spPr>
            <a:xfrm>
              <a:off x="7608317" y="2194198"/>
              <a:ext cx="2368920" cy="158047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0" name="Google Shape;540;p31"/>
            <p:cNvCxnSpPr/>
            <p:nvPr/>
          </p:nvCxnSpPr>
          <p:spPr>
            <a:xfrm rot="10800000">
              <a:off x="6304341" y="220490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1" name="Google Shape;541;p31"/>
            <p:cNvCxnSpPr/>
            <p:nvPr/>
          </p:nvCxnSpPr>
          <p:spPr>
            <a:xfrm rot="10800000">
              <a:off x="6304341" y="377645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2" name="Google Shape;542;p31"/>
            <p:cNvCxnSpPr/>
            <p:nvPr/>
          </p:nvCxnSpPr>
          <p:spPr>
            <a:xfrm>
              <a:off x="7615452" y="4602362"/>
              <a:ext cx="0" cy="2390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3" name="Google Shape;543;p31"/>
            <p:cNvCxnSpPr/>
            <p:nvPr/>
          </p:nvCxnSpPr>
          <p:spPr>
            <a:xfrm>
              <a:off x="9975454" y="4584524"/>
              <a:ext cx="0" cy="2568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44" name="Google Shape;544;p31"/>
            <p:cNvSpPr txBox="1"/>
            <p:nvPr/>
          </p:nvSpPr>
          <p:spPr>
            <a:xfrm>
              <a:off x="5626487" y="1967652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31"/>
            <p:cNvSpPr txBox="1"/>
            <p:nvPr/>
          </p:nvSpPr>
          <p:spPr>
            <a:xfrm>
              <a:off x="5626487" y="3539202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31"/>
            <p:cNvSpPr txBox="1"/>
            <p:nvPr/>
          </p:nvSpPr>
          <p:spPr>
            <a:xfrm>
              <a:off x="7219443" y="4711176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31"/>
            <p:cNvSpPr txBox="1"/>
            <p:nvPr/>
          </p:nvSpPr>
          <p:spPr>
            <a:xfrm>
              <a:off x="9581228" y="4712960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8" name="Google Shape;548;p31"/>
            <p:cNvCxnSpPr/>
            <p:nvPr/>
          </p:nvCxnSpPr>
          <p:spPr>
            <a:xfrm flipH="1" rot="10800000">
              <a:off x="6438127" y="1227363"/>
              <a:ext cx="3731763" cy="31617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549" name="Google Shape;549;p31"/>
            <p:cNvSpPr txBox="1"/>
            <p:nvPr/>
          </p:nvSpPr>
          <p:spPr>
            <a:xfrm>
              <a:off x="10184162" y="1093578"/>
              <a:ext cx="660298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31"/>
            <p:cNvSpPr txBox="1"/>
            <p:nvPr/>
          </p:nvSpPr>
          <p:spPr>
            <a:xfrm>
              <a:off x="6420289" y="4332933"/>
              <a:ext cx="686376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51" name="Google Shape;551;p31"/>
          <p:cNvCxnSpPr/>
          <p:nvPr/>
        </p:nvCxnSpPr>
        <p:spPr>
          <a:xfrm>
            <a:off x="6456459" y="0"/>
            <a:ext cx="31805" cy="694148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2" name="Google Shape;552;p31"/>
          <p:cNvCxnSpPr/>
          <p:nvPr/>
        </p:nvCxnSpPr>
        <p:spPr>
          <a:xfrm flipH="1" rot="10800000">
            <a:off x="0" y="3322611"/>
            <a:ext cx="12192000" cy="103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3" name="Google Shape;553;p31"/>
          <p:cNvSpPr txBox="1"/>
          <p:nvPr/>
        </p:nvSpPr>
        <p:spPr>
          <a:xfrm>
            <a:off x="267696" y="1973005"/>
            <a:ext cx="228613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boundary intersection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b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y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m 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1"/>
          <p:cNvSpPr/>
          <p:nvPr/>
        </p:nvSpPr>
        <p:spPr>
          <a:xfrm>
            <a:off x="3543592" y="1502797"/>
            <a:ext cx="71562" cy="71562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1"/>
          <p:cNvSpPr txBox="1"/>
          <p:nvPr/>
        </p:nvSpPr>
        <p:spPr>
          <a:xfrm>
            <a:off x="3593877" y="1388359"/>
            <a:ext cx="6511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(x, y)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6" name="Google Shape;556;p31"/>
          <p:cNvGrpSpPr/>
          <p:nvPr/>
        </p:nvGrpSpPr>
        <p:grpSpPr>
          <a:xfrm>
            <a:off x="8797658" y="304033"/>
            <a:ext cx="3284692" cy="2308225"/>
            <a:chOff x="5626487" y="1063252"/>
            <a:chExt cx="5784946" cy="4065208"/>
          </a:xfrm>
        </p:grpSpPr>
        <p:cxnSp>
          <p:nvCxnSpPr>
            <p:cNvPr id="557" name="Google Shape;557;p31"/>
            <p:cNvCxnSpPr/>
            <p:nvPr/>
          </p:nvCxnSpPr>
          <p:spPr>
            <a:xfrm rot="5400000">
              <a:off x="5829843" y="2845294"/>
              <a:ext cx="3564084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8" name="Google Shape;558;p31"/>
            <p:cNvCxnSpPr/>
            <p:nvPr/>
          </p:nvCxnSpPr>
          <p:spPr>
            <a:xfrm rot="5400000">
              <a:off x="8191628" y="2884538"/>
              <a:ext cx="356586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9" name="Google Shape;559;p31"/>
            <p:cNvCxnSpPr/>
            <p:nvPr/>
          </p:nvCxnSpPr>
          <p:spPr>
            <a:xfrm rot="10800000">
              <a:off x="6489859" y="2210252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0" name="Google Shape;560;p31"/>
            <p:cNvCxnSpPr/>
            <p:nvPr/>
          </p:nvCxnSpPr>
          <p:spPr>
            <a:xfrm rot="10800000">
              <a:off x="6539806" y="3774667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1" name="Google Shape;561;p31"/>
            <p:cNvSpPr/>
            <p:nvPr/>
          </p:nvSpPr>
          <p:spPr>
            <a:xfrm>
              <a:off x="7608317" y="2194198"/>
              <a:ext cx="2368920" cy="158047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2" name="Google Shape;562;p31"/>
            <p:cNvCxnSpPr/>
            <p:nvPr/>
          </p:nvCxnSpPr>
          <p:spPr>
            <a:xfrm rot="10800000">
              <a:off x="6304341" y="220490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3" name="Google Shape;563;p31"/>
            <p:cNvCxnSpPr/>
            <p:nvPr/>
          </p:nvCxnSpPr>
          <p:spPr>
            <a:xfrm rot="10800000">
              <a:off x="6304341" y="377645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4" name="Google Shape;564;p31"/>
            <p:cNvCxnSpPr/>
            <p:nvPr/>
          </p:nvCxnSpPr>
          <p:spPr>
            <a:xfrm>
              <a:off x="7615452" y="4602362"/>
              <a:ext cx="0" cy="2390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5" name="Google Shape;565;p31"/>
            <p:cNvCxnSpPr/>
            <p:nvPr/>
          </p:nvCxnSpPr>
          <p:spPr>
            <a:xfrm>
              <a:off x="9975454" y="4584524"/>
              <a:ext cx="0" cy="2568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6" name="Google Shape;566;p31"/>
            <p:cNvSpPr txBox="1"/>
            <p:nvPr/>
          </p:nvSpPr>
          <p:spPr>
            <a:xfrm>
              <a:off x="5626487" y="1967652"/>
              <a:ext cx="663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31"/>
            <p:cNvSpPr txBox="1"/>
            <p:nvPr/>
          </p:nvSpPr>
          <p:spPr>
            <a:xfrm>
              <a:off x="5626487" y="3539202"/>
              <a:ext cx="6153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1"/>
            <p:cNvSpPr txBox="1"/>
            <p:nvPr/>
          </p:nvSpPr>
          <p:spPr>
            <a:xfrm>
              <a:off x="7219443" y="4711176"/>
              <a:ext cx="6153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31"/>
            <p:cNvSpPr txBox="1"/>
            <p:nvPr/>
          </p:nvSpPr>
          <p:spPr>
            <a:xfrm>
              <a:off x="9581228" y="4712960"/>
              <a:ext cx="663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0" name="Google Shape;570;p31"/>
            <p:cNvCxnSpPr/>
            <p:nvPr/>
          </p:nvCxnSpPr>
          <p:spPr>
            <a:xfrm flipH="1" rot="10800000">
              <a:off x="6438127" y="1227363"/>
              <a:ext cx="3731763" cy="31617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571" name="Google Shape;571;p31"/>
            <p:cNvSpPr txBox="1"/>
            <p:nvPr/>
          </p:nvSpPr>
          <p:spPr>
            <a:xfrm>
              <a:off x="10184162" y="1093578"/>
              <a:ext cx="660300" cy="50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31"/>
            <p:cNvSpPr txBox="1"/>
            <p:nvPr/>
          </p:nvSpPr>
          <p:spPr>
            <a:xfrm>
              <a:off x="6420289" y="4332933"/>
              <a:ext cx="686400" cy="50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3" name="Google Shape;573;p31"/>
          <p:cNvSpPr txBox="1"/>
          <p:nvPr/>
        </p:nvSpPr>
        <p:spPr>
          <a:xfrm>
            <a:off x="6586076" y="2146102"/>
            <a:ext cx="239514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boundary intersection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b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y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m 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1"/>
          <p:cNvSpPr/>
          <p:nvPr/>
        </p:nvSpPr>
        <p:spPr>
          <a:xfrm>
            <a:off x="11228206" y="449327"/>
            <a:ext cx="71562" cy="71562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1"/>
          <p:cNvSpPr txBox="1"/>
          <p:nvPr/>
        </p:nvSpPr>
        <p:spPr>
          <a:xfrm>
            <a:off x="10670499" y="295777"/>
            <a:ext cx="6511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(x, y)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6" name="Google Shape;576;p31"/>
          <p:cNvGrpSpPr/>
          <p:nvPr/>
        </p:nvGrpSpPr>
        <p:grpSpPr>
          <a:xfrm>
            <a:off x="2428178" y="3634680"/>
            <a:ext cx="3284410" cy="2308101"/>
            <a:chOff x="5626487" y="1063252"/>
            <a:chExt cx="5784946" cy="4065339"/>
          </a:xfrm>
        </p:grpSpPr>
        <p:cxnSp>
          <p:nvCxnSpPr>
            <p:cNvPr id="577" name="Google Shape;577;p31"/>
            <p:cNvCxnSpPr/>
            <p:nvPr/>
          </p:nvCxnSpPr>
          <p:spPr>
            <a:xfrm rot="5400000">
              <a:off x="5829843" y="2845294"/>
              <a:ext cx="3564084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8" name="Google Shape;578;p31"/>
            <p:cNvCxnSpPr/>
            <p:nvPr/>
          </p:nvCxnSpPr>
          <p:spPr>
            <a:xfrm rot="5400000">
              <a:off x="8191628" y="2884538"/>
              <a:ext cx="356586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9" name="Google Shape;579;p31"/>
            <p:cNvCxnSpPr/>
            <p:nvPr/>
          </p:nvCxnSpPr>
          <p:spPr>
            <a:xfrm rot="10800000">
              <a:off x="6489859" y="2210252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0" name="Google Shape;580;p31"/>
            <p:cNvCxnSpPr/>
            <p:nvPr/>
          </p:nvCxnSpPr>
          <p:spPr>
            <a:xfrm rot="10800000">
              <a:off x="6539806" y="3774667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81" name="Google Shape;581;p31"/>
            <p:cNvSpPr/>
            <p:nvPr/>
          </p:nvSpPr>
          <p:spPr>
            <a:xfrm>
              <a:off x="7608317" y="2194198"/>
              <a:ext cx="2368920" cy="158047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2" name="Google Shape;582;p31"/>
            <p:cNvCxnSpPr/>
            <p:nvPr/>
          </p:nvCxnSpPr>
          <p:spPr>
            <a:xfrm rot="10800000">
              <a:off x="6304341" y="220490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3" name="Google Shape;583;p31"/>
            <p:cNvCxnSpPr/>
            <p:nvPr/>
          </p:nvCxnSpPr>
          <p:spPr>
            <a:xfrm rot="10800000">
              <a:off x="6304341" y="377645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4" name="Google Shape;584;p31"/>
            <p:cNvCxnSpPr/>
            <p:nvPr/>
          </p:nvCxnSpPr>
          <p:spPr>
            <a:xfrm>
              <a:off x="7615452" y="4602362"/>
              <a:ext cx="0" cy="2390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5" name="Google Shape;585;p31"/>
            <p:cNvCxnSpPr/>
            <p:nvPr/>
          </p:nvCxnSpPr>
          <p:spPr>
            <a:xfrm>
              <a:off x="9975454" y="4584524"/>
              <a:ext cx="0" cy="2568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86" name="Google Shape;586;p31"/>
            <p:cNvSpPr txBox="1"/>
            <p:nvPr/>
          </p:nvSpPr>
          <p:spPr>
            <a:xfrm>
              <a:off x="5626487" y="1967652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31"/>
            <p:cNvSpPr txBox="1"/>
            <p:nvPr/>
          </p:nvSpPr>
          <p:spPr>
            <a:xfrm>
              <a:off x="5626487" y="3539202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31"/>
            <p:cNvSpPr txBox="1"/>
            <p:nvPr/>
          </p:nvSpPr>
          <p:spPr>
            <a:xfrm>
              <a:off x="7219443" y="4711176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31"/>
            <p:cNvSpPr txBox="1"/>
            <p:nvPr/>
          </p:nvSpPr>
          <p:spPr>
            <a:xfrm>
              <a:off x="9581228" y="4712960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0" name="Google Shape;590;p31"/>
            <p:cNvCxnSpPr/>
            <p:nvPr/>
          </p:nvCxnSpPr>
          <p:spPr>
            <a:xfrm flipH="1" rot="10800000">
              <a:off x="6438127" y="1227363"/>
              <a:ext cx="3731763" cy="31617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591" name="Google Shape;591;p31"/>
            <p:cNvSpPr txBox="1"/>
            <p:nvPr/>
          </p:nvSpPr>
          <p:spPr>
            <a:xfrm>
              <a:off x="10184162" y="1093578"/>
              <a:ext cx="660298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1"/>
            <p:cNvSpPr txBox="1"/>
            <p:nvPr/>
          </p:nvSpPr>
          <p:spPr>
            <a:xfrm>
              <a:off x="6420289" y="4332933"/>
              <a:ext cx="686376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3" name="Google Shape;593;p31"/>
          <p:cNvSpPr txBox="1"/>
          <p:nvPr/>
        </p:nvSpPr>
        <p:spPr>
          <a:xfrm>
            <a:off x="239338" y="5395223"/>
            <a:ext cx="2605137" cy="106240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98" r="0" t="-114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1"/>
          <p:cNvSpPr/>
          <p:nvPr/>
        </p:nvSpPr>
        <p:spPr>
          <a:xfrm>
            <a:off x="3276695" y="5139698"/>
            <a:ext cx="71562" cy="71562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1"/>
          <p:cNvSpPr txBox="1"/>
          <p:nvPr/>
        </p:nvSpPr>
        <p:spPr>
          <a:xfrm>
            <a:off x="2761449" y="4842512"/>
            <a:ext cx="6511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(x, y)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6" name="Google Shape;596;p31"/>
          <p:cNvGrpSpPr/>
          <p:nvPr/>
        </p:nvGrpSpPr>
        <p:grpSpPr>
          <a:xfrm>
            <a:off x="8797383" y="3651898"/>
            <a:ext cx="3284410" cy="2308101"/>
            <a:chOff x="5626487" y="1063252"/>
            <a:chExt cx="5784946" cy="4065339"/>
          </a:xfrm>
        </p:grpSpPr>
        <p:cxnSp>
          <p:nvCxnSpPr>
            <p:cNvPr id="597" name="Google Shape;597;p31"/>
            <p:cNvCxnSpPr/>
            <p:nvPr/>
          </p:nvCxnSpPr>
          <p:spPr>
            <a:xfrm rot="5400000">
              <a:off x="5829843" y="2845294"/>
              <a:ext cx="3564084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8" name="Google Shape;598;p31"/>
            <p:cNvCxnSpPr/>
            <p:nvPr/>
          </p:nvCxnSpPr>
          <p:spPr>
            <a:xfrm rot="5400000">
              <a:off x="8191628" y="2884538"/>
              <a:ext cx="356586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9" name="Google Shape;599;p31"/>
            <p:cNvCxnSpPr/>
            <p:nvPr/>
          </p:nvCxnSpPr>
          <p:spPr>
            <a:xfrm rot="10800000">
              <a:off x="6489859" y="2210252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0" name="Google Shape;600;p31"/>
            <p:cNvCxnSpPr/>
            <p:nvPr/>
          </p:nvCxnSpPr>
          <p:spPr>
            <a:xfrm rot="10800000">
              <a:off x="6539806" y="3774667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1" name="Google Shape;601;p31"/>
            <p:cNvSpPr/>
            <p:nvPr/>
          </p:nvSpPr>
          <p:spPr>
            <a:xfrm>
              <a:off x="7608317" y="2194198"/>
              <a:ext cx="2368920" cy="158047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2" name="Google Shape;602;p31"/>
            <p:cNvCxnSpPr/>
            <p:nvPr/>
          </p:nvCxnSpPr>
          <p:spPr>
            <a:xfrm rot="10800000">
              <a:off x="6304341" y="220490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3" name="Google Shape;603;p31"/>
            <p:cNvCxnSpPr/>
            <p:nvPr/>
          </p:nvCxnSpPr>
          <p:spPr>
            <a:xfrm rot="10800000">
              <a:off x="6304341" y="377645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4" name="Google Shape;604;p31"/>
            <p:cNvCxnSpPr/>
            <p:nvPr/>
          </p:nvCxnSpPr>
          <p:spPr>
            <a:xfrm>
              <a:off x="7615452" y="4602362"/>
              <a:ext cx="0" cy="2390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5" name="Google Shape;605;p31"/>
            <p:cNvCxnSpPr/>
            <p:nvPr/>
          </p:nvCxnSpPr>
          <p:spPr>
            <a:xfrm>
              <a:off x="9975454" y="4584524"/>
              <a:ext cx="0" cy="2568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6" name="Google Shape;606;p31"/>
            <p:cNvSpPr txBox="1"/>
            <p:nvPr/>
          </p:nvSpPr>
          <p:spPr>
            <a:xfrm>
              <a:off x="5626487" y="1967652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31"/>
            <p:cNvSpPr txBox="1"/>
            <p:nvPr/>
          </p:nvSpPr>
          <p:spPr>
            <a:xfrm>
              <a:off x="5626487" y="3539202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31"/>
            <p:cNvSpPr txBox="1"/>
            <p:nvPr/>
          </p:nvSpPr>
          <p:spPr>
            <a:xfrm>
              <a:off x="7219443" y="4711176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31"/>
            <p:cNvSpPr txBox="1"/>
            <p:nvPr/>
          </p:nvSpPr>
          <p:spPr>
            <a:xfrm>
              <a:off x="9581228" y="4712960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0" name="Google Shape;610;p31"/>
            <p:cNvCxnSpPr/>
            <p:nvPr/>
          </p:nvCxnSpPr>
          <p:spPr>
            <a:xfrm flipH="1" rot="10800000">
              <a:off x="6438127" y="1227363"/>
              <a:ext cx="3731763" cy="31617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611" name="Google Shape;611;p31"/>
            <p:cNvSpPr txBox="1"/>
            <p:nvPr/>
          </p:nvSpPr>
          <p:spPr>
            <a:xfrm>
              <a:off x="10184162" y="1093578"/>
              <a:ext cx="660298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31"/>
            <p:cNvSpPr txBox="1"/>
            <p:nvPr/>
          </p:nvSpPr>
          <p:spPr>
            <a:xfrm>
              <a:off x="6420289" y="4332933"/>
              <a:ext cx="686376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3" name="Google Shape;613;p31"/>
          <p:cNvSpPr txBox="1"/>
          <p:nvPr/>
        </p:nvSpPr>
        <p:spPr>
          <a:xfrm>
            <a:off x="6608543" y="5412441"/>
            <a:ext cx="2178481" cy="104400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837" r="0" t="-116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1"/>
          <p:cNvSpPr/>
          <p:nvPr/>
        </p:nvSpPr>
        <p:spPr>
          <a:xfrm>
            <a:off x="10711375" y="4242518"/>
            <a:ext cx="72228" cy="81406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1"/>
          <p:cNvSpPr txBox="1"/>
          <p:nvPr/>
        </p:nvSpPr>
        <p:spPr>
          <a:xfrm>
            <a:off x="10138522" y="3922298"/>
            <a:ext cx="6511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(x, y)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2"/>
          <p:cNvSpPr txBox="1"/>
          <p:nvPr>
            <p:ph idx="1" type="body"/>
          </p:nvPr>
        </p:nvSpPr>
        <p:spPr>
          <a:xfrm>
            <a:off x="1148325" y="745250"/>
            <a:ext cx="8140800" cy="52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Determine whether the following line are accepted/rejected/partial using Cohen Sutherland line clipping algorithm. 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a) Given (-250,-200) to (250,200) be the clip region.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(i) (-100, -220) to (300, -210).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(ii) (-250, 200) to (250, -200).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b) Given (0,0) to (300,200) be the clip region.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(i) (50, -125) to (-100, 225).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(ii) (-250, 200) to (250, -200).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If they are partially accepted/rejected find the line segment within the clipping window. 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3"/>
          <p:cNvSpPr txBox="1"/>
          <p:nvPr>
            <p:ph idx="1" type="body"/>
          </p:nvPr>
        </p:nvSpPr>
        <p:spPr>
          <a:xfrm>
            <a:off x="838200" y="182875"/>
            <a:ext cx="11200200" cy="6675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2" r="0" t="-50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26" name="Google Shape;626;p33"/>
          <p:cNvSpPr txBox="1"/>
          <p:nvPr/>
        </p:nvSpPr>
        <p:spPr>
          <a:xfrm>
            <a:off x="6976606" y="373712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(oc1 == oc2 == 0000)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((oc1 AND oc2)!=0000) { // condition to check matching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4"/>
          <p:cNvSpPr txBox="1"/>
          <p:nvPr>
            <p:ph idx="1" type="body"/>
          </p:nvPr>
        </p:nvSpPr>
        <p:spPr>
          <a:xfrm>
            <a:off x="838200" y="182874"/>
            <a:ext cx="11132100" cy="6675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2" r="0" t="-50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32" name="Google Shape;632;p34"/>
          <p:cNvSpPr txBox="1"/>
          <p:nvPr/>
        </p:nvSpPr>
        <p:spPr>
          <a:xfrm>
            <a:off x="6976606" y="373712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(oc1 == oc2 == 0000)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((oc1 AND oc2)!=0000) { // condition to check matching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5"/>
          <p:cNvSpPr txBox="1"/>
          <p:nvPr>
            <p:ph idx="1" type="body"/>
          </p:nvPr>
        </p:nvSpPr>
        <p:spPr>
          <a:xfrm>
            <a:off x="838200" y="182874"/>
            <a:ext cx="11090400" cy="6675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2" r="0" t="-8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38" name="Google Shape;638;p35"/>
          <p:cNvSpPr txBox="1"/>
          <p:nvPr/>
        </p:nvSpPr>
        <p:spPr>
          <a:xfrm>
            <a:off x="6976606" y="373712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(oc1 == oc2 == 0000)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((oc1 AND oc2)!=0000) { // condition to check matching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6"/>
          <p:cNvSpPr txBox="1"/>
          <p:nvPr>
            <p:ph idx="1" type="body"/>
          </p:nvPr>
        </p:nvSpPr>
        <p:spPr>
          <a:xfrm>
            <a:off x="838200" y="158699"/>
            <a:ext cx="11020500" cy="669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2" r="0" t="-8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44" name="Google Shape;644;p36"/>
          <p:cNvSpPr txBox="1"/>
          <p:nvPr/>
        </p:nvSpPr>
        <p:spPr>
          <a:xfrm>
            <a:off x="6976606" y="373712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(oc1 == oc2 == 0000)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((oc1 AND oc2)!=0000) { // condition to check matching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7"/>
          <p:cNvSpPr txBox="1"/>
          <p:nvPr>
            <p:ph idx="1" type="body"/>
          </p:nvPr>
        </p:nvSpPr>
        <p:spPr>
          <a:xfrm>
            <a:off x="838200" y="182875"/>
            <a:ext cx="11200200" cy="6550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02" l="-113" r="0" t="-60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50" name="Google Shape;650;p37"/>
          <p:cNvSpPr txBox="1"/>
          <p:nvPr/>
        </p:nvSpPr>
        <p:spPr>
          <a:xfrm>
            <a:off x="6976606" y="373712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(oc1 == oc2 == 0000)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((oc1 AND oc2)!=0000) { // condition to check matching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8"/>
          <p:cNvSpPr txBox="1"/>
          <p:nvPr>
            <p:ph idx="1" type="body"/>
          </p:nvPr>
        </p:nvSpPr>
        <p:spPr>
          <a:xfrm>
            <a:off x="1219200" y="1143000"/>
            <a:ext cx="10972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Works well for two cases:</a:t>
            </a:r>
            <a:endParaRPr sz="3100"/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A86E8"/>
              </a:buClr>
              <a:buSzPts val="2700"/>
              <a:buFont typeface="Calibri"/>
              <a:buAutoNum type="arabicPeriod"/>
            </a:pPr>
            <a:r>
              <a:rPr lang="en-US" sz="27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large clip region</a:t>
            </a:r>
            <a:endParaRPr sz="3100">
              <a:solidFill>
                <a:srgbClr val="4A86E8"/>
              </a:solidFill>
            </a:endParaRPr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06666"/>
              </a:buClr>
              <a:buSzPts val="2700"/>
              <a:buFont typeface="Calibri"/>
              <a:buAutoNum type="arabicPeriod"/>
            </a:pPr>
            <a:r>
              <a:rPr lang="en-US" sz="2700">
                <a:solidFill>
                  <a:srgbClr val="E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small clip region</a:t>
            </a:r>
            <a:endParaRPr sz="3100">
              <a:solidFill>
                <a:srgbClr val="E06666"/>
              </a:solidFill>
            </a:endParaRPr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- Why?</a:t>
            </a:r>
            <a:endParaRPr sz="3100"/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[For many trivial accept</a:t>
            </a:r>
            <a:endParaRPr sz="3100"/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and many trivial reject]</a:t>
            </a:r>
            <a:endParaRPr sz="3100"/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700" u="sng">
                <a:latin typeface="Times New Roman"/>
                <a:ea typeface="Times New Roman"/>
                <a:cs typeface="Times New Roman"/>
                <a:sym typeface="Times New Roman"/>
              </a:rPr>
              <a:t>Where is the problem?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Only rectangular clipping region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Unnecessary clipping is done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Different clipping order  may take less iterations  to finish </a:t>
            </a:r>
            <a:endParaRPr sz="3100"/>
          </a:p>
        </p:txBody>
      </p:sp>
      <p:pic>
        <p:nvPicPr>
          <p:cNvPr id="656" name="Google Shape;656;p38"/>
          <p:cNvPicPr preferRelativeResize="0"/>
          <p:nvPr/>
        </p:nvPicPr>
        <p:blipFill rotWithShape="1">
          <a:blip r:embed="rId3">
            <a:alphaModFix/>
          </a:blip>
          <a:srcRect b="14583" l="24012" r="43776" t="47915"/>
          <a:stretch/>
        </p:blipFill>
        <p:spPr>
          <a:xfrm>
            <a:off x="6299200" y="1447800"/>
            <a:ext cx="5588002" cy="2743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7" name="Google Shape;657;p38"/>
          <p:cNvCxnSpPr/>
          <p:nvPr/>
        </p:nvCxnSpPr>
        <p:spPr>
          <a:xfrm flipH="1" rot="-5400000">
            <a:off x="10528350" y="1892250"/>
            <a:ext cx="685800" cy="406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58" name="Google Shape;658;p38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Cohen-Sutherland L</a:t>
            </a: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 Clipping Algorithm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9" name="Google Shape;659;p38"/>
          <p:cNvSpPr/>
          <p:nvPr/>
        </p:nvSpPr>
        <p:spPr>
          <a:xfrm>
            <a:off x="7373925" y="1681150"/>
            <a:ext cx="4508400" cy="2568300"/>
          </a:xfrm>
          <a:prstGeom prst="rect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0" name="Google Shape;660;p38"/>
          <p:cNvCxnSpPr/>
          <p:nvPr/>
        </p:nvCxnSpPr>
        <p:spPr>
          <a:xfrm>
            <a:off x="4914875" y="1913400"/>
            <a:ext cx="2418000" cy="30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1" name="Google Shape;661;p38"/>
          <p:cNvSpPr/>
          <p:nvPr/>
        </p:nvSpPr>
        <p:spPr>
          <a:xfrm>
            <a:off x="8765271" y="2705741"/>
            <a:ext cx="778800" cy="478200"/>
          </a:xfrm>
          <a:prstGeom prst="rect">
            <a:avLst/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2" name="Google Shape;662;p38"/>
          <p:cNvCxnSpPr/>
          <p:nvPr/>
        </p:nvCxnSpPr>
        <p:spPr>
          <a:xfrm>
            <a:off x="4983200" y="2405200"/>
            <a:ext cx="3782100" cy="46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9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Line Clipping</a:t>
            </a:r>
            <a:endParaRPr/>
          </a:p>
        </p:txBody>
      </p:sp>
      <p:sp>
        <p:nvSpPr>
          <p:cNvPr id="668" name="Google Shape;668;p39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Cyrus-Beck Algo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0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674" name="Google Shape;674;p40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75" name="Google Shape;675;p40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6" name="Google Shape;676;p40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0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40"/>
          <p:cNvSpPr txBox="1"/>
          <p:nvPr/>
        </p:nvSpPr>
        <p:spPr>
          <a:xfrm>
            <a:off x="1375576" y="4262303"/>
            <a:ext cx="12003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40"/>
          <p:cNvSpPr txBox="1"/>
          <p:nvPr/>
        </p:nvSpPr>
        <p:spPr>
          <a:xfrm>
            <a:off x="4222398" y="2159413"/>
            <a:ext cx="11844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40"/>
          <p:cNvSpPr/>
          <p:nvPr/>
        </p:nvSpPr>
        <p:spPr>
          <a:xfrm>
            <a:off x="2464650" y="3375501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0"/>
          <p:cNvSpPr txBox="1"/>
          <p:nvPr/>
        </p:nvSpPr>
        <p:spPr>
          <a:xfrm>
            <a:off x="2464650" y="3375501"/>
            <a:ext cx="6753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40"/>
          <p:cNvSpPr txBox="1"/>
          <p:nvPr/>
        </p:nvSpPr>
        <p:spPr>
          <a:xfrm>
            <a:off x="7076661" y="2344079"/>
            <a:ext cx="4095900" cy="1200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567" l="-1338" r="0" t="-3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1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688" name="Google Shape;688;p41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89" name="Google Shape;689;p41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0" name="Google Shape;690;p41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41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41"/>
          <p:cNvSpPr txBox="1"/>
          <p:nvPr/>
        </p:nvSpPr>
        <p:spPr>
          <a:xfrm>
            <a:off x="1375576" y="4262303"/>
            <a:ext cx="12003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41"/>
          <p:cNvSpPr txBox="1"/>
          <p:nvPr/>
        </p:nvSpPr>
        <p:spPr>
          <a:xfrm>
            <a:off x="4222398" y="2159413"/>
            <a:ext cx="11844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41"/>
          <p:cNvSpPr/>
          <p:nvPr/>
        </p:nvSpPr>
        <p:spPr>
          <a:xfrm>
            <a:off x="2464650" y="3375501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1"/>
          <p:cNvSpPr txBox="1"/>
          <p:nvPr/>
        </p:nvSpPr>
        <p:spPr>
          <a:xfrm>
            <a:off x="2464650" y="3375501"/>
            <a:ext cx="6753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41"/>
          <p:cNvSpPr txBox="1"/>
          <p:nvPr/>
        </p:nvSpPr>
        <p:spPr>
          <a:xfrm>
            <a:off x="7076661" y="3680965"/>
            <a:ext cx="3970800" cy="6462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8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41"/>
          <p:cNvSpPr txBox="1"/>
          <p:nvPr/>
        </p:nvSpPr>
        <p:spPr>
          <a:xfrm>
            <a:off x="811645" y="3856787"/>
            <a:ext cx="706500" cy="369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41"/>
          <p:cNvSpPr txBox="1"/>
          <p:nvPr/>
        </p:nvSpPr>
        <p:spPr>
          <a:xfrm>
            <a:off x="7076661" y="2344079"/>
            <a:ext cx="4095900" cy="1200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3567" l="-1338" r="0" t="-3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2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704" name="Google Shape;704;p42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05" name="Google Shape;705;p42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6" name="Google Shape;706;p42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2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42"/>
          <p:cNvSpPr txBox="1"/>
          <p:nvPr/>
        </p:nvSpPr>
        <p:spPr>
          <a:xfrm>
            <a:off x="1375576" y="4262303"/>
            <a:ext cx="12003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42"/>
          <p:cNvSpPr txBox="1"/>
          <p:nvPr/>
        </p:nvSpPr>
        <p:spPr>
          <a:xfrm>
            <a:off x="4222398" y="2159413"/>
            <a:ext cx="11844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2"/>
          <p:cNvSpPr/>
          <p:nvPr/>
        </p:nvSpPr>
        <p:spPr>
          <a:xfrm>
            <a:off x="2464650" y="3375501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2"/>
          <p:cNvSpPr txBox="1"/>
          <p:nvPr/>
        </p:nvSpPr>
        <p:spPr>
          <a:xfrm>
            <a:off x="2464650" y="3375501"/>
            <a:ext cx="6753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2"/>
          <p:cNvSpPr txBox="1"/>
          <p:nvPr/>
        </p:nvSpPr>
        <p:spPr>
          <a:xfrm>
            <a:off x="7076661" y="3680965"/>
            <a:ext cx="3970800" cy="1200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03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2"/>
          <p:cNvSpPr txBox="1"/>
          <p:nvPr/>
        </p:nvSpPr>
        <p:spPr>
          <a:xfrm>
            <a:off x="3705919" y="1748538"/>
            <a:ext cx="706500" cy="369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2"/>
          <p:cNvSpPr txBox="1"/>
          <p:nvPr/>
        </p:nvSpPr>
        <p:spPr>
          <a:xfrm>
            <a:off x="7076661" y="2344079"/>
            <a:ext cx="4095900" cy="1200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3567" l="-1338" r="0" t="-3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3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720" name="Google Shape;720;p43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21" name="Google Shape;721;p43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2" name="Google Shape;722;p43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43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43"/>
          <p:cNvSpPr txBox="1"/>
          <p:nvPr/>
        </p:nvSpPr>
        <p:spPr>
          <a:xfrm>
            <a:off x="1375576" y="4262303"/>
            <a:ext cx="12003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43"/>
          <p:cNvSpPr txBox="1"/>
          <p:nvPr/>
        </p:nvSpPr>
        <p:spPr>
          <a:xfrm>
            <a:off x="4222398" y="2159413"/>
            <a:ext cx="11844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3"/>
          <p:cNvSpPr/>
          <p:nvPr/>
        </p:nvSpPr>
        <p:spPr>
          <a:xfrm>
            <a:off x="2794987" y="3143588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43"/>
          <p:cNvSpPr txBox="1"/>
          <p:nvPr/>
        </p:nvSpPr>
        <p:spPr>
          <a:xfrm>
            <a:off x="2842591" y="3086877"/>
            <a:ext cx="706500" cy="6108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3"/>
          <p:cNvSpPr txBox="1"/>
          <p:nvPr/>
        </p:nvSpPr>
        <p:spPr>
          <a:xfrm>
            <a:off x="7076661" y="3680965"/>
            <a:ext cx="4121100" cy="13746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3"/>
          <p:cNvSpPr txBox="1"/>
          <p:nvPr/>
        </p:nvSpPr>
        <p:spPr>
          <a:xfrm>
            <a:off x="7076661" y="2344079"/>
            <a:ext cx="4095900" cy="1200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567" l="-1338" r="0" t="-3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4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735" name="Google Shape;735;p44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36" name="Google Shape;736;p44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7" name="Google Shape;737;p44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44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44"/>
          <p:cNvSpPr txBox="1"/>
          <p:nvPr/>
        </p:nvSpPr>
        <p:spPr>
          <a:xfrm>
            <a:off x="1375576" y="4262303"/>
            <a:ext cx="9597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4"/>
          <p:cNvSpPr txBox="1"/>
          <p:nvPr/>
        </p:nvSpPr>
        <p:spPr>
          <a:xfrm>
            <a:off x="4222398" y="2159413"/>
            <a:ext cx="9543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4"/>
          <p:cNvSpPr/>
          <p:nvPr/>
        </p:nvSpPr>
        <p:spPr>
          <a:xfrm>
            <a:off x="2457363" y="3378554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4"/>
          <p:cNvSpPr txBox="1"/>
          <p:nvPr/>
        </p:nvSpPr>
        <p:spPr>
          <a:xfrm>
            <a:off x="2457363" y="3378554"/>
            <a:ext cx="6753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4"/>
          <p:cNvSpPr txBox="1"/>
          <p:nvPr/>
        </p:nvSpPr>
        <p:spPr>
          <a:xfrm>
            <a:off x="7076661" y="4496978"/>
            <a:ext cx="1541700" cy="646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44"/>
          <p:cNvSpPr txBox="1"/>
          <p:nvPr/>
        </p:nvSpPr>
        <p:spPr>
          <a:xfrm>
            <a:off x="7076661" y="2344079"/>
            <a:ext cx="3821700" cy="1754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087" l="-1428" r="0" t="-20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44"/>
          <p:cNvSpPr txBox="1"/>
          <p:nvPr/>
        </p:nvSpPr>
        <p:spPr>
          <a:xfrm>
            <a:off x="7132320" y="1748538"/>
            <a:ext cx="4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Suppose, endpoints of a line are (1, 1) and (5, 9)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45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751" name="Google Shape;751;p45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52" name="Google Shape;752;p45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53" name="Google Shape;753;p45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45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45"/>
          <p:cNvSpPr txBox="1"/>
          <p:nvPr/>
        </p:nvSpPr>
        <p:spPr>
          <a:xfrm>
            <a:off x="1375576" y="4262303"/>
            <a:ext cx="9597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45"/>
          <p:cNvSpPr txBox="1"/>
          <p:nvPr/>
        </p:nvSpPr>
        <p:spPr>
          <a:xfrm>
            <a:off x="4222398" y="2159413"/>
            <a:ext cx="9543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5"/>
          <p:cNvSpPr/>
          <p:nvPr/>
        </p:nvSpPr>
        <p:spPr>
          <a:xfrm>
            <a:off x="2786932" y="31454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45"/>
          <p:cNvSpPr txBox="1"/>
          <p:nvPr/>
        </p:nvSpPr>
        <p:spPr>
          <a:xfrm>
            <a:off x="2015444" y="2776098"/>
            <a:ext cx="8829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45"/>
          <p:cNvSpPr txBox="1"/>
          <p:nvPr/>
        </p:nvSpPr>
        <p:spPr>
          <a:xfrm>
            <a:off x="7076661" y="4496978"/>
            <a:ext cx="4468800" cy="923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463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45"/>
          <p:cNvSpPr txBox="1"/>
          <p:nvPr/>
        </p:nvSpPr>
        <p:spPr>
          <a:xfrm>
            <a:off x="7076661" y="2344079"/>
            <a:ext cx="3821700" cy="1754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087" l="-1428" r="0" t="-20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45"/>
          <p:cNvSpPr txBox="1"/>
          <p:nvPr/>
        </p:nvSpPr>
        <p:spPr>
          <a:xfrm>
            <a:off x="7132320" y="1748538"/>
            <a:ext cx="4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Suppose, endpoints of a line are (1, 1) and (5, 9)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45"/>
          <p:cNvSpPr txBox="1"/>
          <p:nvPr/>
        </p:nvSpPr>
        <p:spPr>
          <a:xfrm>
            <a:off x="824917" y="3727780"/>
            <a:ext cx="706500" cy="369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45"/>
          <p:cNvSpPr txBox="1"/>
          <p:nvPr/>
        </p:nvSpPr>
        <p:spPr>
          <a:xfrm>
            <a:off x="3654468" y="1790081"/>
            <a:ext cx="706500" cy="3693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6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769" name="Google Shape;769;p46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70" name="Google Shape;770;p46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1" name="Google Shape;771;p46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6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6"/>
          <p:cNvSpPr txBox="1"/>
          <p:nvPr/>
        </p:nvSpPr>
        <p:spPr>
          <a:xfrm>
            <a:off x="1375576" y="4262303"/>
            <a:ext cx="9597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6"/>
          <p:cNvSpPr txBox="1"/>
          <p:nvPr/>
        </p:nvSpPr>
        <p:spPr>
          <a:xfrm>
            <a:off x="4222398" y="2159413"/>
            <a:ext cx="9543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6"/>
          <p:cNvSpPr/>
          <p:nvPr/>
        </p:nvSpPr>
        <p:spPr>
          <a:xfrm>
            <a:off x="2786932" y="31454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6"/>
          <p:cNvSpPr txBox="1"/>
          <p:nvPr/>
        </p:nvSpPr>
        <p:spPr>
          <a:xfrm>
            <a:off x="2015444" y="2776098"/>
            <a:ext cx="8829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46"/>
          <p:cNvSpPr txBox="1"/>
          <p:nvPr/>
        </p:nvSpPr>
        <p:spPr>
          <a:xfrm>
            <a:off x="7076661" y="4496978"/>
            <a:ext cx="4891200" cy="1200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46"/>
          <p:cNvSpPr txBox="1"/>
          <p:nvPr/>
        </p:nvSpPr>
        <p:spPr>
          <a:xfrm>
            <a:off x="7076661" y="2344079"/>
            <a:ext cx="3821700" cy="1754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087" l="-1428" r="0" t="-20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46"/>
          <p:cNvSpPr txBox="1"/>
          <p:nvPr/>
        </p:nvSpPr>
        <p:spPr>
          <a:xfrm>
            <a:off x="7132320" y="1748538"/>
            <a:ext cx="4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Suppose, endpoints of a line are (1, 1) and (5, 9)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46"/>
          <p:cNvSpPr txBox="1"/>
          <p:nvPr/>
        </p:nvSpPr>
        <p:spPr>
          <a:xfrm>
            <a:off x="824917" y="3727780"/>
            <a:ext cx="706500" cy="369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46"/>
          <p:cNvSpPr txBox="1"/>
          <p:nvPr/>
        </p:nvSpPr>
        <p:spPr>
          <a:xfrm>
            <a:off x="3654468" y="1790081"/>
            <a:ext cx="706500" cy="3693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46"/>
          <p:cNvSpPr/>
          <p:nvPr/>
        </p:nvSpPr>
        <p:spPr>
          <a:xfrm>
            <a:off x="2096494" y="361620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46"/>
          <p:cNvSpPr txBox="1"/>
          <p:nvPr/>
        </p:nvSpPr>
        <p:spPr>
          <a:xfrm>
            <a:off x="1391351" y="3256116"/>
            <a:ext cx="1011000" cy="369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46"/>
          <p:cNvSpPr txBox="1"/>
          <p:nvPr/>
        </p:nvSpPr>
        <p:spPr>
          <a:xfrm>
            <a:off x="2786932" y="3201089"/>
            <a:ext cx="734400" cy="3693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46"/>
          <p:cNvSpPr txBox="1"/>
          <p:nvPr/>
        </p:nvSpPr>
        <p:spPr>
          <a:xfrm>
            <a:off x="2062725" y="3662062"/>
            <a:ext cx="734400" cy="3693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7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791" name="Google Shape;791;p47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92" name="Google Shape;792;p47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3" name="Google Shape;793;p47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47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47"/>
          <p:cNvSpPr txBox="1"/>
          <p:nvPr/>
        </p:nvSpPr>
        <p:spPr>
          <a:xfrm>
            <a:off x="1375576" y="4262303"/>
            <a:ext cx="9597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47"/>
          <p:cNvSpPr txBox="1"/>
          <p:nvPr/>
        </p:nvSpPr>
        <p:spPr>
          <a:xfrm>
            <a:off x="4222398" y="2159413"/>
            <a:ext cx="9543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47"/>
          <p:cNvSpPr/>
          <p:nvPr/>
        </p:nvSpPr>
        <p:spPr>
          <a:xfrm>
            <a:off x="2786932" y="31454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47"/>
          <p:cNvSpPr txBox="1"/>
          <p:nvPr/>
        </p:nvSpPr>
        <p:spPr>
          <a:xfrm>
            <a:off x="2015444" y="2776098"/>
            <a:ext cx="8829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47"/>
          <p:cNvSpPr txBox="1"/>
          <p:nvPr/>
        </p:nvSpPr>
        <p:spPr>
          <a:xfrm>
            <a:off x="7076661" y="4496978"/>
            <a:ext cx="4309500" cy="923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1268" r="0" t="-396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47"/>
          <p:cNvSpPr txBox="1"/>
          <p:nvPr/>
        </p:nvSpPr>
        <p:spPr>
          <a:xfrm>
            <a:off x="7076661" y="2344079"/>
            <a:ext cx="3821700" cy="1754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087" l="-1428" r="0" t="-20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47"/>
          <p:cNvSpPr txBox="1"/>
          <p:nvPr/>
        </p:nvSpPr>
        <p:spPr>
          <a:xfrm>
            <a:off x="7132320" y="1748538"/>
            <a:ext cx="4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Suppose, endpoints of a line are (1, 1) and (5, 9)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47"/>
          <p:cNvSpPr txBox="1"/>
          <p:nvPr/>
        </p:nvSpPr>
        <p:spPr>
          <a:xfrm>
            <a:off x="824917" y="3727780"/>
            <a:ext cx="706500" cy="369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47"/>
          <p:cNvSpPr txBox="1"/>
          <p:nvPr/>
        </p:nvSpPr>
        <p:spPr>
          <a:xfrm>
            <a:off x="3654468" y="1790081"/>
            <a:ext cx="706500" cy="3693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47"/>
          <p:cNvSpPr/>
          <p:nvPr/>
        </p:nvSpPr>
        <p:spPr>
          <a:xfrm>
            <a:off x="2096494" y="361620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47"/>
          <p:cNvSpPr txBox="1"/>
          <p:nvPr/>
        </p:nvSpPr>
        <p:spPr>
          <a:xfrm>
            <a:off x="1391351" y="3256116"/>
            <a:ext cx="1011000" cy="369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47"/>
          <p:cNvSpPr txBox="1"/>
          <p:nvPr/>
        </p:nvSpPr>
        <p:spPr>
          <a:xfrm>
            <a:off x="2786932" y="3201089"/>
            <a:ext cx="734400" cy="3693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47"/>
          <p:cNvSpPr txBox="1"/>
          <p:nvPr/>
        </p:nvSpPr>
        <p:spPr>
          <a:xfrm>
            <a:off x="2062725" y="3662062"/>
            <a:ext cx="734400" cy="3693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8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813" name="Google Shape;813;p48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814" name="Google Shape;814;p48"/>
          <p:cNvGrpSpPr/>
          <p:nvPr/>
        </p:nvGrpSpPr>
        <p:grpSpPr>
          <a:xfrm>
            <a:off x="1375576" y="2173529"/>
            <a:ext cx="2934013" cy="2080401"/>
            <a:chOff x="1375576" y="2173529"/>
            <a:chExt cx="2934013" cy="2080401"/>
          </a:xfrm>
        </p:grpSpPr>
        <p:cxnSp>
          <p:nvCxnSpPr>
            <p:cNvPr id="815" name="Google Shape;815;p48"/>
            <p:cNvCxnSpPr/>
            <p:nvPr/>
          </p:nvCxnSpPr>
          <p:spPr>
            <a:xfrm flipH="1" rot="10800000">
              <a:off x="1431235" y="2229089"/>
              <a:ext cx="2822700" cy="1969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16" name="Google Shape;816;p48"/>
            <p:cNvSpPr/>
            <p:nvPr/>
          </p:nvSpPr>
          <p:spPr>
            <a:xfrm>
              <a:off x="1375576" y="4142630"/>
              <a:ext cx="111300" cy="1113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48"/>
            <p:cNvSpPr/>
            <p:nvPr/>
          </p:nvSpPr>
          <p:spPr>
            <a:xfrm>
              <a:off x="4198289" y="2173529"/>
              <a:ext cx="111300" cy="1113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8" name="Google Shape;818;p48"/>
          <p:cNvSpPr txBox="1"/>
          <p:nvPr/>
        </p:nvSpPr>
        <p:spPr>
          <a:xfrm>
            <a:off x="1375576" y="4262303"/>
            <a:ext cx="9597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48"/>
          <p:cNvSpPr txBox="1"/>
          <p:nvPr/>
        </p:nvSpPr>
        <p:spPr>
          <a:xfrm>
            <a:off x="4198289" y="2259209"/>
            <a:ext cx="9543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48"/>
          <p:cNvSpPr/>
          <p:nvPr/>
        </p:nvSpPr>
        <p:spPr>
          <a:xfrm>
            <a:off x="2786932" y="31454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48"/>
          <p:cNvSpPr txBox="1"/>
          <p:nvPr/>
        </p:nvSpPr>
        <p:spPr>
          <a:xfrm>
            <a:off x="2015444" y="2776098"/>
            <a:ext cx="8829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48"/>
          <p:cNvSpPr txBox="1"/>
          <p:nvPr/>
        </p:nvSpPr>
        <p:spPr>
          <a:xfrm>
            <a:off x="7076661" y="4496978"/>
            <a:ext cx="4309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P(-0.3) and P(1.3) are outside the line segment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48"/>
          <p:cNvSpPr txBox="1"/>
          <p:nvPr/>
        </p:nvSpPr>
        <p:spPr>
          <a:xfrm>
            <a:off x="7076661" y="2344079"/>
            <a:ext cx="3821700" cy="1754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087" l="-1428" r="0" t="-20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48"/>
          <p:cNvSpPr txBox="1"/>
          <p:nvPr/>
        </p:nvSpPr>
        <p:spPr>
          <a:xfrm>
            <a:off x="7132320" y="1748538"/>
            <a:ext cx="4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Suppose, endpoints of a line are (1, 1) and (5, 9)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48"/>
          <p:cNvSpPr txBox="1"/>
          <p:nvPr/>
        </p:nvSpPr>
        <p:spPr>
          <a:xfrm>
            <a:off x="824917" y="3727780"/>
            <a:ext cx="706500" cy="369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48"/>
          <p:cNvSpPr txBox="1"/>
          <p:nvPr/>
        </p:nvSpPr>
        <p:spPr>
          <a:xfrm>
            <a:off x="3654468" y="1790081"/>
            <a:ext cx="706500" cy="369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48"/>
          <p:cNvSpPr/>
          <p:nvPr/>
        </p:nvSpPr>
        <p:spPr>
          <a:xfrm>
            <a:off x="2096494" y="361620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48"/>
          <p:cNvSpPr txBox="1"/>
          <p:nvPr/>
        </p:nvSpPr>
        <p:spPr>
          <a:xfrm>
            <a:off x="1391351" y="3256116"/>
            <a:ext cx="1011000" cy="3693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48"/>
          <p:cNvSpPr txBox="1"/>
          <p:nvPr/>
        </p:nvSpPr>
        <p:spPr>
          <a:xfrm>
            <a:off x="2786932" y="3201089"/>
            <a:ext cx="734400" cy="369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48"/>
          <p:cNvSpPr txBox="1"/>
          <p:nvPr/>
        </p:nvSpPr>
        <p:spPr>
          <a:xfrm>
            <a:off x="2062725" y="3662062"/>
            <a:ext cx="734400" cy="3693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48"/>
          <p:cNvSpPr txBox="1"/>
          <p:nvPr/>
        </p:nvSpPr>
        <p:spPr>
          <a:xfrm>
            <a:off x="4823524" y="1003824"/>
            <a:ext cx="882900" cy="3693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133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48"/>
          <p:cNvSpPr/>
          <p:nvPr/>
        </p:nvSpPr>
        <p:spPr>
          <a:xfrm>
            <a:off x="5368456" y="1349504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48"/>
          <p:cNvSpPr/>
          <p:nvPr/>
        </p:nvSpPr>
        <p:spPr>
          <a:xfrm>
            <a:off x="295524" y="4902984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8"/>
          <p:cNvSpPr txBox="1"/>
          <p:nvPr/>
        </p:nvSpPr>
        <p:spPr>
          <a:xfrm>
            <a:off x="-91378" y="4379535"/>
            <a:ext cx="1056000" cy="3693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9" name="Google Shape;839;p49"/>
          <p:cNvCxnSpPr/>
          <p:nvPr/>
        </p:nvCxnSpPr>
        <p:spPr>
          <a:xfrm flipH="1" rot="10800000">
            <a:off x="966504" y="1731172"/>
            <a:ext cx="4658700" cy="3249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0" name="Google Shape;840;p49"/>
          <p:cNvSpPr/>
          <p:nvPr/>
        </p:nvSpPr>
        <p:spPr>
          <a:xfrm>
            <a:off x="874644" y="4889212"/>
            <a:ext cx="183600" cy="1836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9"/>
          <p:cNvSpPr/>
          <p:nvPr/>
        </p:nvSpPr>
        <p:spPr>
          <a:xfrm>
            <a:off x="5533268" y="1639395"/>
            <a:ext cx="183600" cy="1836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2" name="Google Shape;842;p49"/>
          <p:cNvCxnSpPr/>
          <p:nvPr/>
        </p:nvCxnSpPr>
        <p:spPr>
          <a:xfrm>
            <a:off x="2401294" y="914400"/>
            <a:ext cx="24000" cy="466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3" name="Google Shape;843;p49"/>
          <p:cNvSpPr txBox="1"/>
          <p:nvPr/>
        </p:nvSpPr>
        <p:spPr>
          <a:xfrm>
            <a:off x="2488758" y="1315993"/>
            <a:ext cx="108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boundary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9"/>
          <p:cNvSpPr/>
          <p:nvPr/>
        </p:nvSpPr>
        <p:spPr>
          <a:xfrm>
            <a:off x="2320940" y="3898890"/>
            <a:ext cx="183600" cy="1836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9"/>
          <p:cNvSpPr txBox="1"/>
          <p:nvPr/>
        </p:nvSpPr>
        <p:spPr>
          <a:xfrm>
            <a:off x="2552369" y="3806084"/>
            <a:ext cx="3717600" cy="6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4144" l="-1467" r="-658" t="-471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6" name="Google Shape;846;p49"/>
          <p:cNvCxnSpPr/>
          <p:nvPr/>
        </p:nvCxnSpPr>
        <p:spPr>
          <a:xfrm flipH="1" rot="10800000">
            <a:off x="8391537" y="1587324"/>
            <a:ext cx="2939700" cy="205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7" name="Google Shape;847;p49"/>
          <p:cNvSpPr/>
          <p:nvPr/>
        </p:nvSpPr>
        <p:spPr>
          <a:xfrm>
            <a:off x="8333570" y="3580157"/>
            <a:ext cx="115800" cy="1158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9"/>
          <p:cNvSpPr/>
          <p:nvPr/>
        </p:nvSpPr>
        <p:spPr>
          <a:xfrm>
            <a:off x="11273334" y="1529402"/>
            <a:ext cx="115800" cy="1158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9" name="Google Shape;849;p49"/>
          <p:cNvCxnSpPr/>
          <p:nvPr/>
        </p:nvCxnSpPr>
        <p:spPr>
          <a:xfrm>
            <a:off x="8073574" y="804407"/>
            <a:ext cx="24000" cy="466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0" name="Google Shape;850;p49"/>
          <p:cNvSpPr txBox="1"/>
          <p:nvPr/>
        </p:nvSpPr>
        <p:spPr>
          <a:xfrm>
            <a:off x="8161038" y="1206000"/>
            <a:ext cx="108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boundary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49"/>
          <p:cNvSpPr/>
          <p:nvPr/>
        </p:nvSpPr>
        <p:spPr>
          <a:xfrm>
            <a:off x="8019240" y="3836604"/>
            <a:ext cx="110100" cy="110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49"/>
          <p:cNvSpPr txBox="1"/>
          <p:nvPr/>
        </p:nvSpPr>
        <p:spPr>
          <a:xfrm>
            <a:off x="8224649" y="3696091"/>
            <a:ext cx="3863700" cy="646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144" l="-1258" r="-787" t="-471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3" name="Google Shape;853;p49"/>
          <p:cNvCxnSpPr/>
          <p:nvPr/>
        </p:nvCxnSpPr>
        <p:spPr>
          <a:xfrm flipH="1" rot="10800000">
            <a:off x="5451773" y="3650116"/>
            <a:ext cx="2939700" cy="205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54" name="Google Shape;854;p49"/>
          <p:cNvSpPr/>
          <p:nvPr/>
        </p:nvSpPr>
        <p:spPr>
          <a:xfrm>
            <a:off x="8013299" y="3830663"/>
            <a:ext cx="115800" cy="1158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9" name="Google Shape;859;p50"/>
          <p:cNvCxnSpPr/>
          <p:nvPr/>
        </p:nvCxnSpPr>
        <p:spPr>
          <a:xfrm rot="5400000">
            <a:off x="1782671" y="3115596"/>
            <a:ext cx="35640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0" name="Google Shape;860;p50"/>
          <p:cNvCxnSpPr/>
          <p:nvPr/>
        </p:nvCxnSpPr>
        <p:spPr>
          <a:xfrm rot="5400000">
            <a:off x="4144448" y="3154848"/>
            <a:ext cx="35658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1" name="Google Shape;861;p50"/>
          <p:cNvCxnSpPr/>
          <p:nvPr/>
        </p:nvCxnSpPr>
        <p:spPr>
          <a:xfrm rot="10800000">
            <a:off x="2442572" y="2480596"/>
            <a:ext cx="48717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2" name="Google Shape;862;p50"/>
          <p:cNvCxnSpPr/>
          <p:nvPr/>
        </p:nvCxnSpPr>
        <p:spPr>
          <a:xfrm rot="10800000">
            <a:off x="2492519" y="4045011"/>
            <a:ext cx="48717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3" name="Google Shape;863;p50"/>
          <p:cNvSpPr/>
          <p:nvPr/>
        </p:nvSpPr>
        <p:spPr>
          <a:xfrm>
            <a:off x="3561103" y="2464542"/>
            <a:ext cx="2368800" cy="1580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4" name="Google Shape;864;p50"/>
          <p:cNvCxnSpPr/>
          <p:nvPr/>
        </p:nvCxnSpPr>
        <p:spPr>
          <a:xfrm rot="10800000">
            <a:off x="2257076" y="2475245"/>
            <a:ext cx="23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5" name="Google Shape;865;p50"/>
          <p:cNvCxnSpPr/>
          <p:nvPr/>
        </p:nvCxnSpPr>
        <p:spPr>
          <a:xfrm rot="10800000">
            <a:off x="2257076" y="4046795"/>
            <a:ext cx="23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6" name="Google Shape;866;p50"/>
          <p:cNvCxnSpPr/>
          <p:nvPr/>
        </p:nvCxnSpPr>
        <p:spPr>
          <a:xfrm>
            <a:off x="3568238" y="4872706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7" name="Google Shape;867;p50"/>
          <p:cNvCxnSpPr/>
          <p:nvPr/>
        </p:nvCxnSpPr>
        <p:spPr>
          <a:xfrm>
            <a:off x="5928240" y="4854868"/>
            <a:ext cx="0" cy="25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8" name="Google Shape;868;p50"/>
          <p:cNvSpPr txBox="1"/>
          <p:nvPr/>
        </p:nvSpPr>
        <p:spPr>
          <a:xfrm>
            <a:off x="1579273" y="2237996"/>
            <a:ext cx="66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50"/>
          <p:cNvSpPr txBox="1"/>
          <p:nvPr/>
        </p:nvSpPr>
        <p:spPr>
          <a:xfrm>
            <a:off x="1579273" y="3809546"/>
            <a:ext cx="6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50"/>
          <p:cNvSpPr txBox="1"/>
          <p:nvPr/>
        </p:nvSpPr>
        <p:spPr>
          <a:xfrm>
            <a:off x="3172229" y="4981520"/>
            <a:ext cx="6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50"/>
          <p:cNvSpPr txBox="1"/>
          <p:nvPr/>
        </p:nvSpPr>
        <p:spPr>
          <a:xfrm>
            <a:off x="5534014" y="4983304"/>
            <a:ext cx="66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50"/>
          <p:cNvSpPr txBox="1"/>
          <p:nvPr/>
        </p:nvSpPr>
        <p:spPr>
          <a:xfrm>
            <a:off x="4117657" y="1998963"/>
            <a:ext cx="112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3" name="Google Shape;873;p50"/>
          <p:cNvCxnSpPr/>
          <p:nvPr/>
        </p:nvCxnSpPr>
        <p:spPr>
          <a:xfrm flipH="1" rot="10800000">
            <a:off x="2109750" y="898380"/>
            <a:ext cx="4720200" cy="399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874" name="Google Shape;874;p50"/>
          <p:cNvSpPr txBox="1"/>
          <p:nvPr/>
        </p:nvSpPr>
        <p:spPr>
          <a:xfrm>
            <a:off x="6855898" y="760509"/>
            <a:ext cx="37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50"/>
          <p:cNvSpPr txBox="1"/>
          <p:nvPr/>
        </p:nvSpPr>
        <p:spPr>
          <a:xfrm>
            <a:off x="1737532" y="4718817"/>
            <a:ext cx="37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50"/>
          <p:cNvSpPr/>
          <p:nvPr/>
        </p:nvSpPr>
        <p:spPr>
          <a:xfrm flipH="1" rot="10800000">
            <a:off x="3075545" y="4020001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50"/>
          <p:cNvSpPr/>
          <p:nvPr/>
        </p:nvSpPr>
        <p:spPr>
          <a:xfrm flipH="1" rot="10800000">
            <a:off x="3530093" y="3623763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50"/>
          <p:cNvSpPr/>
          <p:nvPr/>
        </p:nvSpPr>
        <p:spPr>
          <a:xfrm flipH="1" rot="10800000">
            <a:off x="4928405" y="2438905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50"/>
          <p:cNvSpPr/>
          <p:nvPr/>
        </p:nvSpPr>
        <p:spPr>
          <a:xfrm flipH="1" rot="10800000">
            <a:off x="5894735" y="1628054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50"/>
          <p:cNvSpPr txBox="1"/>
          <p:nvPr/>
        </p:nvSpPr>
        <p:spPr>
          <a:xfrm>
            <a:off x="2943089" y="4061066"/>
            <a:ext cx="1304400" cy="307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50"/>
          <p:cNvSpPr txBox="1"/>
          <p:nvPr/>
        </p:nvSpPr>
        <p:spPr>
          <a:xfrm>
            <a:off x="3530093" y="3541426"/>
            <a:ext cx="1081500" cy="328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69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50"/>
          <p:cNvSpPr txBox="1"/>
          <p:nvPr/>
        </p:nvSpPr>
        <p:spPr>
          <a:xfrm>
            <a:off x="4787802" y="2471392"/>
            <a:ext cx="1044900" cy="327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84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50"/>
          <p:cNvSpPr txBox="1"/>
          <p:nvPr/>
        </p:nvSpPr>
        <p:spPr>
          <a:xfrm>
            <a:off x="5873241" y="1570365"/>
            <a:ext cx="1177800" cy="3282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565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50"/>
          <p:cNvSpPr txBox="1"/>
          <p:nvPr/>
        </p:nvSpPr>
        <p:spPr>
          <a:xfrm>
            <a:off x="8436334" y="2711395"/>
            <a:ext cx="330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endpoints outside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intersections have t between 0 and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9" name="Google Shape;889;p51"/>
          <p:cNvCxnSpPr/>
          <p:nvPr/>
        </p:nvCxnSpPr>
        <p:spPr>
          <a:xfrm rot="5400000">
            <a:off x="1782671" y="3115596"/>
            <a:ext cx="35640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0" name="Google Shape;890;p51"/>
          <p:cNvCxnSpPr/>
          <p:nvPr/>
        </p:nvCxnSpPr>
        <p:spPr>
          <a:xfrm rot="5400000">
            <a:off x="4144448" y="3154848"/>
            <a:ext cx="35658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1" name="Google Shape;891;p51"/>
          <p:cNvCxnSpPr/>
          <p:nvPr/>
        </p:nvCxnSpPr>
        <p:spPr>
          <a:xfrm rot="10800000">
            <a:off x="2442572" y="2480596"/>
            <a:ext cx="48717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2" name="Google Shape;892;p51"/>
          <p:cNvCxnSpPr/>
          <p:nvPr/>
        </p:nvCxnSpPr>
        <p:spPr>
          <a:xfrm rot="10800000">
            <a:off x="2492519" y="4045011"/>
            <a:ext cx="48717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3" name="Google Shape;893;p51"/>
          <p:cNvSpPr/>
          <p:nvPr/>
        </p:nvSpPr>
        <p:spPr>
          <a:xfrm>
            <a:off x="3561103" y="2464542"/>
            <a:ext cx="2368800" cy="1580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4" name="Google Shape;894;p51"/>
          <p:cNvCxnSpPr/>
          <p:nvPr/>
        </p:nvCxnSpPr>
        <p:spPr>
          <a:xfrm rot="10800000">
            <a:off x="2257076" y="2475245"/>
            <a:ext cx="23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5" name="Google Shape;895;p51"/>
          <p:cNvCxnSpPr/>
          <p:nvPr/>
        </p:nvCxnSpPr>
        <p:spPr>
          <a:xfrm rot="10800000">
            <a:off x="2257076" y="4046795"/>
            <a:ext cx="23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6" name="Google Shape;896;p51"/>
          <p:cNvCxnSpPr/>
          <p:nvPr/>
        </p:nvCxnSpPr>
        <p:spPr>
          <a:xfrm>
            <a:off x="3568238" y="4872706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7" name="Google Shape;897;p51"/>
          <p:cNvCxnSpPr/>
          <p:nvPr/>
        </p:nvCxnSpPr>
        <p:spPr>
          <a:xfrm>
            <a:off x="5928240" y="4854868"/>
            <a:ext cx="0" cy="25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8" name="Google Shape;898;p51"/>
          <p:cNvSpPr txBox="1"/>
          <p:nvPr/>
        </p:nvSpPr>
        <p:spPr>
          <a:xfrm>
            <a:off x="1579273" y="2237996"/>
            <a:ext cx="66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51"/>
          <p:cNvSpPr txBox="1"/>
          <p:nvPr/>
        </p:nvSpPr>
        <p:spPr>
          <a:xfrm>
            <a:off x="1579273" y="3809546"/>
            <a:ext cx="6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51"/>
          <p:cNvSpPr txBox="1"/>
          <p:nvPr/>
        </p:nvSpPr>
        <p:spPr>
          <a:xfrm>
            <a:off x="3172229" y="4981520"/>
            <a:ext cx="6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51"/>
          <p:cNvSpPr txBox="1"/>
          <p:nvPr/>
        </p:nvSpPr>
        <p:spPr>
          <a:xfrm>
            <a:off x="5534014" y="4983304"/>
            <a:ext cx="66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51"/>
          <p:cNvSpPr txBox="1"/>
          <p:nvPr/>
        </p:nvSpPr>
        <p:spPr>
          <a:xfrm>
            <a:off x="4117657" y="1998963"/>
            <a:ext cx="112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3" name="Google Shape;903;p51"/>
          <p:cNvCxnSpPr/>
          <p:nvPr/>
        </p:nvCxnSpPr>
        <p:spPr>
          <a:xfrm flipH="1" rot="10800000">
            <a:off x="2109750" y="898380"/>
            <a:ext cx="4720200" cy="399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04" name="Google Shape;904;p51"/>
          <p:cNvSpPr txBox="1"/>
          <p:nvPr/>
        </p:nvSpPr>
        <p:spPr>
          <a:xfrm>
            <a:off x="4654544" y="2660634"/>
            <a:ext cx="37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51"/>
          <p:cNvSpPr txBox="1"/>
          <p:nvPr/>
        </p:nvSpPr>
        <p:spPr>
          <a:xfrm>
            <a:off x="3985003" y="3231866"/>
            <a:ext cx="37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51"/>
          <p:cNvSpPr/>
          <p:nvPr/>
        </p:nvSpPr>
        <p:spPr>
          <a:xfrm flipH="1" rot="10800000">
            <a:off x="3075545" y="4020001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51"/>
          <p:cNvSpPr/>
          <p:nvPr/>
        </p:nvSpPr>
        <p:spPr>
          <a:xfrm flipH="1" rot="10800000">
            <a:off x="3530093" y="3623763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51"/>
          <p:cNvSpPr/>
          <p:nvPr/>
        </p:nvSpPr>
        <p:spPr>
          <a:xfrm flipH="1" rot="10800000">
            <a:off x="4928405" y="2438905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51"/>
          <p:cNvSpPr/>
          <p:nvPr/>
        </p:nvSpPr>
        <p:spPr>
          <a:xfrm flipH="1" rot="10800000">
            <a:off x="5894735" y="1628054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51"/>
          <p:cNvSpPr txBox="1"/>
          <p:nvPr/>
        </p:nvSpPr>
        <p:spPr>
          <a:xfrm>
            <a:off x="2943089" y="4061066"/>
            <a:ext cx="1429500" cy="307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51"/>
          <p:cNvSpPr txBox="1"/>
          <p:nvPr/>
        </p:nvSpPr>
        <p:spPr>
          <a:xfrm>
            <a:off x="3530093" y="3541426"/>
            <a:ext cx="1216200" cy="328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69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51"/>
          <p:cNvSpPr txBox="1"/>
          <p:nvPr/>
        </p:nvSpPr>
        <p:spPr>
          <a:xfrm>
            <a:off x="4787802" y="2471392"/>
            <a:ext cx="1044900" cy="327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84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51"/>
          <p:cNvSpPr txBox="1"/>
          <p:nvPr/>
        </p:nvSpPr>
        <p:spPr>
          <a:xfrm>
            <a:off x="5873241" y="1570365"/>
            <a:ext cx="1177800" cy="3282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565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4" name="Google Shape;914;p51"/>
          <p:cNvCxnSpPr/>
          <p:nvPr/>
        </p:nvCxnSpPr>
        <p:spPr>
          <a:xfrm flipH="1" rot="10800000">
            <a:off x="3975652" y="2711345"/>
            <a:ext cx="723600" cy="612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915" name="Google Shape;915;p51"/>
          <p:cNvSpPr txBox="1"/>
          <p:nvPr/>
        </p:nvSpPr>
        <p:spPr>
          <a:xfrm>
            <a:off x="8436334" y="2711395"/>
            <a:ext cx="330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endpoints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intersections have t outside 0 to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Vector</a:t>
            </a:r>
            <a:endParaRPr/>
          </a:p>
        </p:txBody>
      </p:sp>
      <p:cxnSp>
        <p:nvCxnSpPr>
          <p:cNvPr id="921" name="Google Shape;921;p52"/>
          <p:cNvCxnSpPr/>
          <p:nvPr/>
        </p:nvCxnSpPr>
        <p:spPr>
          <a:xfrm flipH="1" rot="10800000">
            <a:off x="1057523" y="2282095"/>
            <a:ext cx="2480700" cy="225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stealth"/>
          </a:ln>
        </p:spPr>
      </p:cxnSp>
      <p:sp>
        <p:nvSpPr>
          <p:cNvPr id="922" name="Google Shape;922;p52"/>
          <p:cNvSpPr txBox="1"/>
          <p:nvPr/>
        </p:nvSpPr>
        <p:spPr>
          <a:xfrm>
            <a:off x="977853" y="4540195"/>
            <a:ext cx="37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52"/>
          <p:cNvSpPr txBox="1"/>
          <p:nvPr/>
        </p:nvSpPr>
        <p:spPr>
          <a:xfrm>
            <a:off x="3554050" y="2203919"/>
            <a:ext cx="37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52"/>
          <p:cNvSpPr/>
          <p:nvPr/>
        </p:nvSpPr>
        <p:spPr>
          <a:xfrm flipH="1" rot="10800000">
            <a:off x="3518603" y="2247759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52"/>
          <p:cNvSpPr txBox="1"/>
          <p:nvPr/>
        </p:nvSpPr>
        <p:spPr>
          <a:xfrm>
            <a:off x="6815579" y="1989056"/>
            <a:ext cx="3535200" cy="923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598" l="-1378" r="0" t="-32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52"/>
          <p:cNvSpPr txBox="1"/>
          <p:nvPr/>
        </p:nvSpPr>
        <p:spPr>
          <a:xfrm>
            <a:off x="2037905" y="3103332"/>
            <a:ext cx="31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Vector</a:t>
            </a:r>
            <a:endParaRPr/>
          </a:p>
        </p:txBody>
      </p:sp>
      <p:cxnSp>
        <p:nvCxnSpPr>
          <p:cNvPr id="932" name="Google Shape;932;p53"/>
          <p:cNvCxnSpPr/>
          <p:nvPr/>
        </p:nvCxnSpPr>
        <p:spPr>
          <a:xfrm flipH="1" rot="10800000">
            <a:off x="1057523" y="2282095"/>
            <a:ext cx="2480700" cy="225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stealth"/>
          </a:ln>
        </p:spPr>
      </p:cxnSp>
      <p:sp>
        <p:nvSpPr>
          <p:cNvPr id="933" name="Google Shape;933;p53"/>
          <p:cNvSpPr txBox="1"/>
          <p:nvPr/>
        </p:nvSpPr>
        <p:spPr>
          <a:xfrm>
            <a:off x="977852" y="4540195"/>
            <a:ext cx="106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(2,3)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53"/>
          <p:cNvSpPr txBox="1"/>
          <p:nvPr/>
        </p:nvSpPr>
        <p:spPr>
          <a:xfrm>
            <a:off x="3554050" y="2203919"/>
            <a:ext cx="78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(5,5)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53"/>
          <p:cNvSpPr/>
          <p:nvPr/>
        </p:nvSpPr>
        <p:spPr>
          <a:xfrm flipH="1" rot="10800000">
            <a:off x="3518603" y="2247759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53"/>
          <p:cNvSpPr txBox="1"/>
          <p:nvPr/>
        </p:nvSpPr>
        <p:spPr>
          <a:xfrm>
            <a:off x="6815579" y="1989056"/>
            <a:ext cx="3535200" cy="147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46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53"/>
          <p:cNvSpPr txBox="1"/>
          <p:nvPr/>
        </p:nvSpPr>
        <p:spPr>
          <a:xfrm>
            <a:off x="2037905" y="3103332"/>
            <a:ext cx="31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Normal vectors to boundary</a:t>
            </a:r>
            <a:endParaRPr/>
          </a:p>
        </p:txBody>
      </p:sp>
      <p:grpSp>
        <p:nvGrpSpPr>
          <p:cNvPr id="943" name="Google Shape;943;p54"/>
          <p:cNvGrpSpPr/>
          <p:nvPr/>
        </p:nvGrpSpPr>
        <p:grpSpPr>
          <a:xfrm>
            <a:off x="1188708" y="1578655"/>
            <a:ext cx="6823864" cy="4997157"/>
            <a:chOff x="2442572" y="1333596"/>
            <a:chExt cx="4921647" cy="3604152"/>
          </a:xfrm>
        </p:grpSpPr>
        <p:cxnSp>
          <p:nvCxnSpPr>
            <p:cNvPr id="944" name="Google Shape;944;p54"/>
            <p:cNvCxnSpPr/>
            <p:nvPr/>
          </p:nvCxnSpPr>
          <p:spPr>
            <a:xfrm rot="5400000">
              <a:off x="1782671" y="3115596"/>
              <a:ext cx="35640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5" name="Google Shape;945;p54"/>
            <p:cNvCxnSpPr/>
            <p:nvPr/>
          </p:nvCxnSpPr>
          <p:spPr>
            <a:xfrm rot="5400000">
              <a:off x="4144448" y="3154848"/>
              <a:ext cx="35658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6" name="Google Shape;946;p54"/>
            <p:cNvCxnSpPr/>
            <p:nvPr/>
          </p:nvCxnSpPr>
          <p:spPr>
            <a:xfrm rot="10800000">
              <a:off x="2442572" y="2480596"/>
              <a:ext cx="48717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7" name="Google Shape;947;p54"/>
            <p:cNvCxnSpPr/>
            <p:nvPr/>
          </p:nvCxnSpPr>
          <p:spPr>
            <a:xfrm rot="10800000">
              <a:off x="2492519" y="4045011"/>
              <a:ext cx="48717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948" name="Google Shape;948;p54"/>
          <p:cNvCxnSpPr/>
          <p:nvPr/>
        </p:nvCxnSpPr>
        <p:spPr>
          <a:xfrm rot="10800000">
            <a:off x="2073800" y="3978112"/>
            <a:ext cx="6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9" name="Google Shape;949;p54"/>
          <p:cNvSpPr txBox="1"/>
          <p:nvPr/>
        </p:nvSpPr>
        <p:spPr>
          <a:xfrm>
            <a:off x="838200" y="4070756"/>
            <a:ext cx="1736100" cy="391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36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0" name="Google Shape;950;p54"/>
          <p:cNvCxnSpPr/>
          <p:nvPr/>
        </p:nvCxnSpPr>
        <p:spPr>
          <a:xfrm>
            <a:off x="6020519" y="3978113"/>
            <a:ext cx="693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51" name="Google Shape;951;p54"/>
          <p:cNvSpPr txBox="1"/>
          <p:nvPr/>
        </p:nvSpPr>
        <p:spPr>
          <a:xfrm>
            <a:off x="6276729" y="4044851"/>
            <a:ext cx="1675200" cy="391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093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2" name="Google Shape;952;p54"/>
          <p:cNvCxnSpPr/>
          <p:nvPr/>
        </p:nvCxnSpPr>
        <p:spPr>
          <a:xfrm rot="10800000">
            <a:off x="4496586" y="2471274"/>
            <a:ext cx="0" cy="70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53" name="Google Shape;953;p54"/>
          <p:cNvSpPr txBox="1"/>
          <p:nvPr/>
        </p:nvSpPr>
        <p:spPr>
          <a:xfrm>
            <a:off x="4009403" y="2038282"/>
            <a:ext cx="1514100" cy="3906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36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4" name="Google Shape;954;p54"/>
          <p:cNvCxnSpPr/>
          <p:nvPr/>
        </p:nvCxnSpPr>
        <p:spPr>
          <a:xfrm>
            <a:off x="4496586" y="5338148"/>
            <a:ext cx="0" cy="77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55" name="Google Shape;955;p54"/>
          <p:cNvSpPr txBox="1"/>
          <p:nvPr/>
        </p:nvSpPr>
        <p:spPr>
          <a:xfrm>
            <a:off x="3878455" y="6044168"/>
            <a:ext cx="2013300" cy="369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54"/>
          <p:cNvSpPr txBox="1"/>
          <p:nvPr/>
        </p:nvSpPr>
        <p:spPr>
          <a:xfrm>
            <a:off x="8766928" y="3178674"/>
            <a:ext cx="3271200" cy="14772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5347" l="-1488" r="-1857" t="-2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5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Normal vectors to boundary</a:t>
            </a:r>
            <a:endParaRPr/>
          </a:p>
        </p:txBody>
      </p:sp>
      <p:grpSp>
        <p:nvGrpSpPr>
          <p:cNvPr id="962" name="Google Shape;962;p55"/>
          <p:cNvGrpSpPr/>
          <p:nvPr/>
        </p:nvGrpSpPr>
        <p:grpSpPr>
          <a:xfrm>
            <a:off x="1188708" y="1578655"/>
            <a:ext cx="6823864" cy="4997157"/>
            <a:chOff x="2442572" y="1333596"/>
            <a:chExt cx="4921647" cy="3604152"/>
          </a:xfrm>
        </p:grpSpPr>
        <p:cxnSp>
          <p:nvCxnSpPr>
            <p:cNvPr id="963" name="Google Shape;963;p55"/>
            <p:cNvCxnSpPr/>
            <p:nvPr/>
          </p:nvCxnSpPr>
          <p:spPr>
            <a:xfrm rot="5400000">
              <a:off x="1782671" y="3115596"/>
              <a:ext cx="35640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4" name="Google Shape;964;p55"/>
            <p:cNvCxnSpPr/>
            <p:nvPr/>
          </p:nvCxnSpPr>
          <p:spPr>
            <a:xfrm rot="5400000">
              <a:off x="4144448" y="3154848"/>
              <a:ext cx="35658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5" name="Google Shape;965;p55"/>
            <p:cNvCxnSpPr/>
            <p:nvPr/>
          </p:nvCxnSpPr>
          <p:spPr>
            <a:xfrm rot="10800000">
              <a:off x="2442572" y="2480596"/>
              <a:ext cx="48717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6" name="Google Shape;966;p55"/>
            <p:cNvCxnSpPr/>
            <p:nvPr/>
          </p:nvCxnSpPr>
          <p:spPr>
            <a:xfrm rot="10800000">
              <a:off x="2492519" y="4045011"/>
              <a:ext cx="48717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967" name="Google Shape;967;p55"/>
          <p:cNvCxnSpPr/>
          <p:nvPr/>
        </p:nvCxnSpPr>
        <p:spPr>
          <a:xfrm rot="10800000">
            <a:off x="2073800" y="3978112"/>
            <a:ext cx="6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68" name="Google Shape;968;p55"/>
          <p:cNvSpPr txBox="1"/>
          <p:nvPr/>
        </p:nvSpPr>
        <p:spPr>
          <a:xfrm>
            <a:off x="687239" y="3517471"/>
            <a:ext cx="1736100" cy="391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93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9" name="Google Shape;969;p55"/>
          <p:cNvCxnSpPr/>
          <p:nvPr/>
        </p:nvCxnSpPr>
        <p:spPr>
          <a:xfrm>
            <a:off x="6027851" y="2431694"/>
            <a:ext cx="693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70" name="Google Shape;970;p55"/>
          <p:cNvSpPr txBox="1"/>
          <p:nvPr/>
        </p:nvSpPr>
        <p:spPr>
          <a:xfrm>
            <a:off x="6523550" y="2453403"/>
            <a:ext cx="1675200" cy="391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92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1" name="Google Shape;971;p55"/>
          <p:cNvCxnSpPr/>
          <p:nvPr/>
        </p:nvCxnSpPr>
        <p:spPr>
          <a:xfrm rot="10800000">
            <a:off x="4496586" y="2471274"/>
            <a:ext cx="0" cy="70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72" name="Google Shape;972;p55"/>
          <p:cNvSpPr txBox="1"/>
          <p:nvPr/>
        </p:nvSpPr>
        <p:spPr>
          <a:xfrm>
            <a:off x="4009403" y="2038282"/>
            <a:ext cx="1514100" cy="3906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36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3" name="Google Shape;973;p55"/>
          <p:cNvCxnSpPr/>
          <p:nvPr/>
        </p:nvCxnSpPr>
        <p:spPr>
          <a:xfrm>
            <a:off x="4496586" y="5338148"/>
            <a:ext cx="0" cy="77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74" name="Google Shape;974;p55"/>
          <p:cNvSpPr txBox="1"/>
          <p:nvPr/>
        </p:nvSpPr>
        <p:spPr>
          <a:xfrm>
            <a:off x="3878455" y="6044168"/>
            <a:ext cx="2013300" cy="369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5" name="Google Shape;975;p55"/>
          <p:cNvCxnSpPr/>
          <p:nvPr/>
        </p:nvCxnSpPr>
        <p:spPr>
          <a:xfrm flipH="1" rot="10800000">
            <a:off x="499621" y="1781643"/>
            <a:ext cx="6947700" cy="326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triangle"/>
          </a:ln>
        </p:spPr>
      </p:cxnSp>
      <p:sp>
        <p:nvSpPr>
          <p:cNvPr id="976" name="Google Shape;976;p55"/>
          <p:cNvSpPr/>
          <p:nvPr/>
        </p:nvSpPr>
        <p:spPr>
          <a:xfrm flipH="1" rot="10800000">
            <a:off x="7421299" y="1757563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55"/>
          <p:cNvSpPr txBox="1"/>
          <p:nvPr/>
        </p:nvSpPr>
        <p:spPr>
          <a:xfrm>
            <a:off x="462587" y="5062969"/>
            <a:ext cx="106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55"/>
          <p:cNvSpPr txBox="1"/>
          <p:nvPr/>
        </p:nvSpPr>
        <p:spPr>
          <a:xfrm>
            <a:off x="7421841" y="1790050"/>
            <a:ext cx="106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55"/>
          <p:cNvSpPr txBox="1"/>
          <p:nvPr/>
        </p:nvSpPr>
        <p:spPr>
          <a:xfrm>
            <a:off x="6393859" y="1545183"/>
            <a:ext cx="106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= 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55"/>
          <p:cNvSpPr txBox="1"/>
          <p:nvPr/>
        </p:nvSpPr>
        <p:spPr>
          <a:xfrm>
            <a:off x="8669134" y="1839744"/>
            <a:ext cx="3161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angle between 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D is more than 90 degree-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Or, 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&lt; 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intersection point is 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(Potentially entering)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55"/>
          <p:cNvSpPr txBox="1"/>
          <p:nvPr/>
        </p:nvSpPr>
        <p:spPr>
          <a:xfrm>
            <a:off x="8630913" y="4103958"/>
            <a:ext cx="3161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angle between 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D is less than 90 degree-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Or, 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&gt; 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intersection point is PL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(Potentially leaving)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55"/>
          <p:cNvSpPr txBox="1"/>
          <p:nvPr/>
        </p:nvSpPr>
        <p:spPr>
          <a:xfrm>
            <a:off x="2793061" y="4044851"/>
            <a:ext cx="41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55"/>
          <p:cNvSpPr txBox="1"/>
          <p:nvPr/>
        </p:nvSpPr>
        <p:spPr>
          <a:xfrm>
            <a:off x="4460521" y="3169041"/>
            <a:ext cx="40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55"/>
          <p:cNvSpPr/>
          <p:nvPr/>
        </p:nvSpPr>
        <p:spPr>
          <a:xfrm rot="-5024964">
            <a:off x="2490673" y="3742409"/>
            <a:ext cx="614453" cy="534776"/>
          </a:xfrm>
          <a:prstGeom prst="arc">
            <a:avLst>
              <a:gd fmla="val 16200000" name="adj1"/>
              <a:gd fmla="val 285367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55"/>
          <p:cNvSpPr/>
          <p:nvPr/>
        </p:nvSpPr>
        <p:spPr>
          <a:xfrm rot="-5024964">
            <a:off x="4307320" y="2867688"/>
            <a:ext cx="614453" cy="534776"/>
          </a:xfrm>
          <a:prstGeom prst="arc">
            <a:avLst>
              <a:gd fmla="val 19920056" name="adj1"/>
              <a:gd fmla="val 3325294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55"/>
          <p:cNvSpPr/>
          <p:nvPr/>
        </p:nvSpPr>
        <p:spPr>
          <a:xfrm rot="-5024964">
            <a:off x="5944982" y="2113493"/>
            <a:ext cx="614453" cy="534776"/>
          </a:xfrm>
          <a:prstGeom prst="arc">
            <a:avLst>
              <a:gd fmla="val 3133225" name="adj1"/>
              <a:gd fmla="val 5776569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1" name="Google Shape;99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2262" y="0"/>
            <a:ext cx="7696201" cy="617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107" y="5507610"/>
            <a:ext cx="1904998" cy="7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57707" y="5507610"/>
            <a:ext cx="188118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56"/>
          <p:cNvSpPr txBox="1"/>
          <p:nvPr/>
        </p:nvSpPr>
        <p:spPr>
          <a:xfrm>
            <a:off x="2476107" y="5050410"/>
            <a:ext cx="330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 = Potentially Entering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56"/>
          <p:cNvSpPr txBox="1"/>
          <p:nvPr/>
        </p:nvSpPr>
        <p:spPr>
          <a:xfrm>
            <a:off x="6790932" y="5050410"/>
            <a:ext cx="325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 = Potentially Leaving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5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Cyrus-Beck algo</a:t>
            </a:r>
            <a:endParaRPr/>
          </a:p>
        </p:txBody>
      </p:sp>
      <p:sp>
        <p:nvSpPr>
          <p:cNvPr id="1001" name="Google Shape;1001;p5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Calculate t values of intersection points with each 4 boundaries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Classify intersection points whether PE/PL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Select the PE with highest t and the PL with the lowest 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Using parametric line eqn. find the clipped points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6" name="Google Shape;100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824" y="2109788"/>
            <a:ext cx="4386263" cy="334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7" name="Google Shape;1007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2497" y="1447800"/>
            <a:ext cx="4191000" cy="446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2753" y="2109788"/>
            <a:ext cx="4191001" cy="448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58"/>
          <p:cNvSpPr txBox="1"/>
          <p:nvPr>
            <p:ph type="title"/>
          </p:nvPr>
        </p:nvSpPr>
        <p:spPr>
          <a:xfrm>
            <a:off x="638175" y="0"/>
            <a:ext cx="85059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Cyrus-Beck Algorithm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4" name="Google Shape;101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96650"/>
            <a:ext cx="5053744" cy="384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59"/>
          <p:cNvSpPr txBox="1"/>
          <p:nvPr>
            <p:ph type="title"/>
          </p:nvPr>
        </p:nvSpPr>
        <p:spPr>
          <a:xfrm>
            <a:off x="638175" y="0"/>
            <a:ext cx="85059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Cyrus-Beck Algorithm</a:t>
            </a:r>
            <a:endParaRPr/>
          </a:p>
        </p:txBody>
      </p:sp>
      <p:sp>
        <p:nvSpPr>
          <p:cNvPr id="1016" name="Google Shape;1016;p59"/>
          <p:cNvSpPr txBox="1"/>
          <p:nvPr/>
        </p:nvSpPr>
        <p:spPr>
          <a:xfrm>
            <a:off x="5330699" y="2304850"/>
            <a:ext cx="4180800" cy="3340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59"/>
          <p:cNvSpPr txBox="1"/>
          <p:nvPr/>
        </p:nvSpPr>
        <p:spPr>
          <a:xfrm>
            <a:off x="5208163" y="1687398"/>
            <a:ext cx="190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left boundary,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59"/>
          <p:cNvSpPr txBox="1"/>
          <p:nvPr/>
        </p:nvSpPr>
        <p:spPr>
          <a:xfrm>
            <a:off x="9238251" y="1796650"/>
            <a:ext cx="2926800" cy="24138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1828" r="0" t="-17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60"/>
          <p:cNvSpPr txBox="1"/>
          <p:nvPr>
            <p:ph type="title"/>
          </p:nvPr>
        </p:nvSpPr>
        <p:spPr>
          <a:xfrm>
            <a:off x="638175" y="0"/>
            <a:ext cx="85059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Cyrus-Beck Algorithm</a:t>
            </a:r>
            <a:endParaRPr/>
          </a:p>
        </p:txBody>
      </p:sp>
      <p:sp>
        <p:nvSpPr>
          <p:cNvPr id="1024" name="Google Shape;1024;p60"/>
          <p:cNvSpPr txBox="1"/>
          <p:nvPr/>
        </p:nvSpPr>
        <p:spPr>
          <a:xfrm>
            <a:off x="974174" y="1152525"/>
            <a:ext cx="7812000" cy="57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Precalculate N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P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each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(each line segment to be clipped)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== P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is degenerated, so clip as a point;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0;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candidate intersection with a clip edge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!=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0) {   /* Ignore edges parallel to line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sign of  N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to categorize as PE or PL;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return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and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true clip intersection;</a:t>
            </a:r>
            <a:endParaRPr b="0" baseline="-2500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6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1030" name="Google Shape;1030;p61"/>
          <p:cNvSpPr txBox="1"/>
          <p:nvPr>
            <p:ph idx="1" type="body"/>
          </p:nvPr>
        </p:nvSpPr>
        <p:spPr>
          <a:xfrm>
            <a:off x="1059594" y="792812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a) Calculate the value of t of the lines given below for all edges and specify whether they are entering or leaving t. [Given (0,0) to (300,200) be the clip region.]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(i) (50, -125) to (-100, 225).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(ii) (-250, 200) to (250, -200).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(iii) (-250, 200) to (150, 100)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Also, find the line segment within the clipping window</a:t>
            </a:r>
            <a:endParaRPr sz="2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62"/>
          <p:cNvSpPr txBox="1"/>
          <p:nvPr/>
        </p:nvSpPr>
        <p:spPr>
          <a:xfrm>
            <a:off x="9448035" y="269999"/>
            <a:ext cx="2665800" cy="240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62"/>
          <p:cNvSpPr txBox="1"/>
          <p:nvPr/>
        </p:nvSpPr>
        <p:spPr>
          <a:xfrm>
            <a:off x="6444673" y="3100595"/>
            <a:ext cx="7812000" cy="57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Precalculate 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each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(each line segment to be clipped)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== 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is degenerated, so clip as a point;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0;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candidate intersection with a clip edge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!=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0) {   /* Ignore edges parallel to line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sign of  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to categorize as PE or PL;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return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and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true clip intersection;</a:t>
            </a:r>
            <a:endParaRPr b="0" baseline="-2500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62"/>
          <p:cNvSpPr txBox="1"/>
          <p:nvPr/>
        </p:nvSpPr>
        <p:spPr>
          <a:xfrm>
            <a:off x="326006" y="500932"/>
            <a:ext cx="5835600" cy="1477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67" l="-828" r="0" t="-2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62"/>
          <p:cNvSpPr txBox="1"/>
          <p:nvPr/>
        </p:nvSpPr>
        <p:spPr>
          <a:xfrm>
            <a:off x="1264257" y="2329732"/>
            <a:ext cx="23124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6" l="-2098" r="0" t="-81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62"/>
          <p:cNvSpPr txBox="1"/>
          <p:nvPr/>
        </p:nvSpPr>
        <p:spPr>
          <a:xfrm>
            <a:off x="801826" y="6299471"/>
            <a:ext cx="468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line segment is outside clip window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0" name="Google Shape;1040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400" y="2851425"/>
            <a:ext cx="6009199" cy="3414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63"/>
          <p:cNvSpPr txBox="1"/>
          <p:nvPr/>
        </p:nvSpPr>
        <p:spPr>
          <a:xfrm>
            <a:off x="9448035" y="269999"/>
            <a:ext cx="2665800" cy="240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63"/>
          <p:cNvSpPr txBox="1"/>
          <p:nvPr/>
        </p:nvSpPr>
        <p:spPr>
          <a:xfrm>
            <a:off x="6444673" y="3100595"/>
            <a:ext cx="7812000" cy="57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Precalculate 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each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(each line segment to be clipped)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== 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is degenerated, so clip as a point;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0;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candidate intersection with a clip edge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!=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0) {   /* Ignore edges parallel to line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sign of  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to categorize as PE or PL;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return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and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true clip intersection;</a:t>
            </a:r>
            <a:endParaRPr b="0" baseline="-2500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63"/>
          <p:cNvSpPr txBox="1"/>
          <p:nvPr/>
        </p:nvSpPr>
        <p:spPr>
          <a:xfrm>
            <a:off x="326006" y="500932"/>
            <a:ext cx="5903700" cy="1477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67" l="-828" r="0" t="-2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63"/>
          <p:cNvSpPr txBox="1"/>
          <p:nvPr/>
        </p:nvSpPr>
        <p:spPr>
          <a:xfrm>
            <a:off x="1256305" y="1978260"/>
            <a:ext cx="23124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6665" l="-2107" r="0" t="-99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63"/>
          <p:cNvSpPr txBox="1"/>
          <p:nvPr/>
        </p:nvSpPr>
        <p:spPr>
          <a:xfrm>
            <a:off x="425588" y="5657696"/>
            <a:ext cx="5704500" cy="1200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547" l="-848" r="-327" t="-25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0" name="Google Shape;1050;p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6399" y="2423875"/>
            <a:ext cx="5903700" cy="331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64"/>
          <p:cNvSpPr txBox="1"/>
          <p:nvPr/>
        </p:nvSpPr>
        <p:spPr>
          <a:xfrm>
            <a:off x="9448035" y="269999"/>
            <a:ext cx="2665800" cy="240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64"/>
          <p:cNvSpPr txBox="1"/>
          <p:nvPr/>
        </p:nvSpPr>
        <p:spPr>
          <a:xfrm>
            <a:off x="6444673" y="3100595"/>
            <a:ext cx="7812000" cy="57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Precalculate 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each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(each line segment to be clipped)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== 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is degenerated, so clip as a point;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0;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candidate intersection with a clip edge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!=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0) {   /* Ignore edges parallel to line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sign of  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to categorize as PE or PL;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return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and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true clip intersection;</a:t>
            </a:r>
            <a:endParaRPr b="0" baseline="-2500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64"/>
          <p:cNvSpPr txBox="1"/>
          <p:nvPr/>
        </p:nvSpPr>
        <p:spPr>
          <a:xfrm>
            <a:off x="379589" y="221745"/>
            <a:ext cx="5903700" cy="1477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68" l="-829" r="0" t="-205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64"/>
          <p:cNvSpPr txBox="1"/>
          <p:nvPr/>
        </p:nvSpPr>
        <p:spPr>
          <a:xfrm>
            <a:off x="1240403" y="1699073"/>
            <a:ext cx="23124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6669" l="-2099" r="0" t="-9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64"/>
          <p:cNvSpPr txBox="1"/>
          <p:nvPr/>
        </p:nvSpPr>
        <p:spPr>
          <a:xfrm>
            <a:off x="597578" y="5354128"/>
            <a:ext cx="4646700" cy="13851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959" l="-389" r="0" t="-4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0" name="Google Shape;1060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400" y="2220775"/>
            <a:ext cx="5565338" cy="3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65"/>
          <p:cNvSpPr txBox="1"/>
          <p:nvPr>
            <p:ph idx="1" type="body"/>
          </p:nvPr>
        </p:nvSpPr>
        <p:spPr>
          <a:xfrm>
            <a:off x="609600" y="11430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Advantage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Works with polygons too (not only with clip rectangles)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Works in 3D scenario (polyhedrons)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Does not work with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concave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polygon clip region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cxnSp>
        <p:nvCxnSpPr>
          <p:cNvPr id="1066" name="Google Shape;1066;p65"/>
          <p:cNvCxnSpPr/>
          <p:nvPr/>
        </p:nvCxnSpPr>
        <p:spPr>
          <a:xfrm rot="-5400000">
            <a:off x="2070050" y="4432350"/>
            <a:ext cx="838200" cy="111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7" name="Google Shape;1067;p65"/>
          <p:cNvCxnSpPr/>
          <p:nvPr/>
        </p:nvCxnSpPr>
        <p:spPr>
          <a:xfrm>
            <a:off x="3048000" y="4572000"/>
            <a:ext cx="1016100" cy="45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8" name="Google Shape;1068;p65"/>
          <p:cNvCxnSpPr/>
          <p:nvPr/>
        </p:nvCxnSpPr>
        <p:spPr>
          <a:xfrm rot="-5400000">
            <a:off x="4203650" y="4051350"/>
            <a:ext cx="838200" cy="111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9" name="Google Shape;1069;p65"/>
          <p:cNvCxnSpPr/>
          <p:nvPr/>
        </p:nvCxnSpPr>
        <p:spPr>
          <a:xfrm rot="5400000">
            <a:off x="4102050" y="5168850"/>
            <a:ext cx="2057400" cy="10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0" name="Google Shape;1070;p65"/>
          <p:cNvCxnSpPr/>
          <p:nvPr/>
        </p:nvCxnSpPr>
        <p:spPr>
          <a:xfrm>
            <a:off x="1930400" y="5410200"/>
            <a:ext cx="3149700" cy="83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1" name="Google Shape;1071;p65"/>
          <p:cNvCxnSpPr/>
          <p:nvPr/>
        </p:nvCxnSpPr>
        <p:spPr>
          <a:xfrm flipH="1" rot="10800000">
            <a:off x="1320800" y="4343400"/>
            <a:ext cx="5689500" cy="6858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2" name="Google Shape;1072;p65"/>
          <p:cNvCxnSpPr/>
          <p:nvPr/>
        </p:nvCxnSpPr>
        <p:spPr>
          <a:xfrm rot="10800000">
            <a:off x="2032000" y="4648200"/>
            <a:ext cx="6096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3" name="Google Shape;1073;p65"/>
          <p:cNvCxnSpPr/>
          <p:nvPr/>
        </p:nvCxnSpPr>
        <p:spPr>
          <a:xfrm rot="-5400000">
            <a:off x="3619450" y="4308086"/>
            <a:ext cx="381000" cy="50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4" name="Google Shape;1074;p65"/>
          <p:cNvCxnSpPr/>
          <p:nvPr/>
        </p:nvCxnSpPr>
        <p:spPr>
          <a:xfrm flipH="1" rot="5400000">
            <a:off x="4305300" y="4381500"/>
            <a:ext cx="228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5" name="Google Shape;1075;p65"/>
          <p:cNvCxnSpPr/>
          <p:nvPr/>
        </p:nvCxnSpPr>
        <p:spPr>
          <a:xfrm>
            <a:off x="5181600" y="4572000"/>
            <a:ext cx="19305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6" name="Google Shape;1076;p65"/>
          <p:cNvSpPr/>
          <p:nvPr/>
        </p:nvSpPr>
        <p:spPr>
          <a:xfrm>
            <a:off x="2336800" y="4648200"/>
            <a:ext cx="812700" cy="533400"/>
          </a:xfrm>
          <a:prstGeom prst="arc">
            <a:avLst>
              <a:gd fmla="val 12621667" name="adj1"/>
              <a:gd fmla="val 20477297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65"/>
          <p:cNvSpPr/>
          <p:nvPr/>
        </p:nvSpPr>
        <p:spPr>
          <a:xfrm rot="2330230">
            <a:off x="3534401" y="4506990"/>
            <a:ext cx="711359" cy="634921"/>
          </a:xfrm>
          <a:prstGeom prst="arc">
            <a:avLst>
              <a:gd fmla="val 13457221" name="adj1"/>
              <a:gd fmla="val 16854873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65"/>
          <p:cNvSpPr/>
          <p:nvPr/>
        </p:nvSpPr>
        <p:spPr>
          <a:xfrm rot="2330230">
            <a:off x="4245601" y="4430789"/>
            <a:ext cx="711359" cy="634921"/>
          </a:xfrm>
          <a:prstGeom prst="arc">
            <a:avLst>
              <a:gd fmla="val 11007923" name="adj1"/>
              <a:gd fmla="val 16854873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65"/>
          <p:cNvSpPr/>
          <p:nvPr/>
        </p:nvSpPr>
        <p:spPr>
          <a:xfrm rot="2330230">
            <a:off x="5566401" y="4430790"/>
            <a:ext cx="711359" cy="634921"/>
          </a:xfrm>
          <a:prstGeom prst="arc">
            <a:avLst>
              <a:gd fmla="val 13457221" name="adj1"/>
              <a:gd fmla="val 16854873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65"/>
          <p:cNvSpPr/>
          <p:nvPr/>
        </p:nvSpPr>
        <p:spPr>
          <a:xfrm>
            <a:off x="2336800" y="4953000"/>
            <a:ext cx="71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65"/>
          <p:cNvSpPr/>
          <p:nvPr/>
        </p:nvSpPr>
        <p:spPr>
          <a:xfrm>
            <a:off x="3048000" y="4800600"/>
            <a:ext cx="71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65"/>
          <p:cNvSpPr/>
          <p:nvPr/>
        </p:nvSpPr>
        <p:spPr>
          <a:xfrm>
            <a:off x="4267200" y="4724400"/>
            <a:ext cx="71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65"/>
          <p:cNvSpPr/>
          <p:nvPr/>
        </p:nvSpPr>
        <p:spPr>
          <a:xfrm>
            <a:off x="5080000" y="4572000"/>
            <a:ext cx="71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65"/>
          <p:cNvSpPr/>
          <p:nvPr/>
        </p:nvSpPr>
        <p:spPr>
          <a:xfrm>
            <a:off x="2235200" y="43434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65"/>
          <p:cNvSpPr/>
          <p:nvPr/>
        </p:nvSpPr>
        <p:spPr>
          <a:xfrm>
            <a:off x="3251200" y="43434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t2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65"/>
          <p:cNvSpPr/>
          <p:nvPr/>
        </p:nvSpPr>
        <p:spPr>
          <a:xfrm>
            <a:off x="4368800" y="41148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t3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65"/>
          <p:cNvSpPr/>
          <p:nvPr/>
        </p:nvSpPr>
        <p:spPr>
          <a:xfrm>
            <a:off x="5181600" y="41148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t4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65"/>
          <p:cNvSpPr/>
          <p:nvPr/>
        </p:nvSpPr>
        <p:spPr>
          <a:xfrm>
            <a:off x="7213600" y="3810000"/>
            <a:ext cx="43689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the whole line is discarded though some segments should be displayed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9" name="Google Shape;1089;p65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Cyrus-Beck Parametric Line Clipping Algorithm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66"/>
          <p:cNvSpPr txBox="1"/>
          <p:nvPr>
            <p:ph idx="1" type="body"/>
          </p:nvPr>
        </p:nvSpPr>
        <p:spPr>
          <a:xfrm>
            <a:off x="609600" y="7620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Reference: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latin typeface="Arial Narrow"/>
                <a:ea typeface="Arial Narrow"/>
                <a:cs typeface="Arial Narrow"/>
                <a:sym typeface="Arial Narrow"/>
              </a:rPr>
              <a:t>Computer Graphics: Principles and Practice: John F. Hughes, James D. Foley, Andries van Dam, Steven K. Feiner (2nd Edition)</a:t>
            </a:r>
            <a:endParaRPr sz="23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latin typeface="Arial Narrow"/>
                <a:ea typeface="Arial Narrow"/>
                <a:cs typeface="Arial Narrow"/>
                <a:sym typeface="Arial Narrow"/>
              </a:rPr>
              <a:t>Chapter: 3.12, 3.14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