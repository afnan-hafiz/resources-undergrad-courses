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7E8BC6-ECC4-4095-885B-AD9427E177C0}">
  <a:tblStyle styleId="{BA7E8BC6-ECC4-4095-885B-AD9427E177C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e8f93d0ec_0_8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e8f93d0ec_0_8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e8f93d0ec_0_8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e8f93d0ec_0_8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8f93d0ec_0_9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e8f93d0ec_0_9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e8f93d0ec_0_9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e8f93d0ec_0_9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e8f93d0ec_0_10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e8f93d0ec_0_10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e8f93d0ec_0_10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e8f93d0ec_0_10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e8f93d0ec_0_10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e8f93d0ec_0_10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e8f93d0ec_0_10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e8f93d0ec_0_10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e8f93d0ec_0_1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e8f93d0ec_0_1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e8f93d0ec_0_1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e8f93d0ec_0_1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e8f93d0ec_0_1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ee8f93d0ec_0_1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e8f93d0ec_0_1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ee8f93d0ec_0_1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e8f93d0ec_0_13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ee8f93d0ec_0_1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ee8f93d0ec_0_13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ee8f93d0ec_0_1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e8f93d0ec_0_1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ee8f93d0ec_0_1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e8f93d0ec_0_1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ee8f93d0ec_0_1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ee8f93d0ec_0_1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ee8f93d0ec_0_1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ee8f93d0ec_0_15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ee8f93d0ec_0_15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e8f93d0ec_0_15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3ee8f93d0ec_0_15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e8f93d0ec_0_15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ee8f93d0ec_0_15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e8f93d0ec_0_15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ee8f93d0ec_0_15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e8f93d0ec_0_16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ee8f93d0ec_0_16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ee8f93d0ec_0_16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ee8f93d0ec_0_16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ee8f93d0ec_0_1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ee8f93d0ec_0_1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ee8f93d0ec_0_16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ee8f93d0ec_0_1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ee8f93d0ec_0_1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ee8f93d0ec_0_16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ee8f93d0e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ee8f93d0e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ee8f93d0e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Relationship Id="rId7" Type="http://schemas.openxmlformats.org/officeDocument/2006/relationships/image" Target="../media/image11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Graphics: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Conversion Algorithms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400"/>
              <a:t>Line Drawing Algorithm - DDA</a:t>
            </a:r>
            <a:endParaRPr b="1" sz="24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5"/>
          <p:cNvCxnSpPr/>
          <p:nvPr/>
        </p:nvCxnSpPr>
        <p:spPr>
          <a:xfrm>
            <a:off x="2163100" y="3692050"/>
            <a:ext cx="4849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Conversion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 segment in a scene is defined by the coordinate positions of the line end-points</a:t>
            </a:r>
            <a:endParaRPr/>
          </a:p>
        </p:txBody>
      </p:sp>
      <p:grpSp>
        <p:nvGrpSpPr>
          <p:cNvPr id="171" name="Google Shape;171;p26"/>
          <p:cNvGrpSpPr/>
          <p:nvPr/>
        </p:nvGrpSpPr>
        <p:grpSpPr>
          <a:xfrm>
            <a:off x="2601913" y="1991916"/>
            <a:ext cx="3795712" cy="2725341"/>
            <a:chOff x="1499" y="1653"/>
            <a:chExt cx="2391" cy="2289"/>
          </a:xfrm>
        </p:grpSpPr>
        <p:cxnSp>
          <p:nvCxnSpPr>
            <p:cNvPr id="172" name="Google Shape;172;p26"/>
            <p:cNvCxnSpPr/>
            <p:nvPr/>
          </p:nvCxnSpPr>
          <p:spPr>
            <a:xfrm rot="10800000">
              <a:off x="1727" y="1653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" name="Google Shape;173;p26"/>
            <p:cNvCxnSpPr/>
            <p:nvPr/>
          </p:nvCxnSpPr>
          <p:spPr>
            <a:xfrm rot="10800000">
              <a:off x="2707" y="2623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26"/>
            <p:cNvSpPr txBox="1"/>
            <p:nvPr/>
          </p:nvSpPr>
          <p:spPr>
            <a:xfrm>
              <a:off x="3590" y="36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26"/>
            <p:cNvSpPr txBox="1"/>
            <p:nvPr/>
          </p:nvSpPr>
          <p:spPr>
            <a:xfrm>
              <a:off x="1499" y="166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76" name="Google Shape;176;p26"/>
          <p:cNvCxnSpPr/>
          <p:nvPr/>
        </p:nvCxnSpPr>
        <p:spPr>
          <a:xfrm flipH="1" rot="10800000">
            <a:off x="3738563" y="2914772"/>
            <a:ext cx="1906500" cy="9369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77" name="Google Shape;177;p26"/>
          <p:cNvSpPr txBox="1"/>
          <p:nvPr/>
        </p:nvSpPr>
        <p:spPr>
          <a:xfrm>
            <a:off x="3214706" y="386715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(2, 2)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5611831" y="262415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(7, 5)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628650" y="273848"/>
            <a:ext cx="7886700" cy="5679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The Problem Of Scan Conversion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466725" y="1328125"/>
            <a:ext cx="822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happens when we try to draw this on a pixel based display?</a:t>
            </a:r>
            <a:endParaRPr/>
          </a:p>
        </p:txBody>
      </p:sp>
      <p:cxnSp>
        <p:nvCxnSpPr>
          <p:cNvPr id="186" name="Google Shape;186;p27"/>
          <p:cNvCxnSpPr/>
          <p:nvPr/>
        </p:nvCxnSpPr>
        <p:spPr>
          <a:xfrm rot="10800000">
            <a:off x="3351213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7"/>
          <p:cNvCxnSpPr/>
          <p:nvPr/>
        </p:nvCxnSpPr>
        <p:spPr>
          <a:xfrm rot="10800000">
            <a:off x="3736975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7"/>
          <p:cNvCxnSpPr/>
          <p:nvPr/>
        </p:nvCxnSpPr>
        <p:spPr>
          <a:xfrm rot="10800000">
            <a:off x="4121150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7"/>
          <p:cNvCxnSpPr/>
          <p:nvPr/>
        </p:nvCxnSpPr>
        <p:spPr>
          <a:xfrm rot="10800000">
            <a:off x="4500563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7"/>
          <p:cNvCxnSpPr/>
          <p:nvPr/>
        </p:nvCxnSpPr>
        <p:spPr>
          <a:xfrm rot="10800000">
            <a:off x="4884738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7"/>
          <p:cNvCxnSpPr/>
          <p:nvPr/>
        </p:nvCxnSpPr>
        <p:spPr>
          <a:xfrm rot="10800000">
            <a:off x="5264150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7"/>
          <p:cNvCxnSpPr/>
          <p:nvPr/>
        </p:nvCxnSpPr>
        <p:spPr>
          <a:xfrm rot="10800000">
            <a:off x="5648325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/>
          <p:nvPr/>
        </p:nvCxnSpPr>
        <p:spPr>
          <a:xfrm rot="10800000">
            <a:off x="6027738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7"/>
          <p:cNvCxnSpPr/>
          <p:nvPr/>
        </p:nvCxnSpPr>
        <p:spPr>
          <a:xfrm rot="10800000">
            <a:off x="4499700" y="309235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7"/>
          <p:cNvCxnSpPr/>
          <p:nvPr/>
        </p:nvCxnSpPr>
        <p:spPr>
          <a:xfrm rot="10800000">
            <a:off x="4499700" y="598556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/>
          <p:nvPr/>
        </p:nvCxnSpPr>
        <p:spPr>
          <a:xfrm rot="10800000">
            <a:off x="4499700" y="88668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7"/>
          <p:cNvCxnSpPr/>
          <p:nvPr/>
        </p:nvCxnSpPr>
        <p:spPr>
          <a:xfrm rot="10800000">
            <a:off x="4499700" y="1171247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7"/>
          <p:cNvCxnSpPr/>
          <p:nvPr/>
        </p:nvCxnSpPr>
        <p:spPr>
          <a:xfrm rot="10800000">
            <a:off x="4499700" y="145937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7"/>
          <p:cNvCxnSpPr/>
          <p:nvPr/>
        </p:nvCxnSpPr>
        <p:spPr>
          <a:xfrm rot="10800000">
            <a:off x="4499700" y="174393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7"/>
          <p:cNvCxnSpPr/>
          <p:nvPr/>
        </p:nvCxnSpPr>
        <p:spPr>
          <a:xfrm rot="10800000">
            <a:off x="4499700" y="203206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7"/>
          <p:cNvCxnSpPr/>
          <p:nvPr/>
        </p:nvCxnSpPr>
        <p:spPr>
          <a:xfrm rot="10800000">
            <a:off x="4499700" y="231662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7"/>
          <p:cNvSpPr/>
          <p:nvPr/>
        </p:nvSpPr>
        <p:spPr>
          <a:xfrm>
            <a:off x="3559175" y="343733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957638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5854700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3176588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4324350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4722813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5105400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5487988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3567113" y="315277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3965575" y="315277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5862638" y="315277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3184525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4332288" y="315277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4730750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113338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495925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3562350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960813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5857875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3179763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4327525" y="286821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4725988" y="286702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108575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491163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3570288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3968750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5865813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3187700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4335463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733925" y="258246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5116513" y="258246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5499100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3582988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3981450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878513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3200400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4348163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4746625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5129213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5511800" y="2282429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3590925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3989388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5886450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3208338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356100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4754563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5137150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5519738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551238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3949700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5846763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3168650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4316413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4714875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5097463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480050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3559175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3957638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5854700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3176588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4324350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4722813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5105400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5487988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457200" y="4477941"/>
            <a:ext cx="8229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choose which pixels to turn on?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7"/>
          <p:cNvCxnSpPr/>
          <p:nvPr/>
        </p:nvCxnSpPr>
        <p:spPr>
          <a:xfrm rot="10800000">
            <a:off x="2973388" y="1875169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7"/>
          <p:cNvSpPr/>
          <p:nvPr/>
        </p:nvSpPr>
        <p:spPr>
          <a:xfrm>
            <a:off x="2798763" y="34278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2806700" y="31432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2801938" y="285869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2809875" y="25741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2822575" y="227409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2830513" y="19895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2790825" y="40040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2798763" y="3719513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27"/>
          <p:cNvCxnSpPr/>
          <p:nvPr/>
        </p:nvCxnSpPr>
        <p:spPr>
          <a:xfrm flipH="1" rot="10800000">
            <a:off x="3721100" y="2451506"/>
            <a:ext cx="1879500" cy="11037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77" name="Google Shape;27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</a:t>
            </a:r>
            <a:endParaRPr/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 to keep in mind: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The line has to look good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Avoid </a:t>
            </a:r>
            <a:r>
              <a:rPr i="1" lang="en"/>
              <a:t>jaggies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It has to be lightening fast!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How many lines need to be drawn in a typical scene?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This is going to come back to bite us again and again</a:t>
            </a:r>
            <a:endParaRPr/>
          </a:p>
        </p:txBody>
      </p:sp>
      <p:sp>
        <p:nvSpPr>
          <p:cNvPr id="284" name="Google Shape;2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Equations</a:t>
            </a:r>
            <a:endParaRPr/>
          </a:p>
        </p:txBody>
      </p:sp>
      <p:sp>
        <p:nvSpPr>
          <p:cNvPr id="290" name="Google Shape;290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quickly review the equations involved in drawing lines</a:t>
            </a:r>
            <a:endParaRPr/>
          </a:p>
        </p:txBody>
      </p:sp>
      <p:grpSp>
        <p:nvGrpSpPr>
          <p:cNvPr id="291" name="Google Shape;291;p29"/>
          <p:cNvGrpSpPr/>
          <p:nvPr/>
        </p:nvGrpSpPr>
        <p:grpSpPr>
          <a:xfrm>
            <a:off x="530225" y="1938338"/>
            <a:ext cx="4138613" cy="2812256"/>
            <a:chOff x="484" y="1598"/>
            <a:chExt cx="2607" cy="2362"/>
          </a:xfrm>
        </p:grpSpPr>
        <p:grpSp>
          <p:nvGrpSpPr>
            <p:cNvPr id="292" name="Google Shape;292;p29"/>
            <p:cNvGrpSpPr/>
            <p:nvPr/>
          </p:nvGrpSpPr>
          <p:grpSpPr>
            <a:xfrm>
              <a:off x="700" y="1598"/>
              <a:ext cx="2391" cy="2289"/>
              <a:chOff x="1499" y="1653"/>
              <a:chExt cx="2391" cy="2289"/>
            </a:xfrm>
          </p:grpSpPr>
          <p:cxnSp>
            <p:nvCxnSpPr>
              <p:cNvPr id="293" name="Google Shape;293;p29"/>
              <p:cNvCxnSpPr/>
              <p:nvPr/>
            </p:nvCxnSpPr>
            <p:spPr>
              <a:xfrm rot="10800000">
                <a:off x="1727" y="165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4" name="Google Shape;294;p29"/>
              <p:cNvCxnSpPr/>
              <p:nvPr/>
            </p:nvCxnSpPr>
            <p:spPr>
              <a:xfrm rot="10800000">
                <a:off x="2707" y="262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95" name="Google Shape;295;p29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p29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7" name="Google Shape;297;p29"/>
            <p:cNvCxnSpPr/>
            <p:nvPr/>
          </p:nvCxnSpPr>
          <p:spPr>
            <a:xfrm>
              <a:off x="800" y="3149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9"/>
            <p:cNvCxnSpPr/>
            <p:nvPr/>
          </p:nvCxnSpPr>
          <p:spPr>
            <a:xfrm>
              <a:off x="800" y="2371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9"/>
            <p:cNvCxnSpPr/>
            <p:nvPr/>
          </p:nvCxnSpPr>
          <p:spPr>
            <a:xfrm rot="5400000">
              <a:off x="670" y="3025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29"/>
            <p:cNvCxnSpPr/>
            <p:nvPr/>
          </p:nvCxnSpPr>
          <p:spPr>
            <a:xfrm rot="5400000">
              <a:off x="1871" y="3007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01" name="Google Shape;301;p29"/>
            <p:cNvSpPr txBox="1"/>
            <p:nvPr/>
          </p:nvSpPr>
          <p:spPr>
            <a:xfrm>
              <a:off x="558" y="29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29"/>
            <p:cNvSpPr txBox="1"/>
            <p:nvPr/>
          </p:nvSpPr>
          <p:spPr>
            <a:xfrm>
              <a:off x="484" y="22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29"/>
            <p:cNvSpPr txBox="1"/>
            <p:nvPr/>
          </p:nvSpPr>
          <p:spPr>
            <a:xfrm>
              <a:off x="2424" y="365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29"/>
            <p:cNvSpPr txBox="1"/>
            <p:nvPr/>
          </p:nvSpPr>
          <p:spPr>
            <a:xfrm>
              <a:off x="1306" y="366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5" name="Google Shape;305;p29"/>
            <p:cNvCxnSpPr/>
            <p:nvPr/>
          </p:nvCxnSpPr>
          <p:spPr>
            <a:xfrm flipH="1" rot="10800000">
              <a:off x="1416" y="2260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306" name="Google Shape;306;p29"/>
          <p:cNvSpPr/>
          <p:nvPr/>
        </p:nvSpPr>
        <p:spPr>
          <a:xfrm>
            <a:off x="4643438" y="1801416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125" y="2587229"/>
            <a:ext cx="1727599" cy="4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4643438" y="3003947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613" y="3342085"/>
            <a:ext cx="1699022" cy="978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5750" y="4345781"/>
            <a:ext cx="1958580" cy="51792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625" y="3342085"/>
            <a:ext cx="2563416" cy="89296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Equations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quickly review the equations involved in drawing lines</a:t>
            </a:r>
            <a:endParaRPr/>
          </a:p>
        </p:txBody>
      </p:sp>
      <p:grpSp>
        <p:nvGrpSpPr>
          <p:cNvPr id="319" name="Google Shape;319;p30"/>
          <p:cNvGrpSpPr/>
          <p:nvPr/>
        </p:nvGrpSpPr>
        <p:grpSpPr>
          <a:xfrm>
            <a:off x="647700" y="1938338"/>
            <a:ext cx="4021138" cy="2812256"/>
            <a:chOff x="558" y="1598"/>
            <a:chExt cx="2533" cy="2362"/>
          </a:xfrm>
        </p:grpSpPr>
        <p:grpSp>
          <p:nvGrpSpPr>
            <p:cNvPr id="320" name="Google Shape;320;p30"/>
            <p:cNvGrpSpPr/>
            <p:nvPr/>
          </p:nvGrpSpPr>
          <p:grpSpPr>
            <a:xfrm>
              <a:off x="700" y="1598"/>
              <a:ext cx="2391" cy="2289"/>
              <a:chOff x="1499" y="1653"/>
              <a:chExt cx="2391" cy="2289"/>
            </a:xfrm>
          </p:grpSpPr>
          <p:cxnSp>
            <p:nvCxnSpPr>
              <p:cNvPr id="321" name="Google Shape;321;p30"/>
              <p:cNvCxnSpPr/>
              <p:nvPr/>
            </p:nvCxnSpPr>
            <p:spPr>
              <a:xfrm rot="10800000">
                <a:off x="1727" y="165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22" name="Google Shape;322;p30"/>
              <p:cNvCxnSpPr/>
              <p:nvPr/>
            </p:nvCxnSpPr>
            <p:spPr>
              <a:xfrm rot="10800000">
                <a:off x="2707" y="262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23" name="Google Shape;323;p30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p30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25" name="Google Shape;325;p30"/>
            <p:cNvCxnSpPr/>
            <p:nvPr/>
          </p:nvCxnSpPr>
          <p:spPr>
            <a:xfrm>
              <a:off x="800" y="3149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30"/>
            <p:cNvCxnSpPr/>
            <p:nvPr/>
          </p:nvCxnSpPr>
          <p:spPr>
            <a:xfrm>
              <a:off x="800" y="2371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30"/>
            <p:cNvCxnSpPr/>
            <p:nvPr/>
          </p:nvCxnSpPr>
          <p:spPr>
            <a:xfrm rot="5400000">
              <a:off x="670" y="3025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30"/>
            <p:cNvCxnSpPr/>
            <p:nvPr/>
          </p:nvCxnSpPr>
          <p:spPr>
            <a:xfrm rot="5400000">
              <a:off x="1871" y="3007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29" name="Google Shape;329;p30"/>
            <p:cNvSpPr txBox="1"/>
            <p:nvPr/>
          </p:nvSpPr>
          <p:spPr>
            <a:xfrm>
              <a:off x="558" y="29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30"/>
            <p:cNvSpPr txBox="1"/>
            <p:nvPr/>
          </p:nvSpPr>
          <p:spPr>
            <a:xfrm>
              <a:off x="1306" y="366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1" name="Google Shape;331;p30"/>
            <p:cNvCxnSpPr/>
            <p:nvPr/>
          </p:nvCxnSpPr>
          <p:spPr>
            <a:xfrm flipH="1" rot="10800000">
              <a:off x="1416" y="2260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332" name="Google Shape;332;p30"/>
          <p:cNvSpPr/>
          <p:nvPr/>
        </p:nvSpPr>
        <p:spPr>
          <a:xfrm>
            <a:off x="4643438" y="1801416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125" y="2587229"/>
            <a:ext cx="1727599" cy="4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/>
          <p:nvPr/>
        </p:nvSpPr>
        <p:spPr>
          <a:xfrm>
            <a:off x="4643438" y="3003947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1235075" y="3784997"/>
            <a:ext cx="9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(3, 2)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4011613" y="2540794"/>
            <a:ext cx="9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(9, 6)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530225" y="2697956"/>
            <a:ext cx="42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3609975" y="4389835"/>
            <a:ext cx="4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5254625" y="4367175"/>
            <a:ext cx="357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2 - (⅔).3 = 2 - 2 = 0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</a:t>
            </a:r>
            <a:endParaRPr/>
          </a:p>
        </p:txBody>
      </p:sp>
      <p:sp>
        <p:nvSpPr>
          <p:cNvPr id="346" name="Google Shape;346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could simply work out the corresponding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 for each unit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Let’s consider the following example:</a:t>
            </a:r>
            <a:endParaRPr/>
          </a:p>
        </p:txBody>
      </p:sp>
      <p:grpSp>
        <p:nvGrpSpPr>
          <p:cNvPr id="347" name="Google Shape;347;p31"/>
          <p:cNvGrpSpPr/>
          <p:nvPr/>
        </p:nvGrpSpPr>
        <p:grpSpPr>
          <a:xfrm>
            <a:off x="2551113" y="2318147"/>
            <a:ext cx="4087812" cy="2812256"/>
            <a:chOff x="1607" y="1947"/>
            <a:chExt cx="2575" cy="2362"/>
          </a:xfrm>
        </p:grpSpPr>
        <p:grpSp>
          <p:nvGrpSpPr>
            <p:cNvPr id="348" name="Google Shape;348;p31"/>
            <p:cNvGrpSpPr/>
            <p:nvPr/>
          </p:nvGrpSpPr>
          <p:grpSpPr>
            <a:xfrm>
              <a:off x="1664" y="1947"/>
              <a:ext cx="2391" cy="2289"/>
              <a:chOff x="1499" y="1653"/>
              <a:chExt cx="2391" cy="2289"/>
            </a:xfrm>
          </p:grpSpPr>
          <p:cxnSp>
            <p:nvCxnSpPr>
              <p:cNvPr id="349" name="Google Shape;349;p31"/>
              <p:cNvCxnSpPr/>
              <p:nvPr/>
            </p:nvCxnSpPr>
            <p:spPr>
              <a:xfrm rot="10800000">
                <a:off x="1727" y="165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50" name="Google Shape;350;p31"/>
              <p:cNvCxnSpPr/>
              <p:nvPr/>
            </p:nvCxnSpPr>
            <p:spPr>
              <a:xfrm rot="10800000">
                <a:off x="2707" y="262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51" name="Google Shape;351;p31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p31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53" name="Google Shape;353;p31"/>
            <p:cNvCxnSpPr/>
            <p:nvPr/>
          </p:nvCxnSpPr>
          <p:spPr>
            <a:xfrm>
              <a:off x="1764" y="349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1"/>
            <p:cNvCxnSpPr/>
            <p:nvPr/>
          </p:nvCxnSpPr>
          <p:spPr>
            <a:xfrm>
              <a:off x="1764" y="2720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1"/>
            <p:cNvCxnSpPr/>
            <p:nvPr/>
          </p:nvCxnSpPr>
          <p:spPr>
            <a:xfrm rot="5400000">
              <a:off x="1634" y="3356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1"/>
            <p:cNvCxnSpPr/>
            <p:nvPr/>
          </p:nvCxnSpPr>
          <p:spPr>
            <a:xfrm rot="5400000">
              <a:off x="2835" y="3356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31"/>
            <p:cNvCxnSpPr/>
            <p:nvPr/>
          </p:nvCxnSpPr>
          <p:spPr>
            <a:xfrm flipH="1" rot="10800000">
              <a:off x="2380" y="2609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58" name="Google Shape;358;p31"/>
            <p:cNvSpPr txBox="1"/>
            <p:nvPr/>
          </p:nvSpPr>
          <p:spPr>
            <a:xfrm>
              <a:off x="1987" y="349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 txBox="1"/>
            <p:nvPr/>
          </p:nvSpPr>
          <p:spPr>
            <a:xfrm>
              <a:off x="3582" y="247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 txBox="1"/>
            <p:nvPr/>
          </p:nvSpPr>
          <p:spPr>
            <a:xfrm>
              <a:off x="2295" y="4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1"/>
            <p:cNvSpPr txBox="1"/>
            <p:nvPr/>
          </p:nvSpPr>
          <p:spPr>
            <a:xfrm>
              <a:off x="3492" y="4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1"/>
            <p:cNvSpPr txBox="1"/>
            <p:nvPr/>
          </p:nvSpPr>
          <p:spPr>
            <a:xfrm>
              <a:off x="1607" y="338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 txBox="1"/>
            <p:nvPr/>
          </p:nvSpPr>
          <p:spPr>
            <a:xfrm>
              <a:off x="1616" y="26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p32"/>
          <p:cNvCxnSpPr/>
          <p:nvPr/>
        </p:nvCxnSpPr>
        <p:spPr>
          <a:xfrm>
            <a:off x="4578313" y="-18934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2"/>
          <p:cNvCxnSpPr/>
          <p:nvPr/>
        </p:nvCxnSpPr>
        <p:spPr>
          <a:xfrm>
            <a:off x="4578313" y="40715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2"/>
          <p:cNvCxnSpPr/>
          <p:nvPr/>
        </p:nvCxnSpPr>
        <p:spPr>
          <a:xfrm>
            <a:off x="4578313" y="1001278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2"/>
          <p:cNvCxnSpPr/>
          <p:nvPr/>
        </p:nvCxnSpPr>
        <p:spPr>
          <a:xfrm>
            <a:off x="4714138" y="-7326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2"/>
          <p:cNvCxnSpPr/>
          <p:nvPr/>
        </p:nvCxnSpPr>
        <p:spPr>
          <a:xfrm>
            <a:off x="1687513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2"/>
          <p:cNvCxnSpPr/>
          <p:nvPr/>
        </p:nvCxnSpPr>
        <p:spPr>
          <a:xfrm>
            <a:off x="2482850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2"/>
          <p:cNvCxnSpPr/>
          <p:nvPr/>
        </p:nvCxnSpPr>
        <p:spPr>
          <a:xfrm>
            <a:off x="32781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2"/>
          <p:cNvCxnSpPr/>
          <p:nvPr/>
        </p:nvCxnSpPr>
        <p:spPr>
          <a:xfrm>
            <a:off x="40703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2"/>
          <p:cNvCxnSpPr/>
          <p:nvPr/>
        </p:nvCxnSpPr>
        <p:spPr>
          <a:xfrm>
            <a:off x="48958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2"/>
          <p:cNvCxnSpPr/>
          <p:nvPr/>
        </p:nvCxnSpPr>
        <p:spPr>
          <a:xfrm>
            <a:off x="5691188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2"/>
          <p:cNvCxnSpPr/>
          <p:nvPr/>
        </p:nvCxnSpPr>
        <p:spPr>
          <a:xfrm>
            <a:off x="6486525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2"/>
          <p:cNvCxnSpPr/>
          <p:nvPr/>
        </p:nvCxnSpPr>
        <p:spPr>
          <a:xfrm>
            <a:off x="72786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2"/>
          <p:cNvSpPr txBox="1"/>
          <p:nvPr>
            <p:ph type="title"/>
          </p:nvPr>
        </p:nvSpPr>
        <p:spPr>
          <a:xfrm>
            <a:off x="628650" y="179919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sp>
        <p:nvSpPr>
          <p:cNvPr id="382" name="Google Shape;382;p32"/>
          <p:cNvSpPr/>
          <p:nvPr/>
        </p:nvSpPr>
        <p:spPr>
          <a:xfrm>
            <a:off x="1552575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3948113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2351088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3149600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1555750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3951288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2354263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3152775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1554163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3949700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352675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3151188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1560513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3956050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2359025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3157538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4760913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7156450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5559425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6357938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764088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7159625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5562600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6361113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4762500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7158038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5561013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6359525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4768850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7164388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5567363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6365875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2"/>
          <p:cNvCxnSpPr/>
          <p:nvPr/>
        </p:nvCxnSpPr>
        <p:spPr>
          <a:xfrm>
            <a:off x="4578313" y="-13775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2"/>
          <p:cNvCxnSpPr/>
          <p:nvPr/>
        </p:nvCxnSpPr>
        <p:spPr>
          <a:xfrm>
            <a:off x="4578313" y="-1975284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2"/>
          <p:cNvSpPr/>
          <p:nvPr/>
        </p:nvSpPr>
        <p:spPr>
          <a:xfrm>
            <a:off x="1550988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3946525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2349500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3148013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1558925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954463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2357438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3155950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759325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7154863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5557838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6356350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4767263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7162800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5565775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6364288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2"/>
          <p:cNvSpPr txBox="1"/>
          <p:nvPr/>
        </p:nvSpPr>
        <p:spPr>
          <a:xfrm>
            <a:off x="911225" y="365641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2"/>
          <p:cNvSpPr txBox="1"/>
          <p:nvPr/>
        </p:nvSpPr>
        <p:spPr>
          <a:xfrm>
            <a:off x="911225" y="306347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2"/>
          <p:cNvSpPr txBox="1"/>
          <p:nvPr/>
        </p:nvSpPr>
        <p:spPr>
          <a:xfrm>
            <a:off x="911225" y="246578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911225" y="1868091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911225" y="128111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2"/>
          <p:cNvSpPr txBox="1"/>
          <p:nvPr/>
        </p:nvSpPr>
        <p:spPr>
          <a:xfrm>
            <a:off x="911225" y="42481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2"/>
          <p:cNvSpPr txBox="1"/>
          <p:nvPr/>
        </p:nvSpPr>
        <p:spPr>
          <a:xfrm>
            <a:off x="23288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31226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39052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4738688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5534025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63309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15351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71167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grpSp>
        <p:nvGrpSpPr>
          <p:cNvPr id="452" name="Google Shape;452;p33"/>
          <p:cNvGrpSpPr/>
          <p:nvPr/>
        </p:nvGrpSpPr>
        <p:grpSpPr>
          <a:xfrm>
            <a:off x="391725" y="1268049"/>
            <a:ext cx="4087800" cy="2177650"/>
            <a:chOff x="129" y="992"/>
            <a:chExt cx="2575" cy="1949"/>
          </a:xfrm>
        </p:grpSpPr>
        <p:cxnSp>
          <p:nvCxnSpPr>
            <p:cNvPr id="453" name="Google Shape;453;p33"/>
            <p:cNvCxnSpPr/>
            <p:nvPr/>
          </p:nvCxnSpPr>
          <p:spPr>
            <a:xfrm>
              <a:off x="286" y="197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33"/>
            <p:cNvCxnSpPr/>
            <p:nvPr/>
          </p:nvCxnSpPr>
          <p:spPr>
            <a:xfrm>
              <a:off x="286" y="1815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33"/>
            <p:cNvCxnSpPr/>
            <p:nvPr/>
          </p:nvCxnSpPr>
          <p:spPr>
            <a:xfrm>
              <a:off x="286" y="1661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33"/>
            <p:cNvCxnSpPr/>
            <p:nvPr/>
          </p:nvCxnSpPr>
          <p:spPr>
            <a:xfrm>
              <a:off x="286" y="1517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33"/>
            <p:cNvCxnSpPr/>
            <p:nvPr/>
          </p:nvCxnSpPr>
          <p:spPr>
            <a:xfrm rot="10800000">
              <a:off x="414" y="1179"/>
              <a:ext cx="0" cy="1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8" name="Google Shape;458;p33"/>
            <p:cNvCxnSpPr/>
            <p:nvPr/>
          </p:nvCxnSpPr>
          <p:spPr>
            <a:xfrm rot="10800000">
              <a:off x="1394" y="1549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9" name="Google Shape;459;p33"/>
            <p:cNvSpPr txBox="1"/>
            <p:nvPr/>
          </p:nvSpPr>
          <p:spPr>
            <a:xfrm>
              <a:off x="2277" y="256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" name="Google Shape;460;p33"/>
            <p:cNvSpPr txBox="1"/>
            <p:nvPr/>
          </p:nvSpPr>
          <p:spPr>
            <a:xfrm>
              <a:off x="206" y="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1" name="Google Shape;461;p33"/>
            <p:cNvCxnSpPr/>
            <p:nvPr/>
          </p:nvCxnSpPr>
          <p:spPr>
            <a:xfrm>
              <a:off x="286" y="2130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33"/>
            <p:cNvCxnSpPr/>
            <p:nvPr/>
          </p:nvCxnSpPr>
          <p:spPr>
            <a:xfrm>
              <a:off x="286" y="135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33"/>
            <p:cNvCxnSpPr/>
            <p:nvPr/>
          </p:nvCxnSpPr>
          <p:spPr>
            <a:xfrm rot="5400000">
              <a:off x="156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33"/>
            <p:cNvCxnSpPr/>
            <p:nvPr/>
          </p:nvCxnSpPr>
          <p:spPr>
            <a:xfrm rot="5400000">
              <a:off x="135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33"/>
            <p:cNvCxnSpPr/>
            <p:nvPr/>
          </p:nvCxnSpPr>
          <p:spPr>
            <a:xfrm flipH="1" rot="10800000">
              <a:off x="902" y="1241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66" name="Google Shape;466;p33"/>
            <p:cNvSpPr txBox="1"/>
            <p:nvPr/>
          </p:nvSpPr>
          <p:spPr>
            <a:xfrm>
              <a:off x="509" y="212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3"/>
            <p:cNvSpPr txBox="1"/>
            <p:nvPr/>
          </p:nvSpPr>
          <p:spPr>
            <a:xfrm>
              <a:off x="2104" y="111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" name="Google Shape;468;p33"/>
            <p:cNvCxnSpPr/>
            <p:nvPr/>
          </p:nvCxnSpPr>
          <p:spPr>
            <a:xfrm rot="5400000">
              <a:off x="39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33"/>
            <p:cNvCxnSpPr/>
            <p:nvPr/>
          </p:nvCxnSpPr>
          <p:spPr>
            <a:xfrm rot="5400000">
              <a:off x="111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33"/>
            <p:cNvCxnSpPr/>
            <p:nvPr/>
          </p:nvCxnSpPr>
          <p:spPr>
            <a:xfrm rot="5400000">
              <a:off x="63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33"/>
            <p:cNvCxnSpPr/>
            <p:nvPr/>
          </p:nvCxnSpPr>
          <p:spPr>
            <a:xfrm rot="5400000">
              <a:off x="87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472" name="Google Shape;472;p33"/>
            <p:cNvSpPr txBox="1"/>
            <p:nvPr/>
          </p:nvSpPr>
          <p:spPr>
            <a:xfrm>
              <a:off x="817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3"/>
            <p:cNvSpPr txBox="1"/>
            <p:nvPr/>
          </p:nvSpPr>
          <p:spPr>
            <a:xfrm>
              <a:off x="1056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3"/>
            <p:cNvSpPr txBox="1"/>
            <p:nvPr/>
          </p:nvSpPr>
          <p:spPr>
            <a:xfrm>
              <a:off x="1295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3"/>
            <p:cNvSpPr txBox="1"/>
            <p:nvPr/>
          </p:nvSpPr>
          <p:spPr>
            <a:xfrm>
              <a:off x="1535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3"/>
            <p:cNvSpPr txBox="1"/>
            <p:nvPr/>
          </p:nvSpPr>
          <p:spPr>
            <a:xfrm>
              <a:off x="1774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3"/>
            <p:cNvSpPr txBox="1"/>
            <p:nvPr/>
          </p:nvSpPr>
          <p:spPr>
            <a:xfrm>
              <a:off x="2014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1105" y="1937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1346" y="1785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1587" y="1631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1827" y="1478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3"/>
            <p:cNvSpPr txBox="1"/>
            <p:nvPr/>
          </p:nvSpPr>
          <p:spPr>
            <a:xfrm>
              <a:off x="129" y="201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3"/>
            <p:cNvSpPr txBox="1"/>
            <p:nvPr/>
          </p:nvSpPr>
          <p:spPr>
            <a:xfrm>
              <a:off x="138" y="12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4" name="Google Shape;4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463" y="1557338"/>
            <a:ext cx="1696639" cy="77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3063" y="2395538"/>
            <a:ext cx="1996680" cy="77390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3"/>
          <p:cNvSpPr txBox="1"/>
          <p:nvPr>
            <p:ph idx="1" type="body"/>
          </p:nvPr>
        </p:nvSpPr>
        <p:spPr>
          <a:xfrm>
            <a:off x="4407263" y="1214388"/>
            <a:ext cx="42513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work out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/>
              <a:t> and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/>
              <a:t>:</a:t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272250" y="3281178"/>
            <a:ext cx="85995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for each </a:t>
            </a:r>
            <a:r>
              <a:rPr b="0" i="1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work out the </a:t>
            </a:r>
            <a:r>
              <a:rPr b="0" i="1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6825" y="3668316"/>
            <a:ext cx="231695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1375" y="3658791"/>
            <a:ext cx="2340767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5238" y="4436269"/>
            <a:ext cx="2340767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5" y="4395788"/>
            <a:ext cx="2363391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sp>
        <p:nvSpPr>
          <p:cNvPr id="498" name="Google Shape;498;p34"/>
          <p:cNvSpPr txBox="1"/>
          <p:nvPr>
            <p:ph idx="1" type="body"/>
          </p:nvPr>
        </p:nvSpPr>
        <p:spPr>
          <a:xfrm>
            <a:off x="628650" y="1268050"/>
            <a:ext cx="7886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just round off the results and turn on these pixels to draw </a:t>
            </a:r>
            <a:br>
              <a:rPr lang="en"/>
            </a:br>
            <a:r>
              <a:rPr lang="en"/>
              <a:t>our line</a:t>
            </a:r>
            <a:endParaRPr/>
          </a:p>
        </p:txBody>
      </p:sp>
      <p:cxnSp>
        <p:nvCxnSpPr>
          <p:cNvPr id="499" name="Google Shape;499;p34"/>
          <p:cNvCxnSpPr/>
          <p:nvPr/>
        </p:nvCxnSpPr>
        <p:spPr>
          <a:xfrm rot="10800000">
            <a:off x="1612900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4"/>
          <p:cNvCxnSpPr/>
          <p:nvPr/>
        </p:nvCxnSpPr>
        <p:spPr>
          <a:xfrm rot="10800000">
            <a:off x="1998663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4"/>
          <p:cNvCxnSpPr/>
          <p:nvPr/>
        </p:nvCxnSpPr>
        <p:spPr>
          <a:xfrm rot="10800000">
            <a:off x="2382838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4"/>
          <p:cNvCxnSpPr/>
          <p:nvPr/>
        </p:nvCxnSpPr>
        <p:spPr>
          <a:xfrm rot="10800000">
            <a:off x="2762250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4"/>
          <p:cNvCxnSpPr/>
          <p:nvPr/>
        </p:nvCxnSpPr>
        <p:spPr>
          <a:xfrm rot="10800000">
            <a:off x="3146425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4"/>
          <p:cNvCxnSpPr/>
          <p:nvPr/>
        </p:nvCxnSpPr>
        <p:spPr>
          <a:xfrm rot="10800000">
            <a:off x="3525838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4"/>
          <p:cNvCxnSpPr/>
          <p:nvPr/>
        </p:nvCxnSpPr>
        <p:spPr>
          <a:xfrm rot="10800000">
            <a:off x="3910013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4"/>
          <p:cNvCxnSpPr/>
          <p:nvPr/>
        </p:nvCxnSpPr>
        <p:spPr>
          <a:xfrm rot="10800000">
            <a:off x="4289425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4"/>
          <p:cNvCxnSpPr/>
          <p:nvPr/>
        </p:nvCxnSpPr>
        <p:spPr>
          <a:xfrm rot="10800000">
            <a:off x="2761389" y="371147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4"/>
          <p:cNvCxnSpPr/>
          <p:nvPr/>
        </p:nvCxnSpPr>
        <p:spPr>
          <a:xfrm rot="10800000">
            <a:off x="2761389" y="66046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4"/>
          <p:cNvCxnSpPr/>
          <p:nvPr/>
        </p:nvCxnSpPr>
        <p:spPr>
          <a:xfrm rot="10800000">
            <a:off x="2761389" y="948600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4"/>
          <p:cNvCxnSpPr/>
          <p:nvPr/>
        </p:nvCxnSpPr>
        <p:spPr>
          <a:xfrm rot="10800000">
            <a:off x="2761389" y="123315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4"/>
          <p:cNvCxnSpPr/>
          <p:nvPr/>
        </p:nvCxnSpPr>
        <p:spPr>
          <a:xfrm rot="10800000">
            <a:off x="2761389" y="152129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4"/>
          <p:cNvCxnSpPr/>
          <p:nvPr/>
        </p:nvCxnSpPr>
        <p:spPr>
          <a:xfrm rot="10800000">
            <a:off x="2761389" y="1805850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4"/>
          <p:cNvCxnSpPr/>
          <p:nvPr/>
        </p:nvCxnSpPr>
        <p:spPr>
          <a:xfrm rot="10800000">
            <a:off x="2761389" y="209398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4"/>
          <p:cNvCxnSpPr/>
          <p:nvPr/>
        </p:nvCxnSpPr>
        <p:spPr>
          <a:xfrm rot="10800000">
            <a:off x="2761389" y="237854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34"/>
          <p:cNvSpPr/>
          <p:nvPr/>
        </p:nvSpPr>
        <p:spPr>
          <a:xfrm>
            <a:off x="1820863" y="3499247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4"/>
          <p:cNvSpPr/>
          <p:nvPr/>
        </p:nvSpPr>
        <p:spPr>
          <a:xfrm>
            <a:off x="2219325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4"/>
          <p:cNvSpPr/>
          <p:nvPr/>
        </p:nvSpPr>
        <p:spPr>
          <a:xfrm>
            <a:off x="4116388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1438275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2586038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2984500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3367088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3749675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1828800" y="321468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2227263" y="321468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4124325" y="321468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1446213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2593975" y="321468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2992438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4"/>
          <p:cNvSpPr/>
          <p:nvPr/>
        </p:nvSpPr>
        <p:spPr>
          <a:xfrm>
            <a:off x="3375025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3757613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4"/>
          <p:cNvSpPr/>
          <p:nvPr/>
        </p:nvSpPr>
        <p:spPr>
          <a:xfrm>
            <a:off x="1824038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4"/>
          <p:cNvSpPr/>
          <p:nvPr/>
        </p:nvSpPr>
        <p:spPr>
          <a:xfrm>
            <a:off x="2222500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4"/>
          <p:cNvSpPr/>
          <p:nvPr/>
        </p:nvSpPr>
        <p:spPr>
          <a:xfrm>
            <a:off x="4119563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4"/>
          <p:cNvSpPr/>
          <p:nvPr/>
        </p:nvSpPr>
        <p:spPr>
          <a:xfrm>
            <a:off x="1441450" y="29289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4"/>
          <p:cNvSpPr/>
          <p:nvPr/>
        </p:nvSpPr>
        <p:spPr>
          <a:xfrm>
            <a:off x="2589213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4"/>
          <p:cNvSpPr/>
          <p:nvPr/>
        </p:nvSpPr>
        <p:spPr>
          <a:xfrm>
            <a:off x="2987675" y="292893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4"/>
          <p:cNvSpPr/>
          <p:nvPr/>
        </p:nvSpPr>
        <p:spPr>
          <a:xfrm>
            <a:off x="3370263" y="292893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4"/>
          <p:cNvSpPr/>
          <p:nvPr/>
        </p:nvSpPr>
        <p:spPr>
          <a:xfrm>
            <a:off x="3752850" y="29289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4"/>
          <p:cNvSpPr/>
          <p:nvPr/>
        </p:nvSpPr>
        <p:spPr>
          <a:xfrm>
            <a:off x="1831975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4"/>
          <p:cNvSpPr/>
          <p:nvPr/>
        </p:nvSpPr>
        <p:spPr>
          <a:xfrm>
            <a:off x="2230438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4"/>
          <p:cNvSpPr/>
          <p:nvPr/>
        </p:nvSpPr>
        <p:spPr>
          <a:xfrm>
            <a:off x="4127500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4"/>
          <p:cNvSpPr/>
          <p:nvPr/>
        </p:nvSpPr>
        <p:spPr>
          <a:xfrm>
            <a:off x="1449388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2597150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4"/>
          <p:cNvSpPr/>
          <p:nvPr/>
        </p:nvSpPr>
        <p:spPr>
          <a:xfrm>
            <a:off x="2995613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4"/>
          <p:cNvSpPr/>
          <p:nvPr/>
        </p:nvSpPr>
        <p:spPr>
          <a:xfrm>
            <a:off x="3378200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4"/>
          <p:cNvSpPr/>
          <p:nvPr/>
        </p:nvSpPr>
        <p:spPr>
          <a:xfrm>
            <a:off x="3760788" y="2644379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4"/>
          <p:cNvSpPr/>
          <p:nvPr/>
        </p:nvSpPr>
        <p:spPr>
          <a:xfrm>
            <a:off x="1844675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2243138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4"/>
          <p:cNvSpPr/>
          <p:nvPr/>
        </p:nvSpPr>
        <p:spPr>
          <a:xfrm>
            <a:off x="4140200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1462088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2609850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3008313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3390900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3773488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1852613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2251075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4148138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1470025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2617788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3016250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3398838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3781425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1812925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2211388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4108450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1430338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2578100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2976563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3359150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4"/>
          <p:cNvSpPr/>
          <p:nvPr/>
        </p:nvSpPr>
        <p:spPr>
          <a:xfrm>
            <a:off x="3741738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4"/>
          <p:cNvSpPr/>
          <p:nvPr/>
        </p:nvSpPr>
        <p:spPr>
          <a:xfrm>
            <a:off x="1820863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4"/>
          <p:cNvSpPr/>
          <p:nvPr/>
        </p:nvSpPr>
        <p:spPr>
          <a:xfrm>
            <a:off x="2219325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4116388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1438275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2586038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4"/>
          <p:cNvSpPr/>
          <p:nvPr/>
        </p:nvSpPr>
        <p:spPr>
          <a:xfrm>
            <a:off x="2984500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3367088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4"/>
          <p:cNvSpPr/>
          <p:nvPr/>
        </p:nvSpPr>
        <p:spPr>
          <a:xfrm>
            <a:off x="3749675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34"/>
          <p:cNvCxnSpPr/>
          <p:nvPr/>
        </p:nvCxnSpPr>
        <p:spPr>
          <a:xfrm rot="10800000">
            <a:off x="1235075" y="1937081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34"/>
          <p:cNvSpPr/>
          <p:nvPr/>
        </p:nvSpPr>
        <p:spPr>
          <a:xfrm>
            <a:off x="1060450" y="348972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1068388" y="3205163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1063625" y="292060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4"/>
          <p:cNvSpPr/>
          <p:nvPr/>
        </p:nvSpPr>
        <p:spPr>
          <a:xfrm>
            <a:off x="1071563" y="26360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1084263" y="23360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1092200" y="20514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1052513" y="40659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1060450" y="37814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34"/>
          <p:cNvCxnSpPr/>
          <p:nvPr/>
        </p:nvCxnSpPr>
        <p:spPr>
          <a:xfrm flipH="1" rot="10800000">
            <a:off x="1985963" y="2760919"/>
            <a:ext cx="1938300" cy="8562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589" name="Google Shape;5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1829991"/>
            <a:ext cx="2225280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675" y="2541985"/>
            <a:ext cx="220146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3252788"/>
            <a:ext cx="2225280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3963591"/>
            <a:ext cx="2249090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4"/>
          <p:cNvSpPr txBox="1"/>
          <p:nvPr/>
        </p:nvSpPr>
        <p:spPr>
          <a:xfrm>
            <a:off x="108267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146367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 txBox="1"/>
          <p:nvPr/>
        </p:nvSpPr>
        <p:spPr>
          <a:xfrm>
            <a:off x="1846263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2228850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/>
          <p:cNvSpPr txBox="1"/>
          <p:nvPr/>
        </p:nvSpPr>
        <p:spPr>
          <a:xfrm>
            <a:off x="2611438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4"/>
          <p:cNvSpPr txBox="1"/>
          <p:nvPr/>
        </p:nvSpPr>
        <p:spPr>
          <a:xfrm>
            <a:off x="299402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4"/>
          <p:cNvSpPr txBox="1"/>
          <p:nvPr/>
        </p:nvSpPr>
        <p:spPr>
          <a:xfrm>
            <a:off x="3376613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/>
          <p:nvPr/>
        </p:nvSpPr>
        <p:spPr>
          <a:xfrm>
            <a:off x="3759200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"/>
          <p:cNvSpPr txBox="1"/>
          <p:nvPr/>
        </p:nvSpPr>
        <p:spPr>
          <a:xfrm>
            <a:off x="4141788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674688" y="406122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 txBox="1"/>
          <p:nvPr/>
        </p:nvSpPr>
        <p:spPr>
          <a:xfrm>
            <a:off x="674688" y="37695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 txBox="1"/>
          <p:nvPr/>
        </p:nvSpPr>
        <p:spPr>
          <a:xfrm>
            <a:off x="674688" y="347424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674688" y="320516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674688" y="290631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 txBox="1"/>
          <p:nvPr/>
        </p:nvSpPr>
        <p:spPr>
          <a:xfrm>
            <a:off x="674688" y="261937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/>
        </p:nvSpPr>
        <p:spPr>
          <a:xfrm>
            <a:off x="674688" y="233838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/>
        </p:nvSpPr>
        <p:spPr>
          <a:xfrm>
            <a:off x="674688" y="203358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2322513" y="3380185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1" name="Google Shape;611;p34"/>
          <p:cNvGraphicFramePr/>
          <p:nvPr/>
        </p:nvGraphicFramePr>
        <p:xfrm>
          <a:off x="7932388" y="1394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{BA7E8BC6-ECC4-4095-885B-AD9427E177C0}</a:tableStyleId>
              </a:tblPr>
              <a:tblGrid>
                <a:gridCol w="1108075"/>
              </a:tblGrid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Pixel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(3, 3)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(4,3)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(5,4)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(6,4)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</a:tbl>
          </a:graphicData>
        </a:graphic>
      </p:graphicFrame>
      <p:sp>
        <p:nvSpPr>
          <p:cNvPr id="612" name="Google Shape;612;p34"/>
          <p:cNvSpPr/>
          <p:nvPr/>
        </p:nvSpPr>
        <p:spPr>
          <a:xfrm>
            <a:off x="2678113" y="3232547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3078163" y="3042047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sp>
        <p:nvSpPr>
          <p:cNvPr id="620" name="Google Shape;620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this approach is just way too slow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In particular look out for: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The equation</a:t>
            </a:r>
            <a:r>
              <a:rPr lang="en" sz="700"/>
              <a:t> </a:t>
            </a:r>
            <a:r>
              <a:rPr i="1" lang="en" sz="2100">
                <a:latin typeface="Times New Roman"/>
                <a:ea typeface="Times New Roman"/>
                <a:cs typeface="Times New Roman"/>
                <a:sym typeface="Times New Roman"/>
              </a:rPr>
              <a:t>y = mx + b</a:t>
            </a:r>
            <a:r>
              <a:rPr lang="en"/>
              <a:t> requires the multiplication of </a:t>
            </a:r>
            <a:r>
              <a:rPr i="1" lang="en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/>
              <a:t> by </a:t>
            </a:r>
            <a:r>
              <a:rPr i="1" lang="en" sz="3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Rounding off the resulting </a:t>
            </a:r>
            <a:r>
              <a:rPr i="1" lang="en" sz="3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We need a faster solution</a:t>
            </a:r>
            <a:endParaRPr/>
          </a:p>
        </p:txBody>
      </p:sp>
      <p:sp>
        <p:nvSpPr>
          <p:cNvPr id="621" name="Google Shape;621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</a:t>
            </a:r>
            <a:endParaRPr/>
          </a:p>
        </p:txBody>
      </p:sp>
      <p:sp>
        <p:nvSpPr>
          <p:cNvPr id="627" name="Google Shape;627;p36"/>
          <p:cNvSpPr txBox="1"/>
          <p:nvPr>
            <p:ph idx="1" type="body"/>
          </p:nvPr>
        </p:nvSpPr>
        <p:spPr>
          <a:xfrm>
            <a:off x="574925" y="1561550"/>
            <a:ext cx="49212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i="1" lang="en"/>
              <a:t>digital differential analyzer</a:t>
            </a:r>
            <a:r>
              <a:rPr lang="en"/>
              <a:t> (DDA) algorithm takes an incremental approach in order to speed up scan conversion</a:t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"/>
              <a:t>Simply calculate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" sz="3600">
                <a:latin typeface="Times New Roman"/>
                <a:ea typeface="Times New Roman"/>
                <a:cs typeface="Times New Roman"/>
                <a:sym typeface="Times New Roman"/>
              </a:rPr>
              <a:t>k+1</a:t>
            </a:r>
            <a:r>
              <a:rPr lang="en"/>
              <a:t> based on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" sz="36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8" name="Google Shape;628;p36"/>
          <p:cNvPicPr preferRelativeResize="0"/>
          <p:nvPr/>
        </p:nvPicPr>
        <p:blipFill rotWithShape="1">
          <a:blip r:embed="rId3">
            <a:alphaModFix/>
          </a:blip>
          <a:srcRect b="20027" l="8101" r="18450" t="6347"/>
          <a:stretch/>
        </p:blipFill>
        <p:spPr>
          <a:xfrm>
            <a:off x="5863775" y="1319116"/>
            <a:ext cx="2591991" cy="1851421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6"/>
          <p:cNvSpPr txBox="1"/>
          <p:nvPr/>
        </p:nvSpPr>
        <p:spPr>
          <a:xfrm>
            <a:off x="5548188" y="3221600"/>
            <a:ext cx="3595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differential analyzer was a physical machine developed by Vannevar Bush at MIT in the 1930’s in order to solve ordinary differential equations.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sp>
        <p:nvSpPr>
          <p:cNvPr id="636" name="Google Shape;636;p37"/>
          <p:cNvSpPr txBox="1"/>
          <p:nvPr>
            <p:ph idx="1" type="body"/>
          </p:nvPr>
        </p:nvSpPr>
        <p:spPr>
          <a:xfrm>
            <a:off x="628650" y="2032450"/>
            <a:ext cx="82755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list of points that we determined for the line in our previous example: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2800"/>
              <a:t>(2, 2), (3, 2</a:t>
            </a:r>
            <a:r>
              <a:rPr baseline="30000" lang="en" sz="2800"/>
              <a:t>3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(4, 3</a:t>
            </a:r>
            <a:r>
              <a:rPr baseline="30000" lang="en" sz="2800"/>
              <a:t>1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(5, 3</a:t>
            </a:r>
            <a:r>
              <a:rPr baseline="30000" lang="en" sz="2800"/>
              <a:t>4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(6, 4</a:t>
            </a:r>
            <a:r>
              <a:rPr baseline="30000" lang="en" sz="2800"/>
              <a:t>2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(7, 5)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Notice that as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coordinates go up by one,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coordinates simply go up by the slope of the line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This is the key insight in the DDA algorithm</a:t>
            </a:r>
            <a:endParaRPr/>
          </a:p>
        </p:txBody>
      </p:sp>
      <p:sp>
        <p:nvSpPr>
          <p:cNvPr id="637" name="Google Shape;637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sp>
        <p:nvSpPr>
          <p:cNvPr id="643" name="Google Shape;643;p38"/>
          <p:cNvSpPr txBox="1"/>
          <p:nvPr>
            <p:ph idx="1" type="body"/>
          </p:nvPr>
        </p:nvSpPr>
        <p:spPr>
          <a:xfrm>
            <a:off x="529650" y="1443825"/>
            <a:ext cx="86868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the slope of the line is between -1 and 1 begin at the first point in the line and, by incrementing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 by 1, calculate the corresponding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coordinates as follows: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When the slope is outside these limits, increment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 by 1 and calculate the corresponding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coordinates as follows:</a:t>
            </a:r>
            <a:endParaRPr/>
          </a:p>
        </p:txBody>
      </p:sp>
      <p:pic>
        <p:nvPicPr>
          <p:cNvPr id="644" name="Google Shape;6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6500" y="2289566"/>
            <a:ext cx="2070498" cy="56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950" y="3785406"/>
            <a:ext cx="2070496" cy="9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</a:t>
            </a:r>
            <a:endParaRPr/>
          </a:p>
        </p:txBody>
      </p:sp>
      <p:sp>
        <p:nvSpPr>
          <p:cNvPr id="652" name="Google Shape;652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the following examples:</a:t>
            </a:r>
            <a:endParaRPr/>
          </a:p>
        </p:txBody>
      </p:sp>
      <p:grpSp>
        <p:nvGrpSpPr>
          <p:cNvPr id="653" name="Google Shape;653;p39"/>
          <p:cNvGrpSpPr/>
          <p:nvPr/>
        </p:nvGrpSpPr>
        <p:grpSpPr>
          <a:xfrm>
            <a:off x="673100" y="1597819"/>
            <a:ext cx="4087813" cy="3018234"/>
            <a:chOff x="424" y="1342"/>
            <a:chExt cx="2575" cy="2535"/>
          </a:xfrm>
        </p:grpSpPr>
        <p:cxnSp>
          <p:nvCxnSpPr>
            <p:cNvPr id="654" name="Google Shape;654;p39"/>
            <p:cNvCxnSpPr/>
            <p:nvPr/>
          </p:nvCxnSpPr>
          <p:spPr>
            <a:xfrm rot="10800000">
              <a:off x="709" y="151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5" name="Google Shape;655;p39"/>
            <p:cNvCxnSpPr/>
            <p:nvPr/>
          </p:nvCxnSpPr>
          <p:spPr>
            <a:xfrm rot="10800000">
              <a:off x="1689" y="248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56" name="Google Shape;656;p39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7" name="Google Shape;657;p39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8" name="Google Shape;658;p39"/>
            <p:cNvCxnSpPr/>
            <p:nvPr/>
          </p:nvCxnSpPr>
          <p:spPr>
            <a:xfrm>
              <a:off x="581" y="3066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39"/>
            <p:cNvCxnSpPr/>
            <p:nvPr/>
          </p:nvCxnSpPr>
          <p:spPr>
            <a:xfrm>
              <a:off x="581" y="228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39"/>
            <p:cNvCxnSpPr/>
            <p:nvPr/>
          </p:nvCxnSpPr>
          <p:spPr>
            <a:xfrm rot="5400000">
              <a:off x="1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39"/>
            <p:cNvCxnSpPr/>
            <p:nvPr/>
          </p:nvCxnSpPr>
          <p:spPr>
            <a:xfrm rot="5400000">
              <a:off x="13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39"/>
            <p:cNvCxnSpPr/>
            <p:nvPr/>
          </p:nvCxnSpPr>
          <p:spPr>
            <a:xfrm flipH="1" rot="10800000">
              <a:off x="1197" y="2177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63" name="Google Shape;663;p39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9"/>
            <p:cNvSpPr txBox="1"/>
            <p:nvPr/>
          </p:nvSpPr>
          <p:spPr>
            <a:xfrm>
              <a:off x="2399" y="204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9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9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9"/>
            <p:cNvSpPr txBox="1"/>
            <p:nvPr/>
          </p:nvSpPr>
          <p:spPr>
            <a:xfrm>
              <a:off x="424" y="29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9"/>
            <p:cNvSpPr txBox="1"/>
            <p:nvPr/>
          </p:nvSpPr>
          <p:spPr>
            <a:xfrm>
              <a:off x="433" y="21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669" name="Google Shape;669;p39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{BA7E8BC6-ECC4-4095-885B-AD9427E177C0}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x(+1)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y(+m)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2.6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(3, 3)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(4, 3)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(5, 4)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(6, 4)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670" name="Google Shape;67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4381500"/>
            <a:ext cx="2128840" cy="69413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6" name="Google Shape;676;p40"/>
          <p:cNvCxnSpPr/>
          <p:nvPr/>
        </p:nvCxnSpPr>
        <p:spPr>
          <a:xfrm>
            <a:off x="4578313" y="-18934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0"/>
          <p:cNvCxnSpPr/>
          <p:nvPr/>
        </p:nvCxnSpPr>
        <p:spPr>
          <a:xfrm>
            <a:off x="4578313" y="40715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0"/>
          <p:cNvCxnSpPr/>
          <p:nvPr/>
        </p:nvCxnSpPr>
        <p:spPr>
          <a:xfrm>
            <a:off x="4578313" y="1001278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40"/>
          <p:cNvCxnSpPr/>
          <p:nvPr/>
        </p:nvCxnSpPr>
        <p:spPr>
          <a:xfrm>
            <a:off x="4578313" y="-78704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0"/>
          <p:cNvCxnSpPr/>
          <p:nvPr/>
        </p:nvCxnSpPr>
        <p:spPr>
          <a:xfrm>
            <a:off x="1687513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0"/>
          <p:cNvCxnSpPr/>
          <p:nvPr/>
        </p:nvCxnSpPr>
        <p:spPr>
          <a:xfrm>
            <a:off x="2482850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0"/>
          <p:cNvCxnSpPr/>
          <p:nvPr/>
        </p:nvCxnSpPr>
        <p:spPr>
          <a:xfrm>
            <a:off x="32781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0"/>
          <p:cNvCxnSpPr/>
          <p:nvPr/>
        </p:nvCxnSpPr>
        <p:spPr>
          <a:xfrm>
            <a:off x="40703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0"/>
          <p:cNvCxnSpPr/>
          <p:nvPr/>
        </p:nvCxnSpPr>
        <p:spPr>
          <a:xfrm>
            <a:off x="48958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0"/>
          <p:cNvCxnSpPr/>
          <p:nvPr/>
        </p:nvCxnSpPr>
        <p:spPr>
          <a:xfrm>
            <a:off x="5691188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0"/>
          <p:cNvCxnSpPr/>
          <p:nvPr/>
        </p:nvCxnSpPr>
        <p:spPr>
          <a:xfrm>
            <a:off x="6486525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0"/>
          <p:cNvCxnSpPr/>
          <p:nvPr/>
        </p:nvCxnSpPr>
        <p:spPr>
          <a:xfrm>
            <a:off x="72786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 (cont…)</a:t>
            </a:r>
            <a:endParaRPr/>
          </a:p>
        </p:txBody>
      </p:sp>
      <p:sp>
        <p:nvSpPr>
          <p:cNvPr id="689" name="Google Shape;689;p40"/>
          <p:cNvSpPr/>
          <p:nvPr/>
        </p:nvSpPr>
        <p:spPr>
          <a:xfrm>
            <a:off x="1552575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0"/>
          <p:cNvSpPr/>
          <p:nvPr/>
        </p:nvSpPr>
        <p:spPr>
          <a:xfrm>
            <a:off x="3948113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2351088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0"/>
          <p:cNvSpPr/>
          <p:nvPr/>
        </p:nvSpPr>
        <p:spPr>
          <a:xfrm>
            <a:off x="3149600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0"/>
          <p:cNvSpPr/>
          <p:nvPr/>
        </p:nvSpPr>
        <p:spPr>
          <a:xfrm>
            <a:off x="1555750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0"/>
          <p:cNvSpPr/>
          <p:nvPr/>
        </p:nvSpPr>
        <p:spPr>
          <a:xfrm>
            <a:off x="3951288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2354263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0"/>
          <p:cNvSpPr/>
          <p:nvPr/>
        </p:nvSpPr>
        <p:spPr>
          <a:xfrm>
            <a:off x="3152775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0"/>
          <p:cNvSpPr/>
          <p:nvPr/>
        </p:nvSpPr>
        <p:spPr>
          <a:xfrm>
            <a:off x="1554163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3949700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0"/>
          <p:cNvSpPr/>
          <p:nvPr/>
        </p:nvSpPr>
        <p:spPr>
          <a:xfrm>
            <a:off x="2352675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0"/>
          <p:cNvSpPr/>
          <p:nvPr/>
        </p:nvSpPr>
        <p:spPr>
          <a:xfrm>
            <a:off x="3151188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0"/>
          <p:cNvSpPr/>
          <p:nvPr/>
        </p:nvSpPr>
        <p:spPr>
          <a:xfrm>
            <a:off x="1560513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0"/>
          <p:cNvSpPr/>
          <p:nvPr/>
        </p:nvSpPr>
        <p:spPr>
          <a:xfrm>
            <a:off x="3956050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0"/>
          <p:cNvSpPr/>
          <p:nvPr/>
        </p:nvSpPr>
        <p:spPr>
          <a:xfrm>
            <a:off x="2359025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3157538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/>
          <p:nvPr/>
        </p:nvSpPr>
        <p:spPr>
          <a:xfrm>
            <a:off x="4760913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7156450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5559425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0"/>
          <p:cNvSpPr/>
          <p:nvPr/>
        </p:nvSpPr>
        <p:spPr>
          <a:xfrm>
            <a:off x="6357938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0"/>
          <p:cNvSpPr/>
          <p:nvPr/>
        </p:nvSpPr>
        <p:spPr>
          <a:xfrm>
            <a:off x="4764088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0"/>
          <p:cNvSpPr/>
          <p:nvPr/>
        </p:nvSpPr>
        <p:spPr>
          <a:xfrm>
            <a:off x="7159625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5562600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0"/>
          <p:cNvSpPr/>
          <p:nvPr/>
        </p:nvSpPr>
        <p:spPr>
          <a:xfrm>
            <a:off x="6361113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0"/>
          <p:cNvSpPr/>
          <p:nvPr/>
        </p:nvSpPr>
        <p:spPr>
          <a:xfrm>
            <a:off x="4762500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7158038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0"/>
          <p:cNvSpPr/>
          <p:nvPr/>
        </p:nvSpPr>
        <p:spPr>
          <a:xfrm>
            <a:off x="5561013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0"/>
          <p:cNvSpPr/>
          <p:nvPr/>
        </p:nvSpPr>
        <p:spPr>
          <a:xfrm>
            <a:off x="6359525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4768850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0"/>
          <p:cNvSpPr/>
          <p:nvPr/>
        </p:nvSpPr>
        <p:spPr>
          <a:xfrm>
            <a:off x="7164388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5567363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0"/>
          <p:cNvSpPr/>
          <p:nvPr/>
        </p:nvSpPr>
        <p:spPr>
          <a:xfrm>
            <a:off x="6365875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40"/>
          <p:cNvCxnSpPr/>
          <p:nvPr/>
        </p:nvCxnSpPr>
        <p:spPr>
          <a:xfrm>
            <a:off x="4578313" y="-13775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40"/>
          <p:cNvCxnSpPr/>
          <p:nvPr/>
        </p:nvCxnSpPr>
        <p:spPr>
          <a:xfrm>
            <a:off x="4578313" y="-1975284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40"/>
          <p:cNvSpPr/>
          <p:nvPr/>
        </p:nvSpPr>
        <p:spPr>
          <a:xfrm>
            <a:off x="1550988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3946525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0"/>
          <p:cNvSpPr/>
          <p:nvPr/>
        </p:nvSpPr>
        <p:spPr>
          <a:xfrm>
            <a:off x="2349500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0"/>
          <p:cNvSpPr/>
          <p:nvPr/>
        </p:nvSpPr>
        <p:spPr>
          <a:xfrm>
            <a:off x="3148013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0"/>
          <p:cNvSpPr/>
          <p:nvPr/>
        </p:nvSpPr>
        <p:spPr>
          <a:xfrm>
            <a:off x="1558925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0"/>
          <p:cNvSpPr/>
          <p:nvPr/>
        </p:nvSpPr>
        <p:spPr>
          <a:xfrm>
            <a:off x="3954463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0"/>
          <p:cNvSpPr/>
          <p:nvPr/>
        </p:nvSpPr>
        <p:spPr>
          <a:xfrm>
            <a:off x="2357438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0"/>
          <p:cNvSpPr/>
          <p:nvPr/>
        </p:nvSpPr>
        <p:spPr>
          <a:xfrm>
            <a:off x="3155950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0"/>
          <p:cNvSpPr/>
          <p:nvPr/>
        </p:nvSpPr>
        <p:spPr>
          <a:xfrm>
            <a:off x="4759325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7154863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5557838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0"/>
          <p:cNvSpPr/>
          <p:nvPr/>
        </p:nvSpPr>
        <p:spPr>
          <a:xfrm>
            <a:off x="6356350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0"/>
          <p:cNvSpPr/>
          <p:nvPr/>
        </p:nvSpPr>
        <p:spPr>
          <a:xfrm>
            <a:off x="4767263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0"/>
          <p:cNvSpPr/>
          <p:nvPr/>
        </p:nvSpPr>
        <p:spPr>
          <a:xfrm>
            <a:off x="7162800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5565775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6364288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911225" y="127277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911225" y="42481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0"/>
          <p:cNvSpPr txBox="1"/>
          <p:nvPr/>
        </p:nvSpPr>
        <p:spPr>
          <a:xfrm>
            <a:off x="911225" y="365045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0"/>
          <p:cNvSpPr txBox="1"/>
          <p:nvPr/>
        </p:nvSpPr>
        <p:spPr>
          <a:xfrm>
            <a:off x="911225" y="305276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0"/>
          <p:cNvSpPr txBox="1"/>
          <p:nvPr/>
        </p:nvSpPr>
        <p:spPr>
          <a:xfrm>
            <a:off x="911225" y="246578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0"/>
          <p:cNvSpPr txBox="1"/>
          <p:nvPr/>
        </p:nvSpPr>
        <p:spPr>
          <a:xfrm>
            <a:off x="911225" y="18645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0"/>
          <p:cNvSpPr txBox="1"/>
          <p:nvPr/>
        </p:nvSpPr>
        <p:spPr>
          <a:xfrm>
            <a:off x="23288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0"/>
          <p:cNvSpPr txBox="1"/>
          <p:nvPr/>
        </p:nvSpPr>
        <p:spPr>
          <a:xfrm>
            <a:off x="31226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0"/>
          <p:cNvSpPr txBox="1"/>
          <p:nvPr/>
        </p:nvSpPr>
        <p:spPr>
          <a:xfrm>
            <a:off x="39052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0"/>
          <p:cNvSpPr txBox="1"/>
          <p:nvPr/>
        </p:nvSpPr>
        <p:spPr>
          <a:xfrm>
            <a:off x="4738688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0"/>
          <p:cNvSpPr txBox="1"/>
          <p:nvPr/>
        </p:nvSpPr>
        <p:spPr>
          <a:xfrm>
            <a:off x="5534025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0"/>
          <p:cNvSpPr txBox="1"/>
          <p:nvPr/>
        </p:nvSpPr>
        <p:spPr>
          <a:xfrm>
            <a:off x="63309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15351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0"/>
          <p:cNvSpPr txBox="1"/>
          <p:nvPr/>
        </p:nvSpPr>
        <p:spPr>
          <a:xfrm>
            <a:off x="71167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40"/>
          <p:cNvCxnSpPr/>
          <p:nvPr/>
        </p:nvCxnSpPr>
        <p:spPr>
          <a:xfrm flipH="1" rot="10800000">
            <a:off x="3278188" y="1420379"/>
            <a:ext cx="2412900" cy="2976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1"/>
          <p:cNvSpPr/>
          <p:nvPr/>
        </p:nvSpPr>
        <p:spPr>
          <a:xfrm>
            <a:off x="6432550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41"/>
          <p:cNvCxnSpPr/>
          <p:nvPr/>
        </p:nvCxnSpPr>
        <p:spPr>
          <a:xfrm>
            <a:off x="7080988" y="804806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sp>
        <p:nvSpPr>
          <p:cNvPr id="762" name="Google Shape;762;p41"/>
          <p:cNvSpPr txBox="1"/>
          <p:nvPr>
            <p:ph idx="1" type="body"/>
          </p:nvPr>
        </p:nvSpPr>
        <p:spPr>
          <a:xfrm>
            <a:off x="595200" y="1537000"/>
            <a:ext cx="822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Again the values calculated by the equations used by the DDA algorithm must be rounded to match pixel values</a:t>
            </a:r>
            <a:endParaRPr/>
          </a:p>
        </p:txBody>
      </p:sp>
      <p:cxnSp>
        <p:nvCxnSpPr>
          <p:cNvPr id="763" name="Google Shape;763;p41"/>
          <p:cNvCxnSpPr/>
          <p:nvPr/>
        </p:nvCxnSpPr>
        <p:spPr>
          <a:xfrm>
            <a:off x="1155700" y="2290763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1"/>
          <p:cNvCxnSpPr/>
          <p:nvPr/>
        </p:nvCxnSpPr>
        <p:spPr>
          <a:xfrm>
            <a:off x="1951038" y="2307431"/>
            <a:ext cx="0" cy="247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1"/>
          <p:cNvCxnSpPr/>
          <p:nvPr/>
        </p:nvCxnSpPr>
        <p:spPr>
          <a:xfrm>
            <a:off x="2746375" y="2321719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1"/>
          <p:cNvCxnSpPr/>
          <p:nvPr/>
        </p:nvCxnSpPr>
        <p:spPr>
          <a:xfrm>
            <a:off x="3538538" y="2334816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1"/>
          <p:cNvCxnSpPr/>
          <p:nvPr/>
        </p:nvCxnSpPr>
        <p:spPr>
          <a:xfrm>
            <a:off x="2453425" y="1406072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1"/>
          <p:cNvCxnSpPr/>
          <p:nvPr/>
        </p:nvCxnSpPr>
        <p:spPr>
          <a:xfrm>
            <a:off x="2431200" y="2002575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1"/>
          <p:cNvCxnSpPr/>
          <p:nvPr/>
        </p:nvCxnSpPr>
        <p:spPr>
          <a:xfrm>
            <a:off x="2412150" y="2596697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41"/>
          <p:cNvSpPr/>
          <p:nvPr/>
        </p:nvSpPr>
        <p:spPr>
          <a:xfrm>
            <a:off x="1020763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1"/>
          <p:cNvSpPr/>
          <p:nvPr/>
        </p:nvSpPr>
        <p:spPr>
          <a:xfrm>
            <a:off x="3416300" y="3132535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1819275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1"/>
          <p:cNvSpPr/>
          <p:nvPr/>
        </p:nvSpPr>
        <p:spPr>
          <a:xfrm>
            <a:off x="2617788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1"/>
          <p:cNvSpPr/>
          <p:nvPr/>
        </p:nvSpPr>
        <p:spPr>
          <a:xfrm>
            <a:off x="1023938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3419475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1822450" y="3718322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1"/>
          <p:cNvSpPr/>
          <p:nvPr/>
        </p:nvSpPr>
        <p:spPr>
          <a:xfrm>
            <a:off x="2620963" y="3718322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1"/>
          <p:cNvSpPr/>
          <p:nvPr/>
        </p:nvSpPr>
        <p:spPr>
          <a:xfrm>
            <a:off x="1022350" y="4324350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1"/>
          <p:cNvSpPr/>
          <p:nvPr/>
        </p:nvSpPr>
        <p:spPr>
          <a:xfrm>
            <a:off x="3417888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1820863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1"/>
          <p:cNvSpPr/>
          <p:nvPr/>
        </p:nvSpPr>
        <p:spPr>
          <a:xfrm>
            <a:off x="2619375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" name="Google Shape;782;p41"/>
          <p:cNvCxnSpPr/>
          <p:nvPr/>
        </p:nvCxnSpPr>
        <p:spPr>
          <a:xfrm flipH="1" rot="10800000">
            <a:off x="411163" y="3128991"/>
            <a:ext cx="3992700" cy="13680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41"/>
          <p:cNvSpPr/>
          <p:nvPr/>
        </p:nvSpPr>
        <p:spPr>
          <a:xfrm>
            <a:off x="1081088" y="4181475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1"/>
          <p:cNvSpPr/>
          <p:nvPr/>
        </p:nvSpPr>
        <p:spPr>
          <a:xfrm>
            <a:off x="1892300" y="3921919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1"/>
          <p:cNvSpPr txBox="1"/>
          <p:nvPr/>
        </p:nvSpPr>
        <p:spPr>
          <a:xfrm>
            <a:off x="134938" y="3860006"/>
            <a:ext cx="9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6" name="Google Shape;786;p41"/>
          <p:cNvCxnSpPr/>
          <p:nvPr/>
        </p:nvCxnSpPr>
        <p:spPr>
          <a:xfrm>
            <a:off x="911225" y="4096941"/>
            <a:ext cx="168300" cy="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7" name="Google Shape;787;p41"/>
          <p:cNvSpPr txBox="1"/>
          <p:nvPr/>
        </p:nvSpPr>
        <p:spPr>
          <a:xfrm>
            <a:off x="2274888" y="4012406"/>
            <a:ext cx="13461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8" name="Google Shape;788;p41"/>
          <p:cNvCxnSpPr/>
          <p:nvPr/>
        </p:nvCxnSpPr>
        <p:spPr>
          <a:xfrm rot="10800000">
            <a:off x="2038225" y="4011104"/>
            <a:ext cx="231900" cy="9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9" name="Google Shape;789;p41"/>
          <p:cNvSpPr txBox="1"/>
          <p:nvPr/>
        </p:nvSpPr>
        <p:spPr>
          <a:xfrm>
            <a:off x="1430338" y="4650581"/>
            <a:ext cx="1551000" cy="4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0" name="Google Shape;790;p41"/>
          <p:cNvCxnSpPr/>
          <p:nvPr/>
        </p:nvCxnSpPr>
        <p:spPr>
          <a:xfrm rot="10800000">
            <a:off x="1231875" y="4515966"/>
            <a:ext cx="206400" cy="20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41"/>
          <p:cNvSpPr txBox="1"/>
          <p:nvPr/>
        </p:nvSpPr>
        <p:spPr>
          <a:xfrm>
            <a:off x="280988" y="3398044"/>
            <a:ext cx="2178000" cy="3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2" name="Google Shape;792;p41"/>
          <p:cNvCxnSpPr/>
          <p:nvPr/>
        </p:nvCxnSpPr>
        <p:spPr>
          <a:xfrm>
            <a:off x="1768475" y="3625454"/>
            <a:ext cx="98400" cy="9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41"/>
          <p:cNvCxnSpPr/>
          <p:nvPr/>
        </p:nvCxnSpPr>
        <p:spPr>
          <a:xfrm>
            <a:off x="2461363" y="808379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41"/>
          <p:cNvSpPr/>
          <p:nvPr/>
        </p:nvSpPr>
        <p:spPr>
          <a:xfrm>
            <a:off x="1028700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1"/>
          <p:cNvSpPr/>
          <p:nvPr/>
        </p:nvSpPr>
        <p:spPr>
          <a:xfrm>
            <a:off x="3424238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1"/>
          <p:cNvSpPr/>
          <p:nvPr/>
        </p:nvSpPr>
        <p:spPr>
          <a:xfrm>
            <a:off x="1827213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1"/>
          <p:cNvSpPr/>
          <p:nvPr/>
        </p:nvSpPr>
        <p:spPr>
          <a:xfrm>
            <a:off x="2625725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41"/>
          <p:cNvCxnSpPr/>
          <p:nvPr/>
        </p:nvCxnSpPr>
        <p:spPr>
          <a:xfrm>
            <a:off x="5775325" y="2287191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6570663" y="2303860"/>
            <a:ext cx="0" cy="247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7366000" y="2318147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8158163" y="2331244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7073051" y="1402500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1"/>
          <p:cNvCxnSpPr/>
          <p:nvPr/>
        </p:nvCxnSpPr>
        <p:spPr>
          <a:xfrm>
            <a:off x="7050826" y="1999003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1"/>
          <p:cNvCxnSpPr/>
          <p:nvPr/>
        </p:nvCxnSpPr>
        <p:spPr>
          <a:xfrm>
            <a:off x="7031776" y="2593125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41"/>
          <p:cNvSpPr/>
          <p:nvPr/>
        </p:nvSpPr>
        <p:spPr>
          <a:xfrm>
            <a:off x="5640388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1"/>
          <p:cNvSpPr/>
          <p:nvPr/>
        </p:nvSpPr>
        <p:spPr>
          <a:xfrm>
            <a:off x="8035925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1"/>
          <p:cNvSpPr/>
          <p:nvPr/>
        </p:nvSpPr>
        <p:spPr>
          <a:xfrm>
            <a:off x="6438900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1"/>
          <p:cNvSpPr/>
          <p:nvPr/>
        </p:nvSpPr>
        <p:spPr>
          <a:xfrm>
            <a:off x="7237413" y="3128963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1"/>
          <p:cNvSpPr/>
          <p:nvPr/>
        </p:nvSpPr>
        <p:spPr>
          <a:xfrm>
            <a:off x="5643563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1"/>
          <p:cNvSpPr/>
          <p:nvPr/>
        </p:nvSpPr>
        <p:spPr>
          <a:xfrm>
            <a:off x="8039100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1"/>
          <p:cNvSpPr/>
          <p:nvPr/>
        </p:nvSpPr>
        <p:spPr>
          <a:xfrm>
            <a:off x="6426200" y="3725466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1"/>
          <p:cNvSpPr/>
          <p:nvPr/>
        </p:nvSpPr>
        <p:spPr>
          <a:xfrm>
            <a:off x="7240588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1"/>
          <p:cNvSpPr/>
          <p:nvPr/>
        </p:nvSpPr>
        <p:spPr>
          <a:xfrm>
            <a:off x="5641975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1"/>
          <p:cNvSpPr/>
          <p:nvPr/>
        </p:nvSpPr>
        <p:spPr>
          <a:xfrm>
            <a:off x="8037513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1"/>
          <p:cNvSpPr/>
          <p:nvPr/>
        </p:nvSpPr>
        <p:spPr>
          <a:xfrm>
            <a:off x="6440488" y="4320779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1"/>
          <p:cNvSpPr/>
          <p:nvPr/>
        </p:nvSpPr>
        <p:spPr>
          <a:xfrm>
            <a:off x="7239000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41"/>
          <p:cNvCxnSpPr/>
          <p:nvPr/>
        </p:nvCxnSpPr>
        <p:spPr>
          <a:xfrm flipH="1">
            <a:off x="6211750" y="2231231"/>
            <a:ext cx="1630500" cy="24204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41"/>
          <p:cNvSpPr/>
          <p:nvPr/>
        </p:nvSpPr>
        <p:spPr>
          <a:xfrm>
            <a:off x="6302375" y="4358879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1"/>
          <p:cNvSpPr/>
          <p:nvPr/>
        </p:nvSpPr>
        <p:spPr>
          <a:xfrm>
            <a:off x="6700838" y="3767138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1"/>
          <p:cNvSpPr txBox="1"/>
          <p:nvPr/>
        </p:nvSpPr>
        <p:spPr>
          <a:xfrm>
            <a:off x="5437188" y="4006454"/>
            <a:ext cx="7191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1" name="Google Shape;821;p41"/>
          <p:cNvCxnSpPr/>
          <p:nvPr/>
        </p:nvCxnSpPr>
        <p:spPr>
          <a:xfrm rot="10800000">
            <a:off x="6816600" y="3862256"/>
            <a:ext cx="155700" cy="16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41"/>
          <p:cNvSpPr txBox="1"/>
          <p:nvPr/>
        </p:nvSpPr>
        <p:spPr>
          <a:xfrm>
            <a:off x="6951663" y="3951685"/>
            <a:ext cx="14892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3" name="Google Shape;823;p41"/>
          <p:cNvCxnSpPr/>
          <p:nvPr/>
        </p:nvCxnSpPr>
        <p:spPr>
          <a:xfrm rot="10800000">
            <a:off x="6648475" y="4500469"/>
            <a:ext cx="98400" cy="12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41"/>
          <p:cNvCxnSpPr/>
          <p:nvPr/>
        </p:nvCxnSpPr>
        <p:spPr>
          <a:xfrm>
            <a:off x="6153150" y="4248150"/>
            <a:ext cx="146100" cy="10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5" name="Google Shape;825;p41"/>
          <p:cNvCxnSpPr/>
          <p:nvPr/>
        </p:nvCxnSpPr>
        <p:spPr>
          <a:xfrm>
            <a:off x="6388100" y="3621881"/>
            <a:ext cx="98400" cy="9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6" name="Google Shape;826;p41"/>
          <p:cNvSpPr/>
          <p:nvPr/>
        </p:nvSpPr>
        <p:spPr>
          <a:xfrm>
            <a:off x="5648325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1"/>
          <p:cNvSpPr/>
          <p:nvPr/>
        </p:nvSpPr>
        <p:spPr>
          <a:xfrm>
            <a:off x="8043863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1"/>
          <p:cNvSpPr/>
          <p:nvPr/>
        </p:nvSpPr>
        <p:spPr>
          <a:xfrm>
            <a:off x="6446838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1"/>
          <p:cNvSpPr/>
          <p:nvPr/>
        </p:nvSpPr>
        <p:spPr>
          <a:xfrm>
            <a:off x="7245350" y="2531269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1"/>
          <p:cNvSpPr txBox="1"/>
          <p:nvPr/>
        </p:nvSpPr>
        <p:spPr>
          <a:xfrm>
            <a:off x="6738938" y="4561285"/>
            <a:ext cx="1551000" cy="3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41"/>
          <p:cNvSpPr txBox="1"/>
          <p:nvPr/>
        </p:nvSpPr>
        <p:spPr>
          <a:xfrm>
            <a:off x="4548188" y="3363516"/>
            <a:ext cx="23208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2"/>
          <p:cNvSpPr txBox="1"/>
          <p:nvPr>
            <p:ph idx="1" type="body"/>
          </p:nvPr>
        </p:nvSpPr>
        <p:spPr>
          <a:xfrm>
            <a:off x="493425" y="1338275"/>
            <a:ext cx="86868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14"/>
              <a:t>If -1&lt;m&lt;1 then</a:t>
            </a:r>
            <a:endParaRPr sz="2814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/>
              <a:t>Then roundoff y.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/>
              <a:t>Otherwise,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/>
              <a:t>Then roundoff x.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38" name="Google Shape;838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pic>
        <p:nvPicPr>
          <p:cNvPr id="839" name="Google Shape;8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2000" y="3681576"/>
            <a:ext cx="1776227" cy="74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0960" y="1752600"/>
            <a:ext cx="1587261" cy="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5200" y="2178275"/>
            <a:ext cx="1776225" cy="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0989" y="3315975"/>
            <a:ext cx="1641399" cy="43541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3"/>
          <p:cNvSpPr txBox="1"/>
          <p:nvPr>
            <p:ph type="title"/>
          </p:nvPr>
        </p:nvSpPr>
        <p:spPr>
          <a:xfrm>
            <a:off x="556200" y="237619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</a:t>
            </a:r>
            <a:endParaRPr/>
          </a:p>
        </p:txBody>
      </p:sp>
      <p:sp>
        <p:nvSpPr>
          <p:cNvPr id="849" name="Google Shape;849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the following examples:</a:t>
            </a:r>
            <a:endParaRPr/>
          </a:p>
        </p:txBody>
      </p:sp>
      <p:grpSp>
        <p:nvGrpSpPr>
          <p:cNvPr id="850" name="Google Shape;850;p43"/>
          <p:cNvGrpSpPr/>
          <p:nvPr/>
        </p:nvGrpSpPr>
        <p:grpSpPr>
          <a:xfrm>
            <a:off x="673100" y="1597819"/>
            <a:ext cx="3886200" cy="3018234"/>
            <a:chOff x="424" y="1342"/>
            <a:chExt cx="2448" cy="2535"/>
          </a:xfrm>
        </p:grpSpPr>
        <p:cxnSp>
          <p:nvCxnSpPr>
            <p:cNvPr id="851" name="Google Shape;851;p43"/>
            <p:cNvCxnSpPr/>
            <p:nvPr/>
          </p:nvCxnSpPr>
          <p:spPr>
            <a:xfrm rot="10800000">
              <a:off x="709" y="151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52" name="Google Shape;852;p43"/>
            <p:cNvCxnSpPr/>
            <p:nvPr/>
          </p:nvCxnSpPr>
          <p:spPr>
            <a:xfrm rot="10800000">
              <a:off x="1689" y="248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3" name="Google Shape;853;p43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4" name="Google Shape;854;p43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55" name="Google Shape;855;p43"/>
            <p:cNvCxnSpPr/>
            <p:nvPr/>
          </p:nvCxnSpPr>
          <p:spPr>
            <a:xfrm>
              <a:off x="581" y="3066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43"/>
            <p:cNvCxnSpPr/>
            <p:nvPr/>
          </p:nvCxnSpPr>
          <p:spPr>
            <a:xfrm>
              <a:off x="581" y="1804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43"/>
            <p:cNvCxnSpPr/>
            <p:nvPr/>
          </p:nvCxnSpPr>
          <p:spPr>
            <a:xfrm rot="5400000">
              <a:off x="1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43"/>
            <p:cNvCxnSpPr/>
            <p:nvPr/>
          </p:nvCxnSpPr>
          <p:spPr>
            <a:xfrm rot="5400000">
              <a:off x="791" y="2467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43"/>
            <p:cNvCxnSpPr/>
            <p:nvPr/>
          </p:nvCxnSpPr>
          <p:spPr>
            <a:xfrm flipH="1" rot="10800000">
              <a:off x="1197" y="1877"/>
              <a:ext cx="600" cy="12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60" name="Google Shape;860;p43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3"/>
            <p:cNvSpPr txBox="1"/>
            <p:nvPr/>
          </p:nvSpPr>
          <p:spPr>
            <a:xfrm>
              <a:off x="1841" y="154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(5, 7)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3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3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3"/>
            <p:cNvSpPr txBox="1"/>
            <p:nvPr/>
          </p:nvSpPr>
          <p:spPr>
            <a:xfrm>
              <a:off x="424" y="29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3"/>
            <p:cNvSpPr txBox="1"/>
            <p:nvPr/>
          </p:nvSpPr>
          <p:spPr>
            <a:xfrm>
              <a:off x="433" y="21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66" name="Google Shape;866;p43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{BA7E8BC6-ECC4-4095-885B-AD9427E177C0}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x(+1/m)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2.6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(3, 3)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(3,</a:t>
                      </a:r>
                      <a:r>
                        <a:rPr lang="en" sz="1400"/>
                        <a:t> 4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(4, 5)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(4, 6)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867" name="Google Shape;8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175" y="4381500"/>
            <a:ext cx="1524001" cy="69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525" y="1257063"/>
            <a:ext cx="1105484" cy="56197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</a:t>
            </a:r>
            <a:endParaRPr/>
          </a:p>
        </p:txBody>
      </p:sp>
      <p:sp>
        <p:nvSpPr>
          <p:cNvPr id="875" name="Google Shape;875;p4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the following examples:</a:t>
            </a:r>
            <a:endParaRPr/>
          </a:p>
        </p:txBody>
      </p:sp>
      <p:grpSp>
        <p:nvGrpSpPr>
          <p:cNvPr id="876" name="Google Shape;876;p44"/>
          <p:cNvGrpSpPr/>
          <p:nvPr/>
        </p:nvGrpSpPr>
        <p:grpSpPr>
          <a:xfrm>
            <a:off x="192088" y="1597819"/>
            <a:ext cx="4367212" cy="3018234"/>
            <a:chOff x="121" y="1342"/>
            <a:chExt cx="2751" cy="2535"/>
          </a:xfrm>
        </p:grpSpPr>
        <p:cxnSp>
          <p:nvCxnSpPr>
            <p:cNvPr id="877" name="Google Shape;877;p44"/>
            <p:cNvCxnSpPr/>
            <p:nvPr/>
          </p:nvCxnSpPr>
          <p:spPr>
            <a:xfrm rot="10800000">
              <a:off x="709" y="151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78" name="Google Shape;878;p44"/>
            <p:cNvCxnSpPr/>
            <p:nvPr/>
          </p:nvCxnSpPr>
          <p:spPr>
            <a:xfrm rot="10800000">
              <a:off x="1689" y="248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9" name="Google Shape;879;p44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0" name="Google Shape;880;p44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1" name="Google Shape;881;p44"/>
            <p:cNvCxnSpPr/>
            <p:nvPr/>
          </p:nvCxnSpPr>
          <p:spPr>
            <a:xfrm>
              <a:off x="505" y="305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44"/>
            <p:cNvCxnSpPr/>
            <p:nvPr/>
          </p:nvCxnSpPr>
          <p:spPr>
            <a:xfrm>
              <a:off x="581" y="1804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44"/>
            <p:cNvCxnSpPr/>
            <p:nvPr/>
          </p:nvCxnSpPr>
          <p:spPr>
            <a:xfrm rot="5400000">
              <a:off x="1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44"/>
            <p:cNvCxnSpPr/>
            <p:nvPr/>
          </p:nvCxnSpPr>
          <p:spPr>
            <a:xfrm rot="5400000">
              <a:off x="-545" y="2467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44"/>
            <p:cNvCxnSpPr/>
            <p:nvPr/>
          </p:nvCxnSpPr>
          <p:spPr>
            <a:xfrm rot="10800000">
              <a:off x="597" y="1877"/>
              <a:ext cx="600" cy="12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86" name="Google Shape;886;p44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44"/>
            <p:cNvSpPr txBox="1"/>
            <p:nvPr/>
          </p:nvSpPr>
          <p:spPr>
            <a:xfrm>
              <a:off x="121" y="156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(-1,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4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4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90" name="Google Shape;890;p44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{BA7E8BC6-ECC4-4095-885B-AD9427E177C0}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x(+1/m)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(1, 3)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(1,</a:t>
                      </a:r>
                      <a:r>
                        <a:rPr lang="en" sz="1400"/>
                        <a:t> 4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(0, 5)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-0.4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(0, 6)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891" name="Google Shape;8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338" y="4381500"/>
            <a:ext cx="1860948" cy="69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474" y="1289075"/>
            <a:ext cx="1361649" cy="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5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Summary</a:t>
            </a:r>
            <a:endParaRPr/>
          </a:p>
        </p:txBody>
      </p:sp>
      <p:sp>
        <p:nvSpPr>
          <p:cNvPr id="899" name="Google Shape;899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is much faster than our previous attempt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In particular, there are no longer any multiplications involved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However, there are still two big issues: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Accumulation of round-off errors can make the pixelated line drift away from what was intended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The rounding operations and floating point arithmetic involved are time consuming</a:t>
            </a:r>
            <a:endParaRPr/>
          </a:p>
        </p:txBody>
      </p:sp>
      <p:sp>
        <p:nvSpPr>
          <p:cNvPr id="900" name="Google Shape;900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6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Closely — Can DDA solve this?</a:t>
            </a:r>
            <a:endParaRPr/>
          </a:p>
        </p:txBody>
      </p:sp>
      <p:sp>
        <p:nvSpPr>
          <p:cNvPr id="906" name="Google Shape;906;p46"/>
          <p:cNvSpPr txBox="1"/>
          <p:nvPr>
            <p:ph idx="1" type="body"/>
          </p:nvPr>
        </p:nvSpPr>
        <p:spPr>
          <a:xfrm>
            <a:off x="628650" y="1369225"/>
            <a:ext cx="788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5"/>
            <a:ext cx="6910400" cy="31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7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Closely — Can DDA solve this?</a:t>
            </a:r>
            <a:endParaRPr/>
          </a:p>
        </p:txBody>
      </p:sp>
      <p:sp>
        <p:nvSpPr>
          <p:cNvPr id="914" name="Google Shape;914;p47"/>
          <p:cNvSpPr txBox="1"/>
          <p:nvPr>
            <p:ph idx="1" type="body"/>
          </p:nvPr>
        </p:nvSpPr>
        <p:spPr>
          <a:xfrm>
            <a:off x="628650" y="1369225"/>
            <a:ext cx="788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(8, 1), (9, 1) these points are outside the line segment, so unacceptable.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So, we must decrement here. So we need to update our DDA algorithm for these cases.</a:t>
            </a:r>
            <a:endParaRPr sz="1200"/>
          </a:p>
        </p:txBody>
      </p:sp>
      <p:sp>
        <p:nvSpPr>
          <p:cNvPr id="915" name="Google Shape;915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(Revised Version)</a:t>
            </a:r>
            <a:endParaRPr/>
          </a:p>
        </p:txBody>
      </p:sp>
      <p:pic>
        <p:nvPicPr>
          <p:cNvPr id="922" name="Google Shape;9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5"/>
            <a:ext cx="6490050" cy="35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Run the Previous Simulation Again!</a:t>
            </a:r>
            <a:endParaRPr/>
          </a:p>
        </p:txBody>
      </p:sp>
      <p:pic>
        <p:nvPicPr>
          <p:cNvPr id="930" name="Google Shape;9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00" y="1366175"/>
            <a:ext cx="6203001" cy="35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938" name="Google Shape;938;p5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Computer Graphics: Principles and Practice: John F. Hughes, James D. Foley, Andries van Dam, Steven K. Feiner (2nd Edition)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Chapter: 3.2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