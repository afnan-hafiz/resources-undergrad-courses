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y="5143500" cx="9144000"/>
  <p:notesSz cx="6858000" cy="9144000"/>
  <p:embeddedFontLst>
    <p:embeddedFont>
      <p:font typeface="Garamond"/>
      <p:regular r:id="rId86"/>
      <p:bold r:id="rId87"/>
      <p:italic r:id="rId88"/>
      <p:boldItalic r:id="rId89"/>
    </p:embeddedFont>
    <p:embeddedFont>
      <p:font typeface="Tahoma"/>
      <p:regular r:id="rId90"/>
      <p:bold r:id="rId91"/>
    </p:embeddedFont>
    <p:embeddedFont>
      <p:font typeface="Noto Sans Symbols"/>
      <p:regular r:id="rId92"/>
      <p:bold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4" roundtripDataSignature="AMtx7mh9qSqQXzjhgHRXJns3vqqyUuBr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font" Target="fonts/Garamond-regular.fntdata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Garamond-italic.fntdata"/><Relationship Id="rId43" Type="http://schemas.openxmlformats.org/officeDocument/2006/relationships/slide" Target="slides/slide38.xml"/><Relationship Id="rId87" Type="http://schemas.openxmlformats.org/officeDocument/2006/relationships/font" Target="fonts/Garamond-bold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Garamond-boldItalic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94" Type="http://customschemas.google.com/relationships/presentationmetadata" Target="meta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Tahoma-bold.fntdata"/><Relationship Id="rId90" Type="http://schemas.openxmlformats.org/officeDocument/2006/relationships/font" Target="fonts/Tahoma-regular.fntdata"/><Relationship Id="rId93" Type="http://schemas.openxmlformats.org/officeDocument/2006/relationships/font" Target="fonts/NotoSansSymbols-bold.fntdata"/><Relationship Id="rId92" Type="http://schemas.openxmlformats.org/officeDocument/2006/relationships/font" Target="fonts/NotoSansSymbols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4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59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9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4c97c9df4_10_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8" name="Google Shape;218;g324c97c9df4_1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9" name="Google Shape;219;g324c97c9df4_1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3" name="Google Shape;31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Only linear of points is valid in an affine combination</a:t>
            </a:r>
            <a:endParaRPr/>
          </a:p>
        </p:txBody>
      </p:sp>
      <p:sp>
        <p:nvSpPr>
          <p:cNvPr id="344" name="Google Shape;344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1" name="Google Shape;371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2" name="Google Shape;41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https://www.youtube.com/watch?v=E3Phj6J287o&amp;list=PLMZnvBHNk2GWK8i1lcxx4exUXjtK8QSgK&amp;index=13</a:t>
            </a:r>
            <a:endParaRPr/>
          </a:p>
        </p:txBody>
      </p:sp>
      <p:sp>
        <p:nvSpPr>
          <p:cNvPr id="418" name="Google Shape;41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6" name="Google Shape;42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0" name="Google Shape;520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30753f6f7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g330753f6f7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30753f6f7d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g330753f6f7d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0753f6f7d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g330753f6f7d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30753f6f7d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g330753f6f7d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0753f6f7d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30753f6f7d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0753f6f7d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g330753f6f7d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30753f6f7d_0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g330753f6f7d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62959255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3" name="Google Shape;653;g2629592559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2a721d462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2a721d462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4" name="Google Shape;71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7" name="Google Shape;737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8" name="Google Shape;798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6" name="Google Shape;856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4" name="Google Shape;904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2" name="Google Shape;912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4" name="Google Shape;924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3" name="Google Shape;933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9" name="Google Shape;949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6297c2c66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g26297c2c666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6297c2c66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g26297c2c666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6297c2c66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7" name="Google Shape;1057;g26297c2c666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6297c2c66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6" name="Google Shape;1066;g26297c2c666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6297c2c666_0_4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73" name="Google Shape;1073;g26297c2c666_0_4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4" name="Google Shape;1074;g26297c2c666_0_43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6297c2c66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1" name="Google Shape;1081;g26297c2c666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6297c2c666_0_4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9" name="Google Shape;1089;g26297c2c666_0_4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6297c2c66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4" name="Google Shape;1114;g26297c2c666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6297c2c666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8" name="Google Shape;1188;g26297c2c666_0_2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6297c2c66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7" name="Google Shape;1197;g26297c2c666_0_2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6297c2c666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5" name="Google Shape;1205;g26297c2c666_0_3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6297c2c666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3" name="Google Shape;1213;g26297c2c666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6297c2c66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6" name="Google Shape;1236;g26297c2c666_0_3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6297c2c66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9" name="Google Shape;1259;g26297c2c666_0_3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0" name="Google Shape;1270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3" name="Google Shape;1283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0" name="Google Shape;1290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7" name="Google Shape;1297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4" name="Google Shape;1304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9" name="Google Shape;1319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3" name="Google Shape;1333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0" name="Google Shape;1340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8" name="Google Shape;1348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2" name="Google Shape;1362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7" name="Google Shape;1377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3088db1d5c_0_17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g33088db1d5c_0_17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g33088db1d5c_0_17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g33088db1d5c_0_17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g33088db1d5c_0_1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g33088db1d5c_0_1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3088db1d5c_0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3088db1d5c_0_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3088db1d5c_0_18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g33088db1d5c_0_18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3088db1d5c_0_18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g33088db1d5c_0_18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g33088db1d5c_0_1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g33088db1d5c_0_1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3088db1d5c_0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g33088db1d5c_0_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3088db1d5c_0_19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g33088db1d5c_0_19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g33088db1d5c_0_19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g33088db1d5c_0_19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g33088db1d5c_0_19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g33088db1d5c_0_1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3088db1d5c_0_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g33088db1d5c_0_1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3088db1d5c_0_20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g33088db1d5c_0_20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g33088db1d5c_0_20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g33088db1d5c_0_20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g33088db1d5c_0_20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g33088db1d5c_0_20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g33088db1d5c_0_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g33088db1d5c_0_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3088db1d5c_0_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088db1d5c_0_21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g33088db1d5c_0_21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5" name="Google Shape;55;g33088db1d5c_0_216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" name="Google Shape;56;g33088db1d5c_0_21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7" name="Google Shape;57;g33088db1d5c_0_216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g33088db1d5c_0_2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g33088db1d5c_0_2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3088db1d5c_0_2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g33088db1d5c_0_2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3088db1d5c_0_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3088db1d5c_0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088db1d5c_0_2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33088db1d5c_0_2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g33088db1d5c_0_2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33088db1d5c_0_2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g33088db1d5c_0_2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3088db1d5c_0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3088db1d5c_0_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088db1d5c_0_2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3088db1d5c_0_2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3088db1d5c_0_2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33088db1d5c_0_2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3088db1d5c_0_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3088db1d5c_0_2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088db1d5c_0_24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3088db1d5c_0_243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82" name="Google Shape;82;g33088db1d5c_0_243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g33088db1d5c_0_2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g33088db1d5c_0_2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3088db1d5c_0_2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g33088db1d5c_0_2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3088db1d5c_0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3088db1d5c_0_2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088db1d5c_0_25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3088db1d5c_0_25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g33088db1d5c_0_25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3" name="Google Shape;93;g33088db1d5c_0_25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3088db1d5c_0_25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33088db1d5c_0_2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g33088db1d5c_0_2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3088db1d5c_0_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3088db1d5c_0_2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088db1d5c_0_26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g33088db1d5c_0_26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g33088db1d5c_0_26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3088db1d5c_0_26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g33088db1d5c_0_2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3088db1d5c_0_2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3088db1d5c_0_2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3088db1d5c_0_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088db1d5c_0_27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3088db1d5c_0_27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g33088db1d5c_0_27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g33088db1d5c_0_27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3088db1d5c_0_2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g33088db1d5c_0_2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3088db1d5c_0_2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3088db1d5c_0_2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lip Art and Text" type="clipArtAndTx">
  <p:cSld name="CLIPART_AND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088db1d5c_0_281"/>
          <p:cNvSpPr txBox="1"/>
          <p:nvPr>
            <p:ph type="title"/>
          </p:nvPr>
        </p:nvSpPr>
        <p:spPr>
          <a:xfrm>
            <a:off x="1528763" y="57150"/>
            <a:ext cx="756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3088db1d5c_0_281"/>
          <p:cNvSpPr/>
          <p:nvPr>
            <p:ph idx="2" type="clipArt"/>
          </p:nvPr>
        </p:nvSpPr>
        <p:spPr>
          <a:xfrm>
            <a:off x="1479550" y="1085850"/>
            <a:ext cx="37371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g33088db1d5c_0_281"/>
          <p:cNvSpPr txBox="1"/>
          <p:nvPr>
            <p:ph idx="1" type="body"/>
          </p:nvPr>
        </p:nvSpPr>
        <p:spPr>
          <a:xfrm>
            <a:off x="5368925" y="1085850"/>
            <a:ext cx="373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✶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33088db1d5c_0_281"/>
          <p:cNvSpPr txBox="1"/>
          <p:nvPr>
            <p:ph idx="10" type="dt"/>
          </p:nvPr>
        </p:nvSpPr>
        <p:spPr>
          <a:xfrm>
            <a:off x="1481137" y="4686300"/>
            <a:ext cx="178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3088db1d5c_0_281"/>
          <p:cNvSpPr txBox="1"/>
          <p:nvPr>
            <p:ph idx="11" type="ftr"/>
          </p:nvPr>
        </p:nvSpPr>
        <p:spPr>
          <a:xfrm>
            <a:off x="37973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3088db1d5c_0_281"/>
          <p:cNvSpPr txBox="1"/>
          <p:nvPr>
            <p:ph idx="12" type="sldNum"/>
          </p:nvPr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3088db1d5c_0_1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g33088db1d5c_0_17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3088db1d5c_0_1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3088db1d5c_0_1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3088db1d5c_0_1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0.png"/><Relationship Id="rId7" Type="http://schemas.openxmlformats.org/officeDocument/2006/relationships/image" Target="../media/image14.png"/><Relationship Id="rId8" Type="http://schemas.openxmlformats.org/officeDocument/2006/relationships/oleObject" Target="../embeddings/oleObject2.bin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28.png"/><Relationship Id="rId7" Type="http://schemas.openxmlformats.org/officeDocument/2006/relationships/image" Target="../media/image23.png"/><Relationship Id="rId8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Relationship Id="rId6" Type="http://schemas.openxmlformats.org/officeDocument/2006/relationships/image" Target="../media/image57.png"/><Relationship Id="rId7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4.bin"/><Relationship Id="rId9" Type="http://schemas.openxmlformats.org/officeDocument/2006/relationships/image" Target="../media/image37.png"/><Relationship Id="rId5" Type="http://schemas.openxmlformats.org/officeDocument/2006/relationships/oleObject" Target="../embeddings/oleObject4.bin"/><Relationship Id="rId6" Type="http://schemas.openxmlformats.org/officeDocument/2006/relationships/image" Target="../media/image30.png"/><Relationship Id="rId7" Type="http://schemas.openxmlformats.org/officeDocument/2006/relationships/image" Target="../media/image48.png"/><Relationship Id="rId8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Relationship Id="rId4" Type="http://schemas.openxmlformats.org/officeDocument/2006/relationships/image" Target="../media/image21.png"/><Relationship Id="rId5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6.png"/><Relationship Id="rId4" Type="http://schemas.openxmlformats.org/officeDocument/2006/relationships/image" Target="../media/image40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55.png"/><Relationship Id="rId5" Type="http://schemas.openxmlformats.org/officeDocument/2006/relationships/image" Target="../media/image65.png"/><Relationship Id="rId6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vmlDrawing" Target="../drawings/vmlDrawing4.vml"/><Relationship Id="rId4" Type="http://schemas.openxmlformats.org/officeDocument/2006/relationships/image" Target="../media/image49.png"/><Relationship Id="rId9" Type="http://schemas.openxmlformats.org/officeDocument/2006/relationships/oleObject" Target="../embeddings/oleObject6.bin"/><Relationship Id="rId5" Type="http://schemas.openxmlformats.org/officeDocument/2006/relationships/image" Target="../media/image54.png"/><Relationship Id="rId6" Type="http://schemas.openxmlformats.org/officeDocument/2006/relationships/oleObject" Target="../embeddings/oleObject5.bin"/><Relationship Id="rId7" Type="http://schemas.openxmlformats.org/officeDocument/2006/relationships/oleObject" Target="../embeddings/oleObject5.bin"/><Relationship Id="rId8" Type="http://schemas.openxmlformats.org/officeDocument/2006/relationships/image" Target="../media/image6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69.png"/><Relationship Id="rId1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0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Relationship Id="rId5" Type="http://schemas.openxmlformats.org/officeDocument/2006/relationships/image" Target="../media/image61.png"/><Relationship Id="rId6" Type="http://schemas.openxmlformats.org/officeDocument/2006/relationships/image" Target="../media/image81.png"/><Relationship Id="rId7" Type="http://schemas.openxmlformats.org/officeDocument/2006/relationships/image" Target="../media/image73.png"/><Relationship Id="rId8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vmlDrawing" Target="../drawings/vmlDrawing5.vml"/><Relationship Id="rId4" Type="http://schemas.openxmlformats.org/officeDocument/2006/relationships/image" Target="../media/image76.png"/><Relationship Id="rId5" Type="http://schemas.openxmlformats.org/officeDocument/2006/relationships/oleObject" Target="../embeddings/oleObject7.bin"/><Relationship Id="rId6" Type="http://schemas.openxmlformats.org/officeDocument/2006/relationships/oleObject" Target="../embeddings/oleObject7.bin"/><Relationship Id="rId7" Type="http://schemas.openxmlformats.org/officeDocument/2006/relationships/image" Target="../media/image9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3.png"/><Relationship Id="rId4" Type="http://schemas.openxmlformats.org/officeDocument/2006/relationships/image" Target="../media/image7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6.png"/><Relationship Id="rId4" Type="http://schemas.openxmlformats.org/officeDocument/2006/relationships/image" Target="../media/image7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8.png"/><Relationship Id="rId4" Type="http://schemas.openxmlformats.org/officeDocument/2006/relationships/image" Target="../media/image8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2.png"/><Relationship Id="rId4" Type="http://schemas.openxmlformats.org/officeDocument/2006/relationships/image" Target="../media/image8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6.png"/><Relationship Id="rId4" Type="http://schemas.openxmlformats.org/officeDocument/2006/relationships/image" Target="../media/image74.png"/><Relationship Id="rId5" Type="http://schemas.openxmlformats.org/officeDocument/2006/relationships/image" Target="../media/image10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5.png"/><Relationship Id="rId4" Type="http://schemas.openxmlformats.org/officeDocument/2006/relationships/image" Target="../media/image84.png"/><Relationship Id="rId5" Type="http://schemas.openxmlformats.org/officeDocument/2006/relationships/image" Target="../media/image11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4.png"/><Relationship Id="rId4" Type="http://schemas.openxmlformats.org/officeDocument/2006/relationships/image" Target="../media/image8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0.png"/><Relationship Id="rId4" Type="http://schemas.openxmlformats.org/officeDocument/2006/relationships/image" Target="../media/image8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9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7.png"/><Relationship Id="rId4" Type="http://schemas.openxmlformats.org/officeDocument/2006/relationships/image" Target="../media/image10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0.png"/><Relationship Id="rId4" Type="http://schemas.openxmlformats.org/officeDocument/2006/relationships/image" Target="../media/image10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11.png"/><Relationship Id="rId4" Type="http://schemas.openxmlformats.org/officeDocument/2006/relationships/image" Target="../media/image96.png"/><Relationship Id="rId5" Type="http://schemas.openxmlformats.org/officeDocument/2006/relationships/image" Target="../media/image102.png"/><Relationship Id="rId6" Type="http://schemas.openxmlformats.org/officeDocument/2006/relationships/image" Target="../media/image112.png"/><Relationship Id="rId7" Type="http://schemas.openxmlformats.org/officeDocument/2006/relationships/image" Target="../media/image94.png"/><Relationship Id="rId8" Type="http://schemas.openxmlformats.org/officeDocument/2006/relationships/image" Target="../media/image12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11.png"/><Relationship Id="rId4" Type="http://schemas.openxmlformats.org/officeDocument/2006/relationships/image" Target="../media/image96.png"/><Relationship Id="rId5" Type="http://schemas.openxmlformats.org/officeDocument/2006/relationships/image" Target="../media/image102.png"/><Relationship Id="rId6" Type="http://schemas.openxmlformats.org/officeDocument/2006/relationships/image" Target="../media/image112.png"/><Relationship Id="rId7" Type="http://schemas.openxmlformats.org/officeDocument/2006/relationships/image" Target="../media/image94.png"/><Relationship Id="rId8" Type="http://schemas.openxmlformats.org/officeDocument/2006/relationships/image" Target="../media/image12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26.png"/><Relationship Id="rId4" Type="http://schemas.openxmlformats.org/officeDocument/2006/relationships/image" Target="../media/image120.png"/><Relationship Id="rId5" Type="http://schemas.openxmlformats.org/officeDocument/2006/relationships/image" Target="../media/image110.png"/><Relationship Id="rId6" Type="http://schemas.openxmlformats.org/officeDocument/2006/relationships/image" Target="../media/image11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21.png"/><Relationship Id="rId4" Type="http://schemas.openxmlformats.org/officeDocument/2006/relationships/image" Target="../media/image116.png"/><Relationship Id="rId5" Type="http://schemas.openxmlformats.org/officeDocument/2006/relationships/image" Target="../media/image11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2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1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2.png"/><Relationship Id="rId4" Type="http://schemas.openxmlformats.org/officeDocument/2006/relationships/image" Target="../media/image133.png"/><Relationship Id="rId5" Type="http://schemas.openxmlformats.org/officeDocument/2006/relationships/image" Target="../media/image11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22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3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1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39.png"/><Relationship Id="rId4" Type="http://schemas.openxmlformats.org/officeDocument/2006/relationships/image" Target="../media/image137.png"/><Relationship Id="rId5" Type="http://schemas.openxmlformats.org/officeDocument/2006/relationships/image" Target="../media/image13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37.png"/><Relationship Id="rId6" Type="http://schemas.openxmlformats.org/officeDocument/2006/relationships/image" Target="../media/image13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/>
          <p:nvPr>
            <p:ph type="ctrTitle"/>
          </p:nvPr>
        </p:nvSpPr>
        <p:spPr>
          <a:xfrm>
            <a:off x="2668750" y="1597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7391400" y="4762500"/>
            <a:ext cx="172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Transformation</a:t>
            </a:r>
            <a:endParaRPr/>
          </a:p>
        </p:txBody>
      </p:sp>
      <p:sp>
        <p:nvSpPr>
          <p:cNvPr id="135" name="Google Shape;135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40"/>
              <a:buFont typeface="Noto Sans Symbols"/>
              <a:buChar char="✶"/>
            </a:pP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Transformation:</a:t>
            </a:r>
            <a:endParaRPr sz="1600"/>
          </a:p>
          <a:p>
            <a:pPr indent="-25400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–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operation that changes one configuration into another</a:t>
            </a:r>
            <a:endParaRPr sz="1300"/>
          </a:p>
          <a:p>
            <a:pPr indent="-3111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540"/>
              <a:buFont typeface="Noto Sans Symbols"/>
              <a:buChar char="✶"/>
            </a:pP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images, shapes, </a:t>
            </a:r>
            <a:r>
              <a:rPr b="0" i="1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600"/>
          </a:p>
          <a:p>
            <a:pPr indent="-25400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–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geometric transformation maps positions that define the object to other positions</a:t>
            </a:r>
            <a:endParaRPr sz="1300"/>
          </a:p>
          <a:p>
            <a:pPr indent="-25400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–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transformation means the transformation is defined by a linear function... which is what matrices are good for.</a:t>
            </a:r>
            <a:endParaRPr sz="1300"/>
          </a:p>
        </p:txBody>
      </p:sp>
      <p:sp>
        <p:nvSpPr>
          <p:cNvPr id="136" name="Google Shape;136;p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Transformation?</a:t>
            </a:r>
            <a:endParaRPr/>
          </a:p>
        </p:txBody>
      </p:sp>
      <p:sp>
        <p:nvSpPr>
          <p:cNvPr id="143" name="Google Shape;143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40"/>
              <a:buFont typeface="Noto Sans Symbols"/>
              <a:buChar char="✶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function that maps points </a:t>
            </a:r>
            <a:r>
              <a:rPr b="0" i="1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points </a:t>
            </a:r>
            <a:r>
              <a:rPr b="0" i="1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x':</a:t>
            </a:r>
            <a:endParaRPr sz="1900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Applications: animation, deformation, viewing, projection, real-time shadows, …</a:t>
            </a:r>
            <a:endParaRPr sz="1600"/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3">
            <a:alphaModFix/>
          </a:blip>
          <a:srcRect b="9675" l="0" r="0" t="0"/>
          <a:stretch/>
        </p:blipFill>
        <p:spPr>
          <a:xfrm>
            <a:off x="1366837" y="2857500"/>
            <a:ext cx="260191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4">
            <a:alphaModFix/>
          </a:blip>
          <a:srcRect b="10934" l="0" r="0" t="0"/>
          <a:stretch/>
        </p:blipFill>
        <p:spPr>
          <a:xfrm>
            <a:off x="3962400" y="2857500"/>
            <a:ext cx="25844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3512" y="2857500"/>
            <a:ext cx="1689497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Transformation</a:t>
            </a:r>
            <a:endParaRPr/>
          </a:p>
        </p:txBody>
      </p:sp>
      <p:pic>
        <p:nvPicPr>
          <p:cNvPr id="152" name="Google Shape;15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350" y="1432322"/>
            <a:ext cx="7626300" cy="30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Transformations</a:t>
            </a:r>
            <a:endParaRPr/>
          </a:p>
        </p:txBody>
      </p:sp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1752600" y="3314700"/>
            <a:ext cx="69342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combined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these operations invertible?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2084387" y="4487465"/>
            <a:ext cx="317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Yes, except scale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3">
            <a:alphaModFix/>
          </a:blip>
          <a:srcRect b="43916" l="5686" r="0" t="17750"/>
          <a:stretch/>
        </p:blipFill>
        <p:spPr>
          <a:xfrm>
            <a:off x="1500187" y="1600200"/>
            <a:ext cx="7162800" cy="163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>
            <p:ph type="title"/>
          </p:nvPr>
        </p:nvSpPr>
        <p:spPr>
          <a:xfrm>
            <a:off x="1066800" y="133350"/>
            <a:ext cx="76200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Rigid-Body / Euclidean Transforms </a:t>
            </a:r>
            <a:endParaRPr/>
          </a:p>
        </p:txBody>
      </p:sp>
      <p:sp>
        <p:nvSpPr>
          <p:cNvPr id="171" name="Google Shape;171;p7"/>
          <p:cNvSpPr txBox="1"/>
          <p:nvPr>
            <p:ph idx="1" type="body"/>
          </p:nvPr>
        </p:nvSpPr>
        <p:spPr>
          <a:xfrm>
            <a:off x="1447800" y="1257300"/>
            <a:ext cx="3124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668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distances</a:t>
            </a:r>
            <a:endParaRPr/>
          </a:p>
          <a:p>
            <a:pPr indent="-33972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angles</a:t>
            </a:r>
            <a:endParaRPr/>
          </a:p>
        </p:txBody>
      </p:sp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10664" l="48500" r="3062" t="14749"/>
          <a:stretch/>
        </p:blipFill>
        <p:spPr>
          <a:xfrm>
            <a:off x="4953000" y="1143000"/>
            <a:ext cx="3962400" cy="336113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2076450" y="3543300"/>
            <a:ext cx="133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3810000" y="371475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1828800" y="2800350"/>
            <a:ext cx="2819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/ Euclidean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3886200" y="3371850"/>
            <a:ext cx="1143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600200" y="3162300"/>
            <a:ext cx="3429000" cy="11430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0087" y="1370409"/>
            <a:ext cx="2157412" cy="265033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>
            <p:ph type="title"/>
          </p:nvPr>
        </p:nvSpPr>
        <p:spPr>
          <a:xfrm>
            <a:off x="1066800" y="152400"/>
            <a:ext cx="74676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Similitudes / Similarity Transforms</a:t>
            </a:r>
            <a:endParaRPr/>
          </a:p>
        </p:txBody>
      </p:sp>
      <p:sp>
        <p:nvSpPr>
          <p:cNvPr id="186" name="Google Shape;186;p8"/>
          <p:cNvSpPr txBox="1"/>
          <p:nvPr>
            <p:ph idx="1" type="body"/>
          </p:nvPr>
        </p:nvSpPr>
        <p:spPr>
          <a:xfrm>
            <a:off x="1219200" y="1143000"/>
            <a:ext cx="7543800" cy="3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668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angles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1543050" y="3543300"/>
            <a:ext cx="133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3276600" y="371475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1295400" y="2800350"/>
            <a:ext cx="2819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/ Euclidean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09600" y="2628900"/>
            <a:ext cx="6988200" cy="17145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2514600" y="2190750"/>
            <a:ext cx="1905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Similitudes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4812153" y="3131100"/>
            <a:ext cx="13986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Isotropic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3352800" y="3371850"/>
            <a:ext cx="1143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219200" y="3264450"/>
            <a:ext cx="3429000" cy="964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>
            <p:ph type="title"/>
          </p:nvPr>
        </p:nvSpPr>
        <p:spPr>
          <a:xfrm>
            <a:off x="1600200" y="114300"/>
            <a:ext cx="87663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Transformations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2381250" y="4000500"/>
            <a:ext cx="133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4114800" y="4171950"/>
            <a:ext cx="10668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2133600" y="3257550"/>
            <a:ext cx="2819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/ Euclidean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6924675" y="2952750"/>
            <a:ext cx="89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447800" y="3086100"/>
            <a:ext cx="5867400" cy="17145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3770312" y="2724150"/>
            <a:ext cx="1359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Similitudes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5402262" y="4000500"/>
            <a:ext cx="17526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Isotropic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4191000" y="3829050"/>
            <a:ext cx="1143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962400" y="3314700"/>
            <a:ext cx="4953000" cy="16002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905000" y="3543300"/>
            <a:ext cx="3429000" cy="1143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7543800" y="3657600"/>
            <a:ext cx="10668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7620000" y="4343400"/>
            <a:ext cx="9144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7539037" y="4000500"/>
            <a:ext cx="1143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b="57583" l="3625" r="3250" t="15167"/>
          <a:stretch/>
        </p:blipFill>
        <p:spPr>
          <a:xfrm>
            <a:off x="184150" y="1200150"/>
            <a:ext cx="8731252" cy="1437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4c97c9df4_10_0"/>
          <p:cNvSpPr txBox="1"/>
          <p:nvPr/>
        </p:nvSpPr>
        <p:spPr>
          <a:xfrm>
            <a:off x="7226300" y="48006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2" name="Google Shape;222;g324c97c9df4_10_0"/>
          <p:cNvSpPr txBox="1"/>
          <p:nvPr>
            <p:ph type="title"/>
          </p:nvPr>
        </p:nvSpPr>
        <p:spPr>
          <a:xfrm>
            <a:off x="1524000" y="114300"/>
            <a:ext cx="87663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Transformations</a:t>
            </a:r>
            <a:endParaRPr/>
          </a:p>
        </p:txBody>
      </p:sp>
      <p:sp>
        <p:nvSpPr>
          <p:cNvPr id="223" name="Google Shape;223;g324c97c9df4_10_0"/>
          <p:cNvSpPr txBox="1"/>
          <p:nvPr>
            <p:ph idx="1" type="body"/>
          </p:nvPr>
        </p:nvSpPr>
        <p:spPr>
          <a:xfrm>
            <a:off x="1524000" y="1138238"/>
            <a:ext cx="47001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/>
              <a:t>Additivity: </a:t>
            </a:r>
            <a:r>
              <a:rPr b="1" i="1" lang="en-US" sz="2700" u="none">
                <a:solidFill>
                  <a:schemeClr val="dk1"/>
                </a:solidFill>
              </a:rPr>
              <a:t>L(p + q) = L(p) + L(q)</a:t>
            </a:r>
            <a:endParaRPr b="1" sz="27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-US" sz="2700"/>
              <a:t>Homogeneity</a:t>
            </a:r>
            <a:r>
              <a:rPr b="1" lang="en-US" sz="2700"/>
              <a:t>: </a:t>
            </a:r>
            <a:r>
              <a:rPr b="1" i="1" lang="en-US" sz="2700" u="none">
                <a:solidFill>
                  <a:schemeClr val="dk1"/>
                </a:solidFill>
              </a:rPr>
              <a:t>L(ap) = a L(p)</a:t>
            </a:r>
            <a:endParaRPr b="1" sz="2700"/>
          </a:p>
        </p:txBody>
      </p:sp>
      <p:sp>
        <p:nvSpPr>
          <p:cNvPr id="224" name="Google Shape;224;g324c97c9df4_10_0"/>
          <p:cNvSpPr txBox="1"/>
          <p:nvPr/>
        </p:nvSpPr>
        <p:spPr>
          <a:xfrm>
            <a:off x="1600200" y="3657600"/>
            <a:ext cx="12225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/>
          </a:p>
        </p:txBody>
      </p:sp>
      <p:sp>
        <p:nvSpPr>
          <p:cNvPr id="225" name="Google Shape;225;g324c97c9df4_10_0"/>
          <p:cNvSpPr txBox="1"/>
          <p:nvPr/>
        </p:nvSpPr>
        <p:spPr>
          <a:xfrm>
            <a:off x="3276600" y="382905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endParaRPr/>
          </a:p>
        </p:txBody>
      </p:sp>
      <p:sp>
        <p:nvSpPr>
          <p:cNvPr id="226" name="Google Shape;226;g324c97c9df4_10_0"/>
          <p:cNvSpPr txBox="1"/>
          <p:nvPr/>
        </p:nvSpPr>
        <p:spPr>
          <a:xfrm>
            <a:off x="1295400" y="2914650"/>
            <a:ext cx="2819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/ Euclidean</a:t>
            </a:r>
            <a:endParaRPr/>
          </a:p>
        </p:txBody>
      </p:sp>
      <p:sp>
        <p:nvSpPr>
          <p:cNvPr id="227" name="Google Shape;227;g324c97c9df4_10_0"/>
          <p:cNvSpPr txBox="1"/>
          <p:nvPr/>
        </p:nvSpPr>
        <p:spPr>
          <a:xfrm>
            <a:off x="5943600" y="2533650"/>
            <a:ext cx="1027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endParaRPr/>
          </a:p>
        </p:txBody>
      </p:sp>
      <p:sp>
        <p:nvSpPr>
          <p:cNvPr id="228" name="Google Shape;228;g324c97c9df4_10_0"/>
          <p:cNvSpPr/>
          <p:nvPr/>
        </p:nvSpPr>
        <p:spPr>
          <a:xfrm>
            <a:off x="609600" y="2743200"/>
            <a:ext cx="5867400" cy="1928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g324c97c9df4_10_0"/>
          <p:cNvSpPr txBox="1"/>
          <p:nvPr/>
        </p:nvSpPr>
        <p:spPr>
          <a:xfrm>
            <a:off x="2667000" y="2305050"/>
            <a:ext cx="1808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Similitudes</a:t>
            </a:r>
            <a:endParaRPr/>
          </a:p>
        </p:txBody>
      </p:sp>
      <p:sp>
        <p:nvSpPr>
          <p:cNvPr id="230" name="Google Shape;230;g324c97c9df4_10_0"/>
          <p:cNvSpPr txBox="1"/>
          <p:nvPr/>
        </p:nvSpPr>
        <p:spPr>
          <a:xfrm>
            <a:off x="4478337" y="3657600"/>
            <a:ext cx="1924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Isotropic Scaling</a:t>
            </a:r>
            <a:endParaRPr/>
          </a:p>
        </p:txBody>
      </p:sp>
      <p:sp>
        <p:nvSpPr>
          <p:cNvPr id="231" name="Google Shape;231;g324c97c9df4_10_0"/>
          <p:cNvSpPr txBox="1"/>
          <p:nvPr/>
        </p:nvSpPr>
        <p:spPr>
          <a:xfrm>
            <a:off x="6705600" y="331470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  <a:endParaRPr/>
          </a:p>
        </p:txBody>
      </p:sp>
      <p:sp>
        <p:nvSpPr>
          <p:cNvPr id="232" name="Google Shape;232;g324c97c9df4_10_0"/>
          <p:cNvSpPr txBox="1"/>
          <p:nvPr/>
        </p:nvSpPr>
        <p:spPr>
          <a:xfrm>
            <a:off x="6781800" y="4000500"/>
            <a:ext cx="91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</a:t>
            </a:r>
            <a:endParaRPr/>
          </a:p>
        </p:txBody>
      </p:sp>
      <p:sp>
        <p:nvSpPr>
          <p:cNvPr id="233" name="Google Shape;233;g324c97c9df4_10_0"/>
          <p:cNvSpPr txBox="1"/>
          <p:nvPr/>
        </p:nvSpPr>
        <p:spPr>
          <a:xfrm>
            <a:off x="6648450" y="3657600"/>
            <a:ext cx="1247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</a:t>
            </a:r>
            <a:endParaRPr/>
          </a:p>
        </p:txBody>
      </p:sp>
      <p:sp>
        <p:nvSpPr>
          <p:cNvPr id="234" name="Google Shape;234;g324c97c9df4_10_0"/>
          <p:cNvSpPr txBox="1"/>
          <p:nvPr/>
        </p:nvSpPr>
        <p:spPr>
          <a:xfrm>
            <a:off x="3352800" y="3486150"/>
            <a:ext cx="1143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</a:t>
            </a:r>
            <a:endParaRPr/>
          </a:p>
        </p:txBody>
      </p:sp>
      <p:sp>
        <p:nvSpPr>
          <p:cNvPr id="235" name="Google Shape;235;g324c97c9df4_10_0"/>
          <p:cNvSpPr/>
          <p:nvPr/>
        </p:nvSpPr>
        <p:spPr>
          <a:xfrm>
            <a:off x="3124200" y="2971800"/>
            <a:ext cx="4953000" cy="16002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g324c97c9df4_10_0"/>
          <p:cNvSpPr/>
          <p:nvPr/>
        </p:nvSpPr>
        <p:spPr>
          <a:xfrm>
            <a:off x="1066800" y="3314700"/>
            <a:ext cx="3505200" cy="1176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g324c97c9df4_10_0"/>
          <p:cNvPicPr preferRelativeResize="0"/>
          <p:nvPr/>
        </p:nvPicPr>
        <p:blipFill rotWithShape="1">
          <a:blip r:embed="rId3">
            <a:alphaModFix/>
          </a:blip>
          <a:srcRect b="56250" l="52810" r="4250" t="13997"/>
          <a:stretch/>
        </p:blipFill>
        <p:spPr>
          <a:xfrm>
            <a:off x="6053625" y="1437084"/>
            <a:ext cx="3090376" cy="120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>
            <p:ph type="title"/>
          </p:nvPr>
        </p:nvSpPr>
        <p:spPr>
          <a:xfrm>
            <a:off x="1676400" y="114300"/>
            <a:ext cx="60198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Transformations</a:t>
            </a:r>
            <a:endParaRPr/>
          </a:p>
        </p:txBody>
      </p:sp>
      <p:sp>
        <p:nvSpPr>
          <p:cNvPr id="245" name="Google Shape;245;p11"/>
          <p:cNvSpPr txBox="1"/>
          <p:nvPr>
            <p:ph idx="1" type="body"/>
          </p:nvPr>
        </p:nvSpPr>
        <p:spPr>
          <a:xfrm>
            <a:off x="1600200" y="1143000"/>
            <a:ext cx="2667000" cy="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lines</a:t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2076450" y="3543300"/>
            <a:ext cx="133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3810000" y="371475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1828800" y="2800350"/>
            <a:ext cx="2819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/ Euclidean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6543675" y="2571750"/>
            <a:ext cx="89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914400" y="2228850"/>
            <a:ext cx="8001000" cy="24576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143000" y="2628900"/>
            <a:ext cx="5867400" cy="1828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3465512" y="2266950"/>
            <a:ext cx="1359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Similitudes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5011737" y="3543300"/>
            <a:ext cx="1924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Isotropic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7239000" y="320040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7315200" y="3886200"/>
            <a:ext cx="91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7181850" y="3543300"/>
            <a:ext cx="1247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3886200" y="3371850"/>
            <a:ext cx="1143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657600" y="2857500"/>
            <a:ext cx="4953000" cy="1600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600200" y="3200400"/>
            <a:ext cx="3429000" cy="1088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3">
            <a:alphaModFix/>
          </a:blip>
          <a:srcRect b="59750" l="47124" r="4435" t="14166"/>
          <a:stretch/>
        </p:blipFill>
        <p:spPr>
          <a:xfrm>
            <a:off x="4264025" y="689371"/>
            <a:ext cx="4708524" cy="142517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 txBox="1"/>
          <p:nvPr/>
        </p:nvSpPr>
        <p:spPr>
          <a:xfrm>
            <a:off x="3951287" y="1781175"/>
            <a:ext cx="846000" cy="4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/>
          <p:nvPr/>
        </p:nvSpPr>
        <p:spPr>
          <a:xfrm>
            <a:off x="37973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6.837 Fall 06 – Durand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72390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2590800" y="4572000"/>
            <a:ext cx="3581400" cy="57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2"/>
          <p:cNvSpPr txBox="1"/>
          <p:nvPr>
            <p:ph type="title"/>
          </p:nvPr>
        </p:nvSpPr>
        <p:spPr>
          <a:xfrm>
            <a:off x="990600" y="209550"/>
            <a:ext cx="64008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Transformations</a:t>
            </a:r>
            <a:endParaRPr/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1524000" y="1089422"/>
            <a:ext cx="2667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Noto Sans Symbols"/>
              <a:buChar char="✶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lines</a:t>
            </a:r>
            <a:endParaRPr/>
          </a:p>
        </p:txBody>
      </p:sp>
      <p:sp>
        <p:nvSpPr>
          <p:cNvPr id="272" name="Google Shape;272;p12"/>
          <p:cNvSpPr txBox="1"/>
          <p:nvPr/>
        </p:nvSpPr>
        <p:spPr>
          <a:xfrm>
            <a:off x="1543050" y="3543300"/>
            <a:ext cx="133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3276600" y="371475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1295400" y="2800350"/>
            <a:ext cx="2819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/ Euclidean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6010275" y="2571750"/>
            <a:ext cx="89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381000" y="2228850"/>
            <a:ext cx="8001000" cy="2457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3951287" y="1885950"/>
            <a:ext cx="846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09600" y="2628900"/>
            <a:ext cx="5867400" cy="17145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3763962" y="1485900"/>
            <a:ext cx="1233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2932112" y="2343150"/>
            <a:ext cx="1359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Similitudes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4478337" y="3543300"/>
            <a:ext cx="1924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Isotropic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6705600" y="3200400"/>
            <a:ext cx="1066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6781800" y="3886200"/>
            <a:ext cx="91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6648450" y="3543300"/>
            <a:ext cx="1247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3822700" y="4686300"/>
            <a:ext cx="136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3352800" y="3371850"/>
            <a:ext cx="1143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3124200" y="2857500"/>
            <a:ext cx="4953000" cy="1600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66800" y="3086100"/>
            <a:ext cx="3429000" cy="1143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288125" y="1915675"/>
            <a:ext cx="8607300" cy="32004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12"/>
          <p:cNvPicPr preferRelativeResize="0"/>
          <p:nvPr/>
        </p:nvPicPr>
        <p:blipFill rotWithShape="1">
          <a:blip r:embed="rId3">
            <a:alphaModFix/>
          </a:blip>
          <a:srcRect b="54497" l="73500" r="1811" t="2166"/>
          <a:stretch/>
        </p:blipFill>
        <p:spPr>
          <a:xfrm>
            <a:off x="6742112" y="0"/>
            <a:ext cx="2401888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 txBox="1"/>
          <p:nvPr>
            <p:ph type="title"/>
          </p:nvPr>
        </p:nvSpPr>
        <p:spPr>
          <a:xfrm>
            <a:off x="990600" y="323850"/>
            <a:ext cx="87663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are Transforms Represented?</a:t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2819400" y="1108472"/>
            <a:ext cx="27432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 = ax + by +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y' = dx + ey +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657600" y="2422926"/>
            <a:ext cx="1295400" cy="1126200"/>
          </a:xfrm>
          <a:prstGeom prst="bracketPair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324600" y="2422926"/>
            <a:ext cx="533400" cy="1074900"/>
          </a:xfrm>
          <a:prstGeom prst="bracketPair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2438400" y="2422926"/>
            <a:ext cx="609600" cy="1126200"/>
          </a:xfrm>
          <a:prstGeom prst="bracketPai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2590800" y="2480072"/>
            <a:ext cx="3810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3886200" y="2480072"/>
            <a:ext cx="8382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6477000" y="2474119"/>
            <a:ext cx="228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3200400" y="2708672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5334000" y="2474119"/>
            <a:ext cx="3810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181600" y="2422926"/>
            <a:ext cx="533400" cy="1126200"/>
          </a:xfrm>
          <a:prstGeom prst="bracketPai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5867400" y="2686050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2522537" y="3794522"/>
            <a:ext cx="42069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0" i="1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p'   =      </a:t>
            </a:r>
            <a:r>
              <a:rPr b="0" i="1" lang="en-US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1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   +   </a:t>
            </a:r>
            <a:r>
              <a:rPr b="0" i="1" lang="en-US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 txBox="1"/>
          <p:nvPr>
            <p:ph type="title"/>
          </p:nvPr>
        </p:nvSpPr>
        <p:spPr>
          <a:xfrm>
            <a:off x="866775" y="133350"/>
            <a:ext cx="80010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3600"/>
              <a:buFont typeface="Times New Roman"/>
              <a:buNone/>
            </a:pPr>
            <a:r>
              <a:rPr b="0" i="1" lang="en-US" sz="36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in homogeneous coordinates</a:t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3200400" y="775097"/>
            <a:ext cx="2743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 = ax + by +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y' = dx + ey +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429375" y="2422926"/>
            <a:ext cx="1704900" cy="1657200"/>
          </a:xfrm>
          <a:prstGeom prst="bracketPair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210175" y="2422926"/>
            <a:ext cx="609600" cy="1657200"/>
          </a:xfrm>
          <a:prstGeom prst="bracketPai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5362575" y="2480071"/>
            <a:ext cx="3810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6657975" y="2480071"/>
            <a:ext cx="8382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	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7753350" y="2474119"/>
            <a:ext cx="2286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5972175" y="2708672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8458200" y="2474119"/>
            <a:ext cx="3810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8334375" y="2422926"/>
            <a:ext cx="533400" cy="1657200"/>
          </a:xfrm>
          <a:prstGeom prst="bracketPai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5294312" y="4094559"/>
            <a:ext cx="28338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0" i="1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p' = </a:t>
            </a:r>
            <a:r>
              <a:rPr b="0" i="1" lang="en-US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1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1219200" y="2687252"/>
            <a:ext cx="1295400" cy="1126200"/>
          </a:xfrm>
          <a:prstGeom prst="bracketPair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886200" y="2687252"/>
            <a:ext cx="533400" cy="1126200"/>
          </a:xfrm>
          <a:prstGeom prst="bracketPair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0" y="2687240"/>
            <a:ext cx="609600" cy="914400"/>
          </a:xfrm>
          <a:prstGeom prst="bracketPai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152400" y="2744390"/>
            <a:ext cx="3810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1447800" y="2744390"/>
            <a:ext cx="8382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4038600" y="2738438"/>
            <a:ext cx="228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762000" y="2972990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2895600" y="2738438"/>
            <a:ext cx="3810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2743200" y="2687252"/>
            <a:ext cx="533400" cy="1126200"/>
          </a:xfrm>
          <a:prstGeom prst="bracketPai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3429000" y="2950369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84137" y="4058840"/>
            <a:ext cx="42069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0" i="1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p' = </a:t>
            </a:r>
            <a:r>
              <a:rPr b="0" i="1" lang="en-US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1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+ </a:t>
            </a:r>
            <a:r>
              <a:rPr b="0" i="1" lang="en-US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14"/>
          <p:cNvCxnSpPr/>
          <p:nvPr/>
        </p:nvCxnSpPr>
        <p:spPr>
          <a:xfrm>
            <a:off x="4800600" y="2193131"/>
            <a:ext cx="0" cy="24075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9" name="Google Shape;339;p14"/>
          <p:cNvSpPr txBox="1"/>
          <p:nvPr/>
        </p:nvSpPr>
        <p:spPr>
          <a:xfrm>
            <a:off x="641350" y="2071688"/>
            <a:ext cx="287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Cartesian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5146675" y="1919300"/>
            <a:ext cx="36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Coordinates</a:t>
            </a:r>
            <a:endParaRPr/>
          </a:p>
        </p:txBody>
      </p:sp>
      <p:sp>
        <p:nvSpPr>
          <p:cNvPr id="348" name="Google Shape;348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111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Translation, scaling and rotation are expressed (non-homogeneously) as:</a:t>
            </a:r>
            <a:endParaRPr sz="1600"/>
          </a:p>
          <a:p>
            <a:pPr indent="-25400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</a:pPr>
            <a:r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translation: P′ = P + T</a:t>
            </a:r>
            <a:endParaRPr sz="1300"/>
          </a:p>
          <a:p>
            <a:pPr indent="-25400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</a:pPr>
            <a:r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Scale: P′ = S · P</a:t>
            </a:r>
            <a:endParaRPr sz="1300"/>
          </a:p>
          <a:p>
            <a:pPr indent="-25400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</a:pPr>
            <a:r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Rotate: P′ = R · P</a:t>
            </a:r>
            <a:endParaRPr sz="1300"/>
          </a:p>
          <a:p>
            <a:pPr indent="-31115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Composition is difficult to express, since translation not expressed as a matrix multiplication</a:t>
            </a:r>
            <a:endParaRPr sz="1600"/>
          </a:p>
          <a:p>
            <a:pPr indent="-31115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coordinates allow all three to be expressed homogeneously, using multiplication by 3 </a:t>
            </a:r>
            <a:r>
              <a:rPr b="0" i="0" lang="en-US" sz="23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 3</a:t>
            </a: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matrices</a:t>
            </a:r>
            <a:endParaRPr sz="1600"/>
          </a:p>
          <a:p>
            <a:pPr indent="-31115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is 1 for affine transformations in graphics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 txBox="1"/>
          <p:nvPr>
            <p:ph type="title"/>
          </p:nvPr>
        </p:nvSpPr>
        <p:spPr>
          <a:xfrm>
            <a:off x="1600200" y="114300"/>
            <a:ext cx="73152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Coordinates</a:t>
            </a:r>
            <a:endParaRPr/>
          </a:p>
        </p:txBody>
      </p:sp>
      <p:sp>
        <p:nvSpPr>
          <p:cNvPr id="356" name="Google Shape;356;p16"/>
          <p:cNvSpPr txBox="1"/>
          <p:nvPr>
            <p:ph idx="1" type="body"/>
          </p:nvPr>
        </p:nvSpPr>
        <p:spPr>
          <a:xfrm>
            <a:off x="1295400" y="1028700"/>
            <a:ext cx="57912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40"/>
              <a:buFont typeface="Noto Sans Symbols"/>
              <a:buChar char="✶"/>
            </a:pPr>
            <a:r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an extra dimension</a:t>
            </a:r>
            <a:endParaRPr sz="800"/>
          </a:p>
          <a:p>
            <a:pPr indent="-18415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b="0" i="0" lang="en-US" sz="1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2D, we use 3 x 3 matrices</a:t>
            </a:r>
            <a:endParaRPr sz="800"/>
          </a:p>
          <a:p>
            <a:pPr indent="-18415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</a:pPr>
            <a:r>
              <a:rPr b="0" i="0" lang="en-US" sz="1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3D, we use 4 x 4 matrices</a:t>
            </a:r>
            <a:endParaRPr sz="800"/>
          </a:p>
          <a:p>
            <a:pPr indent="-257175" lvl="0" marL="339725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740"/>
              <a:buFont typeface="Noto Sans Symbols"/>
              <a:buChar char="✶"/>
            </a:pPr>
            <a:r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point has an extra value, </a:t>
            </a:r>
            <a:r>
              <a:rPr b="0" i="1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800"/>
          </a:p>
        </p:txBody>
      </p:sp>
      <p:sp>
        <p:nvSpPr>
          <p:cNvPr id="357" name="Google Shape;357;p16"/>
          <p:cNvSpPr/>
          <p:nvPr/>
        </p:nvSpPr>
        <p:spPr>
          <a:xfrm>
            <a:off x="3048000" y="2483644"/>
            <a:ext cx="2514600" cy="18144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1828800" y="2407444"/>
            <a:ext cx="685800" cy="18144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1905000" y="2457450"/>
            <a:ext cx="5334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y'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z'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w'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2743200" y="3078956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6019800" y="2451496"/>
            <a:ext cx="5334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6019800" y="2407444"/>
            <a:ext cx="533400" cy="18144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3276600" y="2450300"/>
            <a:ext cx="4479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3788341" y="2450300"/>
            <a:ext cx="4479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4300082" y="2450300"/>
            <a:ext cx="4479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4811824" y="2450300"/>
            <a:ext cx="4479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1992312" y="4300538"/>
            <a:ext cx="44769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p' = </a:t>
            </a: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7"/>
          <p:cNvSpPr txBox="1"/>
          <p:nvPr>
            <p:ph type="title"/>
          </p:nvPr>
        </p:nvSpPr>
        <p:spPr>
          <a:xfrm>
            <a:off x="1676400" y="57150"/>
            <a:ext cx="60198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Coordinates</a:t>
            </a:r>
            <a:endParaRPr/>
          </a:p>
        </p:txBody>
      </p:sp>
      <p:sp>
        <p:nvSpPr>
          <p:cNvPr id="375" name="Google Shape;375;p17"/>
          <p:cNvSpPr txBox="1"/>
          <p:nvPr>
            <p:ph idx="1" type="body"/>
          </p:nvPr>
        </p:nvSpPr>
        <p:spPr>
          <a:xfrm>
            <a:off x="1444625" y="1026319"/>
            <a:ext cx="73947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 time w = 1, and we can ignore it</a:t>
            </a:r>
            <a:endParaRPr/>
          </a:p>
          <a:p>
            <a:pPr indent="-17081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multiply a homogeneous coordinate 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an </a:t>
            </a:r>
            <a:r>
              <a:rPr b="0" i="1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matrix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 is unchanged</a:t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3581400" y="1821656"/>
            <a:ext cx="2524200" cy="18144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2286000" y="1821656"/>
            <a:ext cx="609600" cy="18144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17"/>
          <p:cNvSpPr txBox="1"/>
          <p:nvPr/>
        </p:nvSpPr>
        <p:spPr>
          <a:xfrm>
            <a:off x="2371725" y="1871663"/>
            <a:ext cx="5238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y'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z'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0" lang="en-US" sz="23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3124200" y="2493169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7"/>
          <p:cNvSpPr txBox="1"/>
          <p:nvPr/>
        </p:nvSpPr>
        <p:spPr>
          <a:xfrm>
            <a:off x="6433919" y="1902586"/>
            <a:ext cx="5238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0" lang="en-US" sz="23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6400800" y="1821656"/>
            <a:ext cx="533400" cy="18144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3667125" y="1864519"/>
            <a:ext cx="5238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4276725" y="1864519"/>
            <a:ext cx="5238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4886325" y="1864519"/>
            <a:ext cx="5238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5495925" y="1864519"/>
            <a:ext cx="5238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Coordinates</a:t>
            </a:r>
            <a:endParaRPr/>
          </a:p>
        </p:txBody>
      </p:sp>
      <p:sp>
        <p:nvSpPr>
          <p:cNvPr id="392" name="Google Shape;392;p18"/>
          <p:cNvSpPr txBox="1"/>
          <p:nvPr>
            <p:ph idx="1" type="body"/>
          </p:nvPr>
        </p:nvSpPr>
        <p:spPr>
          <a:xfrm>
            <a:off x="1455763" y="1235275"/>
            <a:ext cx="7626300" cy="23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60"/>
              <a:buFont typeface="Noto Sans Symbols"/>
              <a:buChar char="✶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projection of P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onto the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 plane</a:t>
            </a:r>
            <a:endParaRPr sz="1700"/>
          </a:p>
          <a:p>
            <a:pPr indent="-3175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260"/>
              <a:buFont typeface="Noto Sans Symbols"/>
              <a:buChar char="✶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an infinite number of points correspond to : they constitute the whole line (tx, ty, tw)</a:t>
            </a:r>
            <a:endParaRPr sz="1700"/>
          </a:p>
        </p:txBody>
      </p:sp>
      <p:grpSp>
        <p:nvGrpSpPr>
          <p:cNvPr id="393" name="Google Shape;393;p18"/>
          <p:cNvGrpSpPr/>
          <p:nvPr/>
        </p:nvGrpSpPr>
        <p:grpSpPr>
          <a:xfrm>
            <a:off x="3505200" y="2857500"/>
            <a:ext cx="3527425" cy="2014538"/>
            <a:chOff x="3024" y="1536"/>
            <a:chExt cx="2222" cy="1692"/>
          </a:xfrm>
        </p:grpSpPr>
        <p:cxnSp>
          <p:nvCxnSpPr>
            <p:cNvPr id="394" name="Google Shape;394;p18"/>
            <p:cNvCxnSpPr/>
            <p:nvPr/>
          </p:nvCxnSpPr>
          <p:spPr>
            <a:xfrm rot="10800000">
              <a:off x="3648" y="1632"/>
              <a:ext cx="0" cy="10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95" name="Google Shape;395;p18"/>
            <p:cNvCxnSpPr/>
            <p:nvPr/>
          </p:nvCxnSpPr>
          <p:spPr>
            <a:xfrm>
              <a:off x="3648" y="2688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96" name="Google Shape;396;p18"/>
            <p:cNvCxnSpPr/>
            <p:nvPr/>
          </p:nvCxnSpPr>
          <p:spPr>
            <a:xfrm flipH="1">
              <a:off x="3024" y="2688"/>
              <a:ext cx="624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97" name="Google Shape;397;p18"/>
            <p:cNvSpPr txBox="1"/>
            <p:nvPr/>
          </p:nvSpPr>
          <p:spPr>
            <a:xfrm>
              <a:off x="3117" y="292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8"/>
            <p:cNvSpPr txBox="1"/>
            <p:nvPr/>
          </p:nvSpPr>
          <p:spPr>
            <a:xfrm>
              <a:off x="4464" y="268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8"/>
            <p:cNvSpPr txBox="1"/>
            <p:nvPr/>
          </p:nvSpPr>
          <p:spPr>
            <a:xfrm>
              <a:off x="3648" y="153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3024" y="2208"/>
              <a:ext cx="1632" cy="336"/>
            </a:xfrm>
            <a:prstGeom prst="parallelogram">
              <a:avLst>
                <a:gd fmla="val 8378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lt1"/>
                </a:gs>
              </a:gsLst>
              <a:lin ang="27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3984" y="2304"/>
              <a:ext cx="48" cy="4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2" name="Google Shape;402;p18"/>
            <p:cNvCxnSpPr/>
            <p:nvPr/>
          </p:nvCxnSpPr>
          <p:spPr>
            <a:xfrm flipH="1" rot="10800000">
              <a:off x="3648" y="1728"/>
              <a:ext cx="960" cy="96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03" name="Google Shape;403;p18"/>
            <p:cNvCxnSpPr/>
            <p:nvPr/>
          </p:nvCxnSpPr>
          <p:spPr>
            <a:xfrm flipH="1" rot="10800000">
              <a:off x="3648" y="2544"/>
              <a:ext cx="144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18"/>
            <p:cNvCxnSpPr/>
            <p:nvPr/>
          </p:nvCxnSpPr>
          <p:spPr>
            <a:xfrm flipH="1" rot="10800000">
              <a:off x="3984" y="1728"/>
              <a:ext cx="624" cy="6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05" name="Google Shape;405;p18"/>
            <p:cNvSpPr/>
            <p:nvPr/>
          </p:nvSpPr>
          <p:spPr>
            <a:xfrm>
              <a:off x="4596" y="1692"/>
              <a:ext cx="48" cy="4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18"/>
            <p:cNvSpPr txBox="1"/>
            <p:nvPr/>
          </p:nvSpPr>
          <p:spPr>
            <a:xfrm>
              <a:off x="4646" y="160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66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P</a:t>
              </a:r>
              <a:r>
                <a:rPr b="0" baseline="-25000" i="0" lang="en-US" sz="18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h</a:t>
              </a:r>
              <a:r>
                <a:rPr b="0" i="0" lang="en-US" sz="18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(x,y,w)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8"/>
            <p:cNvSpPr txBox="1"/>
            <p:nvPr/>
          </p:nvSpPr>
          <p:spPr>
            <a:xfrm>
              <a:off x="4272" y="230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66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P</a:t>
              </a:r>
              <a:r>
                <a:rPr b="0" baseline="-25000" i="0" lang="en-US" sz="18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2d</a:t>
              </a:r>
              <a:r>
                <a:rPr b="0" i="0" lang="en-US" sz="18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(x,y,1)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8"/>
            <p:cNvSpPr txBox="1"/>
            <p:nvPr/>
          </p:nvSpPr>
          <p:spPr>
            <a:xfrm>
              <a:off x="3264" y="201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66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000066"/>
                  </a:solidFill>
                  <a:latin typeface="Tahoma"/>
                  <a:ea typeface="Tahoma"/>
                  <a:cs typeface="Tahoma"/>
                  <a:sym typeface="Tahoma"/>
                </a:rPr>
                <a:t>w=1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Visualization</a:t>
            </a:r>
            <a:endParaRPr/>
          </a:p>
        </p:txBody>
      </p:sp>
      <p:pic>
        <p:nvPicPr>
          <p:cNvPr id="415" name="Google Shape;415;p19"/>
          <p:cNvPicPr preferRelativeResize="0"/>
          <p:nvPr/>
        </p:nvPicPr>
        <p:blipFill rotWithShape="1">
          <a:blip r:embed="rId3">
            <a:alphaModFix/>
          </a:blip>
          <a:srcRect b="9375" l="2499" r="0" t="17968"/>
          <a:stretch/>
        </p:blipFill>
        <p:spPr>
          <a:xfrm>
            <a:off x="914400" y="1390650"/>
            <a:ext cx="7543802" cy="337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Mechanics of Rigid Transformations</a:t>
            </a:r>
            <a:endParaRPr/>
          </a:p>
        </p:txBody>
      </p:sp>
      <p:sp>
        <p:nvSpPr>
          <p:cNvPr id="421" name="Google Shape;421;p2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040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</a:t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7391400" y="4762500"/>
            <a:ext cx="172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1528762" y="285750"/>
            <a:ext cx="7564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– 2D</a:t>
            </a:r>
            <a:endParaRPr/>
          </a:p>
        </p:txBody>
      </p:sp>
      <p:graphicFrame>
        <p:nvGraphicFramePr>
          <p:cNvPr id="430" name="Google Shape;430;p21"/>
          <p:cNvGraphicFramePr/>
          <p:nvPr/>
        </p:nvGraphicFramePr>
        <p:xfrm>
          <a:off x="2355850" y="1026319"/>
          <a:ext cx="2181224" cy="1921669"/>
        </p:xfrm>
        <a:graphic>
          <a:graphicData uri="http://schemas.openxmlformats.org/presentationml/2006/ole">
            <mc:AlternateContent>
              <mc:Choice Requires="v">
                <p:oleObj r:id="rId4" imgH="1921669" imgW="2181224" progId="Visio.Drawing.4" spid="_x0000_s1">
                  <p:embed/>
                </p:oleObj>
              </mc:Choice>
              <mc:Fallback>
                <p:oleObj r:id="rId5" imgH="1921669" imgW="2181224" progId="Visio.Drawing.4">
                  <p:embed/>
                  <p:pic>
                    <p:nvPicPr>
                      <p:cNvPr id="430" name="Google Shape;430;p2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55850" y="1026319"/>
                        <a:ext cx="2181224" cy="1921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1" name="Google Shape;4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24200" y="3049190"/>
            <a:ext cx="4114800" cy="2094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21"/>
          <p:cNvGrpSpPr/>
          <p:nvPr/>
        </p:nvGrpSpPr>
        <p:grpSpPr>
          <a:xfrm>
            <a:off x="1447800" y="1028700"/>
            <a:ext cx="7270750" cy="2828925"/>
            <a:chOff x="912" y="864"/>
            <a:chExt cx="4580" cy="2376"/>
          </a:xfrm>
        </p:grpSpPr>
        <p:sp>
          <p:nvSpPr>
            <p:cNvPr id="433" name="Google Shape;433;p21"/>
            <p:cNvSpPr txBox="1"/>
            <p:nvPr/>
          </p:nvSpPr>
          <p:spPr>
            <a:xfrm>
              <a:off x="912" y="2640"/>
              <a:ext cx="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x’ = x + 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y’ = y + d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aphicFrame>
          <p:nvGraphicFramePr>
            <p:cNvPr id="434" name="Google Shape;434;p21"/>
            <p:cNvGraphicFramePr/>
            <p:nvPr/>
          </p:nvGraphicFramePr>
          <p:xfrm>
            <a:off x="3408" y="864"/>
            <a:ext cx="2084" cy="1604"/>
          </p:xfrm>
          <a:graphic>
            <a:graphicData uri="http://schemas.openxmlformats.org/presentationml/2006/ole">
              <mc:AlternateContent>
                <mc:Choice Requires="v">
                  <p:oleObj r:id="rId8" imgH="1604" imgW="2084" progId="Visio.Drawing.4" spid="_x0000_s2">
                    <p:embed/>
                  </p:oleObj>
                </mc:Choice>
                <mc:Fallback>
                  <p:oleObj r:id="rId9" imgH="1604" imgW="2084" progId="Visio.Drawing.4">
                    <p:embed/>
                    <p:pic>
                      <p:nvPicPr>
                        <p:cNvPr id="434" name="Google Shape;434;p21"/>
                        <p:cNvPicPr preferRelativeResize="0"/>
                        <p:nvPr/>
                      </p:nvPicPr>
                      <p:blipFill rotWithShape="1">
                        <a:blip r:embed="rId10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408" y="864"/>
                          <a:ext cx="2084" cy="16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35" name="Google Shape;43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– 3D</a:t>
            </a:r>
            <a:endParaRPr/>
          </a:p>
        </p:txBody>
      </p:sp>
      <p:pic>
        <p:nvPicPr>
          <p:cNvPr id="443" name="Google Shape;4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2743200"/>
            <a:ext cx="2952751" cy="2134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USERS\STEVE\4ba6\teapot normal axes.png" id="444" name="Google Shape;4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1028700"/>
            <a:ext cx="28130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USERS\STEVE\4ba6\teapot off axes.png" id="445" name="Google Shape;4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3257550"/>
            <a:ext cx="28146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0" y="1085850"/>
            <a:ext cx="1047751" cy="104894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/>
          <p:nvPr/>
        </p:nvSpPr>
        <p:spPr>
          <a:xfrm>
            <a:off x="5791200" y="2286000"/>
            <a:ext cx="609600" cy="342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438400" y="2800350"/>
            <a:ext cx="609600" cy="342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3"/>
          <p:cNvSpPr txBox="1"/>
          <p:nvPr>
            <p:ph type="title"/>
          </p:nvPr>
        </p:nvSpPr>
        <p:spPr>
          <a:xfrm>
            <a:off x="1528762" y="57150"/>
            <a:ext cx="670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– 2D</a:t>
            </a:r>
            <a:endParaRPr/>
          </a:p>
        </p:txBody>
      </p:sp>
      <p:graphicFrame>
        <p:nvGraphicFramePr>
          <p:cNvPr id="455" name="Google Shape;455;p23"/>
          <p:cNvGraphicFramePr/>
          <p:nvPr/>
        </p:nvGraphicFramePr>
        <p:xfrm>
          <a:off x="1524000" y="1218009"/>
          <a:ext cx="3371848" cy="1468040"/>
        </p:xfrm>
        <a:graphic>
          <a:graphicData uri="http://schemas.openxmlformats.org/presentationml/2006/ole">
            <mc:AlternateContent>
              <mc:Choice Requires="v">
                <p:oleObj r:id="rId4" imgH="1468040" imgW="3371848" progId="Visio.Drawing.4" spid="_x0000_s1">
                  <p:embed/>
                </p:oleObj>
              </mc:Choice>
              <mc:Fallback>
                <p:oleObj r:id="rId5" imgH="1468040" imgW="3371848" progId="Visio.Drawing.4">
                  <p:embed/>
                  <p:pic>
                    <p:nvPicPr>
                      <p:cNvPr id="455" name="Google Shape;455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24000" y="1218009"/>
                        <a:ext cx="3371848" cy="1468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6" name="Google Shape;45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8775" y="2800350"/>
            <a:ext cx="2230039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3"/>
          <p:cNvSpPr txBox="1"/>
          <p:nvPr/>
        </p:nvSpPr>
        <p:spPr>
          <a:xfrm>
            <a:off x="6051550" y="1245394"/>
            <a:ext cx="2863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Types of Scaling: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Differential ( s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!= s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Uniform ( s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s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58" name="Google Shape;458;p23"/>
          <p:cNvGrpSpPr/>
          <p:nvPr/>
        </p:nvGrpSpPr>
        <p:grpSpPr>
          <a:xfrm>
            <a:off x="4495800" y="3506390"/>
            <a:ext cx="4100512" cy="1438275"/>
            <a:chOff x="3024" y="2945"/>
            <a:chExt cx="2583" cy="1208"/>
          </a:xfrm>
        </p:grpSpPr>
        <p:pic>
          <p:nvPicPr>
            <p:cNvPr id="459" name="Google Shape;459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93" y="2945"/>
              <a:ext cx="2014" cy="12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23"/>
            <p:cNvSpPr/>
            <p:nvPr/>
          </p:nvSpPr>
          <p:spPr>
            <a:xfrm>
              <a:off x="3024" y="3648"/>
              <a:ext cx="384" cy="336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– 3D</a:t>
            </a:r>
            <a:endParaRPr/>
          </a:p>
        </p:txBody>
      </p:sp>
      <p:pic>
        <p:nvPicPr>
          <p:cNvPr id="467" name="Google Shape;4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2662" y="2828925"/>
            <a:ext cx="3263502" cy="231457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4"/>
          <p:cNvSpPr/>
          <p:nvPr/>
        </p:nvSpPr>
        <p:spPr>
          <a:xfrm flipH="1">
            <a:off x="7924800" y="2343150"/>
            <a:ext cx="533400" cy="342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9" name="Google Shape;469;p24"/>
          <p:cNvGrpSpPr/>
          <p:nvPr/>
        </p:nvGrpSpPr>
        <p:grpSpPr>
          <a:xfrm>
            <a:off x="1447800" y="1028700"/>
            <a:ext cx="2813050" cy="1714500"/>
            <a:chOff x="528" y="864"/>
            <a:chExt cx="1772" cy="1440"/>
          </a:xfrm>
        </p:grpSpPr>
        <p:pic>
          <p:nvPicPr>
            <p:cNvPr descr="D:\USERS\STEVE\4ba6\teapot normal axes.png" id="470" name="Google Shape;470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8" y="864"/>
              <a:ext cx="1772" cy="1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24"/>
            <p:cNvSpPr txBox="1"/>
            <p:nvPr/>
          </p:nvSpPr>
          <p:spPr>
            <a:xfrm>
              <a:off x="1274" y="182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Original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24"/>
          <p:cNvGrpSpPr/>
          <p:nvPr/>
        </p:nvGrpSpPr>
        <p:grpSpPr>
          <a:xfrm>
            <a:off x="1524000" y="3086100"/>
            <a:ext cx="2814637" cy="1714500"/>
            <a:chOff x="672" y="2304"/>
            <a:chExt cx="1773" cy="1440"/>
          </a:xfrm>
        </p:grpSpPr>
        <p:pic>
          <p:nvPicPr>
            <p:cNvPr descr="D:\USERS\STEVE\4ba6\teapot scale all.png" id="473" name="Google Shape;473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2" y="2304"/>
              <a:ext cx="1773" cy="1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24"/>
            <p:cNvSpPr txBox="1"/>
            <p:nvPr/>
          </p:nvSpPr>
          <p:spPr>
            <a:xfrm>
              <a:off x="1263" y="331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scale all axes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" name="Google Shape;475;p24"/>
          <p:cNvGrpSpPr/>
          <p:nvPr/>
        </p:nvGrpSpPr>
        <p:grpSpPr>
          <a:xfrm>
            <a:off x="4267200" y="1028700"/>
            <a:ext cx="2814637" cy="1714500"/>
            <a:chOff x="3723" y="960"/>
            <a:chExt cx="1773" cy="1440"/>
          </a:xfrm>
        </p:grpSpPr>
        <p:pic>
          <p:nvPicPr>
            <p:cNvPr descr="D:\USERS\STEVE\4ba6\teapot scale X.png" id="476" name="Google Shape;476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23" y="960"/>
              <a:ext cx="1773" cy="1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24"/>
            <p:cNvSpPr txBox="1"/>
            <p:nvPr/>
          </p:nvSpPr>
          <p:spPr>
            <a:xfrm>
              <a:off x="4324" y="1929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scale Y axis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78" name="Google Shape;47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3800" y="1143000"/>
            <a:ext cx="1052512" cy="113704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4"/>
          <p:cNvSpPr/>
          <p:nvPr/>
        </p:nvSpPr>
        <p:spPr>
          <a:xfrm>
            <a:off x="4038600" y="1657350"/>
            <a:ext cx="609600" cy="342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2743200" y="2686050"/>
            <a:ext cx="533400" cy="285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5"/>
          <p:cNvSpPr txBox="1"/>
          <p:nvPr>
            <p:ph type="title"/>
          </p:nvPr>
        </p:nvSpPr>
        <p:spPr>
          <a:xfrm>
            <a:off x="1371600" y="1143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– 2D </a:t>
            </a:r>
            <a:endParaRPr/>
          </a:p>
        </p:txBody>
      </p:sp>
      <p:pic>
        <p:nvPicPr>
          <p:cNvPr descr="D:\USERS\STEVE\4ba6\rotate.png" id="486" name="Google Shape;4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625078"/>
            <a:ext cx="2674938" cy="2127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7" name="Google Shape;487;p25"/>
          <p:cNvGrpSpPr/>
          <p:nvPr/>
        </p:nvGrpSpPr>
        <p:grpSpPr>
          <a:xfrm>
            <a:off x="1905000" y="36568"/>
            <a:ext cx="6218083" cy="2533991"/>
            <a:chOff x="1200" y="31"/>
            <a:chExt cx="3917" cy="2128"/>
          </a:xfrm>
        </p:grpSpPr>
        <p:pic>
          <p:nvPicPr>
            <p:cNvPr id="488" name="Google Shape;488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00" y="1584"/>
              <a:ext cx="1437" cy="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25"/>
            <p:cNvSpPr txBox="1"/>
            <p:nvPr/>
          </p:nvSpPr>
          <p:spPr>
            <a:xfrm rot="-3806097">
              <a:off x="4482" y="269"/>
              <a:ext cx="671" cy="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rotated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90" name="Google Shape;49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9712" y="2971800"/>
            <a:ext cx="4469606" cy="68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4700" y="3943350"/>
            <a:ext cx="3536154" cy="6441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25"/>
          <p:cNvGrpSpPr/>
          <p:nvPr/>
        </p:nvGrpSpPr>
        <p:grpSpPr>
          <a:xfrm>
            <a:off x="2286000" y="1028700"/>
            <a:ext cx="7118995" cy="722694"/>
            <a:chOff x="1440" y="864"/>
            <a:chExt cx="4484" cy="607"/>
          </a:xfrm>
        </p:grpSpPr>
        <p:sp>
          <p:nvSpPr>
            <p:cNvPr id="493" name="Google Shape;493;p25"/>
            <p:cNvSpPr txBox="1"/>
            <p:nvPr/>
          </p:nvSpPr>
          <p:spPr>
            <a:xfrm rot="-1593903">
              <a:off x="5138" y="959"/>
              <a:ext cx="671" cy="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original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4" name="Google Shape;494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40" y="864"/>
              <a:ext cx="1022" cy="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6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– 2D</a:t>
            </a:r>
            <a:endParaRPr/>
          </a:p>
        </p:txBody>
      </p:sp>
      <p:graphicFrame>
        <p:nvGraphicFramePr>
          <p:cNvPr id="501" name="Google Shape;501;p26"/>
          <p:cNvGraphicFramePr/>
          <p:nvPr/>
        </p:nvGraphicFramePr>
        <p:xfrm>
          <a:off x="1905000" y="1085850"/>
          <a:ext cx="4286249" cy="1865709"/>
        </p:xfrm>
        <a:graphic>
          <a:graphicData uri="http://schemas.openxmlformats.org/presentationml/2006/ole">
            <mc:AlternateContent>
              <mc:Choice Requires="v">
                <p:oleObj r:id="rId4" imgH="1865709" imgW="4286249" progId="Visio.Drawing.4" spid="_x0000_s1">
                  <p:embed/>
                </p:oleObj>
              </mc:Choice>
              <mc:Fallback>
                <p:oleObj r:id="rId5" imgH="1865709" imgW="4286249" progId="Visio.Drawing.4">
                  <p:embed/>
                  <p:pic>
                    <p:nvPicPr>
                      <p:cNvPr id="501" name="Google Shape;501;p2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905000" y="1085850"/>
                        <a:ext cx="4286249" cy="1865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2" name="Google Shape;50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6112" y="3750469"/>
            <a:ext cx="2457449" cy="1240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3886200"/>
            <a:ext cx="3408759" cy="107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0" y="3028950"/>
            <a:ext cx="1783555" cy="679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7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– 3D</a:t>
            </a:r>
            <a:endParaRPr/>
          </a:p>
        </p:txBody>
      </p:sp>
      <p:pic>
        <p:nvPicPr>
          <p:cNvPr id="511" name="Google Shape;5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3187303"/>
            <a:ext cx="4171950" cy="1841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USERS\STEVE\4ba6\teapot normal axes.png" id="512" name="Google Shape;5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1428750"/>
            <a:ext cx="28146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USERS\STEVE\4ba6\teapot rotate Z.png" id="513" name="Google Shape;5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3200" y="1428750"/>
            <a:ext cx="2814637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7"/>
          <p:cNvSpPr/>
          <p:nvPr/>
        </p:nvSpPr>
        <p:spPr>
          <a:xfrm flipH="1" rot="6037179">
            <a:off x="6953192" y="2111328"/>
            <a:ext cx="230313" cy="349360"/>
          </a:xfrm>
          <a:custGeom>
            <a:rect b="b" l="l" r="r" t="t"/>
            <a:pathLst>
              <a:path extrusionOk="0" h="21600" w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  <a:effectLst>
            <a:outerShdw blurRad="63500" dir="2700000" dist="35921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27"/>
          <p:cNvSpPr txBox="1"/>
          <p:nvPr/>
        </p:nvSpPr>
        <p:spPr>
          <a:xfrm>
            <a:off x="781050" y="1085850"/>
            <a:ext cx="41718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3687" lvl="0" marL="29368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3D-Rotation 2 parameters are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7" lvl="0" marL="293687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Noto Sans Symbols"/>
              <a:buChar char="✶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of 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7" lvl="0" marL="293687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Noto Sans Symbols"/>
              <a:buChar char="✶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Axis of 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5334000" y="1085850"/>
            <a:ext cx="34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about z-axis: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9"/>
          <p:cNvSpPr txBox="1"/>
          <p:nvPr>
            <p:ph type="title"/>
          </p:nvPr>
        </p:nvSpPr>
        <p:spPr>
          <a:xfrm>
            <a:off x="758150" y="120100"/>
            <a:ext cx="756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about Z axis: </a:t>
            </a:r>
            <a:r>
              <a:rPr i="1" lang="en-US" sz="4400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4400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θ,k</a:t>
            </a:r>
            <a:endParaRPr/>
          </a:p>
        </p:txBody>
      </p:sp>
      <p:sp>
        <p:nvSpPr>
          <p:cNvPr id="524" name="Google Shape;524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z axis</a:t>
            </a: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2908300" y="2571750"/>
            <a:ext cx="3810000" cy="22395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1460500" y="2571750"/>
            <a:ext cx="685800" cy="22395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29"/>
          <p:cNvSpPr txBox="1"/>
          <p:nvPr/>
        </p:nvSpPr>
        <p:spPr>
          <a:xfrm>
            <a:off x="1536700" y="2621756"/>
            <a:ext cx="5334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9"/>
          <p:cNvSpPr txBox="1"/>
          <p:nvPr/>
        </p:nvSpPr>
        <p:spPr>
          <a:xfrm>
            <a:off x="2374900" y="3243263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7023100" y="2615803"/>
            <a:ext cx="5334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9"/>
          <p:cNvSpPr/>
          <p:nvPr/>
        </p:nvSpPr>
        <p:spPr>
          <a:xfrm>
            <a:off x="7023100" y="2571750"/>
            <a:ext cx="533400" cy="22395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29"/>
          <p:cNvSpPr txBox="1"/>
          <p:nvPr/>
        </p:nvSpPr>
        <p:spPr>
          <a:xfrm>
            <a:off x="2984500" y="2614613"/>
            <a:ext cx="10668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 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 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9"/>
          <p:cNvSpPr txBox="1"/>
          <p:nvPr/>
        </p:nvSpPr>
        <p:spPr>
          <a:xfrm>
            <a:off x="4203700" y="2614613"/>
            <a:ext cx="11430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-sin 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cos 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5499100" y="2614613"/>
            <a:ext cx="5334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9"/>
          <p:cNvSpPr txBox="1"/>
          <p:nvPr/>
        </p:nvSpPr>
        <p:spPr>
          <a:xfrm>
            <a:off x="6108700" y="2614613"/>
            <a:ext cx="5334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8344046" y="1546403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7867285" y="116677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7" name="Google Shape;537;p29"/>
          <p:cNvCxnSpPr/>
          <p:nvPr/>
        </p:nvCxnSpPr>
        <p:spPr>
          <a:xfrm flipH="1" rot="10800000">
            <a:off x="7365338" y="851562"/>
            <a:ext cx="1200" cy="104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8" name="Google Shape;538;p29"/>
          <p:cNvCxnSpPr/>
          <p:nvPr/>
        </p:nvCxnSpPr>
        <p:spPr>
          <a:xfrm>
            <a:off x="7365338" y="1900363"/>
            <a:ext cx="1388400" cy="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9" name="Google Shape;539;p29"/>
          <p:cNvCxnSpPr/>
          <p:nvPr/>
        </p:nvCxnSpPr>
        <p:spPr>
          <a:xfrm flipH="1">
            <a:off x="7019147" y="1901408"/>
            <a:ext cx="347400" cy="39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0" name="Google Shape;540;p29"/>
          <p:cNvSpPr txBox="1"/>
          <p:nvPr/>
        </p:nvSpPr>
        <p:spPr>
          <a:xfrm>
            <a:off x="8651558" y="1791803"/>
            <a:ext cx="2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9"/>
          <p:cNvSpPr txBox="1"/>
          <p:nvPr/>
        </p:nvSpPr>
        <p:spPr>
          <a:xfrm>
            <a:off x="7108962" y="601846"/>
            <a:ext cx="2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9"/>
          <p:cNvSpPr txBox="1"/>
          <p:nvPr/>
        </p:nvSpPr>
        <p:spPr>
          <a:xfrm>
            <a:off x="6729777" y="2040062"/>
            <a:ext cx="2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9"/>
          <p:cNvSpPr txBox="1"/>
          <p:nvPr/>
        </p:nvSpPr>
        <p:spPr>
          <a:xfrm>
            <a:off x="8371589" y="1359417"/>
            <a:ext cx="2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9"/>
          <p:cNvSpPr txBox="1"/>
          <p:nvPr/>
        </p:nvSpPr>
        <p:spPr>
          <a:xfrm>
            <a:off x="7646508" y="845763"/>
            <a:ext cx="4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7365338" y="1198781"/>
            <a:ext cx="984490" cy="702602"/>
          </a:xfrm>
          <a:custGeom>
            <a:rect b="b" l="l" r="r" t="t"/>
            <a:pathLst>
              <a:path extrusionOk="0" fill="none" h="17845" w="19374">
                <a:moveTo>
                  <a:pt x="12170" y="-1"/>
                </a:moveTo>
                <a:cubicBezTo>
                  <a:pt x="15246" y="2097"/>
                  <a:pt x="17727" y="4955"/>
                  <a:pt x="19374" y="8294"/>
                </a:cubicBezTo>
              </a:path>
              <a:path extrusionOk="0" h="17845" w="19374">
                <a:moveTo>
                  <a:pt x="12170" y="-1"/>
                </a:moveTo>
                <a:cubicBezTo>
                  <a:pt x="15246" y="2097"/>
                  <a:pt x="17727" y="4955"/>
                  <a:pt x="19374" y="8294"/>
                </a:cubicBezTo>
                <a:lnTo>
                  <a:pt x="0" y="17845"/>
                </a:lnTo>
                <a:lnTo>
                  <a:pt x="12170" y="-1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6" name="Google Shape;546;p29"/>
          <p:cNvCxnSpPr/>
          <p:nvPr/>
        </p:nvCxnSpPr>
        <p:spPr>
          <a:xfrm flipH="1">
            <a:off x="7362702" y="1170551"/>
            <a:ext cx="551700" cy="72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29"/>
          <p:cNvCxnSpPr/>
          <p:nvPr/>
        </p:nvCxnSpPr>
        <p:spPr>
          <a:xfrm flipH="1">
            <a:off x="7355808" y="1578326"/>
            <a:ext cx="1023000" cy="31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8" name="Google Shape;548;p29"/>
          <p:cNvSpPr txBox="1"/>
          <p:nvPr/>
        </p:nvSpPr>
        <p:spPr>
          <a:xfrm>
            <a:off x="7558597" y="1459056"/>
            <a:ext cx="23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about Y-axis &amp; X-axis</a:t>
            </a:r>
            <a:endParaRPr/>
          </a:p>
        </p:txBody>
      </p:sp>
      <p:pic>
        <p:nvPicPr>
          <p:cNvPr id="555" name="Google Shape;5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200150"/>
            <a:ext cx="3886198" cy="166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3200400"/>
            <a:ext cx="3886200" cy="171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8"/>
          <p:cNvSpPr txBox="1"/>
          <p:nvPr/>
        </p:nvSpPr>
        <p:spPr>
          <a:xfrm>
            <a:off x="1433512" y="3086100"/>
            <a:ext cx="17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x-axis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 txBox="1"/>
          <p:nvPr/>
        </p:nvSpPr>
        <p:spPr>
          <a:xfrm>
            <a:off x="1357312" y="1085850"/>
            <a:ext cx="17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y-axis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of rotation matrix</a:t>
            </a:r>
            <a:endParaRPr/>
          </a:p>
        </p:txBody>
      </p:sp>
      <p:sp>
        <p:nvSpPr>
          <p:cNvPr id="564" name="Google Shape;564;p6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60"/>
              <a:buFont typeface="Noto Sans Symbols"/>
              <a:buChar char="✶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columns of rotation matrix are unit vectors perpendicular to each other</a:t>
            </a:r>
            <a:endParaRPr sz="1500"/>
          </a:p>
          <a:p>
            <a:pPr indent="-3048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60"/>
              <a:buFont typeface="Noto Sans Symbols"/>
              <a:buChar char="✶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column vectors indicate where the unit vectors along the principal axes are transformed</a:t>
            </a:r>
            <a:endParaRPr sz="1500"/>
          </a:p>
          <a:p>
            <a:pPr indent="-3048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60"/>
              <a:buFont typeface="Noto Sans Symbols"/>
              <a:buChar char="✶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rows of rotation matrix are unit vectors perpendicular to each other</a:t>
            </a:r>
            <a:endParaRPr sz="1500"/>
          </a:p>
          <a:p>
            <a:pPr indent="-3048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60"/>
              <a:buFont typeface="Noto Sans Symbols"/>
              <a:buChar char="✶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row vectors indicate the vectors that are transformed into the unit vectors along the principal axes</a:t>
            </a:r>
            <a:endParaRPr sz="1500"/>
          </a:p>
          <a:p>
            <a:pPr indent="-3048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060"/>
              <a:buFont typeface="Noto Sans Symbols"/>
              <a:buChar char="✶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inverse of rotation matrix is its transpose</a:t>
            </a:r>
            <a:endParaRPr sz="1500"/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6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30753f6f7d_0_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about a</a:t>
            </a:r>
            <a:r>
              <a:rPr i="1" lang="en-US" sz="4400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rbitrary axis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71" name="Google Shape;571;g330753f6f7d_0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rotate around (</a:t>
            </a:r>
            <a:r>
              <a:rPr b="0" i="1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1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1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="0" i="1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1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="0" i="1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 unit </a:t>
            </a:r>
            <a:b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on an arbitrary axis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1900"/>
          </a:p>
          <a:p>
            <a:pPr indent="-3302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840"/>
              <a:buFont typeface="Noto Sans Symbols"/>
              <a:buChar char="✶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: Rotate 30 degree around vector 2i+1j+3k </a:t>
            </a:r>
            <a:endParaRPr sz="1900"/>
          </a:p>
          <a:p>
            <a:pPr indent="-2730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it be found from some rotation around x axis, then some rotation around y axis, then z axis ?</a:t>
            </a:r>
            <a:endParaRPr sz="1600"/>
          </a:p>
        </p:txBody>
      </p:sp>
      <p:sp>
        <p:nvSpPr>
          <p:cNvPr id="572" name="Google Shape;572;g330753f6f7d_0_0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30753f6f7d_0_6"/>
          <p:cNvSpPr txBox="1"/>
          <p:nvPr>
            <p:ph type="title"/>
          </p:nvPr>
        </p:nvSpPr>
        <p:spPr>
          <a:xfrm>
            <a:off x="1390650" y="27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3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the Rotation Matrix</a:t>
            </a:r>
            <a:endParaRPr sz="3200"/>
          </a:p>
        </p:txBody>
      </p:sp>
      <p:sp>
        <p:nvSpPr>
          <p:cNvPr id="578" name="Google Shape;578;g330753f6f7d_0_6"/>
          <p:cNvSpPr txBox="1"/>
          <p:nvPr>
            <p:ph idx="1" type="body"/>
          </p:nvPr>
        </p:nvSpPr>
        <p:spPr>
          <a:xfrm>
            <a:off x="1390650" y="1399925"/>
            <a:ext cx="6781800" cy="3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Noto Sans Symbols"/>
              <a:buNone/>
            </a:pPr>
            <a:r>
              <a:rPr b="0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previous method</a:t>
            </a:r>
            <a:endParaRPr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Noto Sans Symbols"/>
              <a:buChar char="✶"/>
            </a:pP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1,2  </a:t>
            </a:r>
            <a:r>
              <a:rPr b="0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two rotations so that </a:t>
            </a: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becomes aligned with the z-axis (two rotations are necessary)</a:t>
            </a:r>
            <a:endParaRPr sz="1800"/>
          </a:p>
          <a:p>
            <a:pPr indent="-32385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Noto Sans Symbols"/>
              <a:buChar char="✶"/>
            </a:pP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  </a:t>
            </a:r>
            <a:r>
              <a:rPr b="0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the required θ rotation around z-axis</a:t>
            </a:r>
            <a:endParaRPr sz="1800"/>
          </a:p>
          <a:p>
            <a:pPr indent="-32385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Noto Sans Symbols"/>
              <a:buChar char="✶"/>
            </a:pP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4,5  </a:t>
            </a:r>
            <a:r>
              <a:rPr b="0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Undo the alignment rotations to restore </a:t>
            </a: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its original direction</a:t>
            </a:r>
            <a:endParaRPr sz="1800"/>
          </a:p>
        </p:txBody>
      </p:sp>
      <p:sp>
        <p:nvSpPr>
          <p:cNvPr id="579" name="Google Shape;579;g330753f6f7d_0_6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0753f6f7d_0_6"/>
          <p:cNvSpPr txBox="1"/>
          <p:nvPr/>
        </p:nvSpPr>
        <p:spPr>
          <a:xfrm>
            <a:off x="92850" y="2198925"/>
            <a:ext cx="1297800" cy="285900"/>
          </a:xfrm>
          <a:prstGeom prst="rect">
            <a:avLst/>
          </a:prstGeom>
          <a:solidFill>
            <a:srgbClr val="CC0066"/>
          </a:solidFill>
          <a:ln cap="flat" cmpd="sng" w="9525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0753f6f7d_0_6"/>
          <p:cNvSpPr txBox="1"/>
          <p:nvPr/>
        </p:nvSpPr>
        <p:spPr>
          <a:xfrm>
            <a:off x="92850" y="2873375"/>
            <a:ext cx="1297800" cy="285900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0753f6f7d_0_6"/>
          <p:cNvSpPr txBox="1"/>
          <p:nvPr/>
        </p:nvSpPr>
        <p:spPr>
          <a:xfrm>
            <a:off x="92850" y="3291100"/>
            <a:ext cx="1297800" cy="285900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0753f6f7d_0_6"/>
          <p:cNvSpPr/>
          <p:nvPr/>
        </p:nvSpPr>
        <p:spPr>
          <a:xfrm>
            <a:off x="1390650" y="1270900"/>
            <a:ext cx="6781800" cy="628800"/>
          </a:xfrm>
          <a:prstGeom prst="roundRect">
            <a:avLst>
              <a:gd fmla="val 16667" name="adj"/>
            </a:avLst>
          </a:prstGeom>
          <a:solidFill>
            <a:srgbClr val="FFFF00">
              <a:alpha val="33730"/>
            </a:srgb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g330753f6f7d_0_6"/>
          <p:cNvSpPr/>
          <p:nvPr/>
        </p:nvSpPr>
        <p:spPr>
          <a:xfrm>
            <a:off x="3920650" y="3869425"/>
            <a:ext cx="3810000" cy="1028700"/>
          </a:xfrm>
          <a:prstGeom prst="roundRect">
            <a:avLst>
              <a:gd fmla="val 16667" name="adj"/>
            </a:avLst>
          </a:prstGeom>
          <a:solidFill>
            <a:srgbClr val="FFFF00">
              <a:alpha val="33730"/>
            </a:srgb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Trivial but you should be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careful when doing in hands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30753f6f7d_0_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1,2</a:t>
            </a:r>
            <a:endParaRPr/>
          </a:p>
        </p:txBody>
      </p:sp>
      <p:sp>
        <p:nvSpPr>
          <p:cNvPr id="590" name="Google Shape;590;g330753f6f7d_0_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now study a composite transformation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aligning a vector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 vector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find the rotation matrix, we need to find A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v,k</a:t>
            </a:r>
            <a:endParaRPr/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1" name="Google Shape;591;g330753f6f7d_0_17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0753f6f7d_0_2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30753f6f7d_0_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aligning vector 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</p:txBody>
      </p:sp>
      <p:sp>
        <p:nvSpPr>
          <p:cNvPr id="598" name="Google Shape;598;g330753f6f7d_0_23"/>
          <p:cNvSpPr txBox="1"/>
          <p:nvPr/>
        </p:nvSpPr>
        <p:spPr>
          <a:xfrm>
            <a:off x="1524000" y="4400550"/>
            <a:ext cx="94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30753f6f7d_0_23"/>
          <p:cNvSpPr txBox="1"/>
          <p:nvPr/>
        </p:nvSpPr>
        <p:spPr>
          <a:xfrm>
            <a:off x="3657600" y="4400550"/>
            <a:ext cx="83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θ,i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g330753f6f7d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9512" y="1703784"/>
            <a:ext cx="3115866" cy="343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g330753f6f7d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1428750"/>
            <a:ext cx="2743198" cy="1423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0753f6f7d_0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9512" y="1703784"/>
            <a:ext cx="3115866" cy="343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0753f6f7d_0_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6910" y="1703784"/>
            <a:ext cx="3237310" cy="3439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30753f6f7d_0_3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30753f6f7d_0_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aligning vector 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</p:txBody>
      </p:sp>
      <p:sp>
        <p:nvSpPr>
          <p:cNvPr id="610" name="Google Shape;610;g330753f6f7d_0_34"/>
          <p:cNvSpPr txBox="1"/>
          <p:nvPr/>
        </p:nvSpPr>
        <p:spPr>
          <a:xfrm>
            <a:off x="1524000" y="4400550"/>
            <a:ext cx="94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30753f6f7d_0_34"/>
          <p:cNvSpPr txBox="1"/>
          <p:nvPr/>
        </p:nvSpPr>
        <p:spPr>
          <a:xfrm>
            <a:off x="3657600" y="4400550"/>
            <a:ext cx="83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θ,i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30753f6f7d_0_34"/>
          <p:cNvSpPr txBox="1"/>
          <p:nvPr/>
        </p:nvSpPr>
        <p:spPr>
          <a:xfrm>
            <a:off x="2514600" y="4400550"/>
            <a:ext cx="144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-ϕ,j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3" name="Google Shape;613;g330753f6f7d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428750"/>
            <a:ext cx="2743198" cy="1423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g330753f6f7d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1775" y="2897981"/>
            <a:ext cx="3062288" cy="1450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g330753f6f7d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7587" y="1703784"/>
            <a:ext cx="3237310" cy="343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g330753f6f7d_0_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9487" y="1396603"/>
            <a:ext cx="3265885" cy="3746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0753f6f7d_0_46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30753f6f7d_0_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aligning vector 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</p:txBody>
      </p:sp>
      <p:sp>
        <p:nvSpPr>
          <p:cNvPr id="623" name="Google Shape;623;g330753f6f7d_0_46"/>
          <p:cNvSpPr txBox="1"/>
          <p:nvPr>
            <p:ph idx="1" type="body"/>
          </p:nvPr>
        </p:nvSpPr>
        <p:spPr>
          <a:xfrm>
            <a:off x="1503150" y="1203825"/>
            <a:ext cx="4616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425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40"/>
              <a:buFont typeface="Noto Sans Symbols"/>
              <a:buChar char="✶"/>
            </a:pPr>
            <a:r>
              <a:rPr b="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</a:t>
            </a:r>
            <a:r>
              <a:rPr b="0" baseline="-25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600"/>
          </a:p>
          <a:p>
            <a:pPr indent="-4254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540"/>
              <a:buFont typeface="Noto Sans Symbols"/>
              <a:buChar char="✶"/>
            </a:pPr>
            <a:r>
              <a:rPr b="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V,N</a:t>
            </a:r>
            <a:r>
              <a:rPr b="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</a:t>
            </a:r>
            <a:r>
              <a:rPr b="0" baseline="-25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</a:t>
            </a:r>
            <a:r>
              <a:rPr b="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A</a:t>
            </a:r>
            <a:r>
              <a:rPr b="0" baseline="-25000" i="0" lang="en-US" sz="27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600"/>
          </a:p>
        </p:txBody>
      </p:sp>
      <p:pic>
        <p:nvPicPr>
          <p:cNvPr id="624" name="Google Shape;624;g330753f6f7d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2457450"/>
            <a:ext cx="3829048" cy="2441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30753f6f7d_0_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the rotation matrix</a:t>
            </a:r>
            <a:endParaRPr/>
          </a:p>
        </p:txBody>
      </p:sp>
      <p:sp>
        <p:nvSpPr>
          <p:cNvPr id="630" name="Google Shape;630;g330753f6f7d_0_5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have done step 1,2 : A</a:t>
            </a:r>
            <a:r>
              <a:rPr b="0" baseline="-2500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200"/>
          </a:p>
          <a:p>
            <a:pPr indent="-2857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14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step 3, we have to rotate theta angle around z axis</a:t>
            </a:r>
            <a:endParaRPr sz="1200"/>
          </a:p>
          <a:p>
            <a:pPr indent="-2857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14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take the inverse of step 1,2, </a:t>
            </a:r>
            <a:endParaRPr sz="1200"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900"/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140"/>
              <a:buFont typeface="Noto Sans Symbols"/>
              <a:buChar char="✶"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actually 5 rotations here.</a:t>
            </a:r>
            <a:endParaRPr sz="1200"/>
          </a:p>
        </p:txBody>
      </p:sp>
      <p:sp>
        <p:nvSpPr>
          <p:cNvPr id="631" name="Google Shape;631;g330753f6f7d_0_5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2" name="Google Shape;632;g330753f6f7d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3257550"/>
            <a:ext cx="22860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0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</p:txBody>
      </p:sp>
      <p:pic>
        <p:nvPicPr>
          <p:cNvPr id="639" name="Google Shape;6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3200400"/>
            <a:ext cx="2514600" cy="1874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0" y="3200400"/>
            <a:ext cx="2400300" cy="17895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1" name="Google Shape;641;p30"/>
          <p:cNvGraphicFramePr/>
          <p:nvPr/>
        </p:nvGraphicFramePr>
        <p:xfrm>
          <a:off x="1524000" y="1088231"/>
          <a:ext cx="2272904" cy="2116930"/>
        </p:xfrm>
        <a:graphic>
          <a:graphicData uri="http://schemas.openxmlformats.org/presentationml/2006/ole">
            <mc:AlternateContent>
              <mc:Choice Requires="v">
                <p:oleObj r:id="rId6" imgH="2116930" imgW="2272904" progId="Visio.Drawing.4" spid="_x0000_s1">
                  <p:embed/>
                </p:oleObj>
              </mc:Choice>
              <mc:Fallback>
                <p:oleObj r:id="rId7" imgH="2116930" imgW="2272904" progId="Visio.Drawing.4">
                  <p:embed/>
                  <p:pic>
                    <p:nvPicPr>
                      <p:cNvPr id="641" name="Google Shape;641;p30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24000" y="1088231"/>
                        <a:ext cx="2272904" cy="2116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" name="Google Shape;642;p30"/>
          <p:cNvGraphicFramePr/>
          <p:nvPr/>
        </p:nvGraphicFramePr>
        <p:xfrm>
          <a:off x="4572000" y="1085850"/>
          <a:ext cx="2805114" cy="2116930"/>
        </p:xfrm>
        <a:graphic>
          <a:graphicData uri="http://schemas.openxmlformats.org/presentationml/2006/ole">
            <mc:AlternateContent>
              <mc:Choice Requires="v">
                <p:oleObj r:id="rId9" imgH="2116930" imgW="2805114" progId="Visio.Drawing.4" spid="_x0000_s2">
                  <p:embed/>
                </p:oleObj>
              </mc:Choice>
              <mc:Fallback>
                <p:oleObj r:id="rId10" imgH="2116930" imgW="2805114" progId="Visio.Drawing.4">
                  <p:embed/>
                  <p:pic>
                    <p:nvPicPr>
                      <p:cNvPr id="642" name="Google Shape;642;p30"/>
                      <p:cNvPicPr preferRelativeResize="0"/>
                      <p:nvPr/>
                    </p:nvPicPr>
                    <p:blipFill rotWithShape="1">
                      <a:blip r:embed="rId1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72000" y="1085850"/>
                        <a:ext cx="2805114" cy="2116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3" name="Google Shape;643;p30"/>
          <p:cNvCxnSpPr>
            <a:stCxn id="641" idx="1"/>
          </p:cNvCxnSpPr>
          <p:nvPr/>
        </p:nvCxnSpPr>
        <p:spPr>
          <a:xfrm>
            <a:off x="1524000" y="2146696"/>
            <a:ext cx="2085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3D</a:t>
            </a:r>
            <a:endParaRPr/>
          </a:p>
        </p:txBody>
      </p:sp>
      <p:pic>
        <p:nvPicPr>
          <p:cNvPr id="650" name="Google Shape;65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0713" y="1235363"/>
            <a:ext cx="4215401" cy="362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629592559c_0_0"/>
          <p:cNvSpPr txBox="1"/>
          <p:nvPr>
            <p:ph idx="12" type="sldNum"/>
          </p:nvPr>
        </p:nvSpPr>
        <p:spPr>
          <a:xfrm>
            <a:off x="7696025" y="5367413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656" name="Google Shape;656;g2629592559c_0_0"/>
          <p:cNvSpPr txBox="1"/>
          <p:nvPr/>
        </p:nvSpPr>
        <p:spPr>
          <a:xfrm>
            <a:off x="1541750" y="821606"/>
            <a:ext cx="2612100" cy="368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097" r="0" t="-62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2629592559c_0_0"/>
          <p:cNvSpPr txBox="1"/>
          <p:nvPr/>
        </p:nvSpPr>
        <p:spPr>
          <a:xfrm>
            <a:off x="5557125" y="961650"/>
            <a:ext cx="1818300" cy="368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677" r="0" t="-62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g2629592559c_0_0"/>
          <p:cNvSpPr txBox="1"/>
          <p:nvPr/>
        </p:nvSpPr>
        <p:spPr>
          <a:xfrm>
            <a:off x="1234275" y="2888344"/>
            <a:ext cx="1667400" cy="346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3295" r="0" t="-79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2629592559c_0_0"/>
          <p:cNvSpPr txBox="1"/>
          <p:nvPr/>
        </p:nvSpPr>
        <p:spPr>
          <a:xfrm>
            <a:off x="6138817" y="2814504"/>
            <a:ext cx="2595900" cy="346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877" r="0" t="-657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2629592559c_0_0"/>
          <p:cNvSpPr txBox="1"/>
          <p:nvPr/>
        </p:nvSpPr>
        <p:spPr>
          <a:xfrm>
            <a:off x="3374795" y="2888351"/>
            <a:ext cx="2592000" cy="346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2116" r="0" t="-657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1" name="Google Shape;661;g2629592559c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32559" y="3452494"/>
            <a:ext cx="1257300" cy="1153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g2629592559c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8568" y="3372891"/>
            <a:ext cx="1257300" cy="1153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g2629592559c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8075" y="3554498"/>
            <a:ext cx="1533524" cy="96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g2629592559c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38400" y="1293094"/>
            <a:ext cx="1101329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g2629592559c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96826" y="1387895"/>
            <a:ext cx="1258490" cy="111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1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3600"/>
              <a:buFont typeface="Times New Roman"/>
              <a:buNone/>
            </a:pPr>
            <a:r>
              <a:rPr b="0" i="1" lang="en-US" sz="36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Shearing Transformation</a:t>
            </a:r>
            <a:endParaRPr/>
          </a:p>
        </p:txBody>
      </p:sp>
      <p:pic>
        <p:nvPicPr>
          <p:cNvPr id="672" name="Google Shape;67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1714500"/>
            <a:ext cx="5543549" cy="9322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3" name="Google Shape;673;p31"/>
          <p:cNvGraphicFramePr/>
          <p:nvPr/>
        </p:nvGraphicFramePr>
        <p:xfrm>
          <a:off x="1905000" y="2914650"/>
          <a:ext cx="4944668" cy="1537097"/>
        </p:xfrm>
        <a:graphic>
          <a:graphicData uri="http://schemas.openxmlformats.org/presentationml/2006/ole">
            <mc:AlternateContent>
              <mc:Choice Requires="v">
                <p:oleObj r:id="rId5" imgH="1537097" imgW="4944668" progId="Visio.Drawing.4" spid="_x0000_s1">
                  <p:embed/>
                </p:oleObj>
              </mc:Choice>
              <mc:Fallback>
                <p:oleObj r:id="rId6" imgH="1537097" imgW="4944668" progId="Visio.Drawing.4">
                  <p:embed/>
                  <p:pic>
                    <p:nvPicPr>
                      <p:cNvPr id="673" name="Google Shape;673;p3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905000" y="2914650"/>
                        <a:ext cx="4944668" cy="1537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2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 along Z-axis</a:t>
            </a:r>
            <a:endParaRPr/>
          </a:p>
        </p:txBody>
      </p:sp>
      <p:pic>
        <p:nvPicPr>
          <p:cNvPr id="680" name="Google Shape;6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543050"/>
            <a:ext cx="5143500" cy="3184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1" name="Google Shape;681;p32"/>
          <p:cNvGrpSpPr/>
          <p:nvPr/>
        </p:nvGrpSpPr>
        <p:grpSpPr>
          <a:xfrm>
            <a:off x="6679125" y="145274"/>
            <a:ext cx="1934801" cy="1343013"/>
            <a:chOff x="4290" y="84"/>
            <a:chExt cx="1219" cy="1128"/>
          </a:xfrm>
        </p:grpSpPr>
        <p:cxnSp>
          <p:nvCxnSpPr>
            <p:cNvPr id="682" name="Google Shape;682;p32"/>
            <p:cNvCxnSpPr/>
            <p:nvPr/>
          </p:nvCxnSpPr>
          <p:spPr>
            <a:xfrm rot="10800000">
              <a:off x="4560" y="192"/>
              <a:ext cx="0" cy="62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83" name="Google Shape;683;p32"/>
            <p:cNvCxnSpPr/>
            <p:nvPr/>
          </p:nvCxnSpPr>
          <p:spPr>
            <a:xfrm flipH="1" rot="10800000">
              <a:off x="4560" y="805"/>
              <a:ext cx="723" cy="1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84" name="Google Shape;684;p32"/>
            <p:cNvCxnSpPr/>
            <p:nvPr/>
          </p:nvCxnSpPr>
          <p:spPr>
            <a:xfrm flipH="1">
              <a:off x="4320" y="816"/>
              <a:ext cx="240" cy="2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85" name="Google Shape;685;p32"/>
            <p:cNvSpPr txBox="1"/>
            <p:nvPr/>
          </p:nvSpPr>
          <p:spPr>
            <a:xfrm>
              <a:off x="4560" y="480"/>
              <a:ext cx="336" cy="336"/>
            </a:xfrm>
            <a:prstGeom prst="rect">
              <a:avLst/>
            </a:prstGeom>
            <a:noFill/>
            <a:ln cap="flat" cmpd="sng" w="19050">
              <a:solidFill>
                <a:srgbClr val="8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6" name="Google Shape;686;p32"/>
            <p:cNvSpPr txBox="1"/>
            <p:nvPr/>
          </p:nvSpPr>
          <p:spPr>
            <a:xfrm>
              <a:off x="4656" y="672"/>
              <a:ext cx="432" cy="432"/>
            </a:xfrm>
            <a:prstGeom prst="rect">
              <a:avLst/>
            </a:prstGeom>
            <a:noFill/>
            <a:ln cap="flat" cmpd="sng" w="19050">
              <a:solidFill>
                <a:srgbClr val="8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7" name="Google Shape;687;p32"/>
            <p:cNvCxnSpPr/>
            <p:nvPr/>
          </p:nvCxnSpPr>
          <p:spPr>
            <a:xfrm rot="10800000">
              <a:off x="4560" y="480"/>
              <a:ext cx="107" cy="226"/>
            </a:xfrm>
            <a:prstGeom prst="straightConnector1">
              <a:avLst/>
            </a:prstGeom>
            <a:noFill/>
            <a:ln cap="flat" cmpd="sng" w="19050">
              <a:solidFill>
                <a:srgbClr val="8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8" name="Google Shape;688;p32"/>
            <p:cNvCxnSpPr/>
            <p:nvPr/>
          </p:nvCxnSpPr>
          <p:spPr>
            <a:xfrm rot="10800000">
              <a:off x="4896" y="480"/>
              <a:ext cx="184" cy="192"/>
            </a:xfrm>
            <a:prstGeom prst="straightConnector1">
              <a:avLst/>
            </a:prstGeom>
            <a:noFill/>
            <a:ln cap="flat" cmpd="sng" w="19050">
              <a:solidFill>
                <a:srgbClr val="8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9" name="Google Shape;689;p32"/>
            <p:cNvCxnSpPr/>
            <p:nvPr/>
          </p:nvCxnSpPr>
          <p:spPr>
            <a:xfrm rot="10800000">
              <a:off x="4560" y="816"/>
              <a:ext cx="118" cy="305"/>
            </a:xfrm>
            <a:prstGeom prst="straightConnector1">
              <a:avLst/>
            </a:prstGeom>
            <a:noFill/>
            <a:ln cap="flat" cmpd="sng" w="19050">
              <a:solidFill>
                <a:srgbClr val="8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0" name="Google Shape;690;p32"/>
            <p:cNvCxnSpPr/>
            <p:nvPr/>
          </p:nvCxnSpPr>
          <p:spPr>
            <a:xfrm rot="10800000">
              <a:off x="4896" y="816"/>
              <a:ext cx="184" cy="283"/>
            </a:xfrm>
            <a:prstGeom prst="straightConnector1">
              <a:avLst/>
            </a:prstGeom>
            <a:noFill/>
            <a:ln cap="flat" cmpd="sng" w="19050">
              <a:solidFill>
                <a:srgbClr val="8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1" name="Google Shape;691;p32"/>
            <p:cNvSpPr txBox="1"/>
            <p:nvPr/>
          </p:nvSpPr>
          <p:spPr>
            <a:xfrm>
              <a:off x="4320" y="8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2"/>
            <p:cNvSpPr txBox="1"/>
            <p:nvPr/>
          </p:nvSpPr>
          <p:spPr>
            <a:xfrm>
              <a:off x="5209" y="61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2"/>
            <p:cNvSpPr txBox="1"/>
            <p:nvPr/>
          </p:nvSpPr>
          <p:spPr>
            <a:xfrm>
              <a:off x="4290" y="91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5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 along X-axis</a:t>
            </a:r>
            <a:endParaRPr/>
          </a:p>
        </p:txBody>
      </p:sp>
      <p:sp>
        <p:nvSpPr>
          <p:cNvPr id="700" name="Google Shape;700;p45"/>
          <p:cNvSpPr/>
          <p:nvPr/>
        </p:nvSpPr>
        <p:spPr>
          <a:xfrm>
            <a:off x="4419600" y="245745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697824"/>
            <a:ext cx="4885599" cy="24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6535" y="201249"/>
            <a:ext cx="1767700" cy="116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2a721d4622_0_0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08" name="Google Shape;708;g32a721d4622_0_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 along </a:t>
            </a:r>
            <a:r>
              <a:rPr i="1" lang="en-US" sz="4400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-axis</a:t>
            </a:r>
            <a:endParaRPr/>
          </a:p>
        </p:txBody>
      </p:sp>
      <p:sp>
        <p:nvSpPr>
          <p:cNvPr id="709" name="Google Shape;709;g32a721d4622_0_0"/>
          <p:cNvSpPr txBox="1"/>
          <p:nvPr/>
        </p:nvSpPr>
        <p:spPr>
          <a:xfrm>
            <a:off x="1913350" y="4373156"/>
            <a:ext cx="15600" cy="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0" name="Google Shape;710;g32a721d462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000" y="1712798"/>
            <a:ext cx="4684750" cy="238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g32a721d462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000" y="273849"/>
            <a:ext cx="1905000" cy="1280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 Transforms</a:t>
            </a:r>
            <a:endParaRPr/>
          </a:p>
        </p:txBody>
      </p:sp>
      <p:sp>
        <p:nvSpPr>
          <p:cNvPr id="717" name="Google Shape;717;p3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8" name="Google Shape;7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325" y="1268050"/>
            <a:ext cx="5787175" cy="34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 Transformations</a:t>
            </a:r>
            <a:endParaRPr/>
          </a:p>
        </p:txBody>
      </p:sp>
      <p:pic>
        <p:nvPicPr>
          <p:cNvPr id="725" name="Google Shape;72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7512" y="1257300"/>
            <a:ext cx="4507707" cy="3206353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34"/>
          <p:cNvSpPr txBox="1"/>
          <p:nvPr/>
        </p:nvSpPr>
        <p:spPr>
          <a:xfrm>
            <a:off x="1687500" y="4332281"/>
            <a:ext cx="48834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    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i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baseline="30000" i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i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Sh</a:t>
            </a:r>
            <a:r>
              <a:rPr baseline="-25000" i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-x</a:t>
            </a:r>
            <a:endParaRPr baseline="-25000" i="1"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34"/>
          <p:cNvSpPr txBox="1"/>
          <p:nvPr/>
        </p:nvSpPr>
        <p:spPr>
          <a:xfrm>
            <a:off x="4758550" y="4560638"/>
            <a:ext cx="6960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1"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Composing Transformations</a:t>
            </a:r>
            <a:endParaRPr/>
          </a:p>
        </p:txBody>
      </p:sp>
      <p:sp>
        <p:nvSpPr>
          <p:cNvPr id="733" name="Google Shape;733;p35"/>
          <p:cNvSpPr txBox="1"/>
          <p:nvPr/>
        </p:nvSpPr>
        <p:spPr>
          <a:xfrm>
            <a:off x="7391400" y="4762500"/>
            <a:ext cx="172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6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6"/>
          <p:cNvSpPr txBox="1"/>
          <p:nvPr>
            <p:ph type="title"/>
          </p:nvPr>
        </p:nvSpPr>
        <p:spPr>
          <a:xfrm>
            <a:off x="476250" y="45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are transforms combined?</a:t>
            </a:r>
            <a:endParaRPr/>
          </a:p>
        </p:txBody>
      </p:sp>
      <p:sp>
        <p:nvSpPr>
          <p:cNvPr id="741" name="Google Shape;741;p36"/>
          <p:cNvSpPr txBox="1"/>
          <p:nvPr/>
        </p:nvSpPr>
        <p:spPr>
          <a:xfrm>
            <a:off x="7591425" y="1750219"/>
            <a:ext cx="304800" cy="22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p36"/>
          <p:cNvSpPr txBox="1"/>
          <p:nvPr/>
        </p:nvSpPr>
        <p:spPr>
          <a:xfrm>
            <a:off x="4116387" y="1863328"/>
            <a:ext cx="303300" cy="22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36"/>
          <p:cNvSpPr txBox="1"/>
          <p:nvPr/>
        </p:nvSpPr>
        <p:spPr>
          <a:xfrm>
            <a:off x="1081087" y="1976438"/>
            <a:ext cx="150900" cy="11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36"/>
          <p:cNvSpPr/>
          <p:nvPr/>
        </p:nvSpPr>
        <p:spPr>
          <a:xfrm>
            <a:off x="7858125" y="1714500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36"/>
          <p:cNvSpPr/>
          <p:nvPr/>
        </p:nvSpPr>
        <p:spPr>
          <a:xfrm>
            <a:off x="1193800" y="194071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36"/>
          <p:cNvSpPr/>
          <p:nvPr/>
        </p:nvSpPr>
        <p:spPr>
          <a:xfrm>
            <a:off x="1042987" y="205501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7553325" y="194190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4381500" y="1828800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4078287" y="205501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36"/>
          <p:cNvSpPr txBox="1"/>
          <p:nvPr/>
        </p:nvSpPr>
        <p:spPr>
          <a:xfrm>
            <a:off x="549275" y="2034778"/>
            <a:ext cx="5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1231900" y="1806178"/>
            <a:ext cx="5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4435475" y="1668065"/>
            <a:ext cx="5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6"/>
          <p:cNvSpPr txBox="1"/>
          <p:nvPr/>
        </p:nvSpPr>
        <p:spPr>
          <a:xfrm>
            <a:off x="3602037" y="2033588"/>
            <a:ext cx="5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6"/>
          <p:cNvSpPr txBox="1"/>
          <p:nvPr/>
        </p:nvSpPr>
        <p:spPr>
          <a:xfrm>
            <a:off x="7912100" y="1553765"/>
            <a:ext cx="5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6"/>
          <p:cNvSpPr txBox="1"/>
          <p:nvPr/>
        </p:nvSpPr>
        <p:spPr>
          <a:xfrm>
            <a:off x="7061200" y="1838325"/>
            <a:ext cx="5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6" name="Google Shape;756;p36"/>
          <p:cNvCxnSpPr/>
          <p:nvPr/>
        </p:nvCxnSpPr>
        <p:spPr>
          <a:xfrm rot="10800000">
            <a:off x="7135812" y="1408537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7" name="Google Shape;757;p36"/>
          <p:cNvCxnSpPr/>
          <p:nvPr/>
        </p:nvCxnSpPr>
        <p:spPr>
          <a:xfrm>
            <a:off x="7135812" y="2090738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8" name="Google Shape;758;p36"/>
          <p:cNvCxnSpPr/>
          <p:nvPr/>
        </p:nvCxnSpPr>
        <p:spPr>
          <a:xfrm rot="10800000">
            <a:off x="4114800" y="1408537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9" name="Google Shape;759;p36"/>
          <p:cNvCxnSpPr/>
          <p:nvPr/>
        </p:nvCxnSpPr>
        <p:spPr>
          <a:xfrm>
            <a:off x="4114800" y="2090738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0" name="Google Shape;760;p36"/>
          <p:cNvCxnSpPr/>
          <p:nvPr/>
        </p:nvCxnSpPr>
        <p:spPr>
          <a:xfrm rot="10800000">
            <a:off x="1081087" y="1408537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1" name="Google Shape;761;p36"/>
          <p:cNvCxnSpPr/>
          <p:nvPr/>
        </p:nvCxnSpPr>
        <p:spPr>
          <a:xfrm>
            <a:off x="1081087" y="2090738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2" name="Google Shape;762;p36"/>
          <p:cNvSpPr txBox="1"/>
          <p:nvPr/>
        </p:nvSpPr>
        <p:spPr>
          <a:xfrm>
            <a:off x="2674937" y="1693069"/>
            <a:ext cx="112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Scale(2,2)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36"/>
          <p:cNvCxnSpPr/>
          <p:nvPr/>
        </p:nvCxnSpPr>
        <p:spPr>
          <a:xfrm>
            <a:off x="2809875" y="1635919"/>
            <a:ext cx="684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4" name="Google Shape;764;p36"/>
          <p:cNvSpPr txBox="1"/>
          <p:nvPr/>
        </p:nvSpPr>
        <p:spPr>
          <a:xfrm>
            <a:off x="5618162" y="1693069"/>
            <a:ext cx="142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5" name="Google Shape;765;p36"/>
          <p:cNvCxnSpPr/>
          <p:nvPr/>
        </p:nvCxnSpPr>
        <p:spPr>
          <a:xfrm>
            <a:off x="5922962" y="1635919"/>
            <a:ext cx="684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6" name="Google Shape;766;p36"/>
          <p:cNvSpPr txBox="1"/>
          <p:nvPr/>
        </p:nvSpPr>
        <p:spPr>
          <a:xfrm>
            <a:off x="1219200" y="3421856"/>
            <a:ext cx="106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 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4191000" y="3021799"/>
            <a:ext cx="1524000" cy="14289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8" name="Google Shape;768;p36"/>
          <p:cNvSpPr txBox="1"/>
          <p:nvPr/>
        </p:nvSpPr>
        <p:spPr>
          <a:xfrm>
            <a:off x="4267200" y="3064669"/>
            <a:ext cx="457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36"/>
          <p:cNvSpPr txBox="1"/>
          <p:nvPr/>
        </p:nvSpPr>
        <p:spPr>
          <a:xfrm>
            <a:off x="4724400" y="3056334"/>
            <a:ext cx="4572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36"/>
          <p:cNvSpPr txBox="1"/>
          <p:nvPr/>
        </p:nvSpPr>
        <p:spPr>
          <a:xfrm>
            <a:off x="5181600" y="3064669"/>
            <a:ext cx="457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36"/>
          <p:cNvSpPr/>
          <p:nvPr/>
        </p:nvSpPr>
        <p:spPr>
          <a:xfrm>
            <a:off x="2438400" y="3021799"/>
            <a:ext cx="1524000" cy="14646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36"/>
          <p:cNvSpPr txBox="1"/>
          <p:nvPr/>
        </p:nvSpPr>
        <p:spPr>
          <a:xfrm>
            <a:off x="2514600" y="3064669"/>
            <a:ext cx="457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36"/>
          <p:cNvSpPr txBox="1"/>
          <p:nvPr/>
        </p:nvSpPr>
        <p:spPr>
          <a:xfrm>
            <a:off x="2971800" y="3056334"/>
            <a:ext cx="4572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36"/>
          <p:cNvSpPr txBox="1"/>
          <p:nvPr/>
        </p:nvSpPr>
        <p:spPr>
          <a:xfrm>
            <a:off x="3429000" y="3064669"/>
            <a:ext cx="457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36"/>
          <p:cNvSpPr/>
          <p:nvPr/>
        </p:nvSpPr>
        <p:spPr>
          <a:xfrm>
            <a:off x="6477000" y="3021799"/>
            <a:ext cx="1524000" cy="14646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36"/>
          <p:cNvSpPr txBox="1"/>
          <p:nvPr/>
        </p:nvSpPr>
        <p:spPr>
          <a:xfrm>
            <a:off x="6553200" y="3064669"/>
            <a:ext cx="457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36"/>
          <p:cNvSpPr txBox="1"/>
          <p:nvPr/>
        </p:nvSpPr>
        <p:spPr>
          <a:xfrm>
            <a:off x="7010400" y="3056334"/>
            <a:ext cx="4572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8" name="Google Shape;778;p36"/>
          <p:cNvSpPr txBox="1"/>
          <p:nvPr/>
        </p:nvSpPr>
        <p:spPr>
          <a:xfrm>
            <a:off x="7467600" y="3064669"/>
            <a:ext cx="457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36"/>
          <p:cNvSpPr txBox="1"/>
          <p:nvPr/>
        </p:nvSpPr>
        <p:spPr>
          <a:xfrm>
            <a:off x="5943600" y="3421856"/>
            <a:ext cx="3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6"/>
          <p:cNvSpPr txBox="1"/>
          <p:nvPr/>
        </p:nvSpPr>
        <p:spPr>
          <a:xfrm>
            <a:off x="450850" y="879872"/>
            <a:ext cx="3481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then Translate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6"/>
          <p:cNvSpPr txBox="1"/>
          <p:nvPr/>
        </p:nvSpPr>
        <p:spPr>
          <a:xfrm>
            <a:off x="192150" y="2426313"/>
            <a:ext cx="845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matrix multiplication:   p'  =  T ( S p )  =  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6"/>
          <p:cNvSpPr txBox="1"/>
          <p:nvPr/>
        </p:nvSpPr>
        <p:spPr>
          <a:xfrm>
            <a:off x="261875" y="4495668"/>
            <a:ext cx="8796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Caution: matrix multiplication is NOT commutative!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3" name="Google Shape;783;p36"/>
          <p:cNvGrpSpPr/>
          <p:nvPr/>
        </p:nvGrpSpPr>
        <p:grpSpPr>
          <a:xfrm>
            <a:off x="2517775" y="3057525"/>
            <a:ext cx="1390650" cy="1428750"/>
            <a:chOff x="252" y="3189"/>
            <a:chExt cx="876" cy="1200"/>
          </a:xfrm>
        </p:grpSpPr>
        <p:sp>
          <p:nvSpPr>
            <p:cNvPr id="784" name="Google Shape;784;p36"/>
            <p:cNvSpPr txBox="1"/>
            <p:nvPr/>
          </p:nvSpPr>
          <p:spPr>
            <a:xfrm>
              <a:off x="252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1" sz="29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6"/>
            <p:cNvSpPr txBox="1"/>
            <p:nvPr/>
          </p:nvSpPr>
          <p:spPr>
            <a:xfrm>
              <a:off x="537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36"/>
            <p:cNvSpPr txBox="1"/>
            <p:nvPr/>
          </p:nvSpPr>
          <p:spPr>
            <a:xfrm>
              <a:off x="828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7" name="Google Shape;787;p36"/>
          <p:cNvGrpSpPr/>
          <p:nvPr/>
        </p:nvGrpSpPr>
        <p:grpSpPr>
          <a:xfrm>
            <a:off x="4268787" y="3057525"/>
            <a:ext cx="1390650" cy="1428750"/>
            <a:chOff x="252" y="3189"/>
            <a:chExt cx="876" cy="1200"/>
          </a:xfrm>
        </p:grpSpPr>
        <p:sp>
          <p:nvSpPr>
            <p:cNvPr id="788" name="Google Shape;788;p36"/>
            <p:cNvSpPr txBox="1"/>
            <p:nvPr/>
          </p:nvSpPr>
          <p:spPr>
            <a:xfrm>
              <a:off x="252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1" sz="2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6"/>
            <p:cNvSpPr txBox="1"/>
            <p:nvPr/>
          </p:nvSpPr>
          <p:spPr>
            <a:xfrm>
              <a:off x="537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36"/>
            <p:cNvSpPr txBox="1"/>
            <p:nvPr/>
          </p:nvSpPr>
          <p:spPr>
            <a:xfrm>
              <a:off x="828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36"/>
          <p:cNvGrpSpPr/>
          <p:nvPr/>
        </p:nvGrpSpPr>
        <p:grpSpPr>
          <a:xfrm>
            <a:off x="6545262" y="3057525"/>
            <a:ext cx="1390650" cy="1428750"/>
            <a:chOff x="252" y="3189"/>
            <a:chExt cx="876" cy="1200"/>
          </a:xfrm>
        </p:grpSpPr>
        <p:sp>
          <p:nvSpPr>
            <p:cNvPr id="792" name="Google Shape;792;p36"/>
            <p:cNvSpPr txBox="1"/>
            <p:nvPr/>
          </p:nvSpPr>
          <p:spPr>
            <a:xfrm>
              <a:off x="252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1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6"/>
            <p:cNvSpPr txBox="1"/>
            <p:nvPr/>
          </p:nvSpPr>
          <p:spPr>
            <a:xfrm>
              <a:off x="537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6"/>
            <p:cNvSpPr txBox="1"/>
            <p:nvPr/>
          </p:nvSpPr>
          <p:spPr>
            <a:xfrm>
              <a:off x="828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7"/>
          <p:cNvSpPr txBox="1"/>
          <p:nvPr/>
        </p:nvSpPr>
        <p:spPr>
          <a:xfrm>
            <a:off x="8047037" y="3684984"/>
            <a:ext cx="303300" cy="22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37"/>
          <p:cNvSpPr txBox="1"/>
          <p:nvPr/>
        </p:nvSpPr>
        <p:spPr>
          <a:xfrm>
            <a:off x="4572000" y="3912394"/>
            <a:ext cx="150900" cy="11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37"/>
          <p:cNvSpPr txBox="1"/>
          <p:nvPr/>
        </p:nvSpPr>
        <p:spPr>
          <a:xfrm>
            <a:off x="1081087" y="4026694"/>
            <a:ext cx="150900" cy="11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37"/>
          <p:cNvSpPr txBox="1"/>
          <p:nvPr/>
        </p:nvSpPr>
        <p:spPr>
          <a:xfrm>
            <a:off x="7591425" y="1750219"/>
            <a:ext cx="304800" cy="22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5" name="Google Shape;805;p37"/>
          <p:cNvSpPr txBox="1"/>
          <p:nvPr/>
        </p:nvSpPr>
        <p:spPr>
          <a:xfrm>
            <a:off x="4116387" y="1863328"/>
            <a:ext cx="303300" cy="22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p37"/>
          <p:cNvSpPr txBox="1"/>
          <p:nvPr/>
        </p:nvSpPr>
        <p:spPr>
          <a:xfrm>
            <a:off x="1081087" y="1976438"/>
            <a:ext cx="150900" cy="11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37"/>
          <p:cNvSpPr txBox="1"/>
          <p:nvPr>
            <p:ph type="title"/>
          </p:nvPr>
        </p:nvSpPr>
        <p:spPr>
          <a:xfrm>
            <a:off x="581475" y="1672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Non-commutative Composition</a:t>
            </a:r>
            <a:endParaRPr/>
          </a:p>
        </p:txBody>
      </p:sp>
      <p:sp>
        <p:nvSpPr>
          <p:cNvPr id="808" name="Google Shape;808;p37"/>
          <p:cNvSpPr txBox="1"/>
          <p:nvPr/>
        </p:nvSpPr>
        <p:spPr>
          <a:xfrm>
            <a:off x="917550" y="962119"/>
            <a:ext cx="6673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then Translate:   p'  =  T ( S p )  =  TS 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7"/>
          <p:cNvSpPr txBox="1"/>
          <p:nvPr/>
        </p:nvSpPr>
        <p:spPr>
          <a:xfrm>
            <a:off x="927975" y="2653784"/>
            <a:ext cx="668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 then Scale:   p'  =  S ( T p )  =  ST 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0" name="Google Shape;810;p37"/>
          <p:cNvCxnSpPr/>
          <p:nvPr/>
        </p:nvCxnSpPr>
        <p:spPr>
          <a:xfrm rot="10800000">
            <a:off x="7151687" y="3457603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1" name="Google Shape;811;p37"/>
          <p:cNvCxnSpPr/>
          <p:nvPr/>
        </p:nvCxnSpPr>
        <p:spPr>
          <a:xfrm>
            <a:off x="7151687" y="4139803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2" name="Google Shape;812;p37"/>
          <p:cNvSpPr/>
          <p:nvPr/>
        </p:nvSpPr>
        <p:spPr>
          <a:xfrm>
            <a:off x="1193800" y="3990975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p37"/>
          <p:cNvSpPr/>
          <p:nvPr/>
        </p:nvSpPr>
        <p:spPr>
          <a:xfrm>
            <a:off x="1042987" y="4105275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37"/>
          <p:cNvSpPr/>
          <p:nvPr/>
        </p:nvSpPr>
        <p:spPr>
          <a:xfrm>
            <a:off x="4533900" y="3990975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37"/>
          <p:cNvSpPr/>
          <p:nvPr/>
        </p:nvSpPr>
        <p:spPr>
          <a:xfrm>
            <a:off x="4684712" y="3876675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37"/>
          <p:cNvSpPr/>
          <p:nvPr/>
        </p:nvSpPr>
        <p:spPr>
          <a:xfrm>
            <a:off x="8008937" y="3876675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37"/>
          <p:cNvSpPr/>
          <p:nvPr/>
        </p:nvSpPr>
        <p:spPr>
          <a:xfrm>
            <a:off x="8312150" y="3649265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7858125" y="1714500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37"/>
          <p:cNvSpPr/>
          <p:nvPr/>
        </p:nvSpPr>
        <p:spPr>
          <a:xfrm>
            <a:off x="1193800" y="194071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37"/>
          <p:cNvSpPr/>
          <p:nvPr/>
        </p:nvSpPr>
        <p:spPr>
          <a:xfrm>
            <a:off x="1042987" y="205501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37"/>
          <p:cNvSpPr/>
          <p:nvPr/>
        </p:nvSpPr>
        <p:spPr>
          <a:xfrm>
            <a:off x="7553325" y="194190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37"/>
          <p:cNvSpPr/>
          <p:nvPr/>
        </p:nvSpPr>
        <p:spPr>
          <a:xfrm>
            <a:off x="4381500" y="1828800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37"/>
          <p:cNvSpPr/>
          <p:nvPr/>
        </p:nvSpPr>
        <p:spPr>
          <a:xfrm>
            <a:off x="4078287" y="2055019"/>
            <a:ext cx="76200" cy="57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37"/>
          <p:cNvSpPr txBox="1"/>
          <p:nvPr/>
        </p:nvSpPr>
        <p:spPr>
          <a:xfrm>
            <a:off x="549275" y="4083844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7"/>
          <p:cNvSpPr txBox="1"/>
          <p:nvPr/>
        </p:nvSpPr>
        <p:spPr>
          <a:xfrm>
            <a:off x="1231900" y="3831431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7"/>
          <p:cNvSpPr txBox="1"/>
          <p:nvPr/>
        </p:nvSpPr>
        <p:spPr>
          <a:xfrm>
            <a:off x="4722812" y="3717131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7"/>
          <p:cNvSpPr txBox="1"/>
          <p:nvPr/>
        </p:nvSpPr>
        <p:spPr>
          <a:xfrm>
            <a:off x="4040187" y="3887390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7"/>
          <p:cNvSpPr txBox="1"/>
          <p:nvPr/>
        </p:nvSpPr>
        <p:spPr>
          <a:xfrm>
            <a:off x="8366125" y="3489721"/>
            <a:ext cx="75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7"/>
          <p:cNvSpPr txBox="1"/>
          <p:nvPr/>
        </p:nvSpPr>
        <p:spPr>
          <a:xfrm>
            <a:off x="7516812" y="3799284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7"/>
          <p:cNvSpPr txBox="1"/>
          <p:nvPr/>
        </p:nvSpPr>
        <p:spPr>
          <a:xfrm>
            <a:off x="549275" y="2034778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7"/>
          <p:cNvSpPr txBox="1"/>
          <p:nvPr/>
        </p:nvSpPr>
        <p:spPr>
          <a:xfrm>
            <a:off x="1231900" y="1806178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7"/>
          <p:cNvSpPr txBox="1"/>
          <p:nvPr/>
        </p:nvSpPr>
        <p:spPr>
          <a:xfrm>
            <a:off x="4435475" y="1668065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7"/>
          <p:cNvSpPr txBox="1"/>
          <p:nvPr/>
        </p:nvSpPr>
        <p:spPr>
          <a:xfrm>
            <a:off x="3602037" y="2033588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7"/>
          <p:cNvSpPr txBox="1"/>
          <p:nvPr/>
        </p:nvSpPr>
        <p:spPr>
          <a:xfrm>
            <a:off x="7912100" y="1553765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7"/>
          <p:cNvSpPr txBox="1"/>
          <p:nvPr/>
        </p:nvSpPr>
        <p:spPr>
          <a:xfrm>
            <a:off x="7061200" y="1838325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6" name="Google Shape;836;p37"/>
          <p:cNvCxnSpPr/>
          <p:nvPr/>
        </p:nvCxnSpPr>
        <p:spPr>
          <a:xfrm rot="10800000">
            <a:off x="4114800" y="3457603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7" name="Google Shape;837;p37"/>
          <p:cNvCxnSpPr/>
          <p:nvPr/>
        </p:nvCxnSpPr>
        <p:spPr>
          <a:xfrm>
            <a:off x="4114800" y="4139803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8" name="Google Shape;838;p37"/>
          <p:cNvCxnSpPr/>
          <p:nvPr/>
        </p:nvCxnSpPr>
        <p:spPr>
          <a:xfrm rot="10800000">
            <a:off x="1079500" y="3457603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9" name="Google Shape;839;p37"/>
          <p:cNvCxnSpPr/>
          <p:nvPr/>
        </p:nvCxnSpPr>
        <p:spPr>
          <a:xfrm>
            <a:off x="1079500" y="4139803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0" name="Google Shape;840;p37"/>
          <p:cNvCxnSpPr/>
          <p:nvPr/>
        </p:nvCxnSpPr>
        <p:spPr>
          <a:xfrm rot="10800000">
            <a:off x="7135812" y="1408537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1" name="Google Shape;841;p37"/>
          <p:cNvCxnSpPr/>
          <p:nvPr/>
        </p:nvCxnSpPr>
        <p:spPr>
          <a:xfrm>
            <a:off x="7135812" y="2090738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2" name="Google Shape;842;p37"/>
          <p:cNvCxnSpPr/>
          <p:nvPr/>
        </p:nvCxnSpPr>
        <p:spPr>
          <a:xfrm rot="10800000">
            <a:off x="4114800" y="1408537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3" name="Google Shape;843;p37"/>
          <p:cNvCxnSpPr/>
          <p:nvPr/>
        </p:nvCxnSpPr>
        <p:spPr>
          <a:xfrm>
            <a:off x="4114800" y="2090738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4" name="Google Shape;844;p37"/>
          <p:cNvCxnSpPr/>
          <p:nvPr/>
        </p:nvCxnSpPr>
        <p:spPr>
          <a:xfrm rot="10800000">
            <a:off x="1081087" y="1408537"/>
            <a:ext cx="0" cy="68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5" name="Google Shape;845;p37"/>
          <p:cNvCxnSpPr/>
          <p:nvPr/>
        </p:nvCxnSpPr>
        <p:spPr>
          <a:xfrm>
            <a:off x="1081087" y="2090738"/>
            <a:ext cx="15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6" name="Google Shape;846;p37"/>
          <p:cNvSpPr txBox="1"/>
          <p:nvPr/>
        </p:nvSpPr>
        <p:spPr>
          <a:xfrm>
            <a:off x="2674937" y="1693069"/>
            <a:ext cx="112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Scale(2,2)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7" name="Google Shape;847;p37"/>
          <p:cNvCxnSpPr/>
          <p:nvPr/>
        </p:nvCxnSpPr>
        <p:spPr>
          <a:xfrm>
            <a:off x="2809875" y="1635919"/>
            <a:ext cx="684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8" name="Google Shape;848;p37"/>
          <p:cNvSpPr txBox="1"/>
          <p:nvPr/>
        </p:nvSpPr>
        <p:spPr>
          <a:xfrm>
            <a:off x="5618162" y="1693069"/>
            <a:ext cx="142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9" name="Google Shape;849;p37"/>
          <p:cNvCxnSpPr/>
          <p:nvPr/>
        </p:nvCxnSpPr>
        <p:spPr>
          <a:xfrm>
            <a:off x="5922962" y="1635919"/>
            <a:ext cx="684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0" name="Google Shape;850;p37"/>
          <p:cNvSpPr txBox="1"/>
          <p:nvPr/>
        </p:nvSpPr>
        <p:spPr>
          <a:xfrm>
            <a:off x="2522537" y="3742134"/>
            <a:ext cx="142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Translate(3,1)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1" name="Google Shape;851;p37"/>
          <p:cNvCxnSpPr/>
          <p:nvPr/>
        </p:nvCxnSpPr>
        <p:spPr>
          <a:xfrm>
            <a:off x="2827337" y="3684984"/>
            <a:ext cx="684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2" name="Google Shape;852;p37"/>
          <p:cNvSpPr txBox="1"/>
          <p:nvPr/>
        </p:nvSpPr>
        <p:spPr>
          <a:xfrm>
            <a:off x="5770562" y="3742134"/>
            <a:ext cx="112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Scale(2,2)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" name="Google Shape;853;p37"/>
          <p:cNvCxnSpPr/>
          <p:nvPr/>
        </p:nvCxnSpPr>
        <p:spPr>
          <a:xfrm>
            <a:off x="5905500" y="3684984"/>
            <a:ext cx="684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8"/>
          <p:cNvSpPr txBox="1"/>
          <p:nvPr/>
        </p:nvSpPr>
        <p:spPr>
          <a:xfrm>
            <a:off x="1219200" y="1771650"/>
            <a:ext cx="10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 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8"/>
          <p:cNvSpPr/>
          <p:nvPr/>
        </p:nvSpPr>
        <p:spPr>
          <a:xfrm>
            <a:off x="4191000" y="1371600"/>
            <a:ext cx="1524000" cy="1200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38"/>
          <p:cNvSpPr txBox="1"/>
          <p:nvPr/>
        </p:nvSpPr>
        <p:spPr>
          <a:xfrm>
            <a:off x="4267200" y="1414463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8"/>
          <p:cNvSpPr txBox="1"/>
          <p:nvPr/>
        </p:nvSpPr>
        <p:spPr>
          <a:xfrm>
            <a:off x="4724400" y="1406128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8"/>
          <p:cNvSpPr txBox="1"/>
          <p:nvPr/>
        </p:nvSpPr>
        <p:spPr>
          <a:xfrm>
            <a:off x="5181600" y="1414463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8"/>
          <p:cNvSpPr/>
          <p:nvPr/>
        </p:nvSpPr>
        <p:spPr>
          <a:xfrm>
            <a:off x="2438400" y="1371600"/>
            <a:ext cx="1524000" cy="1200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38"/>
          <p:cNvSpPr txBox="1"/>
          <p:nvPr/>
        </p:nvSpPr>
        <p:spPr>
          <a:xfrm>
            <a:off x="2514600" y="1414463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8"/>
          <p:cNvSpPr txBox="1"/>
          <p:nvPr/>
        </p:nvSpPr>
        <p:spPr>
          <a:xfrm>
            <a:off x="2971800" y="1406128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8"/>
          <p:cNvSpPr txBox="1"/>
          <p:nvPr/>
        </p:nvSpPr>
        <p:spPr>
          <a:xfrm>
            <a:off x="3429000" y="1414463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8"/>
          <p:cNvSpPr txBox="1"/>
          <p:nvPr/>
        </p:nvSpPr>
        <p:spPr>
          <a:xfrm>
            <a:off x="1219200" y="3714750"/>
            <a:ext cx="10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 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2438400" y="3314700"/>
            <a:ext cx="1524000" cy="1200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38"/>
          <p:cNvSpPr txBox="1"/>
          <p:nvPr/>
        </p:nvSpPr>
        <p:spPr>
          <a:xfrm>
            <a:off x="2514600" y="3357563"/>
            <a:ext cx="4572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38"/>
          <p:cNvSpPr txBox="1"/>
          <p:nvPr/>
        </p:nvSpPr>
        <p:spPr>
          <a:xfrm>
            <a:off x="2971800" y="3349228"/>
            <a:ext cx="4572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38"/>
          <p:cNvSpPr txBox="1"/>
          <p:nvPr/>
        </p:nvSpPr>
        <p:spPr>
          <a:xfrm>
            <a:off x="3429000" y="3357563"/>
            <a:ext cx="4572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38"/>
          <p:cNvSpPr/>
          <p:nvPr/>
        </p:nvSpPr>
        <p:spPr>
          <a:xfrm>
            <a:off x="4191000" y="3314700"/>
            <a:ext cx="1524000" cy="1200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38"/>
          <p:cNvSpPr txBox="1"/>
          <p:nvPr/>
        </p:nvSpPr>
        <p:spPr>
          <a:xfrm>
            <a:off x="4267200" y="3357563"/>
            <a:ext cx="4572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38"/>
          <p:cNvSpPr txBox="1"/>
          <p:nvPr/>
        </p:nvSpPr>
        <p:spPr>
          <a:xfrm>
            <a:off x="4724400" y="3349228"/>
            <a:ext cx="4572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38"/>
          <p:cNvSpPr txBox="1"/>
          <p:nvPr/>
        </p:nvSpPr>
        <p:spPr>
          <a:xfrm>
            <a:off x="5181600" y="3357563"/>
            <a:ext cx="4572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7" name="Google Shape;877;p38"/>
          <p:cNvSpPr txBox="1"/>
          <p:nvPr>
            <p:ph type="title"/>
          </p:nvPr>
        </p:nvSpPr>
        <p:spPr>
          <a:xfrm>
            <a:off x="628650" y="614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Non-commutative Composition</a:t>
            </a:r>
            <a:endParaRPr/>
          </a:p>
        </p:txBody>
      </p:sp>
      <p:sp>
        <p:nvSpPr>
          <p:cNvPr id="878" name="Google Shape;878;p38"/>
          <p:cNvSpPr txBox="1"/>
          <p:nvPr/>
        </p:nvSpPr>
        <p:spPr>
          <a:xfrm>
            <a:off x="1158900" y="909894"/>
            <a:ext cx="66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then Translate:   p'  =  T ( S p )  =  TS 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8"/>
          <p:cNvSpPr/>
          <p:nvPr/>
        </p:nvSpPr>
        <p:spPr>
          <a:xfrm>
            <a:off x="6477000" y="1371600"/>
            <a:ext cx="1524000" cy="1200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38"/>
          <p:cNvSpPr txBox="1"/>
          <p:nvPr/>
        </p:nvSpPr>
        <p:spPr>
          <a:xfrm>
            <a:off x="6553200" y="1414463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8"/>
          <p:cNvSpPr txBox="1"/>
          <p:nvPr/>
        </p:nvSpPr>
        <p:spPr>
          <a:xfrm>
            <a:off x="7010400" y="1406128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8"/>
          <p:cNvSpPr txBox="1"/>
          <p:nvPr/>
        </p:nvSpPr>
        <p:spPr>
          <a:xfrm>
            <a:off x="7467600" y="1414463"/>
            <a:ext cx="4572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8"/>
          <p:cNvSpPr/>
          <p:nvPr/>
        </p:nvSpPr>
        <p:spPr>
          <a:xfrm>
            <a:off x="6477000" y="3314700"/>
            <a:ext cx="1524000" cy="1200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38"/>
          <p:cNvSpPr txBox="1"/>
          <p:nvPr/>
        </p:nvSpPr>
        <p:spPr>
          <a:xfrm>
            <a:off x="6553200" y="3357563"/>
            <a:ext cx="4572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38"/>
          <p:cNvSpPr txBox="1"/>
          <p:nvPr/>
        </p:nvSpPr>
        <p:spPr>
          <a:xfrm>
            <a:off x="7010400" y="3349228"/>
            <a:ext cx="4572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38"/>
          <p:cNvSpPr txBox="1"/>
          <p:nvPr/>
        </p:nvSpPr>
        <p:spPr>
          <a:xfrm>
            <a:off x="7467600" y="3357563"/>
            <a:ext cx="4572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7" name="Google Shape;887;p38"/>
          <p:cNvSpPr txBox="1"/>
          <p:nvPr/>
        </p:nvSpPr>
        <p:spPr>
          <a:xfrm>
            <a:off x="5943600" y="1771650"/>
            <a:ext cx="30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8"/>
          <p:cNvSpPr txBox="1"/>
          <p:nvPr/>
        </p:nvSpPr>
        <p:spPr>
          <a:xfrm>
            <a:off x="5943600" y="3714750"/>
            <a:ext cx="30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8"/>
          <p:cNvSpPr txBox="1"/>
          <p:nvPr/>
        </p:nvSpPr>
        <p:spPr>
          <a:xfrm>
            <a:off x="549350" y="2773509"/>
            <a:ext cx="668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 then Scale:   p'  =  S ( T p )  =  ST 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0" name="Google Shape;890;p38"/>
          <p:cNvGrpSpPr/>
          <p:nvPr/>
        </p:nvGrpSpPr>
        <p:grpSpPr>
          <a:xfrm>
            <a:off x="2517775" y="3342084"/>
            <a:ext cx="1390650" cy="1428750"/>
            <a:chOff x="252" y="3189"/>
            <a:chExt cx="876" cy="1200"/>
          </a:xfrm>
        </p:grpSpPr>
        <p:sp>
          <p:nvSpPr>
            <p:cNvPr id="891" name="Google Shape;891;p38"/>
            <p:cNvSpPr txBox="1"/>
            <p:nvPr/>
          </p:nvSpPr>
          <p:spPr>
            <a:xfrm>
              <a:off x="252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1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38"/>
            <p:cNvSpPr txBox="1"/>
            <p:nvPr/>
          </p:nvSpPr>
          <p:spPr>
            <a:xfrm>
              <a:off x="537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38"/>
            <p:cNvSpPr txBox="1"/>
            <p:nvPr/>
          </p:nvSpPr>
          <p:spPr>
            <a:xfrm>
              <a:off x="828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4" name="Google Shape;894;p38"/>
          <p:cNvGrpSpPr/>
          <p:nvPr/>
        </p:nvGrpSpPr>
        <p:grpSpPr>
          <a:xfrm>
            <a:off x="4268787" y="3368278"/>
            <a:ext cx="1390650" cy="1428750"/>
            <a:chOff x="252" y="3189"/>
            <a:chExt cx="876" cy="1200"/>
          </a:xfrm>
        </p:grpSpPr>
        <p:sp>
          <p:nvSpPr>
            <p:cNvPr id="895" name="Google Shape;895;p38"/>
            <p:cNvSpPr txBox="1"/>
            <p:nvPr/>
          </p:nvSpPr>
          <p:spPr>
            <a:xfrm>
              <a:off x="252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1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8"/>
            <p:cNvSpPr txBox="1"/>
            <p:nvPr/>
          </p:nvSpPr>
          <p:spPr>
            <a:xfrm>
              <a:off x="537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8"/>
            <p:cNvSpPr txBox="1"/>
            <p:nvPr/>
          </p:nvSpPr>
          <p:spPr>
            <a:xfrm>
              <a:off x="828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8" name="Google Shape;898;p38"/>
          <p:cNvGrpSpPr/>
          <p:nvPr/>
        </p:nvGrpSpPr>
        <p:grpSpPr>
          <a:xfrm>
            <a:off x="6545262" y="3368278"/>
            <a:ext cx="1390650" cy="1428750"/>
            <a:chOff x="252" y="3189"/>
            <a:chExt cx="876" cy="1200"/>
          </a:xfrm>
        </p:grpSpPr>
        <p:sp>
          <p:nvSpPr>
            <p:cNvPr id="899" name="Google Shape;899;p38"/>
            <p:cNvSpPr txBox="1"/>
            <p:nvPr/>
          </p:nvSpPr>
          <p:spPr>
            <a:xfrm>
              <a:off x="252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1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8"/>
            <p:cNvSpPr txBox="1"/>
            <p:nvPr/>
          </p:nvSpPr>
          <p:spPr>
            <a:xfrm>
              <a:off x="537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8"/>
            <p:cNvSpPr txBox="1"/>
            <p:nvPr/>
          </p:nvSpPr>
          <p:spPr>
            <a:xfrm>
              <a:off x="828" y="3189"/>
              <a:ext cx="3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9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9"/>
          <p:cNvSpPr txBox="1"/>
          <p:nvPr/>
        </p:nvSpPr>
        <p:spPr>
          <a:xfrm>
            <a:off x="1201550" y="354450"/>
            <a:ext cx="7010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3600"/>
              <a:buFont typeface="Times New Roman"/>
              <a:buNone/>
            </a:pPr>
            <a:r>
              <a:rPr b="0" i="1" lang="en-US" sz="3600" u="none" cap="none" strike="noStrik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Translations, Rotations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9"/>
          <p:cNvSpPr txBox="1"/>
          <p:nvPr/>
        </p:nvSpPr>
        <p:spPr>
          <a:xfrm>
            <a:off x="1201550" y="1329469"/>
            <a:ext cx="74676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40"/>
              <a:buFont typeface="Noto Sans Symbols"/>
              <a:buChar char="✶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matters!!  TR is not the same as RT (demo)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640"/>
              <a:buFont typeface="Noto Sans Symbols"/>
              <a:buChar char="✶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 for rigid body transforms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640"/>
              <a:buFont typeface="Noto Sans Symbols"/>
              <a:buChar char="✶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show rotation first, then translation (commonly used to position objects) on next slide.  Slide after that works it out the other way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9"/>
          <p:cNvSpPr txBox="1"/>
          <p:nvPr/>
        </p:nvSpPr>
        <p:spPr>
          <a:xfrm>
            <a:off x="4479925" y="4413647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40"/>
          <p:cNvSpPr txBox="1"/>
          <p:nvPr>
            <p:ph type="title"/>
          </p:nvPr>
        </p:nvSpPr>
        <p:spPr>
          <a:xfrm>
            <a:off x="1524000" y="228600"/>
            <a:ext cx="7748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Rotate then Translate</a:t>
            </a:r>
            <a:endParaRPr/>
          </a:p>
        </p:txBody>
      </p:sp>
      <p:sp>
        <p:nvSpPr>
          <p:cNvPr id="916" name="Google Shape;916;p40"/>
          <p:cNvSpPr txBox="1"/>
          <p:nvPr/>
        </p:nvSpPr>
        <p:spPr>
          <a:xfrm>
            <a:off x="457200" y="1321594"/>
            <a:ext cx="82296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986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7" name="Google Shape;91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6837" y="1148953"/>
            <a:ext cx="4717256" cy="5655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8" name="Google Shape;918;p40"/>
          <p:cNvGrpSpPr/>
          <p:nvPr/>
        </p:nvGrpSpPr>
        <p:grpSpPr>
          <a:xfrm>
            <a:off x="366712" y="2183606"/>
            <a:ext cx="8528050" cy="1634728"/>
            <a:chOff x="231" y="1834"/>
            <a:chExt cx="5372" cy="1373"/>
          </a:xfrm>
        </p:grpSpPr>
        <p:pic>
          <p:nvPicPr>
            <p:cNvPr id="919" name="Google Shape;91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1" y="1834"/>
              <a:ext cx="5372" cy="13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0" name="Google Shape;920;p40"/>
            <p:cNvCxnSpPr/>
            <p:nvPr/>
          </p:nvCxnSpPr>
          <p:spPr>
            <a:xfrm>
              <a:off x="4504" y="1870"/>
              <a:ext cx="0" cy="12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1" name="Google Shape;921;p40"/>
            <p:cNvCxnSpPr/>
            <p:nvPr/>
          </p:nvCxnSpPr>
          <p:spPr>
            <a:xfrm>
              <a:off x="3409" y="2852"/>
              <a:ext cx="13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1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1"/>
          <p:cNvSpPr txBox="1"/>
          <p:nvPr>
            <p:ph type="title"/>
          </p:nvPr>
        </p:nvSpPr>
        <p:spPr>
          <a:xfrm>
            <a:off x="1471612" y="228600"/>
            <a:ext cx="6758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 then Rotate</a:t>
            </a:r>
            <a:endParaRPr/>
          </a:p>
        </p:txBody>
      </p:sp>
      <p:sp>
        <p:nvSpPr>
          <p:cNvPr id="928" name="Google Shape;928;p41"/>
          <p:cNvSpPr txBox="1"/>
          <p:nvPr/>
        </p:nvSpPr>
        <p:spPr>
          <a:xfrm>
            <a:off x="457200" y="1321594"/>
            <a:ext cx="82296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986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9" name="Google Shape;9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287" y="1176338"/>
            <a:ext cx="6282925" cy="50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6175" y="2170509"/>
            <a:ext cx="5006579" cy="1634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2"/>
          <p:cNvSpPr txBox="1"/>
          <p:nvPr/>
        </p:nvSpPr>
        <p:spPr>
          <a:xfrm>
            <a:off x="67691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42"/>
          <p:cNvSpPr txBox="1"/>
          <p:nvPr>
            <p:ph type="title"/>
          </p:nvPr>
        </p:nvSpPr>
        <p:spPr>
          <a:xfrm>
            <a:off x="1219200" y="228600"/>
            <a:ext cx="7391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3600"/>
              <a:buFont typeface="Times New Roman"/>
              <a:buNone/>
            </a:pPr>
            <a:r>
              <a:rPr b="0" i="1" lang="en-US" sz="3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Associativity of Matrix Multiplication</a:t>
            </a:r>
            <a:endParaRPr sz="3100"/>
          </a:p>
        </p:txBody>
      </p:sp>
      <p:sp>
        <p:nvSpPr>
          <p:cNvPr id="937" name="Google Shape;937;p42"/>
          <p:cNvSpPr txBox="1"/>
          <p:nvPr/>
        </p:nvSpPr>
        <p:spPr>
          <a:xfrm>
            <a:off x="990600" y="1085850"/>
            <a:ext cx="73659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 new affine transformations by multiplying sequences of the above basic transformations.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CBA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( (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CB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A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) etc.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</a:t>
            </a:r>
            <a:r>
              <a:rPr b="0" i="0" lang="en-US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matrix multiplication is associative.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42"/>
          <p:cNvSpPr txBox="1"/>
          <p:nvPr/>
        </p:nvSpPr>
        <p:spPr>
          <a:xfrm>
            <a:off x="990600" y="3124200"/>
            <a:ext cx="72390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But to transform many points, best to do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CBA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do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   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any point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be rendered.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42"/>
          <p:cNvSpPr txBox="1"/>
          <p:nvPr/>
        </p:nvSpPr>
        <p:spPr>
          <a:xfrm>
            <a:off x="977850" y="2765925"/>
            <a:ext cx="739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ahoma"/>
              <a:buNone/>
            </a:pPr>
            <a:r>
              <a:rPr b="0" i="0" lang="en-US" sz="1700" u="none" cap="none" strike="noStrike">
                <a:solidFill>
                  <a:srgbClr val="CC3300"/>
                </a:solidFill>
                <a:latin typeface="Tahoma"/>
                <a:ea typeface="Tahoma"/>
                <a:cs typeface="Tahoma"/>
                <a:sym typeface="Tahoma"/>
              </a:rPr>
              <a:t>To transform just a point, better to do</a:t>
            </a:r>
            <a:r>
              <a:rPr b="0" i="0" lang="en-US" sz="17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7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-US" sz="17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1" i="0" lang="en-US" sz="17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7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7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7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7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17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7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42"/>
          <p:cNvSpPr txBox="1"/>
          <p:nvPr/>
        </p:nvSpPr>
        <p:spPr>
          <a:xfrm>
            <a:off x="990600" y="4268400"/>
            <a:ext cx="7239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ahoma"/>
              <a:buNone/>
            </a:pPr>
            <a:r>
              <a:rPr b="0" i="0" lang="en-US" sz="1600" u="none" cap="none" strike="noStrike">
                <a:solidFill>
                  <a:srgbClr val="CC3300"/>
                </a:solidFill>
                <a:latin typeface="Tahoma"/>
                <a:ea typeface="Tahoma"/>
                <a:cs typeface="Tahoma"/>
                <a:sym typeface="Tahoma"/>
              </a:rPr>
              <a:t>For geometric pipeline transformation, define </a:t>
            </a:r>
            <a:r>
              <a:rPr b="1" i="0" lang="en-US" sz="1600" u="none" cap="none" strike="noStrike">
                <a:solidFill>
                  <a:srgbClr val="CC3300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i="0" lang="en-US" sz="1600" u="none" cap="none" strike="noStrike">
                <a:solidFill>
                  <a:srgbClr val="CC3300"/>
                </a:solidFill>
                <a:latin typeface="Tahoma"/>
                <a:ea typeface="Tahoma"/>
                <a:cs typeface="Tahoma"/>
                <a:sym typeface="Tahoma"/>
              </a:rPr>
              <a:t> and set it up with the model-view matrix and apply it to any vertex subsequently defined to its setting.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Composite Transforms</a:t>
            </a:r>
            <a:endParaRPr/>
          </a:p>
        </p:txBody>
      </p:sp>
      <p:sp>
        <p:nvSpPr>
          <p:cNvPr id="946" name="Google Shape;946;p43"/>
          <p:cNvSpPr txBox="1"/>
          <p:nvPr/>
        </p:nvSpPr>
        <p:spPr>
          <a:xfrm>
            <a:off x="7391400" y="4762500"/>
            <a:ext cx="172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4"/>
          <p:cNvSpPr txBox="1"/>
          <p:nvPr>
            <p:ph type="title"/>
          </p:nvPr>
        </p:nvSpPr>
        <p:spPr>
          <a:xfrm>
            <a:off x="946925" y="415250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of θ about P(h,k): R</a:t>
            </a:r>
            <a:r>
              <a:rPr b="0" baseline="-2500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θ,P</a:t>
            </a:r>
            <a:endParaRPr/>
          </a:p>
        </p:txBody>
      </p:sp>
      <p:sp>
        <p:nvSpPr>
          <p:cNvPr id="952" name="Google Shape;952;p44"/>
          <p:cNvSpPr txBox="1"/>
          <p:nvPr/>
        </p:nvSpPr>
        <p:spPr>
          <a:xfrm>
            <a:off x="1298075" y="3157463"/>
            <a:ext cx="9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θ,P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3" name="Google Shape;953;p44"/>
          <p:cNvGrpSpPr/>
          <p:nvPr/>
        </p:nvGrpSpPr>
        <p:grpSpPr>
          <a:xfrm>
            <a:off x="1298075" y="2230476"/>
            <a:ext cx="7004423" cy="1284174"/>
            <a:chOff x="480" y="1286"/>
            <a:chExt cx="4412" cy="1078"/>
          </a:xfrm>
        </p:grpSpPr>
        <p:sp>
          <p:nvSpPr>
            <p:cNvPr id="954" name="Google Shape;954;p44"/>
            <p:cNvSpPr txBox="1"/>
            <p:nvPr/>
          </p:nvSpPr>
          <p:spPr>
            <a:xfrm>
              <a:off x="480" y="1632"/>
              <a:ext cx="3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Step 3: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Translate (0,0) to P(h,k)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4"/>
            <p:cNvSpPr txBox="1"/>
            <p:nvPr/>
          </p:nvSpPr>
          <p:spPr>
            <a:xfrm>
              <a:off x="1056" y="206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T(h ,k) 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44"/>
            <p:cNvGrpSpPr/>
            <p:nvPr/>
          </p:nvGrpSpPr>
          <p:grpSpPr>
            <a:xfrm rot="2160075">
              <a:off x="4405" y="1325"/>
              <a:ext cx="336" cy="624"/>
              <a:chOff x="686" y="3134"/>
              <a:chExt cx="336" cy="624"/>
            </a:xfrm>
          </p:grpSpPr>
          <p:sp>
            <p:nvSpPr>
              <p:cNvPr id="957" name="Google Shape;957;p44"/>
              <p:cNvSpPr/>
              <p:nvPr/>
            </p:nvSpPr>
            <p:spPr>
              <a:xfrm>
                <a:off x="1022" y="3134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8" name="Google Shape;958;p44"/>
              <p:cNvSpPr/>
              <p:nvPr/>
            </p:nvSpPr>
            <p:spPr>
              <a:xfrm>
                <a:off x="686" y="3758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59" name="Google Shape;959;p4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0" name="Google Shape;960;p44"/>
          <p:cNvGrpSpPr/>
          <p:nvPr/>
        </p:nvGrpSpPr>
        <p:grpSpPr>
          <a:xfrm>
            <a:off x="1298075" y="2185912"/>
            <a:ext cx="6318623" cy="3338972"/>
            <a:chOff x="480" y="1248"/>
            <a:chExt cx="3980" cy="2804"/>
          </a:xfrm>
        </p:grpSpPr>
        <p:sp>
          <p:nvSpPr>
            <p:cNvPr id="961" name="Google Shape;961;p44"/>
            <p:cNvSpPr txBox="1"/>
            <p:nvPr/>
          </p:nvSpPr>
          <p:spPr>
            <a:xfrm>
              <a:off x="480" y="1248"/>
              <a:ext cx="3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Step 2: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Rotate θ w.r.t to origin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4"/>
            <p:cNvSpPr txBox="1"/>
            <p:nvPr/>
          </p:nvSpPr>
          <p:spPr>
            <a:xfrm>
              <a:off x="1968" y="206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</a:t>
              </a:r>
              <a:r>
                <a:rPr b="1" baseline="-2500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θ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3" name="Google Shape;963;p44"/>
            <p:cNvGrpSpPr/>
            <p:nvPr/>
          </p:nvGrpSpPr>
          <p:grpSpPr>
            <a:xfrm rot="2160075">
              <a:off x="3973" y="3389"/>
              <a:ext cx="336" cy="624"/>
              <a:chOff x="686" y="3134"/>
              <a:chExt cx="336" cy="624"/>
            </a:xfrm>
          </p:grpSpPr>
          <p:sp>
            <p:nvSpPr>
              <p:cNvPr id="964" name="Google Shape;964;p44"/>
              <p:cNvSpPr/>
              <p:nvPr/>
            </p:nvSpPr>
            <p:spPr>
              <a:xfrm>
                <a:off x="1022" y="3134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5" name="Google Shape;965;p44"/>
              <p:cNvSpPr/>
              <p:nvPr/>
            </p:nvSpPr>
            <p:spPr>
              <a:xfrm>
                <a:off x="686" y="3758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66" name="Google Shape;966;p44"/>
          <p:cNvGrpSpPr/>
          <p:nvPr/>
        </p:nvGrpSpPr>
        <p:grpSpPr>
          <a:xfrm>
            <a:off x="1298075" y="1728725"/>
            <a:ext cx="5928225" cy="3559950"/>
            <a:chOff x="480" y="864"/>
            <a:chExt cx="3000" cy="2990"/>
          </a:xfrm>
        </p:grpSpPr>
        <p:sp>
          <p:nvSpPr>
            <p:cNvPr id="967" name="Google Shape;967;p44"/>
            <p:cNvSpPr txBox="1"/>
            <p:nvPr/>
          </p:nvSpPr>
          <p:spPr>
            <a:xfrm>
              <a:off x="480" y="864"/>
              <a:ext cx="30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Step 1: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Translate P(-h,-k) to origin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4"/>
            <p:cNvSpPr txBox="1"/>
            <p:nvPr/>
          </p:nvSpPr>
          <p:spPr>
            <a:xfrm>
              <a:off x="2092" y="206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T(-h ,-k)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9" name="Google Shape;969;p44"/>
            <p:cNvGrpSpPr/>
            <p:nvPr/>
          </p:nvGrpSpPr>
          <p:grpSpPr>
            <a:xfrm>
              <a:off x="2064" y="3230"/>
              <a:ext cx="336" cy="624"/>
              <a:chOff x="3038" y="1310"/>
              <a:chExt cx="336" cy="624"/>
            </a:xfrm>
          </p:grpSpPr>
          <p:sp>
            <p:nvSpPr>
              <p:cNvPr id="970" name="Google Shape;970;p44"/>
              <p:cNvSpPr/>
              <p:nvPr/>
            </p:nvSpPr>
            <p:spPr>
              <a:xfrm>
                <a:off x="3374" y="1310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1" name="Google Shape;971;p44"/>
              <p:cNvSpPr/>
              <p:nvPr/>
            </p:nvSpPr>
            <p:spPr>
              <a:xfrm>
                <a:off x="3038" y="1934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g26297c2c666_0_54"/>
          <p:cNvGrpSpPr/>
          <p:nvPr/>
        </p:nvGrpSpPr>
        <p:grpSpPr>
          <a:xfrm>
            <a:off x="5750657" y="3801436"/>
            <a:ext cx="607276" cy="736778"/>
            <a:chOff x="1727200" y="685800"/>
            <a:chExt cx="685800" cy="1143000"/>
          </a:xfrm>
        </p:grpSpPr>
        <p:sp>
          <p:nvSpPr>
            <p:cNvPr id="977" name="Google Shape;977;g26297c2c666_0_54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8" name="Google Shape;978;g26297c2c666_0_54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79" name="Google Shape;979;g26297c2c666_0_54"/>
            <p:cNvCxnSpPr>
              <a:stCxn id="978" idx="7"/>
              <a:endCxn id="977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0" name="Google Shape;980;g26297c2c666_0_54"/>
            <p:cNvCxnSpPr>
              <a:endCxn id="977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g26297c2c666_0_54"/>
            <p:cNvCxnSpPr>
              <a:stCxn id="978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982" name="Google Shape;982;g26297c2c666_0_54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83" name="Google Shape;983;g26297c2c666_0_54"/>
          <p:cNvSpPr txBox="1"/>
          <p:nvPr>
            <p:ph idx="12" type="sldNum"/>
          </p:nvPr>
        </p:nvSpPr>
        <p:spPr>
          <a:xfrm>
            <a:off x="7444487" y="4734524"/>
            <a:ext cx="1686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cxnSp>
        <p:nvCxnSpPr>
          <p:cNvPr id="984" name="Google Shape;984;g26297c2c666_0_54"/>
          <p:cNvCxnSpPr/>
          <p:nvPr/>
        </p:nvCxnSpPr>
        <p:spPr>
          <a:xfrm>
            <a:off x="1585625" y="2573567"/>
            <a:ext cx="2159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5" name="Google Shape;985;g26297c2c666_0_54"/>
          <p:cNvCxnSpPr/>
          <p:nvPr/>
        </p:nvCxnSpPr>
        <p:spPr>
          <a:xfrm rot="10800000">
            <a:off x="1585625" y="1198367"/>
            <a:ext cx="0" cy="13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6" name="Google Shape;986;g26297c2c666_0_54"/>
          <p:cNvSpPr txBox="1"/>
          <p:nvPr/>
        </p:nvSpPr>
        <p:spPr>
          <a:xfrm>
            <a:off x="2181200" y="1875750"/>
            <a:ext cx="121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P(h,k)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7" name="Google Shape;987;g26297c2c666_0_54"/>
          <p:cNvGrpSpPr/>
          <p:nvPr/>
        </p:nvGrpSpPr>
        <p:grpSpPr>
          <a:xfrm>
            <a:off x="2575281" y="1149353"/>
            <a:ext cx="607276" cy="736778"/>
            <a:chOff x="1727200" y="685800"/>
            <a:chExt cx="685800" cy="1143000"/>
          </a:xfrm>
        </p:grpSpPr>
        <p:sp>
          <p:nvSpPr>
            <p:cNvPr id="988" name="Google Shape;988;g26297c2c666_0_54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9" name="Google Shape;989;g26297c2c666_0_54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90" name="Google Shape;990;g26297c2c666_0_54"/>
            <p:cNvCxnSpPr>
              <a:stCxn id="989" idx="7"/>
              <a:endCxn id="988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1" name="Google Shape;991;g26297c2c666_0_54"/>
            <p:cNvCxnSpPr>
              <a:endCxn id="988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2" name="Google Shape;992;g26297c2c666_0_54"/>
            <p:cNvCxnSpPr>
              <a:stCxn id="989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3" name="Google Shape;993;g26297c2c666_0_54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94" name="Google Shape;994;g26297c2c666_0_54"/>
          <p:cNvCxnSpPr/>
          <p:nvPr/>
        </p:nvCxnSpPr>
        <p:spPr>
          <a:xfrm>
            <a:off x="6352872" y="2617943"/>
            <a:ext cx="2159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5" name="Google Shape;995;g26297c2c666_0_54"/>
          <p:cNvCxnSpPr/>
          <p:nvPr/>
        </p:nvCxnSpPr>
        <p:spPr>
          <a:xfrm rot="10800000">
            <a:off x="6352872" y="1242743"/>
            <a:ext cx="0" cy="13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6" name="Google Shape;996;g26297c2c666_0_54"/>
          <p:cNvSpPr txBox="1"/>
          <p:nvPr/>
        </p:nvSpPr>
        <p:spPr>
          <a:xfrm>
            <a:off x="5881419" y="2636738"/>
            <a:ext cx="101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P’(0,0)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7" name="Google Shape;997;g26297c2c666_0_54"/>
          <p:cNvGrpSpPr/>
          <p:nvPr/>
        </p:nvGrpSpPr>
        <p:grpSpPr>
          <a:xfrm>
            <a:off x="6282250" y="1923368"/>
            <a:ext cx="607276" cy="736778"/>
            <a:chOff x="1727200" y="685800"/>
            <a:chExt cx="685800" cy="1143000"/>
          </a:xfrm>
        </p:grpSpPr>
        <p:sp>
          <p:nvSpPr>
            <p:cNvPr id="998" name="Google Shape;998;g26297c2c666_0_54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9" name="Google Shape;999;g26297c2c666_0_54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00" name="Google Shape;1000;g26297c2c666_0_54"/>
            <p:cNvCxnSpPr>
              <a:stCxn id="999" idx="7"/>
              <a:endCxn id="998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1" name="Google Shape;1001;g26297c2c666_0_54"/>
            <p:cNvCxnSpPr>
              <a:endCxn id="998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2" name="Google Shape;1002;g26297c2c666_0_54"/>
            <p:cNvCxnSpPr>
              <a:stCxn id="999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3" name="Google Shape;1003;g26297c2c666_0_54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04" name="Google Shape;1004;g26297c2c666_0_54"/>
          <p:cNvGrpSpPr/>
          <p:nvPr/>
        </p:nvGrpSpPr>
        <p:grpSpPr>
          <a:xfrm rot="5400000">
            <a:off x="6035567" y="4148660"/>
            <a:ext cx="442067" cy="1012126"/>
            <a:chOff x="1727200" y="685800"/>
            <a:chExt cx="685800" cy="1143000"/>
          </a:xfrm>
        </p:grpSpPr>
        <p:sp>
          <p:nvSpPr>
            <p:cNvPr id="1005" name="Google Shape;1005;g26297c2c666_0_54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6" name="Google Shape;1006;g26297c2c666_0_54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07" name="Google Shape;1007;g26297c2c666_0_54"/>
            <p:cNvCxnSpPr/>
            <p:nvPr/>
          </p:nvCxnSpPr>
          <p:spPr>
            <a:xfrm rot="-5400000">
              <a:off x="1626718" y="1032434"/>
              <a:ext cx="882900" cy="425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8" name="Google Shape;1008;g26297c2c666_0_54"/>
            <p:cNvCxnSpPr>
              <a:endCxn id="1005" idx="4"/>
            </p:cNvCxnSpPr>
            <p:nvPr/>
          </p:nvCxnSpPr>
          <p:spPr>
            <a:xfrm rot="-5400000">
              <a:off x="1856650" y="1272450"/>
              <a:ext cx="914400" cy="4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g26297c2c666_0_54"/>
            <p:cNvCxnSpPr>
              <a:stCxn id="1006" idx="6"/>
              <a:endCxn id="1010" idx="2"/>
            </p:cNvCxnSpPr>
            <p:nvPr/>
          </p:nvCxnSpPr>
          <p:spPr>
            <a:xfrm rot="10800000">
              <a:off x="2045050" y="1587150"/>
              <a:ext cx="0" cy="33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0" name="Google Shape;1010;g26297c2c666_0_54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1" name="Google Shape;1011;g26297c2c666_0_54"/>
          <p:cNvSpPr/>
          <p:nvPr/>
        </p:nvSpPr>
        <p:spPr>
          <a:xfrm rot="4103766">
            <a:off x="5672747" y="4223846"/>
            <a:ext cx="387846" cy="504982"/>
          </a:xfrm>
          <a:prstGeom prst="arc">
            <a:avLst>
              <a:gd fmla="val 17511222" name="adj1"/>
              <a:gd fmla="val 1682414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26297c2c666_0_54"/>
          <p:cNvSpPr/>
          <p:nvPr/>
        </p:nvSpPr>
        <p:spPr>
          <a:xfrm>
            <a:off x="4859508" y="1846881"/>
            <a:ext cx="353400" cy="16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3" name="Google Shape;1013;g26297c2c666_0_54"/>
          <p:cNvCxnSpPr/>
          <p:nvPr/>
        </p:nvCxnSpPr>
        <p:spPr>
          <a:xfrm>
            <a:off x="1662181" y="4483055"/>
            <a:ext cx="2159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4" name="Google Shape;1014;g26297c2c666_0_54"/>
          <p:cNvCxnSpPr/>
          <p:nvPr/>
        </p:nvCxnSpPr>
        <p:spPr>
          <a:xfrm rot="10800000">
            <a:off x="1662181" y="3107855"/>
            <a:ext cx="0" cy="13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5" name="Google Shape;1015;g26297c2c666_0_54"/>
          <p:cNvSpPr txBox="1"/>
          <p:nvPr/>
        </p:nvSpPr>
        <p:spPr>
          <a:xfrm>
            <a:off x="2413978" y="3790500"/>
            <a:ext cx="105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P(h,k)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6" name="Google Shape;1016;g26297c2c666_0_54"/>
          <p:cNvGrpSpPr/>
          <p:nvPr/>
        </p:nvGrpSpPr>
        <p:grpSpPr>
          <a:xfrm rot="5400000">
            <a:off x="2860190" y="3096349"/>
            <a:ext cx="442067" cy="1012127"/>
            <a:chOff x="1727200" y="685800"/>
            <a:chExt cx="685800" cy="1143000"/>
          </a:xfrm>
        </p:grpSpPr>
        <p:sp>
          <p:nvSpPr>
            <p:cNvPr id="1017" name="Google Shape;1017;g26297c2c666_0_54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8" name="Google Shape;1018;g26297c2c666_0_54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19" name="Google Shape;1019;g26297c2c666_0_54"/>
            <p:cNvCxnSpPr>
              <a:stCxn id="1018" idx="7"/>
              <a:endCxn id="1017" idx="3"/>
            </p:cNvCxnSpPr>
            <p:nvPr/>
          </p:nvCxnSpPr>
          <p:spPr>
            <a:xfrm rot="-5400000">
              <a:off x="1628682" y="1044418"/>
              <a:ext cx="882900" cy="425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0" name="Google Shape;1020;g26297c2c666_0_54"/>
            <p:cNvCxnSpPr>
              <a:endCxn id="1017" idx="4"/>
            </p:cNvCxnSpPr>
            <p:nvPr/>
          </p:nvCxnSpPr>
          <p:spPr>
            <a:xfrm rot="-5400000">
              <a:off x="1856650" y="1272450"/>
              <a:ext cx="914400" cy="4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1" name="Google Shape;1021;g26297c2c666_0_54"/>
            <p:cNvCxnSpPr>
              <a:stCxn id="1018" idx="6"/>
              <a:endCxn id="1022" idx="2"/>
            </p:cNvCxnSpPr>
            <p:nvPr/>
          </p:nvCxnSpPr>
          <p:spPr>
            <a:xfrm rot="10800000">
              <a:off x="2045050" y="1587150"/>
              <a:ext cx="0" cy="33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2" name="Google Shape;1022;g26297c2c666_0_54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23" name="Google Shape;1023;g26297c2c666_0_54"/>
          <p:cNvSpPr txBox="1"/>
          <p:nvPr/>
        </p:nvSpPr>
        <p:spPr>
          <a:xfrm>
            <a:off x="4596868" y="1307569"/>
            <a:ext cx="144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(-h,-k)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4" name="Google Shape;1024;g26297c2c666_0_54"/>
          <p:cNvCxnSpPr/>
          <p:nvPr/>
        </p:nvCxnSpPr>
        <p:spPr>
          <a:xfrm>
            <a:off x="5809607" y="4495308"/>
            <a:ext cx="2159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5" name="Google Shape;1025;g26297c2c666_0_54"/>
          <p:cNvCxnSpPr/>
          <p:nvPr/>
        </p:nvCxnSpPr>
        <p:spPr>
          <a:xfrm rot="10800000">
            <a:off x="5809607" y="3120108"/>
            <a:ext cx="0" cy="13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6" name="Google Shape;1026;g26297c2c666_0_54"/>
          <p:cNvSpPr/>
          <p:nvPr/>
        </p:nvSpPr>
        <p:spPr>
          <a:xfrm rot="5400000">
            <a:off x="6745880" y="3473270"/>
            <a:ext cx="257100" cy="22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g26297c2c666_0_54"/>
          <p:cNvSpPr txBox="1"/>
          <p:nvPr/>
        </p:nvSpPr>
        <p:spPr>
          <a:xfrm>
            <a:off x="7024299" y="3380016"/>
            <a:ext cx="168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Rotate(-90)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g26297c2c666_0_54"/>
          <p:cNvSpPr/>
          <p:nvPr/>
        </p:nvSpPr>
        <p:spPr>
          <a:xfrm rot="10689049">
            <a:off x="4433802" y="3698267"/>
            <a:ext cx="353284" cy="1628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g26297c2c666_0_54"/>
          <p:cNvSpPr txBox="1"/>
          <p:nvPr/>
        </p:nvSpPr>
        <p:spPr>
          <a:xfrm>
            <a:off x="4116650" y="3126956"/>
            <a:ext cx="133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(h,k)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0" name="Google Shape;1030;g26297c2c666_0_54"/>
          <p:cNvGrpSpPr/>
          <p:nvPr/>
        </p:nvGrpSpPr>
        <p:grpSpPr>
          <a:xfrm>
            <a:off x="7236490" y="1242841"/>
            <a:ext cx="607276" cy="736778"/>
            <a:chOff x="1727200" y="685800"/>
            <a:chExt cx="685800" cy="1143000"/>
          </a:xfrm>
        </p:grpSpPr>
        <p:sp>
          <p:nvSpPr>
            <p:cNvPr id="1031" name="Google Shape;1031;g26297c2c666_0_54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2" name="Google Shape;1032;g26297c2c666_0_54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33" name="Google Shape;1033;g26297c2c666_0_54"/>
            <p:cNvCxnSpPr>
              <a:stCxn id="1032" idx="7"/>
              <a:endCxn id="1031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4" name="Google Shape;1034;g26297c2c666_0_54"/>
            <p:cNvCxnSpPr>
              <a:endCxn id="1031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5" name="Google Shape;1035;g26297c2c666_0_54"/>
            <p:cNvCxnSpPr>
              <a:stCxn id="1032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1036" name="Google Shape;1036;g26297c2c666_0_54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037" name="Google Shape;1037;g26297c2c666_0_54"/>
          <p:cNvCxnSpPr>
            <a:stCxn id="1032" idx="3"/>
            <a:endCxn id="999" idx="7"/>
          </p:cNvCxnSpPr>
          <p:nvPr/>
        </p:nvCxnSpPr>
        <p:spPr>
          <a:xfrm flipH="1">
            <a:off x="6397353" y="1965233"/>
            <a:ext cx="858900" cy="611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038" name="Google Shape;1038;g26297c2c666_0_54"/>
          <p:cNvGrpSpPr/>
          <p:nvPr/>
        </p:nvGrpSpPr>
        <p:grpSpPr>
          <a:xfrm rot="5400000">
            <a:off x="1899356" y="4147394"/>
            <a:ext cx="442067" cy="1012126"/>
            <a:chOff x="1727200" y="685800"/>
            <a:chExt cx="685800" cy="1143000"/>
          </a:xfrm>
        </p:grpSpPr>
        <p:sp>
          <p:nvSpPr>
            <p:cNvPr id="1039" name="Google Shape;1039;g26297c2c666_0_54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0" name="Google Shape;1040;g26297c2c666_0_54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41" name="Google Shape;1041;g26297c2c666_0_54"/>
            <p:cNvCxnSpPr>
              <a:stCxn id="1040" idx="7"/>
              <a:endCxn id="1039" idx="3"/>
            </p:cNvCxnSpPr>
            <p:nvPr/>
          </p:nvCxnSpPr>
          <p:spPr>
            <a:xfrm rot="-5400000">
              <a:off x="1628682" y="1044418"/>
              <a:ext cx="882900" cy="4257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2" name="Google Shape;1042;g26297c2c666_0_54"/>
            <p:cNvCxnSpPr>
              <a:endCxn id="1039" idx="4"/>
            </p:cNvCxnSpPr>
            <p:nvPr/>
          </p:nvCxnSpPr>
          <p:spPr>
            <a:xfrm rot="-5400000">
              <a:off x="1856650" y="1272450"/>
              <a:ext cx="914400" cy="459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3" name="Google Shape;1043;g26297c2c666_0_54"/>
            <p:cNvCxnSpPr>
              <a:stCxn id="1040" idx="6"/>
              <a:endCxn id="1044" idx="2"/>
            </p:cNvCxnSpPr>
            <p:nvPr/>
          </p:nvCxnSpPr>
          <p:spPr>
            <a:xfrm rot="10800000">
              <a:off x="2045050" y="1587150"/>
              <a:ext cx="0" cy="3309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1044" name="Google Shape;1044;g26297c2c666_0_54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045" name="Google Shape;1045;g26297c2c666_0_54"/>
          <p:cNvCxnSpPr>
            <a:endCxn id="1022" idx="5"/>
          </p:cNvCxnSpPr>
          <p:nvPr/>
        </p:nvCxnSpPr>
        <p:spPr>
          <a:xfrm flipH="1" rot="10800000">
            <a:off x="1590823" y="3776825"/>
            <a:ext cx="1004100" cy="760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6297c2c666_0_1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051" name="Google Shape;1051;g26297c2c666_0_128"/>
          <p:cNvSpPr txBox="1"/>
          <p:nvPr/>
        </p:nvSpPr>
        <p:spPr>
          <a:xfrm>
            <a:off x="457200" y="1321594"/>
            <a:ext cx="82296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986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2" name="Google Shape;1052;g26297c2c666_0_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650" y="2356247"/>
            <a:ext cx="4661297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g26297c2c666_0_128"/>
          <p:cNvSpPr txBox="1"/>
          <p:nvPr/>
        </p:nvSpPr>
        <p:spPr>
          <a:xfrm>
            <a:off x="2124950" y="1205009"/>
            <a:ext cx="4534500" cy="303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26297c2c666_0_128"/>
          <p:cNvSpPr txBox="1"/>
          <p:nvPr/>
        </p:nvSpPr>
        <p:spPr>
          <a:xfrm>
            <a:off x="845250" y="1780637"/>
            <a:ext cx="6568800" cy="303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6297c2c666_0_1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060" name="Google Shape;1060;g26297c2c666_0_136"/>
          <p:cNvSpPr txBox="1"/>
          <p:nvPr/>
        </p:nvSpPr>
        <p:spPr>
          <a:xfrm>
            <a:off x="1022800" y="1321650"/>
            <a:ext cx="82296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986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1" name="Google Shape;1061;g26297c2c666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7388" y="2356247"/>
            <a:ext cx="4000498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g26297c2c666_0_136"/>
          <p:cNvSpPr txBox="1"/>
          <p:nvPr/>
        </p:nvSpPr>
        <p:spPr>
          <a:xfrm>
            <a:off x="2294625" y="1205009"/>
            <a:ext cx="4266900" cy="303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26297c2c666_0_136"/>
          <p:cNvSpPr txBox="1"/>
          <p:nvPr/>
        </p:nvSpPr>
        <p:spPr>
          <a:xfrm>
            <a:off x="760425" y="1780637"/>
            <a:ext cx="6315300" cy="303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6297c2c666_0_1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069" name="Google Shape;1069;g26297c2c666_0_144"/>
          <p:cNvSpPr txBox="1"/>
          <p:nvPr/>
        </p:nvSpPr>
        <p:spPr>
          <a:xfrm>
            <a:off x="895350" y="1153806"/>
            <a:ext cx="7620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a composite transformation is defined as rotating 90 degree counterclockwise with respect to point (5, 5). Calculate the composite transformation matrix in 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</a:t>
            </a: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form. Then, find the new coordinates of the point (10, 10) after transformation.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g26297c2c666_0_144"/>
          <p:cNvSpPr txBox="1"/>
          <p:nvPr/>
        </p:nvSpPr>
        <p:spPr>
          <a:xfrm>
            <a:off x="-101950" y="3512169"/>
            <a:ext cx="8172000" cy="594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6297c2c666_0_4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pic>
        <p:nvPicPr>
          <p:cNvPr id="1077" name="Google Shape;1077;g26297c2c666_0_4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6575" y="1824679"/>
            <a:ext cx="4148136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g26297c2c666_0_437"/>
          <p:cNvSpPr txBox="1"/>
          <p:nvPr/>
        </p:nvSpPr>
        <p:spPr>
          <a:xfrm>
            <a:off x="1064425" y="1312968"/>
            <a:ext cx="6348600" cy="303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6297c2c666_0_1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084" name="Google Shape;1084;g26297c2c666_0_151"/>
          <p:cNvSpPr txBox="1"/>
          <p:nvPr/>
        </p:nvSpPr>
        <p:spPr>
          <a:xfrm>
            <a:off x="1782625" y="1202623"/>
            <a:ext cx="2886600" cy="40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6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5" name="Google Shape;1085;g26297c2c666_0_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1828800"/>
            <a:ext cx="176212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g26297c2c666_0_151"/>
          <p:cNvSpPr txBox="1"/>
          <p:nvPr/>
        </p:nvSpPr>
        <p:spPr>
          <a:xfrm>
            <a:off x="1676400" y="4230881"/>
            <a:ext cx="47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the new coordinate of P is (0, 10)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6297c2c666_0_444"/>
          <p:cNvSpPr txBox="1"/>
          <p:nvPr>
            <p:ph type="title"/>
          </p:nvPr>
        </p:nvSpPr>
        <p:spPr>
          <a:xfrm>
            <a:off x="1080600" y="352325"/>
            <a:ext cx="7772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3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of S</a:t>
            </a:r>
            <a:r>
              <a:rPr baseline="-25000" i="1" lang="en-US" sz="4300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</a:t>
            </a:r>
            <a:r>
              <a:rPr i="1" lang="en-US" sz="4300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43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P(h,k): R</a:t>
            </a:r>
            <a:r>
              <a:rPr b="0" baseline="-25000" i="1" lang="en-US" sz="43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</a:t>
            </a:r>
            <a:r>
              <a:rPr baseline="-25000" i="1" lang="en-US" sz="4300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3200"/>
          </a:p>
        </p:txBody>
      </p:sp>
      <p:sp>
        <p:nvSpPr>
          <p:cNvPr id="1092" name="Google Shape;1092;g26297c2c666_0_444"/>
          <p:cNvSpPr txBox="1"/>
          <p:nvPr/>
        </p:nvSpPr>
        <p:spPr>
          <a:xfrm>
            <a:off x="1298075" y="3081263"/>
            <a:ext cx="9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,P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3" name="Google Shape;1093;g26297c2c666_0_444"/>
          <p:cNvGrpSpPr/>
          <p:nvPr/>
        </p:nvGrpSpPr>
        <p:grpSpPr>
          <a:xfrm>
            <a:off x="1298075" y="2154276"/>
            <a:ext cx="7004423" cy="1284174"/>
            <a:chOff x="480" y="1286"/>
            <a:chExt cx="4412" cy="1078"/>
          </a:xfrm>
        </p:grpSpPr>
        <p:sp>
          <p:nvSpPr>
            <p:cNvPr id="1094" name="Google Shape;1094;g26297c2c666_0_444"/>
            <p:cNvSpPr txBox="1"/>
            <p:nvPr/>
          </p:nvSpPr>
          <p:spPr>
            <a:xfrm>
              <a:off x="480" y="1632"/>
              <a:ext cx="3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Step 3: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Translate (0,0) to P(h,k)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g26297c2c666_0_444"/>
            <p:cNvSpPr txBox="1"/>
            <p:nvPr/>
          </p:nvSpPr>
          <p:spPr>
            <a:xfrm>
              <a:off x="1056" y="206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T(h ,k) 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6" name="Google Shape;1096;g26297c2c666_0_444"/>
            <p:cNvGrpSpPr/>
            <p:nvPr/>
          </p:nvGrpSpPr>
          <p:grpSpPr>
            <a:xfrm rot="2160075">
              <a:off x="4405" y="1325"/>
              <a:ext cx="336" cy="624"/>
              <a:chOff x="686" y="3134"/>
              <a:chExt cx="336" cy="624"/>
            </a:xfrm>
          </p:grpSpPr>
          <p:sp>
            <p:nvSpPr>
              <p:cNvPr id="1097" name="Google Shape;1097;g26297c2c666_0_444"/>
              <p:cNvSpPr/>
              <p:nvPr/>
            </p:nvSpPr>
            <p:spPr>
              <a:xfrm>
                <a:off x="1022" y="3134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8" name="Google Shape;1098;g26297c2c666_0_444"/>
              <p:cNvSpPr/>
              <p:nvPr/>
            </p:nvSpPr>
            <p:spPr>
              <a:xfrm>
                <a:off x="686" y="3758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099" name="Google Shape;1099;g26297c2c666_0_44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0" name="Google Shape;1100;g26297c2c666_0_444"/>
          <p:cNvGrpSpPr/>
          <p:nvPr/>
        </p:nvGrpSpPr>
        <p:grpSpPr>
          <a:xfrm>
            <a:off x="1298075" y="2109712"/>
            <a:ext cx="6318623" cy="3338972"/>
            <a:chOff x="480" y="1248"/>
            <a:chExt cx="3980" cy="2804"/>
          </a:xfrm>
        </p:grpSpPr>
        <p:sp>
          <p:nvSpPr>
            <p:cNvPr id="1101" name="Google Shape;1101;g26297c2c666_0_444"/>
            <p:cNvSpPr txBox="1"/>
            <p:nvPr/>
          </p:nvSpPr>
          <p:spPr>
            <a:xfrm>
              <a:off x="480" y="1248"/>
              <a:ext cx="3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Step 2: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Scale S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a,b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w.r.t to origin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26297c2c666_0_444"/>
            <p:cNvSpPr txBox="1"/>
            <p:nvPr/>
          </p:nvSpPr>
          <p:spPr>
            <a:xfrm>
              <a:off x="1968" y="206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S(a,b)*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g26297c2c666_0_444"/>
            <p:cNvGrpSpPr/>
            <p:nvPr/>
          </p:nvGrpSpPr>
          <p:grpSpPr>
            <a:xfrm rot="2160075">
              <a:off x="3973" y="3389"/>
              <a:ext cx="336" cy="624"/>
              <a:chOff x="686" y="3134"/>
              <a:chExt cx="336" cy="624"/>
            </a:xfrm>
          </p:grpSpPr>
          <p:sp>
            <p:nvSpPr>
              <p:cNvPr id="1104" name="Google Shape;1104;g26297c2c666_0_444"/>
              <p:cNvSpPr/>
              <p:nvPr/>
            </p:nvSpPr>
            <p:spPr>
              <a:xfrm>
                <a:off x="1022" y="3134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5" name="Google Shape;1105;g26297c2c666_0_444"/>
              <p:cNvSpPr/>
              <p:nvPr/>
            </p:nvSpPr>
            <p:spPr>
              <a:xfrm>
                <a:off x="686" y="3758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106" name="Google Shape;1106;g26297c2c666_0_444"/>
          <p:cNvGrpSpPr/>
          <p:nvPr/>
        </p:nvGrpSpPr>
        <p:grpSpPr>
          <a:xfrm>
            <a:off x="1298075" y="1652513"/>
            <a:ext cx="7268250" cy="3559969"/>
            <a:chOff x="480" y="864"/>
            <a:chExt cx="3000" cy="2990"/>
          </a:xfrm>
        </p:grpSpPr>
        <p:sp>
          <p:nvSpPr>
            <p:cNvPr id="1107" name="Google Shape;1107;g26297c2c666_0_444"/>
            <p:cNvSpPr txBox="1"/>
            <p:nvPr/>
          </p:nvSpPr>
          <p:spPr>
            <a:xfrm>
              <a:off x="480" y="864"/>
              <a:ext cx="30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Step 1: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Translate P(-h,-k) to origin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26297c2c666_0_444"/>
            <p:cNvSpPr txBox="1"/>
            <p:nvPr/>
          </p:nvSpPr>
          <p:spPr>
            <a:xfrm>
              <a:off x="2013" y="204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T(-h ,-k)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" name="Google Shape;1109;g26297c2c666_0_444"/>
            <p:cNvGrpSpPr/>
            <p:nvPr/>
          </p:nvGrpSpPr>
          <p:grpSpPr>
            <a:xfrm>
              <a:off x="2064" y="3230"/>
              <a:ext cx="336" cy="624"/>
              <a:chOff x="3038" y="1310"/>
              <a:chExt cx="336" cy="624"/>
            </a:xfrm>
          </p:grpSpPr>
          <p:sp>
            <p:nvSpPr>
              <p:cNvPr id="1110" name="Google Shape;1110;g26297c2c666_0_444"/>
              <p:cNvSpPr/>
              <p:nvPr/>
            </p:nvSpPr>
            <p:spPr>
              <a:xfrm>
                <a:off x="3374" y="1310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1" name="Google Shape;1111;g26297c2c666_0_444"/>
              <p:cNvSpPr/>
              <p:nvPr/>
            </p:nvSpPr>
            <p:spPr>
              <a:xfrm>
                <a:off x="3038" y="1934"/>
                <a:ext cx="0" cy="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8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oogle Shape;1116;g26297c2c666_0_211"/>
          <p:cNvGrpSpPr/>
          <p:nvPr/>
        </p:nvGrpSpPr>
        <p:grpSpPr>
          <a:xfrm>
            <a:off x="5906460" y="3947672"/>
            <a:ext cx="604670" cy="750722"/>
            <a:chOff x="1727200" y="685800"/>
            <a:chExt cx="685800" cy="1143000"/>
          </a:xfrm>
        </p:grpSpPr>
        <p:sp>
          <p:nvSpPr>
            <p:cNvPr id="1117" name="Google Shape;1117;g26297c2c666_0_211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8" name="Google Shape;1118;g26297c2c666_0_211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9" name="Google Shape;1119;g26297c2c666_0_211"/>
            <p:cNvCxnSpPr>
              <a:stCxn id="1118" idx="7"/>
              <a:endCxn id="1117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0" name="Google Shape;1120;g26297c2c666_0_211"/>
            <p:cNvCxnSpPr>
              <a:endCxn id="1117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1" name="Google Shape;1121;g26297c2c666_0_211"/>
            <p:cNvCxnSpPr>
              <a:stCxn id="1118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1122" name="Google Shape;1122;g26297c2c666_0_211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23" name="Google Shape;1123;g26297c2c666_0_211"/>
          <p:cNvSpPr txBox="1"/>
          <p:nvPr>
            <p:ph idx="12" type="sldNum"/>
          </p:nvPr>
        </p:nvSpPr>
        <p:spPr>
          <a:xfrm>
            <a:off x="7593090" y="4898597"/>
            <a:ext cx="1679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cxnSp>
        <p:nvCxnSpPr>
          <p:cNvPr id="1124" name="Google Shape;1124;g26297c2c666_0_211"/>
          <p:cNvCxnSpPr/>
          <p:nvPr/>
        </p:nvCxnSpPr>
        <p:spPr>
          <a:xfrm>
            <a:off x="1759245" y="2696463"/>
            <a:ext cx="214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5" name="Google Shape;1125;g26297c2c666_0_211"/>
          <p:cNvCxnSpPr/>
          <p:nvPr/>
        </p:nvCxnSpPr>
        <p:spPr>
          <a:xfrm rot="10800000">
            <a:off x="1759245" y="1295163"/>
            <a:ext cx="0" cy="140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6" name="Google Shape;1126;g26297c2c666_0_211"/>
          <p:cNvSpPr txBox="1"/>
          <p:nvPr/>
        </p:nvSpPr>
        <p:spPr>
          <a:xfrm>
            <a:off x="2352273" y="1985363"/>
            <a:ext cx="129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P(h,k)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7" name="Google Shape;1127;g26297c2c666_0_211"/>
          <p:cNvGrpSpPr/>
          <p:nvPr/>
        </p:nvGrpSpPr>
        <p:grpSpPr>
          <a:xfrm>
            <a:off x="2744642" y="1245053"/>
            <a:ext cx="604670" cy="750722"/>
            <a:chOff x="1727200" y="685800"/>
            <a:chExt cx="685800" cy="1143000"/>
          </a:xfrm>
        </p:grpSpPr>
        <p:sp>
          <p:nvSpPr>
            <p:cNvPr id="1128" name="Google Shape;1128;g26297c2c666_0_211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g26297c2c666_0_211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30" name="Google Shape;1130;g26297c2c666_0_211"/>
            <p:cNvCxnSpPr>
              <a:stCxn id="1129" idx="7"/>
              <a:endCxn id="1128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1" name="Google Shape;1131;g26297c2c666_0_211"/>
            <p:cNvCxnSpPr>
              <a:endCxn id="1128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2" name="Google Shape;1132;g26297c2c666_0_211"/>
            <p:cNvCxnSpPr>
              <a:stCxn id="1129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3" name="Google Shape;1133;g26297c2c666_0_211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134" name="Google Shape;1134;g26297c2c666_0_211"/>
          <p:cNvCxnSpPr/>
          <p:nvPr/>
        </p:nvCxnSpPr>
        <p:spPr>
          <a:xfrm>
            <a:off x="6506136" y="2741684"/>
            <a:ext cx="214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5" name="Google Shape;1135;g26297c2c666_0_211"/>
          <p:cNvCxnSpPr/>
          <p:nvPr/>
        </p:nvCxnSpPr>
        <p:spPr>
          <a:xfrm rot="10800000">
            <a:off x="6506136" y="1340384"/>
            <a:ext cx="0" cy="140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6" name="Google Shape;1136;g26297c2c666_0_211"/>
          <p:cNvSpPr txBox="1"/>
          <p:nvPr/>
        </p:nvSpPr>
        <p:spPr>
          <a:xfrm>
            <a:off x="6036692" y="2760844"/>
            <a:ext cx="10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P’(0,0)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7" name="Google Shape;1137;g26297c2c666_0_211"/>
          <p:cNvGrpSpPr/>
          <p:nvPr/>
        </p:nvGrpSpPr>
        <p:grpSpPr>
          <a:xfrm>
            <a:off x="6435783" y="2033818"/>
            <a:ext cx="604670" cy="750722"/>
            <a:chOff x="1727200" y="685800"/>
            <a:chExt cx="685800" cy="1143000"/>
          </a:xfrm>
        </p:grpSpPr>
        <p:sp>
          <p:nvSpPr>
            <p:cNvPr id="1138" name="Google Shape;1138;g26297c2c666_0_211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9" name="Google Shape;1139;g26297c2c666_0_211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40" name="Google Shape;1140;g26297c2c666_0_211"/>
            <p:cNvCxnSpPr>
              <a:stCxn id="1139" idx="7"/>
              <a:endCxn id="1138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1" name="Google Shape;1141;g26297c2c666_0_211"/>
            <p:cNvCxnSpPr>
              <a:endCxn id="1138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2" name="Google Shape;1142;g26297c2c666_0_211"/>
            <p:cNvCxnSpPr>
              <a:stCxn id="1139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3" name="Google Shape;1143;g26297c2c666_0_211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44" name="Google Shape;1144;g26297c2c666_0_211"/>
          <p:cNvGrpSpPr/>
          <p:nvPr/>
        </p:nvGrpSpPr>
        <p:grpSpPr>
          <a:xfrm>
            <a:off x="1713767" y="3474178"/>
            <a:ext cx="1004628" cy="1247356"/>
            <a:chOff x="1727200" y="685800"/>
            <a:chExt cx="685800" cy="1143000"/>
          </a:xfrm>
        </p:grpSpPr>
        <p:sp>
          <p:nvSpPr>
            <p:cNvPr id="1145" name="Google Shape;1145;g26297c2c666_0_211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6" name="Google Shape;1146;g26297c2c666_0_211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47" name="Google Shape;1147;g26297c2c666_0_211"/>
            <p:cNvCxnSpPr>
              <a:stCxn id="1146" idx="7"/>
              <a:endCxn id="1145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8" name="Google Shape;1148;g26297c2c666_0_211"/>
            <p:cNvCxnSpPr>
              <a:endCxn id="1145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9" name="Google Shape;1149;g26297c2c666_0_211"/>
            <p:cNvCxnSpPr>
              <a:stCxn id="1146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1150" name="Google Shape;1150;g26297c2c666_0_211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51" name="Google Shape;1151;g26297c2c666_0_211"/>
          <p:cNvSpPr/>
          <p:nvPr/>
        </p:nvSpPr>
        <p:spPr>
          <a:xfrm rot="4130797">
            <a:off x="5824960" y="4383512"/>
            <a:ext cx="394052" cy="504172"/>
          </a:xfrm>
          <a:prstGeom prst="arc">
            <a:avLst>
              <a:gd fmla="val 17511222" name="adj1"/>
              <a:gd fmla="val 1682414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g26297c2c666_0_211"/>
          <p:cNvSpPr/>
          <p:nvPr/>
        </p:nvSpPr>
        <p:spPr>
          <a:xfrm>
            <a:off x="5019148" y="1955930"/>
            <a:ext cx="351900" cy="16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3" name="Google Shape;1153;g26297c2c666_0_211"/>
          <p:cNvCxnSpPr/>
          <p:nvPr/>
        </p:nvCxnSpPr>
        <p:spPr>
          <a:xfrm>
            <a:off x="1835474" y="4642336"/>
            <a:ext cx="214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4" name="Google Shape;1154;g26297c2c666_0_211"/>
          <p:cNvCxnSpPr/>
          <p:nvPr/>
        </p:nvCxnSpPr>
        <p:spPr>
          <a:xfrm rot="10800000">
            <a:off x="1835474" y="3241036"/>
            <a:ext cx="0" cy="140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5" name="Google Shape;1155;g26297c2c666_0_211"/>
          <p:cNvSpPr txBox="1"/>
          <p:nvPr/>
        </p:nvSpPr>
        <p:spPr>
          <a:xfrm>
            <a:off x="2584046" y="3936581"/>
            <a:ext cx="140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P(h,k)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26297c2c666_0_211"/>
          <p:cNvSpPr txBox="1"/>
          <p:nvPr/>
        </p:nvSpPr>
        <p:spPr>
          <a:xfrm>
            <a:off x="4715251" y="1343879"/>
            <a:ext cx="1183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(-h,-k)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7" name="Google Shape;1157;g26297c2c666_0_211"/>
          <p:cNvCxnSpPr/>
          <p:nvPr/>
        </p:nvCxnSpPr>
        <p:spPr>
          <a:xfrm>
            <a:off x="5965190" y="4654823"/>
            <a:ext cx="214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8" name="Google Shape;1158;g26297c2c666_0_211"/>
          <p:cNvCxnSpPr/>
          <p:nvPr/>
        </p:nvCxnSpPr>
        <p:spPr>
          <a:xfrm rot="10800000">
            <a:off x="5965190" y="3253523"/>
            <a:ext cx="0" cy="140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9" name="Google Shape;1159;g26297c2c666_0_211"/>
          <p:cNvSpPr/>
          <p:nvPr/>
        </p:nvSpPr>
        <p:spPr>
          <a:xfrm rot="5400000">
            <a:off x="7098664" y="3146798"/>
            <a:ext cx="262200" cy="22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g26297c2c666_0_211"/>
          <p:cNvSpPr txBox="1"/>
          <p:nvPr/>
        </p:nvSpPr>
        <p:spPr>
          <a:xfrm>
            <a:off x="7378872" y="3048938"/>
            <a:ext cx="167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Scale(1.5, 1.5)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g26297c2c666_0_211"/>
          <p:cNvSpPr/>
          <p:nvPr/>
        </p:nvSpPr>
        <p:spPr>
          <a:xfrm rot="10688576">
            <a:off x="4671485" y="3956873"/>
            <a:ext cx="351785" cy="16587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g26297c2c666_0_211"/>
          <p:cNvSpPr txBox="1"/>
          <p:nvPr/>
        </p:nvSpPr>
        <p:spPr>
          <a:xfrm>
            <a:off x="4431234" y="3415688"/>
            <a:ext cx="147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Translate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000066"/>
                </a:solidFill>
                <a:latin typeface="Garamond"/>
                <a:ea typeface="Garamond"/>
                <a:cs typeface="Garamond"/>
                <a:sym typeface="Garamond"/>
              </a:rPr>
              <a:t>(h,k)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3" name="Google Shape;1163;g26297c2c666_0_211"/>
          <p:cNvGrpSpPr/>
          <p:nvPr/>
        </p:nvGrpSpPr>
        <p:grpSpPr>
          <a:xfrm>
            <a:off x="7385948" y="1340323"/>
            <a:ext cx="604670" cy="750722"/>
            <a:chOff x="1727200" y="685800"/>
            <a:chExt cx="685800" cy="1143000"/>
          </a:xfrm>
        </p:grpSpPr>
        <p:sp>
          <p:nvSpPr>
            <p:cNvPr id="1164" name="Google Shape;1164;g26297c2c666_0_211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5" name="Google Shape;1165;g26297c2c666_0_211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66" name="Google Shape;1166;g26297c2c666_0_211"/>
            <p:cNvCxnSpPr>
              <a:stCxn id="1165" idx="7"/>
              <a:endCxn id="1164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7" name="Google Shape;1167;g26297c2c666_0_211"/>
            <p:cNvCxnSpPr>
              <a:endCxn id="1164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8" name="Google Shape;1168;g26297c2c666_0_211"/>
            <p:cNvCxnSpPr>
              <a:stCxn id="1165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1169" name="Google Shape;1169;g26297c2c666_0_211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170" name="Google Shape;1170;g26297c2c666_0_211"/>
          <p:cNvCxnSpPr>
            <a:stCxn id="1165" idx="3"/>
            <a:endCxn id="1139" idx="7"/>
          </p:cNvCxnSpPr>
          <p:nvPr/>
        </p:nvCxnSpPr>
        <p:spPr>
          <a:xfrm flipH="1">
            <a:off x="6550326" y="2076387"/>
            <a:ext cx="855300" cy="62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1" name="Google Shape;1171;g26297c2c666_0_211"/>
          <p:cNvCxnSpPr>
            <a:stCxn id="1154" idx="0"/>
          </p:cNvCxnSpPr>
          <p:nvPr/>
        </p:nvCxnSpPr>
        <p:spPr>
          <a:xfrm flipH="1" rot="10800000">
            <a:off x="1835474" y="3922636"/>
            <a:ext cx="928800" cy="719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72" name="Google Shape;1172;g26297c2c666_0_211"/>
          <p:cNvGrpSpPr/>
          <p:nvPr/>
        </p:nvGrpSpPr>
        <p:grpSpPr>
          <a:xfrm>
            <a:off x="5971792" y="3585343"/>
            <a:ext cx="1004628" cy="1247356"/>
            <a:chOff x="1727200" y="685800"/>
            <a:chExt cx="685800" cy="1143000"/>
          </a:xfrm>
        </p:grpSpPr>
        <p:sp>
          <p:nvSpPr>
            <p:cNvPr id="1173" name="Google Shape;1173;g26297c2c666_0_211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4" name="Google Shape;1174;g26297c2c666_0_211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75" name="Google Shape;1175;g26297c2c666_0_211"/>
            <p:cNvCxnSpPr>
              <a:stCxn id="1174" idx="7"/>
              <a:endCxn id="1173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6" name="Google Shape;1176;g26297c2c666_0_211"/>
            <p:cNvCxnSpPr>
              <a:endCxn id="1173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g26297c2c666_0_211"/>
            <p:cNvCxnSpPr>
              <a:stCxn id="1174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8" name="Google Shape;1178;g26297c2c666_0_211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79" name="Google Shape;1179;g26297c2c666_0_211"/>
          <p:cNvGrpSpPr/>
          <p:nvPr/>
        </p:nvGrpSpPr>
        <p:grpSpPr>
          <a:xfrm>
            <a:off x="2644394" y="2782030"/>
            <a:ext cx="1004628" cy="1247356"/>
            <a:chOff x="1727200" y="685800"/>
            <a:chExt cx="685800" cy="1143000"/>
          </a:xfrm>
        </p:grpSpPr>
        <p:sp>
          <p:nvSpPr>
            <p:cNvPr id="1180" name="Google Shape;1180;g26297c2c666_0_211"/>
            <p:cNvSpPr/>
            <p:nvPr/>
          </p:nvSpPr>
          <p:spPr>
            <a:xfrm>
              <a:off x="2260600" y="6858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1" name="Google Shape;1181;g26297c2c666_0_211"/>
            <p:cNvSpPr/>
            <p:nvPr/>
          </p:nvSpPr>
          <p:spPr>
            <a:xfrm>
              <a:off x="1727200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2" name="Google Shape;1182;g26297c2c666_0_211"/>
            <p:cNvCxnSpPr>
              <a:stCxn id="1181" idx="7"/>
              <a:endCxn id="1180" idx="3"/>
            </p:cNvCxnSpPr>
            <p:nvPr/>
          </p:nvCxnSpPr>
          <p:spPr>
            <a:xfrm flipH="1" rot="10800000">
              <a:off x="1857282" y="815818"/>
              <a:ext cx="425700" cy="88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3" name="Google Shape;1183;g26297c2c666_0_211"/>
            <p:cNvCxnSpPr>
              <a:endCxn id="1180" idx="4"/>
            </p:cNvCxnSpPr>
            <p:nvPr/>
          </p:nvCxnSpPr>
          <p:spPr>
            <a:xfrm flipH="1" rot="10800000">
              <a:off x="2290900" y="838200"/>
              <a:ext cx="4590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4" name="Google Shape;1184;g26297c2c666_0_211"/>
            <p:cNvCxnSpPr>
              <a:stCxn id="1181" idx="6"/>
            </p:cNvCxnSpPr>
            <p:nvPr/>
          </p:nvCxnSpPr>
          <p:spPr>
            <a:xfrm>
              <a:off x="1879600" y="1752600"/>
              <a:ext cx="4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g26297c2c666_0_211"/>
            <p:cNvSpPr/>
            <p:nvPr/>
          </p:nvSpPr>
          <p:spPr>
            <a:xfrm>
              <a:off x="2210594" y="1676400"/>
              <a:ext cx="152400" cy="1524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8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6297c2c666_0_28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191" name="Google Shape;1191;g26297c2c666_0_285"/>
          <p:cNvSpPr txBox="1"/>
          <p:nvPr/>
        </p:nvSpPr>
        <p:spPr>
          <a:xfrm>
            <a:off x="457200" y="1321594"/>
            <a:ext cx="82296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986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2" name="Google Shape;1192;g26297c2c666_0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8325" y="2571741"/>
            <a:ext cx="3212306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g26297c2c666_0_285"/>
          <p:cNvSpPr txBox="1"/>
          <p:nvPr/>
        </p:nvSpPr>
        <p:spPr>
          <a:xfrm>
            <a:off x="1929650" y="1205009"/>
            <a:ext cx="4410900" cy="303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g26297c2c666_0_285"/>
          <p:cNvSpPr txBox="1"/>
          <p:nvPr/>
        </p:nvSpPr>
        <p:spPr>
          <a:xfrm>
            <a:off x="912500" y="1780637"/>
            <a:ext cx="6445200" cy="303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6297c2c666_0_29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200" name="Google Shape;1200;g26297c2c666_0_293"/>
          <p:cNvSpPr txBox="1"/>
          <p:nvPr/>
        </p:nvSpPr>
        <p:spPr>
          <a:xfrm>
            <a:off x="1077025" y="716625"/>
            <a:ext cx="762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a composite transformation is defined as scaling 2 times in both axis with respect to point (5, 5). Calculate the composite transformation matrix in homogeneous form. Then, find the new coordinates of the point (10, 10) after transformation.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g26297c2c666_0_293"/>
          <p:cNvSpPr txBox="1"/>
          <p:nvPr/>
        </p:nvSpPr>
        <p:spPr>
          <a:xfrm>
            <a:off x="296925" y="2343674"/>
            <a:ext cx="6400200" cy="303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2" name="Google Shape;1202;g26297c2c666_0_2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1175" y="2787722"/>
            <a:ext cx="3157538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6297c2c666_0_3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208" name="Google Shape;1208;g26297c2c666_0_300"/>
          <p:cNvSpPr txBox="1"/>
          <p:nvPr/>
        </p:nvSpPr>
        <p:spPr>
          <a:xfrm>
            <a:off x="1538925" y="1018403"/>
            <a:ext cx="2457600" cy="492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6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9" name="Google Shape;1209;g26297c2c666_0_3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2913" y="1828800"/>
            <a:ext cx="1707356" cy="20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g26297c2c666_0_300"/>
          <p:cNvSpPr txBox="1"/>
          <p:nvPr/>
        </p:nvSpPr>
        <p:spPr>
          <a:xfrm>
            <a:off x="1570350" y="4124831"/>
            <a:ext cx="490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the new coordinate of P is (15, 15)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6297c2c666_0_308"/>
          <p:cNvSpPr txBox="1"/>
          <p:nvPr>
            <p:ph idx="12" type="sldNum"/>
          </p:nvPr>
        </p:nvSpPr>
        <p:spPr>
          <a:xfrm>
            <a:off x="7496177" y="4734762"/>
            <a:ext cx="1555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pic>
        <p:nvPicPr>
          <p:cNvPr id="1216" name="Google Shape;1216;g26297c2c666_0_3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5918" y="1100629"/>
            <a:ext cx="2229424" cy="186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g26297c2c666_0_3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6462" y="1086263"/>
            <a:ext cx="2229424" cy="186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g26297c2c666_0_3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7724" y="1086263"/>
            <a:ext cx="2229424" cy="186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g26297c2c666_0_3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5625" y="3183733"/>
            <a:ext cx="2229424" cy="186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g26297c2c666_0_3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8765" y="3210713"/>
            <a:ext cx="2229424" cy="186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g26297c2c666_0_30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046" y="3210713"/>
            <a:ext cx="2229424" cy="18676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2" name="Google Shape;1222;g26297c2c666_0_308"/>
          <p:cNvCxnSpPr/>
          <p:nvPr/>
        </p:nvCxnSpPr>
        <p:spPr>
          <a:xfrm>
            <a:off x="3753604" y="1906608"/>
            <a:ext cx="42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3" name="Google Shape;1223;g26297c2c666_0_308"/>
          <p:cNvCxnSpPr/>
          <p:nvPr/>
        </p:nvCxnSpPr>
        <p:spPr>
          <a:xfrm>
            <a:off x="6511465" y="1847090"/>
            <a:ext cx="42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4" name="Google Shape;1224;g26297c2c666_0_308"/>
          <p:cNvCxnSpPr/>
          <p:nvPr/>
        </p:nvCxnSpPr>
        <p:spPr>
          <a:xfrm>
            <a:off x="3711301" y="3827618"/>
            <a:ext cx="42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5" name="Google Shape;1225;g26297c2c666_0_308"/>
          <p:cNvCxnSpPr/>
          <p:nvPr/>
        </p:nvCxnSpPr>
        <p:spPr>
          <a:xfrm>
            <a:off x="6485143" y="3720896"/>
            <a:ext cx="42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6" name="Google Shape;1226;g26297c2c666_0_308"/>
          <p:cNvCxnSpPr/>
          <p:nvPr/>
        </p:nvCxnSpPr>
        <p:spPr>
          <a:xfrm flipH="1">
            <a:off x="3089127" y="2631434"/>
            <a:ext cx="3981900" cy="71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7" name="Google Shape;1227;g26297c2c666_0_308"/>
          <p:cNvSpPr txBox="1"/>
          <p:nvPr/>
        </p:nvSpPr>
        <p:spPr>
          <a:xfrm>
            <a:off x="2670177" y="1041829"/>
            <a:ext cx="83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26297c2c666_0_308"/>
          <p:cNvSpPr txBox="1"/>
          <p:nvPr/>
        </p:nvSpPr>
        <p:spPr>
          <a:xfrm>
            <a:off x="5354747" y="2862394"/>
            <a:ext cx="155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Reflect(x axis)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g26297c2c666_0_308"/>
          <p:cNvSpPr txBox="1"/>
          <p:nvPr/>
        </p:nvSpPr>
        <p:spPr>
          <a:xfrm>
            <a:off x="6278753" y="1532005"/>
            <a:ext cx="114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Rotate(-θ)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g26297c2c666_0_308"/>
          <p:cNvSpPr txBox="1"/>
          <p:nvPr/>
        </p:nvSpPr>
        <p:spPr>
          <a:xfrm>
            <a:off x="3324900" y="3460491"/>
            <a:ext cx="128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Rotate(θ)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g26297c2c666_0_308"/>
          <p:cNvSpPr txBox="1"/>
          <p:nvPr/>
        </p:nvSpPr>
        <p:spPr>
          <a:xfrm>
            <a:off x="6073703" y="3407119"/>
            <a:ext cx="155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Translate(0,b)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g26297c2c666_0_308"/>
          <p:cNvSpPr txBox="1"/>
          <p:nvPr/>
        </p:nvSpPr>
        <p:spPr>
          <a:xfrm>
            <a:off x="3325560" y="1592982"/>
            <a:ext cx="149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Translate(0,-b)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g26297c2c666_0_308"/>
          <p:cNvSpPr txBox="1"/>
          <p:nvPr/>
        </p:nvSpPr>
        <p:spPr>
          <a:xfrm>
            <a:off x="1504224" y="227585"/>
            <a:ext cx="73233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about line L, M</a:t>
            </a:r>
            <a:r>
              <a:rPr b="0" baseline="-2500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6297c2c666_0_330"/>
          <p:cNvSpPr txBox="1"/>
          <p:nvPr/>
        </p:nvSpPr>
        <p:spPr>
          <a:xfrm>
            <a:off x="1167650" y="320244"/>
            <a:ext cx="6915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about line L, M</a:t>
            </a:r>
            <a:r>
              <a:rPr b="0" baseline="-2500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g26297c2c666_0_330"/>
          <p:cNvSpPr txBox="1"/>
          <p:nvPr>
            <p:ph idx="12" type="sldNum"/>
          </p:nvPr>
        </p:nvSpPr>
        <p:spPr>
          <a:xfrm>
            <a:off x="6076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240" name="Google Shape;1240;g26297c2c666_0_330"/>
          <p:cNvSpPr txBox="1"/>
          <p:nvPr/>
        </p:nvSpPr>
        <p:spPr>
          <a:xfrm>
            <a:off x="1235074" y="1638300"/>
            <a:ext cx="4736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1:</a:t>
            </a: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Translate (0,-b) to origin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g26297c2c666_0_330"/>
          <p:cNvSpPr txBox="1"/>
          <p:nvPr/>
        </p:nvSpPr>
        <p:spPr>
          <a:xfrm>
            <a:off x="6553200" y="4343400"/>
            <a:ext cx="16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T(0 ,-b)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g26297c2c666_0_330"/>
          <p:cNvSpPr txBox="1"/>
          <p:nvPr/>
        </p:nvSpPr>
        <p:spPr>
          <a:xfrm>
            <a:off x="1219200" y="4343400"/>
            <a:ext cx="9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g26297c2c666_0_330"/>
          <p:cNvSpPr txBox="1"/>
          <p:nvPr/>
        </p:nvSpPr>
        <p:spPr>
          <a:xfrm>
            <a:off x="1235075" y="2095500"/>
            <a:ext cx="4736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2:</a:t>
            </a: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Rotate -θ degrees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4" name="Google Shape;1244;g26297c2c666_0_330"/>
          <p:cNvSpPr txBox="1"/>
          <p:nvPr/>
        </p:nvSpPr>
        <p:spPr>
          <a:xfrm>
            <a:off x="1235075" y="2552700"/>
            <a:ext cx="4860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3:</a:t>
            </a: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Mirror reflect about X-axis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g26297c2c666_0_330"/>
          <p:cNvSpPr txBox="1"/>
          <p:nvPr/>
        </p:nvSpPr>
        <p:spPr>
          <a:xfrm>
            <a:off x="5334000" y="4343400"/>
            <a:ext cx="13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R(-θ)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g26297c2c666_0_330"/>
          <p:cNvSpPr txBox="1"/>
          <p:nvPr/>
        </p:nvSpPr>
        <p:spPr>
          <a:xfrm>
            <a:off x="1981200" y="4343400"/>
            <a:ext cx="16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T(0 ,b)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g26297c2c666_0_330"/>
          <p:cNvSpPr txBox="1"/>
          <p:nvPr/>
        </p:nvSpPr>
        <p:spPr>
          <a:xfrm>
            <a:off x="1235075" y="3011100"/>
            <a:ext cx="4428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4:</a:t>
            </a: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Rotate θ degrees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g26297c2c666_0_330"/>
          <p:cNvSpPr txBox="1"/>
          <p:nvPr/>
        </p:nvSpPr>
        <p:spPr>
          <a:xfrm>
            <a:off x="1235075" y="3467100"/>
            <a:ext cx="4579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 5:</a:t>
            </a: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Translate origin to (0,b)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g26297c2c666_0_330"/>
          <p:cNvSpPr txBox="1"/>
          <p:nvPr/>
        </p:nvSpPr>
        <p:spPr>
          <a:xfrm>
            <a:off x="4572000" y="4343400"/>
            <a:ext cx="9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 b="1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0" name="Google Shape;1250;g26297c2c666_0_330"/>
          <p:cNvSpPr txBox="1"/>
          <p:nvPr/>
        </p:nvSpPr>
        <p:spPr>
          <a:xfrm>
            <a:off x="3429000" y="4343400"/>
            <a:ext cx="12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R(θ)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1" name="Google Shape;1251;g26297c2c666_0_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9713" y="1314450"/>
            <a:ext cx="2868215" cy="2801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g26297c2c666_0_3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9713" y="1314450"/>
            <a:ext cx="2868215" cy="2801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g26297c2c666_0_3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9713" y="1314450"/>
            <a:ext cx="2868215" cy="2801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g26297c2c666_0_3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19713" y="1314450"/>
            <a:ext cx="2868215" cy="2801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g26297c2c666_0_3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19713" y="1314450"/>
            <a:ext cx="2868215" cy="2801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g26297c2c666_0_3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19713" y="1314450"/>
            <a:ext cx="2868215" cy="2801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6297c2c666_0_352"/>
          <p:cNvSpPr txBox="1"/>
          <p:nvPr>
            <p:ph idx="12" type="sldNum"/>
          </p:nvPr>
        </p:nvSpPr>
        <p:spPr>
          <a:xfrm>
            <a:off x="7513902" y="4668137"/>
            <a:ext cx="1617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262" name="Google Shape;1262;g26297c2c666_0_352"/>
          <p:cNvSpPr txBox="1"/>
          <p:nvPr/>
        </p:nvSpPr>
        <p:spPr>
          <a:xfrm>
            <a:off x="1517400" y="188475"/>
            <a:ext cx="700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 the point (10, 5) with respect to the line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y=x+2.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g26297c2c666_0_352"/>
          <p:cNvSpPr txBox="1"/>
          <p:nvPr/>
        </p:nvSpPr>
        <p:spPr>
          <a:xfrm>
            <a:off x="838200" y="1408424"/>
            <a:ext cx="7871700" cy="303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4" name="Google Shape;1264;g26297c2c666_0_3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150" y="1712388"/>
            <a:ext cx="7527640" cy="1890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g26297c2c666_0_352"/>
          <p:cNvSpPr txBox="1"/>
          <p:nvPr/>
        </p:nvSpPr>
        <p:spPr>
          <a:xfrm>
            <a:off x="1517410" y="1062152"/>
            <a:ext cx="4342200" cy="346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6" name="Google Shape;1266;g26297c2c666_0_3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5569" y="3873595"/>
            <a:ext cx="2868183" cy="1083187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g26297c2c666_0_352"/>
          <p:cNvSpPr txBox="1"/>
          <p:nvPr/>
        </p:nvSpPr>
        <p:spPr>
          <a:xfrm>
            <a:off x="5518399" y="4103606"/>
            <a:ext cx="352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coordinate (3, 12)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Axis Angle Notation</a:t>
            </a:r>
            <a:endParaRPr/>
          </a:p>
        </p:txBody>
      </p:sp>
      <p:sp>
        <p:nvSpPr>
          <p:cNvPr id="1273" name="Google Shape;1273;p53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4" name="Google Shape;127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143000"/>
            <a:ext cx="5543551" cy="2931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5" name="Google Shape;1275;p53"/>
          <p:cNvGrpSpPr/>
          <p:nvPr/>
        </p:nvGrpSpPr>
        <p:grpSpPr>
          <a:xfrm>
            <a:off x="1658937" y="1970358"/>
            <a:ext cx="5442346" cy="772666"/>
            <a:chOff x="1658939" y="2626829"/>
            <a:chExt cx="7256461" cy="1030771"/>
          </a:xfrm>
        </p:grpSpPr>
        <p:pic>
          <p:nvPicPr>
            <p:cNvPr id="1276" name="Google Shape;1276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58939" y="2626829"/>
              <a:ext cx="5597525" cy="10307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7" name="Google Shape;1277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62813" y="2666537"/>
              <a:ext cx="1652587" cy="9910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8" name="Google Shape;1278;p53"/>
          <p:cNvSpPr/>
          <p:nvPr/>
        </p:nvSpPr>
        <p:spPr>
          <a:xfrm>
            <a:off x="1600200" y="3657600"/>
            <a:ext cx="7239000" cy="400200"/>
          </a:xfrm>
          <a:prstGeom prst="roundRect">
            <a:avLst>
              <a:gd fmla="val 16667" name="adj"/>
            </a:avLst>
          </a:prstGeom>
          <a:solidFill>
            <a:schemeClr val="accent1">
              <a:alpha val="35686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9" name="Google Shape;1279;p53"/>
          <p:cNvSpPr/>
          <p:nvPr/>
        </p:nvSpPr>
        <p:spPr>
          <a:xfrm rot="-5400000">
            <a:off x="-228600" y="2000250"/>
            <a:ext cx="2057400" cy="685800"/>
          </a:xfrm>
          <a:prstGeom prst="roundRect">
            <a:avLst>
              <a:gd fmla="val 16667" name="adj"/>
            </a:avLst>
          </a:prstGeom>
          <a:solidFill>
            <a:schemeClr val="accent1">
              <a:alpha val="69019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Rodrigues Formula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53"/>
          <p:cNvSpPr/>
          <p:nvPr/>
        </p:nvSpPr>
        <p:spPr>
          <a:xfrm>
            <a:off x="4924425" y="2850356"/>
            <a:ext cx="2924100" cy="178500"/>
          </a:xfrm>
          <a:prstGeom prst="roundRect">
            <a:avLst>
              <a:gd fmla="val 16667" name="adj"/>
            </a:avLst>
          </a:prstGeom>
          <a:solidFill>
            <a:schemeClr val="accent1">
              <a:alpha val="35686"/>
            </a:schemeClr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5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Geometry of a Rotation</a:t>
            </a:r>
            <a:endParaRPr/>
          </a:p>
        </p:txBody>
      </p:sp>
      <p:sp>
        <p:nvSpPr>
          <p:cNvPr id="1286" name="Google Shape;1286;p5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7" name="Google Shape;128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143000"/>
            <a:ext cx="547806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Geometry of a Rotation</a:t>
            </a:r>
            <a:endParaRPr/>
          </a:p>
        </p:txBody>
      </p:sp>
      <p:sp>
        <p:nvSpPr>
          <p:cNvPr id="1293" name="Google Shape;1293;p55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4" name="Google Shape;129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257300"/>
            <a:ext cx="4321969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5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Geometry of Rotation</a:t>
            </a:r>
            <a:endParaRPr/>
          </a:p>
        </p:txBody>
      </p:sp>
      <p:sp>
        <p:nvSpPr>
          <p:cNvPr id="1300" name="Google Shape;1300;p56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1" name="Google Shape;1301;p56"/>
          <p:cNvPicPr preferRelativeResize="0"/>
          <p:nvPr/>
        </p:nvPicPr>
        <p:blipFill rotWithShape="1">
          <a:blip r:embed="rId3">
            <a:alphaModFix/>
          </a:blip>
          <a:srcRect b="0" l="4936" r="6171" t="6312"/>
          <a:stretch/>
        </p:blipFill>
        <p:spPr>
          <a:xfrm>
            <a:off x="1752600" y="1200150"/>
            <a:ext cx="6858001" cy="339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5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Geometry of Rotation</a:t>
            </a:r>
            <a:endParaRPr/>
          </a:p>
        </p:txBody>
      </p:sp>
      <p:sp>
        <p:nvSpPr>
          <p:cNvPr id="1307" name="Google Shape;1307;p5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we find, the rotation vector is :</a:t>
            </a:r>
            <a:endParaRPr/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vector equation, which is good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But, we need a matrix form also, to work easily. </a:t>
            </a:r>
            <a:endParaRPr/>
          </a:p>
        </p:txBody>
      </p:sp>
      <p:sp>
        <p:nvSpPr>
          <p:cNvPr id="1308" name="Google Shape;1308;p57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9" name="Google Shape;130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600200"/>
            <a:ext cx="4393406" cy="307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57"/>
          <p:cNvSpPr/>
          <p:nvPr/>
        </p:nvSpPr>
        <p:spPr>
          <a:xfrm>
            <a:off x="-120900" y="3585563"/>
            <a:ext cx="1797300" cy="885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6D1E"/>
              </a:gs>
              <a:gs pos="100000">
                <a:srgbClr val="B13B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2400"/>
              <a:buFont typeface="Comic Sans MS"/>
              <a:buNone/>
            </a:pPr>
            <a:r>
              <a:rPr b="1" i="0" lang="en-US" sz="2400" u="none" cap="none" strike="noStrike">
                <a:solidFill>
                  <a:srgbClr val="F1F1F1"/>
                </a:solidFill>
                <a:latin typeface="Comic Sans MS"/>
                <a:ea typeface="Comic Sans MS"/>
                <a:cs typeface="Comic Sans MS"/>
                <a:sym typeface="Comic Sans MS"/>
              </a:rPr>
              <a:t>Rodrigues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2400"/>
              <a:buFont typeface="Comic Sans MS"/>
              <a:buNone/>
            </a:pPr>
            <a:r>
              <a:rPr b="1" i="0" lang="en-US" sz="2400" u="none" cap="none" strike="noStrike">
                <a:solidFill>
                  <a:srgbClr val="F1F1F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Formula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57"/>
          <p:cNvSpPr/>
          <p:nvPr/>
        </p:nvSpPr>
        <p:spPr>
          <a:xfrm>
            <a:off x="663575" y="1688306"/>
            <a:ext cx="1860550" cy="1919288"/>
          </a:xfrm>
          <a:custGeom>
            <a:rect b="b" l="l" r="r" t="t"/>
            <a:pathLst>
              <a:path extrusionOk="0" h="2559050" w="1860550">
                <a:moveTo>
                  <a:pt x="69850" y="2559050"/>
                </a:moveTo>
                <a:cubicBezTo>
                  <a:pt x="34925" y="1695450"/>
                  <a:pt x="0" y="831850"/>
                  <a:pt x="298450" y="415925"/>
                </a:cubicBezTo>
                <a:cubicBezTo>
                  <a:pt x="596900" y="0"/>
                  <a:pt x="1860550" y="63500"/>
                  <a:pt x="1860550" y="635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2" name="Google Shape;1312;p57"/>
          <p:cNvSpPr/>
          <p:nvPr/>
        </p:nvSpPr>
        <p:spPr>
          <a:xfrm>
            <a:off x="1676400" y="3942159"/>
            <a:ext cx="2630186" cy="401240"/>
          </a:xfrm>
          <a:custGeom>
            <a:rect b="b" l="l" r="r" t="t"/>
            <a:pathLst>
              <a:path extrusionOk="0" h="534987" w="1425575">
                <a:moveTo>
                  <a:pt x="0" y="534987"/>
                </a:moveTo>
                <a:cubicBezTo>
                  <a:pt x="368300" y="516730"/>
                  <a:pt x="736600" y="498474"/>
                  <a:pt x="962025" y="420687"/>
                </a:cubicBezTo>
                <a:cubicBezTo>
                  <a:pt x="1187450" y="342900"/>
                  <a:pt x="1279525" y="136524"/>
                  <a:pt x="1352550" y="68262"/>
                </a:cubicBezTo>
                <a:cubicBezTo>
                  <a:pt x="1425575" y="0"/>
                  <a:pt x="1412875" y="5556"/>
                  <a:pt x="1400175" y="11112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57"/>
          <p:cNvSpPr/>
          <p:nvPr/>
        </p:nvSpPr>
        <p:spPr>
          <a:xfrm rot="-2507648">
            <a:off x="534112" y="1899122"/>
            <a:ext cx="1191076" cy="359818"/>
          </a:xfrm>
          <a:prstGeom prst="rect">
            <a:avLst/>
          </a:prstGeom>
          <a:gradFill>
            <a:gsLst>
              <a:gs pos="0">
                <a:srgbClr val="C2A77F"/>
              </a:gs>
              <a:gs pos="80000">
                <a:srgbClr val="FFDBA7"/>
              </a:gs>
              <a:gs pos="100000">
                <a:srgbClr val="FFDDA5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7"/>
          <p:cNvSpPr/>
          <p:nvPr/>
        </p:nvSpPr>
        <p:spPr>
          <a:xfrm rot="-452238">
            <a:off x="2390774" y="4145784"/>
            <a:ext cx="1406553" cy="303225"/>
          </a:xfrm>
          <a:prstGeom prst="rect">
            <a:avLst/>
          </a:prstGeom>
          <a:gradFill>
            <a:gsLst>
              <a:gs pos="0">
                <a:srgbClr val="C2A77F"/>
              </a:gs>
              <a:gs pos="80000">
                <a:srgbClr val="FFDBA7"/>
              </a:gs>
              <a:gs pos="100000">
                <a:srgbClr val="FFDDA5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5" name="Google Shape;131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3200400"/>
            <a:ext cx="4198142" cy="772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2675" y="3200400"/>
            <a:ext cx="1239441" cy="74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b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Rodrigues Formula</a:t>
            </a:r>
            <a:b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322" name="Google Shape;1322;p5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and Matrix forms</a:t>
            </a:r>
            <a:endParaRPr/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find these equivalent matrix and vector forms 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next slide </a:t>
            </a:r>
            <a:endParaRPr/>
          </a:p>
        </p:txBody>
      </p:sp>
      <p:sp>
        <p:nvSpPr>
          <p:cNvPr id="1323" name="Google Shape;1323;p58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4" name="Google Shape;13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543050"/>
            <a:ext cx="61722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58"/>
          <p:cNvSpPr/>
          <p:nvPr/>
        </p:nvSpPr>
        <p:spPr>
          <a:xfrm>
            <a:off x="7658100" y="1571625"/>
            <a:ext cx="838200" cy="285900"/>
          </a:xfrm>
          <a:prstGeom prst="roundRect">
            <a:avLst>
              <a:gd fmla="val 16667" name="adj"/>
            </a:avLst>
          </a:prstGeom>
          <a:solidFill>
            <a:srgbClr val="00B0F0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6" name="Google Shape;1326;p58"/>
          <p:cNvSpPr/>
          <p:nvPr/>
        </p:nvSpPr>
        <p:spPr>
          <a:xfrm>
            <a:off x="5943600" y="1571625"/>
            <a:ext cx="838200" cy="285900"/>
          </a:xfrm>
          <a:prstGeom prst="roundRect">
            <a:avLst>
              <a:gd fmla="val 16667" name="adj"/>
            </a:avLst>
          </a:prstGeom>
          <a:solidFill>
            <a:srgbClr val="00B050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7" name="Google Shape;1327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600" y="1943100"/>
            <a:ext cx="4508897" cy="1388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6775" y="1935956"/>
            <a:ext cx="1331119" cy="140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58"/>
          <p:cNvSpPr/>
          <p:nvPr/>
        </p:nvSpPr>
        <p:spPr>
          <a:xfrm>
            <a:off x="4752975" y="2514600"/>
            <a:ext cx="1724100" cy="743100"/>
          </a:xfrm>
          <a:prstGeom prst="roundRect">
            <a:avLst>
              <a:gd fmla="val 16667" name="adj"/>
            </a:avLst>
          </a:prstGeom>
          <a:solidFill>
            <a:srgbClr val="00B050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58"/>
          <p:cNvSpPr/>
          <p:nvPr/>
        </p:nvSpPr>
        <p:spPr>
          <a:xfrm>
            <a:off x="7334250" y="2514600"/>
            <a:ext cx="1495500" cy="800100"/>
          </a:xfrm>
          <a:prstGeom prst="roundRect">
            <a:avLst>
              <a:gd fmla="val 16667" name="adj"/>
            </a:avLst>
          </a:prstGeom>
          <a:solidFill>
            <a:srgbClr val="00B0F0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and Matrix algebra</a:t>
            </a:r>
            <a:endParaRPr/>
          </a:p>
        </p:txBody>
      </p:sp>
      <p:sp>
        <p:nvSpPr>
          <p:cNvPr id="1336" name="Google Shape;1336;p59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7" name="Google Shape;133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57300"/>
            <a:ext cx="5320904" cy="2193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product in Matrix Form</a:t>
            </a:r>
            <a:endParaRPr/>
          </a:p>
        </p:txBody>
      </p:sp>
      <p:sp>
        <p:nvSpPr>
          <p:cNvPr id="1343" name="Google Shape;1343;p6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14986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60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5" name="Google Shape;134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143000"/>
            <a:ext cx="560189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rotations from a rotation matrix</a:t>
            </a:r>
            <a:endParaRPr/>
          </a:p>
        </p:txBody>
      </p:sp>
      <p:sp>
        <p:nvSpPr>
          <p:cNvPr id="1351" name="Google Shape;1351;p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Given, R is a pure rotation matrix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axis of rotation 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K(k</a:t>
            </a:r>
            <a:r>
              <a:rPr b="1" baseline="-2500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,k</a:t>
            </a:r>
            <a:r>
              <a:rPr b="1" baseline="-2500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,k</a:t>
            </a:r>
            <a:r>
              <a:rPr b="1" baseline="-2500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and angle theta from 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rodrigues formula, it gives 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Check that 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✶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Trace(R ) = Sum of diagonal elements of the 3x3 rotation matrix</a:t>
            </a:r>
            <a:endParaRPr/>
          </a:p>
        </p:txBody>
      </p:sp>
      <p:sp>
        <p:nvSpPr>
          <p:cNvPr id="1352" name="Google Shape;1352;p61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3" name="Google Shape;135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2571750"/>
            <a:ext cx="1771651" cy="54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4" name="Google Shape;1354;p61"/>
          <p:cNvGrpSpPr/>
          <p:nvPr/>
        </p:nvGrpSpPr>
        <p:grpSpPr>
          <a:xfrm>
            <a:off x="2895528" y="3771841"/>
            <a:ext cx="5260848" cy="1152508"/>
            <a:chOff x="2971800" y="5245608"/>
            <a:chExt cx="5260848" cy="1536472"/>
          </a:xfrm>
        </p:grpSpPr>
        <p:sp>
          <p:nvSpPr>
            <p:cNvPr id="1355" name="Google Shape;1355;p61"/>
            <p:cNvSpPr txBox="1"/>
            <p:nvPr/>
          </p:nvSpPr>
          <p:spPr>
            <a:xfrm>
              <a:off x="2971800" y="5257800"/>
              <a:ext cx="762000" cy="15242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356" name="Google Shape;1356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5791298"/>
              <a:ext cx="492125" cy="3048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7" name="Google Shape;1357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33800" y="5245608"/>
              <a:ext cx="4498848" cy="15361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61"/>
            <p:cNvSpPr/>
            <p:nvPr/>
          </p:nvSpPr>
          <p:spPr>
            <a:xfrm>
              <a:off x="3810000" y="5257800"/>
              <a:ext cx="4191000" cy="1143000"/>
            </a:xfrm>
            <a:prstGeom prst="roundRect">
              <a:avLst>
                <a:gd fmla="val 16667" name="adj"/>
              </a:avLst>
            </a:prstGeom>
            <a:solidFill>
              <a:srgbClr val="FFC000">
                <a:alpha val="30980"/>
              </a:srgbClr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59" name="Google Shape;1359;p61"/>
          <p:cNvSpPr/>
          <p:nvPr/>
        </p:nvSpPr>
        <p:spPr>
          <a:xfrm>
            <a:off x="1828800" y="3543300"/>
            <a:ext cx="4419600" cy="457200"/>
          </a:xfrm>
          <a:custGeom>
            <a:rect b="b" l="l" r="r" t="t"/>
            <a:pathLst>
              <a:path extrusionOk="0" h="609600" w="4419600">
                <a:moveTo>
                  <a:pt x="2209800" y="0"/>
                </a:moveTo>
                <a:cubicBezTo>
                  <a:pt x="3430239" y="0"/>
                  <a:pt x="4419600" y="136464"/>
                  <a:pt x="4419600" y="304800"/>
                </a:cubicBezTo>
                <a:lnTo>
                  <a:pt x="2209800" y="304800"/>
                </a:lnTo>
                <a:lnTo>
                  <a:pt x="2209800" y="0"/>
                </a:lnTo>
                <a:close/>
              </a:path>
              <a:path extrusionOk="0" fill="none" h="609600" w="4419600">
                <a:moveTo>
                  <a:pt x="2209800" y="0"/>
                </a:moveTo>
                <a:cubicBezTo>
                  <a:pt x="3430239" y="0"/>
                  <a:pt x="4419600" y="136464"/>
                  <a:pt x="4419600" y="304800"/>
                </a:cubicBezTo>
              </a:path>
            </a:pathLst>
          </a:cu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rotations from a rotation matrix</a:t>
            </a:r>
            <a:endParaRPr/>
          </a:p>
        </p:txBody>
      </p:sp>
      <p:sp>
        <p:nvSpPr>
          <p:cNvPr id="1365" name="Google Shape;1365;p6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✶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that :</a:t>
            </a:r>
            <a:endParaRPr/>
          </a:p>
        </p:txBody>
      </p:sp>
      <p:sp>
        <p:nvSpPr>
          <p:cNvPr id="1366" name="Google Shape;1366;p62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7" name="Google Shape;136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887" y="1714500"/>
            <a:ext cx="3074193" cy="960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714500"/>
            <a:ext cx="1966913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62"/>
          <p:cNvSpPr/>
          <p:nvPr/>
        </p:nvSpPr>
        <p:spPr>
          <a:xfrm>
            <a:off x="5638800" y="2343150"/>
            <a:ext cx="609600" cy="171600"/>
          </a:xfrm>
          <a:prstGeom prst="rightArrow">
            <a:avLst>
              <a:gd fmla="val 1755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70" name="Google Shape;1370;p62"/>
          <p:cNvGrpSpPr/>
          <p:nvPr/>
        </p:nvGrpSpPr>
        <p:grpSpPr>
          <a:xfrm>
            <a:off x="2971728" y="3657541"/>
            <a:ext cx="5260848" cy="1152508"/>
            <a:chOff x="2971800" y="5245608"/>
            <a:chExt cx="5260848" cy="1536472"/>
          </a:xfrm>
        </p:grpSpPr>
        <p:sp>
          <p:nvSpPr>
            <p:cNvPr id="1371" name="Google Shape;1371;p62"/>
            <p:cNvSpPr txBox="1"/>
            <p:nvPr/>
          </p:nvSpPr>
          <p:spPr>
            <a:xfrm>
              <a:off x="2971800" y="5257800"/>
              <a:ext cx="762000" cy="15242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372" name="Google Shape;1372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24200" y="5791298"/>
              <a:ext cx="492125" cy="3048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3" name="Google Shape;1373;p6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33800" y="5245608"/>
              <a:ext cx="4498848" cy="15361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4" name="Google Shape;1374;p62"/>
            <p:cNvSpPr/>
            <p:nvPr/>
          </p:nvSpPr>
          <p:spPr>
            <a:xfrm>
              <a:off x="3810000" y="5257800"/>
              <a:ext cx="4114800" cy="1143000"/>
            </a:xfrm>
            <a:prstGeom prst="roundRect">
              <a:avLst>
                <a:gd fmla="val 16667" name="adj"/>
              </a:avLst>
            </a:prstGeom>
            <a:solidFill>
              <a:srgbClr val="FFC000">
                <a:alpha val="30980"/>
              </a:srgbClr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6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rgbClr val="66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380" name="Google Shape;1380;p6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✶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and Chapter 6, Schaum's Outline of Computer Graphics (2nd Edition) by Zhigang Xiang, Roy A. Plastock</a:t>
            </a:r>
            <a:endParaRPr sz="1500"/>
          </a:p>
          <a:p>
            <a:pPr indent="-3048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✶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5, Computer Graphics: Principles and Practice in C (2nd Edition) by James D. Foley, Andries van Dam, Steven K. Feiner, John F. Hughes</a:t>
            </a:r>
            <a:endParaRPr sz="1500"/>
          </a:p>
          <a:p>
            <a:pPr indent="-3048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✶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6, Fundamentals of Computer Graphics, by Peter Shirley</a:t>
            </a:r>
            <a:endParaRPr sz="1500"/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1" name="Google Shape;1381;p64"/>
          <p:cNvSpPr txBox="1"/>
          <p:nvPr/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2001-08-08T19:16:14Z</dcterms:created>
  <dc:creator>Reaz</dc:creator>
</cp:coreProperties>
</file>