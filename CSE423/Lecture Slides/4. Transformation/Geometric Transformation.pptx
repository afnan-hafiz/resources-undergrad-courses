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5143500" cx="9144000"/>
  <p:notesSz cx="6858000" cy="9144000"/>
  <p:embeddedFontLst>
    <p:embeddedFont>
      <p:font typeface="Garamond"/>
      <p:regular r:id="rId68"/>
      <p:bold r:id="rId69"/>
      <p:italic r:id="rId70"/>
      <p:boldItalic r:id="rId71"/>
    </p:embeddedFont>
    <p:embeddedFont>
      <p:font typeface="Tahoma"/>
      <p:regular r:id="rId72"/>
      <p:bold r:id="rId73"/>
    </p:embeddedFont>
    <p:embeddedFont>
      <p:font typeface="Noto Sans Symbols"/>
      <p:regular r:id="rId74"/>
      <p:bold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Tahoma-bold.fntdata"/><Relationship Id="rId72" Type="http://schemas.openxmlformats.org/officeDocument/2006/relationships/font" Target="fonts/Tahoma-regular.fntdata"/><Relationship Id="rId31" Type="http://schemas.openxmlformats.org/officeDocument/2006/relationships/slide" Target="slides/slide26.xml"/><Relationship Id="rId75" Type="http://schemas.openxmlformats.org/officeDocument/2006/relationships/font" Target="fonts/NotoSansSymbols-bold.fntdata"/><Relationship Id="rId30" Type="http://schemas.openxmlformats.org/officeDocument/2006/relationships/slide" Target="slides/slide25.xml"/><Relationship Id="rId74" Type="http://schemas.openxmlformats.org/officeDocument/2006/relationships/font" Target="fonts/NotoSansSymbols-regular.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Garamond-boldItalic.fntdata"/><Relationship Id="rId70" Type="http://schemas.openxmlformats.org/officeDocument/2006/relationships/font" Target="fonts/Garamond-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Garamond-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Garamond-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1pPr>
            <a:lvl2pPr lvl="1"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2pPr>
            <a:lvl3pPr lvl="2"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3pPr>
            <a:lvl4pPr lvl="3"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4pPr>
            <a:lvl5pPr lvl="4"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5pPr>
            <a:lvl6pPr lvl="5"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6pPr>
            <a:lvl7pPr lvl="6"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7pPr>
            <a:lvl8pPr lvl="7"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8pPr>
            <a:lvl9pPr lvl="8" marR="0" rtl="0" algn="ctr">
              <a:lnSpc>
                <a:spcPct val="100000"/>
              </a:lnSpc>
              <a:spcBef>
                <a:spcPts val="0"/>
              </a:spcBef>
              <a:spcAft>
                <a:spcPts val="0"/>
              </a:spcAft>
              <a:buClr>
                <a:srgbClr val="000000"/>
              </a:buClr>
              <a:buSzPts val="1400"/>
              <a:buFont typeface="Arial"/>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56" name="Google Shape;15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7" name="Google Shape;157;p6: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6" name="Google Shape;16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67" name="Google Shape;167;p7: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80" name="Google Shape;18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81" name="Google Shape;181;p8: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97" name="Google Shape;19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98" name="Google Shape;198;p9: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24c97c9df4_10_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18" name="Google Shape;218;g324c97c9df4_1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19" name="Google Shape;219;g324c97c9df4_10_0: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0" name="Google Shape;24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41" name="Google Shape;241;p11: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4" name="Google Shape;26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65" name="Google Shape;265;p12: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3" name="Google Shape;29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94" name="Google Shape;294;p13: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12" name="Google Shape;31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13" name="Google Shape;313;p14: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800"/>
              <a:buNone/>
            </a:pPr>
            <a:r>
              <a:rPr lang="en-US"/>
              <a:t>Only linear of points is valid in an affine combination</a:t>
            </a:r>
            <a:endParaRPr/>
          </a:p>
        </p:txBody>
      </p:sp>
      <p:sp>
        <p:nvSpPr>
          <p:cNvPr id="344" name="Google Shape;344;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51" name="Google Shape;35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52" name="Google Shape;352;p16: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70" name="Google Shape;370;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371" name="Google Shape;371;p17: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8" name="Google Shape;38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11" name="Google Shape;41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12" name="Google Shape;412;p19: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https://www.youtube.com/watch?v=E3Phj6J287o&amp;list=PLMZnvBHNk2GWK8i1lcxx4exUXjtK8QSgK&amp;index=13</a:t>
            </a:r>
            <a:endParaRPr/>
          </a:p>
        </p:txBody>
      </p:sp>
      <p:sp>
        <p:nvSpPr>
          <p:cNvPr id="418" name="Google Shape;418;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25" name="Google Shape;42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426" name="Google Shape;426;p21:notes"/>
          <p:cNvSpPr txBox="1"/>
          <p:nvPr>
            <p:ph idx="1" type="body"/>
          </p:nvPr>
        </p:nvSpPr>
        <p:spPr>
          <a:xfrm>
            <a:off x="914400" y="4343400"/>
            <a:ext cx="5029200" cy="411480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9" name="Google Shape;43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3" name="Google Shape;483;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2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19" name="Google Shape;51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520" name="Google Shape;520;p29: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8" name="Google Shape;56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2629592559c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9" name="Google Shape;579;g2629592559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2" name="Google Shape;60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2" name="Google Shape;622;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32a721d4622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g32a721d462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7" name="Google Shape;647;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3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4" name="Google Shape;65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60" name="Google Shape;660;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661" name="Google Shape;661;p36: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p3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2400"/>
              <a:buFont typeface="Times New Roman"/>
              <a:buNone/>
            </a:pPr>
            <a:fld id="{00000000-1234-1234-1234-123412341234}" type="slidenum">
              <a:rPr b="0" i="0" lang="en-US" sz="2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21" name="Google Shape;72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722" name="Google Shape;722;p37:notes"/>
          <p:cNvSpPr txBox="1"/>
          <p:nvPr>
            <p:ph idx="1" type="body"/>
          </p:nvPr>
        </p:nvSpPr>
        <p:spPr>
          <a:xfrm>
            <a:off x="914400" y="4343400"/>
            <a:ext cx="5029200" cy="4114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8" name="Google Shape;828;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7" name="Google Shape;857;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7" name="Google Shape;867;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3" name="Google Shape;87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6297c2c666_0_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g26297c2c666_0_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26297c2c666_0_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2" name="Google Shape;972;g26297c2c666_0_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26297c2c666_0_1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1" name="Google Shape;981;g26297c2c666_0_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g26297c2c666_0_4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88" name="Google Shape;988;g26297c2c666_0_43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9" name="Google Shape;989;g26297c2c666_0_437: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26297c2c666_0_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26297c2c666_0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26297c2c666_0_44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4" name="Google Shape;1004;g26297c2c666_0_4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26297c2c666_0_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g26297c2c666_0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1" name="Shape 1101"/>
        <p:cNvGrpSpPr/>
        <p:nvPr/>
      </p:nvGrpSpPr>
      <p:grpSpPr>
        <a:xfrm>
          <a:off x="0" y="0"/>
          <a:ext cx="0" cy="0"/>
          <a:chOff x="0" y="0"/>
          <a:chExt cx="0" cy="0"/>
        </a:xfrm>
      </p:grpSpPr>
      <p:sp>
        <p:nvSpPr>
          <p:cNvPr id="1102" name="Google Shape;1102;g26297c2c666_0_2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3" name="Google Shape;1103;g26297c2c666_0_2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26297c2c666_0_2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2" name="Google Shape;1112;g26297c2c666_0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26297c2c666_0_3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26297c2c666_0_3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26297c2c666_0_3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8" name="Google Shape;1128;g26297c2c666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26297c2c666_0_3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26297c2c666_0_3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26297c2c666_0_3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4" name="Google Shape;1174;g26297c2c666_0_3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9e1d93997e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85" name="Google Shape;1185;g39e1d93997e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9e1d93997e_0_0: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3" name="Google Shape;1193;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8" name="Google Shape;18;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2"/>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22" name="Google Shape;22;p2"/>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23" name="Google Shape;23;p2"/>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6" name="Google Shape;26;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 name="Google Shape;27;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9" name="Google Shape;29;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30" name="Google Shape;30;p3"/>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31" name="Google Shape;31;p3"/>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32" name="Google Shape;32;p3"/>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lip Art and Text" type="clipArtAndTx">
  <p:cSld name="CLIPART_AND_TEXT">
    <p:spTree>
      <p:nvGrpSpPr>
        <p:cNvPr id="33" name="Shape 33"/>
        <p:cNvGrpSpPr/>
        <p:nvPr/>
      </p:nvGrpSpPr>
      <p:grpSpPr>
        <a:xfrm>
          <a:off x="0" y="0"/>
          <a:ext cx="0" cy="0"/>
          <a:chOff x="0" y="0"/>
          <a:chExt cx="0" cy="0"/>
        </a:xfrm>
      </p:grpSpPr>
      <p:sp>
        <p:nvSpPr>
          <p:cNvPr id="34" name="Google Shape;34;p4"/>
          <p:cNvSpPr txBox="1"/>
          <p:nvPr>
            <p:ph type="title"/>
          </p:nvPr>
        </p:nvSpPr>
        <p:spPr>
          <a:xfrm>
            <a:off x="1528763" y="57150"/>
            <a:ext cx="7564500" cy="857400"/>
          </a:xfrm>
          <a:prstGeom prst="rect">
            <a:avLst/>
          </a:prstGeom>
          <a:noFill/>
          <a:ln>
            <a:noFill/>
          </a:ln>
        </p:spPr>
        <p:txBody>
          <a:bodyPr anchorCtr="0" anchor="ctr" bIns="46025" lIns="92075" spcFirstLastPara="1" rIns="92075" wrap="square" tIns="46025">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
          <p:cNvSpPr/>
          <p:nvPr>
            <p:ph idx="2" type="clipArt"/>
          </p:nvPr>
        </p:nvSpPr>
        <p:spPr>
          <a:xfrm>
            <a:off x="1479550" y="1085850"/>
            <a:ext cx="3737100" cy="3486300"/>
          </a:xfrm>
          <a:prstGeom prst="rect">
            <a:avLst/>
          </a:prstGeom>
          <a:noFill/>
          <a:ln>
            <a:noFill/>
          </a:ln>
        </p:spPr>
      </p:sp>
      <p:sp>
        <p:nvSpPr>
          <p:cNvPr id="36" name="Google Shape;36;p4"/>
          <p:cNvSpPr txBox="1"/>
          <p:nvPr>
            <p:ph idx="1" type="body"/>
          </p:nvPr>
        </p:nvSpPr>
        <p:spPr>
          <a:xfrm>
            <a:off x="5368925" y="1085850"/>
            <a:ext cx="3737100" cy="3486300"/>
          </a:xfrm>
          <a:prstGeom prst="rect">
            <a:avLst/>
          </a:prstGeom>
          <a:noFill/>
          <a:ln>
            <a:noFill/>
          </a:ln>
        </p:spPr>
        <p:txBody>
          <a:bodyPr anchorCtr="0" anchor="t" bIns="46025" lIns="92075" spcFirstLastPara="1" rIns="92075" wrap="square" tIns="46025">
            <a:noAutofit/>
          </a:bodyPr>
          <a:lstStyle>
            <a:lvl1pPr indent="-337185" lvl="0" marL="457200" algn="l">
              <a:lnSpc>
                <a:spcPct val="100000"/>
              </a:lnSpc>
              <a:spcBef>
                <a:spcPts val="360"/>
              </a:spcBef>
              <a:spcAft>
                <a:spcPts val="0"/>
              </a:spcAft>
              <a:buSzPts val="171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4"/>
          <p:cNvSpPr txBox="1"/>
          <p:nvPr>
            <p:ph idx="10" type="dt"/>
          </p:nvPr>
        </p:nvSpPr>
        <p:spPr>
          <a:xfrm>
            <a:off x="1481137" y="4686300"/>
            <a:ext cx="1782900" cy="3429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4"/>
          <p:cNvSpPr txBox="1"/>
          <p:nvPr>
            <p:ph idx="11" type="ftr"/>
          </p:nvPr>
        </p:nvSpPr>
        <p:spPr>
          <a:xfrm>
            <a:off x="3797300" y="4686300"/>
            <a:ext cx="2895600" cy="342900"/>
          </a:xfrm>
          <a:prstGeom prst="rect">
            <a:avLst/>
          </a:prstGeom>
          <a:noFill/>
          <a:ln>
            <a:noFill/>
          </a:ln>
        </p:spPr>
        <p:txBody>
          <a:bodyPr anchorCtr="0" anchor="ctr" bIns="46025" lIns="92075" spcFirstLastPara="1" rIns="92075" wrap="square" tIns="460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 name="Google Shape;39;p4"/>
          <p:cNvSpPr txBox="1"/>
          <p:nvPr>
            <p:ph idx="12" type="sldNum"/>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lvl1pPr indent="0" lvl="0"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400"/>
              <a:buFont typeface="Times New Roman"/>
              <a:buNone/>
              <a:defRPr b="0" i="0" sz="1400" u="none" cap="none" strike="noStrik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2" name="Google Shape;42;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0" name="Google Shape;50;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1" name="Google Shape;51;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2" name="Google Shape;52;p6"/>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53" name="Google Shape;53;p6"/>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54" name="Google Shape;54;p6"/>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7"/>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7"/>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58" name="Google Shape;58;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9" name="Google Shape;59;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61" name="Google Shape;61;p7"/>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62" name="Google Shape;62;p7"/>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63" name="Google Shape;63;p7"/>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4" name="Shape 64"/>
        <p:cNvGrpSpPr/>
        <p:nvPr/>
      </p:nvGrpSpPr>
      <p:grpSpPr>
        <a:xfrm>
          <a:off x="0" y="0"/>
          <a:ext cx="0" cy="0"/>
          <a:chOff x="0" y="0"/>
          <a:chExt cx="0" cy="0"/>
        </a:xfrm>
      </p:grpSpPr>
      <p:sp>
        <p:nvSpPr>
          <p:cNvPr id="65" name="Google Shape;65;p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p8"/>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p8"/>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8" name="Google Shape;68;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0" name="Google Shape;70;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71" name="Google Shape;71;p8"/>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72" name="Google Shape;72;p8"/>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73" name="Google Shape;73;p8"/>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4" name="Shape 74"/>
        <p:cNvGrpSpPr/>
        <p:nvPr/>
      </p:nvGrpSpPr>
      <p:grpSpPr>
        <a:xfrm>
          <a:off x="0" y="0"/>
          <a:ext cx="0" cy="0"/>
          <a:chOff x="0" y="0"/>
          <a:chExt cx="0" cy="0"/>
        </a:xfrm>
      </p:grpSpPr>
      <p:sp>
        <p:nvSpPr>
          <p:cNvPr id="75" name="Google Shape;75;p9"/>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6" name="Google Shape;76;p9"/>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77" name="Google Shape;77;p9"/>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9"/>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79" name="Google Shape;79;p9"/>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0" name="Google Shape;80;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83" name="Google Shape;83;p9"/>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84" name="Google Shape;84;p9"/>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85" name="Google Shape;85;p9"/>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6" name="Shape 86"/>
        <p:cNvGrpSpPr/>
        <p:nvPr/>
      </p:nvGrpSpPr>
      <p:grpSpPr>
        <a:xfrm>
          <a:off x="0" y="0"/>
          <a:ext cx="0" cy="0"/>
          <a:chOff x="0" y="0"/>
          <a:chExt cx="0" cy="0"/>
        </a:xfrm>
      </p:grpSpPr>
      <p:sp>
        <p:nvSpPr>
          <p:cNvPr id="87" name="Google Shape;87;p1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8" name="Google Shape;88;p10"/>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89" name="Google Shape;89;p10"/>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90" name="Google Shape;90;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2" name="Google Shape;92;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93" name="Google Shape;93;p10"/>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94" name="Google Shape;94;p10"/>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95" name="Google Shape;95;p10"/>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11"/>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8" name="Google Shape;98;p11"/>
          <p:cNvSpPr/>
          <p:nvPr>
            <p:ph idx="2" type="pic"/>
          </p:nvPr>
        </p:nvSpPr>
        <p:spPr>
          <a:xfrm>
            <a:off x="3887391" y="740569"/>
            <a:ext cx="4629300" cy="3655200"/>
          </a:xfrm>
          <a:prstGeom prst="rect">
            <a:avLst/>
          </a:prstGeom>
          <a:noFill/>
          <a:ln>
            <a:noFill/>
          </a:ln>
        </p:spPr>
      </p:sp>
      <p:sp>
        <p:nvSpPr>
          <p:cNvPr id="99" name="Google Shape;99;p11"/>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0" name="Google Shape;100;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1" name="Google Shape;101;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2" name="Google Shape;102;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03" name="Google Shape;103;p11"/>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04" name="Google Shape;104;p11"/>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05" name="Google Shape;105;p11"/>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6" name="Shape 106"/>
        <p:cNvGrpSpPr/>
        <p:nvPr/>
      </p:nvGrpSpPr>
      <p:grpSpPr>
        <a:xfrm>
          <a:off x="0" y="0"/>
          <a:ext cx="0" cy="0"/>
          <a:chOff x="0" y="0"/>
          <a:chExt cx="0" cy="0"/>
        </a:xfrm>
      </p:grpSpPr>
      <p:sp>
        <p:nvSpPr>
          <p:cNvPr id="107" name="Google Shape;107;p1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8" name="Google Shape;108;p12"/>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9" name="Google Shape;109;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1" name="Google Shape;111;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12" name="Google Shape;112;p12"/>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13" name="Google Shape;113;p12"/>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14" name="Google Shape;114;p12"/>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5" name="Shape 115"/>
        <p:cNvGrpSpPr/>
        <p:nvPr/>
      </p:nvGrpSpPr>
      <p:grpSpPr>
        <a:xfrm>
          <a:off x="0" y="0"/>
          <a:ext cx="0" cy="0"/>
          <a:chOff x="0" y="0"/>
          <a:chExt cx="0" cy="0"/>
        </a:xfrm>
      </p:grpSpPr>
      <p:sp>
        <p:nvSpPr>
          <p:cNvPr id="116" name="Google Shape;116;p13"/>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p13"/>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8" name="Google Shape;118;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9" name="Google Shape;119;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21" name="Google Shape;121;p13"/>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22" name="Google Shape;122;p13"/>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23" name="Google Shape;123;p13"/>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5.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9.png"/><Relationship Id="rId5"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7.png"/><Relationship Id="rId6"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27.png"/><Relationship Id="rId5"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32.png"/><Relationship Id="rId7"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43.png"/><Relationship Id="rId4" Type="http://schemas.openxmlformats.org/officeDocument/2006/relationships/image" Target="../media/image34.png"/><Relationship Id="rId5" Type="http://schemas.openxmlformats.org/officeDocument/2006/relationships/image" Target="../media/image53.png"/><Relationship Id="rId6" Type="http://schemas.openxmlformats.org/officeDocument/2006/relationships/image" Target="../media/image58.png"/><Relationship Id="rId7"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44.png"/><Relationship Id="rId5" Type="http://schemas.openxmlformats.org/officeDocument/2006/relationships/image" Target="../media/image41.png"/><Relationship Id="rId6"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7.png"/><Relationship Id="rId4" Type="http://schemas.openxmlformats.org/officeDocument/2006/relationships/image" Target="../media/image16.png"/><Relationship Id="rId5" Type="http://schemas.openxmlformats.org/officeDocument/2006/relationships/image" Target="../media/image3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54.png"/><Relationship Id="rId4" Type="http://schemas.openxmlformats.org/officeDocument/2006/relationships/image" Target="../media/image56.png"/><Relationship Id="rId5" Type="http://schemas.openxmlformats.org/officeDocument/2006/relationships/image" Target="../media/image33.png"/><Relationship Id="rId6" Type="http://schemas.openxmlformats.org/officeDocument/2006/relationships/image" Target="../media/image48.png"/></Relationships>
</file>

<file path=ppt/slides/_rels/slide31.xml.rels><?xml version="1.0" encoding="UTF-8" standalone="yes"?><Relationships xmlns="http://schemas.openxmlformats.org/package/2006/relationships"><Relationship Id="rId11" Type="http://schemas.openxmlformats.org/officeDocument/2006/relationships/image" Target="../media/image55.png"/><Relationship Id="rId10" Type="http://schemas.openxmlformats.org/officeDocument/2006/relationships/image" Target="../media/image46.png"/><Relationship Id="rId12" Type="http://schemas.openxmlformats.org/officeDocument/2006/relationships/image" Target="../media/image49.png"/><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6.png"/><Relationship Id="rId4" Type="http://schemas.openxmlformats.org/officeDocument/2006/relationships/image" Target="../media/image66.png"/><Relationship Id="rId9" Type="http://schemas.openxmlformats.org/officeDocument/2006/relationships/image" Target="../media/image51.png"/><Relationship Id="rId5" Type="http://schemas.openxmlformats.org/officeDocument/2006/relationships/image" Target="../media/image39.png"/><Relationship Id="rId6" Type="http://schemas.openxmlformats.org/officeDocument/2006/relationships/image" Target="../media/image37.png"/><Relationship Id="rId7" Type="http://schemas.openxmlformats.org/officeDocument/2006/relationships/image" Target="../media/image40.png"/><Relationship Id="rId8"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4.png"/><Relationship Id="rId4" Type="http://schemas.openxmlformats.org/officeDocument/2006/relationships/image" Target="../media/image5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5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60.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63.png"/><Relationship Id="rId4" Type="http://schemas.openxmlformats.org/officeDocument/2006/relationships/image" Target="../media/image6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85.png"/><Relationship Id="rId4" Type="http://schemas.openxmlformats.org/officeDocument/2006/relationships/image" Target="../media/image6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76.png"/><Relationship Id="rId4" Type="http://schemas.openxmlformats.org/officeDocument/2006/relationships/image" Target="../media/image6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64.png"/><Relationship Id="rId4" Type="http://schemas.openxmlformats.org/officeDocument/2006/relationships/image" Target="../media/image59.png"/><Relationship Id="rId5" Type="http://schemas.openxmlformats.org/officeDocument/2006/relationships/image" Target="../media/image7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7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67.png"/><Relationship Id="rId4" Type="http://schemas.openxmlformats.org/officeDocument/2006/relationships/image" Target="../media/image7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62.png"/><Relationship Id="rId4" Type="http://schemas.openxmlformats.org/officeDocument/2006/relationships/image" Target="../media/image7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83.png"/><Relationship Id="rId4" Type="http://schemas.openxmlformats.org/officeDocument/2006/relationships/image" Target="../media/image80.png"/><Relationship Id="rId5" Type="http://schemas.openxmlformats.org/officeDocument/2006/relationships/image" Target="../media/image7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89.png"/><Relationship Id="rId4" Type="http://schemas.openxmlformats.org/officeDocument/2006/relationships/image" Target="../media/image7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62.png"/><Relationship Id="rId4" Type="http://schemas.openxmlformats.org/officeDocument/2006/relationships/image" Target="../media/image7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90.png"/><Relationship Id="rId4" Type="http://schemas.openxmlformats.org/officeDocument/2006/relationships/image" Target="../media/image73.png"/><Relationship Id="rId5" Type="http://schemas.openxmlformats.org/officeDocument/2006/relationships/image" Target="../media/image81.png"/><Relationship Id="rId6" Type="http://schemas.openxmlformats.org/officeDocument/2006/relationships/image" Target="../media/image71.png"/><Relationship Id="rId7" Type="http://schemas.openxmlformats.org/officeDocument/2006/relationships/image" Target="../media/image74.png"/><Relationship Id="rId8" Type="http://schemas.openxmlformats.org/officeDocument/2006/relationships/image" Target="../media/image8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90.png"/><Relationship Id="rId4" Type="http://schemas.openxmlformats.org/officeDocument/2006/relationships/image" Target="../media/image73.png"/><Relationship Id="rId5" Type="http://schemas.openxmlformats.org/officeDocument/2006/relationships/image" Target="../media/image81.png"/><Relationship Id="rId6" Type="http://schemas.openxmlformats.org/officeDocument/2006/relationships/image" Target="../media/image71.png"/><Relationship Id="rId7" Type="http://schemas.openxmlformats.org/officeDocument/2006/relationships/image" Target="../media/image74.png"/><Relationship Id="rId8" Type="http://schemas.openxmlformats.org/officeDocument/2006/relationships/image" Target="../media/image82.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88.png"/><Relationship Id="rId4" Type="http://schemas.openxmlformats.org/officeDocument/2006/relationships/image" Target="../media/image87.png"/><Relationship Id="rId5" Type="http://schemas.openxmlformats.org/officeDocument/2006/relationships/image" Target="../media/image86.png"/><Relationship Id="rId6" Type="http://schemas.openxmlformats.org/officeDocument/2006/relationships/image" Target="../media/image9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hyperlink" Target="https://docs.google.com/document/d/1FGYfEREicKold6MJ6hzQoVzP5hbnD-2lu23xl5vNYSQ/edit?usp=sharing"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4"/>
          <p:cNvSpPr txBox="1"/>
          <p:nvPr>
            <p:ph type="ctrTitle"/>
          </p:nvPr>
        </p:nvSpPr>
        <p:spPr>
          <a:xfrm>
            <a:off x="1369950" y="1597775"/>
            <a:ext cx="6404100" cy="17907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i="1" lang="en-US" sz="4400">
                <a:solidFill>
                  <a:srgbClr val="663300"/>
                </a:solidFill>
                <a:latin typeface="Times New Roman"/>
                <a:ea typeface="Times New Roman"/>
                <a:cs typeface="Times New Roman"/>
                <a:sym typeface="Times New Roman"/>
              </a:rPr>
              <a:t>Geometric </a:t>
            </a:r>
            <a:r>
              <a:rPr b="0" i="1" lang="en-US" sz="4400" u="none">
                <a:solidFill>
                  <a:srgbClr val="663300"/>
                </a:solidFill>
                <a:latin typeface="Times New Roman"/>
                <a:ea typeface="Times New Roman"/>
                <a:cs typeface="Times New Roman"/>
                <a:sym typeface="Times New Roman"/>
              </a:rPr>
              <a:t>Transformation</a:t>
            </a:r>
            <a:endParaRPr/>
          </a:p>
        </p:txBody>
      </p:sp>
      <p:sp>
        <p:nvSpPr>
          <p:cNvPr id="129" name="Google Shape;129;p14"/>
          <p:cNvSpPr txBox="1"/>
          <p:nvPr/>
        </p:nvSpPr>
        <p:spPr>
          <a:xfrm>
            <a:off x="7391400" y="4762500"/>
            <a:ext cx="1724100" cy="342900"/>
          </a:xfrm>
          <a:prstGeom prst="rect">
            <a:avLst/>
          </a:prstGeom>
          <a:noFill/>
          <a:ln>
            <a:noFill/>
          </a:ln>
        </p:spPr>
        <p:txBody>
          <a:bodyPr anchorCtr="0" anchor="b"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5"/>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What is a Transformation</a:t>
            </a:r>
            <a:endParaRPr/>
          </a:p>
        </p:txBody>
      </p:sp>
      <p:sp>
        <p:nvSpPr>
          <p:cNvPr id="135" name="Google Shape;135;p15"/>
          <p:cNvSpPr txBox="1"/>
          <p:nvPr>
            <p:ph idx="1" type="body"/>
          </p:nvPr>
        </p:nvSpPr>
        <p:spPr>
          <a:xfrm>
            <a:off x="628650" y="1369219"/>
            <a:ext cx="7886700" cy="3263400"/>
          </a:xfrm>
          <a:prstGeom prst="rect">
            <a:avLst/>
          </a:prstGeom>
          <a:noFill/>
          <a:ln>
            <a:noFill/>
          </a:ln>
        </p:spPr>
        <p:txBody>
          <a:bodyPr anchorCtr="0" anchor="t" bIns="46025" lIns="92075" spcFirstLastPara="1" rIns="92075" wrap="square" tIns="46025">
            <a:noAutofit/>
          </a:bodyPr>
          <a:lstStyle/>
          <a:p>
            <a:pPr indent="-311150" lvl="0" marL="342900" marR="0" rtl="0" algn="l">
              <a:lnSpc>
                <a:spcPct val="100000"/>
              </a:lnSpc>
              <a:spcBef>
                <a:spcPts val="0"/>
              </a:spcBef>
              <a:spcAft>
                <a:spcPts val="0"/>
              </a:spcAft>
              <a:buClr>
                <a:schemeClr val="dk2"/>
              </a:buClr>
              <a:buSzPts val="2540"/>
              <a:buFont typeface="Noto Sans Symbols"/>
              <a:buChar char="✶"/>
            </a:pPr>
            <a:r>
              <a:rPr b="0" i="0" lang="en-US" sz="2700" u="none" cap="none" strike="noStrike">
                <a:solidFill>
                  <a:schemeClr val="dk1"/>
                </a:solidFill>
                <a:latin typeface="Times New Roman"/>
                <a:ea typeface="Times New Roman"/>
                <a:cs typeface="Times New Roman"/>
                <a:sym typeface="Times New Roman"/>
              </a:rPr>
              <a:t>Transformation:</a:t>
            </a:r>
            <a:endParaRPr sz="1600"/>
          </a:p>
          <a:p>
            <a:pPr indent="-254000" lvl="1" marL="742950" marR="0" rtl="0" algn="l">
              <a:lnSpc>
                <a:spcPct val="100000"/>
              </a:lnSpc>
              <a:spcBef>
                <a:spcPts val="560"/>
              </a:spcBef>
              <a:spcAft>
                <a:spcPts val="0"/>
              </a:spcAft>
              <a:buClr>
                <a:schemeClr val="dk1"/>
              </a:buClr>
              <a:buSzPts val="2300"/>
              <a:buFont typeface="Times New Roman"/>
              <a:buChar char="–"/>
            </a:pPr>
            <a:r>
              <a:rPr b="0" i="0" lang="en-US" sz="2300" u="none" cap="none" strike="noStrike">
                <a:solidFill>
                  <a:schemeClr val="dk1"/>
                </a:solidFill>
                <a:latin typeface="Times New Roman"/>
                <a:ea typeface="Times New Roman"/>
                <a:cs typeface="Times New Roman"/>
                <a:sym typeface="Times New Roman"/>
              </a:rPr>
              <a:t>An operation that changes one configuration into another</a:t>
            </a:r>
            <a:endParaRPr sz="1300"/>
          </a:p>
          <a:p>
            <a:pPr indent="-311150" lvl="0" marL="342900" marR="0" rtl="0" algn="l">
              <a:lnSpc>
                <a:spcPct val="100000"/>
              </a:lnSpc>
              <a:spcBef>
                <a:spcPts val="640"/>
              </a:spcBef>
              <a:spcAft>
                <a:spcPts val="0"/>
              </a:spcAft>
              <a:buClr>
                <a:schemeClr val="dk2"/>
              </a:buClr>
              <a:buSzPts val="2540"/>
              <a:buFont typeface="Noto Sans Symbols"/>
              <a:buChar char="✶"/>
            </a:pPr>
            <a:r>
              <a:rPr b="0" i="0" lang="en-US" sz="2700" u="none" cap="none" strike="noStrike">
                <a:solidFill>
                  <a:schemeClr val="dk1"/>
                </a:solidFill>
                <a:latin typeface="Times New Roman"/>
                <a:ea typeface="Times New Roman"/>
                <a:cs typeface="Times New Roman"/>
                <a:sym typeface="Times New Roman"/>
              </a:rPr>
              <a:t>For images, shapes, </a:t>
            </a:r>
            <a:r>
              <a:rPr b="0" i="1" lang="en-US" sz="2700" u="none" cap="none" strike="noStrike">
                <a:solidFill>
                  <a:schemeClr val="dk1"/>
                </a:solidFill>
                <a:latin typeface="Times New Roman"/>
                <a:ea typeface="Times New Roman"/>
                <a:cs typeface="Times New Roman"/>
                <a:sym typeface="Times New Roman"/>
              </a:rPr>
              <a:t>etc.</a:t>
            </a:r>
            <a:endParaRPr sz="1600"/>
          </a:p>
          <a:p>
            <a:pPr indent="-254000" lvl="1" marL="742950" marR="0" rtl="0" algn="l">
              <a:lnSpc>
                <a:spcPct val="100000"/>
              </a:lnSpc>
              <a:spcBef>
                <a:spcPts val="560"/>
              </a:spcBef>
              <a:spcAft>
                <a:spcPts val="0"/>
              </a:spcAft>
              <a:buClr>
                <a:schemeClr val="dk1"/>
              </a:buClr>
              <a:buSzPts val="2300"/>
              <a:buFont typeface="Times New Roman"/>
              <a:buChar char="–"/>
            </a:pPr>
            <a:r>
              <a:rPr b="0" i="0" lang="en-US" sz="2300" u="none" cap="none" strike="noStrike">
                <a:solidFill>
                  <a:schemeClr val="dk1"/>
                </a:solidFill>
                <a:latin typeface="Times New Roman"/>
                <a:ea typeface="Times New Roman"/>
                <a:cs typeface="Times New Roman"/>
                <a:sym typeface="Times New Roman"/>
              </a:rPr>
              <a:t>A geometric transformation maps positions that define the object to other positions</a:t>
            </a:r>
            <a:endParaRPr sz="1300"/>
          </a:p>
          <a:p>
            <a:pPr indent="-254000" lvl="1" marL="742950" marR="0" rtl="0" algn="l">
              <a:lnSpc>
                <a:spcPct val="100000"/>
              </a:lnSpc>
              <a:spcBef>
                <a:spcPts val="560"/>
              </a:spcBef>
              <a:spcAft>
                <a:spcPts val="0"/>
              </a:spcAft>
              <a:buClr>
                <a:schemeClr val="dk1"/>
              </a:buClr>
              <a:buSzPts val="2300"/>
              <a:buFont typeface="Times New Roman"/>
              <a:buChar char="–"/>
            </a:pPr>
            <a:r>
              <a:rPr b="0" i="0" lang="en-US" sz="2300" u="none" cap="none" strike="noStrike">
                <a:solidFill>
                  <a:schemeClr val="dk1"/>
                </a:solidFill>
                <a:latin typeface="Times New Roman"/>
                <a:ea typeface="Times New Roman"/>
                <a:cs typeface="Times New Roman"/>
                <a:sym typeface="Times New Roman"/>
              </a:rPr>
              <a:t>Linear transformation means the transformation is defined by a linear function... which is what matrices are good for.</a:t>
            </a:r>
            <a:endParaRPr sz="1300"/>
          </a:p>
        </p:txBody>
      </p:sp>
      <p:sp>
        <p:nvSpPr>
          <p:cNvPr id="136" name="Google Shape;136;p15"/>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6"/>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2" name="Google Shape;142;p16"/>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What is a Transformation?</a:t>
            </a:r>
            <a:endParaRPr/>
          </a:p>
        </p:txBody>
      </p:sp>
      <p:sp>
        <p:nvSpPr>
          <p:cNvPr id="143" name="Google Shape;143;p16"/>
          <p:cNvSpPr txBox="1"/>
          <p:nvPr>
            <p:ph idx="1" type="body"/>
          </p:nvPr>
        </p:nvSpPr>
        <p:spPr>
          <a:xfrm>
            <a:off x="628650" y="1369219"/>
            <a:ext cx="7886700" cy="3263400"/>
          </a:xfrm>
          <a:prstGeom prst="rect">
            <a:avLst/>
          </a:prstGeom>
          <a:noFill/>
          <a:ln>
            <a:noFill/>
          </a:ln>
        </p:spPr>
        <p:txBody>
          <a:bodyPr anchorCtr="0" anchor="t" bIns="46025" lIns="92075" spcFirstLastPara="1" rIns="92075" wrap="square" tIns="46025">
            <a:noAutofit/>
          </a:bodyPr>
          <a:lstStyle/>
          <a:p>
            <a:pPr indent="-330200" lvl="0" marL="342900" rtl="0" algn="l">
              <a:lnSpc>
                <a:spcPct val="100000"/>
              </a:lnSpc>
              <a:spcBef>
                <a:spcPts val="0"/>
              </a:spcBef>
              <a:spcAft>
                <a:spcPts val="0"/>
              </a:spcAft>
              <a:buClr>
                <a:schemeClr val="dk2"/>
              </a:buClr>
              <a:buSzPts val="2840"/>
              <a:buFont typeface="Noto Sans Symbols"/>
              <a:buChar char="✶"/>
            </a:pPr>
            <a:r>
              <a:rPr b="0" i="0" lang="en-US" sz="3000" u="none">
                <a:solidFill>
                  <a:schemeClr val="dk1"/>
                </a:solidFill>
                <a:latin typeface="Times New Roman"/>
                <a:ea typeface="Times New Roman"/>
                <a:cs typeface="Times New Roman"/>
                <a:sym typeface="Times New Roman"/>
              </a:rPr>
              <a:t> A function that maps points </a:t>
            </a:r>
            <a:r>
              <a:rPr b="0" i="1" lang="en-US" sz="3000" u="none">
                <a:solidFill>
                  <a:schemeClr val="dk1"/>
                </a:solidFill>
                <a:latin typeface="Times New Roman"/>
                <a:ea typeface="Times New Roman"/>
                <a:cs typeface="Times New Roman"/>
                <a:sym typeface="Times New Roman"/>
              </a:rPr>
              <a:t>x</a:t>
            </a:r>
            <a:r>
              <a:rPr b="0" i="0" lang="en-US" sz="3000" u="none">
                <a:solidFill>
                  <a:schemeClr val="dk1"/>
                </a:solidFill>
                <a:latin typeface="Times New Roman"/>
                <a:ea typeface="Times New Roman"/>
                <a:cs typeface="Times New Roman"/>
                <a:sym typeface="Times New Roman"/>
              </a:rPr>
              <a:t> to points </a:t>
            </a:r>
            <a:r>
              <a:rPr b="0" i="1" lang="en-US" sz="3000" u="none">
                <a:solidFill>
                  <a:schemeClr val="dk1"/>
                </a:solidFill>
                <a:latin typeface="Times New Roman"/>
                <a:ea typeface="Times New Roman"/>
                <a:cs typeface="Times New Roman"/>
                <a:sym typeface="Times New Roman"/>
              </a:rPr>
              <a:t>x':</a:t>
            </a:r>
            <a:endParaRPr sz="1900"/>
          </a:p>
          <a:p>
            <a:pPr indent="-285750" lvl="1" marL="742950" rtl="0" algn="l">
              <a:lnSpc>
                <a:spcPct val="100000"/>
              </a:lnSpc>
              <a:spcBef>
                <a:spcPts val="560"/>
              </a:spcBef>
              <a:spcAft>
                <a:spcPts val="0"/>
              </a:spcAft>
              <a:buClr>
                <a:schemeClr val="dk1"/>
              </a:buClr>
              <a:buSzPts val="2800"/>
              <a:buFont typeface="Times New Roman"/>
              <a:buNone/>
            </a:pPr>
            <a:r>
              <a:rPr b="0" i="0" lang="en-US" sz="2600" u="none">
                <a:solidFill>
                  <a:schemeClr val="dk1"/>
                </a:solidFill>
                <a:latin typeface="Times New Roman"/>
                <a:ea typeface="Times New Roman"/>
                <a:cs typeface="Times New Roman"/>
                <a:sym typeface="Times New Roman"/>
              </a:rPr>
              <a:t>Applications: animation, deformation, viewing, projection, real-time shadows, …</a:t>
            </a:r>
            <a:endParaRPr sz="1600"/>
          </a:p>
        </p:txBody>
      </p:sp>
      <p:pic>
        <p:nvPicPr>
          <p:cNvPr id="144" name="Google Shape;144;p16"/>
          <p:cNvPicPr preferRelativeResize="0"/>
          <p:nvPr/>
        </p:nvPicPr>
        <p:blipFill rotWithShape="1">
          <a:blip r:embed="rId3">
            <a:alphaModFix/>
          </a:blip>
          <a:srcRect b="9675" l="0" r="0" t="0"/>
          <a:stretch/>
        </p:blipFill>
        <p:spPr>
          <a:xfrm>
            <a:off x="1366837" y="2857500"/>
            <a:ext cx="2601912" cy="1600200"/>
          </a:xfrm>
          <a:prstGeom prst="rect">
            <a:avLst/>
          </a:prstGeom>
          <a:noFill/>
          <a:ln>
            <a:noFill/>
          </a:ln>
        </p:spPr>
      </p:pic>
      <p:pic>
        <p:nvPicPr>
          <p:cNvPr id="145" name="Google Shape;145;p16"/>
          <p:cNvPicPr preferRelativeResize="0"/>
          <p:nvPr/>
        </p:nvPicPr>
        <p:blipFill rotWithShape="1">
          <a:blip r:embed="rId4">
            <a:alphaModFix/>
          </a:blip>
          <a:srcRect b="10934" l="0" r="0" t="0"/>
          <a:stretch/>
        </p:blipFill>
        <p:spPr>
          <a:xfrm>
            <a:off x="3962400" y="2857500"/>
            <a:ext cx="2584450" cy="1600200"/>
          </a:xfrm>
          <a:prstGeom prst="rect">
            <a:avLst/>
          </a:prstGeom>
          <a:noFill/>
          <a:ln>
            <a:noFill/>
          </a:ln>
        </p:spPr>
      </p:pic>
      <p:pic>
        <p:nvPicPr>
          <p:cNvPr id="146" name="Google Shape;146;p16"/>
          <p:cNvPicPr preferRelativeResize="0"/>
          <p:nvPr/>
        </p:nvPicPr>
        <p:blipFill rotWithShape="1">
          <a:blip r:embed="rId5">
            <a:alphaModFix/>
          </a:blip>
          <a:srcRect b="0" l="0" r="0" t="0"/>
          <a:stretch/>
        </p:blipFill>
        <p:spPr>
          <a:xfrm>
            <a:off x="6513512" y="2857500"/>
            <a:ext cx="1689497" cy="1552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7"/>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Examples of Transformation</a:t>
            </a:r>
            <a:endParaRPr/>
          </a:p>
        </p:txBody>
      </p:sp>
      <p:pic>
        <p:nvPicPr>
          <p:cNvPr id="152" name="Google Shape;152;p17"/>
          <p:cNvPicPr preferRelativeResize="0"/>
          <p:nvPr>
            <p:ph idx="1" type="body"/>
          </p:nvPr>
        </p:nvPicPr>
        <p:blipFill rotWithShape="1">
          <a:blip r:embed="rId3">
            <a:alphaModFix/>
          </a:blip>
          <a:srcRect b="0" l="0" r="0" t="0"/>
          <a:stretch/>
        </p:blipFill>
        <p:spPr>
          <a:xfrm>
            <a:off x="1022350" y="1432322"/>
            <a:ext cx="7626300" cy="3098100"/>
          </a:xfrm>
          <a:prstGeom prst="rect">
            <a:avLst/>
          </a:prstGeom>
          <a:noFill/>
          <a:ln>
            <a:noFill/>
          </a:ln>
        </p:spPr>
      </p:pic>
      <p:sp>
        <p:nvSpPr>
          <p:cNvPr id="153" name="Google Shape;153;p17"/>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0" name="Google Shape;160;p18"/>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Simple Transformations</a:t>
            </a:r>
            <a:endParaRPr/>
          </a:p>
        </p:txBody>
      </p:sp>
      <p:sp>
        <p:nvSpPr>
          <p:cNvPr id="161" name="Google Shape;161;p18"/>
          <p:cNvSpPr txBox="1"/>
          <p:nvPr>
            <p:ph idx="1" type="body"/>
          </p:nvPr>
        </p:nvSpPr>
        <p:spPr>
          <a:xfrm>
            <a:off x="1752600" y="3314700"/>
            <a:ext cx="6934200" cy="1688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2"/>
              </a:buClr>
              <a:buSzPts val="3040"/>
              <a:buFont typeface="Noto Sans Symbols"/>
              <a:buChar char="✶"/>
            </a:pPr>
            <a:r>
              <a:rPr b="0" i="0" lang="en-US" sz="3200" u="none">
                <a:solidFill>
                  <a:schemeClr val="dk1"/>
                </a:solidFill>
                <a:latin typeface="Times New Roman"/>
                <a:ea typeface="Times New Roman"/>
                <a:cs typeface="Times New Roman"/>
                <a:sym typeface="Times New Roman"/>
              </a:rPr>
              <a:t>Can be combined</a:t>
            </a:r>
            <a:endParaRPr/>
          </a:p>
          <a:p>
            <a:pPr indent="-342900" lvl="0" marL="342900" rtl="0" algn="l">
              <a:lnSpc>
                <a:spcPct val="100000"/>
              </a:lnSpc>
              <a:spcBef>
                <a:spcPts val="640"/>
              </a:spcBef>
              <a:spcAft>
                <a:spcPts val="0"/>
              </a:spcAft>
              <a:buClr>
                <a:schemeClr val="dk2"/>
              </a:buClr>
              <a:buSzPts val="3040"/>
              <a:buFont typeface="Noto Sans Symbols"/>
              <a:buChar char="✶"/>
            </a:pPr>
            <a:r>
              <a:rPr b="0" i="0" lang="en-US" sz="3200" u="none">
                <a:solidFill>
                  <a:schemeClr val="dk1"/>
                </a:solidFill>
                <a:latin typeface="Times New Roman"/>
                <a:ea typeface="Times New Roman"/>
                <a:cs typeface="Times New Roman"/>
                <a:sym typeface="Times New Roman"/>
              </a:rPr>
              <a:t>Are these operations invertible?</a:t>
            </a:r>
            <a:br>
              <a:rPr b="0" i="0" lang="en-US" sz="3200" u="none">
                <a:solidFill>
                  <a:schemeClr val="dk1"/>
                </a:solidFill>
                <a:latin typeface="Times New Roman"/>
                <a:ea typeface="Times New Roman"/>
                <a:cs typeface="Times New Roman"/>
                <a:sym typeface="Times New Roman"/>
              </a:rPr>
            </a:br>
            <a:endParaRPr/>
          </a:p>
        </p:txBody>
      </p:sp>
      <p:sp>
        <p:nvSpPr>
          <p:cNvPr id="162" name="Google Shape;162;p18"/>
          <p:cNvSpPr txBox="1"/>
          <p:nvPr/>
        </p:nvSpPr>
        <p:spPr>
          <a:xfrm>
            <a:off x="2084387" y="4487465"/>
            <a:ext cx="31734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Yes, except scale = 0</a:t>
            </a:r>
            <a:endParaRPr b="0" i="0" sz="1400" u="none" cap="none" strike="noStrike">
              <a:solidFill>
                <a:srgbClr val="000000"/>
              </a:solidFill>
              <a:latin typeface="Arial"/>
              <a:ea typeface="Arial"/>
              <a:cs typeface="Arial"/>
              <a:sym typeface="Arial"/>
            </a:endParaRPr>
          </a:p>
        </p:txBody>
      </p:sp>
      <p:pic>
        <p:nvPicPr>
          <p:cNvPr id="163" name="Google Shape;163;p18"/>
          <p:cNvPicPr preferRelativeResize="0"/>
          <p:nvPr/>
        </p:nvPicPr>
        <p:blipFill rotWithShape="1">
          <a:blip r:embed="rId3">
            <a:alphaModFix/>
          </a:blip>
          <a:srcRect b="43916" l="5686" r="0" t="17750"/>
          <a:stretch/>
        </p:blipFill>
        <p:spPr>
          <a:xfrm>
            <a:off x="1500187" y="1600200"/>
            <a:ext cx="7162800" cy="163710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0" name="Google Shape;170;p19"/>
          <p:cNvSpPr txBox="1"/>
          <p:nvPr>
            <p:ph type="title"/>
          </p:nvPr>
        </p:nvSpPr>
        <p:spPr>
          <a:xfrm>
            <a:off x="1066800" y="133350"/>
            <a:ext cx="7620000" cy="688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Rigid-Body / Euclidean Transforms </a:t>
            </a:r>
            <a:endParaRPr/>
          </a:p>
        </p:txBody>
      </p:sp>
      <p:sp>
        <p:nvSpPr>
          <p:cNvPr id="171" name="Google Shape;171;p19"/>
          <p:cNvSpPr txBox="1"/>
          <p:nvPr>
            <p:ph idx="1" type="body"/>
          </p:nvPr>
        </p:nvSpPr>
        <p:spPr>
          <a:xfrm>
            <a:off x="1447800" y="1257300"/>
            <a:ext cx="3124200" cy="914400"/>
          </a:xfrm>
          <a:prstGeom prst="rect">
            <a:avLst/>
          </a:prstGeom>
          <a:noFill/>
          <a:ln>
            <a:noFill/>
          </a:ln>
        </p:spPr>
        <p:txBody>
          <a:bodyPr anchorCtr="0" anchor="t" bIns="0" lIns="0" spcFirstLastPara="1" rIns="0" wrap="square" tIns="0">
            <a:noAutofit/>
          </a:bodyPr>
          <a:lstStyle/>
          <a:p>
            <a:pPr indent="-146685" lvl="0" marL="339725" rtl="0" algn="l">
              <a:lnSpc>
                <a:spcPct val="100000"/>
              </a:lnSpc>
              <a:spcBef>
                <a:spcPts val="0"/>
              </a:spcBef>
              <a:spcAft>
                <a:spcPts val="0"/>
              </a:spcAft>
              <a:buClr>
                <a:schemeClr val="dk2"/>
              </a:buClr>
              <a:buSzPts val="3040"/>
              <a:buFont typeface="Noto Sans Symbols"/>
              <a:buNone/>
            </a:pPr>
            <a:r>
              <a:t/>
            </a:r>
            <a:endParaRPr b="0" i="0" sz="3200" u="none">
              <a:solidFill>
                <a:schemeClr val="dk1"/>
              </a:solidFill>
              <a:latin typeface="Times New Roman"/>
              <a:ea typeface="Times New Roman"/>
              <a:cs typeface="Times New Roman"/>
              <a:sym typeface="Times New Roman"/>
            </a:endParaRPr>
          </a:p>
          <a:p>
            <a:pPr indent="-339725" lvl="0" marL="339725" rtl="0" algn="l">
              <a:lnSpc>
                <a:spcPct val="100000"/>
              </a:lnSpc>
              <a:spcBef>
                <a:spcPts val="560"/>
              </a:spcBef>
              <a:spcAft>
                <a:spcPts val="0"/>
              </a:spcAft>
              <a:buClr>
                <a:schemeClr val="dk2"/>
              </a:buClr>
              <a:buSzPts val="2660"/>
              <a:buFont typeface="Noto Sans Symbols"/>
              <a:buChar char="✶"/>
            </a:pPr>
            <a:r>
              <a:rPr b="0" i="0" lang="en-US" sz="2800" u="none">
                <a:solidFill>
                  <a:schemeClr val="dk1"/>
                </a:solidFill>
                <a:latin typeface="Times New Roman"/>
                <a:ea typeface="Times New Roman"/>
                <a:cs typeface="Times New Roman"/>
                <a:sym typeface="Times New Roman"/>
              </a:rPr>
              <a:t>Preserves distances</a:t>
            </a:r>
            <a:endParaRPr/>
          </a:p>
          <a:p>
            <a:pPr indent="-339725" lvl="0" marL="339725" rtl="0" algn="l">
              <a:lnSpc>
                <a:spcPct val="100000"/>
              </a:lnSpc>
              <a:spcBef>
                <a:spcPts val="560"/>
              </a:spcBef>
              <a:spcAft>
                <a:spcPts val="0"/>
              </a:spcAft>
              <a:buClr>
                <a:schemeClr val="dk2"/>
              </a:buClr>
              <a:buSzPts val="2660"/>
              <a:buFont typeface="Noto Sans Symbols"/>
              <a:buChar char="✶"/>
            </a:pPr>
            <a:r>
              <a:rPr b="0" i="0" lang="en-US" sz="2800" u="none">
                <a:solidFill>
                  <a:schemeClr val="dk1"/>
                </a:solidFill>
                <a:latin typeface="Times New Roman"/>
                <a:ea typeface="Times New Roman"/>
                <a:cs typeface="Times New Roman"/>
                <a:sym typeface="Times New Roman"/>
              </a:rPr>
              <a:t>Preserves angles</a:t>
            </a:r>
            <a:endParaRPr/>
          </a:p>
        </p:txBody>
      </p:sp>
      <p:pic>
        <p:nvPicPr>
          <p:cNvPr id="172" name="Google Shape;172;p19"/>
          <p:cNvPicPr preferRelativeResize="0"/>
          <p:nvPr/>
        </p:nvPicPr>
        <p:blipFill rotWithShape="1">
          <a:blip r:embed="rId3">
            <a:alphaModFix/>
          </a:blip>
          <a:srcRect b="10664" l="48500" r="3062" t="14749"/>
          <a:stretch/>
        </p:blipFill>
        <p:spPr>
          <a:xfrm>
            <a:off x="4953000" y="1143000"/>
            <a:ext cx="3962400" cy="3361134"/>
          </a:xfrm>
          <a:prstGeom prst="rect">
            <a:avLst/>
          </a:prstGeom>
          <a:noFill/>
          <a:ln>
            <a:noFill/>
          </a:ln>
        </p:spPr>
      </p:pic>
      <p:sp>
        <p:nvSpPr>
          <p:cNvPr id="173" name="Google Shape;173;p19"/>
          <p:cNvSpPr txBox="1"/>
          <p:nvPr/>
        </p:nvSpPr>
        <p:spPr>
          <a:xfrm>
            <a:off x="2076450" y="3543300"/>
            <a:ext cx="133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0" i="0" lang="en-US" sz="2000" u="none" cap="none" strike="noStrike">
                <a:solidFill>
                  <a:srgbClr val="FF0000"/>
                </a:solidFill>
                <a:latin typeface="Times New Roman"/>
                <a:ea typeface="Times New Roman"/>
                <a:cs typeface="Times New Roman"/>
                <a:sym typeface="Times New Roman"/>
              </a:rPr>
              <a:t>Translation</a:t>
            </a:r>
            <a:endParaRPr b="0" i="0" sz="1400" u="none" cap="none" strike="noStrike">
              <a:solidFill>
                <a:srgbClr val="000000"/>
              </a:solidFill>
              <a:latin typeface="Arial"/>
              <a:ea typeface="Arial"/>
              <a:cs typeface="Arial"/>
              <a:sym typeface="Arial"/>
            </a:endParaRPr>
          </a:p>
        </p:txBody>
      </p:sp>
      <p:sp>
        <p:nvSpPr>
          <p:cNvPr id="174" name="Google Shape;174;p19"/>
          <p:cNvSpPr txBox="1"/>
          <p:nvPr/>
        </p:nvSpPr>
        <p:spPr>
          <a:xfrm>
            <a:off x="3810000" y="3714750"/>
            <a:ext cx="106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0" i="0" lang="en-US" sz="2000" u="none" cap="none" strike="noStrike">
                <a:solidFill>
                  <a:srgbClr val="FF0000"/>
                </a:solidFill>
                <a:latin typeface="Times New Roman"/>
                <a:ea typeface="Times New Roman"/>
                <a:cs typeface="Times New Roman"/>
                <a:sym typeface="Times New Roman"/>
              </a:rPr>
              <a:t>Rotation</a:t>
            </a:r>
            <a:endParaRPr b="0" i="0" sz="1400" u="none" cap="none" strike="noStrike">
              <a:solidFill>
                <a:srgbClr val="000000"/>
              </a:solidFill>
              <a:latin typeface="Arial"/>
              <a:ea typeface="Arial"/>
              <a:cs typeface="Arial"/>
              <a:sym typeface="Arial"/>
            </a:endParaRPr>
          </a:p>
        </p:txBody>
      </p:sp>
      <p:sp>
        <p:nvSpPr>
          <p:cNvPr id="175" name="Google Shape;175;p19"/>
          <p:cNvSpPr txBox="1"/>
          <p:nvPr/>
        </p:nvSpPr>
        <p:spPr>
          <a:xfrm>
            <a:off x="1828800" y="2800350"/>
            <a:ext cx="28194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1" i="1" lang="en-US" sz="2000" u="none" cap="none" strike="noStrike">
                <a:solidFill>
                  <a:srgbClr val="FF0000"/>
                </a:solidFill>
                <a:latin typeface="Times New Roman"/>
                <a:ea typeface="Times New Roman"/>
                <a:cs typeface="Times New Roman"/>
                <a:sym typeface="Times New Roman"/>
              </a:rPr>
              <a:t>Rigid / Euclidean</a:t>
            </a:r>
            <a:endParaRPr b="0" i="0" sz="1400" u="none" cap="none" strike="noStrike">
              <a:solidFill>
                <a:srgbClr val="000000"/>
              </a:solidFill>
              <a:latin typeface="Arial"/>
              <a:ea typeface="Arial"/>
              <a:cs typeface="Arial"/>
              <a:sym typeface="Arial"/>
            </a:endParaRPr>
          </a:p>
        </p:txBody>
      </p:sp>
      <p:sp>
        <p:nvSpPr>
          <p:cNvPr id="176" name="Google Shape;176;p19"/>
          <p:cNvSpPr txBox="1"/>
          <p:nvPr/>
        </p:nvSpPr>
        <p:spPr>
          <a:xfrm>
            <a:off x="3886200" y="3371850"/>
            <a:ext cx="1143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0" i="0" lang="en-US" sz="2000" u="none" cap="none" strike="noStrike">
                <a:solidFill>
                  <a:srgbClr val="FF0000"/>
                </a:solidFill>
                <a:latin typeface="Times New Roman"/>
                <a:ea typeface="Times New Roman"/>
                <a:cs typeface="Times New Roman"/>
                <a:sym typeface="Times New Roman"/>
              </a:rPr>
              <a:t>Identity</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1600200" y="3162300"/>
            <a:ext cx="3429000" cy="1143000"/>
          </a:xfrm>
          <a:prstGeom prst="ellipse">
            <a:avLst/>
          </a:prstGeom>
          <a:noFill/>
          <a:ln cap="flat" cmpd="sng" w="762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0"/>
          <p:cNvPicPr preferRelativeResize="0"/>
          <p:nvPr/>
        </p:nvPicPr>
        <p:blipFill rotWithShape="1">
          <a:blip r:embed="rId3">
            <a:alphaModFix/>
          </a:blip>
          <a:srcRect b="0" l="0" r="0" t="0"/>
          <a:stretch/>
        </p:blipFill>
        <p:spPr>
          <a:xfrm>
            <a:off x="5780087" y="1370409"/>
            <a:ext cx="2157412" cy="2650331"/>
          </a:xfrm>
          <a:prstGeom prst="rect">
            <a:avLst/>
          </a:prstGeom>
          <a:noFill/>
          <a:ln>
            <a:noFill/>
          </a:ln>
        </p:spPr>
      </p:pic>
      <p:sp>
        <p:nvSpPr>
          <p:cNvPr id="184" name="Google Shape;184;p20"/>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85" name="Google Shape;185;p20"/>
          <p:cNvSpPr txBox="1"/>
          <p:nvPr>
            <p:ph type="title"/>
          </p:nvPr>
        </p:nvSpPr>
        <p:spPr>
          <a:xfrm>
            <a:off x="1066800" y="152400"/>
            <a:ext cx="7467600" cy="688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Similitudes / Similarity Transforms</a:t>
            </a:r>
            <a:endParaRPr/>
          </a:p>
        </p:txBody>
      </p:sp>
      <p:sp>
        <p:nvSpPr>
          <p:cNvPr id="186" name="Google Shape;186;p20"/>
          <p:cNvSpPr txBox="1"/>
          <p:nvPr>
            <p:ph idx="1" type="body"/>
          </p:nvPr>
        </p:nvSpPr>
        <p:spPr>
          <a:xfrm>
            <a:off x="1219200" y="1143000"/>
            <a:ext cx="7543800" cy="3545700"/>
          </a:xfrm>
          <a:prstGeom prst="rect">
            <a:avLst/>
          </a:prstGeom>
          <a:noFill/>
          <a:ln>
            <a:noFill/>
          </a:ln>
        </p:spPr>
        <p:txBody>
          <a:bodyPr anchorCtr="0" anchor="t" bIns="0" lIns="0" spcFirstLastPara="1" rIns="0" wrap="square" tIns="0">
            <a:noAutofit/>
          </a:bodyPr>
          <a:lstStyle/>
          <a:p>
            <a:pPr indent="-146685" lvl="0" marL="339725" rtl="0" algn="l">
              <a:lnSpc>
                <a:spcPct val="100000"/>
              </a:lnSpc>
              <a:spcBef>
                <a:spcPts val="0"/>
              </a:spcBef>
              <a:spcAft>
                <a:spcPts val="0"/>
              </a:spcAft>
              <a:buClr>
                <a:schemeClr val="dk2"/>
              </a:buClr>
              <a:buSzPts val="3040"/>
              <a:buFont typeface="Noto Sans Symbols"/>
              <a:buNone/>
            </a:pPr>
            <a:r>
              <a:t/>
            </a:r>
            <a:endParaRPr b="0" i="0" sz="3200" u="none">
              <a:solidFill>
                <a:schemeClr val="dk1"/>
              </a:solidFill>
              <a:latin typeface="Times New Roman"/>
              <a:ea typeface="Times New Roman"/>
              <a:cs typeface="Times New Roman"/>
              <a:sym typeface="Times New Roman"/>
            </a:endParaRPr>
          </a:p>
          <a:p>
            <a:pPr indent="-339725" lvl="0" marL="339725" rtl="0" algn="l">
              <a:lnSpc>
                <a:spcPct val="100000"/>
              </a:lnSpc>
              <a:spcBef>
                <a:spcPts val="640"/>
              </a:spcBef>
              <a:spcAft>
                <a:spcPts val="0"/>
              </a:spcAft>
              <a:buClr>
                <a:schemeClr val="dk2"/>
              </a:buClr>
              <a:buSzPts val="3040"/>
              <a:buFont typeface="Noto Sans Symbols"/>
              <a:buChar char="✶"/>
            </a:pPr>
            <a:r>
              <a:rPr b="0" i="0" lang="en-US" sz="3200" u="none">
                <a:solidFill>
                  <a:schemeClr val="dk1"/>
                </a:solidFill>
                <a:latin typeface="Times New Roman"/>
                <a:ea typeface="Times New Roman"/>
                <a:cs typeface="Times New Roman"/>
                <a:sym typeface="Times New Roman"/>
              </a:rPr>
              <a:t>Preserves angles</a:t>
            </a:r>
            <a:endParaRPr/>
          </a:p>
        </p:txBody>
      </p:sp>
      <p:sp>
        <p:nvSpPr>
          <p:cNvPr id="187" name="Google Shape;187;p20"/>
          <p:cNvSpPr txBox="1"/>
          <p:nvPr/>
        </p:nvSpPr>
        <p:spPr>
          <a:xfrm>
            <a:off x="1543050" y="3543300"/>
            <a:ext cx="133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Translation</a:t>
            </a:r>
            <a:endParaRPr b="0" i="0" sz="1400" u="none" cap="none" strike="noStrike">
              <a:solidFill>
                <a:srgbClr val="000000"/>
              </a:solidFill>
              <a:latin typeface="Arial"/>
              <a:ea typeface="Arial"/>
              <a:cs typeface="Arial"/>
              <a:sym typeface="Arial"/>
            </a:endParaRPr>
          </a:p>
        </p:txBody>
      </p:sp>
      <p:sp>
        <p:nvSpPr>
          <p:cNvPr id="188" name="Google Shape;188;p20"/>
          <p:cNvSpPr txBox="1"/>
          <p:nvPr/>
        </p:nvSpPr>
        <p:spPr>
          <a:xfrm>
            <a:off x="3276600" y="3714750"/>
            <a:ext cx="106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Rotation</a:t>
            </a:r>
            <a:endParaRPr b="0" i="0" sz="1400" u="none" cap="none" strike="noStrike">
              <a:solidFill>
                <a:srgbClr val="000000"/>
              </a:solidFill>
              <a:latin typeface="Arial"/>
              <a:ea typeface="Arial"/>
              <a:cs typeface="Arial"/>
              <a:sym typeface="Arial"/>
            </a:endParaRPr>
          </a:p>
        </p:txBody>
      </p:sp>
      <p:sp>
        <p:nvSpPr>
          <p:cNvPr id="189" name="Google Shape;189;p20"/>
          <p:cNvSpPr txBox="1"/>
          <p:nvPr/>
        </p:nvSpPr>
        <p:spPr>
          <a:xfrm>
            <a:off x="1295400" y="2800350"/>
            <a:ext cx="2819400" cy="464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400"/>
              <a:buFont typeface="Times New Roman"/>
              <a:buNone/>
            </a:pPr>
            <a:r>
              <a:rPr b="1" i="1" lang="en-US" sz="2400" u="none" cap="none" strike="noStrike">
                <a:solidFill>
                  <a:schemeClr val="dk1"/>
                </a:solidFill>
                <a:latin typeface="Times New Roman"/>
                <a:ea typeface="Times New Roman"/>
                <a:cs typeface="Times New Roman"/>
                <a:sym typeface="Times New Roman"/>
              </a:rPr>
              <a:t>Rigid / Euclidean</a:t>
            </a:r>
            <a:endParaRPr b="0" i="0" sz="1400" u="none" cap="none" strike="noStrike">
              <a:solidFill>
                <a:srgbClr val="000000"/>
              </a:solidFill>
              <a:latin typeface="Arial"/>
              <a:ea typeface="Arial"/>
              <a:cs typeface="Arial"/>
              <a:sym typeface="Arial"/>
            </a:endParaRPr>
          </a:p>
        </p:txBody>
      </p:sp>
      <p:sp>
        <p:nvSpPr>
          <p:cNvPr id="190" name="Google Shape;190;p20"/>
          <p:cNvSpPr/>
          <p:nvPr/>
        </p:nvSpPr>
        <p:spPr>
          <a:xfrm>
            <a:off x="609600" y="2628900"/>
            <a:ext cx="6988200" cy="1714500"/>
          </a:xfrm>
          <a:prstGeom prst="ellipse">
            <a:avLst/>
          </a:prstGeom>
          <a:noFill/>
          <a:ln cap="flat" cmpd="sng" w="762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91" name="Google Shape;191;p20"/>
          <p:cNvSpPr txBox="1"/>
          <p:nvPr/>
        </p:nvSpPr>
        <p:spPr>
          <a:xfrm>
            <a:off x="2514600" y="2190750"/>
            <a:ext cx="1905000" cy="464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400"/>
              <a:buFont typeface="Times New Roman"/>
              <a:buNone/>
            </a:pPr>
            <a:r>
              <a:rPr b="1" i="1" lang="en-US" sz="2400" u="none" cap="none" strike="noStrike">
                <a:solidFill>
                  <a:srgbClr val="FF0000"/>
                </a:solidFill>
                <a:latin typeface="Times New Roman"/>
                <a:ea typeface="Times New Roman"/>
                <a:cs typeface="Times New Roman"/>
                <a:sym typeface="Times New Roman"/>
              </a:rPr>
              <a:t>Similitudes</a:t>
            </a:r>
            <a:endParaRPr b="0" i="0" sz="1400" u="none" cap="none" strike="noStrike">
              <a:solidFill>
                <a:srgbClr val="000000"/>
              </a:solidFill>
              <a:latin typeface="Arial"/>
              <a:ea typeface="Arial"/>
              <a:cs typeface="Arial"/>
              <a:sym typeface="Arial"/>
            </a:endParaRPr>
          </a:p>
        </p:txBody>
      </p:sp>
      <p:sp>
        <p:nvSpPr>
          <p:cNvPr id="192" name="Google Shape;192;p20"/>
          <p:cNvSpPr txBox="1"/>
          <p:nvPr/>
        </p:nvSpPr>
        <p:spPr>
          <a:xfrm>
            <a:off x="4812153" y="3131100"/>
            <a:ext cx="1398600" cy="710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0" i="0" lang="en-US" sz="2000" u="none" cap="none" strike="noStrike">
                <a:solidFill>
                  <a:srgbClr val="FF0000"/>
                </a:solidFill>
                <a:latin typeface="Times New Roman"/>
                <a:ea typeface="Times New Roman"/>
                <a:cs typeface="Times New Roman"/>
                <a:sym typeface="Times New Roman"/>
              </a:rPr>
              <a:t>Isotropic Scaling</a:t>
            </a:r>
            <a:endParaRPr b="0" i="0" sz="1400" u="none" cap="none" strike="noStrike">
              <a:solidFill>
                <a:srgbClr val="000000"/>
              </a:solidFill>
              <a:latin typeface="Arial"/>
              <a:ea typeface="Arial"/>
              <a:cs typeface="Arial"/>
              <a:sym typeface="Arial"/>
            </a:endParaRPr>
          </a:p>
        </p:txBody>
      </p:sp>
      <p:sp>
        <p:nvSpPr>
          <p:cNvPr id="193" name="Google Shape;193;p20"/>
          <p:cNvSpPr txBox="1"/>
          <p:nvPr/>
        </p:nvSpPr>
        <p:spPr>
          <a:xfrm>
            <a:off x="3352800" y="3371850"/>
            <a:ext cx="1143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Identity</a:t>
            </a:r>
            <a:endParaRPr b="0" i="0" sz="1400" u="none" cap="none" strike="noStrike">
              <a:solidFill>
                <a:srgbClr val="000000"/>
              </a:solidFill>
              <a:latin typeface="Arial"/>
              <a:ea typeface="Arial"/>
              <a:cs typeface="Arial"/>
              <a:sym typeface="Arial"/>
            </a:endParaRPr>
          </a:p>
        </p:txBody>
      </p:sp>
      <p:sp>
        <p:nvSpPr>
          <p:cNvPr id="194" name="Google Shape;194;p20"/>
          <p:cNvSpPr/>
          <p:nvPr/>
        </p:nvSpPr>
        <p:spPr>
          <a:xfrm>
            <a:off x="1219200" y="3264450"/>
            <a:ext cx="3429000" cy="9648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01" name="Google Shape;201;p21"/>
          <p:cNvSpPr txBox="1"/>
          <p:nvPr>
            <p:ph type="title"/>
          </p:nvPr>
        </p:nvSpPr>
        <p:spPr>
          <a:xfrm>
            <a:off x="1600200" y="114300"/>
            <a:ext cx="8766300" cy="688200"/>
          </a:xfrm>
          <a:prstGeom prst="rect">
            <a:avLst/>
          </a:prstGeom>
          <a:noFill/>
          <a:ln>
            <a:noFill/>
          </a:ln>
        </p:spPr>
        <p:txBody>
          <a:bodyPr anchorCtr="0" anchor="ctr" bIns="46800" lIns="90000" spcFirstLastPara="1" rIns="90000" wrap="square" tIns="46800">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Linear Transformations</a:t>
            </a:r>
            <a:endParaRPr/>
          </a:p>
        </p:txBody>
      </p:sp>
      <p:sp>
        <p:nvSpPr>
          <p:cNvPr id="202" name="Google Shape;202;p21"/>
          <p:cNvSpPr txBox="1"/>
          <p:nvPr/>
        </p:nvSpPr>
        <p:spPr>
          <a:xfrm>
            <a:off x="2381250" y="4000500"/>
            <a:ext cx="133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Translation</a:t>
            </a:r>
            <a:endParaRPr b="0" i="0" sz="1400" u="none" cap="none" strike="noStrike">
              <a:solidFill>
                <a:srgbClr val="000000"/>
              </a:solidFill>
              <a:latin typeface="Arial"/>
              <a:ea typeface="Arial"/>
              <a:cs typeface="Arial"/>
              <a:sym typeface="Arial"/>
            </a:endParaRPr>
          </a:p>
        </p:txBody>
      </p:sp>
      <p:sp>
        <p:nvSpPr>
          <p:cNvPr id="203" name="Google Shape;203;p21"/>
          <p:cNvSpPr txBox="1"/>
          <p:nvPr/>
        </p:nvSpPr>
        <p:spPr>
          <a:xfrm>
            <a:off x="4114800" y="4171950"/>
            <a:ext cx="1066800" cy="3717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Rotation</a:t>
            </a:r>
            <a:endParaRPr b="0" i="0" sz="1400" u="none" cap="none" strike="noStrike">
              <a:solidFill>
                <a:srgbClr val="000000"/>
              </a:solidFill>
              <a:latin typeface="Arial"/>
              <a:ea typeface="Arial"/>
              <a:cs typeface="Arial"/>
              <a:sym typeface="Arial"/>
            </a:endParaRPr>
          </a:p>
        </p:txBody>
      </p:sp>
      <p:sp>
        <p:nvSpPr>
          <p:cNvPr id="204" name="Google Shape;204;p21"/>
          <p:cNvSpPr txBox="1"/>
          <p:nvPr/>
        </p:nvSpPr>
        <p:spPr>
          <a:xfrm>
            <a:off x="2133600" y="3257550"/>
            <a:ext cx="28194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Rigid / Euclidean</a:t>
            </a:r>
            <a:endParaRPr b="0" i="0" sz="1400" u="none" cap="none" strike="noStrike">
              <a:solidFill>
                <a:srgbClr val="000000"/>
              </a:solidFill>
              <a:latin typeface="Arial"/>
              <a:ea typeface="Arial"/>
              <a:cs typeface="Arial"/>
              <a:sym typeface="Arial"/>
            </a:endParaRPr>
          </a:p>
        </p:txBody>
      </p:sp>
      <p:sp>
        <p:nvSpPr>
          <p:cNvPr id="205" name="Google Shape;205;p21"/>
          <p:cNvSpPr txBox="1"/>
          <p:nvPr/>
        </p:nvSpPr>
        <p:spPr>
          <a:xfrm>
            <a:off x="6924675" y="2952750"/>
            <a:ext cx="8937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1" i="1" lang="en-US" sz="2000" u="none" cap="none" strike="noStrike">
                <a:solidFill>
                  <a:srgbClr val="FF0000"/>
                </a:solidFill>
                <a:latin typeface="Times New Roman"/>
                <a:ea typeface="Times New Roman"/>
                <a:cs typeface="Times New Roman"/>
                <a:sym typeface="Times New Roman"/>
              </a:rPr>
              <a:t>Linear</a:t>
            </a:r>
            <a:endParaRPr b="0" i="0" sz="1400" u="none" cap="none" strike="noStrike">
              <a:solidFill>
                <a:srgbClr val="000000"/>
              </a:solidFill>
              <a:latin typeface="Arial"/>
              <a:ea typeface="Arial"/>
              <a:cs typeface="Arial"/>
              <a:sym typeface="Arial"/>
            </a:endParaRPr>
          </a:p>
        </p:txBody>
      </p:sp>
      <p:sp>
        <p:nvSpPr>
          <p:cNvPr id="206" name="Google Shape;206;p21"/>
          <p:cNvSpPr/>
          <p:nvPr/>
        </p:nvSpPr>
        <p:spPr>
          <a:xfrm>
            <a:off x="1447800" y="3086100"/>
            <a:ext cx="5867400" cy="17145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7" name="Google Shape;207;p21"/>
          <p:cNvSpPr txBox="1"/>
          <p:nvPr/>
        </p:nvSpPr>
        <p:spPr>
          <a:xfrm>
            <a:off x="3770312" y="2724150"/>
            <a:ext cx="1359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Similitudes</a:t>
            </a:r>
            <a:endParaRPr b="0" i="0" sz="1400" u="none" cap="none" strike="noStrike">
              <a:solidFill>
                <a:srgbClr val="000000"/>
              </a:solidFill>
              <a:latin typeface="Arial"/>
              <a:ea typeface="Arial"/>
              <a:cs typeface="Arial"/>
              <a:sym typeface="Arial"/>
            </a:endParaRPr>
          </a:p>
        </p:txBody>
      </p:sp>
      <p:sp>
        <p:nvSpPr>
          <p:cNvPr id="208" name="Google Shape;208;p21"/>
          <p:cNvSpPr txBox="1"/>
          <p:nvPr/>
        </p:nvSpPr>
        <p:spPr>
          <a:xfrm>
            <a:off x="5402262" y="4000500"/>
            <a:ext cx="1752600" cy="3717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Isotropic Scaling</a:t>
            </a:r>
            <a:endParaRPr b="0" i="0" sz="1400" u="none" cap="none" strike="noStrike">
              <a:solidFill>
                <a:srgbClr val="000000"/>
              </a:solidFill>
              <a:latin typeface="Arial"/>
              <a:ea typeface="Arial"/>
              <a:cs typeface="Arial"/>
              <a:sym typeface="Arial"/>
            </a:endParaRPr>
          </a:p>
        </p:txBody>
      </p:sp>
      <p:sp>
        <p:nvSpPr>
          <p:cNvPr id="209" name="Google Shape;209;p21"/>
          <p:cNvSpPr txBox="1"/>
          <p:nvPr/>
        </p:nvSpPr>
        <p:spPr>
          <a:xfrm>
            <a:off x="4191000" y="3829050"/>
            <a:ext cx="1143000" cy="3717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Identity</a:t>
            </a:r>
            <a:endParaRPr b="0" i="0" sz="1400" u="none" cap="none" strike="noStrike">
              <a:solidFill>
                <a:srgbClr val="000000"/>
              </a:solidFill>
              <a:latin typeface="Arial"/>
              <a:ea typeface="Arial"/>
              <a:cs typeface="Arial"/>
              <a:sym typeface="Arial"/>
            </a:endParaRPr>
          </a:p>
        </p:txBody>
      </p:sp>
      <p:sp>
        <p:nvSpPr>
          <p:cNvPr id="210" name="Google Shape;210;p21"/>
          <p:cNvSpPr/>
          <p:nvPr/>
        </p:nvSpPr>
        <p:spPr>
          <a:xfrm>
            <a:off x="3962400" y="3314700"/>
            <a:ext cx="4953000" cy="1600200"/>
          </a:xfrm>
          <a:prstGeom prst="ellipse">
            <a:avLst/>
          </a:prstGeom>
          <a:noFill/>
          <a:ln cap="flat" cmpd="sng" w="762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1" name="Google Shape;211;p21"/>
          <p:cNvSpPr/>
          <p:nvPr/>
        </p:nvSpPr>
        <p:spPr>
          <a:xfrm>
            <a:off x="1905000" y="3543300"/>
            <a:ext cx="3429000" cy="11430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2" name="Google Shape;212;p21"/>
          <p:cNvSpPr txBox="1"/>
          <p:nvPr/>
        </p:nvSpPr>
        <p:spPr>
          <a:xfrm>
            <a:off x="7543800" y="3657600"/>
            <a:ext cx="1066800" cy="3717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1800"/>
              <a:buFont typeface="Times New Roman"/>
              <a:buNone/>
            </a:pPr>
            <a:r>
              <a:rPr b="0" i="0" lang="en-US" sz="1800" u="none" cap="none" strike="noStrike">
                <a:solidFill>
                  <a:srgbClr val="FF0000"/>
                </a:solidFill>
                <a:latin typeface="Times New Roman"/>
                <a:ea typeface="Times New Roman"/>
                <a:cs typeface="Times New Roman"/>
                <a:sym typeface="Times New Roman"/>
              </a:rPr>
              <a:t>Scaling</a:t>
            </a:r>
            <a:endParaRPr b="0" i="0" sz="1400" u="none" cap="none" strike="noStrike">
              <a:solidFill>
                <a:srgbClr val="000000"/>
              </a:solidFill>
              <a:latin typeface="Arial"/>
              <a:ea typeface="Arial"/>
              <a:cs typeface="Arial"/>
              <a:sym typeface="Arial"/>
            </a:endParaRPr>
          </a:p>
        </p:txBody>
      </p:sp>
      <p:sp>
        <p:nvSpPr>
          <p:cNvPr id="213" name="Google Shape;213;p21"/>
          <p:cNvSpPr txBox="1"/>
          <p:nvPr/>
        </p:nvSpPr>
        <p:spPr>
          <a:xfrm>
            <a:off x="7620000" y="4343400"/>
            <a:ext cx="914400" cy="3717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1800"/>
              <a:buFont typeface="Times New Roman"/>
              <a:buNone/>
            </a:pPr>
            <a:r>
              <a:rPr b="0" i="0" lang="en-US" sz="1800" u="none" cap="none" strike="noStrike">
                <a:solidFill>
                  <a:srgbClr val="FF0000"/>
                </a:solidFill>
                <a:latin typeface="Times New Roman"/>
                <a:ea typeface="Times New Roman"/>
                <a:cs typeface="Times New Roman"/>
                <a:sym typeface="Times New Roman"/>
              </a:rPr>
              <a:t>Shear</a:t>
            </a:r>
            <a:endParaRPr b="0" i="0" sz="1400" u="none" cap="none" strike="noStrike">
              <a:solidFill>
                <a:srgbClr val="000000"/>
              </a:solidFill>
              <a:latin typeface="Arial"/>
              <a:ea typeface="Arial"/>
              <a:cs typeface="Arial"/>
              <a:sym typeface="Arial"/>
            </a:endParaRPr>
          </a:p>
        </p:txBody>
      </p:sp>
      <p:sp>
        <p:nvSpPr>
          <p:cNvPr id="214" name="Google Shape;214;p21"/>
          <p:cNvSpPr txBox="1"/>
          <p:nvPr/>
        </p:nvSpPr>
        <p:spPr>
          <a:xfrm>
            <a:off x="7539037" y="4000500"/>
            <a:ext cx="1143000" cy="3717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1800"/>
              <a:buFont typeface="Times New Roman"/>
              <a:buNone/>
            </a:pPr>
            <a:r>
              <a:rPr b="0" i="0" lang="en-US" sz="1800" u="none" cap="none" strike="noStrike">
                <a:solidFill>
                  <a:srgbClr val="FF0000"/>
                </a:solidFill>
                <a:latin typeface="Times New Roman"/>
                <a:ea typeface="Times New Roman"/>
                <a:cs typeface="Times New Roman"/>
                <a:sym typeface="Times New Roman"/>
              </a:rPr>
              <a:t>Reflection</a:t>
            </a:r>
            <a:endParaRPr b="0" i="0" sz="1400" u="none" cap="none" strike="noStrike">
              <a:solidFill>
                <a:srgbClr val="000000"/>
              </a:solidFill>
              <a:latin typeface="Arial"/>
              <a:ea typeface="Arial"/>
              <a:cs typeface="Arial"/>
              <a:sym typeface="Arial"/>
            </a:endParaRPr>
          </a:p>
        </p:txBody>
      </p:sp>
      <p:pic>
        <p:nvPicPr>
          <p:cNvPr id="215" name="Google Shape;215;p21"/>
          <p:cNvPicPr preferRelativeResize="0"/>
          <p:nvPr/>
        </p:nvPicPr>
        <p:blipFill rotWithShape="1">
          <a:blip r:embed="rId3">
            <a:alphaModFix/>
          </a:blip>
          <a:srcRect b="57583" l="3625" r="3250" t="15167"/>
          <a:stretch/>
        </p:blipFill>
        <p:spPr>
          <a:xfrm>
            <a:off x="184150" y="1200150"/>
            <a:ext cx="8731252" cy="143708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2"/>
          <p:cNvSpPr txBox="1"/>
          <p:nvPr/>
        </p:nvSpPr>
        <p:spPr>
          <a:xfrm>
            <a:off x="7226300" y="48006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22" name="Google Shape;222;p22"/>
          <p:cNvSpPr txBox="1"/>
          <p:nvPr>
            <p:ph type="title"/>
          </p:nvPr>
        </p:nvSpPr>
        <p:spPr>
          <a:xfrm>
            <a:off x="1524000" y="114300"/>
            <a:ext cx="8766300" cy="688200"/>
          </a:xfrm>
          <a:prstGeom prst="rect">
            <a:avLst/>
          </a:prstGeom>
          <a:noFill/>
          <a:ln>
            <a:noFill/>
          </a:ln>
        </p:spPr>
        <p:txBody>
          <a:bodyPr anchorCtr="0" anchor="ctr" bIns="46800" lIns="90000" spcFirstLastPara="1" rIns="90000" wrap="square" tIns="46800">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Linear Transformations</a:t>
            </a:r>
            <a:endParaRPr/>
          </a:p>
        </p:txBody>
      </p:sp>
      <p:sp>
        <p:nvSpPr>
          <p:cNvPr id="223" name="Google Shape;223;p22"/>
          <p:cNvSpPr txBox="1"/>
          <p:nvPr>
            <p:ph idx="1" type="body"/>
          </p:nvPr>
        </p:nvSpPr>
        <p:spPr>
          <a:xfrm>
            <a:off x="1524000" y="1138238"/>
            <a:ext cx="4700100" cy="9762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b="1" i="1" lang="en-US" sz="2700"/>
              <a:t>Additivity: </a:t>
            </a:r>
            <a:r>
              <a:rPr b="1" i="1" lang="en-US" sz="2700" u="none">
                <a:solidFill>
                  <a:schemeClr val="dk1"/>
                </a:solidFill>
              </a:rPr>
              <a:t>L(p + q) = L(p) + L(q)</a:t>
            </a:r>
            <a:endParaRPr b="1" sz="2700"/>
          </a:p>
          <a:p>
            <a:pPr indent="0" lvl="0" marL="0" rtl="0" algn="l">
              <a:lnSpc>
                <a:spcPct val="100000"/>
              </a:lnSpc>
              <a:spcBef>
                <a:spcPts val="640"/>
              </a:spcBef>
              <a:spcAft>
                <a:spcPts val="0"/>
              </a:spcAft>
              <a:buSzPts val="1400"/>
              <a:buNone/>
            </a:pPr>
            <a:r>
              <a:rPr b="1" i="1" lang="en-US" sz="2700"/>
              <a:t>Homogeneity</a:t>
            </a:r>
            <a:r>
              <a:rPr b="1" lang="en-US" sz="2700"/>
              <a:t>: </a:t>
            </a:r>
            <a:r>
              <a:rPr b="1" i="1" lang="en-US" sz="2700" u="none">
                <a:solidFill>
                  <a:schemeClr val="dk1"/>
                </a:solidFill>
              </a:rPr>
              <a:t>L(ap) = a L(p)</a:t>
            </a:r>
            <a:endParaRPr b="1" sz="2700"/>
          </a:p>
        </p:txBody>
      </p:sp>
      <p:sp>
        <p:nvSpPr>
          <p:cNvPr id="224" name="Google Shape;224;p22"/>
          <p:cNvSpPr txBox="1"/>
          <p:nvPr/>
        </p:nvSpPr>
        <p:spPr>
          <a:xfrm>
            <a:off x="1600200" y="3657600"/>
            <a:ext cx="1222500" cy="8334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Translation</a:t>
            </a:r>
            <a:endParaRPr b="0" i="0" sz="1400" u="none" cap="none" strike="noStrike">
              <a:solidFill>
                <a:srgbClr val="000000"/>
              </a:solidFill>
              <a:latin typeface="Arial"/>
              <a:ea typeface="Arial"/>
              <a:cs typeface="Arial"/>
              <a:sym typeface="Arial"/>
            </a:endParaRPr>
          </a:p>
        </p:txBody>
      </p:sp>
      <p:sp>
        <p:nvSpPr>
          <p:cNvPr id="225" name="Google Shape;225;p22"/>
          <p:cNvSpPr txBox="1"/>
          <p:nvPr/>
        </p:nvSpPr>
        <p:spPr>
          <a:xfrm>
            <a:off x="3276600" y="3829050"/>
            <a:ext cx="106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Rotation</a:t>
            </a:r>
            <a:endParaRPr b="0" i="0" sz="1400" u="none" cap="none" strike="noStrike">
              <a:solidFill>
                <a:srgbClr val="000000"/>
              </a:solidFill>
              <a:latin typeface="Arial"/>
              <a:ea typeface="Arial"/>
              <a:cs typeface="Arial"/>
              <a:sym typeface="Arial"/>
            </a:endParaRPr>
          </a:p>
        </p:txBody>
      </p:sp>
      <p:sp>
        <p:nvSpPr>
          <p:cNvPr id="226" name="Google Shape;226;p22"/>
          <p:cNvSpPr txBox="1"/>
          <p:nvPr/>
        </p:nvSpPr>
        <p:spPr>
          <a:xfrm>
            <a:off x="1295400" y="2914650"/>
            <a:ext cx="2819400" cy="464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400"/>
              <a:buFont typeface="Times New Roman"/>
              <a:buNone/>
            </a:pPr>
            <a:r>
              <a:rPr b="1" i="1" lang="en-US" sz="2400" u="none" cap="none" strike="noStrike">
                <a:solidFill>
                  <a:schemeClr val="dk1"/>
                </a:solidFill>
                <a:latin typeface="Times New Roman"/>
                <a:ea typeface="Times New Roman"/>
                <a:cs typeface="Times New Roman"/>
                <a:sym typeface="Times New Roman"/>
              </a:rPr>
              <a:t>Rigid / Euclidean</a:t>
            </a:r>
            <a:endParaRPr b="0" i="0" sz="1400" u="none" cap="none" strike="noStrike">
              <a:solidFill>
                <a:srgbClr val="000000"/>
              </a:solidFill>
              <a:latin typeface="Arial"/>
              <a:ea typeface="Arial"/>
              <a:cs typeface="Arial"/>
              <a:sym typeface="Arial"/>
            </a:endParaRPr>
          </a:p>
        </p:txBody>
      </p:sp>
      <p:sp>
        <p:nvSpPr>
          <p:cNvPr id="227" name="Google Shape;227;p22"/>
          <p:cNvSpPr txBox="1"/>
          <p:nvPr/>
        </p:nvSpPr>
        <p:spPr>
          <a:xfrm>
            <a:off x="5943600" y="2533650"/>
            <a:ext cx="1027200" cy="464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400"/>
              <a:buFont typeface="Times New Roman"/>
              <a:buNone/>
            </a:pPr>
            <a:r>
              <a:rPr b="1" i="1" lang="en-US" sz="2400" u="none" cap="none" strike="noStrike">
                <a:solidFill>
                  <a:srgbClr val="FF0000"/>
                </a:solidFill>
                <a:latin typeface="Times New Roman"/>
                <a:ea typeface="Times New Roman"/>
                <a:cs typeface="Times New Roman"/>
                <a:sym typeface="Times New Roman"/>
              </a:rPr>
              <a:t>Linear</a:t>
            </a:r>
            <a:endParaRPr b="0" i="0" sz="1400" u="none" cap="none" strike="noStrike">
              <a:solidFill>
                <a:srgbClr val="000000"/>
              </a:solidFill>
              <a:latin typeface="Arial"/>
              <a:ea typeface="Arial"/>
              <a:cs typeface="Arial"/>
              <a:sym typeface="Arial"/>
            </a:endParaRPr>
          </a:p>
        </p:txBody>
      </p:sp>
      <p:sp>
        <p:nvSpPr>
          <p:cNvPr id="228" name="Google Shape;228;p22"/>
          <p:cNvSpPr/>
          <p:nvPr/>
        </p:nvSpPr>
        <p:spPr>
          <a:xfrm>
            <a:off x="609600" y="2743200"/>
            <a:ext cx="5867400" cy="19284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29" name="Google Shape;229;p22"/>
          <p:cNvSpPr txBox="1"/>
          <p:nvPr/>
        </p:nvSpPr>
        <p:spPr>
          <a:xfrm>
            <a:off x="2667000" y="2305050"/>
            <a:ext cx="1808400" cy="464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400"/>
              <a:buFont typeface="Times New Roman"/>
              <a:buNone/>
            </a:pPr>
            <a:r>
              <a:rPr b="1" i="1" lang="en-US" sz="2400" u="none" cap="none" strike="noStrike">
                <a:solidFill>
                  <a:schemeClr val="dk1"/>
                </a:solidFill>
                <a:latin typeface="Times New Roman"/>
                <a:ea typeface="Times New Roman"/>
                <a:cs typeface="Times New Roman"/>
                <a:sym typeface="Times New Roman"/>
              </a:rPr>
              <a:t>Similitudes</a:t>
            </a:r>
            <a:endParaRPr b="0" i="0" sz="1400" u="none" cap="none" strike="noStrike">
              <a:solidFill>
                <a:srgbClr val="000000"/>
              </a:solidFill>
              <a:latin typeface="Arial"/>
              <a:ea typeface="Arial"/>
              <a:cs typeface="Arial"/>
              <a:sym typeface="Arial"/>
            </a:endParaRPr>
          </a:p>
        </p:txBody>
      </p:sp>
      <p:sp>
        <p:nvSpPr>
          <p:cNvPr id="230" name="Google Shape;230;p22"/>
          <p:cNvSpPr txBox="1"/>
          <p:nvPr/>
        </p:nvSpPr>
        <p:spPr>
          <a:xfrm>
            <a:off x="4478337" y="3657600"/>
            <a:ext cx="19242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Isotropic Scaling</a:t>
            </a:r>
            <a:endParaRPr b="0" i="0" sz="1400" u="none" cap="none" strike="noStrike">
              <a:solidFill>
                <a:srgbClr val="000000"/>
              </a:solidFill>
              <a:latin typeface="Arial"/>
              <a:ea typeface="Arial"/>
              <a:cs typeface="Arial"/>
              <a:sym typeface="Arial"/>
            </a:endParaRPr>
          </a:p>
        </p:txBody>
      </p:sp>
      <p:sp>
        <p:nvSpPr>
          <p:cNvPr id="231" name="Google Shape;231;p22"/>
          <p:cNvSpPr txBox="1"/>
          <p:nvPr/>
        </p:nvSpPr>
        <p:spPr>
          <a:xfrm>
            <a:off x="6705600" y="3314700"/>
            <a:ext cx="106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0" i="0" lang="en-US" sz="2000" u="none" cap="none" strike="noStrike">
                <a:solidFill>
                  <a:srgbClr val="FF0000"/>
                </a:solidFill>
                <a:latin typeface="Times New Roman"/>
                <a:ea typeface="Times New Roman"/>
                <a:cs typeface="Times New Roman"/>
                <a:sym typeface="Times New Roman"/>
              </a:rPr>
              <a:t>Scaling</a:t>
            </a:r>
            <a:endParaRPr b="0" i="0" sz="1400" u="none" cap="none" strike="noStrike">
              <a:solidFill>
                <a:srgbClr val="000000"/>
              </a:solidFill>
              <a:latin typeface="Arial"/>
              <a:ea typeface="Arial"/>
              <a:cs typeface="Arial"/>
              <a:sym typeface="Arial"/>
            </a:endParaRPr>
          </a:p>
        </p:txBody>
      </p:sp>
      <p:sp>
        <p:nvSpPr>
          <p:cNvPr id="232" name="Google Shape;232;p22"/>
          <p:cNvSpPr txBox="1"/>
          <p:nvPr/>
        </p:nvSpPr>
        <p:spPr>
          <a:xfrm>
            <a:off x="6781800" y="4000500"/>
            <a:ext cx="9144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0" i="0" lang="en-US" sz="2000" u="none" cap="none" strike="noStrike">
                <a:solidFill>
                  <a:srgbClr val="FF0000"/>
                </a:solidFill>
                <a:latin typeface="Times New Roman"/>
                <a:ea typeface="Times New Roman"/>
                <a:cs typeface="Times New Roman"/>
                <a:sym typeface="Times New Roman"/>
              </a:rPr>
              <a:t>Shear</a:t>
            </a:r>
            <a:endParaRPr b="0" i="0" sz="1400" u="none" cap="none" strike="noStrike">
              <a:solidFill>
                <a:srgbClr val="000000"/>
              </a:solidFill>
              <a:latin typeface="Arial"/>
              <a:ea typeface="Arial"/>
              <a:cs typeface="Arial"/>
              <a:sym typeface="Arial"/>
            </a:endParaRPr>
          </a:p>
        </p:txBody>
      </p:sp>
      <p:sp>
        <p:nvSpPr>
          <p:cNvPr id="233" name="Google Shape;233;p22"/>
          <p:cNvSpPr txBox="1"/>
          <p:nvPr/>
        </p:nvSpPr>
        <p:spPr>
          <a:xfrm>
            <a:off x="6648450" y="3657600"/>
            <a:ext cx="12477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0" i="0" lang="en-US" sz="2000" u="none" cap="none" strike="noStrike">
                <a:solidFill>
                  <a:srgbClr val="FF0000"/>
                </a:solidFill>
                <a:latin typeface="Times New Roman"/>
                <a:ea typeface="Times New Roman"/>
                <a:cs typeface="Times New Roman"/>
                <a:sym typeface="Times New Roman"/>
              </a:rPr>
              <a:t>Reflection</a:t>
            </a:r>
            <a:endParaRPr b="0" i="0" sz="1400" u="none" cap="none" strike="noStrike">
              <a:solidFill>
                <a:srgbClr val="000000"/>
              </a:solidFill>
              <a:latin typeface="Arial"/>
              <a:ea typeface="Arial"/>
              <a:cs typeface="Arial"/>
              <a:sym typeface="Arial"/>
            </a:endParaRPr>
          </a:p>
        </p:txBody>
      </p:sp>
      <p:sp>
        <p:nvSpPr>
          <p:cNvPr id="234" name="Google Shape;234;p22"/>
          <p:cNvSpPr txBox="1"/>
          <p:nvPr/>
        </p:nvSpPr>
        <p:spPr>
          <a:xfrm>
            <a:off x="3352800" y="3486150"/>
            <a:ext cx="1143000" cy="464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Identity</a:t>
            </a:r>
            <a:endParaRPr b="0" i="0" sz="1400" u="none" cap="none" strike="noStrike">
              <a:solidFill>
                <a:srgbClr val="000000"/>
              </a:solidFill>
              <a:latin typeface="Arial"/>
              <a:ea typeface="Arial"/>
              <a:cs typeface="Arial"/>
              <a:sym typeface="Arial"/>
            </a:endParaRPr>
          </a:p>
        </p:txBody>
      </p:sp>
      <p:sp>
        <p:nvSpPr>
          <p:cNvPr id="235" name="Google Shape;235;p22"/>
          <p:cNvSpPr/>
          <p:nvPr/>
        </p:nvSpPr>
        <p:spPr>
          <a:xfrm>
            <a:off x="3124200" y="2971800"/>
            <a:ext cx="4953000" cy="1600200"/>
          </a:xfrm>
          <a:prstGeom prst="ellipse">
            <a:avLst/>
          </a:prstGeom>
          <a:noFill/>
          <a:ln cap="flat" cmpd="sng" w="762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6" name="Google Shape;236;p22"/>
          <p:cNvSpPr/>
          <p:nvPr/>
        </p:nvSpPr>
        <p:spPr>
          <a:xfrm>
            <a:off x="1066800" y="3314700"/>
            <a:ext cx="3505200" cy="11763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237" name="Google Shape;237;p22"/>
          <p:cNvPicPr preferRelativeResize="0"/>
          <p:nvPr/>
        </p:nvPicPr>
        <p:blipFill rotWithShape="1">
          <a:blip r:embed="rId3">
            <a:alphaModFix/>
          </a:blip>
          <a:srcRect b="56251" l="52810" r="4251" t="13998"/>
          <a:stretch/>
        </p:blipFill>
        <p:spPr>
          <a:xfrm>
            <a:off x="6053625" y="1437084"/>
            <a:ext cx="3090376" cy="12049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3"/>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200"/>
              <a:buFont typeface="Times New Roman"/>
              <a:buNone/>
            </a:pPr>
            <a:fld id="{00000000-1234-1234-1234-123412341234}" type="slidenum">
              <a:rPr b="0" i="0" lang="en-US" sz="12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4" name="Google Shape;244;p23"/>
          <p:cNvSpPr txBox="1"/>
          <p:nvPr>
            <p:ph type="title"/>
          </p:nvPr>
        </p:nvSpPr>
        <p:spPr>
          <a:xfrm>
            <a:off x="1676400" y="114300"/>
            <a:ext cx="6019800" cy="688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Affine Transformations</a:t>
            </a:r>
            <a:endParaRPr/>
          </a:p>
        </p:txBody>
      </p:sp>
      <p:sp>
        <p:nvSpPr>
          <p:cNvPr id="245" name="Google Shape;245;p23"/>
          <p:cNvSpPr txBox="1"/>
          <p:nvPr>
            <p:ph idx="1" type="body"/>
          </p:nvPr>
        </p:nvSpPr>
        <p:spPr>
          <a:xfrm>
            <a:off x="1600200" y="1143000"/>
            <a:ext cx="2667000" cy="796500"/>
          </a:xfrm>
          <a:prstGeom prst="rect">
            <a:avLst/>
          </a:prstGeom>
          <a:noFill/>
          <a:ln>
            <a:noFill/>
          </a:ln>
        </p:spPr>
        <p:txBody>
          <a:bodyPr anchorCtr="0" anchor="t" bIns="0" lIns="0" spcFirstLastPara="1" rIns="0" wrap="square" tIns="0">
            <a:noAutofit/>
          </a:bodyPr>
          <a:lstStyle/>
          <a:p>
            <a:pPr indent="-339725" lvl="0" marL="339725" rtl="0" algn="l">
              <a:lnSpc>
                <a:spcPct val="100000"/>
              </a:lnSpc>
              <a:spcBef>
                <a:spcPts val="0"/>
              </a:spcBef>
              <a:spcAft>
                <a:spcPts val="0"/>
              </a:spcAft>
              <a:buClr>
                <a:schemeClr val="dk2"/>
              </a:buClr>
              <a:buSzPts val="2660"/>
              <a:buFont typeface="Noto Sans Symbols"/>
              <a:buChar char="✶"/>
            </a:pPr>
            <a:r>
              <a:rPr b="0" i="0" lang="en-US" sz="2800" u="none">
                <a:solidFill>
                  <a:schemeClr val="dk1"/>
                </a:solidFill>
                <a:latin typeface="Times New Roman"/>
                <a:ea typeface="Times New Roman"/>
                <a:cs typeface="Times New Roman"/>
                <a:sym typeface="Times New Roman"/>
              </a:rPr>
              <a:t>preserves </a:t>
            </a:r>
            <a:br>
              <a:rPr b="0" i="0" lang="en-US" sz="2800" u="none">
                <a:solidFill>
                  <a:schemeClr val="dk1"/>
                </a:solidFill>
                <a:latin typeface="Times New Roman"/>
                <a:ea typeface="Times New Roman"/>
                <a:cs typeface="Times New Roman"/>
                <a:sym typeface="Times New Roman"/>
              </a:rPr>
            </a:br>
            <a:r>
              <a:rPr b="0" i="0" lang="en-US" sz="2800" u="none">
                <a:solidFill>
                  <a:schemeClr val="dk1"/>
                </a:solidFill>
                <a:latin typeface="Times New Roman"/>
                <a:ea typeface="Times New Roman"/>
                <a:cs typeface="Times New Roman"/>
                <a:sym typeface="Times New Roman"/>
              </a:rPr>
              <a:t>parallel lines</a:t>
            </a:r>
            <a:endParaRPr/>
          </a:p>
        </p:txBody>
      </p:sp>
      <p:sp>
        <p:nvSpPr>
          <p:cNvPr id="246" name="Google Shape;246;p23"/>
          <p:cNvSpPr txBox="1"/>
          <p:nvPr/>
        </p:nvSpPr>
        <p:spPr>
          <a:xfrm>
            <a:off x="2076450" y="3543300"/>
            <a:ext cx="133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Translation</a:t>
            </a:r>
            <a:endParaRPr b="0" i="0" sz="1400" u="none" cap="none" strike="noStrike">
              <a:solidFill>
                <a:srgbClr val="000000"/>
              </a:solidFill>
              <a:latin typeface="Arial"/>
              <a:ea typeface="Arial"/>
              <a:cs typeface="Arial"/>
              <a:sym typeface="Arial"/>
            </a:endParaRPr>
          </a:p>
        </p:txBody>
      </p:sp>
      <p:sp>
        <p:nvSpPr>
          <p:cNvPr id="247" name="Google Shape;247;p23"/>
          <p:cNvSpPr txBox="1"/>
          <p:nvPr/>
        </p:nvSpPr>
        <p:spPr>
          <a:xfrm>
            <a:off x="3810000" y="3714750"/>
            <a:ext cx="106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Rotation</a:t>
            </a:r>
            <a:endParaRPr b="0" i="0" sz="1400" u="none" cap="none" strike="noStrike">
              <a:solidFill>
                <a:srgbClr val="000000"/>
              </a:solidFill>
              <a:latin typeface="Arial"/>
              <a:ea typeface="Arial"/>
              <a:cs typeface="Arial"/>
              <a:sym typeface="Arial"/>
            </a:endParaRPr>
          </a:p>
        </p:txBody>
      </p:sp>
      <p:sp>
        <p:nvSpPr>
          <p:cNvPr id="248" name="Google Shape;248;p23"/>
          <p:cNvSpPr txBox="1"/>
          <p:nvPr/>
        </p:nvSpPr>
        <p:spPr>
          <a:xfrm>
            <a:off x="1828800" y="2800350"/>
            <a:ext cx="28194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Rigid / Euclidean</a:t>
            </a:r>
            <a:endParaRPr b="0" i="0" sz="1400" u="none" cap="none" strike="noStrike">
              <a:solidFill>
                <a:srgbClr val="000000"/>
              </a:solidFill>
              <a:latin typeface="Arial"/>
              <a:ea typeface="Arial"/>
              <a:cs typeface="Arial"/>
              <a:sym typeface="Arial"/>
            </a:endParaRPr>
          </a:p>
        </p:txBody>
      </p:sp>
      <p:sp>
        <p:nvSpPr>
          <p:cNvPr id="249" name="Google Shape;249;p23"/>
          <p:cNvSpPr txBox="1"/>
          <p:nvPr/>
        </p:nvSpPr>
        <p:spPr>
          <a:xfrm>
            <a:off x="6543675" y="2571750"/>
            <a:ext cx="8937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Linear</a:t>
            </a:r>
            <a:endParaRPr b="0" i="0" sz="1400" u="none" cap="none" strike="noStrike">
              <a:solidFill>
                <a:srgbClr val="000000"/>
              </a:solidFill>
              <a:latin typeface="Arial"/>
              <a:ea typeface="Arial"/>
              <a:cs typeface="Arial"/>
              <a:sym typeface="Arial"/>
            </a:endParaRPr>
          </a:p>
        </p:txBody>
      </p:sp>
      <p:sp>
        <p:nvSpPr>
          <p:cNvPr id="250" name="Google Shape;250;p23"/>
          <p:cNvSpPr/>
          <p:nvPr/>
        </p:nvSpPr>
        <p:spPr>
          <a:xfrm>
            <a:off x="914400" y="2228850"/>
            <a:ext cx="8001000" cy="2457600"/>
          </a:xfrm>
          <a:prstGeom prst="ellipse">
            <a:avLst/>
          </a:prstGeom>
          <a:noFill/>
          <a:ln cap="flat" cmpd="sng" w="762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1" name="Google Shape;251;p23"/>
          <p:cNvSpPr/>
          <p:nvPr/>
        </p:nvSpPr>
        <p:spPr>
          <a:xfrm>
            <a:off x="1143000" y="2628900"/>
            <a:ext cx="5867400" cy="18288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2" name="Google Shape;252;p23"/>
          <p:cNvSpPr txBox="1"/>
          <p:nvPr/>
        </p:nvSpPr>
        <p:spPr>
          <a:xfrm>
            <a:off x="3465512" y="2266950"/>
            <a:ext cx="1359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Similitudes</a:t>
            </a:r>
            <a:endParaRPr b="0" i="0" sz="1400" u="none" cap="none" strike="noStrike">
              <a:solidFill>
                <a:srgbClr val="000000"/>
              </a:solidFill>
              <a:latin typeface="Arial"/>
              <a:ea typeface="Arial"/>
              <a:cs typeface="Arial"/>
              <a:sym typeface="Arial"/>
            </a:endParaRPr>
          </a:p>
        </p:txBody>
      </p:sp>
      <p:sp>
        <p:nvSpPr>
          <p:cNvPr id="253" name="Google Shape;253;p23"/>
          <p:cNvSpPr txBox="1"/>
          <p:nvPr/>
        </p:nvSpPr>
        <p:spPr>
          <a:xfrm>
            <a:off x="5011737" y="3543300"/>
            <a:ext cx="19242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Isotropic Scaling</a:t>
            </a:r>
            <a:endParaRPr b="0" i="0" sz="1400" u="none" cap="none" strike="noStrike">
              <a:solidFill>
                <a:srgbClr val="000000"/>
              </a:solidFill>
              <a:latin typeface="Arial"/>
              <a:ea typeface="Arial"/>
              <a:cs typeface="Arial"/>
              <a:sym typeface="Arial"/>
            </a:endParaRPr>
          </a:p>
        </p:txBody>
      </p:sp>
      <p:sp>
        <p:nvSpPr>
          <p:cNvPr id="254" name="Google Shape;254;p23"/>
          <p:cNvSpPr txBox="1"/>
          <p:nvPr/>
        </p:nvSpPr>
        <p:spPr>
          <a:xfrm>
            <a:off x="7239000" y="3200400"/>
            <a:ext cx="106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Scaling</a:t>
            </a:r>
            <a:endParaRPr b="0" i="0" sz="1400" u="none" cap="none" strike="noStrike">
              <a:solidFill>
                <a:srgbClr val="000000"/>
              </a:solidFill>
              <a:latin typeface="Arial"/>
              <a:ea typeface="Arial"/>
              <a:cs typeface="Arial"/>
              <a:sym typeface="Arial"/>
            </a:endParaRPr>
          </a:p>
        </p:txBody>
      </p:sp>
      <p:sp>
        <p:nvSpPr>
          <p:cNvPr id="255" name="Google Shape;255;p23"/>
          <p:cNvSpPr txBox="1"/>
          <p:nvPr/>
        </p:nvSpPr>
        <p:spPr>
          <a:xfrm>
            <a:off x="7315200" y="3886200"/>
            <a:ext cx="9144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Shear</a:t>
            </a:r>
            <a:endParaRPr b="0" i="0" sz="1400" u="none" cap="none" strike="noStrike">
              <a:solidFill>
                <a:srgbClr val="000000"/>
              </a:solidFill>
              <a:latin typeface="Arial"/>
              <a:ea typeface="Arial"/>
              <a:cs typeface="Arial"/>
              <a:sym typeface="Arial"/>
            </a:endParaRPr>
          </a:p>
        </p:txBody>
      </p:sp>
      <p:sp>
        <p:nvSpPr>
          <p:cNvPr id="256" name="Google Shape;256;p23"/>
          <p:cNvSpPr txBox="1"/>
          <p:nvPr/>
        </p:nvSpPr>
        <p:spPr>
          <a:xfrm>
            <a:off x="7181850" y="3543300"/>
            <a:ext cx="12477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Reflection</a:t>
            </a:r>
            <a:endParaRPr b="0" i="0" sz="1400" u="none" cap="none" strike="noStrike">
              <a:solidFill>
                <a:srgbClr val="000000"/>
              </a:solidFill>
              <a:latin typeface="Arial"/>
              <a:ea typeface="Arial"/>
              <a:cs typeface="Arial"/>
              <a:sym typeface="Arial"/>
            </a:endParaRPr>
          </a:p>
        </p:txBody>
      </p:sp>
      <p:sp>
        <p:nvSpPr>
          <p:cNvPr id="257" name="Google Shape;257;p23"/>
          <p:cNvSpPr txBox="1"/>
          <p:nvPr/>
        </p:nvSpPr>
        <p:spPr>
          <a:xfrm>
            <a:off x="3886200" y="3371850"/>
            <a:ext cx="1143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Identity</a:t>
            </a:r>
            <a:endParaRPr b="0" i="0" sz="1400" u="none" cap="none" strike="noStrike">
              <a:solidFill>
                <a:srgbClr val="000000"/>
              </a:solidFill>
              <a:latin typeface="Arial"/>
              <a:ea typeface="Arial"/>
              <a:cs typeface="Arial"/>
              <a:sym typeface="Arial"/>
            </a:endParaRPr>
          </a:p>
        </p:txBody>
      </p:sp>
      <p:sp>
        <p:nvSpPr>
          <p:cNvPr id="258" name="Google Shape;258;p23"/>
          <p:cNvSpPr/>
          <p:nvPr/>
        </p:nvSpPr>
        <p:spPr>
          <a:xfrm>
            <a:off x="3657600" y="2857500"/>
            <a:ext cx="4953000" cy="16002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9" name="Google Shape;259;p23"/>
          <p:cNvSpPr/>
          <p:nvPr/>
        </p:nvSpPr>
        <p:spPr>
          <a:xfrm>
            <a:off x="1600200" y="3200400"/>
            <a:ext cx="3429000" cy="10881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260" name="Google Shape;260;p23"/>
          <p:cNvPicPr preferRelativeResize="0"/>
          <p:nvPr/>
        </p:nvPicPr>
        <p:blipFill rotWithShape="1">
          <a:blip r:embed="rId3">
            <a:alphaModFix/>
          </a:blip>
          <a:srcRect b="59750" l="47124" r="4436" t="14166"/>
          <a:stretch/>
        </p:blipFill>
        <p:spPr>
          <a:xfrm>
            <a:off x="4264025" y="689371"/>
            <a:ext cx="4708524" cy="1425177"/>
          </a:xfrm>
          <a:prstGeom prst="rect">
            <a:avLst/>
          </a:prstGeom>
          <a:noFill/>
          <a:ln>
            <a:noFill/>
          </a:ln>
        </p:spPr>
      </p:pic>
      <p:sp>
        <p:nvSpPr>
          <p:cNvPr id="261" name="Google Shape;261;p23"/>
          <p:cNvSpPr txBox="1"/>
          <p:nvPr/>
        </p:nvSpPr>
        <p:spPr>
          <a:xfrm>
            <a:off x="3951287" y="1781175"/>
            <a:ext cx="846000" cy="402300"/>
          </a:xfrm>
          <a:prstGeom prst="rect">
            <a:avLst/>
          </a:prstGeom>
          <a:solidFill>
            <a:schemeClr val="lt1"/>
          </a:solid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1" i="1" lang="en-US" sz="2000" u="none" cap="none" strike="noStrike">
                <a:solidFill>
                  <a:srgbClr val="FF0000"/>
                </a:solidFill>
                <a:latin typeface="Times New Roman"/>
                <a:ea typeface="Times New Roman"/>
                <a:cs typeface="Times New Roman"/>
                <a:sym typeface="Times New Roman"/>
              </a:rPr>
              <a:t>Affine</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4"/>
          <p:cNvSpPr txBox="1"/>
          <p:nvPr/>
        </p:nvSpPr>
        <p:spPr>
          <a:xfrm>
            <a:off x="3797300" y="4686300"/>
            <a:ext cx="2895600" cy="342900"/>
          </a:xfrm>
          <a:prstGeom prst="rect">
            <a:avLst/>
          </a:prstGeom>
          <a:noFill/>
          <a:ln>
            <a:noFill/>
          </a:ln>
        </p:spPr>
        <p:txBody>
          <a:bodyPr anchorCtr="0" anchor="ctr" bIns="46025" lIns="92075" spcFirstLastPara="1" rIns="92075" wrap="square" tIns="46025">
            <a:noAutofit/>
          </a:bodyPr>
          <a:lstStyle/>
          <a:p>
            <a:pPr indent="0" lvl="0" marL="0" marR="0" rtl="0" algn="ctr">
              <a:lnSpc>
                <a:spcPct val="100000"/>
              </a:lnSpc>
              <a:spcBef>
                <a:spcPts val="0"/>
              </a:spcBef>
              <a:spcAft>
                <a:spcPts val="0"/>
              </a:spcAft>
              <a:buClr>
                <a:schemeClr val="dk2"/>
              </a:buClr>
              <a:buSzPts val="1200"/>
              <a:buFont typeface="Times New Roman"/>
              <a:buNone/>
            </a:pPr>
            <a:r>
              <a:rPr b="0" i="0" lang="en-US" sz="1200" u="none" cap="none" strike="noStrike">
                <a:solidFill>
                  <a:schemeClr val="dk2"/>
                </a:solidFill>
                <a:latin typeface="Times New Roman"/>
                <a:ea typeface="Times New Roman"/>
                <a:cs typeface="Times New Roman"/>
                <a:sym typeface="Times New Roman"/>
              </a:rPr>
              <a:t>6.837 Fall 06 – Durand </a:t>
            </a:r>
            <a:endParaRPr b="0" i="0" sz="1400" u="none" cap="none" strike="noStrike">
              <a:solidFill>
                <a:srgbClr val="000000"/>
              </a:solidFill>
              <a:latin typeface="Arial"/>
              <a:ea typeface="Arial"/>
              <a:cs typeface="Arial"/>
              <a:sym typeface="Arial"/>
            </a:endParaRPr>
          </a:p>
        </p:txBody>
      </p:sp>
      <p:sp>
        <p:nvSpPr>
          <p:cNvPr id="268" name="Google Shape;268;p24"/>
          <p:cNvSpPr txBox="1"/>
          <p:nvPr/>
        </p:nvSpPr>
        <p:spPr>
          <a:xfrm>
            <a:off x="72390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200"/>
              <a:buFont typeface="Times New Roman"/>
              <a:buNone/>
            </a:pPr>
            <a:fld id="{00000000-1234-1234-1234-123412341234}" type="slidenum">
              <a:rPr b="0" i="0" lang="en-US" sz="12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9" name="Google Shape;269;p24"/>
          <p:cNvSpPr txBox="1"/>
          <p:nvPr/>
        </p:nvSpPr>
        <p:spPr>
          <a:xfrm>
            <a:off x="2590800" y="4572000"/>
            <a:ext cx="3581400" cy="5715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0" name="Google Shape;270;p24"/>
          <p:cNvSpPr txBox="1"/>
          <p:nvPr>
            <p:ph type="title"/>
          </p:nvPr>
        </p:nvSpPr>
        <p:spPr>
          <a:xfrm>
            <a:off x="990600" y="209550"/>
            <a:ext cx="6400800" cy="688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Projective Transformations</a:t>
            </a:r>
            <a:endParaRPr/>
          </a:p>
        </p:txBody>
      </p:sp>
      <p:sp>
        <p:nvSpPr>
          <p:cNvPr id="271" name="Google Shape;271;p24"/>
          <p:cNvSpPr txBox="1"/>
          <p:nvPr>
            <p:ph idx="1" type="body"/>
          </p:nvPr>
        </p:nvSpPr>
        <p:spPr>
          <a:xfrm>
            <a:off x="1524000" y="1089422"/>
            <a:ext cx="2667000" cy="396600"/>
          </a:xfrm>
          <a:prstGeom prst="rect">
            <a:avLst/>
          </a:prstGeom>
          <a:noFill/>
          <a:ln>
            <a:noFill/>
          </a:ln>
        </p:spPr>
        <p:txBody>
          <a:bodyPr anchorCtr="0" anchor="t" bIns="0" lIns="0" spcFirstLastPara="1" rIns="0" wrap="square" tIns="0">
            <a:noAutofit/>
          </a:bodyPr>
          <a:lstStyle/>
          <a:p>
            <a:pPr indent="-339725" lvl="0" marL="339725" rtl="0" algn="l">
              <a:lnSpc>
                <a:spcPct val="100000"/>
              </a:lnSpc>
              <a:spcBef>
                <a:spcPts val="0"/>
              </a:spcBef>
              <a:spcAft>
                <a:spcPts val="0"/>
              </a:spcAft>
              <a:buClr>
                <a:schemeClr val="dk2"/>
              </a:buClr>
              <a:buSzPts val="2280"/>
              <a:buFont typeface="Noto Sans Symbols"/>
              <a:buChar char="✶"/>
            </a:pPr>
            <a:r>
              <a:rPr b="0" i="0" lang="en-US" sz="2400" u="none">
                <a:solidFill>
                  <a:schemeClr val="dk1"/>
                </a:solidFill>
                <a:latin typeface="Times New Roman"/>
                <a:ea typeface="Times New Roman"/>
                <a:cs typeface="Times New Roman"/>
                <a:sym typeface="Times New Roman"/>
              </a:rPr>
              <a:t>preserves lines</a:t>
            </a:r>
            <a:endParaRPr/>
          </a:p>
        </p:txBody>
      </p:sp>
      <p:sp>
        <p:nvSpPr>
          <p:cNvPr id="272" name="Google Shape;272;p24"/>
          <p:cNvSpPr txBox="1"/>
          <p:nvPr/>
        </p:nvSpPr>
        <p:spPr>
          <a:xfrm>
            <a:off x="1543050" y="3543300"/>
            <a:ext cx="133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Translation</a:t>
            </a:r>
            <a:endParaRPr b="0" i="0" sz="1400" u="none" cap="none" strike="noStrike">
              <a:solidFill>
                <a:srgbClr val="000000"/>
              </a:solidFill>
              <a:latin typeface="Arial"/>
              <a:ea typeface="Arial"/>
              <a:cs typeface="Arial"/>
              <a:sym typeface="Arial"/>
            </a:endParaRPr>
          </a:p>
        </p:txBody>
      </p:sp>
      <p:sp>
        <p:nvSpPr>
          <p:cNvPr id="273" name="Google Shape;273;p24"/>
          <p:cNvSpPr txBox="1"/>
          <p:nvPr/>
        </p:nvSpPr>
        <p:spPr>
          <a:xfrm>
            <a:off x="3276600" y="3714750"/>
            <a:ext cx="106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Rotation</a:t>
            </a:r>
            <a:endParaRPr b="0" i="0" sz="1400" u="none" cap="none" strike="noStrike">
              <a:solidFill>
                <a:srgbClr val="000000"/>
              </a:solidFill>
              <a:latin typeface="Arial"/>
              <a:ea typeface="Arial"/>
              <a:cs typeface="Arial"/>
              <a:sym typeface="Arial"/>
            </a:endParaRPr>
          </a:p>
        </p:txBody>
      </p:sp>
      <p:sp>
        <p:nvSpPr>
          <p:cNvPr id="274" name="Google Shape;274;p24"/>
          <p:cNvSpPr txBox="1"/>
          <p:nvPr/>
        </p:nvSpPr>
        <p:spPr>
          <a:xfrm>
            <a:off x="1295400" y="2800350"/>
            <a:ext cx="28194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Rigid / Euclidean</a:t>
            </a:r>
            <a:endParaRPr b="0" i="0" sz="1400" u="none" cap="none" strike="noStrike">
              <a:solidFill>
                <a:srgbClr val="000000"/>
              </a:solidFill>
              <a:latin typeface="Arial"/>
              <a:ea typeface="Arial"/>
              <a:cs typeface="Arial"/>
              <a:sym typeface="Arial"/>
            </a:endParaRPr>
          </a:p>
        </p:txBody>
      </p:sp>
      <p:sp>
        <p:nvSpPr>
          <p:cNvPr id="275" name="Google Shape;275;p24"/>
          <p:cNvSpPr txBox="1"/>
          <p:nvPr/>
        </p:nvSpPr>
        <p:spPr>
          <a:xfrm>
            <a:off x="6010275" y="2571750"/>
            <a:ext cx="8937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Linear</a:t>
            </a:r>
            <a:endParaRPr b="0" i="0" sz="1400" u="none" cap="none" strike="noStrike">
              <a:solidFill>
                <a:srgbClr val="000000"/>
              </a:solidFill>
              <a:latin typeface="Arial"/>
              <a:ea typeface="Arial"/>
              <a:cs typeface="Arial"/>
              <a:sym typeface="Arial"/>
            </a:endParaRPr>
          </a:p>
        </p:txBody>
      </p:sp>
      <p:sp>
        <p:nvSpPr>
          <p:cNvPr id="276" name="Google Shape;276;p24"/>
          <p:cNvSpPr/>
          <p:nvPr/>
        </p:nvSpPr>
        <p:spPr>
          <a:xfrm>
            <a:off x="381000" y="2228850"/>
            <a:ext cx="8001000" cy="24576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7" name="Google Shape;277;p24"/>
          <p:cNvSpPr txBox="1"/>
          <p:nvPr/>
        </p:nvSpPr>
        <p:spPr>
          <a:xfrm>
            <a:off x="3951287" y="1885950"/>
            <a:ext cx="846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Affine</a:t>
            </a:r>
            <a:endParaRPr b="0" i="0" sz="1400" u="none" cap="none" strike="noStrike">
              <a:solidFill>
                <a:srgbClr val="000000"/>
              </a:solidFill>
              <a:latin typeface="Arial"/>
              <a:ea typeface="Arial"/>
              <a:cs typeface="Arial"/>
              <a:sym typeface="Arial"/>
            </a:endParaRPr>
          </a:p>
        </p:txBody>
      </p:sp>
      <p:sp>
        <p:nvSpPr>
          <p:cNvPr id="278" name="Google Shape;278;p24"/>
          <p:cNvSpPr/>
          <p:nvPr/>
        </p:nvSpPr>
        <p:spPr>
          <a:xfrm>
            <a:off x="609600" y="2628900"/>
            <a:ext cx="5867400" cy="17145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79" name="Google Shape;279;p24"/>
          <p:cNvSpPr txBox="1"/>
          <p:nvPr/>
        </p:nvSpPr>
        <p:spPr>
          <a:xfrm>
            <a:off x="3763962" y="1485900"/>
            <a:ext cx="12336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1" i="1" lang="en-US" sz="2000" u="none" cap="none" strike="noStrike">
                <a:solidFill>
                  <a:srgbClr val="FF0000"/>
                </a:solidFill>
                <a:latin typeface="Times New Roman"/>
                <a:ea typeface="Times New Roman"/>
                <a:cs typeface="Times New Roman"/>
                <a:sym typeface="Times New Roman"/>
              </a:rPr>
              <a:t>Projective</a:t>
            </a:r>
            <a:endParaRPr b="0" i="0" sz="1400" u="none" cap="none" strike="noStrike">
              <a:solidFill>
                <a:srgbClr val="000000"/>
              </a:solidFill>
              <a:latin typeface="Arial"/>
              <a:ea typeface="Arial"/>
              <a:cs typeface="Arial"/>
              <a:sym typeface="Arial"/>
            </a:endParaRPr>
          </a:p>
        </p:txBody>
      </p:sp>
      <p:sp>
        <p:nvSpPr>
          <p:cNvPr id="280" name="Google Shape;280;p24"/>
          <p:cNvSpPr txBox="1"/>
          <p:nvPr/>
        </p:nvSpPr>
        <p:spPr>
          <a:xfrm>
            <a:off x="2932112" y="2343150"/>
            <a:ext cx="1359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1" i="1" lang="en-US" sz="2000" u="none" cap="none" strike="noStrike">
                <a:solidFill>
                  <a:schemeClr val="dk1"/>
                </a:solidFill>
                <a:latin typeface="Times New Roman"/>
                <a:ea typeface="Times New Roman"/>
                <a:cs typeface="Times New Roman"/>
                <a:sym typeface="Times New Roman"/>
              </a:rPr>
              <a:t>Similitudes</a:t>
            </a:r>
            <a:endParaRPr b="0" i="0" sz="1400" u="none" cap="none" strike="noStrike">
              <a:solidFill>
                <a:srgbClr val="000000"/>
              </a:solidFill>
              <a:latin typeface="Arial"/>
              <a:ea typeface="Arial"/>
              <a:cs typeface="Arial"/>
              <a:sym typeface="Arial"/>
            </a:endParaRPr>
          </a:p>
        </p:txBody>
      </p:sp>
      <p:sp>
        <p:nvSpPr>
          <p:cNvPr id="281" name="Google Shape;281;p24"/>
          <p:cNvSpPr txBox="1"/>
          <p:nvPr/>
        </p:nvSpPr>
        <p:spPr>
          <a:xfrm>
            <a:off x="4478337" y="3543300"/>
            <a:ext cx="19242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Isotropic Scaling</a:t>
            </a:r>
            <a:endParaRPr b="0" i="0" sz="1400" u="none" cap="none" strike="noStrike">
              <a:solidFill>
                <a:srgbClr val="000000"/>
              </a:solidFill>
              <a:latin typeface="Arial"/>
              <a:ea typeface="Arial"/>
              <a:cs typeface="Arial"/>
              <a:sym typeface="Arial"/>
            </a:endParaRPr>
          </a:p>
        </p:txBody>
      </p:sp>
      <p:sp>
        <p:nvSpPr>
          <p:cNvPr id="282" name="Google Shape;282;p24"/>
          <p:cNvSpPr txBox="1"/>
          <p:nvPr/>
        </p:nvSpPr>
        <p:spPr>
          <a:xfrm>
            <a:off x="6705600" y="3200400"/>
            <a:ext cx="10668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Scaling</a:t>
            </a:r>
            <a:endParaRPr b="0" i="0" sz="1400" u="none" cap="none" strike="noStrike">
              <a:solidFill>
                <a:srgbClr val="000000"/>
              </a:solidFill>
              <a:latin typeface="Arial"/>
              <a:ea typeface="Arial"/>
              <a:cs typeface="Arial"/>
              <a:sym typeface="Arial"/>
            </a:endParaRPr>
          </a:p>
        </p:txBody>
      </p:sp>
      <p:sp>
        <p:nvSpPr>
          <p:cNvPr id="283" name="Google Shape;283;p24"/>
          <p:cNvSpPr txBox="1"/>
          <p:nvPr/>
        </p:nvSpPr>
        <p:spPr>
          <a:xfrm>
            <a:off x="6781800" y="3886200"/>
            <a:ext cx="9144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Shear</a:t>
            </a:r>
            <a:endParaRPr b="0" i="0" sz="1400" u="none" cap="none" strike="noStrike">
              <a:solidFill>
                <a:srgbClr val="000000"/>
              </a:solidFill>
              <a:latin typeface="Arial"/>
              <a:ea typeface="Arial"/>
              <a:cs typeface="Arial"/>
              <a:sym typeface="Arial"/>
            </a:endParaRPr>
          </a:p>
        </p:txBody>
      </p:sp>
      <p:sp>
        <p:nvSpPr>
          <p:cNvPr id="284" name="Google Shape;284;p24"/>
          <p:cNvSpPr txBox="1"/>
          <p:nvPr/>
        </p:nvSpPr>
        <p:spPr>
          <a:xfrm>
            <a:off x="6648450" y="3543300"/>
            <a:ext cx="12477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Reflection</a:t>
            </a:r>
            <a:endParaRPr b="0" i="0" sz="1400" u="none" cap="none" strike="noStrike">
              <a:solidFill>
                <a:srgbClr val="000000"/>
              </a:solidFill>
              <a:latin typeface="Arial"/>
              <a:ea typeface="Arial"/>
              <a:cs typeface="Arial"/>
              <a:sym typeface="Arial"/>
            </a:endParaRPr>
          </a:p>
        </p:txBody>
      </p:sp>
      <p:sp>
        <p:nvSpPr>
          <p:cNvPr id="285" name="Google Shape;285;p24"/>
          <p:cNvSpPr txBox="1"/>
          <p:nvPr/>
        </p:nvSpPr>
        <p:spPr>
          <a:xfrm>
            <a:off x="3822700" y="4686300"/>
            <a:ext cx="1362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rgbClr val="FF0000"/>
              </a:buClr>
              <a:buSzPts val="2000"/>
              <a:buFont typeface="Times New Roman"/>
              <a:buNone/>
            </a:pPr>
            <a:r>
              <a:rPr b="0" i="0" lang="en-US" sz="2000" u="none" cap="none" strike="noStrike">
                <a:solidFill>
                  <a:srgbClr val="FF0000"/>
                </a:solidFill>
                <a:latin typeface="Times New Roman"/>
                <a:ea typeface="Times New Roman"/>
                <a:cs typeface="Times New Roman"/>
                <a:sym typeface="Times New Roman"/>
              </a:rPr>
              <a:t>Perspective</a:t>
            </a:r>
            <a:endParaRPr b="0" i="0" sz="1400" u="none" cap="none" strike="noStrike">
              <a:solidFill>
                <a:srgbClr val="000000"/>
              </a:solidFill>
              <a:latin typeface="Arial"/>
              <a:ea typeface="Arial"/>
              <a:cs typeface="Arial"/>
              <a:sym typeface="Arial"/>
            </a:endParaRPr>
          </a:p>
        </p:txBody>
      </p:sp>
      <p:sp>
        <p:nvSpPr>
          <p:cNvPr id="286" name="Google Shape;286;p24"/>
          <p:cNvSpPr txBox="1"/>
          <p:nvPr/>
        </p:nvSpPr>
        <p:spPr>
          <a:xfrm>
            <a:off x="3352800" y="3371850"/>
            <a:ext cx="1143000" cy="4023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Identity</a:t>
            </a:r>
            <a:endParaRPr b="0" i="0" sz="1400" u="none" cap="none" strike="noStrike">
              <a:solidFill>
                <a:srgbClr val="000000"/>
              </a:solidFill>
              <a:latin typeface="Arial"/>
              <a:ea typeface="Arial"/>
              <a:cs typeface="Arial"/>
              <a:sym typeface="Arial"/>
            </a:endParaRPr>
          </a:p>
        </p:txBody>
      </p:sp>
      <p:sp>
        <p:nvSpPr>
          <p:cNvPr id="287" name="Google Shape;287;p24"/>
          <p:cNvSpPr/>
          <p:nvPr/>
        </p:nvSpPr>
        <p:spPr>
          <a:xfrm>
            <a:off x="3124200" y="2857500"/>
            <a:ext cx="4953000" cy="16002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8" name="Google Shape;288;p24"/>
          <p:cNvSpPr/>
          <p:nvPr/>
        </p:nvSpPr>
        <p:spPr>
          <a:xfrm>
            <a:off x="1066800" y="3086100"/>
            <a:ext cx="3429000" cy="1143000"/>
          </a:xfrm>
          <a:prstGeom prst="ellipse">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9" name="Google Shape;289;p24"/>
          <p:cNvSpPr/>
          <p:nvPr/>
        </p:nvSpPr>
        <p:spPr>
          <a:xfrm>
            <a:off x="288125" y="1915675"/>
            <a:ext cx="8607300" cy="3200400"/>
          </a:xfrm>
          <a:prstGeom prst="ellipse">
            <a:avLst/>
          </a:prstGeom>
          <a:noFill/>
          <a:ln cap="flat" cmpd="sng" w="762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pic>
        <p:nvPicPr>
          <p:cNvPr id="290" name="Google Shape;290;p24"/>
          <p:cNvPicPr preferRelativeResize="0"/>
          <p:nvPr/>
        </p:nvPicPr>
        <p:blipFill rotWithShape="1">
          <a:blip r:embed="rId3">
            <a:alphaModFix/>
          </a:blip>
          <a:srcRect b="54497" l="73500" r="1811" t="2166"/>
          <a:stretch/>
        </p:blipFill>
        <p:spPr>
          <a:xfrm>
            <a:off x="6742112" y="0"/>
            <a:ext cx="2401888" cy="2371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5"/>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7" name="Google Shape;297;p25"/>
          <p:cNvSpPr txBox="1"/>
          <p:nvPr>
            <p:ph type="title"/>
          </p:nvPr>
        </p:nvSpPr>
        <p:spPr>
          <a:xfrm>
            <a:off x="990600" y="323850"/>
            <a:ext cx="8766300" cy="688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How are Transforms Represented?</a:t>
            </a:r>
            <a:endParaRPr/>
          </a:p>
        </p:txBody>
      </p:sp>
      <p:sp>
        <p:nvSpPr>
          <p:cNvPr id="298" name="Google Shape;298;p25"/>
          <p:cNvSpPr txBox="1"/>
          <p:nvPr/>
        </p:nvSpPr>
        <p:spPr>
          <a:xfrm>
            <a:off x="2819400" y="1108472"/>
            <a:ext cx="27432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 = ax + by + 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 = dx + ey + f</a:t>
            </a:r>
            <a:endParaRPr b="0" i="0" sz="1400" u="none" cap="none" strike="noStrike">
              <a:solidFill>
                <a:srgbClr val="000000"/>
              </a:solidFill>
              <a:latin typeface="Arial"/>
              <a:ea typeface="Arial"/>
              <a:cs typeface="Arial"/>
              <a:sym typeface="Arial"/>
            </a:endParaRPr>
          </a:p>
        </p:txBody>
      </p:sp>
      <p:sp>
        <p:nvSpPr>
          <p:cNvPr id="299" name="Google Shape;299;p25"/>
          <p:cNvSpPr/>
          <p:nvPr/>
        </p:nvSpPr>
        <p:spPr>
          <a:xfrm>
            <a:off x="3657600" y="2422926"/>
            <a:ext cx="1295400" cy="1126200"/>
          </a:xfrm>
          <a:prstGeom prst="bracketPair">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0" name="Google Shape;300;p25"/>
          <p:cNvSpPr/>
          <p:nvPr/>
        </p:nvSpPr>
        <p:spPr>
          <a:xfrm>
            <a:off x="6324600" y="2422926"/>
            <a:ext cx="533400" cy="1074900"/>
          </a:xfrm>
          <a:prstGeom prst="bracketPair">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1" name="Google Shape;301;p25"/>
          <p:cNvSpPr/>
          <p:nvPr/>
        </p:nvSpPr>
        <p:spPr>
          <a:xfrm>
            <a:off x="2438400" y="2422926"/>
            <a:ext cx="609600" cy="1126200"/>
          </a:xfrm>
          <a:prstGeom prst="bracketPair">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2" name="Google Shape;302;p25"/>
          <p:cNvSpPr txBox="1"/>
          <p:nvPr/>
        </p:nvSpPr>
        <p:spPr>
          <a:xfrm>
            <a:off x="2590800" y="2480072"/>
            <a:ext cx="3810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sp>
        <p:nvSpPr>
          <p:cNvPr id="303" name="Google Shape;303;p25"/>
          <p:cNvSpPr txBox="1"/>
          <p:nvPr/>
        </p:nvSpPr>
        <p:spPr>
          <a:xfrm>
            <a:off x="3886200" y="2480072"/>
            <a:ext cx="8382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a    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d    e</a:t>
            </a:r>
            <a:endParaRPr b="0" i="0" sz="1400" u="none" cap="none" strike="noStrike">
              <a:solidFill>
                <a:srgbClr val="000000"/>
              </a:solidFill>
              <a:latin typeface="Arial"/>
              <a:ea typeface="Arial"/>
              <a:cs typeface="Arial"/>
              <a:sym typeface="Arial"/>
            </a:endParaRPr>
          </a:p>
        </p:txBody>
      </p:sp>
      <p:sp>
        <p:nvSpPr>
          <p:cNvPr id="304" name="Google Shape;304;p25"/>
          <p:cNvSpPr txBox="1"/>
          <p:nvPr/>
        </p:nvSpPr>
        <p:spPr>
          <a:xfrm>
            <a:off x="6477000" y="2474119"/>
            <a:ext cx="2286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305" name="Google Shape;305;p25"/>
          <p:cNvSpPr txBox="1"/>
          <p:nvPr/>
        </p:nvSpPr>
        <p:spPr>
          <a:xfrm>
            <a:off x="3200400" y="2708672"/>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06" name="Google Shape;306;p25"/>
          <p:cNvSpPr txBox="1"/>
          <p:nvPr/>
        </p:nvSpPr>
        <p:spPr>
          <a:xfrm>
            <a:off x="5334000" y="2474119"/>
            <a:ext cx="3810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sp>
        <p:nvSpPr>
          <p:cNvPr id="307" name="Google Shape;307;p25"/>
          <p:cNvSpPr/>
          <p:nvPr/>
        </p:nvSpPr>
        <p:spPr>
          <a:xfrm>
            <a:off x="5181600" y="2422926"/>
            <a:ext cx="533400" cy="1126200"/>
          </a:xfrm>
          <a:prstGeom prst="bracketPair">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8" name="Google Shape;308;p25"/>
          <p:cNvSpPr txBox="1"/>
          <p:nvPr/>
        </p:nvSpPr>
        <p:spPr>
          <a:xfrm>
            <a:off x="5867400" y="2686050"/>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09" name="Google Shape;309;p25"/>
          <p:cNvSpPr txBox="1"/>
          <p:nvPr/>
        </p:nvSpPr>
        <p:spPr>
          <a:xfrm>
            <a:off x="2522537" y="3794522"/>
            <a:ext cx="4206900" cy="710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4000"/>
              <a:buFont typeface="Times New Roman"/>
              <a:buNone/>
            </a:pPr>
            <a:r>
              <a:rPr b="0" i="1" lang="en-US" sz="4000" u="none" cap="none" strike="noStrike">
                <a:solidFill>
                  <a:schemeClr val="dk1"/>
                </a:solidFill>
                <a:latin typeface="Times New Roman"/>
                <a:ea typeface="Times New Roman"/>
                <a:cs typeface="Times New Roman"/>
                <a:sym typeface="Times New Roman"/>
              </a:rPr>
              <a:t>p'   =      </a:t>
            </a:r>
            <a:r>
              <a:rPr b="0" i="1" lang="en-US" sz="4000" u="none" cap="none" strike="noStrike">
                <a:solidFill>
                  <a:srgbClr val="FF0000"/>
                </a:solidFill>
                <a:latin typeface="Times New Roman"/>
                <a:ea typeface="Times New Roman"/>
                <a:cs typeface="Times New Roman"/>
                <a:sym typeface="Times New Roman"/>
              </a:rPr>
              <a:t>M</a:t>
            </a:r>
            <a:r>
              <a:rPr b="0" i="1" lang="en-US" sz="4000" u="none" cap="none" strike="noStrike">
                <a:solidFill>
                  <a:schemeClr val="dk1"/>
                </a:solidFill>
                <a:latin typeface="Times New Roman"/>
                <a:ea typeface="Times New Roman"/>
                <a:cs typeface="Times New Roman"/>
                <a:sym typeface="Times New Roman"/>
              </a:rPr>
              <a:t> p    +   </a:t>
            </a:r>
            <a:r>
              <a:rPr b="0" i="1" lang="en-US" sz="4000" u="none" cap="none" strike="noStrike">
                <a:solidFill>
                  <a:srgbClr val="FF0000"/>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6"/>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16" name="Google Shape;316;p26"/>
          <p:cNvSpPr txBox="1"/>
          <p:nvPr>
            <p:ph type="title"/>
          </p:nvPr>
        </p:nvSpPr>
        <p:spPr>
          <a:xfrm>
            <a:off x="866775" y="133350"/>
            <a:ext cx="8001000" cy="688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663300"/>
              </a:buClr>
              <a:buSzPts val="3600"/>
              <a:buFont typeface="Times New Roman"/>
              <a:buNone/>
            </a:pPr>
            <a:r>
              <a:rPr b="0" i="1" lang="en-US" sz="3600" u="none">
                <a:solidFill>
                  <a:srgbClr val="663300"/>
                </a:solidFill>
                <a:latin typeface="Times New Roman"/>
                <a:ea typeface="Times New Roman"/>
                <a:cs typeface="Times New Roman"/>
                <a:sym typeface="Times New Roman"/>
              </a:rPr>
              <a:t>Translation in homogeneous coordinates</a:t>
            </a:r>
            <a:endParaRPr/>
          </a:p>
        </p:txBody>
      </p:sp>
      <p:sp>
        <p:nvSpPr>
          <p:cNvPr id="317" name="Google Shape;317;p26"/>
          <p:cNvSpPr txBox="1"/>
          <p:nvPr/>
        </p:nvSpPr>
        <p:spPr>
          <a:xfrm>
            <a:off x="3200400" y="775097"/>
            <a:ext cx="2743200" cy="951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1" lang="en-US" sz="2800" u="none" cap="none" strike="noStrike">
                <a:solidFill>
                  <a:schemeClr val="dk1"/>
                </a:solidFill>
                <a:latin typeface="Times New Roman"/>
                <a:ea typeface="Times New Roman"/>
                <a:cs typeface="Times New Roman"/>
                <a:sym typeface="Times New Roman"/>
              </a:rPr>
              <a:t>x' = ax + by + 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800"/>
              <a:buFont typeface="Times New Roman"/>
              <a:buNone/>
            </a:pPr>
            <a:r>
              <a:rPr b="0" i="1" lang="en-US" sz="2800" u="none" cap="none" strike="noStrike">
                <a:solidFill>
                  <a:schemeClr val="dk1"/>
                </a:solidFill>
                <a:latin typeface="Times New Roman"/>
                <a:ea typeface="Times New Roman"/>
                <a:cs typeface="Times New Roman"/>
                <a:sym typeface="Times New Roman"/>
              </a:rPr>
              <a:t>y' = dx + ey + f</a:t>
            </a:r>
            <a:endParaRPr b="0" i="0" sz="1400" u="none" cap="none" strike="noStrike">
              <a:solidFill>
                <a:srgbClr val="000000"/>
              </a:solidFill>
              <a:latin typeface="Arial"/>
              <a:ea typeface="Arial"/>
              <a:cs typeface="Arial"/>
              <a:sym typeface="Arial"/>
            </a:endParaRPr>
          </a:p>
        </p:txBody>
      </p:sp>
      <p:sp>
        <p:nvSpPr>
          <p:cNvPr id="318" name="Google Shape;318;p26"/>
          <p:cNvSpPr/>
          <p:nvPr/>
        </p:nvSpPr>
        <p:spPr>
          <a:xfrm>
            <a:off x="6429375" y="2422926"/>
            <a:ext cx="1704900" cy="1657200"/>
          </a:xfrm>
          <a:prstGeom prst="bracketPair">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9" name="Google Shape;319;p26"/>
          <p:cNvSpPr/>
          <p:nvPr/>
        </p:nvSpPr>
        <p:spPr>
          <a:xfrm>
            <a:off x="5210175" y="2422926"/>
            <a:ext cx="609600" cy="1657200"/>
          </a:xfrm>
          <a:prstGeom prst="bracketPair">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0" name="Google Shape;320;p26"/>
          <p:cNvSpPr txBox="1"/>
          <p:nvPr/>
        </p:nvSpPr>
        <p:spPr>
          <a:xfrm>
            <a:off x="5362575" y="2480071"/>
            <a:ext cx="381000" cy="16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21" name="Google Shape;321;p26"/>
          <p:cNvSpPr txBox="1"/>
          <p:nvPr/>
        </p:nvSpPr>
        <p:spPr>
          <a:xfrm>
            <a:off x="6657975" y="2480071"/>
            <a:ext cx="838200" cy="16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a    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d    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0	 0</a:t>
            </a:r>
            <a:endParaRPr b="0" i="0" sz="1400" u="none" cap="none" strike="noStrike">
              <a:solidFill>
                <a:srgbClr val="000000"/>
              </a:solidFill>
              <a:latin typeface="Arial"/>
              <a:ea typeface="Arial"/>
              <a:cs typeface="Arial"/>
              <a:sym typeface="Arial"/>
            </a:endParaRPr>
          </a:p>
        </p:txBody>
      </p:sp>
      <p:sp>
        <p:nvSpPr>
          <p:cNvPr id="322" name="Google Shape;322;p26"/>
          <p:cNvSpPr txBox="1"/>
          <p:nvPr/>
        </p:nvSpPr>
        <p:spPr>
          <a:xfrm>
            <a:off x="7753350" y="2474119"/>
            <a:ext cx="228600" cy="16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23" name="Google Shape;323;p26"/>
          <p:cNvSpPr txBox="1"/>
          <p:nvPr/>
        </p:nvSpPr>
        <p:spPr>
          <a:xfrm>
            <a:off x="5972175" y="2708672"/>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24" name="Google Shape;324;p26"/>
          <p:cNvSpPr txBox="1"/>
          <p:nvPr/>
        </p:nvSpPr>
        <p:spPr>
          <a:xfrm>
            <a:off x="8458200" y="2474119"/>
            <a:ext cx="381000" cy="16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325" name="Google Shape;325;p26"/>
          <p:cNvSpPr/>
          <p:nvPr/>
        </p:nvSpPr>
        <p:spPr>
          <a:xfrm>
            <a:off x="8334375" y="2422926"/>
            <a:ext cx="533400" cy="1657200"/>
          </a:xfrm>
          <a:prstGeom prst="bracketPair">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6" name="Google Shape;326;p26"/>
          <p:cNvSpPr txBox="1"/>
          <p:nvPr/>
        </p:nvSpPr>
        <p:spPr>
          <a:xfrm>
            <a:off x="5294312" y="4094559"/>
            <a:ext cx="2833800" cy="710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4000"/>
              <a:buFont typeface="Times New Roman"/>
              <a:buNone/>
            </a:pPr>
            <a:r>
              <a:rPr b="0" i="1" lang="en-US" sz="4000" u="none" cap="none" strike="noStrike">
                <a:solidFill>
                  <a:schemeClr val="dk1"/>
                </a:solidFill>
                <a:latin typeface="Times New Roman"/>
                <a:ea typeface="Times New Roman"/>
                <a:cs typeface="Times New Roman"/>
                <a:sym typeface="Times New Roman"/>
              </a:rPr>
              <a:t>p' = </a:t>
            </a:r>
            <a:r>
              <a:rPr b="0" i="1" lang="en-US" sz="4000" u="none" cap="none" strike="noStrike">
                <a:solidFill>
                  <a:srgbClr val="FF0000"/>
                </a:solidFill>
                <a:latin typeface="Times New Roman"/>
                <a:ea typeface="Times New Roman"/>
                <a:cs typeface="Times New Roman"/>
                <a:sym typeface="Times New Roman"/>
              </a:rPr>
              <a:t>M</a:t>
            </a:r>
            <a:r>
              <a:rPr b="0" i="1" lang="en-US" sz="4000" u="none" cap="none" strike="noStrike">
                <a:solidFill>
                  <a:schemeClr val="dk1"/>
                </a:solidFill>
                <a:latin typeface="Times New Roman"/>
                <a:ea typeface="Times New Roman"/>
                <a:cs typeface="Times New Roman"/>
                <a:sym typeface="Times New Roman"/>
              </a:rPr>
              <a:t> p</a:t>
            </a:r>
            <a:endParaRPr b="0" i="0" sz="1400" u="none" cap="none" strike="noStrike">
              <a:solidFill>
                <a:srgbClr val="000000"/>
              </a:solidFill>
              <a:latin typeface="Arial"/>
              <a:ea typeface="Arial"/>
              <a:cs typeface="Arial"/>
              <a:sym typeface="Arial"/>
            </a:endParaRPr>
          </a:p>
        </p:txBody>
      </p:sp>
      <p:sp>
        <p:nvSpPr>
          <p:cNvPr id="327" name="Google Shape;327;p26"/>
          <p:cNvSpPr/>
          <p:nvPr/>
        </p:nvSpPr>
        <p:spPr>
          <a:xfrm>
            <a:off x="1219200" y="2687252"/>
            <a:ext cx="1295400" cy="1126200"/>
          </a:xfrm>
          <a:prstGeom prst="bracketPair">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8" name="Google Shape;328;p26"/>
          <p:cNvSpPr/>
          <p:nvPr/>
        </p:nvSpPr>
        <p:spPr>
          <a:xfrm>
            <a:off x="3886200" y="2687252"/>
            <a:ext cx="533400" cy="1126200"/>
          </a:xfrm>
          <a:prstGeom prst="bracketPair">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9" name="Google Shape;329;p26"/>
          <p:cNvSpPr/>
          <p:nvPr/>
        </p:nvSpPr>
        <p:spPr>
          <a:xfrm>
            <a:off x="0" y="2687240"/>
            <a:ext cx="609600" cy="914400"/>
          </a:xfrm>
          <a:prstGeom prst="bracketPair">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0" name="Google Shape;330;p26"/>
          <p:cNvSpPr txBox="1"/>
          <p:nvPr/>
        </p:nvSpPr>
        <p:spPr>
          <a:xfrm>
            <a:off x="152400" y="2744390"/>
            <a:ext cx="3810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sp>
        <p:nvSpPr>
          <p:cNvPr id="331" name="Google Shape;331;p26"/>
          <p:cNvSpPr txBox="1"/>
          <p:nvPr/>
        </p:nvSpPr>
        <p:spPr>
          <a:xfrm>
            <a:off x="1447800" y="2744390"/>
            <a:ext cx="8382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a    b</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d    e</a:t>
            </a:r>
            <a:endParaRPr b="0" i="0" sz="1400" u="none" cap="none" strike="noStrike">
              <a:solidFill>
                <a:srgbClr val="000000"/>
              </a:solidFill>
              <a:latin typeface="Arial"/>
              <a:ea typeface="Arial"/>
              <a:cs typeface="Arial"/>
              <a:sym typeface="Arial"/>
            </a:endParaRPr>
          </a:p>
        </p:txBody>
      </p:sp>
      <p:sp>
        <p:nvSpPr>
          <p:cNvPr id="332" name="Google Shape;332;p26"/>
          <p:cNvSpPr txBox="1"/>
          <p:nvPr/>
        </p:nvSpPr>
        <p:spPr>
          <a:xfrm>
            <a:off x="4038600" y="2738438"/>
            <a:ext cx="2286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c</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f</a:t>
            </a:r>
            <a:endParaRPr b="0" i="0" sz="1400" u="none" cap="none" strike="noStrike">
              <a:solidFill>
                <a:srgbClr val="000000"/>
              </a:solidFill>
              <a:latin typeface="Arial"/>
              <a:ea typeface="Arial"/>
              <a:cs typeface="Arial"/>
              <a:sym typeface="Arial"/>
            </a:endParaRPr>
          </a:p>
        </p:txBody>
      </p:sp>
      <p:sp>
        <p:nvSpPr>
          <p:cNvPr id="333" name="Google Shape;333;p26"/>
          <p:cNvSpPr txBox="1"/>
          <p:nvPr/>
        </p:nvSpPr>
        <p:spPr>
          <a:xfrm>
            <a:off x="762000" y="2972990"/>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34" name="Google Shape;334;p26"/>
          <p:cNvSpPr txBox="1"/>
          <p:nvPr/>
        </p:nvSpPr>
        <p:spPr>
          <a:xfrm>
            <a:off x="2895600" y="2738438"/>
            <a:ext cx="381000" cy="107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sp>
        <p:nvSpPr>
          <p:cNvPr id="335" name="Google Shape;335;p26"/>
          <p:cNvSpPr/>
          <p:nvPr/>
        </p:nvSpPr>
        <p:spPr>
          <a:xfrm>
            <a:off x="2743200" y="2687252"/>
            <a:ext cx="533400" cy="1126200"/>
          </a:xfrm>
          <a:prstGeom prst="bracketPair">
            <a:avLst/>
          </a:prstGeom>
          <a:no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6" name="Google Shape;336;p26"/>
          <p:cNvSpPr txBox="1"/>
          <p:nvPr/>
        </p:nvSpPr>
        <p:spPr>
          <a:xfrm>
            <a:off x="3429000" y="2950369"/>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37" name="Google Shape;337;p26"/>
          <p:cNvSpPr txBox="1"/>
          <p:nvPr/>
        </p:nvSpPr>
        <p:spPr>
          <a:xfrm>
            <a:off x="84137" y="4058840"/>
            <a:ext cx="4206900" cy="710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4000"/>
              <a:buFont typeface="Times New Roman"/>
              <a:buNone/>
            </a:pPr>
            <a:r>
              <a:rPr b="0" i="1" lang="en-US" sz="4000" u="none" cap="none" strike="noStrike">
                <a:solidFill>
                  <a:schemeClr val="dk1"/>
                </a:solidFill>
                <a:latin typeface="Times New Roman"/>
                <a:ea typeface="Times New Roman"/>
                <a:cs typeface="Times New Roman"/>
                <a:sym typeface="Times New Roman"/>
              </a:rPr>
              <a:t>p' = </a:t>
            </a:r>
            <a:r>
              <a:rPr b="0" i="1" lang="en-US" sz="4000" u="none" cap="none" strike="noStrike">
                <a:solidFill>
                  <a:srgbClr val="FF0000"/>
                </a:solidFill>
                <a:latin typeface="Times New Roman"/>
                <a:ea typeface="Times New Roman"/>
                <a:cs typeface="Times New Roman"/>
                <a:sym typeface="Times New Roman"/>
              </a:rPr>
              <a:t>M</a:t>
            </a:r>
            <a:r>
              <a:rPr b="0" i="1" lang="en-US" sz="4000" u="none" cap="none" strike="noStrike">
                <a:solidFill>
                  <a:schemeClr val="dk1"/>
                </a:solidFill>
                <a:latin typeface="Times New Roman"/>
                <a:ea typeface="Times New Roman"/>
                <a:cs typeface="Times New Roman"/>
                <a:sym typeface="Times New Roman"/>
              </a:rPr>
              <a:t> p + </a:t>
            </a:r>
            <a:r>
              <a:rPr b="0" i="1" lang="en-US" sz="4000" u="none" cap="none" strike="noStrike">
                <a:solidFill>
                  <a:srgbClr val="FF0000"/>
                </a:solidFill>
                <a:latin typeface="Times New Roman"/>
                <a:ea typeface="Times New Roman"/>
                <a:cs typeface="Times New Roman"/>
                <a:sym typeface="Times New Roman"/>
              </a:rPr>
              <a:t>t</a:t>
            </a:r>
            <a:endParaRPr b="0" i="0" sz="1400" u="none" cap="none" strike="noStrike">
              <a:solidFill>
                <a:srgbClr val="000000"/>
              </a:solidFill>
              <a:latin typeface="Arial"/>
              <a:ea typeface="Arial"/>
              <a:cs typeface="Arial"/>
              <a:sym typeface="Arial"/>
            </a:endParaRPr>
          </a:p>
        </p:txBody>
      </p:sp>
      <p:cxnSp>
        <p:nvCxnSpPr>
          <p:cNvPr id="338" name="Google Shape;338;p26"/>
          <p:cNvCxnSpPr/>
          <p:nvPr/>
        </p:nvCxnSpPr>
        <p:spPr>
          <a:xfrm>
            <a:off x="4800600" y="2193131"/>
            <a:ext cx="0" cy="2407500"/>
          </a:xfrm>
          <a:prstGeom prst="straightConnector1">
            <a:avLst/>
          </a:prstGeom>
          <a:noFill/>
          <a:ln cap="flat" cmpd="sng" w="76200">
            <a:solidFill>
              <a:schemeClr val="dk1"/>
            </a:solidFill>
            <a:prstDash val="solid"/>
            <a:miter lim="800000"/>
            <a:headEnd len="sm" w="sm" type="none"/>
            <a:tailEnd len="sm" w="sm" type="none"/>
          </a:ln>
        </p:spPr>
      </p:cxnSp>
      <p:sp>
        <p:nvSpPr>
          <p:cNvPr id="339" name="Google Shape;339;p26"/>
          <p:cNvSpPr txBox="1"/>
          <p:nvPr/>
        </p:nvSpPr>
        <p:spPr>
          <a:xfrm>
            <a:off x="641350" y="2071688"/>
            <a:ext cx="2873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Cartesian formulation</a:t>
            </a:r>
            <a:endParaRPr b="0" i="0" sz="1400" u="none" cap="none" strike="noStrike">
              <a:solidFill>
                <a:srgbClr val="000000"/>
              </a:solidFill>
              <a:latin typeface="Arial"/>
              <a:ea typeface="Arial"/>
              <a:cs typeface="Arial"/>
              <a:sym typeface="Arial"/>
            </a:endParaRPr>
          </a:p>
        </p:txBody>
      </p:sp>
      <p:sp>
        <p:nvSpPr>
          <p:cNvPr id="340" name="Google Shape;340;p26"/>
          <p:cNvSpPr txBox="1"/>
          <p:nvPr/>
        </p:nvSpPr>
        <p:spPr>
          <a:xfrm>
            <a:off x="5146675" y="1919300"/>
            <a:ext cx="36924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Homogeneous formulation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7"/>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47" name="Google Shape;347;p27"/>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Homogeneous Coordinates</a:t>
            </a:r>
            <a:endParaRPr/>
          </a:p>
        </p:txBody>
      </p:sp>
      <p:sp>
        <p:nvSpPr>
          <p:cNvPr id="348" name="Google Shape;348;p27"/>
          <p:cNvSpPr txBox="1"/>
          <p:nvPr>
            <p:ph idx="1" type="body"/>
          </p:nvPr>
        </p:nvSpPr>
        <p:spPr>
          <a:xfrm>
            <a:off x="628650" y="1369219"/>
            <a:ext cx="7886700" cy="3263400"/>
          </a:xfrm>
          <a:prstGeom prst="rect">
            <a:avLst/>
          </a:prstGeom>
          <a:noFill/>
          <a:ln>
            <a:noFill/>
          </a:ln>
        </p:spPr>
        <p:txBody>
          <a:bodyPr anchorCtr="0" anchor="t" bIns="46025" lIns="92075" spcFirstLastPara="1" rIns="92075" wrap="square" tIns="46025">
            <a:noAutofit/>
          </a:bodyPr>
          <a:lstStyle/>
          <a:p>
            <a:pPr indent="-311150" lvl="0" marL="342900" rtl="0" algn="l">
              <a:lnSpc>
                <a:spcPct val="90000"/>
              </a:lnSpc>
              <a:spcBef>
                <a:spcPts val="0"/>
              </a:spcBef>
              <a:spcAft>
                <a:spcPts val="0"/>
              </a:spcAft>
              <a:buClr>
                <a:schemeClr val="dk2"/>
              </a:buClr>
              <a:buSzPts val="2160"/>
              <a:buFont typeface="Noto Sans Symbols"/>
              <a:buChar char="✶"/>
            </a:pPr>
            <a:r>
              <a:rPr b="0" i="0" lang="en-US" sz="2300" u="none">
                <a:solidFill>
                  <a:schemeClr val="dk1"/>
                </a:solidFill>
                <a:latin typeface="Times New Roman"/>
                <a:ea typeface="Times New Roman"/>
                <a:cs typeface="Times New Roman"/>
                <a:sym typeface="Times New Roman"/>
              </a:rPr>
              <a:t>Translation, scaling and rotation are expressed (non-homogeneously) as:</a:t>
            </a:r>
            <a:endParaRPr sz="1600"/>
          </a:p>
          <a:p>
            <a:pPr indent="-254000" lvl="1" marL="742950" rtl="0" algn="l">
              <a:lnSpc>
                <a:spcPct val="90000"/>
              </a:lnSpc>
              <a:spcBef>
                <a:spcPts val="480"/>
              </a:spcBef>
              <a:spcAft>
                <a:spcPts val="0"/>
              </a:spcAft>
              <a:buClr>
                <a:schemeClr val="dk1"/>
              </a:buClr>
              <a:buSzPts val="1900"/>
              <a:buFont typeface="Times New Roman"/>
              <a:buChar char="–"/>
            </a:pPr>
            <a:r>
              <a:rPr b="0" i="0" lang="en-US" sz="1900" u="none">
                <a:solidFill>
                  <a:schemeClr val="dk1"/>
                </a:solidFill>
                <a:latin typeface="Times New Roman"/>
                <a:ea typeface="Times New Roman"/>
                <a:cs typeface="Times New Roman"/>
                <a:sym typeface="Times New Roman"/>
              </a:rPr>
              <a:t>translation: P′ = P + T</a:t>
            </a:r>
            <a:endParaRPr sz="1300"/>
          </a:p>
          <a:p>
            <a:pPr indent="-254000" lvl="1" marL="742950" rtl="0" algn="l">
              <a:lnSpc>
                <a:spcPct val="90000"/>
              </a:lnSpc>
              <a:spcBef>
                <a:spcPts val="480"/>
              </a:spcBef>
              <a:spcAft>
                <a:spcPts val="0"/>
              </a:spcAft>
              <a:buClr>
                <a:schemeClr val="dk1"/>
              </a:buClr>
              <a:buSzPts val="1900"/>
              <a:buFont typeface="Times New Roman"/>
              <a:buChar char="–"/>
            </a:pPr>
            <a:r>
              <a:rPr b="0" i="0" lang="en-US" sz="1900" u="none">
                <a:solidFill>
                  <a:schemeClr val="dk1"/>
                </a:solidFill>
                <a:latin typeface="Times New Roman"/>
                <a:ea typeface="Times New Roman"/>
                <a:cs typeface="Times New Roman"/>
                <a:sym typeface="Times New Roman"/>
              </a:rPr>
              <a:t>Scale: P′ = S · P</a:t>
            </a:r>
            <a:endParaRPr sz="1300"/>
          </a:p>
          <a:p>
            <a:pPr indent="-254000" lvl="1" marL="742950" rtl="0" algn="l">
              <a:lnSpc>
                <a:spcPct val="90000"/>
              </a:lnSpc>
              <a:spcBef>
                <a:spcPts val="480"/>
              </a:spcBef>
              <a:spcAft>
                <a:spcPts val="0"/>
              </a:spcAft>
              <a:buClr>
                <a:schemeClr val="dk1"/>
              </a:buClr>
              <a:buSzPts val="1900"/>
              <a:buFont typeface="Times New Roman"/>
              <a:buChar char="–"/>
            </a:pPr>
            <a:r>
              <a:rPr b="0" i="0" lang="en-US" sz="1900" u="none">
                <a:solidFill>
                  <a:schemeClr val="dk1"/>
                </a:solidFill>
                <a:latin typeface="Times New Roman"/>
                <a:ea typeface="Times New Roman"/>
                <a:cs typeface="Times New Roman"/>
                <a:sym typeface="Times New Roman"/>
              </a:rPr>
              <a:t>Rotate: P′ = R · P</a:t>
            </a:r>
            <a:endParaRPr sz="1300"/>
          </a:p>
          <a:p>
            <a:pPr indent="-311150" lvl="0" marL="342900" rtl="0" algn="l">
              <a:lnSpc>
                <a:spcPct val="90000"/>
              </a:lnSpc>
              <a:spcBef>
                <a:spcPts val="560"/>
              </a:spcBef>
              <a:spcAft>
                <a:spcPts val="0"/>
              </a:spcAft>
              <a:buClr>
                <a:schemeClr val="dk2"/>
              </a:buClr>
              <a:buSzPts val="2160"/>
              <a:buFont typeface="Noto Sans Symbols"/>
              <a:buChar char="✶"/>
            </a:pPr>
            <a:r>
              <a:rPr b="0" i="0" lang="en-US" sz="2300" u="none">
                <a:solidFill>
                  <a:schemeClr val="dk1"/>
                </a:solidFill>
                <a:latin typeface="Times New Roman"/>
                <a:ea typeface="Times New Roman"/>
                <a:cs typeface="Times New Roman"/>
                <a:sym typeface="Times New Roman"/>
              </a:rPr>
              <a:t>Composition is difficult to express, since translation not expressed as a matrix multiplication</a:t>
            </a:r>
            <a:endParaRPr sz="1600"/>
          </a:p>
          <a:p>
            <a:pPr indent="-311150" lvl="0" marL="342900" rtl="0" algn="l">
              <a:lnSpc>
                <a:spcPct val="90000"/>
              </a:lnSpc>
              <a:spcBef>
                <a:spcPts val="560"/>
              </a:spcBef>
              <a:spcAft>
                <a:spcPts val="0"/>
              </a:spcAft>
              <a:buClr>
                <a:schemeClr val="dk2"/>
              </a:buClr>
              <a:buSzPts val="2160"/>
              <a:buFont typeface="Noto Sans Symbols"/>
              <a:buChar char="✶"/>
            </a:pPr>
            <a:r>
              <a:rPr b="0" i="0" lang="en-US" sz="2300" u="none">
                <a:solidFill>
                  <a:schemeClr val="dk1"/>
                </a:solidFill>
                <a:latin typeface="Times New Roman"/>
                <a:ea typeface="Times New Roman"/>
                <a:cs typeface="Times New Roman"/>
                <a:sym typeface="Times New Roman"/>
              </a:rPr>
              <a:t>Homogeneous coordinates allow all three to be expressed homogeneously, using multiplication by 3 </a:t>
            </a:r>
            <a:r>
              <a:rPr b="0" i="0" lang="en-US" sz="2300" u="none">
                <a:solidFill>
                  <a:schemeClr val="dk1"/>
                </a:solidFill>
                <a:latin typeface="Noto Sans Symbols"/>
                <a:ea typeface="Noto Sans Symbols"/>
                <a:cs typeface="Noto Sans Symbols"/>
                <a:sym typeface="Noto Sans Symbols"/>
              </a:rPr>
              <a:t>× 3</a:t>
            </a:r>
            <a:r>
              <a:rPr b="0" i="0" lang="en-US" sz="2300" u="none">
                <a:solidFill>
                  <a:schemeClr val="dk1"/>
                </a:solidFill>
                <a:latin typeface="Times New Roman"/>
                <a:ea typeface="Times New Roman"/>
                <a:cs typeface="Times New Roman"/>
                <a:sym typeface="Times New Roman"/>
              </a:rPr>
              <a:t> matrices</a:t>
            </a:r>
            <a:endParaRPr sz="1600"/>
          </a:p>
          <a:p>
            <a:pPr indent="-311150" lvl="0" marL="342900" rtl="0" algn="l">
              <a:lnSpc>
                <a:spcPct val="90000"/>
              </a:lnSpc>
              <a:spcBef>
                <a:spcPts val="560"/>
              </a:spcBef>
              <a:spcAft>
                <a:spcPts val="0"/>
              </a:spcAft>
              <a:buClr>
                <a:schemeClr val="dk2"/>
              </a:buClr>
              <a:buSzPts val="2160"/>
              <a:buFont typeface="Noto Sans Symbols"/>
              <a:buChar char="✶"/>
            </a:pPr>
            <a:r>
              <a:rPr b="0" i="0" lang="en-US" sz="2300" u="none">
                <a:solidFill>
                  <a:schemeClr val="dk1"/>
                </a:solidFill>
                <a:latin typeface="Times New Roman"/>
                <a:ea typeface="Times New Roman"/>
                <a:cs typeface="Times New Roman"/>
                <a:sym typeface="Times New Roman"/>
              </a:rPr>
              <a:t>W is 1 for affine transformations in graphics</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8"/>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55" name="Google Shape;355;p28"/>
          <p:cNvSpPr txBox="1"/>
          <p:nvPr>
            <p:ph type="title"/>
          </p:nvPr>
        </p:nvSpPr>
        <p:spPr>
          <a:xfrm>
            <a:off x="1600200" y="114300"/>
            <a:ext cx="7315200" cy="688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Homogeneous Coordinates</a:t>
            </a:r>
            <a:endParaRPr/>
          </a:p>
        </p:txBody>
      </p:sp>
      <p:sp>
        <p:nvSpPr>
          <p:cNvPr id="356" name="Google Shape;356;p28"/>
          <p:cNvSpPr txBox="1"/>
          <p:nvPr>
            <p:ph idx="1" type="body"/>
          </p:nvPr>
        </p:nvSpPr>
        <p:spPr>
          <a:xfrm>
            <a:off x="1295400" y="1028700"/>
            <a:ext cx="5791200" cy="3888600"/>
          </a:xfrm>
          <a:prstGeom prst="rect">
            <a:avLst/>
          </a:prstGeom>
          <a:noFill/>
          <a:ln>
            <a:noFill/>
          </a:ln>
        </p:spPr>
        <p:txBody>
          <a:bodyPr anchorCtr="0" anchor="t" bIns="0" lIns="0" spcFirstLastPara="1" rIns="0" wrap="square" tIns="0">
            <a:noAutofit/>
          </a:bodyPr>
          <a:lstStyle/>
          <a:p>
            <a:pPr indent="-257175" lvl="0" marL="339725" rtl="0" algn="l">
              <a:lnSpc>
                <a:spcPct val="100000"/>
              </a:lnSpc>
              <a:spcBef>
                <a:spcPts val="0"/>
              </a:spcBef>
              <a:spcAft>
                <a:spcPts val="0"/>
              </a:spcAft>
              <a:buClr>
                <a:schemeClr val="dk2"/>
              </a:buClr>
              <a:buSzPts val="1740"/>
              <a:buFont typeface="Noto Sans Symbols"/>
              <a:buChar char="✶"/>
            </a:pPr>
            <a:r>
              <a:rPr b="0" i="0" lang="en-US" sz="1900" u="none">
                <a:solidFill>
                  <a:schemeClr val="dk1"/>
                </a:solidFill>
                <a:latin typeface="Times New Roman"/>
                <a:ea typeface="Times New Roman"/>
                <a:cs typeface="Times New Roman"/>
                <a:sym typeface="Times New Roman"/>
              </a:rPr>
              <a:t>Add an extra dimension</a:t>
            </a:r>
            <a:endParaRPr sz="800"/>
          </a:p>
          <a:p>
            <a:pPr indent="-184150" lvl="2" marL="1143000" rtl="0" algn="l">
              <a:lnSpc>
                <a:spcPct val="100000"/>
              </a:lnSpc>
              <a:spcBef>
                <a:spcPts val="480"/>
              </a:spcBef>
              <a:spcAft>
                <a:spcPts val="0"/>
              </a:spcAft>
              <a:buClr>
                <a:schemeClr val="dk1"/>
              </a:buClr>
              <a:buSzPts val="1700"/>
              <a:buFont typeface="Times New Roman"/>
              <a:buChar char="•"/>
            </a:pPr>
            <a:r>
              <a:rPr b="0" i="0" lang="en-US" sz="1700" u="none">
                <a:solidFill>
                  <a:schemeClr val="dk1"/>
                </a:solidFill>
                <a:latin typeface="Times New Roman"/>
                <a:ea typeface="Times New Roman"/>
                <a:cs typeface="Times New Roman"/>
                <a:sym typeface="Times New Roman"/>
              </a:rPr>
              <a:t>in 2D, we use 3 x 3 matrices</a:t>
            </a:r>
            <a:endParaRPr sz="800"/>
          </a:p>
          <a:p>
            <a:pPr indent="-184150" lvl="2" marL="1143000" rtl="0" algn="l">
              <a:lnSpc>
                <a:spcPct val="100000"/>
              </a:lnSpc>
              <a:spcBef>
                <a:spcPts val="480"/>
              </a:spcBef>
              <a:spcAft>
                <a:spcPts val="0"/>
              </a:spcAft>
              <a:buClr>
                <a:schemeClr val="dk1"/>
              </a:buClr>
              <a:buSzPts val="1700"/>
              <a:buFont typeface="Times New Roman"/>
              <a:buChar char="•"/>
            </a:pPr>
            <a:r>
              <a:rPr b="0" i="0" lang="en-US" sz="1700" u="none">
                <a:solidFill>
                  <a:schemeClr val="dk1"/>
                </a:solidFill>
                <a:latin typeface="Times New Roman"/>
                <a:ea typeface="Times New Roman"/>
                <a:cs typeface="Times New Roman"/>
                <a:sym typeface="Times New Roman"/>
              </a:rPr>
              <a:t>In 3D, we use 4 x 4 matrices</a:t>
            </a:r>
            <a:endParaRPr sz="800"/>
          </a:p>
          <a:p>
            <a:pPr indent="-257175" lvl="0" marL="339725" rtl="0" algn="l">
              <a:lnSpc>
                <a:spcPct val="100000"/>
              </a:lnSpc>
              <a:spcBef>
                <a:spcPts val="640"/>
              </a:spcBef>
              <a:spcAft>
                <a:spcPts val="0"/>
              </a:spcAft>
              <a:buClr>
                <a:schemeClr val="dk2"/>
              </a:buClr>
              <a:buSzPts val="1740"/>
              <a:buFont typeface="Noto Sans Symbols"/>
              <a:buChar char="✶"/>
            </a:pPr>
            <a:r>
              <a:rPr b="0" i="0" lang="en-US" sz="1900" u="none">
                <a:solidFill>
                  <a:schemeClr val="dk1"/>
                </a:solidFill>
                <a:latin typeface="Times New Roman"/>
                <a:ea typeface="Times New Roman"/>
                <a:cs typeface="Times New Roman"/>
                <a:sym typeface="Times New Roman"/>
              </a:rPr>
              <a:t>Each point has an extra value, </a:t>
            </a:r>
            <a:r>
              <a:rPr b="0" i="1" lang="en-US" sz="1900" u="none">
                <a:solidFill>
                  <a:schemeClr val="dk1"/>
                </a:solidFill>
                <a:latin typeface="Times New Roman"/>
                <a:ea typeface="Times New Roman"/>
                <a:cs typeface="Times New Roman"/>
                <a:sym typeface="Times New Roman"/>
              </a:rPr>
              <a:t>w</a:t>
            </a:r>
            <a:endParaRPr sz="800"/>
          </a:p>
        </p:txBody>
      </p:sp>
      <p:sp>
        <p:nvSpPr>
          <p:cNvPr id="357" name="Google Shape;357;p28"/>
          <p:cNvSpPr/>
          <p:nvPr/>
        </p:nvSpPr>
        <p:spPr>
          <a:xfrm>
            <a:off x="3048000" y="2483644"/>
            <a:ext cx="2514600" cy="18144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8" name="Google Shape;358;p28"/>
          <p:cNvSpPr/>
          <p:nvPr/>
        </p:nvSpPr>
        <p:spPr>
          <a:xfrm>
            <a:off x="1828800" y="2407444"/>
            <a:ext cx="685800" cy="18144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9" name="Google Shape;359;p28"/>
          <p:cNvSpPr txBox="1"/>
          <p:nvPr/>
        </p:nvSpPr>
        <p:spPr>
          <a:xfrm>
            <a:off x="1905000" y="2457450"/>
            <a:ext cx="5334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x'</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y'</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z'</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w'</a:t>
            </a:r>
            <a:endParaRPr b="0" i="0" sz="600" u="none" cap="none" strike="noStrike">
              <a:solidFill>
                <a:srgbClr val="000000"/>
              </a:solidFill>
              <a:latin typeface="Arial"/>
              <a:ea typeface="Arial"/>
              <a:cs typeface="Arial"/>
              <a:sym typeface="Arial"/>
            </a:endParaRPr>
          </a:p>
        </p:txBody>
      </p:sp>
      <p:sp>
        <p:nvSpPr>
          <p:cNvPr id="360" name="Google Shape;360;p28"/>
          <p:cNvSpPr txBox="1"/>
          <p:nvPr/>
        </p:nvSpPr>
        <p:spPr>
          <a:xfrm>
            <a:off x="2743200" y="3078956"/>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61" name="Google Shape;361;p28"/>
          <p:cNvSpPr txBox="1"/>
          <p:nvPr/>
        </p:nvSpPr>
        <p:spPr>
          <a:xfrm>
            <a:off x="6019800" y="2451496"/>
            <a:ext cx="5334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x</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y</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z</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w</a:t>
            </a:r>
            <a:endParaRPr b="0" i="0" sz="600" u="none" cap="none" strike="noStrike">
              <a:solidFill>
                <a:srgbClr val="000000"/>
              </a:solidFill>
              <a:latin typeface="Arial"/>
              <a:ea typeface="Arial"/>
              <a:cs typeface="Arial"/>
              <a:sym typeface="Arial"/>
            </a:endParaRPr>
          </a:p>
        </p:txBody>
      </p:sp>
      <p:sp>
        <p:nvSpPr>
          <p:cNvPr id="362" name="Google Shape;362;p28"/>
          <p:cNvSpPr/>
          <p:nvPr/>
        </p:nvSpPr>
        <p:spPr>
          <a:xfrm>
            <a:off x="6019800" y="2407444"/>
            <a:ext cx="533400" cy="18144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363" name="Google Shape;363;p28"/>
          <p:cNvSpPr txBox="1"/>
          <p:nvPr/>
        </p:nvSpPr>
        <p:spPr>
          <a:xfrm>
            <a:off x="3276600" y="2450300"/>
            <a:ext cx="4479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a</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e</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i</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m</a:t>
            </a:r>
            <a:endParaRPr b="0" i="0" sz="600" u="none" cap="none" strike="noStrike">
              <a:solidFill>
                <a:srgbClr val="000000"/>
              </a:solidFill>
              <a:latin typeface="Arial"/>
              <a:ea typeface="Arial"/>
              <a:cs typeface="Arial"/>
              <a:sym typeface="Arial"/>
            </a:endParaRPr>
          </a:p>
        </p:txBody>
      </p:sp>
      <p:sp>
        <p:nvSpPr>
          <p:cNvPr id="364" name="Google Shape;364;p28"/>
          <p:cNvSpPr txBox="1"/>
          <p:nvPr/>
        </p:nvSpPr>
        <p:spPr>
          <a:xfrm>
            <a:off x="3788341" y="2450300"/>
            <a:ext cx="4479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b</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f</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j</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n</a:t>
            </a:r>
            <a:endParaRPr b="0" i="0" sz="600" u="none" cap="none" strike="noStrike">
              <a:solidFill>
                <a:srgbClr val="000000"/>
              </a:solidFill>
              <a:latin typeface="Arial"/>
              <a:ea typeface="Arial"/>
              <a:cs typeface="Arial"/>
              <a:sym typeface="Arial"/>
            </a:endParaRPr>
          </a:p>
        </p:txBody>
      </p:sp>
      <p:sp>
        <p:nvSpPr>
          <p:cNvPr id="365" name="Google Shape;365;p28"/>
          <p:cNvSpPr txBox="1"/>
          <p:nvPr/>
        </p:nvSpPr>
        <p:spPr>
          <a:xfrm>
            <a:off x="4300082" y="2450300"/>
            <a:ext cx="4479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c</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g</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k</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o</a:t>
            </a:r>
            <a:endParaRPr b="0" i="0" sz="600" u="none" cap="none" strike="noStrike">
              <a:solidFill>
                <a:srgbClr val="000000"/>
              </a:solidFill>
              <a:latin typeface="Arial"/>
              <a:ea typeface="Arial"/>
              <a:cs typeface="Arial"/>
              <a:sym typeface="Arial"/>
            </a:endParaRPr>
          </a:p>
        </p:txBody>
      </p:sp>
      <p:sp>
        <p:nvSpPr>
          <p:cNvPr id="366" name="Google Shape;366;p28"/>
          <p:cNvSpPr txBox="1"/>
          <p:nvPr/>
        </p:nvSpPr>
        <p:spPr>
          <a:xfrm>
            <a:off x="4811824" y="2450300"/>
            <a:ext cx="4479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d</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h</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l</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p</a:t>
            </a:r>
            <a:endParaRPr b="0" i="0" sz="600" u="none" cap="none" strike="noStrike">
              <a:solidFill>
                <a:srgbClr val="000000"/>
              </a:solidFill>
              <a:latin typeface="Arial"/>
              <a:ea typeface="Arial"/>
              <a:cs typeface="Arial"/>
              <a:sym typeface="Arial"/>
            </a:endParaRPr>
          </a:p>
        </p:txBody>
      </p:sp>
      <p:sp>
        <p:nvSpPr>
          <p:cNvPr id="367" name="Google Shape;367;p28"/>
          <p:cNvSpPr txBox="1"/>
          <p:nvPr/>
        </p:nvSpPr>
        <p:spPr>
          <a:xfrm>
            <a:off x="1992312" y="4300538"/>
            <a:ext cx="4476900" cy="587100"/>
          </a:xfrm>
          <a:prstGeom prst="rect">
            <a:avLst/>
          </a:prstGeom>
          <a:noFill/>
          <a:ln>
            <a:noFill/>
          </a:ln>
        </p:spPr>
        <p:txBody>
          <a:bodyPr anchorCtr="0" anchor="t" bIns="46800" lIns="90000" spcFirstLastPara="1" rIns="90000" wrap="square" tIns="46800">
            <a:spAutoFit/>
          </a:bodyPr>
          <a:lstStyle/>
          <a:p>
            <a:pPr indent="0" lvl="0" marL="0" marR="0" rtl="0" algn="ctr">
              <a:lnSpc>
                <a:spcPct val="100000"/>
              </a:lnSpc>
              <a:spcBef>
                <a:spcPts val="0"/>
              </a:spcBef>
              <a:spcAft>
                <a:spcPts val="0"/>
              </a:spcAft>
              <a:buClr>
                <a:schemeClr val="dk1"/>
              </a:buClr>
              <a:buSzPts val="4000"/>
              <a:buFont typeface="Times New Roman"/>
              <a:buNone/>
            </a:pPr>
            <a:r>
              <a:rPr b="0" i="1" lang="en-US" sz="3200" u="none" cap="none" strike="noStrike">
                <a:solidFill>
                  <a:schemeClr val="dk1"/>
                </a:solidFill>
                <a:latin typeface="Times New Roman"/>
                <a:ea typeface="Times New Roman"/>
                <a:cs typeface="Times New Roman"/>
                <a:sym typeface="Times New Roman"/>
              </a:rPr>
              <a:t>p' = </a:t>
            </a:r>
            <a:r>
              <a:rPr b="0" i="1" lang="en-US" sz="3200" u="none" cap="none" strike="noStrike">
                <a:solidFill>
                  <a:srgbClr val="FF0000"/>
                </a:solidFill>
                <a:latin typeface="Times New Roman"/>
                <a:ea typeface="Times New Roman"/>
                <a:cs typeface="Times New Roman"/>
                <a:sym typeface="Times New Roman"/>
              </a:rPr>
              <a:t>M</a:t>
            </a:r>
            <a:r>
              <a:rPr b="0" i="1" lang="en-US" sz="3200" u="none" cap="none" strike="noStrike">
                <a:solidFill>
                  <a:schemeClr val="dk1"/>
                </a:solidFill>
                <a:latin typeface="Times New Roman"/>
                <a:ea typeface="Times New Roman"/>
                <a:cs typeface="Times New Roman"/>
                <a:sym typeface="Times New Roman"/>
              </a:rPr>
              <a:t> p</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9"/>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74" name="Google Shape;374;p29"/>
          <p:cNvSpPr txBox="1"/>
          <p:nvPr>
            <p:ph type="title"/>
          </p:nvPr>
        </p:nvSpPr>
        <p:spPr>
          <a:xfrm>
            <a:off x="1676400" y="57150"/>
            <a:ext cx="6019800" cy="6882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Homogeneous Coordinates</a:t>
            </a:r>
            <a:endParaRPr/>
          </a:p>
        </p:txBody>
      </p:sp>
      <p:sp>
        <p:nvSpPr>
          <p:cNvPr id="375" name="Google Shape;375;p29"/>
          <p:cNvSpPr txBox="1"/>
          <p:nvPr>
            <p:ph idx="1" type="body"/>
          </p:nvPr>
        </p:nvSpPr>
        <p:spPr>
          <a:xfrm>
            <a:off x="1444625" y="1026319"/>
            <a:ext cx="7394700" cy="3888600"/>
          </a:xfrm>
          <a:prstGeom prst="rect">
            <a:avLst/>
          </a:prstGeom>
          <a:noFill/>
          <a:ln>
            <a:noFill/>
          </a:ln>
        </p:spPr>
        <p:txBody>
          <a:bodyPr anchorCtr="0" anchor="t" bIns="0" lIns="0" spcFirstLastPara="1" rIns="0" wrap="square" tIns="0">
            <a:noAutofit/>
          </a:bodyPr>
          <a:lstStyle/>
          <a:p>
            <a:pPr indent="-339725" lvl="0" marL="339725" rtl="0" algn="l">
              <a:lnSpc>
                <a:spcPct val="100000"/>
              </a:lnSpc>
              <a:spcBef>
                <a:spcPts val="0"/>
              </a:spcBef>
              <a:spcAft>
                <a:spcPts val="0"/>
              </a:spcAft>
              <a:buClr>
                <a:schemeClr val="dk2"/>
              </a:buClr>
              <a:buSzPts val="2660"/>
              <a:buFont typeface="Noto Sans Symbols"/>
              <a:buChar char="✶"/>
            </a:pPr>
            <a:r>
              <a:rPr b="0" i="0" lang="en-US" sz="2800" u="none">
                <a:solidFill>
                  <a:schemeClr val="dk1"/>
                </a:solidFill>
                <a:latin typeface="Times New Roman"/>
                <a:ea typeface="Times New Roman"/>
                <a:cs typeface="Times New Roman"/>
                <a:sym typeface="Times New Roman"/>
              </a:rPr>
              <a:t>Most of the time w = 1, and we can ignore it</a:t>
            </a:r>
            <a:endParaRPr/>
          </a:p>
          <a:p>
            <a:pPr indent="-170815" lvl="0" marL="339725" rtl="0" algn="l">
              <a:lnSpc>
                <a:spcPct val="100000"/>
              </a:lnSpc>
              <a:spcBef>
                <a:spcPts val="560"/>
              </a:spcBef>
              <a:spcAft>
                <a:spcPts val="0"/>
              </a:spcAft>
              <a:buClr>
                <a:schemeClr val="dk2"/>
              </a:buClr>
              <a:buSzPts val="2660"/>
              <a:buFont typeface="Noto Sans Symbols"/>
              <a:buNone/>
            </a:pPr>
            <a:r>
              <a:t/>
            </a:r>
            <a:endParaRPr b="0" i="0" sz="2800" u="none">
              <a:solidFill>
                <a:schemeClr val="dk1"/>
              </a:solidFill>
              <a:latin typeface="Times New Roman"/>
              <a:ea typeface="Times New Roman"/>
              <a:cs typeface="Times New Roman"/>
              <a:sym typeface="Times New Roman"/>
            </a:endParaRPr>
          </a:p>
          <a:p>
            <a:pPr indent="-170815" lvl="0" marL="339725" rtl="0" algn="l">
              <a:lnSpc>
                <a:spcPct val="100000"/>
              </a:lnSpc>
              <a:spcBef>
                <a:spcPts val="560"/>
              </a:spcBef>
              <a:spcAft>
                <a:spcPts val="0"/>
              </a:spcAft>
              <a:buClr>
                <a:schemeClr val="dk2"/>
              </a:buClr>
              <a:buSzPts val="2660"/>
              <a:buFont typeface="Noto Sans Symbols"/>
              <a:buNone/>
            </a:pPr>
            <a:r>
              <a:t/>
            </a:r>
            <a:endParaRPr b="0" i="0" sz="2800" u="none">
              <a:solidFill>
                <a:schemeClr val="dk1"/>
              </a:solidFill>
              <a:latin typeface="Times New Roman"/>
              <a:ea typeface="Times New Roman"/>
              <a:cs typeface="Times New Roman"/>
              <a:sym typeface="Times New Roman"/>
            </a:endParaRPr>
          </a:p>
          <a:p>
            <a:pPr indent="-170815" lvl="0" marL="339725" rtl="0" algn="l">
              <a:lnSpc>
                <a:spcPct val="100000"/>
              </a:lnSpc>
              <a:spcBef>
                <a:spcPts val="560"/>
              </a:spcBef>
              <a:spcAft>
                <a:spcPts val="0"/>
              </a:spcAft>
              <a:buClr>
                <a:schemeClr val="dk2"/>
              </a:buClr>
              <a:buSzPts val="2660"/>
              <a:buFont typeface="Noto Sans Symbols"/>
              <a:buNone/>
            </a:pPr>
            <a:r>
              <a:t/>
            </a:r>
            <a:endParaRPr b="0" i="0" sz="2800" u="none">
              <a:solidFill>
                <a:schemeClr val="dk1"/>
              </a:solidFill>
              <a:latin typeface="Times New Roman"/>
              <a:ea typeface="Times New Roman"/>
              <a:cs typeface="Times New Roman"/>
              <a:sym typeface="Times New Roman"/>
            </a:endParaRPr>
          </a:p>
          <a:p>
            <a:pPr indent="-170815" lvl="0" marL="339725" rtl="0" algn="l">
              <a:lnSpc>
                <a:spcPct val="100000"/>
              </a:lnSpc>
              <a:spcBef>
                <a:spcPts val="560"/>
              </a:spcBef>
              <a:spcAft>
                <a:spcPts val="0"/>
              </a:spcAft>
              <a:buClr>
                <a:schemeClr val="dk2"/>
              </a:buClr>
              <a:buSzPts val="2660"/>
              <a:buFont typeface="Noto Sans Symbols"/>
              <a:buNone/>
            </a:pPr>
            <a:r>
              <a:t/>
            </a:r>
            <a:endParaRPr b="0" i="0" sz="2800" u="none">
              <a:solidFill>
                <a:schemeClr val="dk1"/>
              </a:solidFill>
              <a:latin typeface="Times New Roman"/>
              <a:ea typeface="Times New Roman"/>
              <a:cs typeface="Times New Roman"/>
              <a:sym typeface="Times New Roman"/>
            </a:endParaRPr>
          </a:p>
          <a:p>
            <a:pPr indent="-170815" lvl="0" marL="339725" rtl="0" algn="l">
              <a:lnSpc>
                <a:spcPct val="100000"/>
              </a:lnSpc>
              <a:spcBef>
                <a:spcPts val="560"/>
              </a:spcBef>
              <a:spcAft>
                <a:spcPts val="0"/>
              </a:spcAft>
              <a:buClr>
                <a:schemeClr val="dk2"/>
              </a:buClr>
              <a:buSzPts val="2660"/>
              <a:buFont typeface="Noto Sans Symbols"/>
              <a:buNone/>
            </a:pPr>
            <a:r>
              <a:t/>
            </a:r>
            <a:endParaRPr b="0" i="0" sz="2800" u="none">
              <a:solidFill>
                <a:schemeClr val="dk1"/>
              </a:solidFill>
              <a:latin typeface="Times New Roman"/>
              <a:ea typeface="Times New Roman"/>
              <a:cs typeface="Times New Roman"/>
              <a:sym typeface="Times New Roman"/>
            </a:endParaRPr>
          </a:p>
          <a:p>
            <a:pPr indent="-339725" lvl="0" marL="339725" rtl="0" algn="l">
              <a:lnSpc>
                <a:spcPct val="100000"/>
              </a:lnSpc>
              <a:spcBef>
                <a:spcPts val="560"/>
              </a:spcBef>
              <a:spcAft>
                <a:spcPts val="0"/>
              </a:spcAft>
              <a:buClr>
                <a:schemeClr val="dk2"/>
              </a:buClr>
              <a:buSzPts val="2660"/>
              <a:buFont typeface="Noto Sans Symbols"/>
              <a:buChar char="✶"/>
            </a:pPr>
            <a:r>
              <a:rPr b="0" i="0" lang="en-US" sz="2800" u="none">
                <a:solidFill>
                  <a:schemeClr val="dk1"/>
                </a:solidFill>
                <a:latin typeface="Times New Roman"/>
                <a:ea typeface="Times New Roman"/>
                <a:cs typeface="Times New Roman"/>
                <a:sym typeface="Times New Roman"/>
              </a:rPr>
              <a:t>If we multiply a homogeneous coordinate </a:t>
            </a:r>
            <a:br>
              <a:rPr b="0" i="0" lang="en-US" sz="2800" u="none">
                <a:solidFill>
                  <a:schemeClr val="dk1"/>
                </a:solidFill>
                <a:latin typeface="Times New Roman"/>
                <a:ea typeface="Times New Roman"/>
                <a:cs typeface="Times New Roman"/>
                <a:sym typeface="Times New Roman"/>
              </a:rPr>
            </a:br>
            <a:r>
              <a:rPr b="0" i="0" lang="en-US" sz="2800" u="none">
                <a:solidFill>
                  <a:schemeClr val="dk1"/>
                </a:solidFill>
                <a:latin typeface="Times New Roman"/>
                <a:ea typeface="Times New Roman"/>
                <a:cs typeface="Times New Roman"/>
                <a:sym typeface="Times New Roman"/>
              </a:rPr>
              <a:t>by an </a:t>
            </a:r>
            <a:r>
              <a:rPr b="0" i="1" lang="en-US" sz="2800" u="none">
                <a:solidFill>
                  <a:srgbClr val="FF0000"/>
                </a:solidFill>
                <a:latin typeface="Times New Roman"/>
                <a:ea typeface="Times New Roman"/>
                <a:cs typeface="Times New Roman"/>
                <a:sym typeface="Times New Roman"/>
              </a:rPr>
              <a:t>affine matrix</a:t>
            </a:r>
            <a:r>
              <a:rPr b="0" i="0" lang="en-US" sz="2800" u="none">
                <a:solidFill>
                  <a:schemeClr val="dk1"/>
                </a:solidFill>
                <a:latin typeface="Times New Roman"/>
                <a:ea typeface="Times New Roman"/>
                <a:cs typeface="Times New Roman"/>
                <a:sym typeface="Times New Roman"/>
              </a:rPr>
              <a:t>, w is unchanged</a:t>
            </a:r>
            <a:endParaRPr/>
          </a:p>
        </p:txBody>
      </p:sp>
      <p:sp>
        <p:nvSpPr>
          <p:cNvPr id="376" name="Google Shape;376;p29"/>
          <p:cNvSpPr/>
          <p:nvPr/>
        </p:nvSpPr>
        <p:spPr>
          <a:xfrm>
            <a:off x="3581400" y="1821656"/>
            <a:ext cx="2524200" cy="18144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7" name="Google Shape;377;p29"/>
          <p:cNvSpPr/>
          <p:nvPr/>
        </p:nvSpPr>
        <p:spPr>
          <a:xfrm>
            <a:off x="2286000" y="1821656"/>
            <a:ext cx="609600" cy="18144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78" name="Google Shape;378;p29"/>
          <p:cNvSpPr txBox="1"/>
          <p:nvPr/>
        </p:nvSpPr>
        <p:spPr>
          <a:xfrm>
            <a:off x="2371725" y="1871663"/>
            <a:ext cx="523800" cy="168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300" u="none" cap="none" strike="noStrike">
                <a:solidFill>
                  <a:schemeClr val="dk1"/>
                </a:solidFill>
                <a:latin typeface="Times New Roman"/>
                <a:ea typeface="Times New Roman"/>
                <a:cs typeface="Times New Roman"/>
                <a:sym typeface="Times New Roman"/>
              </a:rPr>
              <a:t>x'</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300" u="none" cap="none" strike="noStrike">
                <a:solidFill>
                  <a:schemeClr val="dk1"/>
                </a:solidFill>
                <a:latin typeface="Times New Roman"/>
                <a:ea typeface="Times New Roman"/>
                <a:cs typeface="Times New Roman"/>
                <a:sym typeface="Times New Roman"/>
              </a:rPr>
              <a:t>y'</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300" u="none" cap="none" strike="noStrike">
                <a:solidFill>
                  <a:schemeClr val="dk1"/>
                </a:solidFill>
                <a:latin typeface="Times New Roman"/>
                <a:ea typeface="Times New Roman"/>
                <a:cs typeface="Times New Roman"/>
                <a:sym typeface="Times New Roman"/>
              </a:rPr>
              <a:t>z'</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0" lang="en-US" sz="2300" u="none" cap="none" strike="noStrike">
                <a:solidFill>
                  <a:srgbClr val="FF0000"/>
                </a:solidFill>
                <a:latin typeface="Times New Roman"/>
                <a:ea typeface="Times New Roman"/>
                <a:cs typeface="Times New Roman"/>
                <a:sym typeface="Times New Roman"/>
              </a:rPr>
              <a:t>1</a:t>
            </a:r>
            <a:endParaRPr b="0" i="0" sz="500" u="none" cap="none" strike="noStrike">
              <a:solidFill>
                <a:srgbClr val="000000"/>
              </a:solidFill>
              <a:latin typeface="Arial"/>
              <a:ea typeface="Arial"/>
              <a:cs typeface="Arial"/>
              <a:sym typeface="Arial"/>
            </a:endParaRPr>
          </a:p>
        </p:txBody>
      </p:sp>
      <p:sp>
        <p:nvSpPr>
          <p:cNvPr id="379" name="Google Shape;379;p29"/>
          <p:cNvSpPr txBox="1"/>
          <p:nvPr/>
        </p:nvSpPr>
        <p:spPr>
          <a:xfrm>
            <a:off x="3124200" y="2493169"/>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380" name="Google Shape;380;p29"/>
          <p:cNvSpPr txBox="1"/>
          <p:nvPr/>
        </p:nvSpPr>
        <p:spPr>
          <a:xfrm>
            <a:off x="6433919" y="1902586"/>
            <a:ext cx="523800" cy="168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300" u="none" cap="none" strike="noStrike">
                <a:solidFill>
                  <a:schemeClr val="dk1"/>
                </a:solidFill>
                <a:latin typeface="Times New Roman"/>
                <a:ea typeface="Times New Roman"/>
                <a:cs typeface="Times New Roman"/>
                <a:sym typeface="Times New Roman"/>
              </a:rPr>
              <a:t>x</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300" u="none" cap="none" strike="noStrike">
                <a:solidFill>
                  <a:schemeClr val="dk1"/>
                </a:solidFill>
                <a:latin typeface="Times New Roman"/>
                <a:ea typeface="Times New Roman"/>
                <a:cs typeface="Times New Roman"/>
                <a:sym typeface="Times New Roman"/>
              </a:rPr>
              <a:t>y</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300" u="none" cap="none" strike="noStrike">
                <a:solidFill>
                  <a:schemeClr val="dk1"/>
                </a:solidFill>
                <a:latin typeface="Times New Roman"/>
                <a:ea typeface="Times New Roman"/>
                <a:cs typeface="Times New Roman"/>
                <a:sym typeface="Times New Roman"/>
              </a:rPr>
              <a:t>z</a:t>
            </a:r>
            <a:endParaRPr b="0" i="0" sz="5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0" lang="en-US" sz="2300" u="none" cap="none" strike="noStrike">
                <a:solidFill>
                  <a:srgbClr val="FF0000"/>
                </a:solidFill>
                <a:latin typeface="Times New Roman"/>
                <a:ea typeface="Times New Roman"/>
                <a:cs typeface="Times New Roman"/>
                <a:sym typeface="Times New Roman"/>
              </a:rPr>
              <a:t>1</a:t>
            </a:r>
            <a:endParaRPr b="0" i="0" sz="500" u="none" cap="none" strike="noStrike">
              <a:solidFill>
                <a:srgbClr val="000000"/>
              </a:solidFill>
              <a:latin typeface="Arial"/>
              <a:ea typeface="Arial"/>
              <a:cs typeface="Arial"/>
              <a:sym typeface="Arial"/>
            </a:endParaRPr>
          </a:p>
        </p:txBody>
      </p:sp>
      <p:sp>
        <p:nvSpPr>
          <p:cNvPr id="381" name="Google Shape;381;p29"/>
          <p:cNvSpPr/>
          <p:nvPr/>
        </p:nvSpPr>
        <p:spPr>
          <a:xfrm>
            <a:off x="6400800" y="1821656"/>
            <a:ext cx="533400" cy="18144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300" u="none" cap="none" strike="noStrike">
              <a:solidFill>
                <a:schemeClr val="dk1"/>
              </a:solidFill>
              <a:latin typeface="Times New Roman"/>
              <a:ea typeface="Times New Roman"/>
              <a:cs typeface="Times New Roman"/>
              <a:sym typeface="Times New Roman"/>
            </a:endParaRPr>
          </a:p>
        </p:txBody>
      </p:sp>
      <p:sp>
        <p:nvSpPr>
          <p:cNvPr id="382" name="Google Shape;382;p29"/>
          <p:cNvSpPr txBox="1"/>
          <p:nvPr/>
        </p:nvSpPr>
        <p:spPr>
          <a:xfrm>
            <a:off x="3667125" y="1864519"/>
            <a:ext cx="5238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a</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e</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i</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0" lang="en-US" sz="2400" u="none" cap="none" strike="noStrike">
                <a:solidFill>
                  <a:srgbClr val="FF0000"/>
                </a:solidFill>
                <a:latin typeface="Times New Roman"/>
                <a:ea typeface="Times New Roman"/>
                <a:cs typeface="Times New Roman"/>
                <a:sym typeface="Times New Roman"/>
              </a:rPr>
              <a:t>0</a:t>
            </a:r>
            <a:endParaRPr b="0" i="0" sz="600" u="none" cap="none" strike="noStrike">
              <a:solidFill>
                <a:srgbClr val="000000"/>
              </a:solidFill>
              <a:latin typeface="Arial"/>
              <a:ea typeface="Arial"/>
              <a:cs typeface="Arial"/>
              <a:sym typeface="Arial"/>
            </a:endParaRPr>
          </a:p>
        </p:txBody>
      </p:sp>
      <p:sp>
        <p:nvSpPr>
          <p:cNvPr id="383" name="Google Shape;383;p29"/>
          <p:cNvSpPr txBox="1"/>
          <p:nvPr/>
        </p:nvSpPr>
        <p:spPr>
          <a:xfrm>
            <a:off x="4276725" y="1864519"/>
            <a:ext cx="5238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b</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f</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j</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0" lang="en-US" sz="2400" u="none" cap="none" strike="noStrike">
                <a:solidFill>
                  <a:srgbClr val="FF0000"/>
                </a:solidFill>
                <a:latin typeface="Times New Roman"/>
                <a:ea typeface="Times New Roman"/>
                <a:cs typeface="Times New Roman"/>
                <a:sym typeface="Times New Roman"/>
              </a:rPr>
              <a:t>0</a:t>
            </a:r>
            <a:endParaRPr b="0" i="0" sz="600" u="none" cap="none" strike="noStrike">
              <a:solidFill>
                <a:srgbClr val="000000"/>
              </a:solidFill>
              <a:latin typeface="Arial"/>
              <a:ea typeface="Arial"/>
              <a:cs typeface="Arial"/>
              <a:sym typeface="Arial"/>
            </a:endParaRPr>
          </a:p>
        </p:txBody>
      </p:sp>
      <p:sp>
        <p:nvSpPr>
          <p:cNvPr id="384" name="Google Shape;384;p29"/>
          <p:cNvSpPr txBox="1"/>
          <p:nvPr/>
        </p:nvSpPr>
        <p:spPr>
          <a:xfrm>
            <a:off x="4886325" y="1864519"/>
            <a:ext cx="5238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c</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g</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k</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0" lang="en-US" sz="2400" u="none" cap="none" strike="noStrike">
                <a:solidFill>
                  <a:srgbClr val="FF0000"/>
                </a:solidFill>
                <a:latin typeface="Times New Roman"/>
                <a:ea typeface="Times New Roman"/>
                <a:cs typeface="Times New Roman"/>
                <a:sym typeface="Times New Roman"/>
              </a:rPr>
              <a:t>0</a:t>
            </a:r>
            <a:endParaRPr b="0" i="0" sz="600" u="none" cap="none" strike="noStrike">
              <a:solidFill>
                <a:srgbClr val="000000"/>
              </a:solidFill>
              <a:latin typeface="Arial"/>
              <a:ea typeface="Arial"/>
              <a:cs typeface="Arial"/>
              <a:sym typeface="Arial"/>
            </a:endParaRPr>
          </a:p>
        </p:txBody>
      </p:sp>
      <p:sp>
        <p:nvSpPr>
          <p:cNvPr id="385" name="Google Shape;385;p29"/>
          <p:cNvSpPr txBox="1"/>
          <p:nvPr/>
        </p:nvSpPr>
        <p:spPr>
          <a:xfrm>
            <a:off x="5495925" y="1864519"/>
            <a:ext cx="523800" cy="1746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d</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h</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2400" u="none" cap="none" strike="noStrike">
                <a:solidFill>
                  <a:schemeClr val="dk1"/>
                </a:solidFill>
                <a:latin typeface="Times New Roman"/>
                <a:ea typeface="Times New Roman"/>
                <a:cs typeface="Times New Roman"/>
                <a:sym typeface="Times New Roman"/>
              </a:rPr>
              <a:t>l</a:t>
            </a:r>
            <a:endParaRPr b="0" i="0" sz="6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0" lang="en-US" sz="2400" u="none" cap="none" strike="noStrike">
                <a:solidFill>
                  <a:srgbClr val="FF0000"/>
                </a:solidFill>
                <a:latin typeface="Times New Roman"/>
                <a:ea typeface="Times New Roman"/>
                <a:cs typeface="Times New Roman"/>
                <a:sym typeface="Times New Roman"/>
              </a:rPr>
              <a:t>1</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0"/>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91" name="Google Shape;391;p30"/>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Homogeneous Coordinates</a:t>
            </a:r>
            <a:endParaRPr/>
          </a:p>
        </p:txBody>
      </p:sp>
      <p:sp>
        <p:nvSpPr>
          <p:cNvPr id="392" name="Google Shape;392;p30"/>
          <p:cNvSpPr txBox="1"/>
          <p:nvPr>
            <p:ph idx="1" type="body"/>
          </p:nvPr>
        </p:nvSpPr>
        <p:spPr>
          <a:xfrm>
            <a:off x="1455763" y="1235275"/>
            <a:ext cx="7626300" cy="2396700"/>
          </a:xfrm>
          <a:prstGeom prst="rect">
            <a:avLst/>
          </a:prstGeom>
          <a:noFill/>
          <a:ln>
            <a:noFill/>
          </a:ln>
        </p:spPr>
        <p:txBody>
          <a:bodyPr anchorCtr="0" anchor="t" bIns="46025" lIns="92075" spcFirstLastPara="1" rIns="92075" wrap="square" tIns="46025">
            <a:noAutofit/>
          </a:bodyPr>
          <a:lstStyle/>
          <a:p>
            <a:pPr indent="-317500" lvl="0" marL="342900" rtl="0" algn="l">
              <a:lnSpc>
                <a:spcPct val="100000"/>
              </a:lnSpc>
              <a:spcBef>
                <a:spcPts val="0"/>
              </a:spcBef>
              <a:spcAft>
                <a:spcPts val="0"/>
              </a:spcAft>
              <a:buClr>
                <a:schemeClr val="dk2"/>
              </a:buClr>
              <a:buSzPts val="2260"/>
              <a:buFont typeface="Noto Sans Symbols"/>
              <a:buChar char="✶"/>
            </a:pPr>
            <a:r>
              <a:rPr b="0" i="0" lang="en-US" sz="2400" u="none">
                <a:solidFill>
                  <a:schemeClr val="dk1"/>
                </a:solidFill>
                <a:latin typeface="Times New Roman"/>
                <a:ea typeface="Times New Roman"/>
                <a:cs typeface="Times New Roman"/>
                <a:sym typeface="Times New Roman"/>
              </a:rPr>
              <a:t>P</a:t>
            </a:r>
            <a:r>
              <a:rPr b="0" baseline="-25000" i="0" lang="en-US" sz="2400" u="none">
                <a:solidFill>
                  <a:schemeClr val="dk1"/>
                </a:solidFill>
                <a:latin typeface="Times New Roman"/>
                <a:ea typeface="Times New Roman"/>
                <a:cs typeface="Times New Roman"/>
                <a:sym typeface="Times New Roman"/>
              </a:rPr>
              <a:t>2d</a:t>
            </a:r>
            <a:r>
              <a:rPr b="0" i="0" lang="en-US" sz="2400" u="none">
                <a:solidFill>
                  <a:schemeClr val="dk1"/>
                </a:solidFill>
                <a:latin typeface="Times New Roman"/>
                <a:ea typeface="Times New Roman"/>
                <a:cs typeface="Times New Roman"/>
                <a:sym typeface="Times New Roman"/>
              </a:rPr>
              <a:t> is a projection of P</a:t>
            </a:r>
            <a:r>
              <a:rPr b="0" baseline="-25000" i="0" lang="en-US" sz="2400" u="none">
                <a:solidFill>
                  <a:schemeClr val="dk1"/>
                </a:solidFill>
                <a:latin typeface="Times New Roman"/>
                <a:ea typeface="Times New Roman"/>
                <a:cs typeface="Times New Roman"/>
                <a:sym typeface="Times New Roman"/>
              </a:rPr>
              <a:t>h</a:t>
            </a:r>
            <a:r>
              <a:rPr b="0" i="0" lang="en-US" sz="2400" u="none">
                <a:solidFill>
                  <a:schemeClr val="dk1"/>
                </a:solidFill>
                <a:latin typeface="Times New Roman"/>
                <a:ea typeface="Times New Roman"/>
                <a:cs typeface="Times New Roman"/>
                <a:sym typeface="Times New Roman"/>
              </a:rPr>
              <a:t> onto the </a:t>
            </a:r>
            <a:r>
              <a:rPr b="0" i="1" lang="en-US" sz="2400" u="none">
                <a:solidFill>
                  <a:schemeClr val="dk1"/>
                </a:solidFill>
                <a:latin typeface="Times New Roman"/>
                <a:ea typeface="Times New Roman"/>
                <a:cs typeface="Times New Roman"/>
                <a:sym typeface="Times New Roman"/>
              </a:rPr>
              <a:t>w </a:t>
            </a:r>
            <a:r>
              <a:rPr b="0" i="0" lang="en-US" sz="2400" u="none">
                <a:solidFill>
                  <a:schemeClr val="dk1"/>
                </a:solidFill>
                <a:latin typeface="Times New Roman"/>
                <a:ea typeface="Times New Roman"/>
                <a:cs typeface="Times New Roman"/>
                <a:sym typeface="Times New Roman"/>
              </a:rPr>
              <a:t>= 1 plane</a:t>
            </a:r>
            <a:endParaRPr sz="1700"/>
          </a:p>
          <a:p>
            <a:pPr indent="-317500" lvl="0" marL="342900" rtl="0" algn="l">
              <a:lnSpc>
                <a:spcPct val="100000"/>
              </a:lnSpc>
              <a:spcBef>
                <a:spcPts val="560"/>
              </a:spcBef>
              <a:spcAft>
                <a:spcPts val="0"/>
              </a:spcAft>
              <a:buClr>
                <a:schemeClr val="dk2"/>
              </a:buClr>
              <a:buSzPts val="2260"/>
              <a:buFont typeface="Noto Sans Symbols"/>
              <a:buChar char="✶"/>
            </a:pPr>
            <a:r>
              <a:rPr b="0" i="0" lang="en-US" sz="2400" u="none">
                <a:solidFill>
                  <a:schemeClr val="dk1"/>
                </a:solidFill>
                <a:latin typeface="Times New Roman"/>
                <a:ea typeface="Times New Roman"/>
                <a:cs typeface="Times New Roman"/>
                <a:sym typeface="Times New Roman"/>
              </a:rPr>
              <a:t>So an infinite number of points correspond to : they constitute the whole line (tx, ty, tw)</a:t>
            </a:r>
            <a:endParaRPr sz="1700"/>
          </a:p>
        </p:txBody>
      </p:sp>
      <p:grpSp>
        <p:nvGrpSpPr>
          <p:cNvPr id="393" name="Google Shape;393;p30"/>
          <p:cNvGrpSpPr/>
          <p:nvPr/>
        </p:nvGrpSpPr>
        <p:grpSpPr>
          <a:xfrm>
            <a:off x="3505200" y="2857500"/>
            <a:ext cx="3527425" cy="2014538"/>
            <a:chOff x="3024" y="1536"/>
            <a:chExt cx="2222" cy="1692"/>
          </a:xfrm>
        </p:grpSpPr>
        <p:cxnSp>
          <p:nvCxnSpPr>
            <p:cNvPr id="394" name="Google Shape;394;p30"/>
            <p:cNvCxnSpPr/>
            <p:nvPr/>
          </p:nvCxnSpPr>
          <p:spPr>
            <a:xfrm rot="10800000">
              <a:off x="3648" y="1632"/>
              <a:ext cx="0" cy="1056"/>
            </a:xfrm>
            <a:prstGeom prst="straightConnector1">
              <a:avLst/>
            </a:prstGeom>
            <a:noFill/>
            <a:ln cap="flat" cmpd="sng" w="9525">
              <a:solidFill>
                <a:schemeClr val="dk1"/>
              </a:solidFill>
              <a:prstDash val="solid"/>
              <a:miter lim="800000"/>
              <a:headEnd len="sm" w="sm" type="none"/>
              <a:tailEnd len="med" w="med" type="triangle"/>
            </a:ln>
          </p:spPr>
        </p:cxnSp>
        <p:cxnSp>
          <p:nvCxnSpPr>
            <p:cNvPr id="395" name="Google Shape;395;p30"/>
            <p:cNvCxnSpPr/>
            <p:nvPr/>
          </p:nvCxnSpPr>
          <p:spPr>
            <a:xfrm>
              <a:off x="3648" y="2688"/>
              <a:ext cx="1008" cy="0"/>
            </a:xfrm>
            <a:prstGeom prst="straightConnector1">
              <a:avLst/>
            </a:prstGeom>
            <a:noFill/>
            <a:ln cap="flat" cmpd="sng" w="9525">
              <a:solidFill>
                <a:schemeClr val="dk1"/>
              </a:solidFill>
              <a:prstDash val="solid"/>
              <a:miter lim="800000"/>
              <a:headEnd len="sm" w="sm" type="none"/>
              <a:tailEnd len="med" w="med" type="triangle"/>
            </a:ln>
          </p:spPr>
        </p:cxnSp>
        <p:cxnSp>
          <p:nvCxnSpPr>
            <p:cNvPr id="396" name="Google Shape;396;p30"/>
            <p:cNvCxnSpPr/>
            <p:nvPr/>
          </p:nvCxnSpPr>
          <p:spPr>
            <a:xfrm flipH="1">
              <a:off x="3024" y="2688"/>
              <a:ext cx="624" cy="336"/>
            </a:xfrm>
            <a:prstGeom prst="straightConnector1">
              <a:avLst/>
            </a:prstGeom>
            <a:noFill/>
            <a:ln cap="flat" cmpd="sng" w="9525">
              <a:solidFill>
                <a:schemeClr val="dk1"/>
              </a:solidFill>
              <a:prstDash val="solid"/>
              <a:miter lim="800000"/>
              <a:headEnd len="sm" w="sm" type="none"/>
              <a:tailEnd len="med" w="med" type="triangle"/>
            </a:ln>
          </p:spPr>
        </p:cxnSp>
        <p:sp>
          <p:nvSpPr>
            <p:cNvPr id="397" name="Google Shape;397;p30"/>
            <p:cNvSpPr txBox="1"/>
            <p:nvPr/>
          </p:nvSpPr>
          <p:spPr>
            <a:xfrm>
              <a:off x="3117" y="2928"/>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cap="none" strike="noStrike">
                  <a:solidFill>
                    <a:schemeClr val="dk1"/>
                  </a:solidFill>
                  <a:latin typeface="Tahoma"/>
                  <a:ea typeface="Tahoma"/>
                  <a:cs typeface="Tahoma"/>
                  <a:sym typeface="Tahoma"/>
                </a:rPr>
                <a:t>x</a:t>
              </a:r>
              <a:endParaRPr b="0" i="0" sz="1400" u="none" cap="none" strike="noStrike">
                <a:solidFill>
                  <a:srgbClr val="000000"/>
                </a:solidFill>
                <a:latin typeface="Arial"/>
                <a:ea typeface="Arial"/>
                <a:cs typeface="Arial"/>
                <a:sym typeface="Arial"/>
              </a:endParaRPr>
            </a:p>
          </p:txBody>
        </p:sp>
        <p:sp>
          <p:nvSpPr>
            <p:cNvPr id="398" name="Google Shape;398;p30"/>
            <p:cNvSpPr txBox="1"/>
            <p:nvPr/>
          </p:nvSpPr>
          <p:spPr>
            <a:xfrm>
              <a:off x="4464" y="2688"/>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cap="none" strike="noStrike">
                  <a:solidFill>
                    <a:schemeClr val="dk1"/>
                  </a:solidFill>
                  <a:latin typeface="Tahoma"/>
                  <a:ea typeface="Tahoma"/>
                  <a:cs typeface="Tahoma"/>
                  <a:sym typeface="Tahoma"/>
                </a:rPr>
                <a:t>y</a:t>
              </a:r>
              <a:endParaRPr b="0" i="0" sz="1400" u="none" cap="none" strike="noStrike">
                <a:solidFill>
                  <a:srgbClr val="000000"/>
                </a:solidFill>
                <a:latin typeface="Arial"/>
                <a:ea typeface="Arial"/>
                <a:cs typeface="Arial"/>
                <a:sym typeface="Arial"/>
              </a:endParaRPr>
            </a:p>
          </p:txBody>
        </p:sp>
        <p:sp>
          <p:nvSpPr>
            <p:cNvPr id="399" name="Google Shape;399;p30"/>
            <p:cNvSpPr txBox="1"/>
            <p:nvPr/>
          </p:nvSpPr>
          <p:spPr>
            <a:xfrm>
              <a:off x="3648" y="1536"/>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cap="none" strike="noStrike">
                  <a:solidFill>
                    <a:schemeClr val="dk1"/>
                  </a:solidFill>
                  <a:latin typeface="Tahoma"/>
                  <a:ea typeface="Tahoma"/>
                  <a:cs typeface="Tahoma"/>
                  <a:sym typeface="Tahoma"/>
                </a:rPr>
                <a:t>w</a:t>
              </a:r>
              <a:endParaRPr b="0" i="0" sz="1400" u="none" cap="none" strike="noStrike">
                <a:solidFill>
                  <a:srgbClr val="000000"/>
                </a:solidFill>
                <a:latin typeface="Arial"/>
                <a:ea typeface="Arial"/>
                <a:cs typeface="Arial"/>
                <a:sym typeface="Arial"/>
              </a:endParaRPr>
            </a:p>
          </p:txBody>
        </p:sp>
        <p:sp>
          <p:nvSpPr>
            <p:cNvPr id="400" name="Google Shape;400;p30"/>
            <p:cNvSpPr/>
            <p:nvPr/>
          </p:nvSpPr>
          <p:spPr>
            <a:xfrm>
              <a:off x="3024" y="2208"/>
              <a:ext cx="1632" cy="336"/>
            </a:xfrm>
            <a:prstGeom prst="parallelogram">
              <a:avLst>
                <a:gd fmla="val 8378" name="adj"/>
              </a:avLst>
            </a:prstGeom>
            <a:gradFill>
              <a:gsLst>
                <a:gs pos="0">
                  <a:schemeClr val="accent1"/>
                </a:gs>
                <a:gs pos="100000">
                  <a:schemeClr val="lt1"/>
                </a:gs>
              </a:gsLst>
              <a:lin ang="2700000" scaled="0"/>
            </a:gra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1" name="Google Shape;401;p30"/>
            <p:cNvSpPr/>
            <p:nvPr/>
          </p:nvSpPr>
          <p:spPr>
            <a:xfrm>
              <a:off x="3984" y="2304"/>
              <a:ext cx="48" cy="48"/>
            </a:xfrm>
            <a:prstGeom prst="ellipse">
              <a:avLst/>
            </a:prstGeom>
            <a:solidFill>
              <a:srgbClr val="00008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402" name="Google Shape;402;p30"/>
            <p:cNvCxnSpPr/>
            <p:nvPr/>
          </p:nvCxnSpPr>
          <p:spPr>
            <a:xfrm flipH="1" rot="10800000">
              <a:off x="3648" y="1728"/>
              <a:ext cx="960" cy="960"/>
            </a:xfrm>
            <a:prstGeom prst="straightConnector1">
              <a:avLst/>
            </a:prstGeom>
            <a:noFill/>
            <a:ln cap="flat" cmpd="sng" w="9525">
              <a:solidFill>
                <a:schemeClr val="lt2"/>
              </a:solidFill>
              <a:prstDash val="solid"/>
              <a:miter lim="800000"/>
              <a:headEnd len="sm" w="sm" type="none"/>
              <a:tailEnd len="med" w="med" type="triangle"/>
            </a:ln>
          </p:spPr>
        </p:cxnSp>
        <p:cxnSp>
          <p:nvCxnSpPr>
            <p:cNvPr id="403" name="Google Shape;403;p30"/>
            <p:cNvCxnSpPr/>
            <p:nvPr/>
          </p:nvCxnSpPr>
          <p:spPr>
            <a:xfrm flipH="1" rot="10800000">
              <a:off x="3648" y="2544"/>
              <a:ext cx="144" cy="144"/>
            </a:xfrm>
            <a:prstGeom prst="straightConnector1">
              <a:avLst/>
            </a:prstGeom>
            <a:noFill/>
            <a:ln cap="flat" cmpd="sng" w="9525">
              <a:solidFill>
                <a:schemeClr val="dk1"/>
              </a:solidFill>
              <a:prstDash val="solid"/>
              <a:miter lim="800000"/>
              <a:headEnd len="sm" w="sm" type="none"/>
              <a:tailEnd len="sm" w="sm" type="none"/>
            </a:ln>
          </p:spPr>
        </p:cxnSp>
        <p:cxnSp>
          <p:nvCxnSpPr>
            <p:cNvPr id="404" name="Google Shape;404;p30"/>
            <p:cNvCxnSpPr/>
            <p:nvPr/>
          </p:nvCxnSpPr>
          <p:spPr>
            <a:xfrm flipH="1" rot="10800000">
              <a:off x="3984" y="1728"/>
              <a:ext cx="624" cy="624"/>
            </a:xfrm>
            <a:prstGeom prst="straightConnector1">
              <a:avLst/>
            </a:prstGeom>
            <a:noFill/>
            <a:ln cap="flat" cmpd="sng" w="9525">
              <a:solidFill>
                <a:schemeClr val="dk1"/>
              </a:solidFill>
              <a:prstDash val="solid"/>
              <a:miter lim="800000"/>
              <a:headEnd len="sm" w="sm" type="none"/>
              <a:tailEnd len="med" w="med" type="triangle"/>
            </a:ln>
          </p:spPr>
        </p:cxnSp>
        <p:sp>
          <p:nvSpPr>
            <p:cNvPr id="405" name="Google Shape;405;p30"/>
            <p:cNvSpPr/>
            <p:nvPr/>
          </p:nvSpPr>
          <p:spPr>
            <a:xfrm>
              <a:off x="4596" y="1692"/>
              <a:ext cx="48" cy="48"/>
            </a:xfrm>
            <a:prstGeom prst="ellipse">
              <a:avLst/>
            </a:prstGeom>
            <a:solidFill>
              <a:srgbClr val="00008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06" name="Google Shape;406;p30"/>
            <p:cNvSpPr txBox="1"/>
            <p:nvPr/>
          </p:nvSpPr>
          <p:spPr>
            <a:xfrm>
              <a:off x="4646" y="160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800"/>
                <a:buFont typeface="Tahoma"/>
                <a:buNone/>
              </a:pPr>
              <a:r>
                <a:rPr b="0" i="0" lang="en-US" sz="1800" u="none" cap="none" strike="noStrike">
                  <a:solidFill>
                    <a:srgbClr val="000066"/>
                  </a:solidFill>
                  <a:latin typeface="Tahoma"/>
                  <a:ea typeface="Tahoma"/>
                  <a:cs typeface="Tahoma"/>
                  <a:sym typeface="Tahoma"/>
                </a:rPr>
                <a:t>P</a:t>
              </a:r>
              <a:r>
                <a:rPr b="0" baseline="-25000" i="0" lang="en-US" sz="1800" u="none" cap="none" strike="noStrike">
                  <a:solidFill>
                    <a:srgbClr val="000066"/>
                  </a:solidFill>
                  <a:latin typeface="Tahoma"/>
                  <a:ea typeface="Tahoma"/>
                  <a:cs typeface="Tahoma"/>
                  <a:sym typeface="Tahoma"/>
                </a:rPr>
                <a:t>h</a:t>
              </a:r>
              <a:r>
                <a:rPr b="0" i="0" lang="en-US" sz="1800" u="none" cap="none" strike="noStrike">
                  <a:solidFill>
                    <a:srgbClr val="000066"/>
                  </a:solidFill>
                  <a:latin typeface="Tahoma"/>
                  <a:ea typeface="Tahoma"/>
                  <a:cs typeface="Tahoma"/>
                  <a:sym typeface="Tahoma"/>
                </a:rPr>
                <a:t>(x,y,w)</a:t>
              </a:r>
              <a:endParaRPr b="0" i="0" sz="1400" u="none" cap="none" strike="noStrike">
                <a:solidFill>
                  <a:srgbClr val="000000"/>
                </a:solidFill>
                <a:latin typeface="Arial"/>
                <a:ea typeface="Arial"/>
                <a:cs typeface="Arial"/>
                <a:sym typeface="Arial"/>
              </a:endParaRPr>
            </a:p>
          </p:txBody>
        </p:sp>
        <p:sp>
          <p:nvSpPr>
            <p:cNvPr id="407" name="Google Shape;407;p30"/>
            <p:cNvSpPr txBox="1"/>
            <p:nvPr/>
          </p:nvSpPr>
          <p:spPr>
            <a:xfrm>
              <a:off x="4272" y="2304"/>
              <a:ext cx="9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800"/>
                <a:buFont typeface="Tahoma"/>
                <a:buNone/>
              </a:pPr>
              <a:r>
                <a:rPr b="0" i="0" lang="en-US" sz="1800" u="none" cap="none" strike="noStrike">
                  <a:solidFill>
                    <a:srgbClr val="000066"/>
                  </a:solidFill>
                  <a:latin typeface="Tahoma"/>
                  <a:ea typeface="Tahoma"/>
                  <a:cs typeface="Tahoma"/>
                  <a:sym typeface="Tahoma"/>
                </a:rPr>
                <a:t>P</a:t>
              </a:r>
              <a:r>
                <a:rPr b="0" baseline="-25000" i="0" lang="en-US" sz="1800" u="none" cap="none" strike="noStrike">
                  <a:solidFill>
                    <a:srgbClr val="000066"/>
                  </a:solidFill>
                  <a:latin typeface="Tahoma"/>
                  <a:ea typeface="Tahoma"/>
                  <a:cs typeface="Tahoma"/>
                  <a:sym typeface="Tahoma"/>
                </a:rPr>
                <a:t>2d</a:t>
              </a:r>
              <a:r>
                <a:rPr b="0" i="0" lang="en-US" sz="1800" u="none" cap="none" strike="noStrike">
                  <a:solidFill>
                    <a:srgbClr val="000066"/>
                  </a:solidFill>
                  <a:latin typeface="Tahoma"/>
                  <a:ea typeface="Tahoma"/>
                  <a:cs typeface="Tahoma"/>
                  <a:sym typeface="Tahoma"/>
                </a:rPr>
                <a:t>(x,y,1)</a:t>
              </a:r>
              <a:endParaRPr b="0" i="0" sz="1400" u="none" cap="none" strike="noStrike">
                <a:solidFill>
                  <a:srgbClr val="000000"/>
                </a:solidFill>
                <a:latin typeface="Arial"/>
                <a:ea typeface="Arial"/>
                <a:cs typeface="Arial"/>
                <a:sym typeface="Arial"/>
              </a:endParaRPr>
            </a:p>
          </p:txBody>
        </p:sp>
        <p:sp>
          <p:nvSpPr>
            <p:cNvPr id="408" name="Google Shape;408;p30"/>
            <p:cNvSpPr txBox="1"/>
            <p:nvPr/>
          </p:nvSpPr>
          <p:spPr>
            <a:xfrm>
              <a:off x="3264" y="2016"/>
              <a:ext cx="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800"/>
                <a:buFont typeface="Tahoma"/>
                <a:buNone/>
              </a:pPr>
              <a:r>
                <a:rPr b="0" i="0" lang="en-US" sz="1800" u="none" cap="none" strike="noStrike">
                  <a:solidFill>
                    <a:srgbClr val="000066"/>
                  </a:solidFill>
                  <a:latin typeface="Tahoma"/>
                  <a:ea typeface="Tahoma"/>
                  <a:cs typeface="Tahoma"/>
                  <a:sym typeface="Tahoma"/>
                </a:rPr>
                <a:t>w=1</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31"/>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Homogeneous Visualization</a:t>
            </a:r>
            <a:endParaRPr/>
          </a:p>
        </p:txBody>
      </p:sp>
      <p:pic>
        <p:nvPicPr>
          <p:cNvPr id="415" name="Google Shape;415;p31"/>
          <p:cNvPicPr preferRelativeResize="0"/>
          <p:nvPr/>
        </p:nvPicPr>
        <p:blipFill rotWithShape="1">
          <a:blip r:embed="rId3">
            <a:alphaModFix/>
          </a:blip>
          <a:srcRect b="9375" l="2499" r="0" t="17968"/>
          <a:stretch/>
        </p:blipFill>
        <p:spPr>
          <a:xfrm>
            <a:off x="914400" y="1390650"/>
            <a:ext cx="7543802" cy="337304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2"/>
          <p:cNvSpPr txBox="1"/>
          <p:nvPr>
            <p:ph type="ctrTitle"/>
          </p:nvPr>
        </p:nvSpPr>
        <p:spPr>
          <a:xfrm>
            <a:off x="1143000" y="841772"/>
            <a:ext cx="6858000" cy="17907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Mechanics of Rigid Transformations</a:t>
            </a:r>
            <a:endParaRPr/>
          </a:p>
        </p:txBody>
      </p:sp>
      <p:sp>
        <p:nvSpPr>
          <p:cNvPr id="421" name="Google Shape;421;p32"/>
          <p:cNvSpPr txBox="1"/>
          <p:nvPr>
            <p:ph idx="1" type="subTitle"/>
          </p:nvPr>
        </p:nvSpPr>
        <p:spPr>
          <a:xfrm>
            <a:off x="1143000" y="2701529"/>
            <a:ext cx="6858000" cy="1241700"/>
          </a:xfrm>
          <a:prstGeom prst="rect">
            <a:avLst/>
          </a:prstGeom>
          <a:noFill/>
          <a:ln>
            <a:noFill/>
          </a:ln>
        </p:spPr>
        <p:txBody>
          <a:bodyPr anchorCtr="0" anchor="t" bIns="46025" lIns="92075" spcFirstLastPara="1" rIns="92075" wrap="square" tIns="46025">
            <a:noAutofit/>
          </a:bodyPr>
          <a:lstStyle/>
          <a:p>
            <a:pPr indent="0" lvl="0" marL="0" rtl="0" algn="l">
              <a:lnSpc>
                <a:spcPct val="100000"/>
              </a:lnSpc>
              <a:spcBef>
                <a:spcPts val="0"/>
              </a:spcBef>
              <a:spcAft>
                <a:spcPts val="0"/>
              </a:spcAft>
              <a:buSzPts val="3040"/>
              <a:buNone/>
            </a:pPr>
            <a:r>
              <a:rPr b="0" i="0" lang="en-US" sz="3200" u="none">
                <a:solidFill>
                  <a:schemeClr val="dk1"/>
                </a:solidFill>
                <a:latin typeface="Times New Roman"/>
                <a:ea typeface="Times New Roman"/>
                <a:cs typeface="Times New Roman"/>
                <a:sym typeface="Times New Roman"/>
              </a:rPr>
              <a:t>Translate</a:t>
            </a:r>
            <a:endParaRPr/>
          </a:p>
          <a:p>
            <a:pPr indent="0" lvl="0" marL="0" rtl="0" algn="l">
              <a:lnSpc>
                <a:spcPct val="100000"/>
              </a:lnSpc>
              <a:spcBef>
                <a:spcPts val="640"/>
              </a:spcBef>
              <a:spcAft>
                <a:spcPts val="0"/>
              </a:spcAft>
              <a:buSzPts val="3040"/>
              <a:buNone/>
            </a:pPr>
            <a:r>
              <a:rPr b="0" i="0" lang="en-US" sz="3200" u="none">
                <a:solidFill>
                  <a:schemeClr val="dk1"/>
                </a:solidFill>
                <a:latin typeface="Times New Roman"/>
                <a:ea typeface="Times New Roman"/>
                <a:cs typeface="Times New Roman"/>
                <a:sym typeface="Times New Roman"/>
              </a:rPr>
              <a:t>Rotate</a:t>
            </a:r>
            <a:endParaRPr/>
          </a:p>
          <a:p>
            <a:pPr indent="0" lvl="0" marL="0" rtl="0" algn="l">
              <a:lnSpc>
                <a:spcPct val="100000"/>
              </a:lnSpc>
              <a:spcBef>
                <a:spcPts val="640"/>
              </a:spcBef>
              <a:spcAft>
                <a:spcPts val="0"/>
              </a:spcAft>
              <a:buSzPts val="3040"/>
              <a:buNone/>
            </a:pPr>
            <a:r>
              <a:rPr b="0" i="0" lang="en-US" sz="3200" u="none">
                <a:solidFill>
                  <a:schemeClr val="dk1"/>
                </a:solidFill>
                <a:latin typeface="Times New Roman"/>
                <a:ea typeface="Times New Roman"/>
                <a:cs typeface="Times New Roman"/>
                <a:sym typeface="Times New Roman"/>
              </a:rPr>
              <a:t>Scale</a:t>
            </a:r>
            <a:endParaRPr/>
          </a:p>
        </p:txBody>
      </p:sp>
      <p:sp>
        <p:nvSpPr>
          <p:cNvPr id="422" name="Google Shape;422;p32"/>
          <p:cNvSpPr txBox="1"/>
          <p:nvPr/>
        </p:nvSpPr>
        <p:spPr>
          <a:xfrm>
            <a:off x="7391400" y="4762500"/>
            <a:ext cx="1724100" cy="342900"/>
          </a:xfrm>
          <a:prstGeom prst="rect">
            <a:avLst/>
          </a:prstGeom>
          <a:noFill/>
          <a:ln>
            <a:noFill/>
          </a:ln>
        </p:spPr>
        <p:txBody>
          <a:bodyPr anchorCtr="0" anchor="b"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3"/>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29" name="Google Shape;429;p33"/>
          <p:cNvSpPr txBox="1"/>
          <p:nvPr>
            <p:ph type="title"/>
          </p:nvPr>
        </p:nvSpPr>
        <p:spPr>
          <a:xfrm>
            <a:off x="1528762" y="285750"/>
            <a:ext cx="7564500" cy="6288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Translation – 2D</a:t>
            </a:r>
            <a:endParaRPr/>
          </a:p>
        </p:txBody>
      </p:sp>
      <p:pic>
        <p:nvPicPr>
          <p:cNvPr id="430" name="Google Shape;430;p33"/>
          <p:cNvPicPr preferRelativeResize="0"/>
          <p:nvPr/>
        </p:nvPicPr>
        <p:blipFill rotWithShape="1">
          <a:blip r:embed="rId3">
            <a:alphaModFix/>
          </a:blip>
          <a:srcRect b="0" l="0" r="0" t="0"/>
          <a:stretch/>
        </p:blipFill>
        <p:spPr>
          <a:xfrm>
            <a:off x="2355850" y="1026319"/>
            <a:ext cx="2181224" cy="1921669"/>
          </a:xfrm>
          <a:prstGeom prst="rect">
            <a:avLst/>
          </a:prstGeom>
          <a:noFill/>
          <a:ln>
            <a:noFill/>
          </a:ln>
        </p:spPr>
      </p:pic>
      <p:pic>
        <p:nvPicPr>
          <p:cNvPr id="431" name="Google Shape;431;p33"/>
          <p:cNvPicPr preferRelativeResize="0"/>
          <p:nvPr/>
        </p:nvPicPr>
        <p:blipFill rotWithShape="1">
          <a:blip r:embed="rId4">
            <a:alphaModFix/>
          </a:blip>
          <a:srcRect b="0" l="0" r="0" t="0"/>
          <a:stretch/>
        </p:blipFill>
        <p:spPr>
          <a:xfrm>
            <a:off x="3124200" y="3049190"/>
            <a:ext cx="4114800" cy="2094309"/>
          </a:xfrm>
          <a:prstGeom prst="rect">
            <a:avLst/>
          </a:prstGeom>
          <a:noFill/>
          <a:ln>
            <a:noFill/>
          </a:ln>
        </p:spPr>
      </p:pic>
      <p:grpSp>
        <p:nvGrpSpPr>
          <p:cNvPr id="432" name="Google Shape;432;p33"/>
          <p:cNvGrpSpPr/>
          <p:nvPr/>
        </p:nvGrpSpPr>
        <p:grpSpPr>
          <a:xfrm>
            <a:off x="1447800" y="1028700"/>
            <a:ext cx="7270750" cy="2828925"/>
            <a:chOff x="912" y="864"/>
            <a:chExt cx="4580" cy="2376"/>
          </a:xfrm>
        </p:grpSpPr>
        <p:sp>
          <p:nvSpPr>
            <p:cNvPr id="433" name="Google Shape;433;p33"/>
            <p:cNvSpPr txBox="1"/>
            <p:nvPr/>
          </p:nvSpPr>
          <p:spPr>
            <a:xfrm>
              <a:off x="912" y="2640"/>
              <a:ext cx="900" cy="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x’ = x + d</a:t>
              </a:r>
              <a:r>
                <a:rPr b="0" baseline="-25000" i="0" lang="en-US" sz="1800" u="none" cap="none" strike="noStrike">
                  <a:solidFill>
                    <a:schemeClr val="dk1"/>
                  </a:solidFill>
                  <a:latin typeface="Tahoma"/>
                  <a:ea typeface="Tahoma"/>
                  <a:cs typeface="Tahoma"/>
                  <a:sym typeface="Tahoma"/>
                </a:rPr>
                <a:t>x</a:t>
              </a:r>
              <a:r>
                <a:rPr b="0" i="0" lang="en-US" sz="1800" u="none" cap="none" strike="noStrike">
                  <a:solidFill>
                    <a:schemeClr val="dk1"/>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Tahoma"/>
                <a:buNone/>
              </a:pPr>
              <a:r>
                <a:rPr b="0" i="0" lang="en-US" sz="1800" u="none" cap="none" strike="noStrike">
                  <a:solidFill>
                    <a:schemeClr val="dk1"/>
                  </a:solidFill>
                  <a:latin typeface="Tahoma"/>
                  <a:ea typeface="Tahoma"/>
                  <a:cs typeface="Tahoma"/>
                  <a:sym typeface="Tahoma"/>
                </a:rPr>
                <a:t>y’ = y + d</a:t>
              </a:r>
              <a:r>
                <a:rPr b="0" baseline="-25000" i="0" lang="en-US" sz="1800" u="none" cap="none" strike="noStrike">
                  <a:solidFill>
                    <a:schemeClr val="dk1"/>
                  </a:solidFill>
                  <a:latin typeface="Tahoma"/>
                  <a:ea typeface="Tahoma"/>
                  <a:cs typeface="Tahoma"/>
                  <a:sym typeface="Tahoma"/>
                </a:rPr>
                <a:t>y</a:t>
              </a:r>
              <a:endParaRPr b="0" i="0" sz="1400" u="none" cap="none" strike="noStrike">
                <a:solidFill>
                  <a:srgbClr val="000000"/>
                </a:solidFill>
                <a:latin typeface="Arial"/>
                <a:ea typeface="Arial"/>
                <a:cs typeface="Arial"/>
                <a:sym typeface="Arial"/>
              </a:endParaRPr>
            </a:p>
          </p:txBody>
        </p:sp>
        <p:pic>
          <p:nvPicPr>
            <p:cNvPr id="434" name="Google Shape;434;p33"/>
            <p:cNvPicPr preferRelativeResize="0"/>
            <p:nvPr/>
          </p:nvPicPr>
          <p:blipFill rotWithShape="1">
            <a:blip r:embed="rId5">
              <a:alphaModFix/>
            </a:blip>
            <a:srcRect b="0" l="0" r="0" t="0"/>
            <a:stretch/>
          </p:blipFill>
          <p:spPr>
            <a:xfrm>
              <a:off x="3408" y="864"/>
              <a:ext cx="2084" cy="1604"/>
            </a:xfrm>
            <a:prstGeom prst="rect">
              <a:avLst/>
            </a:prstGeom>
            <a:noFill/>
            <a:ln>
              <a:noFill/>
            </a:ln>
          </p:spPr>
        </p:pic>
      </p:grpSp>
      <p:pic>
        <p:nvPicPr>
          <p:cNvPr id="435" name="Google Shape;435;p33"/>
          <p:cNvPicPr preferRelativeResize="0"/>
          <p:nvPr/>
        </p:nvPicPr>
        <p:blipFill rotWithShape="1">
          <a:blip r:embed="rId5">
            <a:alphaModFix/>
          </a:blip>
          <a:srcRect b="0" l="0" r="0" t="0"/>
          <a:stretch/>
        </p:blipFill>
        <p:spPr>
          <a:xfrm>
            <a:off x="0" y="0"/>
            <a:ext cx="0" cy="0"/>
          </a:xfrm>
          <a:prstGeom prst="rect">
            <a:avLst/>
          </a:prstGeom>
          <a:noFill/>
          <a:ln>
            <a:noFill/>
          </a:ln>
        </p:spPr>
      </p:pic>
      <p:pic>
        <p:nvPicPr>
          <p:cNvPr id="436" name="Google Shape;436;p33"/>
          <p:cNvPicPr preferRelativeResize="0"/>
          <p:nvPr/>
        </p:nvPicPr>
        <p:blipFill rotWithShape="1">
          <a:blip r:embed="rId5">
            <a:alphaModFix/>
          </a:blip>
          <a:srcRect b="0" l="0" r="0" t="0"/>
          <a:stretch/>
        </p:blipFill>
        <p:spPr>
          <a:xfrm>
            <a:off x="0" y="0"/>
            <a:ext cx="0" cy="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4"/>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42" name="Google Shape;442;p34"/>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Translation – 3D</a:t>
            </a:r>
            <a:endParaRPr/>
          </a:p>
        </p:txBody>
      </p:sp>
      <p:pic>
        <p:nvPicPr>
          <p:cNvPr id="443" name="Google Shape;443;p34"/>
          <p:cNvPicPr preferRelativeResize="0"/>
          <p:nvPr/>
        </p:nvPicPr>
        <p:blipFill rotWithShape="1">
          <a:blip r:embed="rId3">
            <a:alphaModFix/>
          </a:blip>
          <a:srcRect b="0" l="0" r="0" t="0"/>
          <a:stretch/>
        </p:blipFill>
        <p:spPr>
          <a:xfrm>
            <a:off x="4495800" y="2743200"/>
            <a:ext cx="2952751" cy="2134790"/>
          </a:xfrm>
          <a:prstGeom prst="rect">
            <a:avLst/>
          </a:prstGeom>
          <a:noFill/>
          <a:ln>
            <a:noFill/>
          </a:ln>
        </p:spPr>
      </p:pic>
      <p:pic>
        <p:nvPicPr>
          <p:cNvPr descr="D:\USERS\STEVE\4ba6\teapot normal axes.png" id="444" name="Google Shape;444;p34"/>
          <p:cNvPicPr preferRelativeResize="0"/>
          <p:nvPr/>
        </p:nvPicPr>
        <p:blipFill rotWithShape="1">
          <a:blip r:embed="rId4">
            <a:alphaModFix/>
          </a:blip>
          <a:srcRect b="0" l="0" r="0" t="0"/>
          <a:stretch/>
        </p:blipFill>
        <p:spPr>
          <a:xfrm>
            <a:off x="1295400" y="1028700"/>
            <a:ext cx="2813050" cy="1714500"/>
          </a:xfrm>
          <a:prstGeom prst="rect">
            <a:avLst/>
          </a:prstGeom>
          <a:noFill/>
          <a:ln>
            <a:noFill/>
          </a:ln>
        </p:spPr>
      </p:pic>
      <p:pic>
        <p:nvPicPr>
          <p:cNvPr descr="D:\USERS\STEVE\4ba6\teapot off axes.png" id="445" name="Google Shape;445;p34"/>
          <p:cNvPicPr preferRelativeResize="0"/>
          <p:nvPr/>
        </p:nvPicPr>
        <p:blipFill rotWithShape="1">
          <a:blip r:embed="rId5">
            <a:alphaModFix/>
          </a:blip>
          <a:srcRect b="0" l="0" r="0" t="0"/>
          <a:stretch/>
        </p:blipFill>
        <p:spPr>
          <a:xfrm>
            <a:off x="1295400" y="3257550"/>
            <a:ext cx="2814637" cy="1714500"/>
          </a:xfrm>
          <a:prstGeom prst="rect">
            <a:avLst/>
          </a:prstGeom>
          <a:noFill/>
          <a:ln>
            <a:noFill/>
          </a:ln>
        </p:spPr>
      </p:pic>
      <p:pic>
        <p:nvPicPr>
          <p:cNvPr id="446" name="Google Shape;446;p34"/>
          <p:cNvPicPr preferRelativeResize="0"/>
          <p:nvPr/>
        </p:nvPicPr>
        <p:blipFill rotWithShape="1">
          <a:blip r:embed="rId6">
            <a:alphaModFix/>
          </a:blip>
          <a:srcRect b="0" l="0" r="0" t="0"/>
          <a:stretch/>
        </p:blipFill>
        <p:spPr>
          <a:xfrm>
            <a:off x="5486400" y="1085850"/>
            <a:ext cx="1047751" cy="1048940"/>
          </a:xfrm>
          <a:prstGeom prst="rect">
            <a:avLst/>
          </a:prstGeom>
          <a:noFill/>
          <a:ln>
            <a:noFill/>
          </a:ln>
        </p:spPr>
      </p:pic>
      <p:sp>
        <p:nvSpPr>
          <p:cNvPr id="447" name="Google Shape;447;p34"/>
          <p:cNvSpPr/>
          <p:nvPr/>
        </p:nvSpPr>
        <p:spPr>
          <a:xfrm>
            <a:off x="5791200" y="2286000"/>
            <a:ext cx="609600" cy="342900"/>
          </a:xfrm>
          <a:prstGeom prst="downArrow">
            <a:avLst>
              <a:gd fmla="val 50000" name="adj1"/>
              <a:gd fmla="val 50000" name="adj2"/>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48" name="Google Shape;448;p34"/>
          <p:cNvSpPr/>
          <p:nvPr/>
        </p:nvSpPr>
        <p:spPr>
          <a:xfrm>
            <a:off x="2438400" y="2800350"/>
            <a:ext cx="609600" cy="342900"/>
          </a:xfrm>
          <a:prstGeom prst="downArrow">
            <a:avLst>
              <a:gd fmla="val 50000" name="adj1"/>
              <a:gd fmla="val 50000" name="adj2"/>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5"/>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54" name="Google Shape;454;p35"/>
          <p:cNvSpPr txBox="1"/>
          <p:nvPr>
            <p:ph type="title"/>
          </p:nvPr>
        </p:nvSpPr>
        <p:spPr>
          <a:xfrm>
            <a:off x="1528762" y="57150"/>
            <a:ext cx="6700800" cy="8574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Scaling – 2D</a:t>
            </a:r>
            <a:endParaRPr/>
          </a:p>
        </p:txBody>
      </p:sp>
      <p:pic>
        <p:nvPicPr>
          <p:cNvPr id="455" name="Google Shape;455;p35"/>
          <p:cNvPicPr preferRelativeResize="0"/>
          <p:nvPr/>
        </p:nvPicPr>
        <p:blipFill rotWithShape="1">
          <a:blip r:embed="rId3">
            <a:alphaModFix/>
          </a:blip>
          <a:srcRect b="0" l="0" r="0" t="0"/>
          <a:stretch/>
        </p:blipFill>
        <p:spPr>
          <a:xfrm>
            <a:off x="1524000" y="1218009"/>
            <a:ext cx="3371848" cy="1468040"/>
          </a:xfrm>
          <a:prstGeom prst="rect">
            <a:avLst/>
          </a:prstGeom>
          <a:noFill/>
          <a:ln>
            <a:noFill/>
          </a:ln>
        </p:spPr>
      </p:pic>
      <p:pic>
        <p:nvPicPr>
          <p:cNvPr id="456" name="Google Shape;456;p35"/>
          <p:cNvPicPr preferRelativeResize="0"/>
          <p:nvPr/>
        </p:nvPicPr>
        <p:blipFill rotWithShape="1">
          <a:blip r:embed="rId4">
            <a:alphaModFix/>
          </a:blip>
          <a:srcRect b="0" l="0" r="0" t="0"/>
          <a:stretch/>
        </p:blipFill>
        <p:spPr>
          <a:xfrm>
            <a:off x="1628775" y="2800350"/>
            <a:ext cx="2230039" cy="2152650"/>
          </a:xfrm>
          <a:prstGeom prst="rect">
            <a:avLst/>
          </a:prstGeom>
          <a:noFill/>
          <a:ln>
            <a:noFill/>
          </a:ln>
        </p:spPr>
      </p:pic>
      <p:sp>
        <p:nvSpPr>
          <p:cNvPr id="457" name="Google Shape;457;p35"/>
          <p:cNvSpPr txBox="1"/>
          <p:nvPr/>
        </p:nvSpPr>
        <p:spPr>
          <a:xfrm>
            <a:off x="6051550" y="1245394"/>
            <a:ext cx="2863800" cy="163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cap="none" strike="noStrike">
                <a:solidFill>
                  <a:schemeClr val="dk1"/>
                </a:solidFill>
                <a:latin typeface="Tahoma"/>
                <a:ea typeface="Tahoma"/>
                <a:cs typeface="Tahoma"/>
                <a:sym typeface="Tahoma"/>
              </a:rPr>
              <a:t>Types of Scaling: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Times New Roman"/>
              <a:buNone/>
            </a:pPr>
            <a:r>
              <a:t/>
            </a:r>
            <a:endParaRPr b="0" i="0" sz="20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Tahoma"/>
                <a:ea typeface="Tahoma"/>
                <a:cs typeface="Tahoma"/>
                <a:sym typeface="Tahoma"/>
              </a:rPr>
              <a:t>Differential ( s</a:t>
            </a:r>
            <a:r>
              <a:rPr b="0" baseline="-25000" i="0" lang="en-US" sz="2000" u="none" cap="none" strike="noStrike">
                <a:solidFill>
                  <a:schemeClr val="dk1"/>
                </a:solidFill>
                <a:latin typeface="Tahoma"/>
                <a:ea typeface="Tahoma"/>
                <a:cs typeface="Tahoma"/>
                <a:sym typeface="Tahoma"/>
              </a:rPr>
              <a:t>x</a:t>
            </a:r>
            <a:r>
              <a:rPr b="0" i="0" lang="en-US" sz="2000" u="none" cap="none" strike="noStrike">
                <a:solidFill>
                  <a:schemeClr val="dk1"/>
                </a:solidFill>
                <a:latin typeface="Tahoma"/>
                <a:ea typeface="Tahoma"/>
                <a:cs typeface="Tahoma"/>
                <a:sym typeface="Tahoma"/>
              </a:rPr>
              <a:t> != s</a:t>
            </a:r>
            <a:r>
              <a:rPr b="0" baseline="-25000" i="0" lang="en-US" sz="2000" u="none" cap="none" strike="noStrike">
                <a:solidFill>
                  <a:schemeClr val="dk1"/>
                </a:solidFill>
                <a:latin typeface="Tahoma"/>
                <a:ea typeface="Tahoma"/>
                <a:cs typeface="Tahoma"/>
                <a:sym typeface="Tahoma"/>
              </a:rPr>
              <a:t>y</a:t>
            </a:r>
            <a:r>
              <a:rPr b="0" i="0" lang="en-US" sz="2000" u="none" cap="none" strike="noStrike">
                <a:solidFill>
                  <a:schemeClr val="dk1"/>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2000"/>
              <a:buFont typeface="Noto Sans Symbols"/>
              <a:buChar char="⮚"/>
            </a:pPr>
            <a:r>
              <a:rPr b="0" i="0" lang="en-US" sz="2000" u="none" cap="none" strike="noStrike">
                <a:solidFill>
                  <a:schemeClr val="dk1"/>
                </a:solidFill>
                <a:latin typeface="Tahoma"/>
                <a:ea typeface="Tahoma"/>
                <a:cs typeface="Tahoma"/>
                <a:sym typeface="Tahoma"/>
              </a:rPr>
              <a:t>Uniform ( s</a:t>
            </a:r>
            <a:r>
              <a:rPr b="0" baseline="-25000" i="0" lang="en-US" sz="2000" u="none" cap="none" strike="noStrike">
                <a:solidFill>
                  <a:schemeClr val="dk1"/>
                </a:solidFill>
                <a:latin typeface="Tahoma"/>
                <a:ea typeface="Tahoma"/>
                <a:cs typeface="Tahoma"/>
                <a:sym typeface="Tahoma"/>
              </a:rPr>
              <a:t>x</a:t>
            </a:r>
            <a:r>
              <a:rPr b="0" i="0" lang="en-US" sz="2000" u="none" cap="none" strike="noStrike">
                <a:solidFill>
                  <a:schemeClr val="dk1"/>
                </a:solidFill>
                <a:latin typeface="Tahoma"/>
                <a:ea typeface="Tahoma"/>
                <a:cs typeface="Tahoma"/>
                <a:sym typeface="Tahoma"/>
              </a:rPr>
              <a:t> = s</a:t>
            </a:r>
            <a:r>
              <a:rPr b="0" baseline="-25000" i="0" lang="en-US" sz="2000" u="none" cap="none" strike="noStrike">
                <a:solidFill>
                  <a:schemeClr val="dk1"/>
                </a:solidFill>
                <a:latin typeface="Tahoma"/>
                <a:ea typeface="Tahoma"/>
                <a:cs typeface="Tahoma"/>
                <a:sym typeface="Tahoma"/>
              </a:rPr>
              <a:t>y</a:t>
            </a:r>
            <a:r>
              <a:rPr b="0" i="0" lang="en-US" sz="2000" u="none" cap="none" strike="noStrike">
                <a:solidFill>
                  <a:schemeClr val="dk1"/>
                </a:solidFill>
                <a:latin typeface="Tahoma"/>
                <a:ea typeface="Tahoma"/>
                <a:cs typeface="Tahoma"/>
                <a:sym typeface="Tahoma"/>
              </a:rPr>
              <a:t>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ahoma"/>
              <a:ea typeface="Tahoma"/>
              <a:cs typeface="Tahoma"/>
              <a:sym typeface="Tahoma"/>
            </a:endParaRPr>
          </a:p>
        </p:txBody>
      </p:sp>
      <p:grpSp>
        <p:nvGrpSpPr>
          <p:cNvPr id="458" name="Google Shape;458;p35"/>
          <p:cNvGrpSpPr/>
          <p:nvPr/>
        </p:nvGrpSpPr>
        <p:grpSpPr>
          <a:xfrm>
            <a:off x="4495800" y="3506390"/>
            <a:ext cx="4100512" cy="1438275"/>
            <a:chOff x="3024" y="2945"/>
            <a:chExt cx="2583" cy="1208"/>
          </a:xfrm>
        </p:grpSpPr>
        <p:pic>
          <p:nvPicPr>
            <p:cNvPr id="459" name="Google Shape;459;p35"/>
            <p:cNvPicPr preferRelativeResize="0"/>
            <p:nvPr/>
          </p:nvPicPr>
          <p:blipFill rotWithShape="1">
            <a:blip r:embed="rId5">
              <a:alphaModFix/>
            </a:blip>
            <a:srcRect b="0" l="0" r="0" t="0"/>
            <a:stretch/>
          </p:blipFill>
          <p:spPr>
            <a:xfrm>
              <a:off x="3593" y="2945"/>
              <a:ext cx="2014" cy="1208"/>
            </a:xfrm>
            <a:prstGeom prst="rect">
              <a:avLst/>
            </a:prstGeom>
            <a:noFill/>
            <a:ln>
              <a:noFill/>
            </a:ln>
          </p:spPr>
        </p:pic>
        <p:sp>
          <p:nvSpPr>
            <p:cNvPr id="460" name="Google Shape;460;p35"/>
            <p:cNvSpPr/>
            <p:nvPr/>
          </p:nvSpPr>
          <p:spPr>
            <a:xfrm>
              <a:off x="3024" y="3648"/>
              <a:ext cx="384" cy="336"/>
            </a:xfrm>
            <a:prstGeom prst="rightArrow">
              <a:avLst>
                <a:gd fmla="val 50000" name="adj1"/>
                <a:gd fmla="val 50000" name="adj2"/>
              </a:avLst>
            </a:prstGeom>
            <a:gradFill>
              <a:gsLst>
                <a:gs pos="0">
                  <a:schemeClr val="accent2"/>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457"/>
                                        </p:tgtEl>
                                        <p:attrNameLst>
                                          <p:attrName>style.visibility</p:attrName>
                                        </p:attrNameLst>
                                      </p:cBhvr>
                                      <p:to>
                                        <p:strVal val="visible"/>
                                      </p:to>
                                    </p:set>
                                    <p:anim calcmode="lin" valueType="num">
                                      <p:cBhvr additive="base">
                                        <p:cTn dur="500"/>
                                        <p:tgtEl>
                                          <p:spTgt spid="457"/>
                                        </p:tgtEl>
                                        <p:attrNameLst>
                                          <p:attrName>ppt_w</p:attrName>
                                        </p:attrNameLst>
                                      </p:cBhvr>
                                      <p:tavLst>
                                        <p:tav fmla="" tm="0">
                                          <p:val>
                                            <p:strVal val="0"/>
                                          </p:val>
                                        </p:tav>
                                        <p:tav fmla="" tm="100000">
                                          <p:val>
                                            <p:strVal val="#ppt_w"/>
                                          </p:val>
                                        </p:tav>
                                      </p:tavLst>
                                    </p:anim>
                                    <p:anim calcmode="lin" valueType="num">
                                      <p:cBhvr additive="base">
                                        <p:cTn dur="500"/>
                                        <p:tgtEl>
                                          <p:spTgt spid="45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6"/>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66" name="Google Shape;466;p36"/>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Scaling – 3D</a:t>
            </a:r>
            <a:endParaRPr/>
          </a:p>
        </p:txBody>
      </p:sp>
      <p:pic>
        <p:nvPicPr>
          <p:cNvPr id="467" name="Google Shape;467;p36"/>
          <p:cNvPicPr preferRelativeResize="0"/>
          <p:nvPr/>
        </p:nvPicPr>
        <p:blipFill rotWithShape="1">
          <a:blip r:embed="rId3">
            <a:alphaModFix/>
          </a:blip>
          <a:srcRect b="0" l="0" r="0" t="0"/>
          <a:stretch/>
        </p:blipFill>
        <p:spPr>
          <a:xfrm>
            <a:off x="4792662" y="2828925"/>
            <a:ext cx="3263502" cy="2314576"/>
          </a:xfrm>
          <a:prstGeom prst="rect">
            <a:avLst/>
          </a:prstGeom>
          <a:noFill/>
          <a:ln>
            <a:noFill/>
          </a:ln>
        </p:spPr>
      </p:pic>
      <p:sp>
        <p:nvSpPr>
          <p:cNvPr id="468" name="Google Shape;468;p36"/>
          <p:cNvSpPr/>
          <p:nvPr/>
        </p:nvSpPr>
        <p:spPr>
          <a:xfrm flipH="1">
            <a:off x="7924800" y="2343150"/>
            <a:ext cx="533400" cy="342900"/>
          </a:xfrm>
          <a:prstGeom prst="downArrow">
            <a:avLst>
              <a:gd fmla="val 50000" name="adj1"/>
              <a:gd fmla="val 50000" name="adj2"/>
            </a:avLst>
          </a:prstGeom>
          <a:gradFill>
            <a:gsLst>
              <a:gs pos="0">
                <a:schemeClr val="lt1"/>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469" name="Google Shape;469;p36"/>
          <p:cNvGrpSpPr/>
          <p:nvPr/>
        </p:nvGrpSpPr>
        <p:grpSpPr>
          <a:xfrm>
            <a:off x="1447800" y="1028700"/>
            <a:ext cx="2813050" cy="1714500"/>
            <a:chOff x="528" y="864"/>
            <a:chExt cx="1772" cy="1440"/>
          </a:xfrm>
        </p:grpSpPr>
        <p:pic>
          <p:nvPicPr>
            <p:cNvPr descr="D:\USERS\STEVE\4ba6\teapot normal axes.png" id="470" name="Google Shape;470;p36"/>
            <p:cNvPicPr preferRelativeResize="0"/>
            <p:nvPr/>
          </p:nvPicPr>
          <p:blipFill rotWithShape="1">
            <a:blip r:embed="rId4">
              <a:alphaModFix/>
            </a:blip>
            <a:srcRect b="0" l="0" r="0" t="0"/>
            <a:stretch/>
          </p:blipFill>
          <p:spPr>
            <a:xfrm>
              <a:off x="528" y="864"/>
              <a:ext cx="1772" cy="1440"/>
            </a:xfrm>
            <a:prstGeom prst="rect">
              <a:avLst/>
            </a:prstGeom>
            <a:noFill/>
            <a:ln>
              <a:noFill/>
            </a:ln>
          </p:spPr>
        </p:pic>
        <p:sp>
          <p:nvSpPr>
            <p:cNvPr id="471" name="Google Shape;471;p36"/>
            <p:cNvSpPr txBox="1"/>
            <p:nvPr/>
          </p:nvSpPr>
          <p:spPr>
            <a:xfrm>
              <a:off x="1274" y="1824"/>
              <a:ext cx="6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Original</a:t>
              </a:r>
              <a:endParaRPr b="0" i="0" sz="1400" u="none" cap="none" strike="noStrike">
                <a:solidFill>
                  <a:srgbClr val="000000"/>
                </a:solidFill>
                <a:latin typeface="Arial"/>
                <a:ea typeface="Arial"/>
                <a:cs typeface="Arial"/>
                <a:sym typeface="Arial"/>
              </a:endParaRPr>
            </a:p>
          </p:txBody>
        </p:sp>
      </p:grpSp>
      <p:grpSp>
        <p:nvGrpSpPr>
          <p:cNvPr id="472" name="Google Shape;472;p36"/>
          <p:cNvGrpSpPr/>
          <p:nvPr/>
        </p:nvGrpSpPr>
        <p:grpSpPr>
          <a:xfrm>
            <a:off x="1524000" y="3086100"/>
            <a:ext cx="2814637" cy="1714500"/>
            <a:chOff x="672" y="2304"/>
            <a:chExt cx="1773" cy="1440"/>
          </a:xfrm>
        </p:grpSpPr>
        <p:pic>
          <p:nvPicPr>
            <p:cNvPr descr="D:\USERS\STEVE\4ba6\teapot scale all.png" id="473" name="Google Shape;473;p36"/>
            <p:cNvPicPr preferRelativeResize="0"/>
            <p:nvPr/>
          </p:nvPicPr>
          <p:blipFill rotWithShape="1">
            <a:blip r:embed="rId5">
              <a:alphaModFix/>
            </a:blip>
            <a:srcRect b="0" l="0" r="0" t="0"/>
            <a:stretch/>
          </p:blipFill>
          <p:spPr>
            <a:xfrm>
              <a:off x="672" y="2304"/>
              <a:ext cx="1773" cy="1440"/>
            </a:xfrm>
            <a:prstGeom prst="rect">
              <a:avLst/>
            </a:prstGeom>
            <a:noFill/>
            <a:ln>
              <a:noFill/>
            </a:ln>
          </p:spPr>
        </p:pic>
        <p:sp>
          <p:nvSpPr>
            <p:cNvPr id="474" name="Google Shape;474;p36"/>
            <p:cNvSpPr txBox="1"/>
            <p:nvPr/>
          </p:nvSpPr>
          <p:spPr>
            <a:xfrm>
              <a:off x="1263" y="3312"/>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scale all axes</a:t>
              </a:r>
              <a:endParaRPr b="0" i="0" sz="1400" u="none" cap="none" strike="noStrike">
                <a:solidFill>
                  <a:srgbClr val="000000"/>
                </a:solidFill>
                <a:latin typeface="Arial"/>
                <a:ea typeface="Arial"/>
                <a:cs typeface="Arial"/>
                <a:sym typeface="Arial"/>
              </a:endParaRPr>
            </a:p>
          </p:txBody>
        </p:sp>
      </p:grpSp>
      <p:grpSp>
        <p:nvGrpSpPr>
          <p:cNvPr id="475" name="Google Shape;475;p36"/>
          <p:cNvGrpSpPr/>
          <p:nvPr/>
        </p:nvGrpSpPr>
        <p:grpSpPr>
          <a:xfrm>
            <a:off x="4267200" y="1028700"/>
            <a:ext cx="2814637" cy="1714500"/>
            <a:chOff x="3723" y="960"/>
            <a:chExt cx="1773" cy="1440"/>
          </a:xfrm>
        </p:grpSpPr>
        <p:pic>
          <p:nvPicPr>
            <p:cNvPr descr="D:\USERS\STEVE\4ba6\teapot scale X.png" id="476" name="Google Shape;476;p36"/>
            <p:cNvPicPr preferRelativeResize="0"/>
            <p:nvPr/>
          </p:nvPicPr>
          <p:blipFill rotWithShape="1">
            <a:blip r:embed="rId6">
              <a:alphaModFix/>
            </a:blip>
            <a:srcRect b="0" l="0" r="0" t="0"/>
            <a:stretch/>
          </p:blipFill>
          <p:spPr>
            <a:xfrm>
              <a:off x="3723" y="960"/>
              <a:ext cx="1773" cy="1440"/>
            </a:xfrm>
            <a:prstGeom prst="rect">
              <a:avLst/>
            </a:prstGeom>
            <a:noFill/>
            <a:ln>
              <a:noFill/>
            </a:ln>
          </p:spPr>
        </p:pic>
        <p:sp>
          <p:nvSpPr>
            <p:cNvPr id="477" name="Google Shape;477;p36"/>
            <p:cNvSpPr txBox="1"/>
            <p:nvPr/>
          </p:nvSpPr>
          <p:spPr>
            <a:xfrm>
              <a:off x="4324" y="1929"/>
              <a:ext cx="9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scale Y axis</a:t>
              </a:r>
              <a:endParaRPr b="0" i="0" sz="1400" u="none" cap="none" strike="noStrike">
                <a:solidFill>
                  <a:srgbClr val="000000"/>
                </a:solidFill>
                <a:latin typeface="Arial"/>
                <a:ea typeface="Arial"/>
                <a:cs typeface="Arial"/>
                <a:sym typeface="Arial"/>
              </a:endParaRPr>
            </a:p>
          </p:txBody>
        </p:sp>
      </p:grpSp>
      <p:pic>
        <p:nvPicPr>
          <p:cNvPr id="478" name="Google Shape;478;p36"/>
          <p:cNvPicPr preferRelativeResize="0"/>
          <p:nvPr/>
        </p:nvPicPr>
        <p:blipFill rotWithShape="1">
          <a:blip r:embed="rId7">
            <a:alphaModFix/>
          </a:blip>
          <a:srcRect b="0" l="0" r="0" t="0"/>
          <a:stretch/>
        </p:blipFill>
        <p:spPr>
          <a:xfrm>
            <a:off x="7543800" y="1143000"/>
            <a:ext cx="1052512" cy="1137045"/>
          </a:xfrm>
          <a:prstGeom prst="rect">
            <a:avLst/>
          </a:prstGeom>
          <a:noFill/>
          <a:ln>
            <a:noFill/>
          </a:ln>
        </p:spPr>
      </p:pic>
      <p:sp>
        <p:nvSpPr>
          <p:cNvPr id="479" name="Google Shape;479;p36"/>
          <p:cNvSpPr/>
          <p:nvPr/>
        </p:nvSpPr>
        <p:spPr>
          <a:xfrm>
            <a:off x="4038600" y="1657350"/>
            <a:ext cx="609600" cy="342900"/>
          </a:xfrm>
          <a:prstGeom prst="rightArrow">
            <a:avLst>
              <a:gd fmla="val 50000" name="adj1"/>
              <a:gd fmla="val 50000" name="adj2"/>
            </a:avLst>
          </a:prstGeom>
          <a:gradFill>
            <a:gsLst>
              <a:gs pos="0">
                <a:schemeClr val="accent2"/>
              </a:gs>
              <a:gs pos="100000">
                <a:schemeClr val="accent1"/>
              </a:gs>
            </a:gsLst>
            <a:lin ang="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480" name="Google Shape;480;p36"/>
          <p:cNvSpPr/>
          <p:nvPr/>
        </p:nvSpPr>
        <p:spPr>
          <a:xfrm>
            <a:off x="2743200" y="2686050"/>
            <a:ext cx="533400" cy="285900"/>
          </a:xfrm>
          <a:prstGeom prst="downArrow">
            <a:avLst>
              <a:gd fmla="val 50000" name="adj1"/>
              <a:gd fmla="val 50000" name="adj2"/>
            </a:avLst>
          </a:prstGeom>
          <a:gradFill>
            <a:gsLst>
              <a:gs pos="0">
                <a:schemeClr val="accent2"/>
              </a:gs>
              <a:gs pos="100000">
                <a:schemeClr val="accent1"/>
              </a:gs>
            </a:gsLst>
            <a:lin ang="5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37"/>
          <p:cNvSpPr txBox="1"/>
          <p:nvPr>
            <p:ph type="title"/>
          </p:nvPr>
        </p:nvSpPr>
        <p:spPr>
          <a:xfrm>
            <a:off x="1371600" y="114300"/>
            <a:ext cx="7772400" cy="8574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Rotation – 2D </a:t>
            </a:r>
            <a:endParaRPr/>
          </a:p>
        </p:txBody>
      </p:sp>
      <p:pic>
        <p:nvPicPr>
          <p:cNvPr descr="D:\USERS\STEVE\4ba6\rotate.png" id="486" name="Google Shape;486;p37"/>
          <p:cNvPicPr preferRelativeResize="0"/>
          <p:nvPr/>
        </p:nvPicPr>
        <p:blipFill rotWithShape="1">
          <a:blip r:embed="rId3">
            <a:alphaModFix/>
          </a:blip>
          <a:srcRect b="0" l="0" r="0" t="0"/>
          <a:stretch/>
        </p:blipFill>
        <p:spPr>
          <a:xfrm>
            <a:off x="5715000" y="625078"/>
            <a:ext cx="2674938" cy="2127646"/>
          </a:xfrm>
          <a:prstGeom prst="rect">
            <a:avLst/>
          </a:prstGeom>
          <a:noFill/>
          <a:ln>
            <a:noFill/>
          </a:ln>
        </p:spPr>
      </p:pic>
      <p:grpSp>
        <p:nvGrpSpPr>
          <p:cNvPr id="487" name="Google Shape;487;p37"/>
          <p:cNvGrpSpPr/>
          <p:nvPr/>
        </p:nvGrpSpPr>
        <p:grpSpPr>
          <a:xfrm>
            <a:off x="1905000" y="102193"/>
            <a:ext cx="6281833" cy="2468366"/>
            <a:chOff x="1200" y="86"/>
            <a:chExt cx="3957" cy="2073"/>
          </a:xfrm>
        </p:grpSpPr>
        <p:pic>
          <p:nvPicPr>
            <p:cNvPr id="488" name="Google Shape;488;p37"/>
            <p:cNvPicPr preferRelativeResize="0"/>
            <p:nvPr/>
          </p:nvPicPr>
          <p:blipFill rotWithShape="1">
            <a:blip r:embed="rId4">
              <a:alphaModFix/>
            </a:blip>
            <a:srcRect b="0" l="0" r="0" t="0"/>
            <a:stretch/>
          </p:blipFill>
          <p:spPr>
            <a:xfrm>
              <a:off x="1200" y="1584"/>
              <a:ext cx="1437" cy="575"/>
            </a:xfrm>
            <a:prstGeom prst="rect">
              <a:avLst/>
            </a:prstGeom>
            <a:noFill/>
            <a:ln>
              <a:noFill/>
            </a:ln>
          </p:spPr>
        </p:pic>
        <p:sp>
          <p:nvSpPr>
            <p:cNvPr id="489" name="Google Shape;489;p37"/>
            <p:cNvSpPr txBox="1"/>
            <p:nvPr/>
          </p:nvSpPr>
          <p:spPr>
            <a:xfrm rot="-3806097">
              <a:off x="4482" y="269"/>
              <a:ext cx="671" cy="4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rotated</a:t>
              </a:r>
              <a:endParaRPr b="0" i="0" sz="1400" u="none" cap="none" strike="noStrike">
                <a:solidFill>
                  <a:srgbClr val="000000"/>
                </a:solidFill>
                <a:latin typeface="Arial"/>
                <a:ea typeface="Arial"/>
                <a:cs typeface="Arial"/>
                <a:sym typeface="Arial"/>
              </a:endParaRPr>
            </a:p>
          </p:txBody>
        </p:sp>
      </p:grpSp>
      <p:pic>
        <p:nvPicPr>
          <p:cNvPr id="490" name="Google Shape;490;p37"/>
          <p:cNvPicPr preferRelativeResize="0"/>
          <p:nvPr/>
        </p:nvPicPr>
        <p:blipFill rotWithShape="1">
          <a:blip r:embed="rId5">
            <a:alphaModFix/>
          </a:blip>
          <a:srcRect b="0" l="0" r="0" t="0"/>
          <a:stretch/>
        </p:blipFill>
        <p:spPr>
          <a:xfrm>
            <a:off x="1509712" y="2971800"/>
            <a:ext cx="4469606" cy="684609"/>
          </a:xfrm>
          <a:prstGeom prst="rect">
            <a:avLst/>
          </a:prstGeom>
          <a:noFill/>
          <a:ln>
            <a:noFill/>
          </a:ln>
        </p:spPr>
      </p:pic>
      <p:pic>
        <p:nvPicPr>
          <p:cNvPr id="491" name="Google Shape;491;p37"/>
          <p:cNvPicPr preferRelativeResize="0"/>
          <p:nvPr/>
        </p:nvPicPr>
        <p:blipFill rotWithShape="1">
          <a:blip r:embed="rId6">
            <a:alphaModFix/>
          </a:blip>
          <a:srcRect b="0" l="0" r="0" t="0"/>
          <a:stretch/>
        </p:blipFill>
        <p:spPr>
          <a:xfrm>
            <a:off x="2044700" y="3943350"/>
            <a:ext cx="3536154" cy="644128"/>
          </a:xfrm>
          <a:prstGeom prst="rect">
            <a:avLst/>
          </a:prstGeom>
          <a:noFill/>
          <a:ln>
            <a:noFill/>
          </a:ln>
        </p:spPr>
      </p:pic>
      <p:grpSp>
        <p:nvGrpSpPr>
          <p:cNvPr id="492" name="Google Shape;492;p37"/>
          <p:cNvGrpSpPr/>
          <p:nvPr/>
        </p:nvGrpSpPr>
        <p:grpSpPr>
          <a:xfrm>
            <a:off x="2286000" y="989817"/>
            <a:ext cx="7030705" cy="808795"/>
            <a:chOff x="1440" y="831"/>
            <a:chExt cx="4428" cy="679"/>
          </a:xfrm>
        </p:grpSpPr>
        <p:sp>
          <p:nvSpPr>
            <p:cNvPr id="493" name="Google Shape;493;p37"/>
            <p:cNvSpPr txBox="1"/>
            <p:nvPr/>
          </p:nvSpPr>
          <p:spPr>
            <a:xfrm rot="-1593903">
              <a:off x="5138" y="959"/>
              <a:ext cx="671" cy="42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original</a:t>
              </a:r>
              <a:endParaRPr b="0" i="0" sz="1400" u="none" cap="none" strike="noStrike">
                <a:solidFill>
                  <a:srgbClr val="000000"/>
                </a:solidFill>
                <a:latin typeface="Arial"/>
                <a:ea typeface="Arial"/>
                <a:cs typeface="Arial"/>
                <a:sym typeface="Arial"/>
              </a:endParaRPr>
            </a:p>
          </p:txBody>
        </p:sp>
        <p:pic>
          <p:nvPicPr>
            <p:cNvPr id="494" name="Google Shape;494;p37"/>
            <p:cNvPicPr preferRelativeResize="0"/>
            <p:nvPr/>
          </p:nvPicPr>
          <p:blipFill rotWithShape="1">
            <a:blip r:embed="rId7">
              <a:alphaModFix/>
            </a:blip>
            <a:srcRect b="0" l="0" r="0" t="0"/>
            <a:stretch/>
          </p:blipFill>
          <p:spPr>
            <a:xfrm>
              <a:off x="1440" y="864"/>
              <a:ext cx="1022" cy="575"/>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38"/>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00" name="Google Shape;500;p38"/>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Rotation – 2D</a:t>
            </a:r>
            <a:endParaRPr/>
          </a:p>
        </p:txBody>
      </p:sp>
      <p:pic>
        <p:nvPicPr>
          <p:cNvPr id="501" name="Google Shape;501;p38"/>
          <p:cNvPicPr preferRelativeResize="0"/>
          <p:nvPr/>
        </p:nvPicPr>
        <p:blipFill rotWithShape="1">
          <a:blip r:embed="rId3">
            <a:alphaModFix/>
          </a:blip>
          <a:srcRect b="0" l="0" r="0" t="0"/>
          <a:stretch/>
        </p:blipFill>
        <p:spPr>
          <a:xfrm>
            <a:off x="1905000" y="1085850"/>
            <a:ext cx="4286249" cy="1865709"/>
          </a:xfrm>
          <a:prstGeom prst="rect">
            <a:avLst/>
          </a:prstGeom>
          <a:noFill/>
          <a:ln>
            <a:noFill/>
          </a:ln>
        </p:spPr>
      </p:pic>
      <p:pic>
        <p:nvPicPr>
          <p:cNvPr id="502" name="Google Shape;502;p38"/>
          <p:cNvPicPr preferRelativeResize="0"/>
          <p:nvPr/>
        </p:nvPicPr>
        <p:blipFill rotWithShape="1">
          <a:blip r:embed="rId4">
            <a:alphaModFix/>
          </a:blip>
          <a:srcRect b="0" l="0" r="0" t="0"/>
          <a:stretch/>
        </p:blipFill>
        <p:spPr>
          <a:xfrm>
            <a:off x="5726112" y="3750469"/>
            <a:ext cx="2457449" cy="1240631"/>
          </a:xfrm>
          <a:prstGeom prst="rect">
            <a:avLst/>
          </a:prstGeom>
          <a:noFill/>
          <a:ln>
            <a:noFill/>
          </a:ln>
        </p:spPr>
      </p:pic>
      <p:pic>
        <p:nvPicPr>
          <p:cNvPr id="503" name="Google Shape;503;p38"/>
          <p:cNvPicPr preferRelativeResize="0"/>
          <p:nvPr/>
        </p:nvPicPr>
        <p:blipFill rotWithShape="1">
          <a:blip r:embed="rId5">
            <a:alphaModFix/>
          </a:blip>
          <a:srcRect b="0" l="0" r="0" t="0"/>
          <a:stretch/>
        </p:blipFill>
        <p:spPr>
          <a:xfrm>
            <a:off x="609600" y="3886200"/>
            <a:ext cx="3408759" cy="1078706"/>
          </a:xfrm>
          <a:prstGeom prst="rect">
            <a:avLst/>
          </a:prstGeom>
          <a:noFill/>
          <a:ln>
            <a:noFill/>
          </a:ln>
        </p:spPr>
      </p:pic>
      <p:pic>
        <p:nvPicPr>
          <p:cNvPr id="504" name="Google Shape;504;p38"/>
          <p:cNvPicPr preferRelativeResize="0"/>
          <p:nvPr/>
        </p:nvPicPr>
        <p:blipFill rotWithShape="1">
          <a:blip r:embed="rId6">
            <a:alphaModFix/>
          </a:blip>
          <a:srcRect b="0" l="0" r="0" t="0"/>
          <a:stretch/>
        </p:blipFill>
        <p:spPr>
          <a:xfrm>
            <a:off x="1524000" y="3028950"/>
            <a:ext cx="1783555" cy="67984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9"/>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10" name="Google Shape;510;p39"/>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Rotation – 3D</a:t>
            </a:r>
            <a:endParaRPr/>
          </a:p>
        </p:txBody>
      </p:sp>
      <p:pic>
        <p:nvPicPr>
          <p:cNvPr id="511" name="Google Shape;511;p39"/>
          <p:cNvPicPr preferRelativeResize="0"/>
          <p:nvPr/>
        </p:nvPicPr>
        <p:blipFill rotWithShape="1">
          <a:blip r:embed="rId3">
            <a:alphaModFix/>
          </a:blip>
          <a:srcRect b="0" l="0" r="0" t="0"/>
          <a:stretch/>
        </p:blipFill>
        <p:spPr>
          <a:xfrm>
            <a:off x="2362200" y="3187303"/>
            <a:ext cx="4171950" cy="1841896"/>
          </a:xfrm>
          <a:prstGeom prst="rect">
            <a:avLst/>
          </a:prstGeom>
          <a:noFill/>
          <a:ln>
            <a:noFill/>
          </a:ln>
        </p:spPr>
      </p:pic>
      <p:pic>
        <p:nvPicPr>
          <p:cNvPr descr="D:\USERS\STEVE\4ba6\teapot normal axes.png" id="512" name="Google Shape;512;p39"/>
          <p:cNvPicPr preferRelativeResize="0"/>
          <p:nvPr/>
        </p:nvPicPr>
        <p:blipFill rotWithShape="1">
          <a:blip r:embed="rId4">
            <a:alphaModFix/>
          </a:blip>
          <a:srcRect b="0" l="0" r="0" t="0"/>
          <a:stretch/>
        </p:blipFill>
        <p:spPr>
          <a:xfrm>
            <a:off x="4038600" y="1428750"/>
            <a:ext cx="2814637" cy="1714500"/>
          </a:xfrm>
          <a:prstGeom prst="rect">
            <a:avLst/>
          </a:prstGeom>
          <a:noFill/>
          <a:ln>
            <a:noFill/>
          </a:ln>
        </p:spPr>
      </p:pic>
      <p:pic>
        <p:nvPicPr>
          <p:cNvPr descr="D:\USERS\STEVE\4ba6\teapot rotate Z.png" id="513" name="Google Shape;513;p39"/>
          <p:cNvPicPr preferRelativeResize="0"/>
          <p:nvPr/>
        </p:nvPicPr>
        <p:blipFill rotWithShape="1">
          <a:blip r:embed="rId5">
            <a:alphaModFix/>
          </a:blip>
          <a:srcRect b="0" l="0" r="0" t="0"/>
          <a:stretch/>
        </p:blipFill>
        <p:spPr>
          <a:xfrm>
            <a:off x="6553200" y="1428750"/>
            <a:ext cx="2814637" cy="1714500"/>
          </a:xfrm>
          <a:prstGeom prst="rect">
            <a:avLst/>
          </a:prstGeom>
          <a:noFill/>
          <a:ln>
            <a:noFill/>
          </a:ln>
        </p:spPr>
      </p:pic>
      <p:sp>
        <p:nvSpPr>
          <p:cNvPr id="514" name="Google Shape;514;p39"/>
          <p:cNvSpPr/>
          <p:nvPr/>
        </p:nvSpPr>
        <p:spPr>
          <a:xfrm flipH="1" rot="6037179">
            <a:off x="6953192" y="2111328"/>
            <a:ext cx="230313" cy="349360"/>
          </a:xfrm>
          <a:custGeom>
            <a:rect b="b" l="l" r="r" t="t"/>
            <a:pathLst>
              <a:path extrusionOk="0" h="21600" w="2160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chemeClr val="accent1"/>
          </a:solidFill>
          <a:ln cap="flat" cmpd="sng" w="9525">
            <a:solidFill>
              <a:schemeClr val="dk1"/>
            </a:solidFill>
            <a:prstDash val="solid"/>
            <a:miter lim="524288"/>
            <a:headEnd len="sm" w="sm" type="none"/>
            <a:tailEnd len="sm" w="sm" type="none"/>
          </a:ln>
          <a:effectLst>
            <a:outerShdw blurRad="63500" dir="2700000" dist="35921">
              <a:schemeClr val="lt2"/>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15" name="Google Shape;515;p39"/>
          <p:cNvSpPr txBox="1"/>
          <p:nvPr/>
        </p:nvSpPr>
        <p:spPr>
          <a:xfrm>
            <a:off x="781050" y="1085850"/>
            <a:ext cx="4171800" cy="1730100"/>
          </a:xfrm>
          <a:prstGeom prst="rect">
            <a:avLst/>
          </a:prstGeom>
          <a:noFill/>
          <a:ln>
            <a:noFill/>
          </a:ln>
        </p:spPr>
        <p:txBody>
          <a:bodyPr anchorCtr="0" anchor="t" bIns="45700" lIns="91425" spcFirstLastPara="1" rIns="91425" wrap="square" tIns="45700">
            <a:spAutoFit/>
          </a:bodyPr>
          <a:lstStyle/>
          <a:p>
            <a:pPr indent="-293687" lvl="0" marL="293687" marR="0" rtl="0" algn="l">
              <a:lnSpc>
                <a:spcPct val="9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For 3D-Rotation 2 parameters are needed</a:t>
            </a:r>
            <a:endParaRPr b="0" i="0" sz="1400" u="none" cap="none" strike="noStrike">
              <a:solidFill>
                <a:srgbClr val="000000"/>
              </a:solidFill>
              <a:latin typeface="Arial"/>
              <a:ea typeface="Arial"/>
              <a:cs typeface="Arial"/>
              <a:sym typeface="Arial"/>
            </a:endParaRPr>
          </a:p>
          <a:p>
            <a:pPr indent="-293687" lvl="0" marL="293687" marR="0" rtl="0" algn="l">
              <a:lnSpc>
                <a:spcPct val="90000"/>
              </a:lnSpc>
              <a:spcBef>
                <a:spcPts val="1200"/>
              </a:spcBef>
              <a:spcAft>
                <a:spcPts val="0"/>
              </a:spcAft>
              <a:buClr>
                <a:schemeClr val="dk2"/>
              </a:buClr>
              <a:buSzPts val="2280"/>
              <a:buFont typeface="Noto Sans Symbols"/>
              <a:buChar char="✶"/>
            </a:pPr>
            <a:r>
              <a:rPr b="0" i="0" lang="en-US" sz="2400" u="none" cap="none" strike="noStrike">
                <a:solidFill>
                  <a:schemeClr val="dk1"/>
                </a:solidFill>
                <a:latin typeface="Times New Roman"/>
                <a:ea typeface="Times New Roman"/>
                <a:cs typeface="Times New Roman"/>
                <a:sym typeface="Times New Roman"/>
              </a:rPr>
              <a:t>Angle of rotation</a:t>
            </a:r>
            <a:endParaRPr b="0" i="0" sz="1400" u="none" cap="none" strike="noStrike">
              <a:solidFill>
                <a:srgbClr val="000000"/>
              </a:solidFill>
              <a:latin typeface="Arial"/>
              <a:ea typeface="Arial"/>
              <a:cs typeface="Arial"/>
              <a:sym typeface="Arial"/>
            </a:endParaRPr>
          </a:p>
          <a:p>
            <a:pPr indent="-293687" lvl="0" marL="293687" marR="0" rtl="0" algn="l">
              <a:lnSpc>
                <a:spcPct val="90000"/>
              </a:lnSpc>
              <a:spcBef>
                <a:spcPts val="1200"/>
              </a:spcBef>
              <a:spcAft>
                <a:spcPts val="0"/>
              </a:spcAft>
              <a:buClr>
                <a:schemeClr val="dk2"/>
              </a:buClr>
              <a:buSzPts val="2280"/>
              <a:buFont typeface="Noto Sans Symbols"/>
              <a:buChar char="✶"/>
            </a:pPr>
            <a:r>
              <a:rPr b="0" i="0" lang="en-US" sz="2400" u="none" cap="none" strike="noStrike">
                <a:solidFill>
                  <a:schemeClr val="dk1"/>
                </a:solidFill>
                <a:latin typeface="Times New Roman"/>
                <a:ea typeface="Times New Roman"/>
                <a:cs typeface="Times New Roman"/>
                <a:sym typeface="Times New Roman"/>
              </a:rPr>
              <a:t>Axis of rotation</a:t>
            </a:r>
            <a:endParaRPr b="0" i="0" sz="1400" u="none" cap="none" strike="noStrike">
              <a:solidFill>
                <a:srgbClr val="000000"/>
              </a:solidFill>
              <a:latin typeface="Arial"/>
              <a:ea typeface="Arial"/>
              <a:cs typeface="Arial"/>
              <a:sym typeface="Arial"/>
            </a:endParaRPr>
          </a:p>
        </p:txBody>
      </p:sp>
      <p:sp>
        <p:nvSpPr>
          <p:cNvPr id="516" name="Google Shape;516;p39"/>
          <p:cNvSpPr txBox="1"/>
          <p:nvPr/>
        </p:nvSpPr>
        <p:spPr>
          <a:xfrm>
            <a:off x="5334000" y="1085850"/>
            <a:ext cx="3466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Rotation about z-axis: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0"/>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23" name="Google Shape;523;p40"/>
          <p:cNvSpPr txBox="1"/>
          <p:nvPr>
            <p:ph type="title"/>
          </p:nvPr>
        </p:nvSpPr>
        <p:spPr>
          <a:xfrm>
            <a:off x="758150" y="120100"/>
            <a:ext cx="7564500" cy="8574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Rotation about Z axis: </a:t>
            </a:r>
            <a:r>
              <a:rPr i="1" lang="en-US" sz="4400">
                <a:solidFill>
                  <a:srgbClr val="663300"/>
                </a:solidFill>
                <a:latin typeface="Times New Roman"/>
                <a:ea typeface="Times New Roman"/>
                <a:cs typeface="Times New Roman"/>
                <a:sym typeface="Times New Roman"/>
              </a:rPr>
              <a:t>R</a:t>
            </a:r>
            <a:r>
              <a:rPr baseline="-25000" i="1" lang="en-US" sz="4400">
                <a:solidFill>
                  <a:srgbClr val="663300"/>
                </a:solidFill>
                <a:latin typeface="Times New Roman"/>
                <a:ea typeface="Times New Roman"/>
                <a:cs typeface="Times New Roman"/>
                <a:sym typeface="Times New Roman"/>
              </a:rPr>
              <a:t>θ,k</a:t>
            </a:r>
            <a:endParaRPr/>
          </a:p>
        </p:txBody>
      </p:sp>
      <p:sp>
        <p:nvSpPr>
          <p:cNvPr id="524" name="Google Shape;524;p40"/>
          <p:cNvSpPr txBox="1"/>
          <p:nvPr>
            <p:ph idx="1" type="body"/>
          </p:nvPr>
        </p:nvSpPr>
        <p:spPr>
          <a:xfrm>
            <a:off x="628650" y="1369219"/>
            <a:ext cx="7886700" cy="3263400"/>
          </a:xfrm>
          <a:prstGeom prst="rect">
            <a:avLst/>
          </a:prstGeom>
          <a:noFill/>
          <a:ln>
            <a:noFill/>
          </a:ln>
        </p:spPr>
        <p:txBody>
          <a:bodyPr anchorCtr="0" anchor="t" bIns="46025" lIns="92075" spcFirstLastPara="1" rIns="92075" wrap="square" tIns="46025">
            <a:noAutofit/>
          </a:bodyPr>
          <a:lstStyle/>
          <a:p>
            <a:pPr indent="-342900" lvl="0" marL="342900" rtl="0" algn="l">
              <a:lnSpc>
                <a:spcPct val="100000"/>
              </a:lnSpc>
              <a:spcBef>
                <a:spcPts val="0"/>
              </a:spcBef>
              <a:spcAft>
                <a:spcPts val="0"/>
              </a:spcAft>
              <a:buClr>
                <a:schemeClr val="dk2"/>
              </a:buClr>
              <a:buSzPts val="3040"/>
              <a:buFont typeface="Noto Sans Symbols"/>
              <a:buChar char="✶"/>
            </a:pPr>
            <a:r>
              <a:rPr b="0" i="0" lang="en-US" sz="3200" u="none">
                <a:solidFill>
                  <a:schemeClr val="dk1"/>
                </a:solidFill>
                <a:latin typeface="Times New Roman"/>
                <a:ea typeface="Times New Roman"/>
                <a:cs typeface="Times New Roman"/>
                <a:sym typeface="Times New Roman"/>
              </a:rPr>
              <a:t>About z axis</a:t>
            </a:r>
            <a:endParaRPr/>
          </a:p>
        </p:txBody>
      </p:sp>
      <p:sp>
        <p:nvSpPr>
          <p:cNvPr id="525" name="Google Shape;525;p40"/>
          <p:cNvSpPr/>
          <p:nvPr/>
        </p:nvSpPr>
        <p:spPr>
          <a:xfrm>
            <a:off x="2908300" y="2571750"/>
            <a:ext cx="3810000" cy="22395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6" name="Google Shape;526;p40"/>
          <p:cNvSpPr/>
          <p:nvPr/>
        </p:nvSpPr>
        <p:spPr>
          <a:xfrm>
            <a:off x="1460500" y="2571750"/>
            <a:ext cx="685800" cy="22395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27" name="Google Shape;527;p40"/>
          <p:cNvSpPr txBox="1"/>
          <p:nvPr/>
        </p:nvSpPr>
        <p:spPr>
          <a:xfrm>
            <a:off x="1536700" y="2621756"/>
            <a:ext cx="533400" cy="2239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z'</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528" name="Google Shape;528;p40"/>
          <p:cNvSpPr txBox="1"/>
          <p:nvPr/>
        </p:nvSpPr>
        <p:spPr>
          <a:xfrm>
            <a:off x="2374900" y="3243263"/>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529" name="Google Shape;529;p40"/>
          <p:cNvSpPr txBox="1"/>
          <p:nvPr/>
        </p:nvSpPr>
        <p:spPr>
          <a:xfrm>
            <a:off x="7023100" y="2615803"/>
            <a:ext cx="533400" cy="2239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z</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530" name="Google Shape;530;p40"/>
          <p:cNvSpPr/>
          <p:nvPr/>
        </p:nvSpPr>
        <p:spPr>
          <a:xfrm>
            <a:off x="7023100" y="2571750"/>
            <a:ext cx="533400" cy="22395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1" name="Google Shape;531;p40"/>
          <p:cNvSpPr txBox="1"/>
          <p:nvPr/>
        </p:nvSpPr>
        <p:spPr>
          <a:xfrm>
            <a:off x="2984500" y="2614613"/>
            <a:ext cx="1066800" cy="2239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cos θ</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sin θ</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532" name="Google Shape;532;p40"/>
          <p:cNvSpPr txBox="1"/>
          <p:nvPr/>
        </p:nvSpPr>
        <p:spPr>
          <a:xfrm>
            <a:off x="4203700" y="2614613"/>
            <a:ext cx="1143000" cy="2239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-sin θ</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3200"/>
              <a:buFont typeface="Times New Roman"/>
              <a:buNone/>
            </a:pPr>
            <a:r>
              <a:rPr b="0" i="1" lang="en-US" sz="3200" u="none" cap="none" strike="noStrike">
                <a:solidFill>
                  <a:srgbClr val="FF0000"/>
                </a:solidFill>
                <a:latin typeface="Times New Roman"/>
                <a:ea typeface="Times New Roman"/>
                <a:cs typeface="Times New Roman"/>
                <a:sym typeface="Times New Roman"/>
              </a:rPr>
              <a:t> cos θ</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533" name="Google Shape;533;p40"/>
          <p:cNvSpPr txBox="1"/>
          <p:nvPr/>
        </p:nvSpPr>
        <p:spPr>
          <a:xfrm>
            <a:off x="5499100" y="2614613"/>
            <a:ext cx="533400" cy="2239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534" name="Google Shape;534;p40"/>
          <p:cNvSpPr txBox="1"/>
          <p:nvPr/>
        </p:nvSpPr>
        <p:spPr>
          <a:xfrm>
            <a:off x="6108700" y="2614613"/>
            <a:ext cx="533400" cy="2239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3200"/>
              <a:buFont typeface="Times New Roman"/>
              <a:buNone/>
            </a:pPr>
            <a:r>
              <a:rPr b="0" i="0" lang="en-US" sz="32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535" name="Google Shape;535;p40"/>
          <p:cNvSpPr/>
          <p:nvPr/>
        </p:nvSpPr>
        <p:spPr>
          <a:xfrm>
            <a:off x="8344046" y="1546403"/>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36" name="Google Shape;536;p40"/>
          <p:cNvSpPr/>
          <p:nvPr/>
        </p:nvSpPr>
        <p:spPr>
          <a:xfrm>
            <a:off x="7867285" y="116677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537" name="Google Shape;537;p40"/>
          <p:cNvCxnSpPr/>
          <p:nvPr/>
        </p:nvCxnSpPr>
        <p:spPr>
          <a:xfrm flipH="1" rot="10800000">
            <a:off x="7365338" y="851562"/>
            <a:ext cx="1200" cy="1048800"/>
          </a:xfrm>
          <a:prstGeom prst="straightConnector1">
            <a:avLst/>
          </a:prstGeom>
          <a:noFill/>
          <a:ln cap="flat" cmpd="sng" w="38100">
            <a:solidFill>
              <a:schemeClr val="dk1"/>
            </a:solidFill>
            <a:prstDash val="solid"/>
            <a:miter lim="800000"/>
            <a:headEnd len="sm" w="sm" type="none"/>
            <a:tailEnd len="med" w="med" type="triangle"/>
          </a:ln>
        </p:spPr>
      </p:cxnSp>
      <p:cxnSp>
        <p:nvCxnSpPr>
          <p:cNvPr id="538" name="Google Shape;538;p40"/>
          <p:cNvCxnSpPr/>
          <p:nvPr/>
        </p:nvCxnSpPr>
        <p:spPr>
          <a:xfrm>
            <a:off x="7365338" y="1900363"/>
            <a:ext cx="1388400" cy="1200"/>
          </a:xfrm>
          <a:prstGeom prst="straightConnector1">
            <a:avLst/>
          </a:prstGeom>
          <a:noFill/>
          <a:ln cap="flat" cmpd="sng" w="38100">
            <a:solidFill>
              <a:schemeClr val="dk1"/>
            </a:solidFill>
            <a:prstDash val="solid"/>
            <a:miter lim="800000"/>
            <a:headEnd len="sm" w="sm" type="none"/>
            <a:tailEnd len="med" w="med" type="triangle"/>
          </a:ln>
        </p:spPr>
      </p:cxnSp>
      <p:cxnSp>
        <p:nvCxnSpPr>
          <p:cNvPr id="539" name="Google Shape;539;p40"/>
          <p:cNvCxnSpPr/>
          <p:nvPr/>
        </p:nvCxnSpPr>
        <p:spPr>
          <a:xfrm flipH="1">
            <a:off x="7019147" y="1901408"/>
            <a:ext cx="347400" cy="399300"/>
          </a:xfrm>
          <a:prstGeom prst="straightConnector1">
            <a:avLst/>
          </a:prstGeom>
          <a:noFill/>
          <a:ln cap="flat" cmpd="sng" w="38100">
            <a:solidFill>
              <a:schemeClr val="dk1"/>
            </a:solidFill>
            <a:prstDash val="solid"/>
            <a:miter lim="800000"/>
            <a:headEnd len="sm" w="sm" type="none"/>
            <a:tailEnd len="med" w="med" type="triangle"/>
          </a:ln>
        </p:spPr>
      </p:cxnSp>
      <p:sp>
        <p:nvSpPr>
          <p:cNvPr id="540" name="Google Shape;540;p40"/>
          <p:cNvSpPr txBox="1"/>
          <p:nvPr/>
        </p:nvSpPr>
        <p:spPr>
          <a:xfrm>
            <a:off x="8651558" y="1791803"/>
            <a:ext cx="231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1" i="0" lang="en-US" sz="2000" u="none" cap="none" strike="noStrike">
                <a:solidFill>
                  <a:srgbClr val="000000"/>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sp>
        <p:nvSpPr>
          <p:cNvPr id="541" name="Google Shape;541;p40"/>
          <p:cNvSpPr txBox="1"/>
          <p:nvPr/>
        </p:nvSpPr>
        <p:spPr>
          <a:xfrm>
            <a:off x="7108962" y="601846"/>
            <a:ext cx="231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1" i="0" lang="en-US" sz="2000" u="none" cap="none" strike="noStrike">
                <a:solidFill>
                  <a:srgbClr val="000000"/>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sp>
        <p:nvSpPr>
          <p:cNvPr id="542" name="Google Shape;542;p40"/>
          <p:cNvSpPr txBox="1"/>
          <p:nvPr/>
        </p:nvSpPr>
        <p:spPr>
          <a:xfrm>
            <a:off x="6729777" y="2040062"/>
            <a:ext cx="231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1" i="0" lang="en-US" sz="2000" u="none" cap="none" strike="noStrike">
                <a:solidFill>
                  <a:srgbClr val="000000"/>
                </a:solidFill>
                <a:latin typeface="Times New Roman"/>
                <a:ea typeface="Times New Roman"/>
                <a:cs typeface="Times New Roman"/>
                <a:sym typeface="Times New Roman"/>
              </a:rPr>
              <a:t>z</a:t>
            </a:r>
            <a:endParaRPr b="0" i="0" sz="1400" u="none" cap="none" strike="noStrike">
              <a:solidFill>
                <a:srgbClr val="000000"/>
              </a:solidFill>
              <a:latin typeface="Arial"/>
              <a:ea typeface="Arial"/>
              <a:cs typeface="Arial"/>
              <a:sym typeface="Arial"/>
            </a:endParaRPr>
          </a:p>
        </p:txBody>
      </p:sp>
      <p:sp>
        <p:nvSpPr>
          <p:cNvPr id="543" name="Google Shape;543;p40"/>
          <p:cNvSpPr txBox="1"/>
          <p:nvPr/>
        </p:nvSpPr>
        <p:spPr>
          <a:xfrm>
            <a:off x="8371589" y="1359417"/>
            <a:ext cx="231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1" i="1" lang="en-US" sz="2000" u="none" cap="none" strike="noStrike">
                <a:solidFill>
                  <a:srgbClr val="000000"/>
                </a:solidFill>
                <a:latin typeface="Times New Roman"/>
                <a:ea typeface="Times New Roman"/>
                <a:cs typeface="Times New Roman"/>
                <a:sym typeface="Times New Roman"/>
              </a:rPr>
              <a:t>p</a:t>
            </a:r>
            <a:endParaRPr b="0" i="0" sz="1400" u="none" cap="none" strike="noStrike">
              <a:solidFill>
                <a:srgbClr val="000000"/>
              </a:solidFill>
              <a:latin typeface="Arial"/>
              <a:ea typeface="Arial"/>
              <a:cs typeface="Arial"/>
              <a:sym typeface="Arial"/>
            </a:endParaRPr>
          </a:p>
        </p:txBody>
      </p:sp>
      <p:sp>
        <p:nvSpPr>
          <p:cNvPr id="544" name="Google Shape;544;p40"/>
          <p:cNvSpPr txBox="1"/>
          <p:nvPr/>
        </p:nvSpPr>
        <p:spPr>
          <a:xfrm>
            <a:off x="7646508" y="845763"/>
            <a:ext cx="4200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Times New Roman"/>
              <a:buNone/>
            </a:pPr>
            <a:r>
              <a:rPr b="1" i="1" lang="en-US" sz="2000" u="none" cap="none" strike="noStrike">
                <a:solidFill>
                  <a:srgbClr val="000000"/>
                </a:solidFill>
                <a:latin typeface="Times New Roman"/>
                <a:ea typeface="Times New Roman"/>
                <a:cs typeface="Times New Roman"/>
                <a:sym typeface="Times New Roman"/>
              </a:rPr>
              <a:t>p'</a:t>
            </a:r>
            <a:endParaRPr b="0" i="0" sz="1400" u="none" cap="none" strike="noStrike">
              <a:solidFill>
                <a:srgbClr val="000000"/>
              </a:solidFill>
              <a:latin typeface="Arial"/>
              <a:ea typeface="Arial"/>
              <a:cs typeface="Arial"/>
              <a:sym typeface="Arial"/>
            </a:endParaRPr>
          </a:p>
        </p:txBody>
      </p:sp>
      <p:sp>
        <p:nvSpPr>
          <p:cNvPr id="545" name="Google Shape;545;p40"/>
          <p:cNvSpPr/>
          <p:nvPr/>
        </p:nvSpPr>
        <p:spPr>
          <a:xfrm>
            <a:off x="7365338" y="1198781"/>
            <a:ext cx="984490" cy="702602"/>
          </a:xfrm>
          <a:custGeom>
            <a:rect b="b" l="l" r="r" t="t"/>
            <a:pathLst>
              <a:path extrusionOk="0" fill="none" h="17845" w="19374">
                <a:moveTo>
                  <a:pt x="12170" y="-1"/>
                </a:moveTo>
                <a:cubicBezTo>
                  <a:pt x="15246" y="2097"/>
                  <a:pt x="17727" y="4955"/>
                  <a:pt x="19374" y="8294"/>
                </a:cubicBezTo>
              </a:path>
              <a:path extrusionOk="0" h="17845" w="19374">
                <a:moveTo>
                  <a:pt x="12170" y="-1"/>
                </a:moveTo>
                <a:cubicBezTo>
                  <a:pt x="15246" y="2097"/>
                  <a:pt x="17727" y="4955"/>
                  <a:pt x="19374" y="8294"/>
                </a:cubicBezTo>
                <a:lnTo>
                  <a:pt x="0" y="17845"/>
                </a:lnTo>
                <a:lnTo>
                  <a:pt x="12170" y="-1"/>
                </a:lnTo>
                <a:close/>
              </a:path>
            </a:pathLst>
          </a:cu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546" name="Google Shape;546;p40"/>
          <p:cNvCxnSpPr/>
          <p:nvPr/>
        </p:nvCxnSpPr>
        <p:spPr>
          <a:xfrm flipH="1">
            <a:off x="7362702" y="1170551"/>
            <a:ext cx="551700" cy="727800"/>
          </a:xfrm>
          <a:prstGeom prst="straightConnector1">
            <a:avLst/>
          </a:prstGeom>
          <a:noFill/>
          <a:ln cap="flat" cmpd="sng" w="9525">
            <a:solidFill>
              <a:schemeClr val="dk1"/>
            </a:solidFill>
            <a:prstDash val="solid"/>
            <a:miter lim="800000"/>
            <a:headEnd len="sm" w="sm" type="none"/>
            <a:tailEnd len="sm" w="sm" type="none"/>
          </a:ln>
        </p:spPr>
      </p:cxnSp>
      <p:cxnSp>
        <p:nvCxnSpPr>
          <p:cNvPr id="547" name="Google Shape;547;p40"/>
          <p:cNvCxnSpPr/>
          <p:nvPr/>
        </p:nvCxnSpPr>
        <p:spPr>
          <a:xfrm flipH="1">
            <a:off x="7355808" y="1578326"/>
            <a:ext cx="1023000" cy="319800"/>
          </a:xfrm>
          <a:prstGeom prst="straightConnector1">
            <a:avLst/>
          </a:prstGeom>
          <a:noFill/>
          <a:ln cap="flat" cmpd="sng" w="9525">
            <a:solidFill>
              <a:schemeClr val="dk1"/>
            </a:solidFill>
            <a:prstDash val="solid"/>
            <a:miter lim="800000"/>
            <a:headEnd len="sm" w="sm" type="none"/>
            <a:tailEnd len="sm" w="sm" type="none"/>
          </a:ln>
        </p:spPr>
      </p:cxnSp>
      <p:sp>
        <p:nvSpPr>
          <p:cNvPr id="548" name="Google Shape;548;p40"/>
          <p:cNvSpPr txBox="1"/>
          <p:nvPr/>
        </p:nvSpPr>
        <p:spPr>
          <a:xfrm>
            <a:off x="7558597" y="1459056"/>
            <a:ext cx="2310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1" lang="en-US" sz="1800" u="none" cap="none" strike="noStrike">
                <a:solidFill>
                  <a:schemeClr val="dk1"/>
                </a:solidFill>
                <a:latin typeface="Times New Roman"/>
                <a:ea typeface="Times New Roman"/>
                <a:cs typeface="Times New Roman"/>
                <a:sym typeface="Times New Roman"/>
              </a:rPr>
              <a:t>θ</a:t>
            </a:r>
            <a:endParaRPr b="0" i="0" sz="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1"/>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54" name="Google Shape;554;p41"/>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Rotation about Y-axis &amp; X-axis</a:t>
            </a:r>
            <a:endParaRPr/>
          </a:p>
        </p:txBody>
      </p:sp>
      <p:pic>
        <p:nvPicPr>
          <p:cNvPr id="555" name="Google Shape;555;p41"/>
          <p:cNvPicPr preferRelativeResize="0"/>
          <p:nvPr/>
        </p:nvPicPr>
        <p:blipFill rotWithShape="1">
          <a:blip r:embed="rId3">
            <a:alphaModFix/>
          </a:blip>
          <a:srcRect b="0" l="0" r="0" t="0"/>
          <a:stretch/>
        </p:blipFill>
        <p:spPr>
          <a:xfrm>
            <a:off x="2667000" y="1200150"/>
            <a:ext cx="3886198" cy="1662113"/>
          </a:xfrm>
          <a:prstGeom prst="rect">
            <a:avLst/>
          </a:prstGeom>
          <a:noFill/>
          <a:ln>
            <a:noFill/>
          </a:ln>
        </p:spPr>
      </p:pic>
      <p:pic>
        <p:nvPicPr>
          <p:cNvPr id="556" name="Google Shape;556;p41"/>
          <p:cNvPicPr preferRelativeResize="0"/>
          <p:nvPr/>
        </p:nvPicPr>
        <p:blipFill rotWithShape="1">
          <a:blip r:embed="rId4">
            <a:alphaModFix/>
          </a:blip>
          <a:srcRect b="0" l="0" r="0" t="0"/>
          <a:stretch/>
        </p:blipFill>
        <p:spPr>
          <a:xfrm>
            <a:off x="2667000" y="3200400"/>
            <a:ext cx="3886200" cy="1714499"/>
          </a:xfrm>
          <a:prstGeom prst="rect">
            <a:avLst/>
          </a:prstGeom>
          <a:noFill/>
          <a:ln>
            <a:noFill/>
          </a:ln>
        </p:spPr>
      </p:pic>
      <p:sp>
        <p:nvSpPr>
          <p:cNvPr id="557" name="Google Shape;557;p41"/>
          <p:cNvSpPr txBox="1"/>
          <p:nvPr/>
        </p:nvSpPr>
        <p:spPr>
          <a:xfrm>
            <a:off x="1433512" y="3086100"/>
            <a:ext cx="1767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About x-axis</a:t>
            </a:r>
            <a:endParaRPr b="0" i="0" sz="1400" u="none" cap="none" strike="noStrike">
              <a:solidFill>
                <a:srgbClr val="000000"/>
              </a:solidFill>
              <a:latin typeface="Arial"/>
              <a:ea typeface="Arial"/>
              <a:cs typeface="Arial"/>
              <a:sym typeface="Arial"/>
            </a:endParaRPr>
          </a:p>
        </p:txBody>
      </p:sp>
      <p:sp>
        <p:nvSpPr>
          <p:cNvPr id="558" name="Google Shape;558;p41"/>
          <p:cNvSpPr txBox="1"/>
          <p:nvPr/>
        </p:nvSpPr>
        <p:spPr>
          <a:xfrm>
            <a:off x="1357312" y="1085850"/>
            <a:ext cx="17670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About y-axis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42"/>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Properties of rotation matrix</a:t>
            </a:r>
            <a:endParaRPr/>
          </a:p>
        </p:txBody>
      </p:sp>
      <p:sp>
        <p:nvSpPr>
          <p:cNvPr id="564" name="Google Shape;564;p42"/>
          <p:cNvSpPr txBox="1"/>
          <p:nvPr>
            <p:ph idx="1" type="body"/>
          </p:nvPr>
        </p:nvSpPr>
        <p:spPr>
          <a:xfrm>
            <a:off x="628650" y="1369219"/>
            <a:ext cx="7886700" cy="3263400"/>
          </a:xfrm>
          <a:prstGeom prst="rect">
            <a:avLst/>
          </a:prstGeom>
          <a:noFill/>
          <a:ln>
            <a:noFill/>
          </a:ln>
        </p:spPr>
        <p:txBody>
          <a:bodyPr anchorCtr="0" anchor="t" bIns="46025" lIns="92075" spcFirstLastPara="1" rIns="92075" wrap="square" tIns="46025">
            <a:noAutofit/>
          </a:bodyPr>
          <a:lstStyle/>
          <a:p>
            <a:pPr indent="-304800" lvl="0" marL="342900" marR="0" rtl="0" algn="l">
              <a:lnSpc>
                <a:spcPct val="100000"/>
              </a:lnSpc>
              <a:spcBef>
                <a:spcPts val="0"/>
              </a:spcBef>
              <a:spcAft>
                <a:spcPts val="0"/>
              </a:spcAft>
              <a:buClr>
                <a:schemeClr val="dk2"/>
              </a:buClr>
              <a:buSzPts val="2060"/>
              <a:buFont typeface="Noto Sans Symbols"/>
              <a:buChar char="✶"/>
            </a:pPr>
            <a:r>
              <a:rPr b="0" i="0" lang="en-US" sz="2200" u="none">
                <a:solidFill>
                  <a:schemeClr val="dk1"/>
                </a:solidFill>
                <a:latin typeface="Times New Roman"/>
                <a:ea typeface="Times New Roman"/>
                <a:cs typeface="Times New Roman"/>
                <a:sym typeface="Times New Roman"/>
              </a:rPr>
              <a:t>The columns of rotation matrix are unit vectors perpendicular to each other</a:t>
            </a:r>
            <a:endParaRPr sz="1500"/>
          </a:p>
          <a:p>
            <a:pPr indent="-304800" lvl="0" marL="342900" marR="0" rtl="0" algn="l">
              <a:lnSpc>
                <a:spcPct val="100000"/>
              </a:lnSpc>
              <a:spcBef>
                <a:spcPts val="560"/>
              </a:spcBef>
              <a:spcAft>
                <a:spcPts val="0"/>
              </a:spcAft>
              <a:buClr>
                <a:schemeClr val="dk2"/>
              </a:buClr>
              <a:buSzPts val="2060"/>
              <a:buFont typeface="Noto Sans Symbols"/>
              <a:buChar char="✶"/>
            </a:pPr>
            <a:r>
              <a:rPr b="0" i="0" lang="en-US" sz="2200" u="none">
                <a:solidFill>
                  <a:schemeClr val="dk1"/>
                </a:solidFill>
                <a:latin typeface="Times New Roman"/>
                <a:ea typeface="Times New Roman"/>
                <a:cs typeface="Times New Roman"/>
                <a:sym typeface="Times New Roman"/>
              </a:rPr>
              <a:t>The column vectors indicate where the unit vectors along the principal axes are transformed</a:t>
            </a:r>
            <a:endParaRPr sz="1500"/>
          </a:p>
          <a:p>
            <a:pPr indent="-304800" lvl="0" marL="342900" marR="0" rtl="0" algn="l">
              <a:lnSpc>
                <a:spcPct val="100000"/>
              </a:lnSpc>
              <a:spcBef>
                <a:spcPts val="560"/>
              </a:spcBef>
              <a:spcAft>
                <a:spcPts val="0"/>
              </a:spcAft>
              <a:buClr>
                <a:schemeClr val="dk2"/>
              </a:buClr>
              <a:buSzPts val="2060"/>
              <a:buFont typeface="Noto Sans Symbols"/>
              <a:buChar char="✶"/>
            </a:pPr>
            <a:r>
              <a:rPr b="0" i="0" lang="en-US" sz="2200" u="none">
                <a:solidFill>
                  <a:schemeClr val="dk1"/>
                </a:solidFill>
                <a:latin typeface="Times New Roman"/>
                <a:ea typeface="Times New Roman"/>
                <a:cs typeface="Times New Roman"/>
                <a:sym typeface="Times New Roman"/>
              </a:rPr>
              <a:t>The rows of rotation matrix are unit vectors perpendicular to each other</a:t>
            </a:r>
            <a:endParaRPr sz="1500"/>
          </a:p>
          <a:p>
            <a:pPr indent="-304800" lvl="0" marL="342900" marR="0" rtl="0" algn="l">
              <a:lnSpc>
                <a:spcPct val="100000"/>
              </a:lnSpc>
              <a:spcBef>
                <a:spcPts val="560"/>
              </a:spcBef>
              <a:spcAft>
                <a:spcPts val="0"/>
              </a:spcAft>
              <a:buClr>
                <a:schemeClr val="dk2"/>
              </a:buClr>
              <a:buSzPts val="2060"/>
              <a:buFont typeface="Noto Sans Symbols"/>
              <a:buChar char="✶"/>
            </a:pPr>
            <a:r>
              <a:rPr b="0" i="0" lang="en-US" sz="2200" u="none">
                <a:solidFill>
                  <a:schemeClr val="dk1"/>
                </a:solidFill>
                <a:latin typeface="Times New Roman"/>
                <a:ea typeface="Times New Roman"/>
                <a:cs typeface="Times New Roman"/>
                <a:sym typeface="Times New Roman"/>
              </a:rPr>
              <a:t>The row vectors indicate the vectors that are transformed into the unit vectors along the principal axes</a:t>
            </a:r>
            <a:endParaRPr sz="1500"/>
          </a:p>
          <a:p>
            <a:pPr indent="-304800" lvl="0" marL="342900" marR="0" rtl="0" algn="l">
              <a:lnSpc>
                <a:spcPct val="100000"/>
              </a:lnSpc>
              <a:spcBef>
                <a:spcPts val="560"/>
              </a:spcBef>
              <a:spcAft>
                <a:spcPts val="0"/>
              </a:spcAft>
              <a:buClr>
                <a:schemeClr val="dk2"/>
              </a:buClr>
              <a:buSzPts val="2060"/>
              <a:buFont typeface="Noto Sans Symbols"/>
              <a:buChar char="✶"/>
            </a:pPr>
            <a:r>
              <a:rPr b="0" i="0" lang="en-US" sz="2200" u="none">
                <a:solidFill>
                  <a:schemeClr val="dk1"/>
                </a:solidFill>
                <a:latin typeface="Times New Roman"/>
                <a:ea typeface="Times New Roman"/>
                <a:cs typeface="Times New Roman"/>
                <a:sym typeface="Times New Roman"/>
              </a:rPr>
              <a:t>The inverse of rotation matrix is its transpose</a:t>
            </a:r>
            <a:endParaRPr sz="1500"/>
          </a:p>
          <a:p>
            <a:pPr indent="-149860" lvl="0" marL="342900" marR="0" rtl="0" algn="l">
              <a:lnSpc>
                <a:spcPct val="100000"/>
              </a:lnSpc>
              <a:spcBef>
                <a:spcPts val="640"/>
              </a:spcBef>
              <a:spcAft>
                <a:spcPts val="0"/>
              </a:spcAft>
              <a:buClr>
                <a:schemeClr val="dk2"/>
              </a:buClr>
              <a:buSzPts val="3040"/>
              <a:buFont typeface="Noto Sans Symbols"/>
              <a:buNone/>
            </a:pPr>
            <a:r>
              <a:t/>
            </a:r>
            <a:endParaRPr b="0" i="0" sz="2600" u="none">
              <a:solidFill>
                <a:schemeClr val="dk1"/>
              </a:solidFill>
              <a:latin typeface="Times New Roman"/>
              <a:ea typeface="Times New Roman"/>
              <a:cs typeface="Times New Roman"/>
              <a:sym typeface="Times New Roman"/>
            </a:endParaRPr>
          </a:p>
          <a:p>
            <a:pPr indent="-149860" lvl="0" marL="342900" marR="0" rtl="0" algn="l">
              <a:lnSpc>
                <a:spcPct val="100000"/>
              </a:lnSpc>
              <a:spcBef>
                <a:spcPts val="640"/>
              </a:spcBef>
              <a:spcAft>
                <a:spcPts val="0"/>
              </a:spcAft>
              <a:buClr>
                <a:schemeClr val="dk2"/>
              </a:buClr>
              <a:buSzPts val="3040"/>
              <a:buFont typeface="Noto Sans Symbols"/>
              <a:buNone/>
            </a:pPr>
            <a:r>
              <a:t/>
            </a:r>
            <a:endParaRPr b="0" i="0" sz="2600" u="none">
              <a:solidFill>
                <a:schemeClr val="dk1"/>
              </a:solidFill>
              <a:latin typeface="Times New Roman"/>
              <a:ea typeface="Times New Roman"/>
              <a:cs typeface="Times New Roman"/>
              <a:sym typeface="Times New Roman"/>
            </a:endParaRPr>
          </a:p>
        </p:txBody>
      </p:sp>
      <p:sp>
        <p:nvSpPr>
          <p:cNvPr id="565" name="Google Shape;565;p42"/>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3"/>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71" name="Google Shape;571;p43"/>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Mirror Reflection</a:t>
            </a:r>
            <a:endParaRPr/>
          </a:p>
        </p:txBody>
      </p:sp>
      <p:pic>
        <p:nvPicPr>
          <p:cNvPr id="572" name="Google Shape;572;p43"/>
          <p:cNvPicPr preferRelativeResize="0"/>
          <p:nvPr/>
        </p:nvPicPr>
        <p:blipFill rotWithShape="1">
          <a:blip r:embed="rId3">
            <a:alphaModFix/>
          </a:blip>
          <a:srcRect b="0" l="0" r="0" t="0"/>
          <a:stretch/>
        </p:blipFill>
        <p:spPr>
          <a:xfrm>
            <a:off x="1600200" y="3200400"/>
            <a:ext cx="2514600" cy="1874043"/>
          </a:xfrm>
          <a:prstGeom prst="rect">
            <a:avLst/>
          </a:prstGeom>
          <a:noFill/>
          <a:ln>
            <a:noFill/>
          </a:ln>
        </p:spPr>
      </p:pic>
      <p:pic>
        <p:nvPicPr>
          <p:cNvPr id="573" name="Google Shape;573;p43"/>
          <p:cNvPicPr preferRelativeResize="0"/>
          <p:nvPr/>
        </p:nvPicPr>
        <p:blipFill rotWithShape="1">
          <a:blip r:embed="rId4">
            <a:alphaModFix/>
          </a:blip>
          <a:srcRect b="0" l="0" r="0" t="0"/>
          <a:stretch/>
        </p:blipFill>
        <p:spPr>
          <a:xfrm>
            <a:off x="5334000" y="3200400"/>
            <a:ext cx="2400300" cy="1789508"/>
          </a:xfrm>
          <a:prstGeom prst="rect">
            <a:avLst/>
          </a:prstGeom>
          <a:noFill/>
          <a:ln>
            <a:noFill/>
          </a:ln>
        </p:spPr>
      </p:pic>
      <p:pic>
        <p:nvPicPr>
          <p:cNvPr id="574" name="Google Shape;574;p43"/>
          <p:cNvPicPr preferRelativeResize="0"/>
          <p:nvPr/>
        </p:nvPicPr>
        <p:blipFill rotWithShape="1">
          <a:blip r:embed="rId5">
            <a:alphaModFix/>
          </a:blip>
          <a:srcRect b="0" l="0" r="0" t="0"/>
          <a:stretch/>
        </p:blipFill>
        <p:spPr>
          <a:xfrm>
            <a:off x="1524000" y="1088231"/>
            <a:ext cx="2272904" cy="2116930"/>
          </a:xfrm>
          <a:prstGeom prst="rect">
            <a:avLst/>
          </a:prstGeom>
          <a:noFill/>
          <a:ln>
            <a:noFill/>
          </a:ln>
        </p:spPr>
      </p:pic>
      <p:pic>
        <p:nvPicPr>
          <p:cNvPr id="575" name="Google Shape;575;p43"/>
          <p:cNvPicPr preferRelativeResize="0"/>
          <p:nvPr/>
        </p:nvPicPr>
        <p:blipFill rotWithShape="1">
          <a:blip r:embed="rId6">
            <a:alphaModFix/>
          </a:blip>
          <a:srcRect b="0" l="0" r="0" t="0"/>
          <a:stretch/>
        </p:blipFill>
        <p:spPr>
          <a:xfrm>
            <a:off x="4572000" y="1085850"/>
            <a:ext cx="2805114" cy="2116930"/>
          </a:xfrm>
          <a:prstGeom prst="rect">
            <a:avLst/>
          </a:prstGeom>
          <a:noFill/>
          <a:ln>
            <a:noFill/>
          </a:ln>
        </p:spPr>
      </p:pic>
      <p:cxnSp>
        <p:nvCxnSpPr>
          <p:cNvPr id="576" name="Google Shape;576;p43"/>
          <p:cNvCxnSpPr/>
          <p:nvPr/>
        </p:nvCxnSpPr>
        <p:spPr>
          <a:xfrm>
            <a:off x="1524000" y="2146696"/>
            <a:ext cx="2085900" cy="81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4"/>
          <p:cNvSpPr txBox="1"/>
          <p:nvPr>
            <p:ph idx="12" type="sldNum"/>
          </p:nvPr>
        </p:nvSpPr>
        <p:spPr>
          <a:xfrm>
            <a:off x="7696025" y="5367413"/>
            <a:ext cx="1905000" cy="342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582" name="Google Shape;582;p44"/>
          <p:cNvSpPr txBox="1"/>
          <p:nvPr/>
        </p:nvSpPr>
        <p:spPr>
          <a:xfrm>
            <a:off x="1541750" y="821606"/>
            <a:ext cx="2612100" cy="368100"/>
          </a:xfrm>
          <a:prstGeom prst="rect">
            <a:avLst/>
          </a:prstGeom>
          <a:blipFill rotWithShape="1">
            <a:blip r:embed="rId3">
              <a:alphaModFix/>
            </a:blip>
            <a:stretch>
              <a:fillRect b="0" l="-2097" r="0" t="-624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83" name="Google Shape;583;p44"/>
          <p:cNvSpPr txBox="1"/>
          <p:nvPr/>
        </p:nvSpPr>
        <p:spPr>
          <a:xfrm>
            <a:off x="5557125" y="961650"/>
            <a:ext cx="1818300" cy="368100"/>
          </a:xfrm>
          <a:prstGeom prst="rect">
            <a:avLst/>
          </a:prstGeom>
          <a:blipFill rotWithShape="1">
            <a:blip r:embed="rId4">
              <a:alphaModFix/>
            </a:blip>
            <a:stretch>
              <a:fillRect b="0" l="-2678" r="0" t="-624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84" name="Google Shape;584;p44"/>
          <p:cNvSpPr txBox="1"/>
          <p:nvPr/>
        </p:nvSpPr>
        <p:spPr>
          <a:xfrm>
            <a:off x="1234275" y="2888344"/>
            <a:ext cx="1667400" cy="346200"/>
          </a:xfrm>
          <a:prstGeom prst="rect">
            <a:avLst/>
          </a:prstGeom>
          <a:blipFill rotWithShape="1">
            <a:blip r:embed="rId5">
              <a:alphaModFix/>
            </a:blip>
            <a:stretch>
              <a:fillRect b="0" l="-3296" r="0" t="-799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85" name="Google Shape;585;p44"/>
          <p:cNvSpPr txBox="1"/>
          <p:nvPr/>
        </p:nvSpPr>
        <p:spPr>
          <a:xfrm>
            <a:off x="6138817" y="2814504"/>
            <a:ext cx="2595900" cy="346200"/>
          </a:xfrm>
          <a:prstGeom prst="rect">
            <a:avLst/>
          </a:prstGeom>
          <a:blipFill rotWithShape="1">
            <a:blip r:embed="rId6">
              <a:alphaModFix/>
            </a:blip>
            <a:stretch>
              <a:fillRect b="0" l="-1878" r="0" t="-657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586" name="Google Shape;586;p44"/>
          <p:cNvSpPr txBox="1"/>
          <p:nvPr/>
        </p:nvSpPr>
        <p:spPr>
          <a:xfrm>
            <a:off x="3374795" y="2888351"/>
            <a:ext cx="2592000" cy="346200"/>
          </a:xfrm>
          <a:prstGeom prst="rect">
            <a:avLst/>
          </a:prstGeom>
          <a:blipFill rotWithShape="1">
            <a:blip r:embed="rId7">
              <a:alphaModFix/>
            </a:blip>
            <a:stretch>
              <a:fillRect b="0" l="-2117" r="0" t="-657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587" name="Google Shape;587;p44"/>
          <p:cNvPicPr preferRelativeResize="0"/>
          <p:nvPr/>
        </p:nvPicPr>
        <p:blipFill rotWithShape="1">
          <a:blip r:embed="rId8">
            <a:alphaModFix/>
          </a:blip>
          <a:srcRect b="0" l="0" r="0" t="0"/>
          <a:stretch/>
        </p:blipFill>
        <p:spPr>
          <a:xfrm>
            <a:off x="3832559" y="3452494"/>
            <a:ext cx="1257300" cy="1153715"/>
          </a:xfrm>
          <a:prstGeom prst="rect">
            <a:avLst/>
          </a:prstGeom>
          <a:noFill/>
          <a:ln>
            <a:noFill/>
          </a:ln>
        </p:spPr>
      </p:pic>
      <p:pic>
        <p:nvPicPr>
          <p:cNvPr id="588" name="Google Shape;588;p44"/>
          <p:cNvPicPr preferRelativeResize="0"/>
          <p:nvPr/>
        </p:nvPicPr>
        <p:blipFill rotWithShape="1">
          <a:blip r:embed="rId9">
            <a:alphaModFix/>
          </a:blip>
          <a:srcRect b="0" l="0" r="0" t="0"/>
          <a:stretch/>
        </p:blipFill>
        <p:spPr>
          <a:xfrm>
            <a:off x="6598568" y="3372891"/>
            <a:ext cx="1257300" cy="1153715"/>
          </a:xfrm>
          <a:prstGeom prst="rect">
            <a:avLst/>
          </a:prstGeom>
          <a:noFill/>
          <a:ln>
            <a:noFill/>
          </a:ln>
        </p:spPr>
      </p:pic>
      <p:pic>
        <p:nvPicPr>
          <p:cNvPr id="589" name="Google Shape;589;p44"/>
          <p:cNvPicPr preferRelativeResize="0"/>
          <p:nvPr/>
        </p:nvPicPr>
        <p:blipFill rotWithShape="1">
          <a:blip r:embed="rId10">
            <a:alphaModFix/>
          </a:blip>
          <a:srcRect b="0" l="0" r="0" t="0"/>
          <a:stretch/>
        </p:blipFill>
        <p:spPr>
          <a:xfrm>
            <a:off x="1158075" y="3554498"/>
            <a:ext cx="1533524" cy="964407"/>
          </a:xfrm>
          <a:prstGeom prst="rect">
            <a:avLst/>
          </a:prstGeom>
          <a:noFill/>
          <a:ln>
            <a:noFill/>
          </a:ln>
        </p:spPr>
      </p:pic>
      <p:pic>
        <p:nvPicPr>
          <p:cNvPr id="590" name="Google Shape;590;p44"/>
          <p:cNvPicPr preferRelativeResize="0"/>
          <p:nvPr/>
        </p:nvPicPr>
        <p:blipFill rotWithShape="1">
          <a:blip r:embed="rId11">
            <a:alphaModFix/>
          </a:blip>
          <a:srcRect b="0" l="0" r="0" t="0"/>
          <a:stretch/>
        </p:blipFill>
        <p:spPr>
          <a:xfrm>
            <a:off x="1938400" y="1293094"/>
            <a:ext cx="1101329" cy="1028699"/>
          </a:xfrm>
          <a:prstGeom prst="rect">
            <a:avLst/>
          </a:prstGeom>
          <a:noFill/>
          <a:ln>
            <a:noFill/>
          </a:ln>
        </p:spPr>
      </p:pic>
      <p:pic>
        <p:nvPicPr>
          <p:cNvPr id="591" name="Google Shape;591;p44"/>
          <p:cNvPicPr preferRelativeResize="0"/>
          <p:nvPr/>
        </p:nvPicPr>
        <p:blipFill rotWithShape="1">
          <a:blip r:embed="rId12">
            <a:alphaModFix/>
          </a:blip>
          <a:srcRect b="0" l="0" r="0" t="0"/>
          <a:stretch/>
        </p:blipFill>
        <p:spPr>
          <a:xfrm>
            <a:off x="5696826" y="1387895"/>
            <a:ext cx="1258490" cy="111918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5"/>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597" name="Google Shape;597;p45"/>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3600"/>
              <a:buFont typeface="Times New Roman"/>
              <a:buNone/>
            </a:pPr>
            <a:r>
              <a:rPr b="0" i="1" lang="en-US" sz="3600" u="none">
                <a:solidFill>
                  <a:srgbClr val="663300"/>
                </a:solidFill>
                <a:latin typeface="Times New Roman"/>
                <a:ea typeface="Times New Roman"/>
                <a:cs typeface="Times New Roman"/>
                <a:sym typeface="Times New Roman"/>
              </a:rPr>
              <a:t>Shearing Transformation</a:t>
            </a:r>
            <a:endParaRPr/>
          </a:p>
        </p:txBody>
      </p:sp>
      <p:pic>
        <p:nvPicPr>
          <p:cNvPr id="598" name="Google Shape;598;p45"/>
          <p:cNvPicPr preferRelativeResize="0"/>
          <p:nvPr/>
        </p:nvPicPr>
        <p:blipFill rotWithShape="1">
          <a:blip r:embed="rId3">
            <a:alphaModFix/>
          </a:blip>
          <a:srcRect b="0" l="0" r="0" t="0"/>
          <a:stretch/>
        </p:blipFill>
        <p:spPr>
          <a:xfrm>
            <a:off x="1524000" y="1714500"/>
            <a:ext cx="5543549" cy="932259"/>
          </a:xfrm>
          <a:prstGeom prst="rect">
            <a:avLst/>
          </a:prstGeom>
          <a:noFill/>
          <a:ln>
            <a:noFill/>
          </a:ln>
        </p:spPr>
      </p:pic>
      <p:pic>
        <p:nvPicPr>
          <p:cNvPr id="599" name="Google Shape;599;p45"/>
          <p:cNvPicPr preferRelativeResize="0"/>
          <p:nvPr/>
        </p:nvPicPr>
        <p:blipFill rotWithShape="1">
          <a:blip r:embed="rId4">
            <a:alphaModFix/>
          </a:blip>
          <a:srcRect b="0" l="0" r="0" t="0"/>
          <a:stretch/>
        </p:blipFill>
        <p:spPr>
          <a:xfrm>
            <a:off x="1905000" y="2914650"/>
            <a:ext cx="4944668" cy="153709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6"/>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05" name="Google Shape;605;p46"/>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Shear along Z-axis</a:t>
            </a:r>
            <a:endParaRPr/>
          </a:p>
        </p:txBody>
      </p:sp>
      <p:pic>
        <p:nvPicPr>
          <p:cNvPr id="606" name="Google Shape;606;p46"/>
          <p:cNvPicPr preferRelativeResize="0"/>
          <p:nvPr/>
        </p:nvPicPr>
        <p:blipFill rotWithShape="1">
          <a:blip r:embed="rId3">
            <a:alphaModFix/>
          </a:blip>
          <a:srcRect b="0" l="0" r="0" t="0"/>
          <a:stretch/>
        </p:blipFill>
        <p:spPr>
          <a:xfrm>
            <a:off x="1752600" y="1543050"/>
            <a:ext cx="5143500" cy="3184922"/>
          </a:xfrm>
          <a:prstGeom prst="rect">
            <a:avLst/>
          </a:prstGeom>
          <a:noFill/>
          <a:ln>
            <a:noFill/>
          </a:ln>
        </p:spPr>
      </p:pic>
      <p:grpSp>
        <p:nvGrpSpPr>
          <p:cNvPr id="607" name="Google Shape;607;p46"/>
          <p:cNvGrpSpPr/>
          <p:nvPr/>
        </p:nvGrpSpPr>
        <p:grpSpPr>
          <a:xfrm>
            <a:off x="6679125" y="145274"/>
            <a:ext cx="1934801" cy="1343013"/>
            <a:chOff x="4290" y="84"/>
            <a:chExt cx="1219" cy="1128"/>
          </a:xfrm>
        </p:grpSpPr>
        <p:cxnSp>
          <p:nvCxnSpPr>
            <p:cNvPr id="608" name="Google Shape;608;p46"/>
            <p:cNvCxnSpPr/>
            <p:nvPr/>
          </p:nvCxnSpPr>
          <p:spPr>
            <a:xfrm rot="10800000">
              <a:off x="4560" y="192"/>
              <a:ext cx="0" cy="624"/>
            </a:xfrm>
            <a:prstGeom prst="straightConnector1">
              <a:avLst/>
            </a:prstGeom>
            <a:noFill/>
            <a:ln cap="flat" cmpd="sng" w="12700">
              <a:solidFill>
                <a:schemeClr val="dk1"/>
              </a:solidFill>
              <a:prstDash val="solid"/>
              <a:miter lim="800000"/>
              <a:headEnd len="sm" w="sm" type="none"/>
              <a:tailEnd len="med" w="med" type="triangle"/>
            </a:ln>
          </p:spPr>
        </p:cxnSp>
        <p:cxnSp>
          <p:nvCxnSpPr>
            <p:cNvPr id="609" name="Google Shape;609;p46"/>
            <p:cNvCxnSpPr/>
            <p:nvPr/>
          </p:nvCxnSpPr>
          <p:spPr>
            <a:xfrm flipH="1" rot="10800000">
              <a:off x="4560" y="805"/>
              <a:ext cx="723" cy="11"/>
            </a:xfrm>
            <a:prstGeom prst="straightConnector1">
              <a:avLst/>
            </a:prstGeom>
            <a:noFill/>
            <a:ln cap="flat" cmpd="sng" w="12700">
              <a:solidFill>
                <a:schemeClr val="dk1"/>
              </a:solidFill>
              <a:prstDash val="solid"/>
              <a:miter lim="800000"/>
              <a:headEnd len="sm" w="sm" type="none"/>
              <a:tailEnd len="med" w="med" type="triangle"/>
            </a:ln>
          </p:spPr>
        </p:cxnSp>
        <p:cxnSp>
          <p:nvCxnSpPr>
            <p:cNvPr id="610" name="Google Shape;610;p46"/>
            <p:cNvCxnSpPr/>
            <p:nvPr/>
          </p:nvCxnSpPr>
          <p:spPr>
            <a:xfrm flipH="1">
              <a:off x="4320" y="816"/>
              <a:ext cx="240" cy="288"/>
            </a:xfrm>
            <a:prstGeom prst="straightConnector1">
              <a:avLst/>
            </a:prstGeom>
            <a:noFill/>
            <a:ln cap="flat" cmpd="sng" w="12700">
              <a:solidFill>
                <a:schemeClr val="dk1"/>
              </a:solidFill>
              <a:prstDash val="solid"/>
              <a:miter lim="800000"/>
              <a:headEnd len="sm" w="sm" type="none"/>
              <a:tailEnd len="med" w="med" type="triangle"/>
            </a:ln>
          </p:spPr>
        </p:cxnSp>
        <p:sp>
          <p:nvSpPr>
            <p:cNvPr id="611" name="Google Shape;611;p46"/>
            <p:cNvSpPr txBox="1"/>
            <p:nvPr/>
          </p:nvSpPr>
          <p:spPr>
            <a:xfrm>
              <a:off x="4560" y="480"/>
              <a:ext cx="336" cy="336"/>
            </a:xfrm>
            <a:prstGeom prst="rect">
              <a:avLst/>
            </a:prstGeom>
            <a:noFill/>
            <a:ln cap="flat" cmpd="sng" w="19050">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12" name="Google Shape;612;p46"/>
            <p:cNvSpPr txBox="1"/>
            <p:nvPr/>
          </p:nvSpPr>
          <p:spPr>
            <a:xfrm>
              <a:off x="4656" y="672"/>
              <a:ext cx="432" cy="432"/>
            </a:xfrm>
            <a:prstGeom prst="rect">
              <a:avLst/>
            </a:prstGeom>
            <a:noFill/>
            <a:ln cap="flat" cmpd="sng" w="19050">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613" name="Google Shape;613;p46"/>
            <p:cNvCxnSpPr/>
            <p:nvPr/>
          </p:nvCxnSpPr>
          <p:spPr>
            <a:xfrm rot="10800000">
              <a:off x="4560" y="480"/>
              <a:ext cx="107" cy="226"/>
            </a:xfrm>
            <a:prstGeom prst="straightConnector1">
              <a:avLst/>
            </a:prstGeom>
            <a:noFill/>
            <a:ln cap="flat" cmpd="sng" w="19050">
              <a:solidFill>
                <a:srgbClr val="800000"/>
              </a:solidFill>
              <a:prstDash val="solid"/>
              <a:miter lim="800000"/>
              <a:headEnd len="sm" w="sm" type="none"/>
              <a:tailEnd len="sm" w="sm" type="none"/>
            </a:ln>
          </p:spPr>
        </p:cxnSp>
        <p:cxnSp>
          <p:nvCxnSpPr>
            <p:cNvPr id="614" name="Google Shape;614;p46"/>
            <p:cNvCxnSpPr/>
            <p:nvPr/>
          </p:nvCxnSpPr>
          <p:spPr>
            <a:xfrm rot="10800000">
              <a:off x="4896" y="480"/>
              <a:ext cx="184" cy="192"/>
            </a:xfrm>
            <a:prstGeom prst="straightConnector1">
              <a:avLst/>
            </a:prstGeom>
            <a:noFill/>
            <a:ln cap="flat" cmpd="sng" w="19050">
              <a:solidFill>
                <a:srgbClr val="800000"/>
              </a:solidFill>
              <a:prstDash val="solid"/>
              <a:miter lim="800000"/>
              <a:headEnd len="sm" w="sm" type="none"/>
              <a:tailEnd len="sm" w="sm" type="none"/>
            </a:ln>
          </p:spPr>
        </p:cxnSp>
        <p:cxnSp>
          <p:nvCxnSpPr>
            <p:cNvPr id="615" name="Google Shape;615;p46"/>
            <p:cNvCxnSpPr/>
            <p:nvPr/>
          </p:nvCxnSpPr>
          <p:spPr>
            <a:xfrm rot="10800000">
              <a:off x="4560" y="816"/>
              <a:ext cx="118" cy="305"/>
            </a:xfrm>
            <a:prstGeom prst="straightConnector1">
              <a:avLst/>
            </a:prstGeom>
            <a:noFill/>
            <a:ln cap="flat" cmpd="sng" w="19050">
              <a:solidFill>
                <a:srgbClr val="800000"/>
              </a:solidFill>
              <a:prstDash val="solid"/>
              <a:miter lim="800000"/>
              <a:headEnd len="sm" w="sm" type="none"/>
              <a:tailEnd len="sm" w="sm" type="none"/>
            </a:ln>
          </p:spPr>
        </p:cxnSp>
        <p:cxnSp>
          <p:nvCxnSpPr>
            <p:cNvPr id="616" name="Google Shape;616;p46"/>
            <p:cNvCxnSpPr/>
            <p:nvPr/>
          </p:nvCxnSpPr>
          <p:spPr>
            <a:xfrm rot="10800000">
              <a:off x="4896" y="816"/>
              <a:ext cx="184" cy="283"/>
            </a:xfrm>
            <a:prstGeom prst="straightConnector1">
              <a:avLst/>
            </a:prstGeom>
            <a:noFill/>
            <a:ln cap="flat" cmpd="sng" w="19050">
              <a:solidFill>
                <a:srgbClr val="800000"/>
              </a:solidFill>
              <a:prstDash val="solid"/>
              <a:miter lim="800000"/>
              <a:headEnd len="sm" w="sm" type="none"/>
              <a:tailEnd len="sm" w="sm" type="none"/>
            </a:ln>
          </p:spPr>
        </p:cxnSp>
        <p:sp>
          <p:nvSpPr>
            <p:cNvPr id="617" name="Google Shape;617;p46"/>
            <p:cNvSpPr txBox="1"/>
            <p:nvPr/>
          </p:nvSpPr>
          <p:spPr>
            <a:xfrm>
              <a:off x="4320" y="84"/>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z</a:t>
              </a:r>
              <a:endParaRPr b="0" i="0" sz="1400" u="none" cap="none" strike="noStrike">
                <a:solidFill>
                  <a:srgbClr val="000000"/>
                </a:solidFill>
                <a:latin typeface="Arial"/>
                <a:ea typeface="Arial"/>
                <a:cs typeface="Arial"/>
                <a:sym typeface="Arial"/>
              </a:endParaRPr>
            </a:p>
          </p:txBody>
        </p:sp>
        <p:sp>
          <p:nvSpPr>
            <p:cNvPr id="618" name="Google Shape;618;p46"/>
            <p:cNvSpPr txBox="1"/>
            <p:nvPr/>
          </p:nvSpPr>
          <p:spPr>
            <a:xfrm>
              <a:off x="5209" y="6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x</a:t>
              </a:r>
              <a:endParaRPr b="0" i="0" sz="1400" u="none" cap="none" strike="noStrike">
                <a:solidFill>
                  <a:srgbClr val="000000"/>
                </a:solidFill>
                <a:latin typeface="Arial"/>
                <a:ea typeface="Arial"/>
                <a:cs typeface="Arial"/>
                <a:sym typeface="Arial"/>
              </a:endParaRPr>
            </a:p>
          </p:txBody>
        </p:sp>
        <p:sp>
          <p:nvSpPr>
            <p:cNvPr id="619" name="Google Shape;619;p46"/>
            <p:cNvSpPr txBox="1"/>
            <p:nvPr/>
          </p:nvSpPr>
          <p:spPr>
            <a:xfrm>
              <a:off x="4290" y="912"/>
              <a:ext cx="300" cy="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y</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47"/>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25" name="Google Shape;625;p47"/>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Shear along X-axis</a:t>
            </a:r>
            <a:endParaRPr/>
          </a:p>
        </p:txBody>
      </p:sp>
      <p:sp>
        <p:nvSpPr>
          <p:cNvPr id="626" name="Google Shape;626;p47"/>
          <p:cNvSpPr/>
          <p:nvPr/>
        </p:nvSpPr>
        <p:spPr>
          <a:xfrm>
            <a:off x="4419600" y="2457450"/>
            <a:ext cx="30480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7" name="Google Shape;627;p47"/>
          <p:cNvPicPr preferRelativeResize="0"/>
          <p:nvPr/>
        </p:nvPicPr>
        <p:blipFill rotWithShape="1">
          <a:blip r:embed="rId3">
            <a:alphaModFix/>
          </a:blip>
          <a:srcRect b="0" l="0" r="0" t="0"/>
          <a:stretch/>
        </p:blipFill>
        <p:spPr>
          <a:xfrm>
            <a:off x="1828800" y="1697824"/>
            <a:ext cx="4885599" cy="2494050"/>
          </a:xfrm>
          <a:prstGeom prst="rect">
            <a:avLst/>
          </a:prstGeom>
          <a:noFill/>
          <a:ln>
            <a:noFill/>
          </a:ln>
        </p:spPr>
      </p:pic>
      <p:pic>
        <p:nvPicPr>
          <p:cNvPr id="628" name="Google Shape;628;p47"/>
          <p:cNvPicPr preferRelativeResize="0"/>
          <p:nvPr/>
        </p:nvPicPr>
        <p:blipFill rotWithShape="1">
          <a:blip r:embed="rId4">
            <a:alphaModFix/>
          </a:blip>
          <a:srcRect b="0" l="0" r="0" t="0"/>
          <a:stretch/>
        </p:blipFill>
        <p:spPr>
          <a:xfrm>
            <a:off x="6706535" y="201249"/>
            <a:ext cx="1767700" cy="11666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48"/>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34" name="Google Shape;634;p48"/>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Shear along </a:t>
            </a:r>
            <a:r>
              <a:rPr i="1" lang="en-US" sz="4400">
                <a:solidFill>
                  <a:srgbClr val="663300"/>
                </a:solidFill>
                <a:latin typeface="Times New Roman"/>
                <a:ea typeface="Times New Roman"/>
                <a:cs typeface="Times New Roman"/>
                <a:sym typeface="Times New Roman"/>
              </a:rPr>
              <a:t>Y</a:t>
            </a:r>
            <a:r>
              <a:rPr b="0" i="1" lang="en-US" sz="4400" u="none">
                <a:solidFill>
                  <a:srgbClr val="663300"/>
                </a:solidFill>
                <a:latin typeface="Times New Roman"/>
                <a:ea typeface="Times New Roman"/>
                <a:cs typeface="Times New Roman"/>
                <a:sym typeface="Times New Roman"/>
              </a:rPr>
              <a:t>-axis</a:t>
            </a:r>
            <a:endParaRPr/>
          </a:p>
        </p:txBody>
      </p:sp>
      <p:sp>
        <p:nvSpPr>
          <p:cNvPr id="635" name="Google Shape;635;p48"/>
          <p:cNvSpPr txBox="1"/>
          <p:nvPr/>
        </p:nvSpPr>
        <p:spPr>
          <a:xfrm>
            <a:off x="1913350" y="4373156"/>
            <a:ext cx="15600" cy="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t/>
            </a:r>
            <a:endParaRPr b="0" i="0" sz="3200" u="none" cap="none" strike="noStrike">
              <a:solidFill>
                <a:schemeClr val="dk1"/>
              </a:solidFill>
              <a:latin typeface="Times New Roman"/>
              <a:ea typeface="Times New Roman"/>
              <a:cs typeface="Times New Roman"/>
              <a:sym typeface="Times New Roman"/>
            </a:endParaRPr>
          </a:p>
        </p:txBody>
      </p:sp>
      <p:pic>
        <p:nvPicPr>
          <p:cNvPr id="636" name="Google Shape;636;p48"/>
          <p:cNvPicPr preferRelativeResize="0"/>
          <p:nvPr/>
        </p:nvPicPr>
        <p:blipFill rotWithShape="1">
          <a:blip r:embed="rId3">
            <a:alphaModFix/>
          </a:blip>
          <a:srcRect b="0" l="0" r="0" t="0"/>
          <a:stretch/>
        </p:blipFill>
        <p:spPr>
          <a:xfrm>
            <a:off x="1510000" y="1712798"/>
            <a:ext cx="4684750" cy="2387125"/>
          </a:xfrm>
          <a:prstGeom prst="rect">
            <a:avLst/>
          </a:prstGeom>
          <a:noFill/>
          <a:ln>
            <a:noFill/>
          </a:ln>
        </p:spPr>
      </p:pic>
      <p:pic>
        <p:nvPicPr>
          <p:cNvPr id="637" name="Google Shape;637;p48"/>
          <p:cNvPicPr preferRelativeResize="0"/>
          <p:nvPr/>
        </p:nvPicPr>
        <p:blipFill rotWithShape="1">
          <a:blip r:embed="rId4">
            <a:alphaModFix/>
          </a:blip>
          <a:srcRect b="0" l="0" r="0" t="0"/>
          <a:stretch/>
        </p:blipFill>
        <p:spPr>
          <a:xfrm>
            <a:off x="6473000" y="273849"/>
            <a:ext cx="1905000" cy="128054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9"/>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Inverse Transforms</a:t>
            </a:r>
            <a:endParaRPr/>
          </a:p>
        </p:txBody>
      </p:sp>
      <p:sp>
        <p:nvSpPr>
          <p:cNvPr id="643" name="Google Shape;643;p49"/>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pic>
        <p:nvPicPr>
          <p:cNvPr id="644" name="Google Shape;644;p49"/>
          <p:cNvPicPr preferRelativeResize="0"/>
          <p:nvPr/>
        </p:nvPicPr>
        <p:blipFill rotWithShape="1">
          <a:blip r:embed="rId3">
            <a:alphaModFix/>
          </a:blip>
          <a:srcRect b="0" l="0" r="0" t="0"/>
          <a:stretch/>
        </p:blipFill>
        <p:spPr>
          <a:xfrm>
            <a:off x="693325" y="1268050"/>
            <a:ext cx="5787175" cy="34499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50"/>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50" name="Google Shape;650;p50"/>
          <p:cNvSpPr txBox="1"/>
          <p:nvPr>
            <p:ph type="title"/>
          </p:nvPr>
        </p:nvSpPr>
        <p:spPr>
          <a:xfrm>
            <a:off x="628650" y="135119"/>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Inverse Transformations</a:t>
            </a:r>
            <a:endParaRPr/>
          </a:p>
        </p:txBody>
      </p:sp>
      <p:sp>
        <p:nvSpPr>
          <p:cNvPr id="651" name="Google Shape;651;p50"/>
          <p:cNvSpPr txBox="1"/>
          <p:nvPr/>
        </p:nvSpPr>
        <p:spPr>
          <a:xfrm>
            <a:off x="1177425" y="953473"/>
            <a:ext cx="5762400" cy="39270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100"/>
              <a:buFont typeface="Arial"/>
              <a:buNone/>
            </a:pPr>
            <a:r>
              <a:rPr b="0" i="0" lang="en-US" sz="3000" u="none" cap="none" strike="noStrike">
                <a:solidFill>
                  <a:srgbClr val="000000"/>
                </a:solidFill>
                <a:latin typeface="Times New Roman"/>
                <a:ea typeface="Times New Roman"/>
                <a:cs typeface="Times New Roman"/>
                <a:sym typeface="Times New Roman"/>
              </a:rPr>
              <a:t>Translation  :   </a:t>
            </a:r>
            <a:r>
              <a:rPr b="0" i="1" lang="en-US" sz="3000" u="none" cap="none" strike="noStrike">
                <a:solidFill>
                  <a:srgbClr val="000000"/>
                </a:solidFill>
                <a:latin typeface="Times New Roman"/>
                <a:ea typeface="Times New Roman"/>
                <a:cs typeface="Times New Roman"/>
                <a:sym typeface="Times New Roman"/>
              </a:rPr>
              <a:t>T </a:t>
            </a:r>
            <a:r>
              <a:rPr b="0" baseline="30000" i="0" lang="en-US" sz="3000" u="none" cap="none" strike="noStrike">
                <a:solidFill>
                  <a:srgbClr val="000000"/>
                </a:solidFill>
                <a:latin typeface="Times New Roman"/>
                <a:ea typeface="Times New Roman"/>
                <a:cs typeface="Times New Roman"/>
                <a:sym typeface="Times New Roman"/>
              </a:rPr>
              <a:t>-1</a:t>
            </a:r>
            <a:r>
              <a:rPr b="0" baseline="-25000" i="1" lang="en-US" sz="3000" u="none" cap="none" strike="noStrike">
                <a:solidFill>
                  <a:srgbClr val="000000"/>
                </a:solidFill>
                <a:latin typeface="Times New Roman"/>
                <a:ea typeface="Times New Roman"/>
                <a:cs typeface="Times New Roman"/>
                <a:sym typeface="Times New Roman"/>
              </a:rPr>
              <a:t>(dx, dy)</a:t>
            </a:r>
            <a:r>
              <a:rPr b="0" i="1" lang="en-US" sz="3000" u="none" cap="none" strike="noStrike">
                <a:solidFill>
                  <a:srgbClr val="000000"/>
                </a:solidFill>
                <a:latin typeface="Times New Roman"/>
                <a:ea typeface="Times New Roman"/>
                <a:cs typeface="Times New Roman"/>
                <a:sym typeface="Times New Roman"/>
              </a:rPr>
              <a:t>= T</a:t>
            </a:r>
            <a:r>
              <a:rPr b="0" baseline="-25000" i="1" lang="en-US" sz="3000" u="none" cap="none" strike="noStrike">
                <a:solidFill>
                  <a:srgbClr val="000000"/>
                </a:solidFill>
                <a:latin typeface="Times New Roman"/>
                <a:ea typeface="Times New Roman"/>
                <a:cs typeface="Times New Roman"/>
                <a:sym typeface="Times New Roman"/>
              </a:rPr>
              <a:t>(-dx,- dy)</a:t>
            </a:r>
            <a:r>
              <a:rPr b="0" i="1" lang="en-US" sz="3000" u="none" cap="none" strike="noStrike">
                <a:solidFill>
                  <a:srgbClr val="000000"/>
                </a:solidFill>
                <a:latin typeface="Times New Roman"/>
                <a:ea typeface="Times New Roman"/>
                <a:cs typeface="Times New Roman"/>
                <a:sym typeface="Times New Roman"/>
              </a:rPr>
              <a:t> </a:t>
            </a:r>
            <a:endParaRPr b="0" i="1" sz="30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100"/>
              <a:buFont typeface="Arial"/>
              <a:buNone/>
            </a:pPr>
            <a:r>
              <a:rPr b="0" i="0" lang="en-US" sz="3000" u="none" cap="none" strike="noStrike">
                <a:solidFill>
                  <a:srgbClr val="000000"/>
                </a:solidFill>
                <a:latin typeface="Times New Roman"/>
                <a:ea typeface="Times New Roman"/>
                <a:cs typeface="Times New Roman"/>
                <a:sym typeface="Times New Roman"/>
              </a:rPr>
              <a:t>Rotation      :  </a:t>
            </a:r>
            <a:r>
              <a:rPr b="0" i="1" lang="en-US" sz="3000" u="none" cap="none" strike="noStrike">
                <a:solidFill>
                  <a:srgbClr val="000000"/>
                </a:solidFill>
                <a:latin typeface="Times New Roman"/>
                <a:ea typeface="Times New Roman"/>
                <a:cs typeface="Times New Roman"/>
                <a:sym typeface="Times New Roman"/>
              </a:rPr>
              <a:t>R</a:t>
            </a:r>
            <a:r>
              <a:rPr b="0" baseline="30000" i="0" lang="en-US" sz="3000" u="none" cap="none" strike="noStrike">
                <a:solidFill>
                  <a:srgbClr val="000000"/>
                </a:solidFill>
                <a:latin typeface="Times New Roman"/>
                <a:ea typeface="Times New Roman"/>
                <a:cs typeface="Times New Roman"/>
                <a:sym typeface="Times New Roman"/>
              </a:rPr>
              <a:t>-1</a:t>
            </a:r>
            <a:r>
              <a:rPr b="0" baseline="-25000" i="1" lang="en-US" sz="3000" u="none" cap="none" strike="noStrike">
                <a:solidFill>
                  <a:srgbClr val="000000"/>
                </a:solidFill>
                <a:latin typeface="Times New Roman"/>
                <a:ea typeface="Times New Roman"/>
                <a:cs typeface="Times New Roman"/>
                <a:sym typeface="Times New Roman"/>
              </a:rPr>
              <a:t>(θ)</a:t>
            </a:r>
            <a:r>
              <a:rPr b="0" i="1" lang="en-US" sz="3000" u="none" cap="none" strike="noStrike">
                <a:solidFill>
                  <a:srgbClr val="000000"/>
                </a:solidFill>
                <a:latin typeface="Times New Roman"/>
                <a:ea typeface="Times New Roman"/>
                <a:cs typeface="Times New Roman"/>
                <a:sym typeface="Times New Roman"/>
              </a:rPr>
              <a:t>  = R</a:t>
            </a:r>
            <a:r>
              <a:rPr b="0" baseline="-25000" i="1" lang="en-US" sz="3000" u="none" cap="none" strike="noStrike">
                <a:solidFill>
                  <a:srgbClr val="000000"/>
                </a:solidFill>
                <a:latin typeface="Times New Roman"/>
                <a:ea typeface="Times New Roman"/>
                <a:cs typeface="Times New Roman"/>
                <a:sym typeface="Times New Roman"/>
              </a:rPr>
              <a:t>(-θ)</a:t>
            </a:r>
            <a:r>
              <a:rPr b="0" i="1" lang="en-US" sz="3000" u="none" cap="none" strike="noStrike">
                <a:solidFill>
                  <a:srgbClr val="000000"/>
                </a:solidFill>
                <a:latin typeface="Times New Roman"/>
                <a:ea typeface="Times New Roman"/>
                <a:cs typeface="Times New Roman"/>
                <a:sym typeface="Times New Roman"/>
              </a:rPr>
              <a:t>   = R</a:t>
            </a:r>
            <a:r>
              <a:rPr b="0" baseline="30000" i="1" lang="en-US" sz="3000" u="none" cap="none" strike="noStrike">
                <a:solidFill>
                  <a:srgbClr val="000000"/>
                </a:solidFill>
                <a:latin typeface="Times New Roman"/>
                <a:ea typeface="Times New Roman"/>
                <a:cs typeface="Times New Roman"/>
                <a:sym typeface="Times New Roman"/>
              </a:rPr>
              <a:t>T</a:t>
            </a:r>
            <a:r>
              <a:rPr b="0" baseline="-25000" i="1" lang="en-US" sz="3000" u="none" cap="none" strike="noStrike">
                <a:solidFill>
                  <a:srgbClr val="000000"/>
                </a:solidFill>
                <a:latin typeface="Times New Roman"/>
                <a:ea typeface="Times New Roman"/>
                <a:cs typeface="Times New Roman"/>
                <a:sym typeface="Times New Roman"/>
              </a:rPr>
              <a:t>(θ)</a:t>
            </a:r>
            <a:r>
              <a:rPr b="0" i="1" lang="en-US" sz="3000" u="none" cap="none" strike="noStrike">
                <a:solidFill>
                  <a:srgbClr val="000000"/>
                </a:solidFill>
                <a:latin typeface="Times New Roman"/>
                <a:ea typeface="Times New Roman"/>
                <a:cs typeface="Times New Roman"/>
                <a:sym typeface="Times New Roman"/>
              </a:rPr>
              <a:t>  </a:t>
            </a:r>
            <a:endParaRPr b="0" i="0" sz="30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100"/>
              <a:buFont typeface="Arial"/>
              <a:buNone/>
            </a:pPr>
            <a:r>
              <a:rPr b="0" i="0" lang="en-US" sz="3000" u="none" cap="none" strike="noStrike">
                <a:solidFill>
                  <a:srgbClr val="000000"/>
                </a:solidFill>
                <a:latin typeface="Times New Roman"/>
                <a:ea typeface="Times New Roman"/>
                <a:cs typeface="Times New Roman"/>
                <a:sym typeface="Times New Roman"/>
              </a:rPr>
              <a:t>Scaling        :  </a:t>
            </a:r>
            <a:r>
              <a:rPr b="0" i="1" lang="en-US" sz="3000" u="none" cap="none" strike="noStrike">
                <a:solidFill>
                  <a:srgbClr val="000000"/>
                </a:solidFill>
                <a:latin typeface="Times New Roman"/>
                <a:ea typeface="Times New Roman"/>
                <a:cs typeface="Times New Roman"/>
                <a:sym typeface="Times New Roman"/>
              </a:rPr>
              <a:t>S </a:t>
            </a:r>
            <a:r>
              <a:rPr b="0" baseline="30000" i="0" lang="en-US" sz="3000" u="none" cap="none" strike="noStrike">
                <a:solidFill>
                  <a:srgbClr val="000000"/>
                </a:solidFill>
                <a:latin typeface="Times New Roman"/>
                <a:ea typeface="Times New Roman"/>
                <a:cs typeface="Times New Roman"/>
                <a:sym typeface="Times New Roman"/>
              </a:rPr>
              <a:t>-1</a:t>
            </a:r>
            <a:r>
              <a:rPr b="0" baseline="-25000" i="1" lang="en-US" sz="3000" u="none" cap="none" strike="noStrike">
                <a:solidFill>
                  <a:srgbClr val="000000"/>
                </a:solidFill>
                <a:latin typeface="Times New Roman"/>
                <a:ea typeface="Times New Roman"/>
                <a:cs typeface="Times New Roman"/>
                <a:sym typeface="Times New Roman"/>
              </a:rPr>
              <a:t>(sx, sy)</a:t>
            </a:r>
            <a:r>
              <a:rPr b="0" baseline="30000" i="1" lang="en-US" sz="3000" u="none" cap="none" strike="noStrike">
                <a:solidFill>
                  <a:srgbClr val="000000"/>
                </a:solidFill>
                <a:latin typeface="Times New Roman"/>
                <a:ea typeface="Times New Roman"/>
                <a:cs typeface="Times New Roman"/>
                <a:sym typeface="Times New Roman"/>
              </a:rPr>
              <a:t>= </a:t>
            </a:r>
            <a:r>
              <a:rPr b="0" i="1" lang="en-US" sz="3000" u="none" cap="none" strike="noStrike">
                <a:solidFill>
                  <a:srgbClr val="000000"/>
                </a:solidFill>
                <a:latin typeface="Times New Roman"/>
                <a:ea typeface="Times New Roman"/>
                <a:cs typeface="Times New Roman"/>
                <a:sym typeface="Times New Roman"/>
              </a:rPr>
              <a:t>S </a:t>
            </a:r>
            <a:r>
              <a:rPr b="0" baseline="-25000" i="1" lang="en-US" sz="3000" u="none" cap="none" strike="noStrike">
                <a:solidFill>
                  <a:srgbClr val="000000"/>
                </a:solidFill>
                <a:latin typeface="Times New Roman"/>
                <a:ea typeface="Times New Roman"/>
                <a:cs typeface="Times New Roman"/>
                <a:sym typeface="Times New Roman"/>
              </a:rPr>
              <a:t>(1/sx, 1/sy)</a:t>
            </a:r>
            <a:endParaRPr b="0" i="0" sz="30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1100"/>
              <a:buFont typeface="Arial"/>
              <a:buNone/>
            </a:pPr>
            <a:r>
              <a:rPr b="0" i="0" lang="en-US" sz="3000" u="none" cap="none" strike="noStrike">
                <a:solidFill>
                  <a:srgbClr val="000000"/>
                </a:solidFill>
                <a:latin typeface="Times New Roman"/>
                <a:ea typeface="Times New Roman"/>
                <a:cs typeface="Times New Roman"/>
                <a:sym typeface="Times New Roman"/>
              </a:rPr>
              <a:t>Mirror Ref  </a:t>
            </a:r>
            <a:r>
              <a:rPr b="0" i="0" lang="en-US" sz="2100" u="none" cap="none" strike="noStrike">
                <a:solidFill>
                  <a:srgbClr val="000000"/>
                </a:solidFill>
                <a:latin typeface="Times New Roman"/>
                <a:ea typeface="Times New Roman"/>
                <a:cs typeface="Times New Roman"/>
                <a:sym typeface="Times New Roman"/>
              </a:rPr>
              <a:t> </a:t>
            </a:r>
            <a:r>
              <a:rPr b="0" i="0" lang="en-US" sz="3000" u="none" cap="none" strike="noStrike">
                <a:solidFill>
                  <a:srgbClr val="000000"/>
                </a:solidFill>
                <a:latin typeface="Times New Roman"/>
                <a:ea typeface="Times New Roman"/>
                <a:cs typeface="Times New Roman"/>
                <a:sym typeface="Times New Roman"/>
              </a:rPr>
              <a:t>:  </a:t>
            </a:r>
            <a:r>
              <a:rPr b="0" i="1" lang="en-US" sz="3000" u="none" cap="none" strike="noStrike">
                <a:solidFill>
                  <a:srgbClr val="000000"/>
                </a:solidFill>
                <a:latin typeface="Times New Roman"/>
                <a:ea typeface="Times New Roman"/>
                <a:cs typeface="Times New Roman"/>
                <a:sym typeface="Times New Roman"/>
              </a:rPr>
              <a:t>M</a:t>
            </a:r>
            <a:r>
              <a:rPr b="0" baseline="-25000" i="1" lang="en-US" sz="3000" u="none" cap="none" strike="noStrike">
                <a:solidFill>
                  <a:srgbClr val="000000"/>
                </a:solidFill>
                <a:latin typeface="Times New Roman"/>
                <a:ea typeface="Times New Roman"/>
                <a:cs typeface="Times New Roman"/>
                <a:sym typeface="Times New Roman"/>
              </a:rPr>
              <a:t>x</a:t>
            </a:r>
            <a:r>
              <a:rPr b="0" baseline="30000" i="0" lang="en-US" sz="3000" u="none" cap="none" strike="noStrike">
                <a:solidFill>
                  <a:srgbClr val="000000"/>
                </a:solidFill>
                <a:latin typeface="Times New Roman"/>
                <a:ea typeface="Times New Roman"/>
                <a:cs typeface="Times New Roman"/>
                <a:sym typeface="Times New Roman"/>
              </a:rPr>
              <a:t>-1</a:t>
            </a:r>
            <a:r>
              <a:rPr b="0" i="1" lang="en-US" sz="3000" u="none" cap="none" strike="noStrike">
                <a:solidFill>
                  <a:srgbClr val="000000"/>
                </a:solidFill>
                <a:latin typeface="Times New Roman"/>
                <a:ea typeface="Times New Roman"/>
                <a:cs typeface="Times New Roman"/>
                <a:sym typeface="Times New Roman"/>
              </a:rPr>
              <a:t>= M </a:t>
            </a:r>
            <a:r>
              <a:rPr b="0" baseline="-25000" i="1" lang="en-US" sz="3000" u="none" cap="none" strike="noStrike">
                <a:solidFill>
                  <a:srgbClr val="000000"/>
                </a:solidFill>
                <a:latin typeface="Times New Roman"/>
                <a:ea typeface="Times New Roman"/>
                <a:cs typeface="Times New Roman"/>
                <a:sym typeface="Times New Roman"/>
              </a:rPr>
              <a:t>x</a:t>
            </a:r>
            <a:endParaRPr b="0" baseline="-25000" i="1" sz="3000" u="none" cap="none" strike="noStrike">
              <a:solidFill>
                <a:srgbClr val="000000"/>
              </a:solidFill>
              <a:latin typeface="Times New Roman"/>
              <a:ea typeface="Times New Roman"/>
              <a:cs typeface="Times New Roman"/>
              <a:sym typeface="Times New Roman"/>
            </a:endParaRPr>
          </a:p>
          <a:p>
            <a:pPr indent="0" lvl="0" marL="1828800" marR="0" rtl="0" algn="l">
              <a:lnSpc>
                <a:spcPct val="150000"/>
              </a:lnSpc>
              <a:spcBef>
                <a:spcPts val="0"/>
              </a:spcBef>
              <a:spcAft>
                <a:spcPts val="0"/>
              </a:spcAft>
              <a:buClr>
                <a:srgbClr val="000000"/>
              </a:buClr>
              <a:buSzPts val="1100"/>
              <a:buFont typeface="Arial"/>
              <a:buNone/>
            </a:pPr>
            <a:r>
              <a:rPr b="0" i="1" lang="en-US" sz="3000" u="none" cap="none" strike="noStrike">
                <a:solidFill>
                  <a:srgbClr val="000000"/>
                </a:solidFill>
                <a:latin typeface="Times New Roman"/>
                <a:ea typeface="Times New Roman"/>
                <a:cs typeface="Times New Roman"/>
                <a:sym typeface="Times New Roman"/>
              </a:rPr>
              <a:t>    M</a:t>
            </a:r>
            <a:r>
              <a:rPr b="0" baseline="-25000" i="1" lang="en-US" sz="3000" u="none" cap="none" strike="noStrike">
                <a:solidFill>
                  <a:srgbClr val="000000"/>
                </a:solidFill>
                <a:latin typeface="Times New Roman"/>
                <a:ea typeface="Times New Roman"/>
                <a:cs typeface="Times New Roman"/>
                <a:sym typeface="Times New Roman"/>
              </a:rPr>
              <a:t>y</a:t>
            </a:r>
            <a:r>
              <a:rPr b="0" baseline="30000" i="0" lang="en-US" sz="3000" u="none" cap="none" strike="noStrike">
                <a:solidFill>
                  <a:srgbClr val="000000"/>
                </a:solidFill>
                <a:latin typeface="Times New Roman"/>
                <a:ea typeface="Times New Roman"/>
                <a:cs typeface="Times New Roman"/>
                <a:sym typeface="Times New Roman"/>
              </a:rPr>
              <a:t>-1</a:t>
            </a:r>
            <a:r>
              <a:rPr b="0" i="1" lang="en-US" sz="3000" u="none" cap="none" strike="noStrike">
                <a:solidFill>
                  <a:srgbClr val="000000"/>
                </a:solidFill>
                <a:latin typeface="Times New Roman"/>
                <a:ea typeface="Times New Roman"/>
                <a:cs typeface="Times New Roman"/>
                <a:sym typeface="Times New Roman"/>
              </a:rPr>
              <a:t>= M</a:t>
            </a:r>
            <a:r>
              <a:rPr b="0" baseline="-25000" i="1" lang="en-US" sz="3000" u="none" cap="none" strike="noStrike">
                <a:solidFill>
                  <a:srgbClr val="000000"/>
                </a:solidFill>
                <a:latin typeface="Times New Roman"/>
                <a:ea typeface="Times New Roman"/>
                <a:cs typeface="Times New Roman"/>
                <a:sym typeface="Times New Roman"/>
              </a:rPr>
              <a:t>y</a:t>
            </a:r>
            <a:endParaRPr b="0" baseline="-25000" i="1" sz="3000" u="none" cap="none" strike="noStrike">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rgbClr val="000000"/>
              </a:buClr>
              <a:buSzPts val="3500"/>
              <a:buFont typeface="Arial"/>
              <a:buNone/>
            </a:pPr>
            <a:r>
              <a:rPr b="0" i="0" lang="en-US" sz="3000" u="none" cap="none" strike="noStrike">
                <a:solidFill>
                  <a:srgbClr val="000000"/>
                </a:solidFill>
                <a:latin typeface="Times New Roman"/>
                <a:ea typeface="Times New Roman"/>
                <a:cs typeface="Times New Roman"/>
                <a:sym typeface="Times New Roman"/>
              </a:rPr>
              <a:t>Shear           :  </a:t>
            </a:r>
            <a:r>
              <a:rPr b="0" i="1" lang="en-US" sz="3000" u="none" cap="none" strike="noStrike">
                <a:solidFill>
                  <a:srgbClr val="000000"/>
                </a:solidFill>
                <a:latin typeface="Times New Roman"/>
                <a:ea typeface="Times New Roman"/>
                <a:cs typeface="Times New Roman"/>
                <a:sym typeface="Times New Roman"/>
              </a:rPr>
              <a:t>Sh</a:t>
            </a:r>
            <a:r>
              <a:rPr b="0" baseline="-25000" i="1" lang="en-US" sz="3000" u="none" cap="none" strike="noStrike">
                <a:solidFill>
                  <a:srgbClr val="000000"/>
                </a:solidFill>
                <a:latin typeface="Times New Roman"/>
                <a:ea typeface="Times New Roman"/>
                <a:cs typeface="Times New Roman"/>
                <a:sym typeface="Times New Roman"/>
              </a:rPr>
              <a:t>x</a:t>
            </a:r>
            <a:r>
              <a:rPr b="0" baseline="30000" i="0" lang="en-US" sz="3000" u="none" cap="none" strike="noStrike">
                <a:solidFill>
                  <a:srgbClr val="000000"/>
                </a:solidFill>
                <a:latin typeface="Times New Roman"/>
                <a:ea typeface="Times New Roman"/>
                <a:cs typeface="Times New Roman"/>
                <a:sym typeface="Times New Roman"/>
              </a:rPr>
              <a:t>-1</a:t>
            </a:r>
            <a:r>
              <a:rPr b="0" i="1" lang="en-US" sz="3000" u="none" cap="none" strike="noStrike">
                <a:solidFill>
                  <a:srgbClr val="000000"/>
                </a:solidFill>
                <a:latin typeface="Times New Roman"/>
                <a:ea typeface="Times New Roman"/>
                <a:cs typeface="Times New Roman"/>
                <a:sym typeface="Times New Roman"/>
              </a:rPr>
              <a:t> = Sh</a:t>
            </a:r>
            <a:r>
              <a:rPr b="0" baseline="-25000" i="1" lang="en-US" sz="3000" u="none" cap="none" strike="noStrike">
                <a:solidFill>
                  <a:srgbClr val="000000"/>
                </a:solidFill>
                <a:latin typeface="Times New Roman"/>
                <a:ea typeface="Times New Roman"/>
                <a:cs typeface="Times New Roman"/>
                <a:sym typeface="Times New Roman"/>
              </a:rPr>
              <a:t>-x</a:t>
            </a:r>
            <a:endParaRPr b="0" baseline="-25000" i="1" sz="3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51"/>
          <p:cNvSpPr txBox="1"/>
          <p:nvPr>
            <p:ph type="ctrTitle"/>
          </p:nvPr>
        </p:nvSpPr>
        <p:spPr>
          <a:xfrm>
            <a:off x="1143000" y="841772"/>
            <a:ext cx="6858000" cy="17907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Composing Transformations</a:t>
            </a:r>
            <a:endParaRPr/>
          </a:p>
        </p:txBody>
      </p:sp>
      <p:sp>
        <p:nvSpPr>
          <p:cNvPr id="657" name="Google Shape;657;p51"/>
          <p:cNvSpPr txBox="1"/>
          <p:nvPr/>
        </p:nvSpPr>
        <p:spPr>
          <a:xfrm>
            <a:off x="7391400" y="4762500"/>
            <a:ext cx="1724100" cy="342900"/>
          </a:xfrm>
          <a:prstGeom prst="rect">
            <a:avLst/>
          </a:prstGeom>
          <a:noFill/>
          <a:ln>
            <a:noFill/>
          </a:ln>
        </p:spPr>
        <p:txBody>
          <a:bodyPr anchorCtr="0" anchor="b"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2"/>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664" name="Google Shape;664;p52"/>
          <p:cNvSpPr txBox="1"/>
          <p:nvPr>
            <p:ph type="title"/>
          </p:nvPr>
        </p:nvSpPr>
        <p:spPr>
          <a:xfrm>
            <a:off x="476250" y="452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How are transforms combined?</a:t>
            </a:r>
            <a:endParaRPr/>
          </a:p>
        </p:txBody>
      </p:sp>
      <p:sp>
        <p:nvSpPr>
          <p:cNvPr id="665" name="Google Shape;665;p52"/>
          <p:cNvSpPr txBox="1"/>
          <p:nvPr/>
        </p:nvSpPr>
        <p:spPr>
          <a:xfrm>
            <a:off x="7591425" y="1750219"/>
            <a:ext cx="304800" cy="2262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6" name="Google Shape;666;p52"/>
          <p:cNvSpPr txBox="1"/>
          <p:nvPr/>
        </p:nvSpPr>
        <p:spPr>
          <a:xfrm>
            <a:off x="4116387" y="1863328"/>
            <a:ext cx="303300" cy="22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7" name="Google Shape;667;p52"/>
          <p:cNvSpPr txBox="1"/>
          <p:nvPr/>
        </p:nvSpPr>
        <p:spPr>
          <a:xfrm>
            <a:off x="1081087" y="1976438"/>
            <a:ext cx="150900" cy="1131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8" name="Google Shape;668;p52"/>
          <p:cNvSpPr/>
          <p:nvPr/>
        </p:nvSpPr>
        <p:spPr>
          <a:xfrm>
            <a:off x="7858125" y="1714500"/>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69" name="Google Shape;669;p52"/>
          <p:cNvSpPr/>
          <p:nvPr/>
        </p:nvSpPr>
        <p:spPr>
          <a:xfrm>
            <a:off x="1193800" y="194071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0" name="Google Shape;670;p52"/>
          <p:cNvSpPr/>
          <p:nvPr/>
        </p:nvSpPr>
        <p:spPr>
          <a:xfrm>
            <a:off x="1042987" y="205501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1" name="Google Shape;671;p52"/>
          <p:cNvSpPr/>
          <p:nvPr/>
        </p:nvSpPr>
        <p:spPr>
          <a:xfrm>
            <a:off x="7553325" y="194190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2" name="Google Shape;672;p52"/>
          <p:cNvSpPr/>
          <p:nvPr/>
        </p:nvSpPr>
        <p:spPr>
          <a:xfrm>
            <a:off x="4381500" y="1828800"/>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3" name="Google Shape;673;p52"/>
          <p:cNvSpPr/>
          <p:nvPr/>
        </p:nvSpPr>
        <p:spPr>
          <a:xfrm>
            <a:off x="4078287" y="205501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74" name="Google Shape;674;p52"/>
          <p:cNvSpPr txBox="1"/>
          <p:nvPr/>
        </p:nvSpPr>
        <p:spPr>
          <a:xfrm>
            <a:off x="549275" y="2034778"/>
            <a:ext cx="590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(0,0)</a:t>
            </a:r>
            <a:endParaRPr b="0" i="0" sz="1400" u="none" cap="none" strike="noStrike">
              <a:solidFill>
                <a:srgbClr val="000000"/>
              </a:solidFill>
              <a:latin typeface="Arial"/>
              <a:ea typeface="Arial"/>
              <a:cs typeface="Arial"/>
              <a:sym typeface="Arial"/>
            </a:endParaRPr>
          </a:p>
        </p:txBody>
      </p:sp>
      <p:sp>
        <p:nvSpPr>
          <p:cNvPr id="675" name="Google Shape;675;p52"/>
          <p:cNvSpPr txBox="1"/>
          <p:nvPr/>
        </p:nvSpPr>
        <p:spPr>
          <a:xfrm>
            <a:off x="1231900" y="1806178"/>
            <a:ext cx="590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(1,1)</a:t>
            </a:r>
            <a:endParaRPr b="0" i="0" sz="1400" u="none" cap="none" strike="noStrike">
              <a:solidFill>
                <a:srgbClr val="000000"/>
              </a:solidFill>
              <a:latin typeface="Arial"/>
              <a:ea typeface="Arial"/>
              <a:cs typeface="Arial"/>
              <a:sym typeface="Arial"/>
            </a:endParaRPr>
          </a:p>
        </p:txBody>
      </p:sp>
      <p:sp>
        <p:nvSpPr>
          <p:cNvPr id="676" name="Google Shape;676;p52"/>
          <p:cNvSpPr txBox="1"/>
          <p:nvPr/>
        </p:nvSpPr>
        <p:spPr>
          <a:xfrm>
            <a:off x="4435475" y="1668065"/>
            <a:ext cx="590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(2,2)</a:t>
            </a:r>
            <a:endParaRPr b="0" i="0" sz="1400" u="none" cap="none" strike="noStrike">
              <a:solidFill>
                <a:srgbClr val="000000"/>
              </a:solidFill>
              <a:latin typeface="Arial"/>
              <a:ea typeface="Arial"/>
              <a:cs typeface="Arial"/>
              <a:sym typeface="Arial"/>
            </a:endParaRPr>
          </a:p>
        </p:txBody>
      </p:sp>
      <p:sp>
        <p:nvSpPr>
          <p:cNvPr id="677" name="Google Shape;677;p52"/>
          <p:cNvSpPr txBox="1"/>
          <p:nvPr/>
        </p:nvSpPr>
        <p:spPr>
          <a:xfrm>
            <a:off x="3602037" y="2033588"/>
            <a:ext cx="590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(0,0)</a:t>
            </a:r>
            <a:endParaRPr b="0" i="0" sz="1400" u="none" cap="none" strike="noStrike">
              <a:solidFill>
                <a:srgbClr val="000000"/>
              </a:solidFill>
              <a:latin typeface="Arial"/>
              <a:ea typeface="Arial"/>
              <a:cs typeface="Arial"/>
              <a:sym typeface="Arial"/>
            </a:endParaRPr>
          </a:p>
        </p:txBody>
      </p:sp>
      <p:sp>
        <p:nvSpPr>
          <p:cNvPr id="678" name="Google Shape;678;p52"/>
          <p:cNvSpPr txBox="1"/>
          <p:nvPr/>
        </p:nvSpPr>
        <p:spPr>
          <a:xfrm>
            <a:off x="7912100" y="1553765"/>
            <a:ext cx="590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(5,3)</a:t>
            </a:r>
            <a:endParaRPr b="0" i="0" sz="1400" u="none" cap="none" strike="noStrike">
              <a:solidFill>
                <a:srgbClr val="000000"/>
              </a:solidFill>
              <a:latin typeface="Arial"/>
              <a:ea typeface="Arial"/>
              <a:cs typeface="Arial"/>
              <a:sym typeface="Arial"/>
            </a:endParaRPr>
          </a:p>
        </p:txBody>
      </p:sp>
      <p:sp>
        <p:nvSpPr>
          <p:cNvPr id="679" name="Google Shape;679;p52"/>
          <p:cNvSpPr txBox="1"/>
          <p:nvPr/>
        </p:nvSpPr>
        <p:spPr>
          <a:xfrm>
            <a:off x="7061200" y="1838325"/>
            <a:ext cx="5907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Times New Roman"/>
              <a:buNone/>
            </a:pPr>
            <a:r>
              <a:rPr b="0" i="0" lang="en-US" sz="1600" u="none" cap="none" strike="noStrike">
                <a:solidFill>
                  <a:srgbClr val="000000"/>
                </a:solidFill>
                <a:latin typeface="Times New Roman"/>
                <a:ea typeface="Times New Roman"/>
                <a:cs typeface="Times New Roman"/>
                <a:sym typeface="Times New Roman"/>
              </a:rPr>
              <a:t>(3,1)</a:t>
            </a:r>
            <a:endParaRPr b="0" i="0" sz="1400" u="none" cap="none" strike="noStrike">
              <a:solidFill>
                <a:srgbClr val="000000"/>
              </a:solidFill>
              <a:latin typeface="Arial"/>
              <a:ea typeface="Arial"/>
              <a:cs typeface="Arial"/>
              <a:sym typeface="Arial"/>
            </a:endParaRPr>
          </a:p>
        </p:txBody>
      </p:sp>
      <p:cxnSp>
        <p:nvCxnSpPr>
          <p:cNvPr id="680" name="Google Shape;680;p52"/>
          <p:cNvCxnSpPr/>
          <p:nvPr/>
        </p:nvCxnSpPr>
        <p:spPr>
          <a:xfrm rot="10800000">
            <a:off x="7135812" y="1408537"/>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681" name="Google Shape;681;p52"/>
          <p:cNvCxnSpPr/>
          <p:nvPr/>
        </p:nvCxnSpPr>
        <p:spPr>
          <a:xfrm>
            <a:off x="7135812" y="2090738"/>
            <a:ext cx="15192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682" name="Google Shape;682;p52"/>
          <p:cNvCxnSpPr/>
          <p:nvPr/>
        </p:nvCxnSpPr>
        <p:spPr>
          <a:xfrm rot="10800000">
            <a:off x="4114800" y="1408537"/>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683" name="Google Shape;683;p52"/>
          <p:cNvCxnSpPr/>
          <p:nvPr/>
        </p:nvCxnSpPr>
        <p:spPr>
          <a:xfrm>
            <a:off x="4114800" y="2090738"/>
            <a:ext cx="15192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684" name="Google Shape;684;p52"/>
          <p:cNvCxnSpPr/>
          <p:nvPr/>
        </p:nvCxnSpPr>
        <p:spPr>
          <a:xfrm rot="10800000">
            <a:off x="1081087" y="1408537"/>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685" name="Google Shape;685;p52"/>
          <p:cNvCxnSpPr/>
          <p:nvPr/>
        </p:nvCxnSpPr>
        <p:spPr>
          <a:xfrm>
            <a:off x="1081087" y="2090738"/>
            <a:ext cx="1519200" cy="0"/>
          </a:xfrm>
          <a:prstGeom prst="straightConnector1">
            <a:avLst/>
          </a:prstGeom>
          <a:noFill/>
          <a:ln cap="flat" cmpd="sng" w="38100">
            <a:solidFill>
              <a:schemeClr val="dk1"/>
            </a:solidFill>
            <a:prstDash val="solid"/>
            <a:miter lim="800000"/>
            <a:headEnd len="sm" w="sm" type="none"/>
            <a:tailEnd len="med" w="med" type="triangle"/>
          </a:ln>
        </p:spPr>
      </p:cxnSp>
      <p:sp>
        <p:nvSpPr>
          <p:cNvPr id="686" name="Google Shape;686;p52"/>
          <p:cNvSpPr txBox="1"/>
          <p:nvPr/>
        </p:nvSpPr>
        <p:spPr>
          <a:xfrm>
            <a:off x="2674937" y="1693069"/>
            <a:ext cx="11223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imes New Roman"/>
              <a:buNone/>
            </a:pPr>
            <a:r>
              <a:rPr b="0" i="0" lang="en-US" sz="1600" u="none" cap="none" strike="noStrike">
                <a:solidFill>
                  <a:srgbClr val="FF0000"/>
                </a:solidFill>
                <a:latin typeface="Times New Roman"/>
                <a:ea typeface="Times New Roman"/>
                <a:cs typeface="Times New Roman"/>
                <a:sym typeface="Times New Roman"/>
              </a:rPr>
              <a:t>Scale(2,2)</a:t>
            </a:r>
            <a:endParaRPr b="0" i="0" sz="1400" u="none" cap="none" strike="noStrike">
              <a:solidFill>
                <a:srgbClr val="000000"/>
              </a:solidFill>
              <a:latin typeface="Arial"/>
              <a:ea typeface="Arial"/>
              <a:cs typeface="Arial"/>
              <a:sym typeface="Arial"/>
            </a:endParaRPr>
          </a:p>
        </p:txBody>
      </p:sp>
      <p:cxnSp>
        <p:nvCxnSpPr>
          <p:cNvPr id="687" name="Google Shape;687;p52"/>
          <p:cNvCxnSpPr/>
          <p:nvPr/>
        </p:nvCxnSpPr>
        <p:spPr>
          <a:xfrm>
            <a:off x="2809875" y="1635919"/>
            <a:ext cx="684300" cy="0"/>
          </a:xfrm>
          <a:prstGeom prst="straightConnector1">
            <a:avLst/>
          </a:prstGeom>
          <a:noFill/>
          <a:ln cap="flat" cmpd="sng" w="76200">
            <a:solidFill>
              <a:srgbClr val="FF0000"/>
            </a:solidFill>
            <a:prstDash val="solid"/>
            <a:miter lim="800000"/>
            <a:headEnd len="sm" w="sm" type="none"/>
            <a:tailEnd len="med" w="med" type="triangle"/>
          </a:ln>
        </p:spPr>
      </p:cxnSp>
      <p:sp>
        <p:nvSpPr>
          <p:cNvPr id="688" name="Google Shape;688;p52"/>
          <p:cNvSpPr txBox="1"/>
          <p:nvPr/>
        </p:nvSpPr>
        <p:spPr>
          <a:xfrm>
            <a:off x="5618162" y="1693069"/>
            <a:ext cx="1425600" cy="338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600"/>
              <a:buFont typeface="Times New Roman"/>
              <a:buNone/>
            </a:pPr>
            <a:r>
              <a:rPr b="0" i="0" lang="en-US" sz="1600" u="none" cap="none" strike="noStrike">
                <a:solidFill>
                  <a:srgbClr val="FF0000"/>
                </a:solidFill>
                <a:latin typeface="Times New Roman"/>
                <a:ea typeface="Times New Roman"/>
                <a:cs typeface="Times New Roman"/>
                <a:sym typeface="Times New Roman"/>
              </a:rPr>
              <a:t>Translate(3,1)</a:t>
            </a:r>
            <a:endParaRPr b="0" i="0" sz="1400" u="none" cap="none" strike="noStrike">
              <a:solidFill>
                <a:srgbClr val="000000"/>
              </a:solidFill>
              <a:latin typeface="Arial"/>
              <a:ea typeface="Arial"/>
              <a:cs typeface="Arial"/>
              <a:sym typeface="Arial"/>
            </a:endParaRPr>
          </a:p>
        </p:txBody>
      </p:sp>
      <p:cxnSp>
        <p:nvCxnSpPr>
          <p:cNvPr id="689" name="Google Shape;689;p52"/>
          <p:cNvCxnSpPr/>
          <p:nvPr/>
        </p:nvCxnSpPr>
        <p:spPr>
          <a:xfrm>
            <a:off x="5922962" y="1635919"/>
            <a:ext cx="684300" cy="0"/>
          </a:xfrm>
          <a:prstGeom prst="straightConnector1">
            <a:avLst/>
          </a:prstGeom>
          <a:noFill/>
          <a:ln cap="flat" cmpd="sng" w="76200">
            <a:solidFill>
              <a:srgbClr val="FF0000"/>
            </a:solidFill>
            <a:prstDash val="solid"/>
            <a:miter lim="800000"/>
            <a:headEnd len="sm" w="sm" type="none"/>
            <a:tailEnd len="med" w="med" type="triangle"/>
          </a:ln>
        </p:spPr>
      </p:cxnSp>
      <p:sp>
        <p:nvSpPr>
          <p:cNvPr id="690" name="Google Shape;690;p52"/>
          <p:cNvSpPr txBox="1"/>
          <p:nvPr/>
        </p:nvSpPr>
        <p:spPr>
          <a:xfrm>
            <a:off x="1219200" y="3421856"/>
            <a:ext cx="1066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TS  =</a:t>
            </a:r>
            <a:endParaRPr b="0" i="0" sz="1400" u="none" cap="none" strike="noStrike">
              <a:solidFill>
                <a:srgbClr val="000000"/>
              </a:solidFill>
              <a:latin typeface="Arial"/>
              <a:ea typeface="Arial"/>
              <a:cs typeface="Arial"/>
              <a:sym typeface="Arial"/>
            </a:endParaRPr>
          </a:p>
        </p:txBody>
      </p:sp>
      <p:sp>
        <p:nvSpPr>
          <p:cNvPr id="691" name="Google Shape;691;p52"/>
          <p:cNvSpPr/>
          <p:nvPr/>
        </p:nvSpPr>
        <p:spPr>
          <a:xfrm>
            <a:off x="4191000" y="3021799"/>
            <a:ext cx="1524000" cy="14289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2" name="Google Shape;692;p52"/>
          <p:cNvSpPr txBox="1"/>
          <p:nvPr/>
        </p:nvSpPr>
        <p:spPr>
          <a:xfrm>
            <a:off x="4267200" y="3064669"/>
            <a:ext cx="457200" cy="138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2</a:t>
            </a:r>
            <a:endParaRPr b="0" i="1" sz="14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93" name="Google Shape;693;p52"/>
          <p:cNvSpPr txBox="1"/>
          <p:nvPr/>
        </p:nvSpPr>
        <p:spPr>
          <a:xfrm>
            <a:off x="4724400" y="3056334"/>
            <a:ext cx="457200" cy="1167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2</a:t>
            </a:r>
            <a:endParaRPr b="0" i="1" sz="14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1" sz="1400" u="none" cap="none" strike="noStrike">
              <a:solidFill>
                <a:srgbClr val="FF0000"/>
              </a:solidFill>
              <a:latin typeface="Times New Roman"/>
              <a:ea typeface="Times New Roman"/>
              <a:cs typeface="Times New Roman"/>
              <a:sym typeface="Times New Roman"/>
            </a:endParaRPr>
          </a:p>
        </p:txBody>
      </p:sp>
      <p:sp>
        <p:nvSpPr>
          <p:cNvPr id="694" name="Google Shape;694;p52"/>
          <p:cNvSpPr txBox="1"/>
          <p:nvPr/>
        </p:nvSpPr>
        <p:spPr>
          <a:xfrm>
            <a:off x="5181600" y="3064669"/>
            <a:ext cx="457200" cy="138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95" name="Google Shape;695;p52"/>
          <p:cNvSpPr/>
          <p:nvPr/>
        </p:nvSpPr>
        <p:spPr>
          <a:xfrm>
            <a:off x="2438400" y="3021799"/>
            <a:ext cx="1524000" cy="14646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696" name="Google Shape;696;p52"/>
          <p:cNvSpPr txBox="1"/>
          <p:nvPr/>
        </p:nvSpPr>
        <p:spPr>
          <a:xfrm>
            <a:off x="2514600" y="3064669"/>
            <a:ext cx="457200" cy="138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1</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697" name="Google Shape;697;p52"/>
          <p:cNvSpPr txBox="1"/>
          <p:nvPr/>
        </p:nvSpPr>
        <p:spPr>
          <a:xfrm>
            <a:off x="2971800" y="3056334"/>
            <a:ext cx="457200" cy="1167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1</a:t>
            </a:r>
            <a:endParaRPr b="0" i="0" sz="1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Times New Roman"/>
              <a:ea typeface="Times New Roman"/>
              <a:cs typeface="Times New Roman"/>
              <a:sym typeface="Times New Roman"/>
            </a:endParaRPr>
          </a:p>
        </p:txBody>
      </p:sp>
      <p:sp>
        <p:nvSpPr>
          <p:cNvPr id="698" name="Google Shape;698;p52"/>
          <p:cNvSpPr txBox="1"/>
          <p:nvPr/>
        </p:nvSpPr>
        <p:spPr>
          <a:xfrm>
            <a:off x="3429000" y="3064669"/>
            <a:ext cx="457200" cy="138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1" sz="2800" u="none" cap="none" strike="noStrike">
              <a:solidFill>
                <a:srgbClr val="FF0000"/>
              </a:solidFill>
              <a:latin typeface="Times New Roman"/>
              <a:ea typeface="Times New Roman"/>
              <a:cs typeface="Times New Roman"/>
              <a:sym typeface="Times New Roman"/>
            </a:endParaRPr>
          </a:p>
        </p:txBody>
      </p:sp>
      <p:sp>
        <p:nvSpPr>
          <p:cNvPr id="699" name="Google Shape;699;p52"/>
          <p:cNvSpPr/>
          <p:nvPr/>
        </p:nvSpPr>
        <p:spPr>
          <a:xfrm>
            <a:off x="6477000" y="3021799"/>
            <a:ext cx="1524000" cy="14646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00" name="Google Shape;700;p52"/>
          <p:cNvSpPr txBox="1"/>
          <p:nvPr/>
        </p:nvSpPr>
        <p:spPr>
          <a:xfrm>
            <a:off x="6553200" y="3064669"/>
            <a:ext cx="457200" cy="138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2</a:t>
            </a:r>
            <a:endParaRPr b="0" i="1" sz="14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sp>
        <p:nvSpPr>
          <p:cNvPr id="701" name="Google Shape;701;p52"/>
          <p:cNvSpPr txBox="1"/>
          <p:nvPr/>
        </p:nvSpPr>
        <p:spPr>
          <a:xfrm>
            <a:off x="7010400" y="3056334"/>
            <a:ext cx="457200" cy="1167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2</a:t>
            </a:r>
            <a:endParaRPr b="0" i="1" sz="14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400"/>
              <a:buFont typeface="Arial"/>
              <a:buNone/>
            </a:pPr>
            <a:r>
              <a:t/>
            </a:r>
            <a:endParaRPr b="0" i="1" sz="1400" u="none" cap="none" strike="noStrike">
              <a:solidFill>
                <a:srgbClr val="FF0000"/>
              </a:solidFill>
              <a:latin typeface="Times New Roman"/>
              <a:ea typeface="Times New Roman"/>
              <a:cs typeface="Times New Roman"/>
              <a:sym typeface="Times New Roman"/>
            </a:endParaRPr>
          </a:p>
        </p:txBody>
      </p:sp>
      <p:sp>
        <p:nvSpPr>
          <p:cNvPr id="702" name="Google Shape;702;p52"/>
          <p:cNvSpPr txBox="1"/>
          <p:nvPr/>
        </p:nvSpPr>
        <p:spPr>
          <a:xfrm>
            <a:off x="7467600" y="3064669"/>
            <a:ext cx="457200" cy="13827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800"/>
              <a:buFont typeface="Times New Roman"/>
              <a:buNone/>
            </a:pPr>
            <a:r>
              <a:rPr b="0" i="1" lang="en-US" sz="2800" u="none" cap="none" strike="noStrike">
                <a:solidFill>
                  <a:srgbClr val="FF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r>
              <a:t/>
            </a:r>
            <a:endParaRPr b="0" i="1" sz="2800" u="none" cap="none" strike="noStrike">
              <a:solidFill>
                <a:srgbClr val="FF0000"/>
              </a:solidFill>
              <a:latin typeface="Times New Roman"/>
              <a:ea typeface="Times New Roman"/>
              <a:cs typeface="Times New Roman"/>
              <a:sym typeface="Times New Roman"/>
            </a:endParaRPr>
          </a:p>
        </p:txBody>
      </p:sp>
      <p:sp>
        <p:nvSpPr>
          <p:cNvPr id="703" name="Google Shape;703;p52"/>
          <p:cNvSpPr txBox="1"/>
          <p:nvPr/>
        </p:nvSpPr>
        <p:spPr>
          <a:xfrm>
            <a:off x="5943600" y="3421856"/>
            <a:ext cx="304800" cy="492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3200"/>
              <a:buFont typeface="Times New Roman"/>
              <a:buNone/>
            </a:pPr>
            <a:r>
              <a:rPr b="0" i="1" lang="en-US" sz="32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704" name="Google Shape;704;p52"/>
          <p:cNvSpPr txBox="1"/>
          <p:nvPr/>
        </p:nvSpPr>
        <p:spPr>
          <a:xfrm>
            <a:off x="450850" y="879872"/>
            <a:ext cx="3481500" cy="47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0" lang="en-US" sz="2500" u="none" cap="none" strike="noStrike">
                <a:solidFill>
                  <a:srgbClr val="000000"/>
                </a:solidFill>
                <a:latin typeface="Times New Roman"/>
                <a:ea typeface="Times New Roman"/>
                <a:cs typeface="Times New Roman"/>
                <a:sym typeface="Times New Roman"/>
              </a:rPr>
              <a:t>Scale then Translate</a:t>
            </a:r>
            <a:endParaRPr b="0" i="0" sz="700" u="none" cap="none" strike="noStrike">
              <a:solidFill>
                <a:srgbClr val="000000"/>
              </a:solidFill>
              <a:latin typeface="Arial"/>
              <a:ea typeface="Arial"/>
              <a:cs typeface="Arial"/>
              <a:sym typeface="Arial"/>
            </a:endParaRPr>
          </a:p>
        </p:txBody>
      </p:sp>
      <p:sp>
        <p:nvSpPr>
          <p:cNvPr id="705" name="Google Shape;705;p52"/>
          <p:cNvSpPr txBox="1"/>
          <p:nvPr/>
        </p:nvSpPr>
        <p:spPr>
          <a:xfrm>
            <a:off x="192150" y="2426313"/>
            <a:ext cx="84549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0" lang="en-US" sz="2300" u="none" cap="none" strike="noStrike">
                <a:solidFill>
                  <a:srgbClr val="000000"/>
                </a:solidFill>
                <a:latin typeface="Times New Roman"/>
                <a:ea typeface="Times New Roman"/>
                <a:cs typeface="Times New Roman"/>
                <a:sym typeface="Times New Roman"/>
              </a:rPr>
              <a:t>Use matrix multiplication:   p'  =  T ( S p )  =  TS</a:t>
            </a:r>
            <a:r>
              <a:rPr b="0" i="0" lang="en-US" sz="2400" u="none" cap="none" strike="noStrike">
                <a:solidFill>
                  <a:srgbClr val="000000"/>
                </a:solidFill>
                <a:latin typeface="Times New Roman"/>
                <a:ea typeface="Times New Roman"/>
                <a:cs typeface="Times New Roman"/>
                <a:sym typeface="Times New Roman"/>
              </a:rPr>
              <a:t> p</a:t>
            </a:r>
            <a:endParaRPr b="0" i="0" sz="600" u="none" cap="none" strike="noStrike">
              <a:solidFill>
                <a:srgbClr val="000000"/>
              </a:solidFill>
              <a:latin typeface="Arial"/>
              <a:ea typeface="Arial"/>
              <a:cs typeface="Arial"/>
              <a:sym typeface="Arial"/>
            </a:endParaRPr>
          </a:p>
        </p:txBody>
      </p:sp>
      <p:sp>
        <p:nvSpPr>
          <p:cNvPr id="706" name="Google Shape;706;p52"/>
          <p:cNvSpPr txBox="1"/>
          <p:nvPr/>
        </p:nvSpPr>
        <p:spPr>
          <a:xfrm>
            <a:off x="261875" y="4495668"/>
            <a:ext cx="8796300" cy="477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Times New Roman"/>
              <a:buNone/>
            </a:pPr>
            <a:r>
              <a:rPr b="0" i="0" lang="en-US" sz="2500" u="none" cap="none" strike="noStrike">
                <a:solidFill>
                  <a:srgbClr val="000000"/>
                </a:solidFill>
                <a:latin typeface="Times New Roman"/>
                <a:ea typeface="Times New Roman"/>
                <a:cs typeface="Times New Roman"/>
                <a:sym typeface="Times New Roman"/>
              </a:rPr>
              <a:t>Caution: matrix multiplication is NOT commutative!</a:t>
            </a:r>
            <a:endParaRPr b="0" i="0" sz="700" u="none" cap="none" strike="noStrike">
              <a:solidFill>
                <a:srgbClr val="000000"/>
              </a:solidFill>
              <a:latin typeface="Arial"/>
              <a:ea typeface="Arial"/>
              <a:cs typeface="Arial"/>
              <a:sym typeface="Arial"/>
            </a:endParaRPr>
          </a:p>
        </p:txBody>
      </p:sp>
      <p:grpSp>
        <p:nvGrpSpPr>
          <p:cNvPr id="707" name="Google Shape;707;p52"/>
          <p:cNvGrpSpPr/>
          <p:nvPr/>
        </p:nvGrpSpPr>
        <p:grpSpPr>
          <a:xfrm>
            <a:off x="2517775" y="3057525"/>
            <a:ext cx="1390650" cy="1428750"/>
            <a:chOff x="252" y="3189"/>
            <a:chExt cx="876" cy="1200"/>
          </a:xfrm>
        </p:grpSpPr>
        <p:sp>
          <p:nvSpPr>
            <p:cNvPr id="708" name="Google Shape;708;p52"/>
            <p:cNvSpPr txBox="1"/>
            <p:nvPr/>
          </p:nvSpPr>
          <p:spPr>
            <a:xfrm>
              <a:off x="252"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1" sz="29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900" u="none" cap="none" strike="noStrike">
                  <a:solidFill>
                    <a:schemeClr val="dk1"/>
                  </a:solidFill>
                  <a:latin typeface="Times New Roman"/>
                  <a:ea typeface="Times New Roman"/>
                  <a:cs typeface="Times New Roman"/>
                  <a:sym typeface="Times New Roman"/>
                </a:rPr>
                <a:t>0</a:t>
              </a:r>
              <a:endParaRPr b="0" i="0" sz="1500" u="none" cap="none" strike="noStrike">
                <a:solidFill>
                  <a:srgbClr val="000000"/>
                </a:solidFill>
                <a:latin typeface="Arial"/>
                <a:ea typeface="Arial"/>
                <a:cs typeface="Arial"/>
                <a:sym typeface="Arial"/>
              </a:endParaRPr>
            </a:p>
          </p:txBody>
        </p:sp>
        <p:sp>
          <p:nvSpPr>
            <p:cNvPr id="709" name="Google Shape;709;p52"/>
            <p:cNvSpPr txBox="1"/>
            <p:nvPr/>
          </p:nvSpPr>
          <p:spPr>
            <a:xfrm>
              <a:off x="537"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900" u="none" cap="none" strike="noStrike">
                  <a:solidFill>
                    <a:schemeClr val="dk1"/>
                  </a:solidFill>
                  <a:latin typeface="Times New Roman"/>
                  <a:ea typeface="Times New Roman"/>
                  <a:cs typeface="Times New Roman"/>
                  <a:sym typeface="Times New Roman"/>
                </a:rPr>
                <a:t>0</a:t>
              </a:r>
              <a:endParaRPr b="0" i="0" sz="1500" u="none" cap="none" strike="noStrike">
                <a:solidFill>
                  <a:srgbClr val="000000"/>
                </a:solidFill>
                <a:latin typeface="Arial"/>
                <a:ea typeface="Arial"/>
                <a:cs typeface="Arial"/>
                <a:sym typeface="Arial"/>
              </a:endParaRPr>
            </a:p>
          </p:txBody>
        </p:sp>
        <p:sp>
          <p:nvSpPr>
            <p:cNvPr id="710" name="Google Shape;710;p52"/>
            <p:cNvSpPr txBox="1"/>
            <p:nvPr/>
          </p:nvSpPr>
          <p:spPr>
            <a:xfrm>
              <a:off x="828"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9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900" u="none" cap="none" strike="noStrike">
                  <a:solidFill>
                    <a:schemeClr val="dk1"/>
                  </a:solidFill>
                  <a:latin typeface="Times New Roman"/>
                  <a:ea typeface="Times New Roman"/>
                  <a:cs typeface="Times New Roman"/>
                  <a:sym typeface="Times New Roman"/>
                </a:rPr>
                <a:t>1</a:t>
              </a:r>
              <a:endParaRPr b="0" i="0" sz="1500" u="none" cap="none" strike="noStrike">
                <a:solidFill>
                  <a:srgbClr val="000000"/>
                </a:solidFill>
                <a:latin typeface="Arial"/>
                <a:ea typeface="Arial"/>
                <a:cs typeface="Arial"/>
                <a:sym typeface="Arial"/>
              </a:endParaRPr>
            </a:p>
          </p:txBody>
        </p:sp>
      </p:grpSp>
      <p:grpSp>
        <p:nvGrpSpPr>
          <p:cNvPr id="711" name="Google Shape;711;p52"/>
          <p:cNvGrpSpPr/>
          <p:nvPr/>
        </p:nvGrpSpPr>
        <p:grpSpPr>
          <a:xfrm>
            <a:off x="4268787" y="3057525"/>
            <a:ext cx="1390650" cy="1428750"/>
            <a:chOff x="252" y="3189"/>
            <a:chExt cx="876" cy="1200"/>
          </a:xfrm>
        </p:grpSpPr>
        <p:sp>
          <p:nvSpPr>
            <p:cNvPr id="712" name="Google Shape;712;p52"/>
            <p:cNvSpPr txBox="1"/>
            <p:nvPr/>
          </p:nvSpPr>
          <p:spPr>
            <a:xfrm>
              <a:off x="252"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1" sz="27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7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700" u="none" cap="none" strike="noStrike">
                  <a:solidFill>
                    <a:schemeClr val="dk1"/>
                  </a:solidFill>
                  <a:latin typeface="Times New Roman"/>
                  <a:ea typeface="Times New Roman"/>
                  <a:cs typeface="Times New Roman"/>
                  <a:sym typeface="Times New Roman"/>
                </a:rPr>
                <a:t>0</a:t>
              </a:r>
              <a:endParaRPr b="0" i="0" sz="1300" u="none" cap="none" strike="noStrike">
                <a:solidFill>
                  <a:srgbClr val="000000"/>
                </a:solidFill>
                <a:latin typeface="Arial"/>
                <a:ea typeface="Arial"/>
                <a:cs typeface="Arial"/>
                <a:sym typeface="Arial"/>
              </a:endParaRPr>
            </a:p>
          </p:txBody>
        </p:sp>
        <p:sp>
          <p:nvSpPr>
            <p:cNvPr id="713" name="Google Shape;713;p52"/>
            <p:cNvSpPr txBox="1"/>
            <p:nvPr/>
          </p:nvSpPr>
          <p:spPr>
            <a:xfrm>
              <a:off x="537"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714" name="Google Shape;714;p52"/>
            <p:cNvSpPr txBox="1"/>
            <p:nvPr/>
          </p:nvSpPr>
          <p:spPr>
            <a:xfrm>
              <a:off x="828"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grpSp>
        <p:nvGrpSpPr>
          <p:cNvPr id="715" name="Google Shape;715;p52"/>
          <p:cNvGrpSpPr/>
          <p:nvPr/>
        </p:nvGrpSpPr>
        <p:grpSpPr>
          <a:xfrm>
            <a:off x="6545262" y="3057525"/>
            <a:ext cx="1390650" cy="1428750"/>
            <a:chOff x="252" y="3189"/>
            <a:chExt cx="876" cy="1200"/>
          </a:xfrm>
        </p:grpSpPr>
        <p:sp>
          <p:nvSpPr>
            <p:cNvPr id="716" name="Google Shape;716;p52"/>
            <p:cNvSpPr txBox="1"/>
            <p:nvPr/>
          </p:nvSpPr>
          <p:spPr>
            <a:xfrm>
              <a:off x="252"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1"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717" name="Google Shape;717;p52"/>
            <p:cNvSpPr txBox="1"/>
            <p:nvPr/>
          </p:nvSpPr>
          <p:spPr>
            <a:xfrm>
              <a:off x="537"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718" name="Google Shape;718;p52"/>
            <p:cNvSpPr txBox="1"/>
            <p:nvPr/>
          </p:nvSpPr>
          <p:spPr>
            <a:xfrm>
              <a:off x="828"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3"/>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200"/>
              <a:buFont typeface="Times New Roman"/>
              <a:buNone/>
            </a:pPr>
            <a:fld id="{00000000-1234-1234-1234-123412341234}" type="slidenum">
              <a:rPr b="0" i="0" lang="en-US" sz="12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25" name="Google Shape;725;p53"/>
          <p:cNvSpPr txBox="1"/>
          <p:nvPr/>
        </p:nvSpPr>
        <p:spPr>
          <a:xfrm>
            <a:off x="8047037" y="3684984"/>
            <a:ext cx="303300" cy="22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6" name="Google Shape;726;p53"/>
          <p:cNvSpPr txBox="1"/>
          <p:nvPr/>
        </p:nvSpPr>
        <p:spPr>
          <a:xfrm>
            <a:off x="4572000" y="3912394"/>
            <a:ext cx="150900" cy="1131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7" name="Google Shape;727;p53"/>
          <p:cNvSpPr txBox="1"/>
          <p:nvPr/>
        </p:nvSpPr>
        <p:spPr>
          <a:xfrm>
            <a:off x="1081087" y="4026694"/>
            <a:ext cx="150900" cy="1131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8" name="Google Shape;728;p53"/>
          <p:cNvSpPr txBox="1"/>
          <p:nvPr/>
        </p:nvSpPr>
        <p:spPr>
          <a:xfrm>
            <a:off x="7591425" y="1750219"/>
            <a:ext cx="304800" cy="2262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29" name="Google Shape;729;p53"/>
          <p:cNvSpPr txBox="1"/>
          <p:nvPr/>
        </p:nvSpPr>
        <p:spPr>
          <a:xfrm>
            <a:off x="4116387" y="1863328"/>
            <a:ext cx="303300" cy="2274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0" name="Google Shape;730;p53"/>
          <p:cNvSpPr txBox="1"/>
          <p:nvPr/>
        </p:nvSpPr>
        <p:spPr>
          <a:xfrm>
            <a:off x="1081087" y="1976438"/>
            <a:ext cx="150900" cy="1131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1" name="Google Shape;731;p53"/>
          <p:cNvSpPr txBox="1"/>
          <p:nvPr>
            <p:ph type="title"/>
          </p:nvPr>
        </p:nvSpPr>
        <p:spPr>
          <a:xfrm>
            <a:off x="581475" y="167269"/>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Non-commutative Composition</a:t>
            </a:r>
            <a:endParaRPr/>
          </a:p>
        </p:txBody>
      </p:sp>
      <p:sp>
        <p:nvSpPr>
          <p:cNvPr id="732" name="Google Shape;732;p53"/>
          <p:cNvSpPr txBox="1"/>
          <p:nvPr/>
        </p:nvSpPr>
        <p:spPr>
          <a:xfrm>
            <a:off x="917550" y="962119"/>
            <a:ext cx="66738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200" u="none" cap="none" strike="noStrike">
                <a:solidFill>
                  <a:srgbClr val="000000"/>
                </a:solidFill>
                <a:latin typeface="Times New Roman"/>
                <a:ea typeface="Times New Roman"/>
                <a:cs typeface="Times New Roman"/>
                <a:sym typeface="Times New Roman"/>
              </a:rPr>
              <a:t>Scale then Translate:   p'  =  T ( S p )  =  TS p</a:t>
            </a:r>
            <a:endParaRPr b="0" i="0" sz="800" u="none" cap="none" strike="noStrike">
              <a:solidFill>
                <a:srgbClr val="000000"/>
              </a:solidFill>
              <a:latin typeface="Arial"/>
              <a:ea typeface="Arial"/>
              <a:cs typeface="Arial"/>
              <a:sym typeface="Arial"/>
            </a:endParaRPr>
          </a:p>
        </p:txBody>
      </p:sp>
      <p:sp>
        <p:nvSpPr>
          <p:cNvPr id="733" name="Google Shape;733;p53"/>
          <p:cNvSpPr txBox="1"/>
          <p:nvPr/>
        </p:nvSpPr>
        <p:spPr>
          <a:xfrm>
            <a:off x="927975" y="2653784"/>
            <a:ext cx="66801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Times New Roman"/>
              <a:buNone/>
            </a:pPr>
            <a:r>
              <a:rPr b="0" i="0" lang="en-US" sz="2400" u="none" cap="none" strike="noStrike">
                <a:solidFill>
                  <a:srgbClr val="000000"/>
                </a:solidFill>
                <a:latin typeface="Times New Roman"/>
                <a:ea typeface="Times New Roman"/>
                <a:cs typeface="Times New Roman"/>
                <a:sym typeface="Times New Roman"/>
              </a:rPr>
              <a:t>Translate then Scale:   p'  =  S ( T p )  =  ST p</a:t>
            </a:r>
            <a:endParaRPr b="0" i="0" sz="1000" u="none" cap="none" strike="noStrike">
              <a:solidFill>
                <a:srgbClr val="000000"/>
              </a:solidFill>
              <a:latin typeface="Arial"/>
              <a:ea typeface="Arial"/>
              <a:cs typeface="Arial"/>
              <a:sym typeface="Arial"/>
            </a:endParaRPr>
          </a:p>
        </p:txBody>
      </p:sp>
      <p:cxnSp>
        <p:nvCxnSpPr>
          <p:cNvPr id="734" name="Google Shape;734;p53"/>
          <p:cNvCxnSpPr/>
          <p:nvPr/>
        </p:nvCxnSpPr>
        <p:spPr>
          <a:xfrm rot="10800000">
            <a:off x="7151687" y="3457603"/>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735" name="Google Shape;735;p53"/>
          <p:cNvCxnSpPr/>
          <p:nvPr/>
        </p:nvCxnSpPr>
        <p:spPr>
          <a:xfrm>
            <a:off x="7151687" y="4139803"/>
            <a:ext cx="1519200" cy="0"/>
          </a:xfrm>
          <a:prstGeom prst="straightConnector1">
            <a:avLst/>
          </a:prstGeom>
          <a:noFill/>
          <a:ln cap="flat" cmpd="sng" w="38100">
            <a:solidFill>
              <a:schemeClr val="dk1"/>
            </a:solidFill>
            <a:prstDash val="solid"/>
            <a:miter lim="800000"/>
            <a:headEnd len="sm" w="sm" type="none"/>
            <a:tailEnd len="med" w="med" type="triangle"/>
          </a:ln>
        </p:spPr>
      </p:cxnSp>
      <p:sp>
        <p:nvSpPr>
          <p:cNvPr id="736" name="Google Shape;736;p53"/>
          <p:cNvSpPr/>
          <p:nvPr/>
        </p:nvSpPr>
        <p:spPr>
          <a:xfrm>
            <a:off x="1193800" y="3990975"/>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7" name="Google Shape;737;p53"/>
          <p:cNvSpPr/>
          <p:nvPr/>
        </p:nvSpPr>
        <p:spPr>
          <a:xfrm>
            <a:off x="1042987" y="4105275"/>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8" name="Google Shape;738;p53"/>
          <p:cNvSpPr/>
          <p:nvPr/>
        </p:nvSpPr>
        <p:spPr>
          <a:xfrm>
            <a:off x="4533900" y="3990975"/>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39" name="Google Shape;739;p53"/>
          <p:cNvSpPr/>
          <p:nvPr/>
        </p:nvSpPr>
        <p:spPr>
          <a:xfrm>
            <a:off x="4684712" y="3876675"/>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0" name="Google Shape;740;p53"/>
          <p:cNvSpPr/>
          <p:nvPr/>
        </p:nvSpPr>
        <p:spPr>
          <a:xfrm>
            <a:off x="8008937" y="3876675"/>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1" name="Google Shape;741;p53"/>
          <p:cNvSpPr/>
          <p:nvPr/>
        </p:nvSpPr>
        <p:spPr>
          <a:xfrm>
            <a:off x="8312150" y="3649265"/>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2" name="Google Shape;742;p53"/>
          <p:cNvSpPr/>
          <p:nvPr/>
        </p:nvSpPr>
        <p:spPr>
          <a:xfrm>
            <a:off x="7858125" y="1714500"/>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3" name="Google Shape;743;p53"/>
          <p:cNvSpPr/>
          <p:nvPr/>
        </p:nvSpPr>
        <p:spPr>
          <a:xfrm>
            <a:off x="1193800" y="194071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4" name="Google Shape;744;p53"/>
          <p:cNvSpPr/>
          <p:nvPr/>
        </p:nvSpPr>
        <p:spPr>
          <a:xfrm>
            <a:off x="1042987" y="205501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5" name="Google Shape;745;p53"/>
          <p:cNvSpPr/>
          <p:nvPr/>
        </p:nvSpPr>
        <p:spPr>
          <a:xfrm>
            <a:off x="7553325" y="194190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6" name="Google Shape;746;p53"/>
          <p:cNvSpPr/>
          <p:nvPr/>
        </p:nvSpPr>
        <p:spPr>
          <a:xfrm>
            <a:off x="4381500" y="1828800"/>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7" name="Google Shape;747;p53"/>
          <p:cNvSpPr/>
          <p:nvPr/>
        </p:nvSpPr>
        <p:spPr>
          <a:xfrm>
            <a:off x="4078287" y="2055019"/>
            <a:ext cx="76200" cy="57000"/>
          </a:xfrm>
          <a:prstGeom prst="ellipse">
            <a:avLst/>
          </a:prstGeom>
          <a:solidFill>
            <a:schemeClr val="dk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48" name="Google Shape;748;p53"/>
          <p:cNvSpPr txBox="1"/>
          <p:nvPr/>
        </p:nvSpPr>
        <p:spPr>
          <a:xfrm>
            <a:off x="549275" y="4083844"/>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(0,0)</a:t>
            </a:r>
            <a:endParaRPr b="0" i="0" sz="1400" u="none" cap="none" strike="noStrike">
              <a:solidFill>
                <a:srgbClr val="000000"/>
              </a:solidFill>
              <a:latin typeface="Arial"/>
              <a:ea typeface="Arial"/>
              <a:cs typeface="Arial"/>
              <a:sym typeface="Arial"/>
            </a:endParaRPr>
          </a:p>
        </p:txBody>
      </p:sp>
      <p:sp>
        <p:nvSpPr>
          <p:cNvPr id="749" name="Google Shape;749;p53"/>
          <p:cNvSpPr txBox="1"/>
          <p:nvPr/>
        </p:nvSpPr>
        <p:spPr>
          <a:xfrm>
            <a:off x="1231900" y="3831431"/>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(1,1)</a:t>
            </a:r>
            <a:endParaRPr b="0" i="0" sz="1400" u="none" cap="none" strike="noStrike">
              <a:solidFill>
                <a:srgbClr val="000000"/>
              </a:solidFill>
              <a:latin typeface="Arial"/>
              <a:ea typeface="Arial"/>
              <a:cs typeface="Arial"/>
              <a:sym typeface="Arial"/>
            </a:endParaRPr>
          </a:p>
        </p:txBody>
      </p:sp>
      <p:sp>
        <p:nvSpPr>
          <p:cNvPr id="750" name="Google Shape;750;p53"/>
          <p:cNvSpPr txBox="1"/>
          <p:nvPr/>
        </p:nvSpPr>
        <p:spPr>
          <a:xfrm>
            <a:off x="4722812" y="3717131"/>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(4,2)</a:t>
            </a:r>
            <a:endParaRPr b="0" i="0" sz="1400" u="none" cap="none" strike="noStrike">
              <a:solidFill>
                <a:srgbClr val="000000"/>
              </a:solidFill>
              <a:latin typeface="Arial"/>
              <a:ea typeface="Arial"/>
              <a:cs typeface="Arial"/>
              <a:sym typeface="Arial"/>
            </a:endParaRPr>
          </a:p>
        </p:txBody>
      </p:sp>
      <p:sp>
        <p:nvSpPr>
          <p:cNvPr id="751" name="Google Shape;751;p53"/>
          <p:cNvSpPr txBox="1"/>
          <p:nvPr/>
        </p:nvSpPr>
        <p:spPr>
          <a:xfrm>
            <a:off x="4040187" y="3887390"/>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(3,1)</a:t>
            </a:r>
            <a:endParaRPr b="0" i="0" sz="1400" u="none" cap="none" strike="noStrike">
              <a:solidFill>
                <a:srgbClr val="000000"/>
              </a:solidFill>
              <a:latin typeface="Arial"/>
              <a:ea typeface="Arial"/>
              <a:cs typeface="Arial"/>
              <a:sym typeface="Arial"/>
            </a:endParaRPr>
          </a:p>
        </p:txBody>
      </p:sp>
      <p:sp>
        <p:nvSpPr>
          <p:cNvPr id="752" name="Google Shape;752;p53"/>
          <p:cNvSpPr txBox="1"/>
          <p:nvPr/>
        </p:nvSpPr>
        <p:spPr>
          <a:xfrm>
            <a:off x="8366125" y="3489721"/>
            <a:ext cx="758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(8,4)</a:t>
            </a:r>
            <a:endParaRPr b="0" i="0" sz="1400" u="none" cap="none" strike="noStrike">
              <a:solidFill>
                <a:srgbClr val="000000"/>
              </a:solidFill>
              <a:latin typeface="Arial"/>
              <a:ea typeface="Arial"/>
              <a:cs typeface="Arial"/>
              <a:sym typeface="Arial"/>
            </a:endParaRPr>
          </a:p>
        </p:txBody>
      </p:sp>
      <p:sp>
        <p:nvSpPr>
          <p:cNvPr id="753" name="Google Shape;753;p53"/>
          <p:cNvSpPr txBox="1"/>
          <p:nvPr/>
        </p:nvSpPr>
        <p:spPr>
          <a:xfrm>
            <a:off x="7516812" y="3799284"/>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(6,2)</a:t>
            </a:r>
            <a:endParaRPr b="0" i="0" sz="1400" u="none" cap="none" strike="noStrike">
              <a:solidFill>
                <a:srgbClr val="000000"/>
              </a:solidFill>
              <a:latin typeface="Arial"/>
              <a:ea typeface="Arial"/>
              <a:cs typeface="Arial"/>
              <a:sym typeface="Arial"/>
            </a:endParaRPr>
          </a:p>
        </p:txBody>
      </p:sp>
      <p:sp>
        <p:nvSpPr>
          <p:cNvPr id="754" name="Google Shape;754;p53"/>
          <p:cNvSpPr txBox="1"/>
          <p:nvPr/>
        </p:nvSpPr>
        <p:spPr>
          <a:xfrm>
            <a:off x="549275" y="2034778"/>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(0,0)</a:t>
            </a:r>
            <a:endParaRPr b="0" i="0" sz="1400" u="none" cap="none" strike="noStrike">
              <a:solidFill>
                <a:srgbClr val="000000"/>
              </a:solidFill>
              <a:latin typeface="Arial"/>
              <a:ea typeface="Arial"/>
              <a:cs typeface="Arial"/>
              <a:sym typeface="Arial"/>
            </a:endParaRPr>
          </a:p>
        </p:txBody>
      </p:sp>
      <p:sp>
        <p:nvSpPr>
          <p:cNvPr id="755" name="Google Shape;755;p53"/>
          <p:cNvSpPr txBox="1"/>
          <p:nvPr/>
        </p:nvSpPr>
        <p:spPr>
          <a:xfrm>
            <a:off x="1231900" y="1806178"/>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(1,1)</a:t>
            </a:r>
            <a:endParaRPr b="0" i="0" sz="1400" u="none" cap="none" strike="noStrike">
              <a:solidFill>
                <a:srgbClr val="000000"/>
              </a:solidFill>
              <a:latin typeface="Arial"/>
              <a:ea typeface="Arial"/>
              <a:cs typeface="Arial"/>
              <a:sym typeface="Arial"/>
            </a:endParaRPr>
          </a:p>
        </p:txBody>
      </p:sp>
      <p:sp>
        <p:nvSpPr>
          <p:cNvPr id="756" name="Google Shape;756;p53"/>
          <p:cNvSpPr txBox="1"/>
          <p:nvPr/>
        </p:nvSpPr>
        <p:spPr>
          <a:xfrm>
            <a:off x="4435475" y="1668065"/>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(2,2)</a:t>
            </a:r>
            <a:endParaRPr b="0" i="0" sz="1400" u="none" cap="none" strike="noStrike">
              <a:solidFill>
                <a:srgbClr val="000000"/>
              </a:solidFill>
              <a:latin typeface="Arial"/>
              <a:ea typeface="Arial"/>
              <a:cs typeface="Arial"/>
              <a:sym typeface="Arial"/>
            </a:endParaRPr>
          </a:p>
        </p:txBody>
      </p:sp>
      <p:sp>
        <p:nvSpPr>
          <p:cNvPr id="757" name="Google Shape;757;p53"/>
          <p:cNvSpPr txBox="1"/>
          <p:nvPr/>
        </p:nvSpPr>
        <p:spPr>
          <a:xfrm>
            <a:off x="3602037" y="2033588"/>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(0,0)</a:t>
            </a:r>
            <a:endParaRPr b="0" i="0" sz="1400" u="none" cap="none" strike="noStrike">
              <a:solidFill>
                <a:srgbClr val="000000"/>
              </a:solidFill>
              <a:latin typeface="Arial"/>
              <a:ea typeface="Arial"/>
              <a:cs typeface="Arial"/>
              <a:sym typeface="Arial"/>
            </a:endParaRPr>
          </a:p>
        </p:txBody>
      </p:sp>
      <p:sp>
        <p:nvSpPr>
          <p:cNvPr id="758" name="Google Shape;758;p53"/>
          <p:cNvSpPr txBox="1"/>
          <p:nvPr/>
        </p:nvSpPr>
        <p:spPr>
          <a:xfrm>
            <a:off x="7912100" y="1553765"/>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(5,3)</a:t>
            </a:r>
            <a:endParaRPr b="0" i="0" sz="1400" u="none" cap="none" strike="noStrike">
              <a:solidFill>
                <a:srgbClr val="000000"/>
              </a:solidFill>
              <a:latin typeface="Arial"/>
              <a:ea typeface="Arial"/>
              <a:cs typeface="Arial"/>
              <a:sym typeface="Arial"/>
            </a:endParaRPr>
          </a:p>
        </p:txBody>
      </p:sp>
      <p:sp>
        <p:nvSpPr>
          <p:cNvPr id="759" name="Google Shape;759;p53"/>
          <p:cNvSpPr txBox="1"/>
          <p:nvPr/>
        </p:nvSpPr>
        <p:spPr>
          <a:xfrm>
            <a:off x="7061200" y="1838325"/>
            <a:ext cx="5907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Times New Roman"/>
              <a:buNone/>
            </a:pPr>
            <a:r>
              <a:rPr b="0" i="0" lang="en-US" sz="1400" u="none" cap="none" strike="noStrike">
                <a:solidFill>
                  <a:srgbClr val="000000"/>
                </a:solidFill>
                <a:latin typeface="Times New Roman"/>
                <a:ea typeface="Times New Roman"/>
                <a:cs typeface="Times New Roman"/>
                <a:sym typeface="Times New Roman"/>
              </a:rPr>
              <a:t>(3,1)</a:t>
            </a:r>
            <a:endParaRPr b="0" i="0" sz="1400" u="none" cap="none" strike="noStrike">
              <a:solidFill>
                <a:srgbClr val="000000"/>
              </a:solidFill>
              <a:latin typeface="Arial"/>
              <a:ea typeface="Arial"/>
              <a:cs typeface="Arial"/>
              <a:sym typeface="Arial"/>
            </a:endParaRPr>
          </a:p>
        </p:txBody>
      </p:sp>
      <p:cxnSp>
        <p:nvCxnSpPr>
          <p:cNvPr id="760" name="Google Shape;760;p53"/>
          <p:cNvCxnSpPr/>
          <p:nvPr/>
        </p:nvCxnSpPr>
        <p:spPr>
          <a:xfrm rot="10800000">
            <a:off x="4114800" y="3457603"/>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761" name="Google Shape;761;p53"/>
          <p:cNvCxnSpPr/>
          <p:nvPr/>
        </p:nvCxnSpPr>
        <p:spPr>
          <a:xfrm>
            <a:off x="4114800" y="4139803"/>
            <a:ext cx="15192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762" name="Google Shape;762;p53"/>
          <p:cNvCxnSpPr/>
          <p:nvPr/>
        </p:nvCxnSpPr>
        <p:spPr>
          <a:xfrm rot="10800000">
            <a:off x="1079500" y="3457603"/>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763" name="Google Shape;763;p53"/>
          <p:cNvCxnSpPr/>
          <p:nvPr/>
        </p:nvCxnSpPr>
        <p:spPr>
          <a:xfrm>
            <a:off x="1079500" y="4139803"/>
            <a:ext cx="15192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764" name="Google Shape;764;p53"/>
          <p:cNvCxnSpPr/>
          <p:nvPr/>
        </p:nvCxnSpPr>
        <p:spPr>
          <a:xfrm rot="10800000">
            <a:off x="7135812" y="1408537"/>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765" name="Google Shape;765;p53"/>
          <p:cNvCxnSpPr/>
          <p:nvPr/>
        </p:nvCxnSpPr>
        <p:spPr>
          <a:xfrm>
            <a:off x="7135812" y="2090738"/>
            <a:ext cx="15192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766" name="Google Shape;766;p53"/>
          <p:cNvCxnSpPr/>
          <p:nvPr/>
        </p:nvCxnSpPr>
        <p:spPr>
          <a:xfrm rot="10800000">
            <a:off x="4114800" y="1408537"/>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767" name="Google Shape;767;p53"/>
          <p:cNvCxnSpPr/>
          <p:nvPr/>
        </p:nvCxnSpPr>
        <p:spPr>
          <a:xfrm>
            <a:off x="4114800" y="2090738"/>
            <a:ext cx="15192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768" name="Google Shape;768;p53"/>
          <p:cNvCxnSpPr/>
          <p:nvPr/>
        </p:nvCxnSpPr>
        <p:spPr>
          <a:xfrm rot="10800000">
            <a:off x="1081087" y="1408537"/>
            <a:ext cx="0" cy="682200"/>
          </a:xfrm>
          <a:prstGeom prst="straightConnector1">
            <a:avLst/>
          </a:prstGeom>
          <a:noFill/>
          <a:ln cap="flat" cmpd="sng" w="38100">
            <a:solidFill>
              <a:schemeClr val="dk1"/>
            </a:solidFill>
            <a:prstDash val="solid"/>
            <a:miter lim="800000"/>
            <a:headEnd len="sm" w="sm" type="none"/>
            <a:tailEnd len="med" w="med" type="triangle"/>
          </a:ln>
        </p:spPr>
      </p:cxnSp>
      <p:cxnSp>
        <p:nvCxnSpPr>
          <p:cNvPr id="769" name="Google Shape;769;p53"/>
          <p:cNvCxnSpPr/>
          <p:nvPr/>
        </p:nvCxnSpPr>
        <p:spPr>
          <a:xfrm>
            <a:off x="1081087" y="2090738"/>
            <a:ext cx="1519200" cy="0"/>
          </a:xfrm>
          <a:prstGeom prst="straightConnector1">
            <a:avLst/>
          </a:prstGeom>
          <a:noFill/>
          <a:ln cap="flat" cmpd="sng" w="38100">
            <a:solidFill>
              <a:schemeClr val="dk1"/>
            </a:solidFill>
            <a:prstDash val="solid"/>
            <a:miter lim="800000"/>
            <a:headEnd len="sm" w="sm" type="none"/>
            <a:tailEnd len="med" w="med" type="triangle"/>
          </a:ln>
        </p:spPr>
      </p:cxnSp>
      <p:sp>
        <p:nvSpPr>
          <p:cNvPr id="770" name="Google Shape;770;p53"/>
          <p:cNvSpPr txBox="1"/>
          <p:nvPr/>
        </p:nvSpPr>
        <p:spPr>
          <a:xfrm>
            <a:off x="2674937" y="1693069"/>
            <a:ext cx="11223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Times New Roman"/>
              <a:buNone/>
            </a:pPr>
            <a:r>
              <a:rPr b="0" i="0" lang="en-US" sz="1400" u="none" cap="none" strike="noStrike">
                <a:solidFill>
                  <a:srgbClr val="FF0000"/>
                </a:solidFill>
                <a:latin typeface="Times New Roman"/>
                <a:ea typeface="Times New Roman"/>
                <a:cs typeface="Times New Roman"/>
                <a:sym typeface="Times New Roman"/>
              </a:rPr>
              <a:t>Scale(2,2)</a:t>
            </a:r>
            <a:endParaRPr b="0" i="0" sz="1400" u="none" cap="none" strike="noStrike">
              <a:solidFill>
                <a:srgbClr val="000000"/>
              </a:solidFill>
              <a:latin typeface="Arial"/>
              <a:ea typeface="Arial"/>
              <a:cs typeface="Arial"/>
              <a:sym typeface="Arial"/>
            </a:endParaRPr>
          </a:p>
        </p:txBody>
      </p:sp>
      <p:cxnSp>
        <p:nvCxnSpPr>
          <p:cNvPr id="771" name="Google Shape;771;p53"/>
          <p:cNvCxnSpPr/>
          <p:nvPr/>
        </p:nvCxnSpPr>
        <p:spPr>
          <a:xfrm>
            <a:off x="2809875" y="1635919"/>
            <a:ext cx="684300" cy="0"/>
          </a:xfrm>
          <a:prstGeom prst="straightConnector1">
            <a:avLst/>
          </a:prstGeom>
          <a:noFill/>
          <a:ln cap="flat" cmpd="sng" w="76200">
            <a:solidFill>
              <a:srgbClr val="FF0000"/>
            </a:solidFill>
            <a:prstDash val="solid"/>
            <a:miter lim="800000"/>
            <a:headEnd len="sm" w="sm" type="none"/>
            <a:tailEnd len="med" w="med" type="triangle"/>
          </a:ln>
        </p:spPr>
      </p:cxnSp>
      <p:sp>
        <p:nvSpPr>
          <p:cNvPr id="772" name="Google Shape;772;p53"/>
          <p:cNvSpPr txBox="1"/>
          <p:nvPr/>
        </p:nvSpPr>
        <p:spPr>
          <a:xfrm>
            <a:off x="5618162" y="1693069"/>
            <a:ext cx="14256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Times New Roman"/>
              <a:buNone/>
            </a:pPr>
            <a:r>
              <a:rPr b="0" i="0" lang="en-US" sz="1400" u="none" cap="none" strike="noStrike">
                <a:solidFill>
                  <a:srgbClr val="FF0000"/>
                </a:solidFill>
                <a:latin typeface="Times New Roman"/>
                <a:ea typeface="Times New Roman"/>
                <a:cs typeface="Times New Roman"/>
                <a:sym typeface="Times New Roman"/>
              </a:rPr>
              <a:t>Translate(3,1)</a:t>
            </a:r>
            <a:endParaRPr b="0" i="0" sz="1400" u="none" cap="none" strike="noStrike">
              <a:solidFill>
                <a:srgbClr val="000000"/>
              </a:solidFill>
              <a:latin typeface="Arial"/>
              <a:ea typeface="Arial"/>
              <a:cs typeface="Arial"/>
              <a:sym typeface="Arial"/>
            </a:endParaRPr>
          </a:p>
        </p:txBody>
      </p:sp>
      <p:cxnSp>
        <p:nvCxnSpPr>
          <p:cNvPr id="773" name="Google Shape;773;p53"/>
          <p:cNvCxnSpPr/>
          <p:nvPr/>
        </p:nvCxnSpPr>
        <p:spPr>
          <a:xfrm>
            <a:off x="5922962" y="1635919"/>
            <a:ext cx="684300" cy="0"/>
          </a:xfrm>
          <a:prstGeom prst="straightConnector1">
            <a:avLst/>
          </a:prstGeom>
          <a:noFill/>
          <a:ln cap="flat" cmpd="sng" w="76200">
            <a:solidFill>
              <a:srgbClr val="FF0000"/>
            </a:solidFill>
            <a:prstDash val="solid"/>
            <a:miter lim="800000"/>
            <a:headEnd len="sm" w="sm" type="none"/>
            <a:tailEnd len="med" w="med" type="triangle"/>
          </a:ln>
        </p:spPr>
      </p:cxnSp>
      <p:sp>
        <p:nvSpPr>
          <p:cNvPr id="774" name="Google Shape;774;p53"/>
          <p:cNvSpPr txBox="1"/>
          <p:nvPr/>
        </p:nvSpPr>
        <p:spPr>
          <a:xfrm>
            <a:off x="2522537" y="3742134"/>
            <a:ext cx="14256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Times New Roman"/>
              <a:buNone/>
            </a:pPr>
            <a:r>
              <a:rPr b="0" i="0" lang="en-US" sz="1400" u="none" cap="none" strike="noStrike">
                <a:solidFill>
                  <a:srgbClr val="FF0000"/>
                </a:solidFill>
                <a:latin typeface="Times New Roman"/>
                <a:ea typeface="Times New Roman"/>
                <a:cs typeface="Times New Roman"/>
                <a:sym typeface="Times New Roman"/>
              </a:rPr>
              <a:t>Translate(3,1)</a:t>
            </a:r>
            <a:endParaRPr b="0" i="0" sz="1400" u="none" cap="none" strike="noStrike">
              <a:solidFill>
                <a:srgbClr val="000000"/>
              </a:solidFill>
              <a:latin typeface="Arial"/>
              <a:ea typeface="Arial"/>
              <a:cs typeface="Arial"/>
              <a:sym typeface="Arial"/>
            </a:endParaRPr>
          </a:p>
        </p:txBody>
      </p:sp>
      <p:cxnSp>
        <p:nvCxnSpPr>
          <p:cNvPr id="775" name="Google Shape;775;p53"/>
          <p:cNvCxnSpPr/>
          <p:nvPr/>
        </p:nvCxnSpPr>
        <p:spPr>
          <a:xfrm>
            <a:off x="2827337" y="3684984"/>
            <a:ext cx="684300" cy="0"/>
          </a:xfrm>
          <a:prstGeom prst="straightConnector1">
            <a:avLst/>
          </a:prstGeom>
          <a:noFill/>
          <a:ln cap="flat" cmpd="sng" w="76200">
            <a:solidFill>
              <a:srgbClr val="FF0000"/>
            </a:solidFill>
            <a:prstDash val="solid"/>
            <a:miter lim="800000"/>
            <a:headEnd len="sm" w="sm" type="none"/>
            <a:tailEnd len="med" w="med" type="triangle"/>
          </a:ln>
        </p:spPr>
      </p:cxnSp>
      <p:sp>
        <p:nvSpPr>
          <p:cNvPr id="776" name="Google Shape;776;p53"/>
          <p:cNvSpPr txBox="1"/>
          <p:nvPr/>
        </p:nvSpPr>
        <p:spPr>
          <a:xfrm>
            <a:off x="5770562" y="3742134"/>
            <a:ext cx="11223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1400"/>
              <a:buFont typeface="Times New Roman"/>
              <a:buNone/>
            </a:pPr>
            <a:r>
              <a:rPr b="0" i="0" lang="en-US" sz="1400" u="none" cap="none" strike="noStrike">
                <a:solidFill>
                  <a:srgbClr val="FF0000"/>
                </a:solidFill>
                <a:latin typeface="Times New Roman"/>
                <a:ea typeface="Times New Roman"/>
                <a:cs typeface="Times New Roman"/>
                <a:sym typeface="Times New Roman"/>
              </a:rPr>
              <a:t>Scale(2,2)</a:t>
            </a:r>
            <a:endParaRPr b="0" i="0" sz="1400" u="none" cap="none" strike="noStrike">
              <a:solidFill>
                <a:srgbClr val="000000"/>
              </a:solidFill>
              <a:latin typeface="Arial"/>
              <a:ea typeface="Arial"/>
              <a:cs typeface="Arial"/>
              <a:sym typeface="Arial"/>
            </a:endParaRPr>
          </a:p>
        </p:txBody>
      </p:sp>
      <p:cxnSp>
        <p:nvCxnSpPr>
          <p:cNvPr id="777" name="Google Shape;777;p53"/>
          <p:cNvCxnSpPr/>
          <p:nvPr/>
        </p:nvCxnSpPr>
        <p:spPr>
          <a:xfrm>
            <a:off x="5905500" y="3684984"/>
            <a:ext cx="684300" cy="0"/>
          </a:xfrm>
          <a:prstGeom prst="straightConnector1">
            <a:avLst/>
          </a:prstGeom>
          <a:noFill/>
          <a:ln cap="flat" cmpd="sng" w="76200">
            <a:solidFill>
              <a:srgbClr val="FF000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4"/>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200"/>
              <a:buFont typeface="Times New Roman"/>
              <a:buNone/>
            </a:pPr>
            <a:fld id="{00000000-1234-1234-1234-123412341234}" type="slidenum">
              <a:rPr b="0" i="0" lang="en-US" sz="12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783" name="Google Shape;783;p54"/>
          <p:cNvSpPr txBox="1"/>
          <p:nvPr/>
        </p:nvSpPr>
        <p:spPr>
          <a:xfrm>
            <a:off x="1219200" y="1771650"/>
            <a:ext cx="10668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1" lang="en-US" sz="2800" u="none" cap="none" strike="noStrike">
                <a:solidFill>
                  <a:schemeClr val="dk1"/>
                </a:solidFill>
                <a:latin typeface="Times New Roman"/>
                <a:ea typeface="Times New Roman"/>
                <a:cs typeface="Times New Roman"/>
                <a:sym typeface="Times New Roman"/>
              </a:rPr>
              <a:t>TS  =</a:t>
            </a:r>
            <a:endParaRPr b="0" i="0" sz="1400" u="none" cap="none" strike="noStrike">
              <a:solidFill>
                <a:srgbClr val="000000"/>
              </a:solidFill>
              <a:latin typeface="Arial"/>
              <a:ea typeface="Arial"/>
              <a:cs typeface="Arial"/>
              <a:sym typeface="Arial"/>
            </a:endParaRPr>
          </a:p>
        </p:txBody>
      </p:sp>
      <p:sp>
        <p:nvSpPr>
          <p:cNvPr id="784" name="Google Shape;784;p54"/>
          <p:cNvSpPr/>
          <p:nvPr/>
        </p:nvSpPr>
        <p:spPr>
          <a:xfrm>
            <a:off x="4191000" y="1371600"/>
            <a:ext cx="1524000" cy="12003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5" name="Google Shape;785;p54"/>
          <p:cNvSpPr txBox="1"/>
          <p:nvPr/>
        </p:nvSpPr>
        <p:spPr>
          <a:xfrm>
            <a:off x="4267200" y="1414463"/>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1" sz="1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786" name="Google Shape;786;p54"/>
          <p:cNvSpPr txBox="1"/>
          <p:nvPr/>
        </p:nvSpPr>
        <p:spPr>
          <a:xfrm>
            <a:off x="4724400" y="1406128"/>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1" sz="1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787" name="Google Shape;787;p54"/>
          <p:cNvSpPr txBox="1"/>
          <p:nvPr/>
        </p:nvSpPr>
        <p:spPr>
          <a:xfrm>
            <a:off x="5181600" y="1414463"/>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788" name="Google Shape;788;p54"/>
          <p:cNvSpPr/>
          <p:nvPr/>
        </p:nvSpPr>
        <p:spPr>
          <a:xfrm>
            <a:off x="2438400" y="1371600"/>
            <a:ext cx="1524000" cy="12003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89" name="Google Shape;789;p54"/>
          <p:cNvSpPr txBox="1"/>
          <p:nvPr/>
        </p:nvSpPr>
        <p:spPr>
          <a:xfrm>
            <a:off x="2514600" y="1414463"/>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790" name="Google Shape;790;p54"/>
          <p:cNvSpPr txBox="1"/>
          <p:nvPr/>
        </p:nvSpPr>
        <p:spPr>
          <a:xfrm>
            <a:off x="2971800" y="1406128"/>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791" name="Google Shape;791;p54"/>
          <p:cNvSpPr txBox="1"/>
          <p:nvPr/>
        </p:nvSpPr>
        <p:spPr>
          <a:xfrm>
            <a:off x="3429000" y="1414463"/>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792" name="Google Shape;792;p54"/>
          <p:cNvSpPr txBox="1"/>
          <p:nvPr/>
        </p:nvSpPr>
        <p:spPr>
          <a:xfrm>
            <a:off x="1219200" y="3714750"/>
            <a:ext cx="10668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1" lang="en-US" sz="2800" u="none" cap="none" strike="noStrike">
                <a:solidFill>
                  <a:schemeClr val="dk1"/>
                </a:solidFill>
                <a:latin typeface="Times New Roman"/>
                <a:ea typeface="Times New Roman"/>
                <a:cs typeface="Times New Roman"/>
                <a:sym typeface="Times New Roman"/>
              </a:rPr>
              <a:t>ST  =</a:t>
            </a:r>
            <a:endParaRPr b="0" i="0" sz="1400" u="none" cap="none" strike="noStrike">
              <a:solidFill>
                <a:srgbClr val="000000"/>
              </a:solidFill>
              <a:latin typeface="Arial"/>
              <a:ea typeface="Arial"/>
              <a:cs typeface="Arial"/>
              <a:sym typeface="Arial"/>
            </a:endParaRPr>
          </a:p>
        </p:txBody>
      </p:sp>
      <p:sp>
        <p:nvSpPr>
          <p:cNvPr id="793" name="Google Shape;793;p54"/>
          <p:cNvSpPr/>
          <p:nvPr/>
        </p:nvSpPr>
        <p:spPr>
          <a:xfrm>
            <a:off x="2438400" y="3314700"/>
            <a:ext cx="1524000" cy="12003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4" name="Google Shape;794;p54"/>
          <p:cNvSpPr txBox="1"/>
          <p:nvPr/>
        </p:nvSpPr>
        <p:spPr>
          <a:xfrm>
            <a:off x="2514600" y="3357563"/>
            <a:ext cx="457200" cy="119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1" sz="1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5" name="Google Shape;795;p54"/>
          <p:cNvSpPr txBox="1"/>
          <p:nvPr/>
        </p:nvSpPr>
        <p:spPr>
          <a:xfrm>
            <a:off x="2971800" y="3349228"/>
            <a:ext cx="457200" cy="101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1" sz="1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200"/>
              <a:buFont typeface="Arial"/>
              <a:buNone/>
            </a:pPr>
            <a:r>
              <a:t/>
            </a:r>
            <a:endParaRPr b="0" i="1" sz="1200" u="none" cap="none" strike="noStrike">
              <a:solidFill>
                <a:srgbClr val="FF0000"/>
              </a:solidFill>
              <a:latin typeface="Times New Roman"/>
              <a:ea typeface="Times New Roman"/>
              <a:cs typeface="Times New Roman"/>
              <a:sym typeface="Times New Roman"/>
            </a:endParaRPr>
          </a:p>
        </p:txBody>
      </p:sp>
      <p:sp>
        <p:nvSpPr>
          <p:cNvPr id="796" name="Google Shape;796;p54"/>
          <p:cNvSpPr txBox="1"/>
          <p:nvPr/>
        </p:nvSpPr>
        <p:spPr>
          <a:xfrm>
            <a:off x="3429000" y="3357563"/>
            <a:ext cx="457200" cy="119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7" name="Google Shape;797;p54"/>
          <p:cNvSpPr/>
          <p:nvPr/>
        </p:nvSpPr>
        <p:spPr>
          <a:xfrm>
            <a:off x="4191000" y="3314700"/>
            <a:ext cx="1524000" cy="12003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8" name="Google Shape;798;p54"/>
          <p:cNvSpPr txBox="1"/>
          <p:nvPr/>
        </p:nvSpPr>
        <p:spPr>
          <a:xfrm>
            <a:off x="4267200" y="3357563"/>
            <a:ext cx="457200" cy="119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799" name="Google Shape;799;p54"/>
          <p:cNvSpPr txBox="1"/>
          <p:nvPr/>
        </p:nvSpPr>
        <p:spPr>
          <a:xfrm>
            <a:off x="4724400" y="3349228"/>
            <a:ext cx="457200" cy="101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Times New Roman"/>
              <a:ea typeface="Times New Roman"/>
              <a:cs typeface="Times New Roman"/>
              <a:sym typeface="Times New Roman"/>
            </a:endParaRPr>
          </a:p>
        </p:txBody>
      </p:sp>
      <p:sp>
        <p:nvSpPr>
          <p:cNvPr id="800" name="Google Shape;800;p54"/>
          <p:cNvSpPr txBox="1"/>
          <p:nvPr/>
        </p:nvSpPr>
        <p:spPr>
          <a:xfrm>
            <a:off x="5181600" y="3357563"/>
            <a:ext cx="457200" cy="119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1" sz="2400" u="none" cap="none" strike="noStrike">
              <a:solidFill>
                <a:srgbClr val="FF0000"/>
              </a:solidFill>
              <a:latin typeface="Times New Roman"/>
              <a:ea typeface="Times New Roman"/>
              <a:cs typeface="Times New Roman"/>
              <a:sym typeface="Times New Roman"/>
            </a:endParaRPr>
          </a:p>
        </p:txBody>
      </p:sp>
      <p:sp>
        <p:nvSpPr>
          <p:cNvPr id="801" name="Google Shape;801;p54"/>
          <p:cNvSpPr txBox="1"/>
          <p:nvPr>
            <p:ph type="title"/>
          </p:nvPr>
        </p:nvSpPr>
        <p:spPr>
          <a:xfrm>
            <a:off x="628650" y="6149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Non-commutative Composition</a:t>
            </a:r>
            <a:endParaRPr/>
          </a:p>
        </p:txBody>
      </p:sp>
      <p:sp>
        <p:nvSpPr>
          <p:cNvPr id="802" name="Google Shape;802;p54"/>
          <p:cNvSpPr txBox="1"/>
          <p:nvPr/>
        </p:nvSpPr>
        <p:spPr>
          <a:xfrm>
            <a:off x="1158900" y="909894"/>
            <a:ext cx="66738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Times New Roman"/>
              <a:buNone/>
            </a:pPr>
            <a:r>
              <a:rPr b="0" i="0" lang="en-US" sz="2400" u="none" cap="none" strike="noStrike">
                <a:solidFill>
                  <a:srgbClr val="000000"/>
                </a:solidFill>
                <a:latin typeface="Times New Roman"/>
                <a:ea typeface="Times New Roman"/>
                <a:cs typeface="Times New Roman"/>
                <a:sym typeface="Times New Roman"/>
              </a:rPr>
              <a:t>Scale then Translate:   p'  =  T ( S p )  =  TS p</a:t>
            </a:r>
            <a:endParaRPr b="0" i="0" sz="1000" u="none" cap="none" strike="noStrike">
              <a:solidFill>
                <a:srgbClr val="000000"/>
              </a:solidFill>
              <a:latin typeface="Arial"/>
              <a:ea typeface="Arial"/>
              <a:cs typeface="Arial"/>
              <a:sym typeface="Arial"/>
            </a:endParaRPr>
          </a:p>
        </p:txBody>
      </p:sp>
      <p:sp>
        <p:nvSpPr>
          <p:cNvPr id="803" name="Google Shape;803;p54"/>
          <p:cNvSpPr/>
          <p:nvPr/>
        </p:nvSpPr>
        <p:spPr>
          <a:xfrm>
            <a:off x="6477000" y="1371600"/>
            <a:ext cx="1524000" cy="12003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4" name="Google Shape;804;p54"/>
          <p:cNvSpPr txBox="1"/>
          <p:nvPr/>
        </p:nvSpPr>
        <p:spPr>
          <a:xfrm>
            <a:off x="6553200" y="1414463"/>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1" sz="1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805" name="Google Shape;805;p54"/>
          <p:cNvSpPr txBox="1"/>
          <p:nvPr/>
        </p:nvSpPr>
        <p:spPr>
          <a:xfrm>
            <a:off x="7010400" y="1406128"/>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1" sz="1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806" name="Google Shape;806;p54"/>
          <p:cNvSpPr txBox="1"/>
          <p:nvPr/>
        </p:nvSpPr>
        <p:spPr>
          <a:xfrm>
            <a:off x="7467600" y="1414463"/>
            <a:ext cx="457200" cy="128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3</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sp>
        <p:nvSpPr>
          <p:cNvPr id="807" name="Google Shape;807;p54"/>
          <p:cNvSpPr/>
          <p:nvPr/>
        </p:nvSpPr>
        <p:spPr>
          <a:xfrm>
            <a:off x="6477000" y="3314700"/>
            <a:ext cx="1524000" cy="1200300"/>
          </a:xfrm>
          <a:prstGeom prst="bracketPair">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8" name="Google Shape;808;p54"/>
          <p:cNvSpPr txBox="1"/>
          <p:nvPr/>
        </p:nvSpPr>
        <p:spPr>
          <a:xfrm>
            <a:off x="6553200" y="3357563"/>
            <a:ext cx="457200" cy="119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1" sz="1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09" name="Google Shape;809;p54"/>
          <p:cNvSpPr txBox="1"/>
          <p:nvPr/>
        </p:nvSpPr>
        <p:spPr>
          <a:xfrm>
            <a:off x="7010400" y="3349228"/>
            <a:ext cx="457200" cy="101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1" sz="12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200"/>
              <a:buFont typeface="Arial"/>
              <a:buNone/>
            </a:pPr>
            <a:r>
              <a:t/>
            </a:r>
            <a:endParaRPr b="0" i="1" sz="1200" u="none" cap="none" strike="noStrike">
              <a:solidFill>
                <a:srgbClr val="FF0000"/>
              </a:solidFill>
              <a:latin typeface="Times New Roman"/>
              <a:ea typeface="Times New Roman"/>
              <a:cs typeface="Times New Roman"/>
              <a:sym typeface="Times New Roman"/>
            </a:endParaRPr>
          </a:p>
        </p:txBody>
      </p:sp>
      <p:sp>
        <p:nvSpPr>
          <p:cNvPr id="810" name="Google Shape;810;p54"/>
          <p:cNvSpPr txBox="1"/>
          <p:nvPr/>
        </p:nvSpPr>
        <p:spPr>
          <a:xfrm>
            <a:off x="7467600" y="3357563"/>
            <a:ext cx="457200" cy="119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6</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700"/>
              </a:spcBef>
              <a:spcAft>
                <a:spcPts val="0"/>
              </a:spcAft>
              <a:buClr>
                <a:srgbClr val="FF0000"/>
              </a:buClr>
              <a:buSzPts val="2400"/>
              <a:buFont typeface="Times New Roman"/>
              <a:buNone/>
            </a:pPr>
            <a:r>
              <a:rPr b="0" i="1" lang="en-US" sz="2400" u="none" cap="none" strike="noStrike">
                <a:solidFill>
                  <a:srgbClr val="FF0000"/>
                </a:solidFill>
                <a:latin typeface="Times New Roman"/>
                <a:ea typeface="Times New Roman"/>
                <a:cs typeface="Times New Roman"/>
                <a:sym typeface="Times New Roman"/>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1" sz="2400" u="none" cap="none" strike="noStrike">
              <a:solidFill>
                <a:srgbClr val="FF0000"/>
              </a:solidFill>
              <a:latin typeface="Times New Roman"/>
              <a:ea typeface="Times New Roman"/>
              <a:cs typeface="Times New Roman"/>
              <a:sym typeface="Times New Roman"/>
            </a:endParaRPr>
          </a:p>
        </p:txBody>
      </p:sp>
      <p:sp>
        <p:nvSpPr>
          <p:cNvPr id="811" name="Google Shape;811;p54"/>
          <p:cNvSpPr txBox="1"/>
          <p:nvPr/>
        </p:nvSpPr>
        <p:spPr>
          <a:xfrm>
            <a:off x="5943600" y="1771650"/>
            <a:ext cx="3048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1" lang="en-US" sz="2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812" name="Google Shape;812;p54"/>
          <p:cNvSpPr txBox="1"/>
          <p:nvPr/>
        </p:nvSpPr>
        <p:spPr>
          <a:xfrm>
            <a:off x="5943600" y="3714750"/>
            <a:ext cx="304800" cy="431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800"/>
              <a:buFont typeface="Times New Roman"/>
              <a:buNone/>
            </a:pPr>
            <a:r>
              <a:rPr b="0" i="1" lang="en-US" sz="2800" u="none" cap="none" strike="noStrike">
                <a:solidFill>
                  <a:schemeClr val="dk1"/>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p:txBody>
      </p:sp>
      <p:sp>
        <p:nvSpPr>
          <p:cNvPr id="813" name="Google Shape;813;p54"/>
          <p:cNvSpPr txBox="1"/>
          <p:nvPr/>
        </p:nvSpPr>
        <p:spPr>
          <a:xfrm>
            <a:off x="549350" y="2773509"/>
            <a:ext cx="66801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Times New Roman"/>
              <a:buNone/>
            </a:pPr>
            <a:r>
              <a:rPr b="0" i="0" lang="en-US" sz="2400" u="none" cap="none" strike="noStrike">
                <a:solidFill>
                  <a:srgbClr val="000000"/>
                </a:solidFill>
                <a:latin typeface="Times New Roman"/>
                <a:ea typeface="Times New Roman"/>
                <a:cs typeface="Times New Roman"/>
                <a:sym typeface="Times New Roman"/>
              </a:rPr>
              <a:t>Translate then Scale:   p'  =  S ( T p )  =  ST p</a:t>
            </a:r>
            <a:endParaRPr b="0" i="0" sz="1000" u="none" cap="none" strike="noStrike">
              <a:solidFill>
                <a:srgbClr val="000000"/>
              </a:solidFill>
              <a:latin typeface="Arial"/>
              <a:ea typeface="Arial"/>
              <a:cs typeface="Arial"/>
              <a:sym typeface="Arial"/>
            </a:endParaRPr>
          </a:p>
        </p:txBody>
      </p:sp>
      <p:grpSp>
        <p:nvGrpSpPr>
          <p:cNvPr id="814" name="Google Shape;814;p54"/>
          <p:cNvGrpSpPr/>
          <p:nvPr/>
        </p:nvGrpSpPr>
        <p:grpSpPr>
          <a:xfrm>
            <a:off x="2517775" y="3342084"/>
            <a:ext cx="1390650" cy="1428750"/>
            <a:chOff x="252" y="3189"/>
            <a:chExt cx="876" cy="1200"/>
          </a:xfrm>
        </p:grpSpPr>
        <p:sp>
          <p:nvSpPr>
            <p:cNvPr id="815" name="Google Shape;815;p54"/>
            <p:cNvSpPr txBox="1"/>
            <p:nvPr/>
          </p:nvSpPr>
          <p:spPr>
            <a:xfrm>
              <a:off x="252"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1" sz="24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816" name="Google Shape;816;p54"/>
            <p:cNvSpPr txBox="1"/>
            <p:nvPr/>
          </p:nvSpPr>
          <p:spPr>
            <a:xfrm>
              <a:off x="537"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817" name="Google Shape;817;p54"/>
            <p:cNvSpPr txBox="1"/>
            <p:nvPr/>
          </p:nvSpPr>
          <p:spPr>
            <a:xfrm>
              <a:off x="828"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grpSp>
        <p:nvGrpSpPr>
          <p:cNvPr id="818" name="Google Shape;818;p54"/>
          <p:cNvGrpSpPr/>
          <p:nvPr/>
        </p:nvGrpSpPr>
        <p:grpSpPr>
          <a:xfrm>
            <a:off x="4268787" y="3368278"/>
            <a:ext cx="1390650" cy="1428750"/>
            <a:chOff x="252" y="3189"/>
            <a:chExt cx="876" cy="1200"/>
          </a:xfrm>
        </p:grpSpPr>
        <p:sp>
          <p:nvSpPr>
            <p:cNvPr id="819" name="Google Shape;819;p54"/>
            <p:cNvSpPr txBox="1"/>
            <p:nvPr/>
          </p:nvSpPr>
          <p:spPr>
            <a:xfrm>
              <a:off x="252"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1" sz="24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820" name="Google Shape;820;p54"/>
            <p:cNvSpPr txBox="1"/>
            <p:nvPr/>
          </p:nvSpPr>
          <p:spPr>
            <a:xfrm>
              <a:off x="537"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821" name="Google Shape;821;p54"/>
            <p:cNvSpPr txBox="1"/>
            <p:nvPr/>
          </p:nvSpPr>
          <p:spPr>
            <a:xfrm>
              <a:off x="828"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grpSp>
        <p:nvGrpSpPr>
          <p:cNvPr id="822" name="Google Shape;822;p54"/>
          <p:cNvGrpSpPr/>
          <p:nvPr/>
        </p:nvGrpSpPr>
        <p:grpSpPr>
          <a:xfrm>
            <a:off x="6545262" y="3368278"/>
            <a:ext cx="1390650" cy="1428750"/>
            <a:chOff x="252" y="3189"/>
            <a:chExt cx="876" cy="1200"/>
          </a:xfrm>
        </p:grpSpPr>
        <p:sp>
          <p:nvSpPr>
            <p:cNvPr id="823" name="Google Shape;823;p54"/>
            <p:cNvSpPr txBox="1"/>
            <p:nvPr/>
          </p:nvSpPr>
          <p:spPr>
            <a:xfrm>
              <a:off x="252"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1" sz="24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824" name="Google Shape;824;p54"/>
            <p:cNvSpPr txBox="1"/>
            <p:nvPr/>
          </p:nvSpPr>
          <p:spPr>
            <a:xfrm>
              <a:off x="537"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0</a:t>
              </a:r>
              <a:endParaRPr b="0" i="0" sz="1400" u="none" cap="none" strike="noStrike">
                <a:solidFill>
                  <a:srgbClr val="000000"/>
                </a:solidFill>
                <a:latin typeface="Arial"/>
                <a:ea typeface="Arial"/>
                <a:cs typeface="Arial"/>
                <a:sym typeface="Arial"/>
              </a:endParaRPr>
            </a:p>
          </p:txBody>
        </p:sp>
        <p:sp>
          <p:nvSpPr>
            <p:cNvPr id="825" name="Google Shape;825;p54"/>
            <p:cNvSpPr txBox="1"/>
            <p:nvPr/>
          </p:nvSpPr>
          <p:spPr>
            <a:xfrm>
              <a:off x="828" y="3189"/>
              <a:ext cx="300" cy="1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700"/>
                </a:spcBef>
                <a:spcAft>
                  <a:spcPts val="0"/>
                </a:spcAft>
                <a:buClr>
                  <a:schemeClr val="dk1"/>
                </a:buClr>
                <a:buSzPts val="2400"/>
                <a:buFont typeface="Times New Roman"/>
                <a:buNone/>
              </a:pPr>
              <a:r>
                <a:rPr b="0" i="0" lang="en-US" sz="2400" u="none" cap="none" strike="noStrike">
                  <a:solidFill>
                    <a:schemeClr val="dk1"/>
                  </a:solidFill>
                  <a:latin typeface="Times New Roman"/>
                  <a:ea typeface="Times New Roman"/>
                  <a:cs typeface="Times New Roman"/>
                  <a:sym typeface="Times New Roman"/>
                </a:rPr>
                <a:t>1</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55"/>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31" name="Google Shape;831;p55"/>
          <p:cNvSpPr txBox="1"/>
          <p:nvPr/>
        </p:nvSpPr>
        <p:spPr>
          <a:xfrm>
            <a:off x="1201550" y="354450"/>
            <a:ext cx="7010400" cy="514500"/>
          </a:xfrm>
          <a:prstGeom prst="rect">
            <a:avLst/>
          </a:prstGeom>
          <a:noFill/>
          <a:ln>
            <a:noFill/>
          </a:ln>
        </p:spPr>
        <p:txBody>
          <a:bodyPr anchorCtr="0" anchor="ctr" bIns="46025" lIns="92075" spcFirstLastPara="1" rIns="92075" wrap="square" tIns="46025">
            <a:noAutofit/>
          </a:bodyPr>
          <a:lstStyle/>
          <a:p>
            <a:pPr indent="0" lvl="0" marL="0" marR="0" rtl="0" algn="l">
              <a:lnSpc>
                <a:spcPct val="100000"/>
              </a:lnSpc>
              <a:spcBef>
                <a:spcPts val="0"/>
              </a:spcBef>
              <a:spcAft>
                <a:spcPts val="0"/>
              </a:spcAft>
              <a:buClr>
                <a:srgbClr val="663300"/>
              </a:buClr>
              <a:buSzPts val="3600"/>
              <a:buFont typeface="Times New Roman"/>
              <a:buNone/>
            </a:pPr>
            <a:r>
              <a:rPr b="0" i="1" lang="en-US" sz="3600" u="none" cap="none" strike="noStrike">
                <a:solidFill>
                  <a:srgbClr val="663300"/>
                </a:solidFill>
                <a:latin typeface="Times New Roman"/>
                <a:ea typeface="Times New Roman"/>
                <a:cs typeface="Times New Roman"/>
                <a:sym typeface="Times New Roman"/>
              </a:rPr>
              <a:t>Combining Translations, Rotations</a:t>
            </a:r>
            <a:endParaRPr b="0" i="0" sz="1400" u="none" cap="none" strike="noStrike">
              <a:solidFill>
                <a:srgbClr val="000000"/>
              </a:solidFill>
              <a:latin typeface="Arial"/>
              <a:ea typeface="Arial"/>
              <a:cs typeface="Arial"/>
              <a:sym typeface="Arial"/>
            </a:endParaRPr>
          </a:p>
        </p:txBody>
      </p:sp>
      <p:sp>
        <p:nvSpPr>
          <p:cNvPr id="832" name="Google Shape;832;p55"/>
          <p:cNvSpPr txBox="1"/>
          <p:nvPr/>
        </p:nvSpPr>
        <p:spPr>
          <a:xfrm>
            <a:off x="1201550" y="1329469"/>
            <a:ext cx="7467600" cy="3250500"/>
          </a:xfrm>
          <a:prstGeom prst="rect">
            <a:avLst/>
          </a:prstGeom>
          <a:noFill/>
          <a:ln>
            <a:noFill/>
          </a:ln>
        </p:spPr>
        <p:txBody>
          <a:bodyPr anchorCtr="0" anchor="t" bIns="45700" lIns="91425" spcFirstLastPara="1" rIns="91425" wrap="square" tIns="45700">
            <a:noAutofit/>
          </a:bodyPr>
          <a:lstStyle/>
          <a:p>
            <a:pPr indent="-317500" lvl="0" marL="342900" marR="0" rtl="0" algn="l">
              <a:lnSpc>
                <a:spcPct val="100000"/>
              </a:lnSpc>
              <a:spcBef>
                <a:spcPts val="0"/>
              </a:spcBef>
              <a:spcAft>
                <a:spcPts val="0"/>
              </a:spcAft>
              <a:buClr>
                <a:schemeClr val="dk2"/>
              </a:buClr>
              <a:buSzPts val="2640"/>
              <a:buFont typeface="Noto Sans Symbols"/>
              <a:buChar char="✶"/>
            </a:pPr>
            <a:r>
              <a:rPr b="0" i="0" lang="en-US" sz="2800" u="none" cap="none" strike="noStrike">
                <a:solidFill>
                  <a:schemeClr val="dk1"/>
                </a:solidFill>
                <a:latin typeface="Times New Roman"/>
                <a:ea typeface="Times New Roman"/>
                <a:cs typeface="Times New Roman"/>
                <a:sym typeface="Times New Roman"/>
              </a:rPr>
              <a:t>Order matters!!  TR is not the same as RT (demo)</a:t>
            </a:r>
            <a:endParaRPr b="0" i="0" sz="1000" u="none" cap="none" strike="noStrike">
              <a:solidFill>
                <a:srgbClr val="000000"/>
              </a:solidFill>
              <a:latin typeface="Arial"/>
              <a:ea typeface="Arial"/>
              <a:cs typeface="Arial"/>
              <a:sym typeface="Arial"/>
            </a:endParaRPr>
          </a:p>
          <a:p>
            <a:pPr indent="-317500" lvl="0" marL="342900" marR="0" rtl="0" algn="l">
              <a:lnSpc>
                <a:spcPct val="100000"/>
              </a:lnSpc>
              <a:spcBef>
                <a:spcPts val="640"/>
              </a:spcBef>
              <a:spcAft>
                <a:spcPts val="0"/>
              </a:spcAft>
              <a:buClr>
                <a:schemeClr val="dk2"/>
              </a:buClr>
              <a:buSzPts val="2640"/>
              <a:buFont typeface="Noto Sans Symbols"/>
              <a:buChar char="✶"/>
            </a:pPr>
            <a:r>
              <a:rPr b="0" i="0" lang="en-US" sz="2800" u="none" cap="none" strike="noStrike">
                <a:solidFill>
                  <a:schemeClr val="dk1"/>
                </a:solidFill>
                <a:latin typeface="Times New Roman"/>
                <a:ea typeface="Times New Roman"/>
                <a:cs typeface="Times New Roman"/>
                <a:sym typeface="Times New Roman"/>
              </a:rPr>
              <a:t>General form for rigid body transforms</a:t>
            </a:r>
            <a:endParaRPr b="0" i="0" sz="1000" u="none" cap="none" strike="noStrike">
              <a:solidFill>
                <a:srgbClr val="000000"/>
              </a:solidFill>
              <a:latin typeface="Arial"/>
              <a:ea typeface="Arial"/>
              <a:cs typeface="Arial"/>
              <a:sym typeface="Arial"/>
            </a:endParaRPr>
          </a:p>
          <a:p>
            <a:pPr indent="-317500" lvl="0" marL="342900" marR="0" rtl="0" algn="l">
              <a:lnSpc>
                <a:spcPct val="100000"/>
              </a:lnSpc>
              <a:spcBef>
                <a:spcPts val="640"/>
              </a:spcBef>
              <a:spcAft>
                <a:spcPts val="0"/>
              </a:spcAft>
              <a:buClr>
                <a:schemeClr val="dk2"/>
              </a:buClr>
              <a:buSzPts val="2640"/>
              <a:buFont typeface="Noto Sans Symbols"/>
              <a:buChar char="✶"/>
            </a:pPr>
            <a:r>
              <a:rPr b="0" i="0" lang="en-US" sz="2800" u="none" cap="none" strike="noStrike">
                <a:solidFill>
                  <a:schemeClr val="dk1"/>
                </a:solidFill>
                <a:latin typeface="Times New Roman"/>
                <a:ea typeface="Times New Roman"/>
                <a:cs typeface="Times New Roman"/>
                <a:sym typeface="Times New Roman"/>
              </a:rPr>
              <a:t>We show rotation first, then translation (commonly used to position objects) on next slide.  Slide after that works it out the other way </a:t>
            </a:r>
            <a:endParaRPr b="0" i="0" sz="1000" u="none" cap="none" strike="noStrike">
              <a:solidFill>
                <a:srgbClr val="000000"/>
              </a:solidFill>
              <a:latin typeface="Arial"/>
              <a:ea typeface="Arial"/>
              <a:cs typeface="Arial"/>
              <a:sym typeface="Arial"/>
            </a:endParaRPr>
          </a:p>
        </p:txBody>
      </p:sp>
      <p:sp>
        <p:nvSpPr>
          <p:cNvPr id="833" name="Google Shape;833;p55"/>
          <p:cNvSpPr txBox="1"/>
          <p:nvPr/>
        </p:nvSpPr>
        <p:spPr>
          <a:xfrm>
            <a:off x="4479925" y="4413647"/>
            <a:ext cx="1842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p56"/>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39" name="Google Shape;839;p56"/>
          <p:cNvSpPr txBox="1"/>
          <p:nvPr>
            <p:ph type="title"/>
          </p:nvPr>
        </p:nvSpPr>
        <p:spPr>
          <a:xfrm>
            <a:off x="1524000" y="228600"/>
            <a:ext cx="7748700" cy="5145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Rotate then Translate</a:t>
            </a:r>
            <a:endParaRPr/>
          </a:p>
        </p:txBody>
      </p:sp>
      <p:sp>
        <p:nvSpPr>
          <p:cNvPr id="840" name="Google Shape;840;p56"/>
          <p:cNvSpPr txBox="1"/>
          <p:nvPr/>
        </p:nvSpPr>
        <p:spPr>
          <a:xfrm>
            <a:off x="457200" y="1321594"/>
            <a:ext cx="8229600" cy="3364800"/>
          </a:xfrm>
          <a:prstGeom prst="rect">
            <a:avLst/>
          </a:prstGeom>
          <a:noFill/>
          <a:ln>
            <a:noFill/>
          </a:ln>
        </p:spPr>
        <p:txBody>
          <a:bodyPr anchorCtr="0" anchor="t" bIns="45700" lIns="91425" spcFirstLastPara="1" rIns="91425" wrap="square" tIns="45700">
            <a:noAutofit/>
          </a:bodyPr>
          <a:lstStyle/>
          <a:p>
            <a:pPr indent="-149860" lvl="0" marL="342900" marR="0" rtl="0" algn="l">
              <a:lnSpc>
                <a:spcPct val="100000"/>
              </a:lnSpc>
              <a:spcBef>
                <a:spcPts val="0"/>
              </a:spcBef>
              <a:spcAft>
                <a:spcPts val="0"/>
              </a:spcAft>
              <a:buClr>
                <a:schemeClr val="dk2"/>
              </a:buClr>
              <a:buSzPts val="3040"/>
              <a:buFont typeface="Noto Sans Symbols"/>
              <a:buNone/>
            </a:pPr>
            <a:r>
              <a:t/>
            </a:r>
            <a:endParaRPr b="0" i="0" sz="3200" u="none" cap="none" strike="noStrike">
              <a:solidFill>
                <a:schemeClr val="dk1"/>
              </a:solidFill>
              <a:latin typeface="Times New Roman"/>
              <a:ea typeface="Times New Roman"/>
              <a:cs typeface="Times New Roman"/>
              <a:sym typeface="Times New Roman"/>
            </a:endParaRPr>
          </a:p>
          <a:p>
            <a:pPr indent="-107950" lvl="1" marL="742950" marR="0" rtl="0" algn="l">
              <a:lnSpc>
                <a:spcPct val="100000"/>
              </a:lnSpc>
              <a:spcBef>
                <a:spcPts val="56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841" name="Google Shape;841;p56"/>
          <p:cNvPicPr preferRelativeResize="0"/>
          <p:nvPr/>
        </p:nvPicPr>
        <p:blipFill rotWithShape="1">
          <a:blip r:embed="rId3">
            <a:alphaModFix/>
          </a:blip>
          <a:srcRect b="0" l="0" r="0" t="0"/>
          <a:stretch/>
        </p:blipFill>
        <p:spPr>
          <a:xfrm>
            <a:off x="1366837" y="1148953"/>
            <a:ext cx="4717256" cy="565547"/>
          </a:xfrm>
          <a:prstGeom prst="rect">
            <a:avLst/>
          </a:prstGeom>
          <a:noFill/>
          <a:ln>
            <a:noFill/>
          </a:ln>
        </p:spPr>
      </p:pic>
      <p:grpSp>
        <p:nvGrpSpPr>
          <p:cNvPr id="842" name="Google Shape;842;p56"/>
          <p:cNvGrpSpPr/>
          <p:nvPr/>
        </p:nvGrpSpPr>
        <p:grpSpPr>
          <a:xfrm>
            <a:off x="366712" y="2183606"/>
            <a:ext cx="8528050" cy="1634728"/>
            <a:chOff x="231" y="1834"/>
            <a:chExt cx="5372" cy="1373"/>
          </a:xfrm>
        </p:grpSpPr>
        <p:pic>
          <p:nvPicPr>
            <p:cNvPr id="843" name="Google Shape;843;p56"/>
            <p:cNvPicPr preferRelativeResize="0"/>
            <p:nvPr/>
          </p:nvPicPr>
          <p:blipFill rotWithShape="1">
            <a:blip r:embed="rId4">
              <a:alphaModFix/>
            </a:blip>
            <a:srcRect b="0" l="0" r="0" t="0"/>
            <a:stretch/>
          </p:blipFill>
          <p:spPr>
            <a:xfrm>
              <a:off x="231" y="1834"/>
              <a:ext cx="5372" cy="1373"/>
            </a:xfrm>
            <a:prstGeom prst="rect">
              <a:avLst/>
            </a:prstGeom>
            <a:noFill/>
            <a:ln>
              <a:noFill/>
            </a:ln>
          </p:spPr>
        </p:pic>
        <p:cxnSp>
          <p:nvCxnSpPr>
            <p:cNvPr id="844" name="Google Shape;844;p56"/>
            <p:cNvCxnSpPr/>
            <p:nvPr/>
          </p:nvCxnSpPr>
          <p:spPr>
            <a:xfrm>
              <a:off x="4504" y="1870"/>
              <a:ext cx="0" cy="1227"/>
            </a:xfrm>
            <a:prstGeom prst="straightConnector1">
              <a:avLst/>
            </a:prstGeom>
            <a:noFill/>
            <a:ln cap="flat" cmpd="sng" w="9525">
              <a:solidFill>
                <a:schemeClr val="dk1"/>
              </a:solidFill>
              <a:prstDash val="solid"/>
              <a:miter lim="800000"/>
              <a:headEnd len="sm" w="sm" type="none"/>
              <a:tailEnd len="sm" w="sm" type="none"/>
            </a:ln>
          </p:spPr>
        </p:cxnSp>
        <p:cxnSp>
          <p:nvCxnSpPr>
            <p:cNvPr id="845" name="Google Shape;845;p56"/>
            <p:cNvCxnSpPr/>
            <p:nvPr/>
          </p:nvCxnSpPr>
          <p:spPr>
            <a:xfrm>
              <a:off x="3409" y="2852"/>
              <a:ext cx="1388" cy="0"/>
            </a:xfrm>
            <a:prstGeom prst="straightConnector1">
              <a:avLst/>
            </a:prstGeom>
            <a:noFill/>
            <a:ln cap="flat" cmpd="sng" w="9525">
              <a:solidFill>
                <a:schemeClr val="dk1"/>
              </a:solidFill>
              <a:prstDash val="solid"/>
              <a:miter lim="800000"/>
              <a:headEnd len="sm" w="sm" type="none"/>
              <a:tailEnd len="sm" w="sm" type="none"/>
            </a:ln>
          </p:spPr>
        </p:cxn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57"/>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851" name="Google Shape;851;p57"/>
          <p:cNvSpPr txBox="1"/>
          <p:nvPr>
            <p:ph type="title"/>
          </p:nvPr>
        </p:nvSpPr>
        <p:spPr>
          <a:xfrm>
            <a:off x="1471612" y="228600"/>
            <a:ext cx="6758100" cy="5145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000"/>
              <a:buFont typeface="Times New Roman"/>
              <a:buNone/>
            </a:pPr>
            <a:r>
              <a:rPr b="0" i="1" lang="en-US" sz="4000" u="none">
                <a:solidFill>
                  <a:srgbClr val="663300"/>
                </a:solidFill>
                <a:latin typeface="Times New Roman"/>
                <a:ea typeface="Times New Roman"/>
                <a:cs typeface="Times New Roman"/>
                <a:sym typeface="Times New Roman"/>
              </a:rPr>
              <a:t>Translate then Rotate</a:t>
            </a:r>
            <a:endParaRPr/>
          </a:p>
        </p:txBody>
      </p:sp>
      <p:sp>
        <p:nvSpPr>
          <p:cNvPr id="852" name="Google Shape;852;p57"/>
          <p:cNvSpPr txBox="1"/>
          <p:nvPr/>
        </p:nvSpPr>
        <p:spPr>
          <a:xfrm>
            <a:off x="457200" y="1321594"/>
            <a:ext cx="8229600" cy="3250500"/>
          </a:xfrm>
          <a:prstGeom prst="rect">
            <a:avLst/>
          </a:prstGeom>
          <a:noFill/>
          <a:ln>
            <a:noFill/>
          </a:ln>
        </p:spPr>
        <p:txBody>
          <a:bodyPr anchorCtr="0" anchor="t" bIns="45700" lIns="91425" spcFirstLastPara="1" rIns="91425" wrap="square" tIns="45700">
            <a:noAutofit/>
          </a:bodyPr>
          <a:lstStyle/>
          <a:p>
            <a:pPr indent="-149860" lvl="0" marL="342900" marR="0" rtl="0" algn="l">
              <a:lnSpc>
                <a:spcPct val="100000"/>
              </a:lnSpc>
              <a:spcBef>
                <a:spcPts val="0"/>
              </a:spcBef>
              <a:spcAft>
                <a:spcPts val="0"/>
              </a:spcAft>
              <a:buClr>
                <a:schemeClr val="dk2"/>
              </a:buClr>
              <a:buSzPts val="3040"/>
              <a:buFont typeface="Noto Sans Symbols"/>
              <a:buNone/>
            </a:pPr>
            <a:r>
              <a:t/>
            </a:r>
            <a:endParaRPr b="0" i="0" sz="3200" u="none" cap="none" strike="noStrike">
              <a:solidFill>
                <a:schemeClr val="dk1"/>
              </a:solidFill>
              <a:latin typeface="Times New Roman"/>
              <a:ea typeface="Times New Roman"/>
              <a:cs typeface="Times New Roman"/>
              <a:sym typeface="Times New Roman"/>
            </a:endParaRPr>
          </a:p>
          <a:p>
            <a:pPr indent="-107950" lvl="1" marL="742950" marR="0" rtl="0" algn="l">
              <a:lnSpc>
                <a:spcPct val="100000"/>
              </a:lnSpc>
              <a:spcBef>
                <a:spcPts val="560"/>
              </a:spcBef>
              <a:spcAft>
                <a:spcPts val="0"/>
              </a:spcAft>
              <a:buClr>
                <a:schemeClr val="dk1"/>
              </a:buClr>
              <a:buSzPts val="2800"/>
              <a:buFont typeface="Times New Roman"/>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853" name="Google Shape;853;p57"/>
          <p:cNvPicPr preferRelativeResize="0"/>
          <p:nvPr/>
        </p:nvPicPr>
        <p:blipFill rotWithShape="1">
          <a:blip r:embed="rId3">
            <a:alphaModFix/>
          </a:blip>
          <a:srcRect b="0" l="0" r="0" t="0"/>
          <a:stretch/>
        </p:blipFill>
        <p:spPr>
          <a:xfrm>
            <a:off x="522287" y="1176338"/>
            <a:ext cx="6282925" cy="506015"/>
          </a:xfrm>
          <a:prstGeom prst="rect">
            <a:avLst/>
          </a:prstGeom>
          <a:noFill/>
          <a:ln>
            <a:noFill/>
          </a:ln>
        </p:spPr>
      </p:pic>
      <p:pic>
        <p:nvPicPr>
          <p:cNvPr id="854" name="Google Shape;854;p57"/>
          <p:cNvPicPr preferRelativeResize="0"/>
          <p:nvPr/>
        </p:nvPicPr>
        <p:blipFill rotWithShape="1">
          <a:blip r:embed="rId4">
            <a:alphaModFix/>
          </a:blip>
          <a:srcRect b="0" l="0" r="0" t="0"/>
          <a:stretch/>
        </p:blipFill>
        <p:spPr>
          <a:xfrm>
            <a:off x="1146175" y="2170509"/>
            <a:ext cx="5006579" cy="163472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58"/>
          <p:cNvSpPr txBox="1"/>
          <p:nvPr/>
        </p:nvSpPr>
        <p:spPr>
          <a:xfrm>
            <a:off x="67691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200" u="none" cap="none" strike="noStrike">
                <a:solidFill>
                  <a:schemeClr val="dk2"/>
                </a:solidFill>
                <a:latin typeface="Times New Roman"/>
                <a:ea typeface="Times New Roman"/>
                <a:cs typeface="Times New Roman"/>
                <a:sym typeface="Times New Roman"/>
              </a:rPr>
              <a:t>‹#›</a:t>
            </a:fld>
            <a:endParaRPr b="0" i="0" sz="1200" u="none" cap="none" strike="noStrike">
              <a:solidFill>
                <a:srgbClr val="000000"/>
              </a:solidFill>
              <a:latin typeface="Arial"/>
              <a:ea typeface="Arial"/>
              <a:cs typeface="Arial"/>
              <a:sym typeface="Arial"/>
            </a:endParaRPr>
          </a:p>
        </p:txBody>
      </p:sp>
      <p:sp>
        <p:nvSpPr>
          <p:cNvPr id="860" name="Google Shape;860;p58"/>
          <p:cNvSpPr txBox="1"/>
          <p:nvPr>
            <p:ph type="title"/>
          </p:nvPr>
        </p:nvSpPr>
        <p:spPr>
          <a:xfrm>
            <a:off x="1219200" y="228600"/>
            <a:ext cx="7391400" cy="6288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3600"/>
              <a:buFont typeface="Times New Roman"/>
              <a:buNone/>
            </a:pPr>
            <a:r>
              <a:rPr b="0" i="1" lang="en-US" sz="3400" u="none">
                <a:solidFill>
                  <a:srgbClr val="663300"/>
                </a:solidFill>
                <a:latin typeface="Times New Roman"/>
                <a:ea typeface="Times New Roman"/>
                <a:cs typeface="Times New Roman"/>
                <a:sym typeface="Times New Roman"/>
              </a:rPr>
              <a:t>Associativity of Matrix Multiplication</a:t>
            </a:r>
            <a:endParaRPr sz="3100"/>
          </a:p>
        </p:txBody>
      </p:sp>
      <p:sp>
        <p:nvSpPr>
          <p:cNvPr id="861" name="Google Shape;861;p58"/>
          <p:cNvSpPr txBox="1"/>
          <p:nvPr/>
        </p:nvSpPr>
        <p:spPr>
          <a:xfrm>
            <a:off x="990600" y="1085850"/>
            <a:ext cx="7365900" cy="1593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1700" u="none" cap="none" strike="noStrike">
                <a:solidFill>
                  <a:schemeClr val="dk1"/>
                </a:solidFill>
                <a:latin typeface="Tahoma"/>
                <a:ea typeface="Tahoma"/>
                <a:cs typeface="Tahoma"/>
                <a:sym typeface="Tahoma"/>
              </a:rPr>
              <a:t>Create new affine transformations by multiplying sequences of the above basic transformations.</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2000"/>
              <a:buFont typeface="Times New Roman"/>
              <a:buNone/>
            </a:pPr>
            <a:r>
              <a:rPr b="0" i="0" lang="en-US" sz="1700" u="none" cap="none" strike="noStrike">
                <a:solidFill>
                  <a:schemeClr val="dk1"/>
                </a:solidFill>
                <a:latin typeface="Times New Roman"/>
                <a:ea typeface="Times New Roman"/>
                <a:cs typeface="Times New Roman"/>
                <a:sym typeface="Times New Roman"/>
              </a:rPr>
              <a:t>    	</a:t>
            </a:r>
            <a:r>
              <a:rPr b="1" i="0" lang="en-US" sz="1700" u="none" cap="none" strike="noStrike">
                <a:solidFill>
                  <a:schemeClr val="dk1"/>
                </a:solidFill>
                <a:latin typeface="Times New Roman"/>
                <a:ea typeface="Times New Roman"/>
                <a:cs typeface="Times New Roman"/>
                <a:sym typeface="Times New Roman"/>
              </a:rPr>
              <a:t>q</a:t>
            </a:r>
            <a:r>
              <a:rPr b="0" i="0" lang="en-US" sz="1700" u="none" cap="none" strike="noStrike">
                <a:solidFill>
                  <a:schemeClr val="dk1"/>
                </a:solidFill>
                <a:latin typeface="Times New Roman"/>
                <a:ea typeface="Times New Roman"/>
                <a:cs typeface="Times New Roman"/>
                <a:sym typeface="Times New Roman"/>
              </a:rPr>
              <a:t> = </a:t>
            </a:r>
            <a:r>
              <a:rPr b="1" i="0" lang="en-US" sz="1700" u="none" cap="none" strike="noStrike">
                <a:solidFill>
                  <a:schemeClr val="dk1"/>
                </a:solidFill>
                <a:latin typeface="Arial"/>
                <a:ea typeface="Arial"/>
                <a:cs typeface="Arial"/>
                <a:sym typeface="Arial"/>
              </a:rPr>
              <a:t>CBA</a:t>
            </a:r>
            <a:r>
              <a:rPr b="1" i="0" lang="en-US" sz="1700" u="none" cap="none" strike="noStrike">
                <a:solidFill>
                  <a:schemeClr val="dk1"/>
                </a:solidFill>
                <a:latin typeface="Times New Roman"/>
                <a:ea typeface="Times New Roman"/>
                <a:cs typeface="Times New Roman"/>
                <a:sym typeface="Times New Roman"/>
              </a:rPr>
              <a:t>p</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2000"/>
              <a:buFont typeface="Times New Roman"/>
              <a:buNone/>
            </a:pPr>
            <a:r>
              <a:rPr b="0" i="0" lang="en-US" sz="1700" u="none" cap="none" strike="noStrike">
                <a:solidFill>
                  <a:schemeClr val="dk1"/>
                </a:solidFill>
                <a:latin typeface="Times New Roman"/>
                <a:ea typeface="Times New Roman"/>
                <a:cs typeface="Times New Roman"/>
                <a:sym typeface="Times New Roman"/>
              </a:rPr>
              <a:t>	</a:t>
            </a:r>
            <a:r>
              <a:rPr b="1" i="0" lang="en-US" sz="1700" u="none" cap="none" strike="noStrike">
                <a:solidFill>
                  <a:schemeClr val="dk1"/>
                </a:solidFill>
                <a:latin typeface="Times New Roman"/>
                <a:ea typeface="Times New Roman"/>
                <a:cs typeface="Times New Roman"/>
                <a:sym typeface="Times New Roman"/>
              </a:rPr>
              <a:t>q</a:t>
            </a:r>
            <a:r>
              <a:rPr b="0" i="0" lang="en-US" sz="1700" u="none" cap="none" strike="noStrike">
                <a:solidFill>
                  <a:schemeClr val="dk1"/>
                </a:solidFill>
                <a:latin typeface="Times New Roman"/>
                <a:ea typeface="Times New Roman"/>
                <a:cs typeface="Times New Roman"/>
                <a:sym typeface="Times New Roman"/>
              </a:rPr>
              <a:t>  =  ( (</a:t>
            </a:r>
            <a:r>
              <a:rPr b="1" i="0" lang="en-US" sz="1700" u="none" cap="none" strike="noStrike">
                <a:solidFill>
                  <a:schemeClr val="dk1"/>
                </a:solidFill>
                <a:latin typeface="Arial"/>
                <a:ea typeface="Arial"/>
                <a:cs typeface="Arial"/>
                <a:sym typeface="Arial"/>
              </a:rPr>
              <a:t>CB</a:t>
            </a:r>
            <a:r>
              <a:rPr b="0" i="0" lang="en-US" sz="1700" u="none" cap="none" strike="noStrike">
                <a:solidFill>
                  <a:schemeClr val="dk1"/>
                </a:solidFill>
                <a:latin typeface="Times New Roman"/>
                <a:ea typeface="Times New Roman"/>
                <a:cs typeface="Times New Roman"/>
                <a:sym typeface="Times New Roman"/>
              </a:rPr>
              <a:t>) </a:t>
            </a:r>
            <a:r>
              <a:rPr b="1" i="0" lang="en-US" sz="1700" u="none" cap="none" strike="noStrike">
                <a:solidFill>
                  <a:schemeClr val="dk1"/>
                </a:solidFill>
                <a:latin typeface="Arial"/>
                <a:ea typeface="Arial"/>
                <a:cs typeface="Arial"/>
                <a:sym typeface="Arial"/>
              </a:rPr>
              <a:t>A</a:t>
            </a:r>
            <a:r>
              <a:rPr b="0" i="0" lang="en-US" sz="1700" u="none" cap="none" strike="noStrike">
                <a:solidFill>
                  <a:schemeClr val="dk1"/>
                </a:solidFill>
                <a:latin typeface="Times New Roman"/>
                <a:ea typeface="Times New Roman"/>
                <a:cs typeface="Times New Roman"/>
                <a:sym typeface="Times New Roman"/>
              </a:rPr>
              <a:t>) </a:t>
            </a:r>
            <a:r>
              <a:rPr b="1" i="0" lang="en-US" sz="1700" u="none" cap="none" strike="noStrike">
                <a:solidFill>
                  <a:schemeClr val="dk1"/>
                </a:solidFill>
                <a:latin typeface="Times New Roman"/>
                <a:ea typeface="Times New Roman"/>
                <a:cs typeface="Times New Roman"/>
                <a:sym typeface="Times New Roman"/>
              </a:rPr>
              <a:t>p</a:t>
            </a:r>
            <a:r>
              <a:rPr b="0" i="0" lang="en-US" sz="1700" u="none" cap="none" strike="noStrike">
                <a:solidFill>
                  <a:schemeClr val="dk1"/>
                </a:solidFill>
                <a:latin typeface="Times New Roman"/>
                <a:ea typeface="Times New Roman"/>
                <a:cs typeface="Times New Roman"/>
                <a:sym typeface="Times New Roman"/>
              </a:rPr>
              <a:t> = (</a:t>
            </a:r>
            <a:r>
              <a:rPr b="1" i="0" lang="en-US" sz="1700" u="none" cap="none" strike="noStrike">
                <a:solidFill>
                  <a:schemeClr val="dk1"/>
                </a:solidFill>
                <a:latin typeface="Arial"/>
                <a:ea typeface="Arial"/>
                <a:cs typeface="Arial"/>
                <a:sym typeface="Arial"/>
              </a:rPr>
              <a:t>C</a:t>
            </a:r>
            <a:r>
              <a:rPr b="0" i="0" lang="en-US" sz="1700" u="none" cap="none" strike="noStrike">
                <a:solidFill>
                  <a:schemeClr val="dk1"/>
                </a:solidFill>
                <a:latin typeface="Times New Roman"/>
                <a:ea typeface="Times New Roman"/>
                <a:cs typeface="Times New Roman"/>
                <a:sym typeface="Times New Roman"/>
              </a:rPr>
              <a:t> (</a:t>
            </a:r>
            <a:r>
              <a:rPr b="1" i="0" lang="en-US" sz="1700" u="none" cap="none" strike="noStrike">
                <a:solidFill>
                  <a:schemeClr val="dk1"/>
                </a:solidFill>
                <a:latin typeface="Arial"/>
                <a:ea typeface="Arial"/>
                <a:cs typeface="Arial"/>
                <a:sym typeface="Arial"/>
              </a:rPr>
              <a:t>B A</a:t>
            </a:r>
            <a:r>
              <a:rPr b="0" i="0" lang="en-US" sz="1700" u="none" cap="none" strike="noStrike">
                <a:solidFill>
                  <a:schemeClr val="dk1"/>
                </a:solidFill>
                <a:latin typeface="Times New Roman"/>
                <a:ea typeface="Times New Roman"/>
                <a:cs typeface="Times New Roman"/>
                <a:sym typeface="Times New Roman"/>
              </a:rPr>
              <a:t>))</a:t>
            </a:r>
            <a:r>
              <a:rPr b="1" i="0" lang="en-US" sz="1700" u="none" cap="none" strike="noStrike">
                <a:solidFill>
                  <a:schemeClr val="dk1"/>
                </a:solidFill>
                <a:latin typeface="Times New Roman"/>
                <a:ea typeface="Times New Roman"/>
                <a:cs typeface="Times New Roman"/>
                <a:sym typeface="Times New Roman"/>
              </a:rPr>
              <a:t>p</a:t>
            </a:r>
            <a:r>
              <a:rPr b="0" i="0" lang="en-US" sz="1700" u="none" cap="none" strike="noStrike">
                <a:solidFill>
                  <a:schemeClr val="dk1"/>
                </a:solidFill>
                <a:latin typeface="Times New Roman"/>
                <a:ea typeface="Times New Roman"/>
                <a:cs typeface="Times New Roman"/>
                <a:sym typeface="Times New Roman"/>
              </a:rPr>
              <a:t> = </a:t>
            </a:r>
            <a:r>
              <a:rPr b="1" i="0" lang="en-US" sz="1700" u="none" cap="none" strike="noStrike">
                <a:solidFill>
                  <a:schemeClr val="dk1"/>
                </a:solidFill>
                <a:latin typeface="Arial"/>
                <a:ea typeface="Arial"/>
                <a:cs typeface="Arial"/>
                <a:sym typeface="Arial"/>
              </a:rPr>
              <a:t>C</a:t>
            </a:r>
            <a:r>
              <a:rPr b="0" i="0" lang="en-US" sz="1700" u="none" cap="none" strike="noStrike">
                <a:solidFill>
                  <a:schemeClr val="dk1"/>
                </a:solidFill>
                <a:latin typeface="Times New Roman"/>
                <a:ea typeface="Times New Roman"/>
                <a:cs typeface="Times New Roman"/>
                <a:sym typeface="Times New Roman"/>
              </a:rPr>
              <a:t> (</a:t>
            </a:r>
            <a:r>
              <a:rPr b="1" i="0" lang="en-US" sz="1700" u="none" cap="none" strike="noStrike">
                <a:solidFill>
                  <a:schemeClr val="dk1"/>
                </a:solidFill>
                <a:latin typeface="Arial"/>
                <a:ea typeface="Arial"/>
                <a:cs typeface="Arial"/>
                <a:sym typeface="Arial"/>
              </a:rPr>
              <a:t>B</a:t>
            </a:r>
            <a:r>
              <a:rPr b="0" i="0" lang="en-US" sz="1700" u="none" cap="none" strike="noStrike">
                <a:solidFill>
                  <a:schemeClr val="dk1"/>
                </a:solidFill>
                <a:latin typeface="Times New Roman"/>
                <a:ea typeface="Times New Roman"/>
                <a:cs typeface="Times New Roman"/>
                <a:sym typeface="Times New Roman"/>
              </a:rPr>
              <a:t> (</a:t>
            </a:r>
            <a:r>
              <a:rPr b="1" i="0" lang="en-US" sz="1700" u="none" cap="none" strike="noStrike">
                <a:solidFill>
                  <a:schemeClr val="dk1"/>
                </a:solidFill>
                <a:latin typeface="Arial"/>
                <a:ea typeface="Arial"/>
                <a:cs typeface="Arial"/>
                <a:sym typeface="Arial"/>
              </a:rPr>
              <a:t>A</a:t>
            </a:r>
            <a:r>
              <a:rPr b="1" i="0" lang="en-US" sz="1700" u="none" cap="none" strike="noStrike">
                <a:solidFill>
                  <a:schemeClr val="dk1"/>
                </a:solidFill>
                <a:latin typeface="Times New Roman"/>
                <a:ea typeface="Times New Roman"/>
                <a:cs typeface="Times New Roman"/>
                <a:sym typeface="Times New Roman"/>
              </a:rPr>
              <a:t>p</a:t>
            </a:r>
            <a:r>
              <a:rPr b="0" i="0" lang="en-US" sz="1700" u="none" cap="none" strike="noStrike">
                <a:solidFill>
                  <a:schemeClr val="dk1"/>
                </a:solidFill>
                <a:latin typeface="Times New Roman"/>
                <a:ea typeface="Times New Roman"/>
                <a:cs typeface="Times New Roman"/>
                <a:sym typeface="Times New Roman"/>
              </a:rPr>
              <a:t>) ) etc.</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2000"/>
              <a:buFont typeface="Times New Roman"/>
              <a:buNone/>
            </a:pPr>
            <a:r>
              <a:rPr b="0" i="0" lang="en-US" sz="1700" u="none" cap="none" strike="noStrike">
                <a:solidFill>
                  <a:schemeClr val="dk1"/>
                </a:solidFill>
                <a:latin typeface="Times New Roman"/>
                <a:ea typeface="Times New Roman"/>
                <a:cs typeface="Times New Roman"/>
                <a:sym typeface="Times New Roman"/>
              </a:rPr>
              <a:t> 		</a:t>
            </a:r>
            <a:r>
              <a:rPr b="0" i="0" lang="en-US" sz="1700" u="none" cap="none" strike="noStrike">
                <a:solidFill>
                  <a:schemeClr val="dk1"/>
                </a:solidFill>
                <a:latin typeface="Tahoma"/>
                <a:ea typeface="Tahoma"/>
                <a:cs typeface="Tahoma"/>
                <a:sym typeface="Tahoma"/>
              </a:rPr>
              <a:t>matrix multiplication is associative.</a:t>
            </a:r>
            <a:endParaRPr b="0" i="0" sz="1100" u="none" cap="none" strike="noStrike">
              <a:solidFill>
                <a:srgbClr val="000000"/>
              </a:solidFill>
              <a:latin typeface="Arial"/>
              <a:ea typeface="Arial"/>
              <a:cs typeface="Arial"/>
              <a:sym typeface="Arial"/>
            </a:endParaRPr>
          </a:p>
        </p:txBody>
      </p:sp>
      <p:sp>
        <p:nvSpPr>
          <p:cNvPr id="862" name="Google Shape;862;p58"/>
          <p:cNvSpPr txBox="1"/>
          <p:nvPr/>
        </p:nvSpPr>
        <p:spPr>
          <a:xfrm>
            <a:off x="990600" y="3124200"/>
            <a:ext cx="7239000" cy="105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Tahoma"/>
              <a:buNone/>
            </a:pPr>
            <a:r>
              <a:rPr b="0" i="0" lang="en-US" sz="1800" u="none" cap="none" strike="noStrike">
                <a:solidFill>
                  <a:schemeClr val="dk1"/>
                </a:solidFill>
                <a:latin typeface="Tahoma"/>
                <a:ea typeface="Tahoma"/>
                <a:cs typeface="Tahoma"/>
                <a:sym typeface="Tahoma"/>
              </a:rPr>
              <a:t>But to transform many points, best to do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2000"/>
              <a:buFont typeface="Times New Roman"/>
              <a:buNone/>
            </a:pPr>
            <a:r>
              <a:rPr b="0" i="0" lang="en-US" sz="18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Arial"/>
                <a:ea typeface="Arial"/>
                <a:cs typeface="Arial"/>
                <a:sym typeface="Arial"/>
              </a:rPr>
              <a:t>M </a:t>
            </a:r>
            <a:r>
              <a:rPr b="0" i="0" lang="en-US" sz="18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Arial"/>
                <a:ea typeface="Arial"/>
                <a:cs typeface="Arial"/>
                <a:sym typeface="Arial"/>
              </a:rPr>
              <a:t>CBA</a:t>
            </a:r>
            <a:r>
              <a:rPr b="0" i="0" lang="en-US" sz="1800" u="none" cap="none" strike="noStrike">
                <a:solidFill>
                  <a:schemeClr val="dk1"/>
                </a:solidFill>
                <a:latin typeface="Times New Roman"/>
                <a:ea typeface="Times New Roman"/>
                <a:cs typeface="Times New Roman"/>
                <a:sym typeface="Times New Roman"/>
              </a:rPr>
              <a:t>                     </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500"/>
              </a:spcBef>
              <a:spcAft>
                <a:spcPts val="0"/>
              </a:spcAft>
              <a:buClr>
                <a:schemeClr val="dk1"/>
              </a:buClr>
              <a:buSzPts val="2000"/>
              <a:buFont typeface="Tahoma"/>
              <a:buNone/>
            </a:pPr>
            <a:r>
              <a:rPr b="0" i="0" lang="en-US" sz="1800" u="none" cap="none" strike="noStrike">
                <a:solidFill>
                  <a:schemeClr val="dk1"/>
                </a:solidFill>
                <a:latin typeface="Tahoma"/>
                <a:ea typeface="Tahoma"/>
                <a:cs typeface="Tahoma"/>
                <a:sym typeface="Tahoma"/>
              </a:rPr>
              <a:t>then do </a:t>
            </a:r>
            <a:r>
              <a:rPr b="0" i="0" lang="en-US" sz="18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Times New Roman"/>
                <a:ea typeface="Times New Roman"/>
                <a:cs typeface="Times New Roman"/>
                <a:sym typeface="Times New Roman"/>
              </a:rPr>
              <a:t>q </a:t>
            </a:r>
            <a:r>
              <a:rPr b="0" i="0" lang="en-US" sz="1800" u="none" cap="none" strike="noStrike">
                <a:solidFill>
                  <a:schemeClr val="dk1"/>
                </a:solidFill>
                <a:latin typeface="Times New Roman"/>
                <a:ea typeface="Times New Roman"/>
                <a:cs typeface="Times New Roman"/>
                <a:sym typeface="Times New Roman"/>
              </a:rPr>
              <a:t>= </a:t>
            </a:r>
            <a:r>
              <a:rPr b="1" i="0" lang="en-US" sz="1800" u="none" cap="none" strike="noStrike">
                <a:solidFill>
                  <a:schemeClr val="dk1"/>
                </a:solidFill>
                <a:latin typeface="Arial"/>
                <a:ea typeface="Arial"/>
                <a:cs typeface="Arial"/>
                <a:sym typeface="Arial"/>
              </a:rPr>
              <a:t>M</a:t>
            </a:r>
            <a:r>
              <a:rPr b="1" i="0" lang="en-US" sz="1800" u="none" cap="none" strike="noStrike">
                <a:solidFill>
                  <a:schemeClr val="dk1"/>
                </a:solidFill>
                <a:latin typeface="Times New Roman"/>
                <a:ea typeface="Times New Roman"/>
                <a:cs typeface="Times New Roman"/>
                <a:sym typeface="Times New Roman"/>
              </a:rPr>
              <a:t>p           </a:t>
            </a:r>
            <a:r>
              <a:rPr b="0" i="0" lang="en-US" sz="1800" u="none" cap="none" strike="noStrike">
                <a:solidFill>
                  <a:schemeClr val="dk1"/>
                </a:solidFill>
                <a:latin typeface="Tahoma"/>
                <a:ea typeface="Tahoma"/>
                <a:cs typeface="Tahoma"/>
                <a:sym typeface="Tahoma"/>
              </a:rPr>
              <a:t>for any point </a:t>
            </a:r>
            <a:r>
              <a:rPr b="1" i="0" lang="en-US" sz="1800" u="none" cap="none" strike="noStrike">
                <a:solidFill>
                  <a:schemeClr val="dk1"/>
                </a:solidFill>
                <a:latin typeface="Tahoma"/>
                <a:ea typeface="Tahoma"/>
                <a:cs typeface="Tahoma"/>
                <a:sym typeface="Tahoma"/>
              </a:rPr>
              <a:t>p </a:t>
            </a:r>
            <a:r>
              <a:rPr b="0" i="0" lang="en-US" sz="1800" u="none" cap="none" strike="noStrike">
                <a:solidFill>
                  <a:schemeClr val="dk1"/>
                </a:solidFill>
                <a:latin typeface="Tahoma"/>
                <a:ea typeface="Tahoma"/>
                <a:cs typeface="Tahoma"/>
                <a:sym typeface="Tahoma"/>
              </a:rPr>
              <a:t>to be rendered.</a:t>
            </a:r>
            <a:endParaRPr b="0" i="0" sz="1200" u="none" cap="none" strike="noStrike">
              <a:solidFill>
                <a:srgbClr val="000000"/>
              </a:solidFill>
              <a:latin typeface="Arial"/>
              <a:ea typeface="Arial"/>
              <a:cs typeface="Arial"/>
              <a:sym typeface="Arial"/>
            </a:endParaRPr>
          </a:p>
        </p:txBody>
      </p:sp>
      <p:sp>
        <p:nvSpPr>
          <p:cNvPr id="863" name="Google Shape;863;p58"/>
          <p:cNvSpPr txBox="1"/>
          <p:nvPr/>
        </p:nvSpPr>
        <p:spPr>
          <a:xfrm>
            <a:off x="977850" y="2765925"/>
            <a:ext cx="7391400" cy="354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3300"/>
              </a:buClr>
              <a:buSzPts val="2000"/>
              <a:buFont typeface="Tahoma"/>
              <a:buNone/>
            </a:pPr>
            <a:r>
              <a:rPr b="0" i="0" lang="en-US" sz="1700" u="none" cap="none" strike="noStrike">
                <a:solidFill>
                  <a:srgbClr val="CC3300"/>
                </a:solidFill>
                <a:latin typeface="Tahoma"/>
                <a:ea typeface="Tahoma"/>
                <a:cs typeface="Tahoma"/>
                <a:sym typeface="Tahoma"/>
              </a:rPr>
              <a:t>To transform just a point, better to do</a:t>
            </a:r>
            <a:r>
              <a:rPr b="0" i="0" lang="en-US" sz="1700" u="none" cap="none" strike="noStrike">
                <a:solidFill>
                  <a:srgbClr val="CC3300"/>
                </a:solidFill>
                <a:latin typeface="Times New Roman"/>
                <a:ea typeface="Times New Roman"/>
                <a:cs typeface="Times New Roman"/>
                <a:sym typeface="Times New Roman"/>
              </a:rPr>
              <a:t>    </a:t>
            </a:r>
            <a:r>
              <a:rPr b="1" i="0" lang="en-US" sz="1700" u="none" cap="none" strike="noStrike">
                <a:solidFill>
                  <a:srgbClr val="CC3300"/>
                </a:solidFill>
                <a:latin typeface="Times New Roman"/>
                <a:ea typeface="Times New Roman"/>
                <a:cs typeface="Times New Roman"/>
                <a:sym typeface="Times New Roman"/>
              </a:rPr>
              <a:t>q</a:t>
            </a:r>
            <a:r>
              <a:rPr b="0" i="0" lang="en-US" sz="1700" u="none" cap="none" strike="noStrike">
                <a:solidFill>
                  <a:srgbClr val="CC3300"/>
                </a:solidFill>
                <a:latin typeface="Times New Roman"/>
                <a:ea typeface="Times New Roman"/>
                <a:cs typeface="Times New Roman"/>
                <a:sym typeface="Times New Roman"/>
              </a:rPr>
              <a:t> = </a:t>
            </a:r>
            <a:r>
              <a:rPr b="1" i="0" lang="en-US" sz="1700" u="none" cap="none" strike="noStrike">
                <a:solidFill>
                  <a:srgbClr val="CC3300"/>
                </a:solidFill>
                <a:latin typeface="Arial"/>
                <a:ea typeface="Arial"/>
                <a:cs typeface="Arial"/>
                <a:sym typeface="Arial"/>
              </a:rPr>
              <a:t>C</a:t>
            </a:r>
            <a:r>
              <a:rPr b="0" i="0" lang="en-US" sz="1700" u="none" cap="none" strike="noStrike">
                <a:solidFill>
                  <a:srgbClr val="CC3300"/>
                </a:solidFill>
                <a:latin typeface="Times New Roman"/>
                <a:ea typeface="Times New Roman"/>
                <a:cs typeface="Times New Roman"/>
                <a:sym typeface="Times New Roman"/>
              </a:rPr>
              <a:t>(</a:t>
            </a:r>
            <a:r>
              <a:rPr b="1" i="0" lang="en-US" sz="1700" u="none" cap="none" strike="noStrike">
                <a:solidFill>
                  <a:srgbClr val="CC3300"/>
                </a:solidFill>
                <a:latin typeface="Arial"/>
                <a:ea typeface="Arial"/>
                <a:cs typeface="Arial"/>
                <a:sym typeface="Arial"/>
              </a:rPr>
              <a:t>B</a:t>
            </a:r>
            <a:r>
              <a:rPr b="0" i="0" lang="en-US" sz="1700" u="none" cap="none" strike="noStrike">
                <a:solidFill>
                  <a:srgbClr val="CC3300"/>
                </a:solidFill>
                <a:latin typeface="Times New Roman"/>
                <a:ea typeface="Times New Roman"/>
                <a:cs typeface="Times New Roman"/>
                <a:sym typeface="Times New Roman"/>
              </a:rPr>
              <a:t>(</a:t>
            </a:r>
            <a:r>
              <a:rPr b="1" i="0" lang="en-US" sz="1700" u="none" cap="none" strike="noStrike">
                <a:solidFill>
                  <a:srgbClr val="CC3300"/>
                </a:solidFill>
                <a:latin typeface="Arial"/>
                <a:ea typeface="Arial"/>
                <a:cs typeface="Arial"/>
                <a:sym typeface="Arial"/>
              </a:rPr>
              <a:t>A</a:t>
            </a:r>
            <a:r>
              <a:rPr b="1" i="0" lang="en-US" sz="1700" u="none" cap="none" strike="noStrike">
                <a:solidFill>
                  <a:srgbClr val="CC3300"/>
                </a:solidFill>
                <a:latin typeface="Times New Roman"/>
                <a:ea typeface="Times New Roman"/>
                <a:cs typeface="Times New Roman"/>
                <a:sym typeface="Times New Roman"/>
              </a:rPr>
              <a:t>p</a:t>
            </a:r>
            <a:r>
              <a:rPr b="0" i="0" lang="en-US" sz="1700" u="none" cap="none" strike="noStrike">
                <a:solidFill>
                  <a:srgbClr val="CC3300"/>
                </a:solidFill>
                <a:latin typeface="Times New Roman"/>
                <a:ea typeface="Times New Roman"/>
                <a:cs typeface="Times New Roman"/>
                <a:sym typeface="Times New Roman"/>
              </a:rPr>
              <a:t>))</a:t>
            </a:r>
            <a:endParaRPr b="0" i="0" sz="1100" u="none" cap="none" strike="noStrike">
              <a:solidFill>
                <a:srgbClr val="000000"/>
              </a:solidFill>
              <a:latin typeface="Arial"/>
              <a:ea typeface="Arial"/>
              <a:cs typeface="Arial"/>
              <a:sym typeface="Arial"/>
            </a:endParaRPr>
          </a:p>
        </p:txBody>
      </p:sp>
      <p:sp>
        <p:nvSpPr>
          <p:cNvPr id="864" name="Google Shape;864;p58"/>
          <p:cNvSpPr txBox="1"/>
          <p:nvPr/>
        </p:nvSpPr>
        <p:spPr>
          <a:xfrm>
            <a:off x="990600" y="4268400"/>
            <a:ext cx="7239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3300"/>
              </a:buClr>
              <a:buSzPts val="2000"/>
              <a:buFont typeface="Tahoma"/>
              <a:buNone/>
            </a:pPr>
            <a:r>
              <a:rPr b="0" i="0" lang="en-US" sz="1600" u="none" cap="none" strike="noStrike">
                <a:solidFill>
                  <a:srgbClr val="CC3300"/>
                </a:solidFill>
                <a:latin typeface="Tahoma"/>
                <a:ea typeface="Tahoma"/>
                <a:cs typeface="Tahoma"/>
                <a:sym typeface="Tahoma"/>
              </a:rPr>
              <a:t>For geometric pipeline transformation, define </a:t>
            </a:r>
            <a:r>
              <a:rPr b="1" i="0" lang="en-US" sz="1600" u="none" cap="none" strike="noStrike">
                <a:solidFill>
                  <a:srgbClr val="CC3300"/>
                </a:solidFill>
                <a:latin typeface="Tahoma"/>
                <a:ea typeface="Tahoma"/>
                <a:cs typeface="Tahoma"/>
                <a:sym typeface="Tahoma"/>
              </a:rPr>
              <a:t>M</a:t>
            </a:r>
            <a:r>
              <a:rPr b="0" i="0" lang="en-US" sz="1600" u="none" cap="none" strike="noStrike">
                <a:solidFill>
                  <a:srgbClr val="CC3300"/>
                </a:solidFill>
                <a:latin typeface="Tahoma"/>
                <a:ea typeface="Tahoma"/>
                <a:cs typeface="Tahoma"/>
                <a:sym typeface="Tahoma"/>
              </a:rPr>
              <a:t> and set it up with the model-view matrix and apply it to any vertex subsequently defined to its setting.</a:t>
            </a:r>
            <a:endParaRPr b="0" i="0" sz="1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1"/>
                                        </p:tgtEl>
                                        <p:attrNameLst>
                                          <p:attrName>style.visibility</p:attrName>
                                        </p:attrNameLst>
                                      </p:cBhvr>
                                      <p:to>
                                        <p:strVal val="visible"/>
                                      </p:to>
                                    </p:set>
                                    <p:anim calcmode="lin" valueType="num">
                                      <p:cBhvr additive="base">
                                        <p:cTn dur="500"/>
                                        <p:tgtEl>
                                          <p:spTgt spid="86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3"/>
                                        </p:tgtEl>
                                        <p:attrNameLst>
                                          <p:attrName>style.visibility</p:attrName>
                                        </p:attrNameLst>
                                      </p:cBhvr>
                                      <p:to>
                                        <p:strVal val="visible"/>
                                      </p:to>
                                    </p:set>
                                    <p:anim calcmode="lin" valueType="num">
                                      <p:cBhvr additive="base">
                                        <p:cTn dur="500"/>
                                        <p:tgtEl>
                                          <p:spTgt spid="86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2"/>
                                        </p:tgtEl>
                                        <p:attrNameLst>
                                          <p:attrName>style.visibility</p:attrName>
                                        </p:attrNameLst>
                                      </p:cBhvr>
                                      <p:to>
                                        <p:strVal val="visible"/>
                                      </p:to>
                                    </p:set>
                                    <p:anim calcmode="lin" valueType="num">
                                      <p:cBhvr additive="base">
                                        <p:cTn dur="500"/>
                                        <p:tgtEl>
                                          <p:spTgt spid="86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64"/>
                                        </p:tgtEl>
                                        <p:attrNameLst>
                                          <p:attrName>style.visibility</p:attrName>
                                        </p:attrNameLst>
                                      </p:cBhvr>
                                      <p:to>
                                        <p:strVal val="visible"/>
                                      </p:to>
                                    </p:set>
                                    <p:anim calcmode="lin" valueType="num">
                                      <p:cBhvr additive="base">
                                        <p:cTn dur="500"/>
                                        <p:tgtEl>
                                          <p:spTgt spid="86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59"/>
          <p:cNvSpPr txBox="1"/>
          <p:nvPr>
            <p:ph type="ctrTitle"/>
          </p:nvPr>
        </p:nvSpPr>
        <p:spPr>
          <a:xfrm>
            <a:off x="1143000" y="841772"/>
            <a:ext cx="6858000" cy="17907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Example Composite Transforms</a:t>
            </a:r>
            <a:endParaRPr/>
          </a:p>
        </p:txBody>
      </p:sp>
      <p:sp>
        <p:nvSpPr>
          <p:cNvPr id="870" name="Google Shape;870;p59"/>
          <p:cNvSpPr txBox="1"/>
          <p:nvPr/>
        </p:nvSpPr>
        <p:spPr>
          <a:xfrm>
            <a:off x="7391400" y="4762500"/>
            <a:ext cx="1724100" cy="342900"/>
          </a:xfrm>
          <a:prstGeom prst="rect">
            <a:avLst/>
          </a:prstGeom>
          <a:noFill/>
          <a:ln>
            <a:noFill/>
          </a:ln>
        </p:spPr>
        <p:txBody>
          <a:bodyPr anchorCtr="0" anchor="b"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60"/>
          <p:cNvSpPr txBox="1"/>
          <p:nvPr>
            <p:ph type="title"/>
          </p:nvPr>
        </p:nvSpPr>
        <p:spPr>
          <a:xfrm>
            <a:off x="946925" y="415250"/>
            <a:ext cx="7772400" cy="6288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Rotation of θ about P(h,k): R</a:t>
            </a:r>
            <a:r>
              <a:rPr b="0" baseline="-25000" i="1" lang="en-US" sz="4400" u="none">
                <a:solidFill>
                  <a:srgbClr val="663300"/>
                </a:solidFill>
                <a:latin typeface="Times New Roman"/>
                <a:ea typeface="Times New Roman"/>
                <a:cs typeface="Times New Roman"/>
                <a:sym typeface="Times New Roman"/>
              </a:rPr>
              <a:t>θ,P</a:t>
            </a:r>
            <a:endParaRPr/>
          </a:p>
        </p:txBody>
      </p:sp>
      <p:sp>
        <p:nvSpPr>
          <p:cNvPr id="876" name="Google Shape;876;p60"/>
          <p:cNvSpPr txBox="1"/>
          <p:nvPr/>
        </p:nvSpPr>
        <p:spPr>
          <a:xfrm>
            <a:off x="1298075" y="3157463"/>
            <a:ext cx="99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R</a:t>
            </a:r>
            <a:r>
              <a:rPr b="1" baseline="-25000" i="0" lang="en-US" sz="2400" u="none" cap="none" strike="noStrike">
                <a:solidFill>
                  <a:schemeClr val="dk1"/>
                </a:solidFill>
                <a:latin typeface="Tahoma"/>
                <a:ea typeface="Tahoma"/>
                <a:cs typeface="Tahoma"/>
                <a:sym typeface="Tahoma"/>
              </a:rPr>
              <a:t>θ,P</a:t>
            </a:r>
            <a:r>
              <a:rPr b="1" i="0" lang="en-US" sz="2400" u="none" cap="none" strike="noStrike">
                <a:solidFill>
                  <a:schemeClr val="dk1"/>
                </a:solidFill>
                <a:latin typeface="Tahoma"/>
                <a:ea typeface="Tahoma"/>
                <a:cs typeface="Tahoma"/>
                <a:sym typeface="Tahoma"/>
              </a:rPr>
              <a:t>=</a:t>
            </a:r>
            <a:endParaRPr b="0" i="0" sz="1400" u="none" cap="none" strike="noStrike">
              <a:solidFill>
                <a:srgbClr val="000000"/>
              </a:solidFill>
              <a:latin typeface="Arial"/>
              <a:ea typeface="Arial"/>
              <a:cs typeface="Arial"/>
              <a:sym typeface="Arial"/>
            </a:endParaRPr>
          </a:p>
        </p:txBody>
      </p:sp>
      <p:grpSp>
        <p:nvGrpSpPr>
          <p:cNvPr id="877" name="Google Shape;877;p60"/>
          <p:cNvGrpSpPr/>
          <p:nvPr/>
        </p:nvGrpSpPr>
        <p:grpSpPr>
          <a:xfrm>
            <a:off x="1298075" y="2230285"/>
            <a:ext cx="7004911" cy="1284365"/>
            <a:chOff x="480" y="1286"/>
            <a:chExt cx="4412" cy="1078"/>
          </a:xfrm>
        </p:grpSpPr>
        <p:sp>
          <p:nvSpPr>
            <p:cNvPr id="878" name="Google Shape;878;p60"/>
            <p:cNvSpPr txBox="1"/>
            <p:nvPr/>
          </p:nvSpPr>
          <p:spPr>
            <a:xfrm>
              <a:off x="480" y="1632"/>
              <a:ext cx="3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Step 3:</a:t>
              </a:r>
              <a:r>
                <a:rPr b="0" i="0" lang="en-US" sz="2400" u="none" cap="none" strike="noStrike">
                  <a:solidFill>
                    <a:schemeClr val="dk1"/>
                  </a:solidFill>
                  <a:latin typeface="Tahoma"/>
                  <a:ea typeface="Tahoma"/>
                  <a:cs typeface="Tahoma"/>
                  <a:sym typeface="Tahoma"/>
                </a:rPr>
                <a:t> Translate (0,0) to P(h,k)</a:t>
              </a:r>
              <a:endParaRPr b="0" i="0" sz="1400" u="none" cap="none" strike="noStrike">
                <a:solidFill>
                  <a:srgbClr val="000000"/>
                </a:solidFill>
                <a:latin typeface="Arial"/>
                <a:ea typeface="Arial"/>
                <a:cs typeface="Arial"/>
                <a:sym typeface="Arial"/>
              </a:endParaRPr>
            </a:p>
          </p:txBody>
        </p:sp>
        <p:sp>
          <p:nvSpPr>
            <p:cNvPr id="879" name="Google Shape;879;p60"/>
            <p:cNvSpPr txBox="1"/>
            <p:nvPr/>
          </p:nvSpPr>
          <p:spPr>
            <a:xfrm>
              <a:off x="1056" y="2064"/>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T(h ,k) *</a:t>
              </a:r>
              <a:endParaRPr b="0" i="0" sz="1400" u="none" cap="none" strike="noStrike">
                <a:solidFill>
                  <a:srgbClr val="000000"/>
                </a:solidFill>
                <a:latin typeface="Arial"/>
                <a:ea typeface="Arial"/>
                <a:cs typeface="Arial"/>
                <a:sym typeface="Arial"/>
              </a:endParaRPr>
            </a:p>
          </p:txBody>
        </p:sp>
        <p:grpSp>
          <p:nvGrpSpPr>
            <p:cNvPr id="880" name="Google Shape;880;p60"/>
            <p:cNvGrpSpPr/>
            <p:nvPr/>
          </p:nvGrpSpPr>
          <p:grpSpPr>
            <a:xfrm rot="2160075">
              <a:off x="4405" y="1325"/>
              <a:ext cx="336" cy="624"/>
              <a:chOff x="686" y="3134"/>
              <a:chExt cx="336" cy="624"/>
            </a:xfrm>
          </p:grpSpPr>
          <p:sp>
            <p:nvSpPr>
              <p:cNvPr id="881" name="Google Shape;881;p60"/>
              <p:cNvSpPr/>
              <p:nvPr/>
            </p:nvSpPr>
            <p:spPr>
              <a:xfrm>
                <a:off x="1022" y="3134"/>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2" name="Google Shape;882;p60"/>
              <p:cNvSpPr/>
              <p:nvPr/>
            </p:nvSpPr>
            <p:spPr>
              <a:xfrm>
                <a:off x="686" y="3758"/>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883" name="Google Shape;883;p60"/>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grpSp>
        <p:nvGrpSpPr>
          <p:cNvPr id="884" name="Google Shape;884;p60"/>
          <p:cNvGrpSpPr/>
          <p:nvPr/>
        </p:nvGrpSpPr>
        <p:grpSpPr>
          <a:xfrm>
            <a:off x="1298075" y="2185912"/>
            <a:ext cx="6319111" cy="3339163"/>
            <a:chOff x="480" y="1248"/>
            <a:chExt cx="3980" cy="2804"/>
          </a:xfrm>
        </p:grpSpPr>
        <p:sp>
          <p:nvSpPr>
            <p:cNvPr id="885" name="Google Shape;885;p60"/>
            <p:cNvSpPr txBox="1"/>
            <p:nvPr/>
          </p:nvSpPr>
          <p:spPr>
            <a:xfrm>
              <a:off x="480" y="1248"/>
              <a:ext cx="3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Step 2:</a:t>
              </a:r>
              <a:r>
                <a:rPr b="0" i="0" lang="en-US" sz="2400" u="none" cap="none" strike="noStrike">
                  <a:solidFill>
                    <a:schemeClr val="dk1"/>
                  </a:solidFill>
                  <a:latin typeface="Tahoma"/>
                  <a:ea typeface="Tahoma"/>
                  <a:cs typeface="Tahoma"/>
                  <a:sym typeface="Tahoma"/>
                </a:rPr>
                <a:t> Rotate θ w.r.t to origin</a:t>
              </a:r>
              <a:endParaRPr b="0" i="0" sz="1400" u="none" cap="none" strike="noStrike">
                <a:solidFill>
                  <a:srgbClr val="000000"/>
                </a:solidFill>
                <a:latin typeface="Arial"/>
                <a:ea typeface="Arial"/>
                <a:cs typeface="Arial"/>
                <a:sym typeface="Arial"/>
              </a:endParaRPr>
            </a:p>
          </p:txBody>
        </p:sp>
        <p:sp>
          <p:nvSpPr>
            <p:cNvPr id="886" name="Google Shape;886;p60"/>
            <p:cNvSpPr txBox="1"/>
            <p:nvPr/>
          </p:nvSpPr>
          <p:spPr>
            <a:xfrm>
              <a:off x="1968" y="2064"/>
              <a:ext cx="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R</a:t>
              </a:r>
              <a:r>
                <a:rPr b="1" baseline="-25000" i="0" lang="en-US" sz="2400" u="none" cap="none" strike="noStrike">
                  <a:solidFill>
                    <a:schemeClr val="dk1"/>
                  </a:solidFill>
                  <a:latin typeface="Tahoma"/>
                  <a:ea typeface="Tahoma"/>
                  <a:cs typeface="Tahoma"/>
                  <a:sym typeface="Tahoma"/>
                </a:rPr>
                <a:t>θ</a:t>
              </a:r>
              <a:r>
                <a:rPr b="1" i="0" lang="en-US" sz="2400" u="none" cap="none" strike="noStrike">
                  <a:solidFill>
                    <a:schemeClr val="dk1"/>
                  </a:solidFill>
                  <a:latin typeface="Tahoma"/>
                  <a:ea typeface="Tahoma"/>
                  <a:cs typeface="Tahoma"/>
                  <a:sym typeface="Tahoma"/>
                </a:rPr>
                <a:t>*</a:t>
              </a:r>
              <a:endParaRPr b="0" i="0" sz="1400" u="none" cap="none" strike="noStrike">
                <a:solidFill>
                  <a:srgbClr val="000000"/>
                </a:solidFill>
                <a:latin typeface="Arial"/>
                <a:ea typeface="Arial"/>
                <a:cs typeface="Arial"/>
                <a:sym typeface="Arial"/>
              </a:endParaRPr>
            </a:p>
          </p:txBody>
        </p:sp>
        <p:grpSp>
          <p:nvGrpSpPr>
            <p:cNvPr id="887" name="Google Shape;887;p60"/>
            <p:cNvGrpSpPr/>
            <p:nvPr/>
          </p:nvGrpSpPr>
          <p:grpSpPr>
            <a:xfrm rot="2160075">
              <a:off x="3973" y="3389"/>
              <a:ext cx="336" cy="624"/>
              <a:chOff x="686" y="3134"/>
              <a:chExt cx="336" cy="624"/>
            </a:xfrm>
          </p:grpSpPr>
          <p:sp>
            <p:nvSpPr>
              <p:cNvPr id="888" name="Google Shape;888;p60"/>
              <p:cNvSpPr/>
              <p:nvPr/>
            </p:nvSpPr>
            <p:spPr>
              <a:xfrm>
                <a:off x="1022" y="3134"/>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89" name="Google Shape;889;p60"/>
              <p:cNvSpPr/>
              <p:nvPr/>
            </p:nvSpPr>
            <p:spPr>
              <a:xfrm>
                <a:off x="686" y="3758"/>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890" name="Google Shape;890;p60"/>
          <p:cNvGrpSpPr/>
          <p:nvPr/>
        </p:nvGrpSpPr>
        <p:grpSpPr>
          <a:xfrm>
            <a:off x="1298075" y="1728725"/>
            <a:ext cx="5928225" cy="3559950"/>
            <a:chOff x="480" y="864"/>
            <a:chExt cx="3000" cy="2990"/>
          </a:xfrm>
        </p:grpSpPr>
        <p:sp>
          <p:nvSpPr>
            <p:cNvPr id="891" name="Google Shape;891;p60"/>
            <p:cNvSpPr txBox="1"/>
            <p:nvPr/>
          </p:nvSpPr>
          <p:spPr>
            <a:xfrm>
              <a:off x="480" y="864"/>
              <a:ext cx="30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Step 1:</a:t>
              </a:r>
              <a:r>
                <a:rPr b="0" i="0" lang="en-US" sz="2400" u="none" cap="none" strike="noStrike">
                  <a:solidFill>
                    <a:schemeClr val="dk1"/>
                  </a:solidFill>
                  <a:latin typeface="Tahoma"/>
                  <a:ea typeface="Tahoma"/>
                  <a:cs typeface="Tahoma"/>
                  <a:sym typeface="Tahoma"/>
                </a:rPr>
                <a:t> Translate P(-h,-k) to origin</a:t>
              </a:r>
              <a:endParaRPr b="0" i="0" sz="1400" u="none" cap="none" strike="noStrike">
                <a:solidFill>
                  <a:srgbClr val="000000"/>
                </a:solidFill>
                <a:latin typeface="Arial"/>
                <a:ea typeface="Arial"/>
                <a:cs typeface="Arial"/>
                <a:sym typeface="Arial"/>
              </a:endParaRPr>
            </a:p>
          </p:txBody>
        </p:sp>
        <p:sp>
          <p:nvSpPr>
            <p:cNvPr id="892" name="Google Shape;892;p60"/>
            <p:cNvSpPr txBox="1"/>
            <p:nvPr/>
          </p:nvSpPr>
          <p:spPr>
            <a:xfrm>
              <a:off x="2092" y="2064"/>
              <a:ext cx="900" cy="300"/>
            </a:xfrm>
            <a:prstGeom prst="rect">
              <a:avLst/>
            </a:prstGeom>
            <a:noFill/>
            <a:ln>
              <a:noFill/>
            </a:ln>
          </p:spPr>
          <p:txBody>
            <a:bodyPr anchorCtr="0" anchor="t" bIns="45700" lIns="91425" spcFirstLastPara="1" rIns="0"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T(-h ,-k)</a:t>
              </a:r>
              <a:endParaRPr b="0" i="0" sz="1400" u="none" cap="none" strike="noStrike">
                <a:solidFill>
                  <a:srgbClr val="000000"/>
                </a:solidFill>
                <a:latin typeface="Arial"/>
                <a:ea typeface="Arial"/>
                <a:cs typeface="Arial"/>
                <a:sym typeface="Arial"/>
              </a:endParaRPr>
            </a:p>
          </p:txBody>
        </p:sp>
        <p:grpSp>
          <p:nvGrpSpPr>
            <p:cNvPr id="893" name="Google Shape;893;p60"/>
            <p:cNvGrpSpPr/>
            <p:nvPr/>
          </p:nvGrpSpPr>
          <p:grpSpPr>
            <a:xfrm>
              <a:off x="2064" y="3230"/>
              <a:ext cx="336" cy="624"/>
              <a:chOff x="3038" y="1310"/>
              <a:chExt cx="336" cy="624"/>
            </a:xfrm>
          </p:grpSpPr>
          <p:sp>
            <p:nvSpPr>
              <p:cNvPr id="894" name="Google Shape;894;p60"/>
              <p:cNvSpPr/>
              <p:nvPr/>
            </p:nvSpPr>
            <p:spPr>
              <a:xfrm>
                <a:off x="3374" y="1310"/>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895" name="Google Shape;895;p60"/>
              <p:cNvSpPr/>
              <p:nvPr/>
            </p:nvSpPr>
            <p:spPr>
              <a:xfrm>
                <a:off x="3038" y="1934"/>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75"/>
                                        </p:tgtEl>
                                        <p:attrNameLst>
                                          <p:attrName>style.visibility</p:attrName>
                                        </p:attrNameLst>
                                      </p:cBhvr>
                                      <p:to>
                                        <p:strVal val="visible"/>
                                      </p:to>
                                    </p:set>
                                    <p:animEffect filter="fade" transition="in">
                                      <p:cBhvr>
                                        <p:cTn dur="500"/>
                                        <p:tgtEl>
                                          <p:spTgt spid="8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grpSp>
        <p:nvGrpSpPr>
          <p:cNvPr id="900" name="Google Shape;900;p61"/>
          <p:cNvGrpSpPr/>
          <p:nvPr/>
        </p:nvGrpSpPr>
        <p:grpSpPr>
          <a:xfrm>
            <a:off x="5750657" y="3801436"/>
            <a:ext cx="607276" cy="736778"/>
            <a:chOff x="1727200" y="685800"/>
            <a:chExt cx="685800" cy="1143000"/>
          </a:xfrm>
        </p:grpSpPr>
        <p:sp>
          <p:nvSpPr>
            <p:cNvPr id="901" name="Google Shape;901;p61"/>
            <p:cNvSpPr/>
            <p:nvPr/>
          </p:nvSpPr>
          <p:spPr>
            <a:xfrm>
              <a:off x="2260600" y="6858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02" name="Google Shape;902;p61"/>
            <p:cNvSpPr/>
            <p:nvPr/>
          </p:nvSpPr>
          <p:spPr>
            <a:xfrm>
              <a:off x="1727200"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903" name="Google Shape;903;p61"/>
            <p:cNvCxnSpPr>
              <a:stCxn id="902" idx="7"/>
              <a:endCxn id="901" idx="3"/>
            </p:cNvCxnSpPr>
            <p:nvPr/>
          </p:nvCxnSpPr>
          <p:spPr>
            <a:xfrm flipH="1" rot="10800000">
              <a:off x="1857282" y="815818"/>
              <a:ext cx="425700" cy="8829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904" name="Google Shape;904;p61"/>
            <p:cNvCxnSpPr>
              <a:endCxn id="901" idx="4"/>
            </p:cNvCxnSpPr>
            <p:nvPr/>
          </p:nvCxnSpPr>
          <p:spPr>
            <a:xfrm flipH="1" rot="10800000">
              <a:off x="2290900" y="838200"/>
              <a:ext cx="45900" cy="9144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905" name="Google Shape;905;p61"/>
            <p:cNvCxnSpPr>
              <a:stCxn id="902" idx="6"/>
            </p:cNvCxnSpPr>
            <p:nvPr/>
          </p:nvCxnSpPr>
          <p:spPr>
            <a:xfrm>
              <a:off x="1879600" y="1752600"/>
              <a:ext cx="434100" cy="0"/>
            </a:xfrm>
            <a:prstGeom prst="straightConnector1">
              <a:avLst/>
            </a:prstGeom>
            <a:solidFill>
              <a:schemeClr val="lt1"/>
            </a:solidFill>
            <a:ln cap="flat" cmpd="sng" w="12700">
              <a:solidFill>
                <a:schemeClr val="dk1"/>
              </a:solidFill>
              <a:prstDash val="dot"/>
              <a:miter lim="800000"/>
              <a:headEnd len="sm" w="sm" type="none"/>
              <a:tailEnd len="sm" w="sm" type="none"/>
            </a:ln>
          </p:spPr>
        </p:cxnSp>
        <p:sp>
          <p:nvSpPr>
            <p:cNvPr id="906" name="Google Shape;906;p61"/>
            <p:cNvSpPr/>
            <p:nvPr/>
          </p:nvSpPr>
          <p:spPr>
            <a:xfrm>
              <a:off x="2210594"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07" name="Google Shape;907;p61"/>
          <p:cNvSpPr txBox="1"/>
          <p:nvPr>
            <p:ph idx="12" type="sldNum"/>
          </p:nvPr>
        </p:nvSpPr>
        <p:spPr>
          <a:xfrm>
            <a:off x="7444487" y="4734524"/>
            <a:ext cx="1686900" cy="294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cxnSp>
        <p:nvCxnSpPr>
          <p:cNvPr id="908" name="Google Shape;908;p61"/>
          <p:cNvCxnSpPr/>
          <p:nvPr/>
        </p:nvCxnSpPr>
        <p:spPr>
          <a:xfrm>
            <a:off x="1585625" y="2573567"/>
            <a:ext cx="2159100" cy="0"/>
          </a:xfrm>
          <a:prstGeom prst="straightConnector1">
            <a:avLst/>
          </a:prstGeom>
          <a:noFill/>
          <a:ln cap="flat" cmpd="sng" w="9525">
            <a:solidFill>
              <a:schemeClr val="dk1"/>
            </a:solidFill>
            <a:prstDash val="solid"/>
            <a:round/>
            <a:headEnd len="sm" w="sm" type="none"/>
            <a:tailEnd len="med" w="med" type="triangle"/>
          </a:ln>
        </p:spPr>
      </p:cxnSp>
      <p:cxnSp>
        <p:nvCxnSpPr>
          <p:cNvPr id="909" name="Google Shape;909;p61"/>
          <p:cNvCxnSpPr/>
          <p:nvPr/>
        </p:nvCxnSpPr>
        <p:spPr>
          <a:xfrm rot="10800000">
            <a:off x="1585625" y="1198367"/>
            <a:ext cx="0" cy="1375200"/>
          </a:xfrm>
          <a:prstGeom prst="straightConnector1">
            <a:avLst/>
          </a:prstGeom>
          <a:noFill/>
          <a:ln cap="flat" cmpd="sng" w="9525">
            <a:solidFill>
              <a:schemeClr val="dk1"/>
            </a:solidFill>
            <a:prstDash val="solid"/>
            <a:round/>
            <a:headEnd len="sm" w="sm" type="none"/>
            <a:tailEnd len="med" w="med" type="triangle"/>
          </a:ln>
        </p:spPr>
      </p:cxnSp>
      <p:sp>
        <p:nvSpPr>
          <p:cNvPr id="910" name="Google Shape;910;p61"/>
          <p:cNvSpPr txBox="1"/>
          <p:nvPr/>
        </p:nvSpPr>
        <p:spPr>
          <a:xfrm>
            <a:off x="2181200" y="1875750"/>
            <a:ext cx="1219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P(h,k)</a:t>
            </a:r>
            <a:endParaRPr b="0" i="0" sz="1400" u="none" cap="none" strike="noStrike">
              <a:solidFill>
                <a:srgbClr val="000000"/>
              </a:solidFill>
              <a:latin typeface="Arial"/>
              <a:ea typeface="Arial"/>
              <a:cs typeface="Arial"/>
              <a:sym typeface="Arial"/>
            </a:endParaRPr>
          </a:p>
        </p:txBody>
      </p:sp>
      <p:grpSp>
        <p:nvGrpSpPr>
          <p:cNvPr id="911" name="Google Shape;911;p61"/>
          <p:cNvGrpSpPr/>
          <p:nvPr/>
        </p:nvGrpSpPr>
        <p:grpSpPr>
          <a:xfrm>
            <a:off x="2575281" y="1149353"/>
            <a:ext cx="607276" cy="736778"/>
            <a:chOff x="1727200" y="685800"/>
            <a:chExt cx="685800" cy="1143000"/>
          </a:xfrm>
        </p:grpSpPr>
        <p:sp>
          <p:nvSpPr>
            <p:cNvPr id="912" name="Google Shape;912;p61"/>
            <p:cNvSpPr/>
            <p:nvPr/>
          </p:nvSpPr>
          <p:spPr>
            <a:xfrm>
              <a:off x="2260600" y="6858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13" name="Google Shape;913;p61"/>
            <p:cNvSpPr/>
            <p:nvPr/>
          </p:nvSpPr>
          <p:spPr>
            <a:xfrm>
              <a:off x="1727200"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914" name="Google Shape;914;p61"/>
            <p:cNvCxnSpPr>
              <a:stCxn id="913" idx="7"/>
              <a:endCxn id="912" idx="3"/>
            </p:cNvCxnSpPr>
            <p:nvPr/>
          </p:nvCxnSpPr>
          <p:spPr>
            <a:xfrm flipH="1" rot="10800000">
              <a:off x="1857282" y="815818"/>
              <a:ext cx="425700" cy="882900"/>
            </a:xfrm>
            <a:prstGeom prst="straightConnector1">
              <a:avLst/>
            </a:prstGeom>
            <a:noFill/>
            <a:ln cap="flat" cmpd="sng" w="9525">
              <a:solidFill>
                <a:schemeClr val="dk1"/>
              </a:solidFill>
              <a:prstDash val="solid"/>
              <a:round/>
              <a:headEnd len="sm" w="sm" type="none"/>
              <a:tailEnd len="sm" w="sm" type="none"/>
            </a:ln>
          </p:spPr>
        </p:cxnSp>
        <p:cxnSp>
          <p:nvCxnSpPr>
            <p:cNvPr id="915" name="Google Shape;915;p61"/>
            <p:cNvCxnSpPr>
              <a:endCxn id="912" idx="4"/>
            </p:cNvCxnSpPr>
            <p:nvPr/>
          </p:nvCxnSpPr>
          <p:spPr>
            <a:xfrm flipH="1" rot="10800000">
              <a:off x="2290900" y="838200"/>
              <a:ext cx="45900" cy="914400"/>
            </a:xfrm>
            <a:prstGeom prst="straightConnector1">
              <a:avLst/>
            </a:prstGeom>
            <a:noFill/>
            <a:ln cap="flat" cmpd="sng" w="9525">
              <a:solidFill>
                <a:schemeClr val="dk1"/>
              </a:solidFill>
              <a:prstDash val="solid"/>
              <a:round/>
              <a:headEnd len="sm" w="sm" type="none"/>
              <a:tailEnd len="sm" w="sm" type="none"/>
            </a:ln>
          </p:spPr>
        </p:cxnSp>
        <p:cxnSp>
          <p:nvCxnSpPr>
            <p:cNvPr id="916" name="Google Shape;916;p61"/>
            <p:cNvCxnSpPr>
              <a:stCxn id="913" idx="6"/>
            </p:cNvCxnSpPr>
            <p:nvPr/>
          </p:nvCxnSpPr>
          <p:spPr>
            <a:xfrm>
              <a:off x="1879600" y="1752600"/>
              <a:ext cx="434100" cy="0"/>
            </a:xfrm>
            <a:prstGeom prst="straightConnector1">
              <a:avLst/>
            </a:prstGeom>
            <a:noFill/>
            <a:ln cap="flat" cmpd="sng" w="9525">
              <a:solidFill>
                <a:schemeClr val="dk1"/>
              </a:solidFill>
              <a:prstDash val="solid"/>
              <a:round/>
              <a:headEnd len="sm" w="sm" type="none"/>
              <a:tailEnd len="sm" w="sm" type="none"/>
            </a:ln>
          </p:spPr>
        </p:cxnSp>
        <p:sp>
          <p:nvSpPr>
            <p:cNvPr id="917" name="Google Shape;917;p61"/>
            <p:cNvSpPr/>
            <p:nvPr/>
          </p:nvSpPr>
          <p:spPr>
            <a:xfrm>
              <a:off x="2210594"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cxnSp>
        <p:nvCxnSpPr>
          <p:cNvPr id="918" name="Google Shape;918;p61"/>
          <p:cNvCxnSpPr/>
          <p:nvPr/>
        </p:nvCxnSpPr>
        <p:spPr>
          <a:xfrm>
            <a:off x="6352872" y="2617943"/>
            <a:ext cx="2159100" cy="0"/>
          </a:xfrm>
          <a:prstGeom prst="straightConnector1">
            <a:avLst/>
          </a:prstGeom>
          <a:noFill/>
          <a:ln cap="flat" cmpd="sng" w="9525">
            <a:solidFill>
              <a:schemeClr val="dk1"/>
            </a:solidFill>
            <a:prstDash val="solid"/>
            <a:round/>
            <a:headEnd len="sm" w="sm" type="none"/>
            <a:tailEnd len="med" w="med" type="triangle"/>
          </a:ln>
        </p:spPr>
      </p:cxnSp>
      <p:cxnSp>
        <p:nvCxnSpPr>
          <p:cNvPr id="919" name="Google Shape;919;p61"/>
          <p:cNvCxnSpPr/>
          <p:nvPr/>
        </p:nvCxnSpPr>
        <p:spPr>
          <a:xfrm rot="10800000">
            <a:off x="6352872" y="1242743"/>
            <a:ext cx="0" cy="1375200"/>
          </a:xfrm>
          <a:prstGeom prst="straightConnector1">
            <a:avLst/>
          </a:prstGeom>
          <a:noFill/>
          <a:ln cap="flat" cmpd="sng" w="9525">
            <a:solidFill>
              <a:schemeClr val="dk1"/>
            </a:solidFill>
            <a:prstDash val="solid"/>
            <a:round/>
            <a:headEnd len="sm" w="sm" type="none"/>
            <a:tailEnd len="med" w="med" type="triangle"/>
          </a:ln>
        </p:spPr>
      </p:cxnSp>
      <p:sp>
        <p:nvSpPr>
          <p:cNvPr id="920" name="Google Shape;920;p61"/>
          <p:cNvSpPr txBox="1"/>
          <p:nvPr/>
        </p:nvSpPr>
        <p:spPr>
          <a:xfrm>
            <a:off x="5881419" y="2636738"/>
            <a:ext cx="1012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P’(0,0)</a:t>
            </a:r>
            <a:endParaRPr b="0" i="0" sz="1400" u="none" cap="none" strike="noStrike">
              <a:solidFill>
                <a:srgbClr val="000000"/>
              </a:solidFill>
              <a:latin typeface="Arial"/>
              <a:ea typeface="Arial"/>
              <a:cs typeface="Arial"/>
              <a:sym typeface="Arial"/>
            </a:endParaRPr>
          </a:p>
        </p:txBody>
      </p:sp>
      <p:grpSp>
        <p:nvGrpSpPr>
          <p:cNvPr id="921" name="Google Shape;921;p61"/>
          <p:cNvGrpSpPr/>
          <p:nvPr/>
        </p:nvGrpSpPr>
        <p:grpSpPr>
          <a:xfrm>
            <a:off x="6282250" y="1923368"/>
            <a:ext cx="607276" cy="736778"/>
            <a:chOff x="1727200" y="685800"/>
            <a:chExt cx="685800" cy="1143000"/>
          </a:xfrm>
        </p:grpSpPr>
        <p:sp>
          <p:nvSpPr>
            <p:cNvPr id="922" name="Google Shape;922;p61"/>
            <p:cNvSpPr/>
            <p:nvPr/>
          </p:nvSpPr>
          <p:spPr>
            <a:xfrm>
              <a:off x="2260600" y="6858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23" name="Google Shape;923;p61"/>
            <p:cNvSpPr/>
            <p:nvPr/>
          </p:nvSpPr>
          <p:spPr>
            <a:xfrm>
              <a:off x="1727200"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924" name="Google Shape;924;p61"/>
            <p:cNvCxnSpPr>
              <a:stCxn id="923" idx="7"/>
              <a:endCxn id="922" idx="3"/>
            </p:cNvCxnSpPr>
            <p:nvPr/>
          </p:nvCxnSpPr>
          <p:spPr>
            <a:xfrm flipH="1" rot="10800000">
              <a:off x="1857282" y="815818"/>
              <a:ext cx="425700" cy="882900"/>
            </a:xfrm>
            <a:prstGeom prst="straightConnector1">
              <a:avLst/>
            </a:prstGeom>
            <a:noFill/>
            <a:ln cap="flat" cmpd="sng" w="9525">
              <a:solidFill>
                <a:schemeClr val="dk1"/>
              </a:solidFill>
              <a:prstDash val="solid"/>
              <a:round/>
              <a:headEnd len="sm" w="sm" type="none"/>
              <a:tailEnd len="sm" w="sm" type="none"/>
            </a:ln>
          </p:spPr>
        </p:cxnSp>
        <p:cxnSp>
          <p:nvCxnSpPr>
            <p:cNvPr id="925" name="Google Shape;925;p61"/>
            <p:cNvCxnSpPr>
              <a:endCxn id="922" idx="4"/>
            </p:cNvCxnSpPr>
            <p:nvPr/>
          </p:nvCxnSpPr>
          <p:spPr>
            <a:xfrm flipH="1" rot="10800000">
              <a:off x="2290900" y="838200"/>
              <a:ext cx="45900" cy="914400"/>
            </a:xfrm>
            <a:prstGeom prst="straightConnector1">
              <a:avLst/>
            </a:prstGeom>
            <a:noFill/>
            <a:ln cap="flat" cmpd="sng" w="9525">
              <a:solidFill>
                <a:schemeClr val="dk1"/>
              </a:solidFill>
              <a:prstDash val="solid"/>
              <a:round/>
              <a:headEnd len="sm" w="sm" type="none"/>
              <a:tailEnd len="sm" w="sm" type="none"/>
            </a:ln>
          </p:spPr>
        </p:cxnSp>
        <p:cxnSp>
          <p:nvCxnSpPr>
            <p:cNvPr id="926" name="Google Shape;926;p61"/>
            <p:cNvCxnSpPr>
              <a:stCxn id="923" idx="6"/>
            </p:cNvCxnSpPr>
            <p:nvPr/>
          </p:nvCxnSpPr>
          <p:spPr>
            <a:xfrm>
              <a:off x="1879600" y="1752600"/>
              <a:ext cx="434100" cy="0"/>
            </a:xfrm>
            <a:prstGeom prst="straightConnector1">
              <a:avLst/>
            </a:prstGeom>
            <a:noFill/>
            <a:ln cap="flat" cmpd="sng" w="9525">
              <a:solidFill>
                <a:schemeClr val="dk1"/>
              </a:solidFill>
              <a:prstDash val="solid"/>
              <a:round/>
              <a:headEnd len="sm" w="sm" type="none"/>
              <a:tailEnd len="sm" w="sm" type="none"/>
            </a:ln>
          </p:spPr>
        </p:cxnSp>
        <p:sp>
          <p:nvSpPr>
            <p:cNvPr id="927" name="Google Shape;927;p61"/>
            <p:cNvSpPr/>
            <p:nvPr/>
          </p:nvSpPr>
          <p:spPr>
            <a:xfrm>
              <a:off x="2210594"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928" name="Google Shape;928;p61"/>
          <p:cNvGrpSpPr/>
          <p:nvPr/>
        </p:nvGrpSpPr>
        <p:grpSpPr>
          <a:xfrm rot="5400000">
            <a:off x="6035567" y="4148660"/>
            <a:ext cx="442067" cy="1012126"/>
            <a:chOff x="1727200" y="685800"/>
            <a:chExt cx="685800" cy="1143000"/>
          </a:xfrm>
        </p:grpSpPr>
        <p:sp>
          <p:nvSpPr>
            <p:cNvPr id="929" name="Google Shape;929;p61"/>
            <p:cNvSpPr/>
            <p:nvPr/>
          </p:nvSpPr>
          <p:spPr>
            <a:xfrm>
              <a:off x="2260600" y="6858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30" name="Google Shape;930;p61"/>
            <p:cNvSpPr/>
            <p:nvPr/>
          </p:nvSpPr>
          <p:spPr>
            <a:xfrm>
              <a:off x="1727200"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931" name="Google Shape;931;p61"/>
            <p:cNvCxnSpPr/>
            <p:nvPr/>
          </p:nvCxnSpPr>
          <p:spPr>
            <a:xfrm rot="-5400000">
              <a:off x="1626718" y="1032434"/>
              <a:ext cx="882900" cy="425700"/>
            </a:xfrm>
            <a:prstGeom prst="straightConnector1">
              <a:avLst/>
            </a:prstGeom>
            <a:noFill/>
            <a:ln cap="flat" cmpd="sng" w="9525">
              <a:solidFill>
                <a:schemeClr val="dk1"/>
              </a:solidFill>
              <a:prstDash val="solid"/>
              <a:round/>
              <a:headEnd len="sm" w="sm" type="none"/>
              <a:tailEnd len="sm" w="sm" type="none"/>
            </a:ln>
          </p:spPr>
        </p:cxnSp>
        <p:cxnSp>
          <p:nvCxnSpPr>
            <p:cNvPr id="932" name="Google Shape;932;p61"/>
            <p:cNvCxnSpPr>
              <a:endCxn id="929" idx="4"/>
            </p:cNvCxnSpPr>
            <p:nvPr/>
          </p:nvCxnSpPr>
          <p:spPr>
            <a:xfrm rot="-5400000">
              <a:off x="1856650" y="1272450"/>
              <a:ext cx="914400" cy="45900"/>
            </a:xfrm>
            <a:prstGeom prst="straightConnector1">
              <a:avLst/>
            </a:prstGeom>
            <a:noFill/>
            <a:ln cap="flat" cmpd="sng" w="9525">
              <a:solidFill>
                <a:schemeClr val="dk1"/>
              </a:solidFill>
              <a:prstDash val="solid"/>
              <a:round/>
              <a:headEnd len="sm" w="sm" type="none"/>
              <a:tailEnd len="sm" w="sm" type="none"/>
            </a:ln>
          </p:spPr>
        </p:cxnSp>
        <p:cxnSp>
          <p:nvCxnSpPr>
            <p:cNvPr id="933" name="Google Shape;933;p61"/>
            <p:cNvCxnSpPr>
              <a:stCxn id="930" idx="6"/>
              <a:endCxn id="934" idx="2"/>
            </p:cNvCxnSpPr>
            <p:nvPr/>
          </p:nvCxnSpPr>
          <p:spPr>
            <a:xfrm rot="10800000">
              <a:off x="2045050" y="1587150"/>
              <a:ext cx="0" cy="330900"/>
            </a:xfrm>
            <a:prstGeom prst="straightConnector1">
              <a:avLst/>
            </a:prstGeom>
            <a:noFill/>
            <a:ln cap="flat" cmpd="sng" w="9525">
              <a:solidFill>
                <a:schemeClr val="dk1"/>
              </a:solidFill>
              <a:prstDash val="solid"/>
              <a:round/>
              <a:headEnd len="sm" w="sm" type="none"/>
              <a:tailEnd len="sm" w="sm" type="none"/>
            </a:ln>
          </p:spPr>
        </p:cxnSp>
        <p:sp>
          <p:nvSpPr>
            <p:cNvPr id="934" name="Google Shape;934;p61"/>
            <p:cNvSpPr/>
            <p:nvPr/>
          </p:nvSpPr>
          <p:spPr>
            <a:xfrm>
              <a:off x="2210594"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35" name="Google Shape;935;p61"/>
          <p:cNvSpPr/>
          <p:nvPr/>
        </p:nvSpPr>
        <p:spPr>
          <a:xfrm rot="4103766">
            <a:off x="5672747" y="4223846"/>
            <a:ext cx="387846" cy="504982"/>
          </a:xfrm>
          <a:prstGeom prst="arc">
            <a:avLst>
              <a:gd fmla="val 17511222" name="adj1"/>
              <a:gd fmla="val 1682414" name="adj2"/>
            </a:avLst>
          </a:prstGeom>
          <a:noFill/>
          <a:ln cap="flat" cmpd="sng" w="28575">
            <a:solidFill>
              <a:schemeClr val="accent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6" name="Google Shape;936;p61"/>
          <p:cNvSpPr/>
          <p:nvPr/>
        </p:nvSpPr>
        <p:spPr>
          <a:xfrm>
            <a:off x="4859508" y="1846881"/>
            <a:ext cx="353400" cy="162600"/>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937" name="Google Shape;937;p61"/>
          <p:cNvCxnSpPr/>
          <p:nvPr/>
        </p:nvCxnSpPr>
        <p:spPr>
          <a:xfrm>
            <a:off x="1662181" y="4483055"/>
            <a:ext cx="2159100" cy="0"/>
          </a:xfrm>
          <a:prstGeom prst="straightConnector1">
            <a:avLst/>
          </a:prstGeom>
          <a:noFill/>
          <a:ln cap="flat" cmpd="sng" w="9525">
            <a:solidFill>
              <a:schemeClr val="dk1"/>
            </a:solidFill>
            <a:prstDash val="solid"/>
            <a:round/>
            <a:headEnd len="sm" w="sm" type="none"/>
            <a:tailEnd len="med" w="med" type="triangle"/>
          </a:ln>
        </p:spPr>
      </p:cxnSp>
      <p:cxnSp>
        <p:nvCxnSpPr>
          <p:cNvPr id="938" name="Google Shape;938;p61"/>
          <p:cNvCxnSpPr/>
          <p:nvPr/>
        </p:nvCxnSpPr>
        <p:spPr>
          <a:xfrm rot="10800000">
            <a:off x="1662181" y="3107855"/>
            <a:ext cx="0" cy="1375200"/>
          </a:xfrm>
          <a:prstGeom prst="straightConnector1">
            <a:avLst/>
          </a:prstGeom>
          <a:noFill/>
          <a:ln cap="flat" cmpd="sng" w="9525">
            <a:solidFill>
              <a:schemeClr val="dk1"/>
            </a:solidFill>
            <a:prstDash val="solid"/>
            <a:round/>
            <a:headEnd len="sm" w="sm" type="none"/>
            <a:tailEnd len="med" w="med" type="triangle"/>
          </a:ln>
        </p:spPr>
      </p:cxnSp>
      <p:sp>
        <p:nvSpPr>
          <p:cNvPr id="939" name="Google Shape;939;p61"/>
          <p:cNvSpPr txBox="1"/>
          <p:nvPr/>
        </p:nvSpPr>
        <p:spPr>
          <a:xfrm>
            <a:off x="1890128" y="3154075"/>
            <a:ext cx="1056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P(h,k)</a:t>
            </a:r>
            <a:endParaRPr b="0" i="0" sz="1400" u="none" cap="none" strike="noStrike">
              <a:solidFill>
                <a:srgbClr val="000000"/>
              </a:solidFill>
              <a:latin typeface="Arial"/>
              <a:ea typeface="Arial"/>
              <a:cs typeface="Arial"/>
              <a:sym typeface="Arial"/>
            </a:endParaRPr>
          </a:p>
        </p:txBody>
      </p:sp>
      <p:grpSp>
        <p:nvGrpSpPr>
          <p:cNvPr id="940" name="Google Shape;940;p61"/>
          <p:cNvGrpSpPr/>
          <p:nvPr/>
        </p:nvGrpSpPr>
        <p:grpSpPr>
          <a:xfrm rot="5400000">
            <a:off x="2860190" y="3096349"/>
            <a:ext cx="442067" cy="1012127"/>
            <a:chOff x="1727200" y="685800"/>
            <a:chExt cx="685800" cy="1143000"/>
          </a:xfrm>
        </p:grpSpPr>
        <p:sp>
          <p:nvSpPr>
            <p:cNvPr id="941" name="Google Shape;941;p61"/>
            <p:cNvSpPr/>
            <p:nvPr/>
          </p:nvSpPr>
          <p:spPr>
            <a:xfrm>
              <a:off x="2260600" y="6858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42" name="Google Shape;942;p61"/>
            <p:cNvSpPr/>
            <p:nvPr/>
          </p:nvSpPr>
          <p:spPr>
            <a:xfrm>
              <a:off x="1727200"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943" name="Google Shape;943;p61"/>
            <p:cNvCxnSpPr>
              <a:stCxn id="942" idx="7"/>
              <a:endCxn id="941" idx="3"/>
            </p:cNvCxnSpPr>
            <p:nvPr/>
          </p:nvCxnSpPr>
          <p:spPr>
            <a:xfrm rot="-5400000">
              <a:off x="1628682" y="1044418"/>
              <a:ext cx="882900" cy="425700"/>
            </a:xfrm>
            <a:prstGeom prst="straightConnector1">
              <a:avLst/>
            </a:prstGeom>
            <a:noFill/>
            <a:ln cap="flat" cmpd="sng" w="9525">
              <a:solidFill>
                <a:schemeClr val="dk1"/>
              </a:solidFill>
              <a:prstDash val="solid"/>
              <a:round/>
              <a:headEnd len="sm" w="sm" type="none"/>
              <a:tailEnd len="sm" w="sm" type="none"/>
            </a:ln>
          </p:spPr>
        </p:cxnSp>
        <p:cxnSp>
          <p:nvCxnSpPr>
            <p:cNvPr id="944" name="Google Shape;944;p61"/>
            <p:cNvCxnSpPr>
              <a:endCxn id="941" idx="4"/>
            </p:cNvCxnSpPr>
            <p:nvPr/>
          </p:nvCxnSpPr>
          <p:spPr>
            <a:xfrm rot="-5400000">
              <a:off x="1856650" y="1272450"/>
              <a:ext cx="914400" cy="45900"/>
            </a:xfrm>
            <a:prstGeom prst="straightConnector1">
              <a:avLst/>
            </a:prstGeom>
            <a:noFill/>
            <a:ln cap="flat" cmpd="sng" w="9525">
              <a:solidFill>
                <a:schemeClr val="dk1"/>
              </a:solidFill>
              <a:prstDash val="solid"/>
              <a:round/>
              <a:headEnd len="sm" w="sm" type="none"/>
              <a:tailEnd len="sm" w="sm" type="none"/>
            </a:ln>
          </p:spPr>
        </p:cxnSp>
        <p:cxnSp>
          <p:nvCxnSpPr>
            <p:cNvPr id="945" name="Google Shape;945;p61"/>
            <p:cNvCxnSpPr>
              <a:stCxn id="942" idx="6"/>
              <a:endCxn id="946" idx="2"/>
            </p:cNvCxnSpPr>
            <p:nvPr/>
          </p:nvCxnSpPr>
          <p:spPr>
            <a:xfrm rot="10800000">
              <a:off x="2045050" y="1587150"/>
              <a:ext cx="0" cy="330900"/>
            </a:xfrm>
            <a:prstGeom prst="straightConnector1">
              <a:avLst/>
            </a:prstGeom>
            <a:noFill/>
            <a:ln cap="flat" cmpd="sng" w="9525">
              <a:solidFill>
                <a:schemeClr val="dk1"/>
              </a:solidFill>
              <a:prstDash val="solid"/>
              <a:round/>
              <a:headEnd len="sm" w="sm" type="none"/>
              <a:tailEnd len="sm" w="sm" type="none"/>
            </a:ln>
          </p:spPr>
        </p:cxnSp>
        <p:sp>
          <p:nvSpPr>
            <p:cNvPr id="946" name="Google Shape;946;p61"/>
            <p:cNvSpPr/>
            <p:nvPr/>
          </p:nvSpPr>
          <p:spPr>
            <a:xfrm>
              <a:off x="2210594"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947" name="Google Shape;947;p61"/>
          <p:cNvSpPr txBox="1"/>
          <p:nvPr/>
        </p:nvSpPr>
        <p:spPr>
          <a:xfrm>
            <a:off x="4596868" y="1307569"/>
            <a:ext cx="1443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Translate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(-h,-k)</a:t>
            </a:r>
            <a:endParaRPr b="0" i="0" sz="1400" u="none" cap="none" strike="noStrike">
              <a:solidFill>
                <a:srgbClr val="000000"/>
              </a:solidFill>
              <a:latin typeface="Arial"/>
              <a:ea typeface="Arial"/>
              <a:cs typeface="Arial"/>
              <a:sym typeface="Arial"/>
            </a:endParaRPr>
          </a:p>
        </p:txBody>
      </p:sp>
      <p:cxnSp>
        <p:nvCxnSpPr>
          <p:cNvPr id="948" name="Google Shape;948;p61"/>
          <p:cNvCxnSpPr/>
          <p:nvPr/>
        </p:nvCxnSpPr>
        <p:spPr>
          <a:xfrm>
            <a:off x="5809607" y="4495308"/>
            <a:ext cx="2159100" cy="0"/>
          </a:xfrm>
          <a:prstGeom prst="straightConnector1">
            <a:avLst/>
          </a:prstGeom>
          <a:noFill/>
          <a:ln cap="flat" cmpd="sng" w="9525">
            <a:solidFill>
              <a:schemeClr val="dk1"/>
            </a:solidFill>
            <a:prstDash val="solid"/>
            <a:round/>
            <a:headEnd len="sm" w="sm" type="none"/>
            <a:tailEnd len="med" w="med" type="triangle"/>
          </a:ln>
        </p:spPr>
      </p:cxnSp>
      <p:cxnSp>
        <p:nvCxnSpPr>
          <p:cNvPr id="949" name="Google Shape;949;p61"/>
          <p:cNvCxnSpPr/>
          <p:nvPr/>
        </p:nvCxnSpPr>
        <p:spPr>
          <a:xfrm rot="10800000">
            <a:off x="5809607" y="3120108"/>
            <a:ext cx="0" cy="1375200"/>
          </a:xfrm>
          <a:prstGeom prst="straightConnector1">
            <a:avLst/>
          </a:prstGeom>
          <a:noFill/>
          <a:ln cap="flat" cmpd="sng" w="9525">
            <a:solidFill>
              <a:schemeClr val="dk1"/>
            </a:solidFill>
            <a:prstDash val="solid"/>
            <a:round/>
            <a:headEnd len="sm" w="sm" type="none"/>
            <a:tailEnd len="med" w="med" type="triangle"/>
          </a:ln>
        </p:spPr>
      </p:cxnSp>
      <p:sp>
        <p:nvSpPr>
          <p:cNvPr id="950" name="Google Shape;950;p61"/>
          <p:cNvSpPr/>
          <p:nvPr/>
        </p:nvSpPr>
        <p:spPr>
          <a:xfrm rot="5400000">
            <a:off x="6745880" y="3473270"/>
            <a:ext cx="257100" cy="223500"/>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1" name="Google Shape;951;p61"/>
          <p:cNvSpPr txBox="1"/>
          <p:nvPr/>
        </p:nvSpPr>
        <p:spPr>
          <a:xfrm>
            <a:off x="7024299" y="3380016"/>
            <a:ext cx="1686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Rotate(-90)</a:t>
            </a:r>
            <a:endParaRPr b="0" i="0" sz="1400" u="none" cap="none" strike="noStrike">
              <a:solidFill>
                <a:srgbClr val="000000"/>
              </a:solidFill>
              <a:latin typeface="Arial"/>
              <a:ea typeface="Arial"/>
              <a:cs typeface="Arial"/>
              <a:sym typeface="Arial"/>
            </a:endParaRPr>
          </a:p>
        </p:txBody>
      </p:sp>
      <p:sp>
        <p:nvSpPr>
          <p:cNvPr id="952" name="Google Shape;952;p61"/>
          <p:cNvSpPr/>
          <p:nvPr/>
        </p:nvSpPr>
        <p:spPr>
          <a:xfrm rot="10689049">
            <a:off x="4433802" y="3698267"/>
            <a:ext cx="353284" cy="162866"/>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3" name="Google Shape;953;p61"/>
          <p:cNvSpPr txBox="1"/>
          <p:nvPr/>
        </p:nvSpPr>
        <p:spPr>
          <a:xfrm>
            <a:off x="4116650" y="3126956"/>
            <a:ext cx="1336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Translate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(h,k)</a:t>
            </a:r>
            <a:endParaRPr b="0" i="0" sz="1400" u="none" cap="none" strike="noStrike">
              <a:solidFill>
                <a:srgbClr val="000000"/>
              </a:solidFill>
              <a:latin typeface="Arial"/>
              <a:ea typeface="Arial"/>
              <a:cs typeface="Arial"/>
              <a:sym typeface="Arial"/>
            </a:endParaRPr>
          </a:p>
        </p:txBody>
      </p:sp>
      <p:grpSp>
        <p:nvGrpSpPr>
          <p:cNvPr id="954" name="Google Shape;954;p61"/>
          <p:cNvGrpSpPr/>
          <p:nvPr/>
        </p:nvGrpSpPr>
        <p:grpSpPr>
          <a:xfrm>
            <a:off x="7236490" y="1242841"/>
            <a:ext cx="607276" cy="736778"/>
            <a:chOff x="1727200" y="685800"/>
            <a:chExt cx="685800" cy="1143000"/>
          </a:xfrm>
        </p:grpSpPr>
        <p:sp>
          <p:nvSpPr>
            <p:cNvPr id="955" name="Google Shape;955;p61"/>
            <p:cNvSpPr/>
            <p:nvPr/>
          </p:nvSpPr>
          <p:spPr>
            <a:xfrm>
              <a:off x="2260600" y="6858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56" name="Google Shape;956;p61"/>
            <p:cNvSpPr/>
            <p:nvPr/>
          </p:nvSpPr>
          <p:spPr>
            <a:xfrm>
              <a:off x="1727200"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957" name="Google Shape;957;p61"/>
            <p:cNvCxnSpPr>
              <a:stCxn id="956" idx="7"/>
              <a:endCxn id="955" idx="3"/>
            </p:cNvCxnSpPr>
            <p:nvPr/>
          </p:nvCxnSpPr>
          <p:spPr>
            <a:xfrm flipH="1" rot="10800000">
              <a:off x="1857282" y="815818"/>
              <a:ext cx="425700" cy="8829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958" name="Google Shape;958;p61"/>
            <p:cNvCxnSpPr>
              <a:endCxn id="955" idx="4"/>
            </p:cNvCxnSpPr>
            <p:nvPr/>
          </p:nvCxnSpPr>
          <p:spPr>
            <a:xfrm flipH="1" rot="10800000">
              <a:off x="2290900" y="838200"/>
              <a:ext cx="45900" cy="9144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959" name="Google Shape;959;p61"/>
            <p:cNvCxnSpPr>
              <a:stCxn id="956" idx="6"/>
            </p:cNvCxnSpPr>
            <p:nvPr/>
          </p:nvCxnSpPr>
          <p:spPr>
            <a:xfrm>
              <a:off x="1879600" y="1752600"/>
              <a:ext cx="434100" cy="0"/>
            </a:xfrm>
            <a:prstGeom prst="straightConnector1">
              <a:avLst/>
            </a:prstGeom>
            <a:solidFill>
              <a:schemeClr val="lt1"/>
            </a:solidFill>
            <a:ln cap="flat" cmpd="sng" w="12700">
              <a:solidFill>
                <a:schemeClr val="dk1"/>
              </a:solidFill>
              <a:prstDash val="dot"/>
              <a:miter lim="800000"/>
              <a:headEnd len="sm" w="sm" type="none"/>
              <a:tailEnd len="sm" w="sm" type="none"/>
            </a:ln>
          </p:spPr>
        </p:cxnSp>
        <p:sp>
          <p:nvSpPr>
            <p:cNvPr id="960" name="Google Shape;960;p61"/>
            <p:cNvSpPr/>
            <p:nvPr/>
          </p:nvSpPr>
          <p:spPr>
            <a:xfrm>
              <a:off x="2210594"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cxnSp>
        <p:nvCxnSpPr>
          <p:cNvPr id="961" name="Google Shape;961;p61"/>
          <p:cNvCxnSpPr>
            <a:stCxn id="956" idx="3"/>
            <a:endCxn id="923" idx="7"/>
          </p:cNvCxnSpPr>
          <p:nvPr/>
        </p:nvCxnSpPr>
        <p:spPr>
          <a:xfrm flipH="1">
            <a:off x="6397353" y="1965233"/>
            <a:ext cx="858900" cy="611100"/>
          </a:xfrm>
          <a:prstGeom prst="straightConnector1">
            <a:avLst/>
          </a:prstGeom>
          <a:noFill/>
          <a:ln cap="flat" cmpd="sng" w="9525">
            <a:solidFill>
              <a:schemeClr val="accent1"/>
            </a:solidFill>
            <a:prstDash val="solid"/>
            <a:miter lim="800000"/>
            <a:headEnd len="sm" w="sm" type="none"/>
            <a:tailEnd len="med" w="med" type="triangle"/>
          </a:ln>
        </p:spPr>
      </p:cxnSp>
      <p:grpSp>
        <p:nvGrpSpPr>
          <p:cNvPr id="962" name="Google Shape;962;p61"/>
          <p:cNvGrpSpPr/>
          <p:nvPr/>
        </p:nvGrpSpPr>
        <p:grpSpPr>
          <a:xfrm rot="5400000">
            <a:off x="1899356" y="4147394"/>
            <a:ext cx="442067" cy="1012126"/>
            <a:chOff x="1727200" y="685800"/>
            <a:chExt cx="685800" cy="1143000"/>
          </a:xfrm>
        </p:grpSpPr>
        <p:sp>
          <p:nvSpPr>
            <p:cNvPr id="963" name="Google Shape;963;p61"/>
            <p:cNvSpPr/>
            <p:nvPr/>
          </p:nvSpPr>
          <p:spPr>
            <a:xfrm>
              <a:off x="2260600" y="6858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964" name="Google Shape;964;p61"/>
            <p:cNvSpPr/>
            <p:nvPr/>
          </p:nvSpPr>
          <p:spPr>
            <a:xfrm>
              <a:off x="1727200"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965" name="Google Shape;965;p61"/>
            <p:cNvCxnSpPr>
              <a:stCxn id="964" idx="7"/>
              <a:endCxn id="963" idx="3"/>
            </p:cNvCxnSpPr>
            <p:nvPr/>
          </p:nvCxnSpPr>
          <p:spPr>
            <a:xfrm rot="-5400000">
              <a:off x="1628682" y="1044418"/>
              <a:ext cx="882900" cy="4257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966" name="Google Shape;966;p61"/>
            <p:cNvCxnSpPr>
              <a:endCxn id="963" idx="4"/>
            </p:cNvCxnSpPr>
            <p:nvPr/>
          </p:nvCxnSpPr>
          <p:spPr>
            <a:xfrm rot="-5400000">
              <a:off x="1856650" y="1272450"/>
              <a:ext cx="914400" cy="459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967" name="Google Shape;967;p61"/>
            <p:cNvCxnSpPr>
              <a:stCxn id="964" idx="6"/>
              <a:endCxn id="968" idx="2"/>
            </p:cNvCxnSpPr>
            <p:nvPr/>
          </p:nvCxnSpPr>
          <p:spPr>
            <a:xfrm rot="10800000">
              <a:off x="2045050" y="1587150"/>
              <a:ext cx="0" cy="330900"/>
            </a:xfrm>
            <a:prstGeom prst="straightConnector1">
              <a:avLst/>
            </a:prstGeom>
            <a:solidFill>
              <a:schemeClr val="lt1"/>
            </a:solidFill>
            <a:ln cap="flat" cmpd="sng" w="12700">
              <a:solidFill>
                <a:schemeClr val="dk1"/>
              </a:solidFill>
              <a:prstDash val="dot"/>
              <a:miter lim="800000"/>
              <a:headEnd len="sm" w="sm" type="none"/>
              <a:tailEnd len="sm" w="sm" type="none"/>
            </a:ln>
          </p:spPr>
        </p:cxnSp>
        <p:sp>
          <p:nvSpPr>
            <p:cNvPr id="968" name="Google Shape;968;p61"/>
            <p:cNvSpPr/>
            <p:nvPr/>
          </p:nvSpPr>
          <p:spPr>
            <a:xfrm>
              <a:off x="2210594"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cxnSp>
        <p:nvCxnSpPr>
          <p:cNvPr id="969" name="Google Shape;969;p61"/>
          <p:cNvCxnSpPr>
            <a:endCxn id="942" idx="4"/>
          </p:cNvCxnSpPr>
          <p:nvPr/>
        </p:nvCxnSpPr>
        <p:spPr>
          <a:xfrm flipH="1" rot="10800000">
            <a:off x="1590860" y="3430498"/>
            <a:ext cx="984300" cy="11067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62"/>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975" name="Google Shape;975;p62"/>
          <p:cNvSpPr txBox="1"/>
          <p:nvPr/>
        </p:nvSpPr>
        <p:spPr>
          <a:xfrm>
            <a:off x="1022800" y="1321650"/>
            <a:ext cx="8229600" cy="3364800"/>
          </a:xfrm>
          <a:prstGeom prst="rect">
            <a:avLst/>
          </a:prstGeom>
          <a:noFill/>
          <a:ln>
            <a:noFill/>
          </a:ln>
        </p:spPr>
        <p:txBody>
          <a:bodyPr anchorCtr="0" anchor="t" bIns="45700" lIns="91425" spcFirstLastPara="1" rIns="91425" wrap="square" tIns="45700">
            <a:noAutofit/>
          </a:bodyPr>
          <a:lstStyle/>
          <a:p>
            <a:pPr indent="-149860" lvl="0" marL="342900" marR="0" rtl="0" algn="l">
              <a:lnSpc>
                <a:spcPct val="100000"/>
              </a:lnSpc>
              <a:spcBef>
                <a:spcPts val="0"/>
              </a:spcBef>
              <a:spcAft>
                <a:spcPts val="0"/>
              </a:spcAft>
              <a:buClr>
                <a:schemeClr val="dk2"/>
              </a:buClr>
              <a:buSzPts val="3040"/>
              <a:buFont typeface="Noto Sans Symbols"/>
              <a:buNone/>
            </a:pPr>
            <a:r>
              <a:t/>
            </a:r>
            <a:endParaRPr b="0" i="0" sz="3200" u="none" cap="none" strike="noStrike">
              <a:solidFill>
                <a:schemeClr val="dk1"/>
              </a:solidFill>
              <a:latin typeface="Calibri"/>
              <a:ea typeface="Calibri"/>
              <a:cs typeface="Calibri"/>
              <a:sym typeface="Calibri"/>
            </a:endParaRPr>
          </a:p>
          <a:p>
            <a:pPr indent="-107950" lvl="1" marL="742950" marR="0" rtl="0" algn="l">
              <a:lnSpc>
                <a:spcPct val="100000"/>
              </a:lnSpc>
              <a:spcBef>
                <a:spcPts val="56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149860" lvl="0" marL="342900" marR="0" rtl="0" algn="l">
              <a:lnSpc>
                <a:spcPct val="100000"/>
              </a:lnSpc>
              <a:spcBef>
                <a:spcPts val="640"/>
              </a:spcBef>
              <a:spcAft>
                <a:spcPts val="0"/>
              </a:spcAft>
              <a:buClr>
                <a:schemeClr val="dk2"/>
              </a:buClr>
              <a:buSzPts val="3040"/>
              <a:buFont typeface="Noto Sans Symbols"/>
              <a:buNone/>
            </a:pPr>
            <a:r>
              <a:t/>
            </a:r>
            <a:endParaRPr b="0" i="0" sz="3200" u="none" cap="none" strike="noStrike">
              <a:solidFill>
                <a:schemeClr val="dk1"/>
              </a:solidFill>
              <a:latin typeface="Calibri"/>
              <a:ea typeface="Calibri"/>
              <a:cs typeface="Calibri"/>
              <a:sym typeface="Calibri"/>
            </a:endParaRPr>
          </a:p>
        </p:txBody>
      </p:sp>
      <p:pic>
        <p:nvPicPr>
          <p:cNvPr id="976" name="Google Shape;976;p62"/>
          <p:cNvPicPr preferRelativeResize="0"/>
          <p:nvPr/>
        </p:nvPicPr>
        <p:blipFill rotWithShape="1">
          <a:blip r:embed="rId3">
            <a:alphaModFix/>
          </a:blip>
          <a:srcRect b="0" l="0" r="0" t="0"/>
          <a:stretch/>
        </p:blipFill>
        <p:spPr>
          <a:xfrm>
            <a:off x="3227388" y="2356247"/>
            <a:ext cx="4000498" cy="1028700"/>
          </a:xfrm>
          <a:prstGeom prst="rect">
            <a:avLst/>
          </a:prstGeom>
          <a:noFill/>
          <a:ln>
            <a:noFill/>
          </a:ln>
        </p:spPr>
      </p:pic>
      <p:sp>
        <p:nvSpPr>
          <p:cNvPr id="977" name="Google Shape;977;p62"/>
          <p:cNvSpPr txBox="1"/>
          <p:nvPr/>
        </p:nvSpPr>
        <p:spPr>
          <a:xfrm>
            <a:off x="2294625" y="1205009"/>
            <a:ext cx="4266900" cy="3039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8" name="Google Shape;978;p62"/>
          <p:cNvSpPr txBox="1"/>
          <p:nvPr/>
        </p:nvSpPr>
        <p:spPr>
          <a:xfrm>
            <a:off x="760425" y="1780637"/>
            <a:ext cx="6315300" cy="3039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63"/>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984" name="Google Shape;984;p63"/>
          <p:cNvSpPr txBox="1"/>
          <p:nvPr/>
        </p:nvSpPr>
        <p:spPr>
          <a:xfrm>
            <a:off x="895350" y="1153806"/>
            <a:ext cx="7620000" cy="186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0" i="0" lang="en-US" sz="2300" u="none" cap="none" strike="noStrike">
                <a:solidFill>
                  <a:schemeClr val="dk1"/>
                </a:solidFill>
                <a:latin typeface="Calibri"/>
                <a:ea typeface="Calibri"/>
                <a:cs typeface="Calibri"/>
                <a:sym typeface="Calibri"/>
              </a:rPr>
              <a:t>Suppose, a composite transformation is defined as rotating 90 degree counterclockwise with respect to point (5, 5). Calculate the composite transformation matrix in homogeneous form. Then, find the new coordinates of the point (10, 10) after transformation.</a:t>
            </a:r>
            <a:endParaRPr b="0" i="0" sz="2100" u="none" cap="none" strike="noStrike">
              <a:solidFill>
                <a:srgbClr val="000000"/>
              </a:solidFill>
              <a:latin typeface="Arial"/>
              <a:ea typeface="Arial"/>
              <a:cs typeface="Arial"/>
              <a:sym typeface="Arial"/>
            </a:endParaRPr>
          </a:p>
        </p:txBody>
      </p:sp>
      <p:sp>
        <p:nvSpPr>
          <p:cNvPr id="985" name="Google Shape;985;p63"/>
          <p:cNvSpPr txBox="1"/>
          <p:nvPr/>
        </p:nvSpPr>
        <p:spPr>
          <a:xfrm>
            <a:off x="-101950" y="3512169"/>
            <a:ext cx="8172000" cy="5946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000000"/>
                </a:solidFill>
                <a:latin typeface="Calibri"/>
                <a:ea typeface="Calibri"/>
                <a:cs typeface="Calibri"/>
                <a:sym typeface="Calibri"/>
              </a:rPr>
              <a:t> </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64"/>
          <p:cNvSpPr txBox="1"/>
          <p:nvPr>
            <p:ph idx="12" type="sldNum"/>
          </p:nvPr>
        </p:nvSpPr>
        <p:spPr>
          <a:xfrm>
            <a:off x="6457950" y="4767263"/>
            <a:ext cx="2057400" cy="273900"/>
          </a:xfrm>
          <a:prstGeom prst="rect">
            <a:avLst/>
          </a:prstGeom>
          <a:noFill/>
          <a:ln>
            <a:noFill/>
          </a:ln>
        </p:spPr>
        <p:txBody>
          <a:bodyPr anchorCtr="0" anchor="ctr" bIns="46025" lIns="92075" spcFirstLastPara="1" rIns="92075" wrap="square" tIns="4602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pic>
        <p:nvPicPr>
          <p:cNvPr id="992" name="Google Shape;992;p64"/>
          <p:cNvPicPr preferRelativeResize="0"/>
          <p:nvPr/>
        </p:nvPicPr>
        <p:blipFill rotWithShape="1">
          <a:blip r:embed="rId3">
            <a:alphaModFix/>
          </a:blip>
          <a:srcRect b="0" l="0" r="0" t="0"/>
          <a:stretch/>
        </p:blipFill>
        <p:spPr>
          <a:xfrm>
            <a:off x="1806575" y="1824679"/>
            <a:ext cx="4148136" cy="3086100"/>
          </a:xfrm>
          <a:prstGeom prst="rect">
            <a:avLst/>
          </a:prstGeom>
          <a:noFill/>
          <a:ln>
            <a:noFill/>
          </a:ln>
        </p:spPr>
      </p:pic>
      <p:sp>
        <p:nvSpPr>
          <p:cNvPr id="993" name="Google Shape;993;p64"/>
          <p:cNvSpPr txBox="1"/>
          <p:nvPr/>
        </p:nvSpPr>
        <p:spPr>
          <a:xfrm>
            <a:off x="1064425" y="1312968"/>
            <a:ext cx="6348600" cy="3039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65"/>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999" name="Google Shape;999;p65"/>
          <p:cNvSpPr txBox="1"/>
          <p:nvPr/>
        </p:nvSpPr>
        <p:spPr>
          <a:xfrm>
            <a:off x="1782625" y="1202623"/>
            <a:ext cx="2886600" cy="407100"/>
          </a:xfrm>
          <a:prstGeom prst="rect">
            <a:avLst/>
          </a:prstGeom>
          <a:blipFill rotWithShape="1">
            <a:blip r:embed="rId3">
              <a:alphaModFix/>
            </a:blip>
            <a:stretch>
              <a:fillRect b="0" l="0" r="0" t="-163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00" name="Google Shape;1000;p65"/>
          <p:cNvPicPr preferRelativeResize="0"/>
          <p:nvPr/>
        </p:nvPicPr>
        <p:blipFill rotWithShape="1">
          <a:blip r:embed="rId4">
            <a:alphaModFix/>
          </a:blip>
          <a:srcRect b="0" l="0" r="0" t="0"/>
          <a:stretch/>
        </p:blipFill>
        <p:spPr>
          <a:xfrm>
            <a:off x="1676400" y="1828800"/>
            <a:ext cx="1762125" cy="2057400"/>
          </a:xfrm>
          <a:prstGeom prst="rect">
            <a:avLst/>
          </a:prstGeom>
          <a:noFill/>
          <a:ln>
            <a:noFill/>
          </a:ln>
        </p:spPr>
      </p:pic>
      <p:sp>
        <p:nvSpPr>
          <p:cNvPr id="1001" name="Google Shape;1001;p65"/>
          <p:cNvSpPr txBox="1"/>
          <p:nvPr/>
        </p:nvSpPr>
        <p:spPr>
          <a:xfrm>
            <a:off x="1676400" y="4230881"/>
            <a:ext cx="4752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So, the new coordinate of P is (0, 10)</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66"/>
          <p:cNvSpPr txBox="1"/>
          <p:nvPr>
            <p:ph type="title"/>
          </p:nvPr>
        </p:nvSpPr>
        <p:spPr>
          <a:xfrm>
            <a:off x="1080600" y="352325"/>
            <a:ext cx="7772400" cy="6288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300" u="none">
                <a:solidFill>
                  <a:srgbClr val="663300"/>
                </a:solidFill>
                <a:latin typeface="Times New Roman"/>
                <a:ea typeface="Times New Roman"/>
                <a:cs typeface="Times New Roman"/>
                <a:sym typeface="Times New Roman"/>
              </a:rPr>
              <a:t>Scaling of S</a:t>
            </a:r>
            <a:r>
              <a:rPr baseline="-25000" i="1" lang="en-US" sz="4300">
                <a:solidFill>
                  <a:srgbClr val="663300"/>
                </a:solidFill>
                <a:latin typeface="Times New Roman"/>
                <a:ea typeface="Times New Roman"/>
                <a:cs typeface="Times New Roman"/>
                <a:sym typeface="Times New Roman"/>
              </a:rPr>
              <a:t>a,b</a:t>
            </a:r>
            <a:r>
              <a:rPr i="1" lang="en-US" sz="4300">
                <a:solidFill>
                  <a:srgbClr val="663300"/>
                </a:solidFill>
                <a:latin typeface="Times New Roman"/>
                <a:ea typeface="Times New Roman"/>
                <a:cs typeface="Times New Roman"/>
                <a:sym typeface="Times New Roman"/>
              </a:rPr>
              <a:t> </a:t>
            </a:r>
            <a:r>
              <a:rPr b="0" i="1" lang="en-US" sz="4300" u="none">
                <a:solidFill>
                  <a:srgbClr val="663300"/>
                </a:solidFill>
                <a:latin typeface="Times New Roman"/>
                <a:ea typeface="Times New Roman"/>
                <a:cs typeface="Times New Roman"/>
                <a:sym typeface="Times New Roman"/>
              </a:rPr>
              <a:t>about P(h,k): R</a:t>
            </a:r>
            <a:r>
              <a:rPr b="0" baseline="-25000" i="1" lang="en-US" sz="4300" u="none">
                <a:solidFill>
                  <a:srgbClr val="663300"/>
                </a:solidFill>
                <a:latin typeface="Times New Roman"/>
                <a:ea typeface="Times New Roman"/>
                <a:cs typeface="Times New Roman"/>
                <a:sym typeface="Times New Roman"/>
              </a:rPr>
              <a:t>S,</a:t>
            </a:r>
            <a:r>
              <a:rPr baseline="-25000" i="1" lang="en-US" sz="4300">
                <a:solidFill>
                  <a:srgbClr val="663300"/>
                </a:solidFill>
                <a:latin typeface="Times New Roman"/>
                <a:ea typeface="Times New Roman"/>
                <a:cs typeface="Times New Roman"/>
                <a:sym typeface="Times New Roman"/>
              </a:rPr>
              <a:t>P</a:t>
            </a:r>
            <a:endParaRPr sz="3200"/>
          </a:p>
        </p:txBody>
      </p:sp>
      <p:sp>
        <p:nvSpPr>
          <p:cNvPr id="1007" name="Google Shape;1007;p66"/>
          <p:cNvSpPr txBox="1"/>
          <p:nvPr/>
        </p:nvSpPr>
        <p:spPr>
          <a:xfrm>
            <a:off x="1298075" y="3081263"/>
            <a:ext cx="99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R</a:t>
            </a:r>
            <a:r>
              <a:rPr b="1" baseline="-25000" i="0" lang="en-US" sz="2400" u="none" cap="none" strike="noStrike">
                <a:solidFill>
                  <a:schemeClr val="dk1"/>
                </a:solidFill>
                <a:latin typeface="Tahoma"/>
                <a:ea typeface="Tahoma"/>
                <a:cs typeface="Tahoma"/>
                <a:sym typeface="Tahoma"/>
              </a:rPr>
              <a:t>S,P</a:t>
            </a:r>
            <a:r>
              <a:rPr b="1" i="0" lang="en-US" sz="2400" u="none" cap="none" strike="noStrike">
                <a:solidFill>
                  <a:schemeClr val="dk1"/>
                </a:solidFill>
                <a:latin typeface="Tahoma"/>
                <a:ea typeface="Tahoma"/>
                <a:cs typeface="Tahoma"/>
                <a:sym typeface="Tahoma"/>
              </a:rPr>
              <a:t>=</a:t>
            </a:r>
            <a:endParaRPr b="0" i="0" sz="1400" u="none" cap="none" strike="noStrike">
              <a:solidFill>
                <a:srgbClr val="000000"/>
              </a:solidFill>
              <a:latin typeface="Arial"/>
              <a:ea typeface="Arial"/>
              <a:cs typeface="Arial"/>
              <a:sym typeface="Arial"/>
            </a:endParaRPr>
          </a:p>
        </p:txBody>
      </p:sp>
      <p:grpSp>
        <p:nvGrpSpPr>
          <p:cNvPr id="1008" name="Google Shape;1008;p66"/>
          <p:cNvGrpSpPr/>
          <p:nvPr/>
        </p:nvGrpSpPr>
        <p:grpSpPr>
          <a:xfrm>
            <a:off x="1298075" y="2154085"/>
            <a:ext cx="7004911" cy="1284365"/>
            <a:chOff x="480" y="1286"/>
            <a:chExt cx="4412" cy="1078"/>
          </a:xfrm>
        </p:grpSpPr>
        <p:sp>
          <p:nvSpPr>
            <p:cNvPr id="1009" name="Google Shape;1009;p66"/>
            <p:cNvSpPr txBox="1"/>
            <p:nvPr/>
          </p:nvSpPr>
          <p:spPr>
            <a:xfrm>
              <a:off x="480" y="1632"/>
              <a:ext cx="36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Step 3:</a:t>
              </a:r>
              <a:r>
                <a:rPr b="0" i="0" lang="en-US" sz="2400" u="none" cap="none" strike="noStrike">
                  <a:solidFill>
                    <a:schemeClr val="dk1"/>
                  </a:solidFill>
                  <a:latin typeface="Tahoma"/>
                  <a:ea typeface="Tahoma"/>
                  <a:cs typeface="Tahoma"/>
                  <a:sym typeface="Tahoma"/>
                </a:rPr>
                <a:t> Translate (0,0) to P(h,k)</a:t>
              </a:r>
              <a:endParaRPr b="0" i="0" sz="1400" u="none" cap="none" strike="noStrike">
                <a:solidFill>
                  <a:srgbClr val="000000"/>
                </a:solidFill>
                <a:latin typeface="Arial"/>
                <a:ea typeface="Arial"/>
                <a:cs typeface="Arial"/>
                <a:sym typeface="Arial"/>
              </a:endParaRPr>
            </a:p>
          </p:txBody>
        </p:sp>
        <p:sp>
          <p:nvSpPr>
            <p:cNvPr id="1010" name="Google Shape;1010;p66"/>
            <p:cNvSpPr txBox="1"/>
            <p:nvPr/>
          </p:nvSpPr>
          <p:spPr>
            <a:xfrm>
              <a:off x="1056" y="2064"/>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T(h ,k) *</a:t>
              </a:r>
              <a:endParaRPr b="0" i="0" sz="1400" u="none" cap="none" strike="noStrike">
                <a:solidFill>
                  <a:srgbClr val="000000"/>
                </a:solidFill>
                <a:latin typeface="Arial"/>
                <a:ea typeface="Arial"/>
                <a:cs typeface="Arial"/>
                <a:sym typeface="Arial"/>
              </a:endParaRPr>
            </a:p>
          </p:txBody>
        </p:sp>
        <p:grpSp>
          <p:nvGrpSpPr>
            <p:cNvPr id="1011" name="Google Shape;1011;p66"/>
            <p:cNvGrpSpPr/>
            <p:nvPr/>
          </p:nvGrpSpPr>
          <p:grpSpPr>
            <a:xfrm rot="2160075">
              <a:off x="4405" y="1325"/>
              <a:ext cx="336" cy="624"/>
              <a:chOff x="686" y="3134"/>
              <a:chExt cx="336" cy="624"/>
            </a:xfrm>
          </p:grpSpPr>
          <p:sp>
            <p:nvSpPr>
              <p:cNvPr id="1012" name="Google Shape;1012;p66"/>
              <p:cNvSpPr/>
              <p:nvPr/>
            </p:nvSpPr>
            <p:spPr>
              <a:xfrm>
                <a:off x="1022" y="3134"/>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13" name="Google Shape;1013;p66"/>
              <p:cNvSpPr/>
              <p:nvPr/>
            </p:nvSpPr>
            <p:spPr>
              <a:xfrm>
                <a:off x="686" y="3758"/>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
        <p:nvSpPr>
          <p:cNvPr id="1014" name="Google Shape;1014;p66"/>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grpSp>
        <p:nvGrpSpPr>
          <p:cNvPr id="1015" name="Google Shape;1015;p66"/>
          <p:cNvGrpSpPr/>
          <p:nvPr/>
        </p:nvGrpSpPr>
        <p:grpSpPr>
          <a:xfrm>
            <a:off x="1298075" y="2109712"/>
            <a:ext cx="6319111" cy="3339163"/>
            <a:chOff x="480" y="1248"/>
            <a:chExt cx="3980" cy="2804"/>
          </a:xfrm>
        </p:grpSpPr>
        <p:sp>
          <p:nvSpPr>
            <p:cNvPr id="1016" name="Google Shape;1016;p66"/>
            <p:cNvSpPr txBox="1"/>
            <p:nvPr/>
          </p:nvSpPr>
          <p:spPr>
            <a:xfrm>
              <a:off x="480" y="1248"/>
              <a:ext cx="33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Step 2:</a:t>
              </a:r>
              <a:r>
                <a:rPr b="0" i="0" lang="en-US" sz="2400" u="none" cap="none" strike="noStrike">
                  <a:solidFill>
                    <a:schemeClr val="dk1"/>
                  </a:solidFill>
                  <a:latin typeface="Tahoma"/>
                  <a:ea typeface="Tahoma"/>
                  <a:cs typeface="Tahoma"/>
                  <a:sym typeface="Tahoma"/>
                </a:rPr>
                <a:t> Scale S</a:t>
              </a:r>
              <a:r>
                <a:rPr b="0" baseline="-25000" i="0" lang="en-US" sz="2400" u="none" cap="none" strike="noStrike">
                  <a:solidFill>
                    <a:schemeClr val="dk1"/>
                  </a:solidFill>
                  <a:latin typeface="Tahoma"/>
                  <a:ea typeface="Tahoma"/>
                  <a:cs typeface="Tahoma"/>
                  <a:sym typeface="Tahoma"/>
                </a:rPr>
                <a:t>a,b</a:t>
              </a:r>
              <a:r>
                <a:rPr b="0" i="0" lang="en-US" sz="2400" u="none" cap="none" strike="noStrike">
                  <a:solidFill>
                    <a:schemeClr val="dk1"/>
                  </a:solidFill>
                  <a:latin typeface="Tahoma"/>
                  <a:ea typeface="Tahoma"/>
                  <a:cs typeface="Tahoma"/>
                  <a:sym typeface="Tahoma"/>
                </a:rPr>
                <a:t> w.r.t to origin</a:t>
              </a:r>
              <a:endParaRPr b="0" i="0" sz="1400" u="none" cap="none" strike="noStrike">
                <a:solidFill>
                  <a:srgbClr val="000000"/>
                </a:solidFill>
                <a:latin typeface="Arial"/>
                <a:ea typeface="Arial"/>
                <a:cs typeface="Arial"/>
                <a:sym typeface="Arial"/>
              </a:endParaRPr>
            </a:p>
          </p:txBody>
        </p:sp>
        <p:sp>
          <p:nvSpPr>
            <p:cNvPr id="1017" name="Google Shape;1017;p66"/>
            <p:cNvSpPr txBox="1"/>
            <p:nvPr/>
          </p:nvSpPr>
          <p:spPr>
            <a:xfrm>
              <a:off x="1968" y="2064"/>
              <a:ext cx="12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S(a,b)*</a:t>
              </a:r>
              <a:endParaRPr b="0" i="0" sz="1400" u="none" cap="none" strike="noStrike">
                <a:solidFill>
                  <a:srgbClr val="000000"/>
                </a:solidFill>
                <a:latin typeface="Arial"/>
                <a:ea typeface="Arial"/>
                <a:cs typeface="Arial"/>
                <a:sym typeface="Arial"/>
              </a:endParaRPr>
            </a:p>
          </p:txBody>
        </p:sp>
        <p:grpSp>
          <p:nvGrpSpPr>
            <p:cNvPr id="1018" name="Google Shape;1018;p66"/>
            <p:cNvGrpSpPr/>
            <p:nvPr/>
          </p:nvGrpSpPr>
          <p:grpSpPr>
            <a:xfrm rot="2160075">
              <a:off x="3973" y="3389"/>
              <a:ext cx="336" cy="624"/>
              <a:chOff x="686" y="3134"/>
              <a:chExt cx="336" cy="624"/>
            </a:xfrm>
          </p:grpSpPr>
          <p:sp>
            <p:nvSpPr>
              <p:cNvPr id="1019" name="Google Shape;1019;p66"/>
              <p:cNvSpPr/>
              <p:nvPr/>
            </p:nvSpPr>
            <p:spPr>
              <a:xfrm>
                <a:off x="1022" y="3134"/>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20" name="Google Shape;1020;p66"/>
              <p:cNvSpPr/>
              <p:nvPr/>
            </p:nvSpPr>
            <p:spPr>
              <a:xfrm>
                <a:off x="686" y="3758"/>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grpSp>
        <p:nvGrpSpPr>
          <p:cNvPr id="1021" name="Google Shape;1021;p66"/>
          <p:cNvGrpSpPr/>
          <p:nvPr/>
        </p:nvGrpSpPr>
        <p:grpSpPr>
          <a:xfrm>
            <a:off x="1298075" y="1652513"/>
            <a:ext cx="7268250" cy="3559969"/>
            <a:chOff x="480" y="864"/>
            <a:chExt cx="3000" cy="2990"/>
          </a:xfrm>
        </p:grpSpPr>
        <p:sp>
          <p:nvSpPr>
            <p:cNvPr id="1022" name="Google Shape;1022;p66"/>
            <p:cNvSpPr txBox="1"/>
            <p:nvPr/>
          </p:nvSpPr>
          <p:spPr>
            <a:xfrm>
              <a:off x="480" y="864"/>
              <a:ext cx="3000" cy="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Step 1:</a:t>
              </a:r>
              <a:r>
                <a:rPr b="0" i="0" lang="en-US" sz="2400" u="none" cap="none" strike="noStrike">
                  <a:solidFill>
                    <a:schemeClr val="dk1"/>
                  </a:solidFill>
                  <a:latin typeface="Tahoma"/>
                  <a:ea typeface="Tahoma"/>
                  <a:cs typeface="Tahoma"/>
                  <a:sym typeface="Tahoma"/>
                </a:rPr>
                <a:t> Translate P(-h,-k) to origin</a:t>
              </a:r>
              <a:endParaRPr b="0" i="0" sz="1400" u="none" cap="none" strike="noStrike">
                <a:solidFill>
                  <a:srgbClr val="000000"/>
                </a:solidFill>
                <a:latin typeface="Arial"/>
                <a:ea typeface="Arial"/>
                <a:cs typeface="Arial"/>
                <a:sym typeface="Arial"/>
              </a:endParaRPr>
            </a:p>
          </p:txBody>
        </p:sp>
        <p:sp>
          <p:nvSpPr>
            <p:cNvPr id="1023" name="Google Shape;1023;p66"/>
            <p:cNvSpPr txBox="1"/>
            <p:nvPr/>
          </p:nvSpPr>
          <p:spPr>
            <a:xfrm>
              <a:off x="2013" y="2047"/>
              <a:ext cx="900" cy="300"/>
            </a:xfrm>
            <a:prstGeom prst="rect">
              <a:avLst/>
            </a:prstGeom>
            <a:noFill/>
            <a:ln>
              <a:noFill/>
            </a:ln>
          </p:spPr>
          <p:txBody>
            <a:bodyPr anchorCtr="0" anchor="t" bIns="45700" lIns="91425" spcFirstLastPara="1" rIns="0" wrap="square" tIns="45700">
              <a:spAutoFit/>
            </a:bodyPr>
            <a:lstStyle/>
            <a:p>
              <a:pPr indent="0" lvl="0" marL="0" marR="0" rtl="0" algn="l">
                <a:lnSpc>
                  <a:spcPct val="100000"/>
                </a:lnSpc>
                <a:spcBef>
                  <a:spcPts val="0"/>
                </a:spcBef>
                <a:spcAft>
                  <a:spcPts val="0"/>
                </a:spcAft>
                <a:buClr>
                  <a:schemeClr val="dk1"/>
                </a:buClr>
                <a:buSzPts val="2400"/>
                <a:buFont typeface="Tahoma"/>
                <a:buNone/>
              </a:pPr>
              <a:r>
                <a:rPr b="1" i="0" lang="en-US" sz="2400" u="none" cap="none" strike="noStrike">
                  <a:solidFill>
                    <a:schemeClr val="dk1"/>
                  </a:solidFill>
                  <a:latin typeface="Tahoma"/>
                  <a:ea typeface="Tahoma"/>
                  <a:cs typeface="Tahoma"/>
                  <a:sym typeface="Tahoma"/>
                </a:rPr>
                <a:t>T(-h ,-k)</a:t>
              </a:r>
              <a:endParaRPr b="0" i="0" sz="1400" u="none" cap="none" strike="noStrike">
                <a:solidFill>
                  <a:srgbClr val="000000"/>
                </a:solidFill>
                <a:latin typeface="Arial"/>
                <a:ea typeface="Arial"/>
                <a:cs typeface="Arial"/>
                <a:sym typeface="Arial"/>
              </a:endParaRPr>
            </a:p>
          </p:txBody>
        </p:sp>
        <p:grpSp>
          <p:nvGrpSpPr>
            <p:cNvPr id="1024" name="Google Shape;1024;p66"/>
            <p:cNvGrpSpPr/>
            <p:nvPr/>
          </p:nvGrpSpPr>
          <p:grpSpPr>
            <a:xfrm>
              <a:off x="2064" y="3230"/>
              <a:ext cx="336" cy="624"/>
              <a:chOff x="3038" y="1310"/>
              <a:chExt cx="336" cy="624"/>
            </a:xfrm>
          </p:grpSpPr>
          <p:sp>
            <p:nvSpPr>
              <p:cNvPr id="1025" name="Google Shape;1025;p66"/>
              <p:cNvSpPr/>
              <p:nvPr/>
            </p:nvSpPr>
            <p:spPr>
              <a:xfrm>
                <a:off x="3374" y="1310"/>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26" name="Google Shape;1026;p66"/>
              <p:cNvSpPr/>
              <p:nvPr/>
            </p:nvSpPr>
            <p:spPr>
              <a:xfrm>
                <a:off x="3038" y="1934"/>
                <a:ext cx="0" cy="0"/>
              </a:xfrm>
              <a:prstGeom prst="ellipse">
                <a:avLst/>
              </a:prstGeom>
              <a:solidFill>
                <a:srgbClr val="FF0000"/>
              </a:solidFill>
              <a:ln cap="flat" cmpd="sng" w="9525">
                <a:solidFill>
                  <a:srgbClr val="8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06"/>
                                        </p:tgtEl>
                                        <p:attrNameLst>
                                          <p:attrName>style.visibility</p:attrName>
                                        </p:attrNameLst>
                                      </p:cBhvr>
                                      <p:to>
                                        <p:strVal val="visible"/>
                                      </p:to>
                                    </p:set>
                                    <p:animEffect filter="fade" transition="in">
                                      <p:cBhvr>
                                        <p:cTn dur="500"/>
                                        <p:tgtEl>
                                          <p:spTgt spid="10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grpSp>
        <p:nvGrpSpPr>
          <p:cNvPr id="1031" name="Google Shape;1031;p67"/>
          <p:cNvGrpSpPr/>
          <p:nvPr/>
        </p:nvGrpSpPr>
        <p:grpSpPr>
          <a:xfrm>
            <a:off x="5365510" y="3566322"/>
            <a:ext cx="604670" cy="750722"/>
            <a:chOff x="1727200" y="685800"/>
            <a:chExt cx="685800" cy="1143000"/>
          </a:xfrm>
        </p:grpSpPr>
        <p:sp>
          <p:nvSpPr>
            <p:cNvPr id="1032" name="Google Shape;1032;p67"/>
            <p:cNvSpPr/>
            <p:nvPr/>
          </p:nvSpPr>
          <p:spPr>
            <a:xfrm>
              <a:off x="2260600" y="6858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33" name="Google Shape;1033;p67"/>
            <p:cNvSpPr/>
            <p:nvPr/>
          </p:nvSpPr>
          <p:spPr>
            <a:xfrm>
              <a:off x="1727200"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034" name="Google Shape;1034;p67"/>
            <p:cNvCxnSpPr>
              <a:stCxn id="1033" idx="7"/>
              <a:endCxn id="1032" idx="3"/>
            </p:cNvCxnSpPr>
            <p:nvPr/>
          </p:nvCxnSpPr>
          <p:spPr>
            <a:xfrm flipH="1" rot="10800000">
              <a:off x="1857282" y="815818"/>
              <a:ext cx="425700" cy="8829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1035" name="Google Shape;1035;p67"/>
            <p:cNvCxnSpPr>
              <a:endCxn id="1032" idx="4"/>
            </p:cNvCxnSpPr>
            <p:nvPr/>
          </p:nvCxnSpPr>
          <p:spPr>
            <a:xfrm flipH="1" rot="10800000">
              <a:off x="2290900" y="838200"/>
              <a:ext cx="45900" cy="9144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1036" name="Google Shape;1036;p67"/>
            <p:cNvCxnSpPr>
              <a:stCxn id="1033" idx="6"/>
            </p:cNvCxnSpPr>
            <p:nvPr/>
          </p:nvCxnSpPr>
          <p:spPr>
            <a:xfrm>
              <a:off x="1879600" y="1752600"/>
              <a:ext cx="434100" cy="0"/>
            </a:xfrm>
            <a:prstGeom prst="straightConnector1">
              <a:avLst/>
            </a:prstGeom>
            <a:solidFill>
              <a:schemeClr val="lt1"/>
            </a:solidFill>
            <a:ln cap="flat" cmpd="sng" w="12700">
              <a:solidFill>
                <a:schemeClr val="dk1"/>
              </a:solidFill>
              <a:prstDash val="dot"/>
              <a:miter lim="800000"/>
              <a:headEnd len="sm" w="sm" type="none"/>
              <a:tailEnd len="sm" w="sm" type="none"/>
            </a:ln>
          </p:spPr>
        </p:cxnSp>
        <p:sp>
          <p:nvSpPr>
            <p:cNvPr id="1037" name="Google Shape;1037;p67"/>
            <p:cNvSpPr/>
            <p:nvPr/>
          </p:nvSpPr>
          <p:spPr>
            <a:xfrm>
              <a:off x="2210594"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1038" name="Google Shape;1038;p67"/>
          <p:cNvSpPr txBox="1"/>
          <p:nvPr>
            <p:ph idx="12" type="sldNum"/>
          </p:nvPr>
        </p:nvSpPr>
        <p:spPr>
          <a:xfrm>
            <a:off x="7052140" y="4517247"/>
            <a:ext cx="1679700" cy="3003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cxnSp>
        <p:nvCxnSpPr>
          <p:cNvPr id="1039" name="Google Shape;1039;p67"/>
          <p:cNvCxnSpPr/>
          <p:nvPr/>
        </p:nvCxnSpPr>
        <p:spPr>
          <a:xfrm>
            <a:off x="1218295" y="2315113"/>
            <a:ext cx="2149800" cy="0"/>
          </a:xfrm>
          <a:prstGeom prst="straightConnector1">
            <a:avLst/>
          </a:prstGeom>
          <a:noFill/>
          <a:ln cap="flat" cmpd="sng" w="9525">
            <a:solidFill>
              <a:schemeClr val="dk1"/>
            </a:solidFill>
            <a:prstDash val="solid"/>
            <a:round/>
            <a:headEnd len="sm" w="sm" type="none"/>
            <a:tailEnd len="med" w="med" type="triangle"/>
          </a:ln>
        </p:spPr>
      </p:cxnSp>
      <p:cxnSp>
        <p:nvCxnSpPr>
          <p:cNvPr id="1040" name="Google Shape;1040;p67"/>
          <p:cNvCxnSpPr/>
          <p:nvPr/>
        </p:nvCxnSpPr>
        <p:spPr>
          <a:xfrm rot="10800000">
            <a:off x="1218295" y="913813"/>
            <a:ext cx="0" cy="1401300"/>
          </a:xfrm>
          <a:prstGeom prst="straightConnector1">
            <a:avLst/>
          </a:prstGeom>
          <a:noFill/>
          <a:ln cap="flat" cmpd="sng" w="9525">
            <a:solidFill>
              <a:schemeClr val="dk1"/>
            </a:solidFill>
            <a:prstDash val="solid"/>
            <a:round/>
            <a:headEnd len="sm" w="sm" type="none"/>
            <a:tailEnd len="med" w="med" type="triangle"/>
          </a:ln>
        </p:spPr>
      </p:cxnSp>
      <p:sp>
        <p:nvSpPr>
          <p:cNvPr id="1041" name="Google Shape;1041;p67"/>
          <p:cNvSpPr txBox="1"/>
          <p:nvPr/>
        </p:nvSpPr>
        <p:spPr>
          <a:xfrm>
            <a:off x="1811323" y="1604013"/>
            <a:ext cx="1296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P(h,k)</a:t>
            </a:r>
            <a:endParaRPr b="0" i="0" sz="1400" u="none" cap="none" strike="noStrike">
              <a:solidFill>
                <a:srgbClr val="000000"/>
              </a:solidFill>
              <a:latin typeface="Arial"/>
              <a:ea typeface="Arial"/>
              <a:cs typeface="Arial"/>
              <a:sym typeface="Arial"/>
            </a:endParaRPr>
          </a:p>
        </p:txBody>
      </p:sp>
      <p:grpSp>
        <p:nvGrpSpPr>
          <p:cNvPr id="1042" name="Google Shape;1042;p67"/>
          <p:cNvGrpSpPr/>
          <p:nvPr/>
        </p:nvGrpSpPr>
        <p:grpSpPr>
          <a:xfrm>
            <a:off x="2203692" y="863703"/>
            <a:ext cx="604670" cy="750722"/>
            <a:chOff x="1727200" y="685800"/>
            <a:chExt cx="685800" cy="1143000"/>
          </a:xfrm>
        </p:grpSpPr>
        <p:sp>
          <p:nvSpPr>
            <p:cNvPr id="1043" name="Google Shape;1043;p67"/>
            <p:cNvSpPr/>
            <p:nvPr/>
          </p:nvSpPr>
          <p:spPr>
            <a:xfrm>
              <a:off x="2260600" y="6858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44" name="Google Shape;1044;p67"/>
            <p:cNvSpPr/>
            <p:nvPr/>
          </p:nvSpPr>
          <p:spPr>
            <a:xfrm>
              <a:off x="1727200"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045" name="Google Shape;1045;p67"/>
            <p:cNvCxnSpPr>
              <a:stCxn id="1044" idx="7"/>
              <a:endCxn id="1043" idx="3"/>
            </p:cNvCxnSpPr>
            <p:nvPr/>
          </p:nvCxnSpPr>
          <p:spPr>
            <a:xfrm flipH="1" rot="10800000">
              <a:off x="1857282" y="815818"/>
              <a:ext cx="425700" cy="882900"/>
            </a:xfrm>
            <a:prstGeom prst="straightConnector1">
              <a:avLst/>
            </a:prstGeom>
            <a:noFill/>
            <a:ln cap="flat" cmpd="sng" w="9525">
              <a:solidFill>
                <a:schemeClr val="dk1"/>
              </a:solidFill>
              <a:prstDash val="solid"/>
              <a:round/>
              <a:headEnd len="sm" w="sm" type="none"/>
              <a:tailEnd len="sm" w="sm" type="none"/>
            </a:ln>
          </p:spPr>
        </p:cxnSp>
        <p:cxnSp>
          <p:nvCxnSpPr>
            <p:cNvPr id="1046" name="Google Shape;1046;p67"/>
            <p:cNvCxnSpPr>
              <a:endCxn id="1043" idx="4"/>
            </p:cNvCxnSpPr>
            <p:nvPr/>
          </p:nvCxnSpPr>
          <p:spPr>
            <a:xfrm flipH="1" rot="10800000">
              <a:off x="2290900" y="838200"/>
              <a:ext cx="45900" cy="914400"/>
            </a:xfrm>
            <a:prstGeom prst="straightConnector1">
              <a:avLst/>
            </a:prstGeom>
            <a:noFill/>
            <a:ln cap="flat" cmpd="sng" w="9525">
              <a:solidFill>
                <a:schemeClr val="dk1"/>
              </a:solidFill>
              <a:prstDash val="solid"/>
              <a:round/>
              <a:headEnd len="sm" w="sm" type="none"/>
              <a:tailEnd len="sm" w="sm" type="none"/>
            </a:ln>
          </p:spPr>
        </p:cxnSp>
        <p:cxnSp>
          <p:nvCxnSpPr>
            <p:cNvPr id="1047" name="Google Shape;1047;p67"/>
            <p:cNvCxnSpPr>
              <a:stCxn id="1044" idx="6"/>
            </p:cNvCxnSpPr>
            <p:nvPr/>
          </p:nvCxnSpPr>
          <p:spPr>
            <a:xfrm>
              <a:off x="1879600" y="1752600"/>
              <a:ext cx="434100" cy="0"/>
            </a:xfrm>
            <a:prstGeom prst="straightConnector1">
              <a:avLst/>
            </a:prstGeom>
            <a:noFill/>
            <a:ln cap="flat" cmpd="sng" w="9525">
              <a:solidFill>
                <a:schemeClr val="dk1"/>
              </a:solidFill>
              <a:prstDash val="solid"/>
              <a:round/>
              <a:headEnd len="sm" w="sm" type="none"/>
              <a:tailEnd len="sm" w="sm" type="none"/>
            </a:ln>
          </p:spPr>
        </p:cxnSp>
        <p:sp>
          <p:nvSpPr>
            <p:cNvPr id="1048" name="Google Shape;1048;p67"/>
            <p:cNvSpPr/>
            <p:nvPr/>
          </p:nvSpPr>
          <p:spPr>
            <a:xfrm>
              <a:off x="2210594"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cxnSp>
        <p:nvCxnSpPr>
          <p:cNvPr id="1049" name="Google Shape;1049;p67"/>
          <p:cNvCxnSpPr/>
          <p:nvPr/>
        </p:nvCxnSpPr>
        <p:spPr>
          <a:xfrm>
            <a:off x="5965186" y="2360334"/>
            <a:ext cx="2149800" cy="0"/>
          </a:xfrm>
          <a:prstGeom prst="straightConnector1">
            <a:avLst/>
          </a:prstGeom>
          <a:noFill/>
          <a:ln cap="flat" cmpd="sng" w="9525">
            <a:solidFill>
              <a:schemeClr val="dk1"/>
            </a:solidFill>
            <a:prstDash val="solid"/>
            <a:round/>
            <a:headEnd len="sm" w="sm" type="none"/>
            <a:tailEnd len="med" w="med" type="triangle"/>
          </a:ln>
        </p:spPr>
      </p:cxnSp>
      <p:cxnSp>
        <p:nvCxnSpPr>
          <p:cNvPr id="1050" name="Google Shape;1050;p67"/>
          <p:cNvCxnSpPr/>
          <p:nvPr/>
        </p:nvCxnSpPr>
        <p:spPr>
          <a:xfrm rot="10800000">
            <a:off x="5965186" y="959034"/>
            <a:ext cx="0" cy="1401300"/>
          </a:xfrm>
          <a:prstGeom prst="straightConnector1">
            <a:avLst/>
          </a:prstGeom>
          <a:noFill/>
          <a:ln cap="flat" cmpd="sng" w="9525">
            <a:solidFill>
              <a:schemeClr val="dk1"/>
            </a:solidFill>
            <a:prstDash val="solid"/>
            <a:round/>
            <a:headEnd len="sm" w="sm" type="none"/>
            <a:tailEnd len="med" w="med" type="triangle"/>
          </a:ln>
        </p:spPr>
      </p:cxnSp>
      <p:sp>
        <p:nvSpPr>
          <p:cNvPr id="1051" name="Google Shape;1051;p67"/>
          <p:cNvSpPr txBox="1"/>
          <p:nvPr/>
        </p:nvSpPr>
        <p:spPr>
          <a:xfrm>
            <a:off x="5495742" y="2379494"/>
            <a:ext cx="1081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P’(0,0)</a:t>
            </a:r>
            <a:endParaRPr b="0" i="0" sz="1400" u="none" cap="none" strike="noStrike">
              <a:solidFill>
                <a:srgbClr val="000000"/>
              </a:solidFill>
              <a:latin typeface="Arial"/>
              <a:ea typeface="Arial"/>
              <a:cs typeface="Arial"/>
              <a:sym typeface="Arial"/>
            </a:endParaRPr>
          </a:p>
        </p:txBody>
      </p:sp>
      <p:grpSp>
        <p:nvGrpSpPr>
          <p:cNvPr id="1052" name="Google Shape;1052;p67"/>
          <p:cNvGrpSpPr/>
          <p:nvPr/>
        </p:nvGrpSpPr>
        <p:grpSpPr>
          <a:xfrm>
            <a:off x="5894833" y="1652468"/>
            <a:ext cx="604670" cy="750722"/>
            <a:chOff x="1727200" y="685800"/>
            <a:chExt cx="685800" cy="1143000"/>
          </a:xfrm>
        </p:grpSpPr>
        <p:sp>
          <p:nvSpPr>
            <p:cNvPr id="1053" name="Google Shape;1053;p67"/>
            <p:cNvSpPr/>
            <p:nvPr/>
          </p:nvSpPr>
          <p:spPr>
            <a:xfrm>
              <a:off x="2260600" y="6858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54" name="Google Shape;1054;p67"/>
            <p:cNvSpPr/>
            <p:nvPr/>
          </p:nvSpPr>
          <p:spPr>
            <a:xfrm>
              <a:off x="1727200"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055" name="Google Shape;1055;p67"/>
            <p:cNvCxnSpPr>
              <a:stCxn id="1054" idx="7"/>
              <a:endCxn id="1053" idx="3"/>
            </p:cNvCxnSpPr>
            <p:nvPr/>
          </p:nvCxnSpPr>
          <p:spPr>
            <a:xfrm flipH="1" rot="10800000">
              <a:off x="1857282" y="815818"/>
              <a:ext cx="425700" cy="882900"/>
            </a:xfrm>
            <a:prstGeom prst="straightConnector1">
              <a:avLst/>
            </a:prstGeom>
            <a:noFill/>
            <a:ln cap="flat" cmpd="sng" w="9525">
              <a:solidFill>
                <a:schemeClr val="dk1"/>
              </a:solidFill>
              <a:prstDash val="solid"/>
              <a:round/>
              <a:headEnd len="sm" w="sm" type="none"/>
              <a:tailEnd len="sm" w="sm" type="none"/>
            </a:ln>
          </p:spPr>
        </p:cxnSp>
        <p:cxnSp>
          <p:nvCxnSpPr>
            <p:cNvPr id="1056" name="Google Shape;1056;p67"/>
            <p:cNvCxnSpPr>
              <a:endCxn id="1053" idx="4"/>
            </p:cNvCxnSpPr>
            <p:nvPr/>
          </p:nvCxnSpPr>
          <p:spPr>
            <a:xfrm flipH="1" rot="10800000">
              <a:off x="2290900" y="838200"/>
              <a:ext cx="45900" cy="914400"/>
            </a:xfrm>
            <a:prstGeom prst="straightConnector1">
              <a:avLst/>
            </a:prstGeom>
            <a:noFill/>
            <a:ln cap="flat" cmpd="sng" w="9525">
              <a:solidFill>
                <a:schemeClr val="dk1"/>
              </a:solidFill>
              <a:prstDash val="solid"/>
              <a:round/>
              <a:headEnd len="sm" w="sm" type="none"/>
              <a:tailEnd len="sm" w="sm" type="none"/>
            </a:ln>
          </p:spPr>
        </p:cxnSp>
        <p:cxnSp>
          <p:nvCxnSpPr>
            <p:cNvPr id="1057" name="Google Shape;1057;p67"/>
            <p:cNvCxnSpPr>
              <a:stCxn id="1054" idx="6"/>
            </p:cNvCxnSpPr>
            <p:nvPr/>
          </p:nvCxnSpPr>
          <p:spPr>
            <a:xfrm>
              <a:off x="1879600" y="1752600"/>
              <a:ext cx="434100" cy="0"/>
            </a:xfrm>
            <a:prstGeom prst="straightConnector1">
              <a:avLst/>
            </a:prstGeom>
            <a:noFill/>
            <a:ln cap="flat" cmpd="sng" w="9525">
              <a:solidFill>
                <a:schemeClr val="dk1"/>
              </a:solidFill>
              <a:prstDash val="solid"/>
              <a:round/>
              <a:headEnd len="sm" w="sm" type="none"/>
              <a:tailEnd len="sm" w="sm" type="none"/>
            </a:ln>
          </p:spPr>
        </p:cxnSp>
        <p:sp>
          <p:nvSpPr>
            <p:cNvPr id="1058" name="Google Shape;1058;p67"/>
            <p:cNvSpPr/>
            <p:nvPr/>
          </p:nvSpPr>
          <p:spPr>
            <a:xfrm>
              <a:off x="2210594"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059" name="Google Shape;1059;p67"/>
          <p:cNvGrpSpPr/>
          <p:nvPr/>
        </p:nvGrpSpPr>
        <p:grpSpPr>
          <a:xfrm>
            <a:off x="1172817" y="3092828"/>
            <a:ext cx="1004628" cy="1247356"/>
            <a:chOff x="1727200" y="685800"/>
            <a:chExt cx="685800" cy="1143000"/>
          </a:xfrm>
        </p:grpSpPr>
        <p:sp>
          <p:nvSpPr>
            <p:cNvPr id="1060" name="Google Shape;1060;p67"/>
            <p:cNvSpPr/>
            <p:nvPr/>
          </p:nvSpPr>
          <p:spPr>
            <a:xfrm>
              <a:off x="2260600" y="6858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61" name="Google Shape;1061;p67"/>
            <p:cNvSpPr/>
            <p:nvPr/>
          </p:nvSpPr>
          <p:spPr>
            <a:xfrm>
              <a:off x="1727200"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062" name="Google Shape;1062;p67"/>
            <p:cNvCxnSpPr>
              <a:stCxn id="1061" idx="7"/>
              <a:endCxn id="1060" idx="3"/>
            </p:cNvCxnSpPr>
            <p:nvPr/>
          </p:nvCxnSpPr>
          <p:spPr>
            <a:xfrm flipH="1" rot="10800000">
              <a:off x="1857282" y="815818"/>
              <a:ext cx="425700" cy="8829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1063" name="Google Shape;1063;p67"/>
            <p:cNvCxnSpPr>
              <a:endCxn id="1060" idx="4"/>
            </p:cNvCxnSpPr>
            <p:nvPr/>
          </p:nvCxnSpPr>
          <p:spPr>
            <a:xfrm flipH="1" rot="10800000">
              <a:off x="2290900" y="838200"/>
              <a:ext cx="45900" cy="9144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1064" name="Google Shape;1064;p67"/>
            <p:cNvCxnSpPr>
              <a:stCxn id="1061" idx="6"/>
            </p:cNvCxnSpPr>
            <p:nvPr/>
          </p:nvCxnSpPr>
          <p:spPr>
            <a:xfrm>
              <a:off x="1879600" y="1752600"/>
              <a:ext cx="434100" cy="0"/>
            </a:xfrm>
            <a:prstGeom prst="straightConnector1">
              <a:avLst/>
            </a:prstGeom>
            <a:solidFill>
              <a:schemeClr val="lt1"/>
            </a:solidFill>
            <a:ln cap="flat" cmpd="sng" w="12700">
              <a:solidFill>
                <a:schemeClr val="dk1"/>
              </a:solidFill>
              <a:prstDash val="dot"/>
              <a:miter lim="800000"/>
              <a:headEnd len="sm" w="sm" type="none"/>
              <a:tailEnd len="sm" w="sm" type="none"/>
            </a:ln>
          </p:spPr>
        </p:cxnSp>
        <p:sp>
          <p:nvSpPr>
            <p:cNvPr id="1065" name="Google Shape;1065;p67"/>
            <p:cNvSpPr/>
            <p:nvPr/>
          </p:nvSpPr>
          <p:spPr>
            <a:xfrm>
              <a:off x="2210594"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sp>
        <p:nvSpPr>
          <p:cNvPr id="1066" name="Google Shape;1066;p67"/>
          <p:cNvSpPr/>
          <p:nvPr/>
        </p:nvSpPr>
        <p:spPr>
          <a:xfrm rot="4130797">
            <a:off x="5284010" y="4002162"/>
            <a:ext cx="394052" cy="504172"/>
          </a:xfrm>
          <a:prstGeom prst="arc">
            <a:avLst>
              <a:gd fmla="val 17511222" name="adj1"/>
              <a:gd fmla="val 1682414" name="adj2"/>
            </a:avLst>
          </a:prstGeom>
          <a:noFill/>
          <a:ln cap="flat" cmpd="sng" w="28575">
            <a:solidFill>
              <a:schemeClr val="accent1"/>
            </a:solidFill>
            <a:prstDash val="solid"/>
            <a:miter lim="800000"/>
            <a:headEnd len="sm" w="sm" type="none"/>
            <a:tailEnd len="med" w="med" type="triangl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7" name="Google Shape;1067;p67"/>
          <p:cNvSpPr/>
          <p:nvPr/>
        </p:nvSpPr>
        <p:spPr>
          <a:xfrm>
            <a:off x="4478198" y="1574579"/>
            <a:ext cx="351900" cy="165600"/>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cxnSp>
        <p:nvCxnSpPr>
          <p:cNvPr id="1068" name="Google Shape;1068;p67"/>
          <p:cNvCxnSpPr/>
          <p:nvPr/>
        </p:nvCxnSpPr>
        <p:spPr>
          <a:xfrm>
            <a:off x="1294524" y="4260986"/>
            <a:ext cx="2149800" cy="0"/>
          </a:xfrm>
          <a:prstGeom prst="straightConnector1">
            <a:avLst/>
          </a:prstGeom>
          <a:noFill/>
          <a:ln cap="flat" cmpd="sng" w="9525">
            <a:solidFill>
              <a:schemeClr val="dk1"/>
            </a:solidFill>
            <a:prstDash val="solid"/>
            <a:round/>
            <a:headEnd len="sm" w="sm" type="none"/>
            <a:tailEnd len="med" w="med" type="triangle"/>
          </a:ln>
        </p:spPr>
      </p:cxnSp>
      <p:cxnSp>
        <p:nvCxnSpPr>
          <p:cNvPr id="1069" name="Google Shape;1069;p67"/>
          <p:cNvCxnSpPr/>
          <p:nvPr/>
        </p:nvCxnSpPr>
        <p:spPr>
          <a:xfrm rot="10800000">
            <a:off x="1294524" y="2859686"/>
            <a:ext cx="0" cy="1401300"/>
          </a:xfrm>
          <a:prstGeom prst="straightConnector1">
            <a:avLst/>
          </a:prstGeom>
          <a:noFill/>
          <a:ln cap="flat" cmpd="sng" w="9525">
            <a:solidFill>
              <a:schemeClr val="dk1"/>
            </a:solidFill>
            <a:prstDash val="solid"/>
            <a:round/>
            <a:headEnd len="sm" w="sm" type="none"/>
            <a:tailEnd len="med" w="med" type="triangle"/>
          </a:ln>
        </p:spPr>
      </p:cxnSp>
      <p:sp>
        <p:nvSpPr>
          <p:cNvPr id="1070" name="Google Shape;1070;p67"/>
          <p:cNvSpPr txBox="1"/>
          <p:nvPr/>
        </p:nvSpPr>
        <p:spPr>
          <a:xfrm>
            <a:off x="2043096" y="3555231"/>
            <a:ext cx="14013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P(h,k)</a:t>
            </a:r>
            <a:endParaRPr b="0" i="0" sz="1400" u="none" cap="none" strike="noStrike">
              <a:solidFill>
                <a:srgbClr val="000000"/>
              </a:solidFill>
              <a:latin typeface="Arial"/>
              <a:ea typeface="Arial"/>
              <a:cs typeface="Arial"/>
              <a:sym typeface="Arial"/>
            </a:endParaRPr>
          </a:p>
        </p:txBody>
      </p:sp>
      <p:sp>
        <p:nvSpPr>
          <p:cNvPr id="1071" name="Google Shape;1071;p67"/>
          <p:cNvSpPr txBox="1"/>
          <p:nvPr/>
        </p:nvSpPr>
        <p:spPr>
          <a:xfrm>
            <a:off x="4174301" y="962529"/>
            <a:ext cx="11832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Translate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(-h,-k)</a:t>
            </a:r>
            <a:endParaRPr b="0" i="0" sz="1400" u="none" cap="none" strike="noStrike">
              <a:solidFill>
                <a:srgbClr val="000000"/>
              </a:solidFill>
              <a:latin typeface="Arial"/>
              <a:ea typeface="Arial"/>
              <a:cs typeface="Arial"/>
              <a:sym typeface="Arial"/>
            </a:endParaRPr>
          </a:p>
        </p:txBody>
      </p:sp>
      <p:cxnSp>
        <p:nvCxnSpPr>
          <p:cNvPr id="1072" name="Google Shape;1072;p67"/>
          <p:cNvCxnSpPr/>
          <p:nvPr/>
        </p:nvCxnSpPr>
        <p:spPr>
          <a:xfrm>
            <a:off x="5424240" y="4273473"/>
            <a:ext cx="2149800" cy="0"/>
          </a:xfrm>
          <a:prstGeom prst="straightConnector1">
            <a:avLst/>
          </a:prstGeom>
          <a:noFill/>
          <a:ln cap="flat" cmpd="sng" w="9525">
            <a:solidFill>
              <a:schemeClr val="dk1"/>
            </a:solidFill>
            <a:prstDash val="solid"/>
            <a:round/>
            <a:headEnd len="sm" w="sm" type="none"/>
            <a:tailEnd len="med" w="med" type="triangle"/>
          </a:ln>
        </p:spPr>
      </p:cxnSp>
      <p:cxnSp>
        <p:nvCxnSpPr>
          <p:cNvPr id="1073" name="Google Shape;1073;p67"/>
          <p:cNvCxnSpPr/>
          <p:nvPr/>
        </p:nvCxnSpPr>
        <p:spPr>
          <a:xfrm rot="10800000">
            <a:off x="5424240" y="2872173"/>
            <a:ext cx="0" cy="1401300"/>
          </a:xfrm>
          <a:prstGeom prst="straightConnector1">
            <a:avLst/>
          </a:prstGeom>
          <a:noFill/>
          <a:ln cap="flat" cmpd="sng" w="9525">
            <a:solidFill>
              <a:schemeClr val="dk1"/>
            </a:solidFill>
            <a:prstDash val="solid"/>
            <a:round/>
            <a:headEnd len="sm" w="sm" type="none"/>
            <a:tailEnd len="med" w="med" type="triangle"/>
          </a:ln>
        </p:spPr>
      </p:cxnSp>
      <p:sp>
        <p:nvSpPr>
          <p:cNvPr id="1074" name="Google Shape;1074;p67"/>
          <p:cNvSpPr/>
          <p:nvPr/>
        </p:nvSpPr>
        <p:spPr>
          <a:xfrm rot="5400000">
            <a:off x="6557714" y="2765448"/>
            <a:ext cx="262200" cy="222300"/>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5" name="Google Shape;1075;p67"/>
          <p:cNvSpPr txBox="1"/>
          <p:nvPr/>
        </p:nvSpPr>
        <p:spPr>
          <a:xfrm>
            <a:off x="6837922" y="2667588"/>
            <a:ext cx="16797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Scale(1.5, 1.5)</a:t>
            </a:r>
            <a:endParaRPr b="0" i="0" sz="1400" u="none" cap="none" strike="noStrike">
              <a:solidFill>
                <a:srgbClr val="000000"/>
              </a:solidFill>
              <a:latin typeface="Arial"/>
              <a:ea typeface="Arial"/>
              <a:cs typeface="Arial"/>
              <a:sym typeface="Arial"/>
            </a:endParaRPr>
          </a:p>
        </p:txBody>
      </p:sp>
      <p:sp>
        <p:nvSpPr>
          <p:cNvPr id="1076" name="Google Shape;1076;p67"/>
          <p:cNvSpPr/>
          <p:nvPr/>
        </p:nvSpPr>
        <p:spPr>
          <a:xfrm rot="10688576">
            <a:off x="4130535" y="3575523"/>
            <a:ext cx="351785" cy="165878"/>
          </a:xfrm>
          <a:prstGeom prst="rightArrow">
            <a:avLst>
              <a:gd fmla="val 50000" name="adj1"/>
              <a:gd fmla="val 50000" name="adj2"/>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7" name="Google Shape;1077;p67"/>
          <p:cNvSpPr txBox="1"/>
          <p:nvPr/>
        </p:nvSpPr>
        <p:spPr>
          <a:xfrm>
            <a:off x="3890284" y="3034338"/>
            <a:ext cx="14751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Translate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66"/>
              </a:buClr>
              <a:buSzPts val="1600"/>
              <a:buFont typeface="Noto Sans Symbols"/>
              <a:buNone/>
            </a:pPr>
            <a:r>
              <a:rPr b="1" i="1" lang="en-US" sz="1600" u="none" cap="none" strike="noStrike">
                <a:solidFill>
                  <a:srgbClr val="000066"/>
                </a:solidFill>
                <a:latin typeface="Garamond"/>
                <a:ea typeface="Garamond"/>
                <a:cs typeface="Garamond"/>
                <a:sym typeface="Garamond"/>
              </a:rPr>
              <a:t>(h,k)</a:t>
            </a:r>
            <a:endParaRPr b="0" i="0" sz="1400" u="none" cap="none" strike="noStrike">
              <a:solidFill>
                <a:srgbClr val="000000"/>
              </a:solidFill>
              <a:latin typeface="Arial"/>
              <a:ea typeface="Arial"/>
              <a:cs typeface="Arial"/>
              <a:sym typeface="Arial"/>
            </a:endParaRPr>
          </a:p>
        </p:txBody>
      </p:sp>
      <p:grpSp>
        <p:nvGrpSpPr>
          <p:cNvPr id="1078" name="Google Shape;1078;p67"/>
          <p:cNvGrpSpPr/>
          <p:nvPr/>
        </p:nvGrpSpPr>
        <p:grpSpPr>
          <a:xfrm>
            <a:off x="6844998" y="958973"/>
            <a:ext cx="604670" cy="750722"/>
            <a:chOff x="1727200" y="685800"/>
            <a:chExt cx="685800" cy="1143000"/>
          </a:xfrm>
        </p:grpSpPr>
        <p:sp>
          <p:nvSpPr>
            <p:cNvPr id="1079" name="Google Shape;1079;p67"/>
            <p:cNvSpPr/>
            <p:nvPr/>
          </p:nvSpPr>
          <p:spPr>
            <a:xfrm>
              <a:off x="2260600" y="6858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80" name="Google Shape;1080;p67"/>
            <p:cNvSpPr/>
            <p:nvPr/>
          </p:nvSpPr>
          <p:spPr>
            <a:xfrm>
              <a:off x="1727200"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081" name="Google Shape;1081;p67"/>
            <p:cNvCxnSpPr>
              <a:stCxn id="1080" idx="7"/>
              <a:endCxn id="1079" idx="3"/>
            </p:cNvCxnSpPr>
            <p:nvPr/>
          </p:nvCxnSpPr>
          <p:spPr>
            <a:xfrm flipH="1" rot="10800000">
              <a:off x="1857282" y="815818"/>
              <a:ext cx="425700" cy="8829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1082" name="Google Shape;1082;p67"/>
            <p:cNvCxnSpPr>
              <a:endCxn id="1079" idx="4"/>
            </p:cNvCxnSpPr>
            <p:nvPr/>
          </p:nvCxnSpPr>
          <p:spPr>
            <a:xfrm flipH="1" rot="10800000">
              <a:off x="2290900" y="838200"/>
              <a:ext cx="45900" cy="914400"/>
            </a:xfrm>
            <a:prstGeom prst="straightConnector1">
              <a:avLst/>
            </a:prstGeom>
            <a:solidFill>
              <a:schemeClr val="lt1"/>
            </a:solidFill>
            <a:ln cap="flat" cmpd="sng" w="12700">
              <a:solidFill>
                <a:schemeClr val="dk1"/>
              </a:solidFill>
              <a:prstDash val="dot"/>
              <a:miter lim="800000"/>
              <a:headEnd len="sm" w="sm" type="none"/>
              <a:tailEnd len="sm" w="sm" type="none"/>
            </a:ln>
          </p:spPr>
        </p:cxnSp>
        <p:cxnSp>
          <p:nvCxnSpPr>
            <p:cNvPr id="1083" name="Google Shape;1083;p67"/>
            <p:cNvCxnSpPr>
              <a:stCxn id="1080" idx="6"/>
            </p:cNvCxnSpPr>
            <p:nvPr/>
          </p:nvCxnSpPr>
          <p:spPr>
            <a:xfrm>
              <a:off x="1879600" y="1752600"/>
              <a:ext cx="434100" cy="0"/>
            </a:xfrm>
            <a:prstGeom prst="straightConnector1">
              <a:avLst/>
            </a:prstGeom>
            <a:solidFill>
              <a:schemeClr val="lt1"/>
            </a:solidFill>
            <a:ln cap="flat" cmpd="sng" w="12700">
              <a:solidFill>
                <a:schemeClr val="dk1"/>
              </a:solidFill>
              <a:prstDash val="dot"/>
              <a:miter lim="800000"/>
              <a:headEnd len="sm" w="sm" type="none"/>
              <a:tailEnd len="sm" w="sm" type="none"/>
            </a:ln>
          </p:spPr>
        </p:cxnSp>
        <p:sp>
          <p:nvSpPr>
            <p:cNvPr id="1084" name="Google Shape;1084;p67"/>
            <p:cNvSpPr/>
            <p:nvPr/>
          </p:nvSpPr>
          <p:spPr>
            <a:xfrm>
              <a:off x="2210594" y="1676400"/>
              <a:ext cx="152400" cy="152400"/>
            </a:xfrm>
            <a:prstGeom prst="ellipse">
              <a:avLst/>
            </a:prstGeom>
            <a:solidFill>
              <a:schemeClr val="lt1"/>
            </a:solidFill>
            <a:ln cap="flat" cmpd="sng" w="127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cxnSp>
        <p:nvCxnSpPr>
          <p:cNvPr id="1085" name="Google Shape;1085;p67"/>
          <p:cNvCxnSpPr>
            <a:stCxn id="1080" idx="3"/>
            <a:endCxn id="1054" idx="7"/>
          </p:cNvCxnSpPr>
          <p:nvPr/>
        </p:nvCxnSpPr>
        <p:spPr>
          <a:xfrm flipH="1">
            <a:off x="6009376" y="1695036"/>
            <a:ext cx="855300" cy="622800"/>
          </a:xfrm>
          <a:prstGeom prst="straightConnector1">
            <a:avLst/>
          </a:prstGeom>
          <a:noFill/>
          <a:ln cap="flat" cmpd="sng" w="9525">
            <a:solidFill>
              <a:schemeClr val="accent1"/>
            </a:solidFill>
            <a:prstDash val="solid"/>
            <a:miter lim="800000"/>
            <a:headEnd len="sm" w="sm" type="none"/>
            <a:tailEnd len="med" w="med" type="triangle"/>
          </a:ln>
        </p:spPr>
      </p:cxnSp>
      <p:cxnSp>
        <p:nvCxnSpPr>
          <p:cNvPr id="1086" name="Google Shape;1086;p67"/>
          <p:cNvCxnSpPr>
            <a:stCxn id="1069" idx="0"/>
          </p:cNvCxnSpPr>
          <p:nvPr/>
        </p:nvCxnSpPr>
        <p:spPr>
          <a:xfrm flipH="1" rot="10800000">
            <a:off x="1294524" y="3541286"/>
            <a:ext cx="928800" cy="719700"/>
          </a:xfrm>
          <a:prstGeom prst="straightConnector1">
            <a:avLst/>
          </a:prstGeom>
          <a:noFill/>
          <a:ln cap="flat" cmpd="sng" w="9525">
            <a:solidFill>
              <a:schemeClr val="accent1"/>
            </a:solidFill>
            <a:prstDash val="solid"/>
            <a:miter lim="800000"/>
            <a:headEnd len="sm" w="sm" type="none"/>
            <a:tailEnd len="med" w="med" type="triangle"/>
          </a:ln>
        </p:spPr>
      </p:cxnSp>
      <p:grpSp>
        <p:nvGrpSpPr>
          <p:cNvPr id="1087" name="Google Shape;1087;p67"/>
          <p:cNvGrpSpPr/>
          <p:nvPr/>
        </p:nvGrpSpPr>
        <p:grpSpPr>
          <a:xfrm>
            <a:off x="5430842" y="3203993"/>
            <a:ext cx="1004628" cy="1247356"/>
            <a:chOff x="1727200" y="685800"/>
            <a:chExt cx="685800" cy="1143000"/>
          </a:xfrm>
        </p:grpSpPr>
        <p:sp>
          <p:nvSpPr>
            <p:cNvPr id="1088" name="Google Shape;1088;p67"/>
            <p:cNvSpPr/>
            <p:nvPr/>
          </p:nvSpPr>
          <p:spPr>
            <a:xfrm>
              <a:off x="2260600" y="6858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89" name="Google Shape;1089;p67"/>
            <p:cNvSpPr/>
            <p:nvPr/>
          </p:nvSpPr>
          <p:spPr>
            <a:xfrm>
              <a:off x="1727200"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090" name="Google Shape;1090;p67"/>
            <p:cNvCxnSpPr>
              <a:stCxn id="1089" idx="7"/>
              <a:endCxn id="1088" idx="3"/>
            </p:cNvCxnSpPr>
            <p:nvPr/>
          </p:nvCxnSpPr>
          <p:spPr>
            <a:xfrm flipH="1" rot="10800000">
              <a:off x="1857282" y="815818"/>
              <a:ext cx="425700" cy="882900"/>
            </a:xfrm>
            <a:prstGeom prst="straightConnector1">
              <a:avLst/>
            </a:prstGeom>
            <a:noFill/>
            <a:ln cap="flat" cmpd="sng" w="9525">
              <a:solidFill>
                <a:schemeClr val="dk1"/>
              </a:solidFill>
              <a:prstDash val="solid"/>
              <a:round/>
              <a:headEnd len="sm" w="sm" type="none"/>
              <a:tailEnd len="sm" w="sm" type="none"/>
            </a:ln>
          </p:spPr>
        </p:cxnSp>
        <p:cxnSp>
          <p:nvCxnSpPr>
            <p:cNvPr id="1091" name="Google Shape;1091;p67"/>
            <p:cNvCxnSpPr>
              <a:endCxn id="1088" idx="4"/>
            </p:cNvCxnSpPr>
            <p:nvPr/>
          </p:nvCxnSpPr>
          <p:spPr>
            <a:xfrm flipH="1" rot="10800000">
              <a:off x="2290900" y="838200"/>
              <a:ext cx="45900" cy="914400"/>
            </a:xfrm>
            <a:prstGeom prst="straightConnector1">
              <a:avLst/>
            </a:prstGeom>
            <a:noFill/>
            <a:ln cap="flat" cmpd="sng" w="9525">
              <a:solidFill>
                <a:schemeClr val="dk1"/>
              </a:solidFill>
              <a:prstDash val="solid"/>
              <a:round/>
              <a:headEnd len="sm" w="sm" type="none"/>
              <a:tailEnd len="sm" w="sm" type="none"/>
            </a:ln>
          </p:spPr>
        </p:cxnSp>
        <p:cxnSp>
          <p:nvCxnSpPr>
            <p:cNvPr id="1092" name="Google Shape;1092;p67"/>
            <p:cNvCxnSpPr>
              <a:stCxn id="1089" idx="6"/>
            </p:cNvCxnSpPr>
            <p:nvPr/>
          </p:nvCxnSpPr>
          <p:spPr>
            <a:xfrm>
              <a:off x="1879600" y="1752600"/>
              <a:ext cx="434100" cy="0"/>
            </a:xfrm>
            <a:prstGeom prst="straightConnector1">
              <a:avLst/>
            </a:prstGeom>
            <a:noFill/>
            <a:ln cap="flat" cmpd="sng" w="9525">
              <a:solidFill>
                <a:schemeClr val="dk1"/>
              </a:solidFill>
              <a:prstDash val="solid"/>
              <a:round/>
              <a:headEnd len="sm" w="sm" type="none"/>
              <a:tailEnd len="sm" w="sm" type="none"/>
            </a:ln>
          </p:spPr>
        </p:cxnSp>
        <p:sp>
          <p:nvSpPr>
            <p:cNvPr id="1093" name="Google Shape;1093;p67"/>
            <p:cNvSpPr/>
            <p:nvPr/>
          </p:nvSpPr>
          <p:spPr>
            <a:xfrm>
              <a:off x="2210594"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1094" name="Google Shape;1094;p67"/>
          <p:cNvGrpSpPr/>
          <p:nvPr/>
        </p:nvGrpSpPr>
        <p:grpSpPr>
          <a:xfrm>
            <a:off x="2103444" y="2400680"/>
            <a:ext cx="1004628" cy="1247356"/>
            <a:chOff x="1727200" y="685800"/>
            <a:chExt cx="685800" cy="1143000"/>
          </a:xfrm>
        </p:grpSpPr>
        <p:sp>
          <p:nvSpPr>
            <p:cNvPr id="1095" name="Google Shape;1095;p67"/>
            <p:cNvSpPr/>
            <p:nvPr/>
          </p:nvSpPr>
          <p:spPr>
            <a:xfrm>
              <a:off x="2260600" y="6858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096" name="Google Shape;1096;p67"/>
            <p:cNvSpPr/>
            <p:nvPr/>
          </p:nvSpPr>
          <p:spPr>
            <a:xfrm>
              <a:off x="1727200"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097" name="Google Shape;1097;p67"/>
            <p:cNvCxnSpPr>
              <a:stCxn id="1096" idx="7"/>
              <a:endCxn id="1095" idx="3"/>
            </p:cNvCxnSpPr>
            <p:nvPr/>
          </p:nvCxnSpPr>
          <p:spPr>
            <a:xfrm flipH="1" rot="10800000">
              <a:off x="1857282" y="815818"/>
              <a:ext cx="425700" cy="882900"/>
            </a:xfrm>
            <a:prstGeom prst="straightConnector1">
              <a:avLst/>
            </a:prstGeom>
            <a:noFill/>
            <a:ln cap="flat" cmpd="sng" w="9525">
              <a:solidFill>
                <a:schemeClr val="dk1"/>
              </a:solidFill>
              <a:prstDash val="solid"/>
              <a:round/>
              <a:headEnd len="sm" w="sm" type="none"/>
              <a:tailEnd len="sm" w="sm" type="none"/>
            </a:ln>
          </p:spPr>
        </p:cxnSp>
        <p:cxnSp>
          <p:nvCxnSpPr>
            <p:cNvPr id="1098" name="Google Shape;1098;p67"/>
            <p:cNvCxnSpPr>
              <a:endCxn id="1095" idx="4"/>
            </p:cNvCxnSpPr>
            <p:nvPr/>
          </p:nvCxnSpPr>
          <p:spPr>
            <a:xfrm flipH="1" rot="10800000">
              <a:off x="2290900" y="838200"/>
              <a:ext cx="45900" cy="914400"/>
            </a:xfrm>
            <a:prstGeom prst="straightConnector1">
              <a:avLst/>
            </a:prstGeom>
            <a:noFill/>
            <a:ln cap="flat" cmpd="sng" w="9525">
              <a:solidFill>
                <a:schemeClr val="dk1"/>
              </a:solidFill>
              <a:prstDash val="solid"/>
              <a:round/>
              <a:headEnd len="sm" w="sm" type="none"/>
              <a:tailEnd len="sm" w="sm" type="none"/>
            </a:ln>
          </p:spPr>
        </p:cxnSp>
        <p:cxnSp>
          <p:nvCxnSpPr>
            <p:cNvPr id="1099" name="Google Shape;1099;p67"/>
            <p:cNvCxnSpPr>
              <a:stCxn id="1096" idx="6"/>
            </p:cNvCxnSpPr>
            <p:nvPr/>
          </p:nvCxnSpPr>
          <p:spPr>
            <a:xfrm>
              <a:off x="1879600" y="1752600"/>
              <a:ext cx="434100" cy="0"/>
            </a:xfrm>
            <a:prstGeom prst="straightConnector1">
              <a:avLst/>
            </a:prstGeom>
            <a:noFill/>
            <a:ln cap="flat" cmpd="sng" w="9525">
              <a:solidFill>
                <a:schemeClr val="dk1"/>
              </a:solidFill>
              <a:prstDash val="solid"/>
              <a:round/>
              <a:headEnd len="sm" w="sm" type="none"/>
              <a:tailEnd len="sm" w="sm" type="none"/>
            </a:ln>
          </p:spPr>
        </p:cxnSp>
        <p:sp>
          <p:nvSpPr>
            <p:cNvPr id="1100" name="Google Shape;1100;p67"/>
            <p:cNvSpPr/>
            <p:nvPr/>
          </p:nvSpPr>
          <p:spPr>
            <a:xfrm>
              <a:off x="2210594" y="1676400"/>
              <a:ext cx="152400" cy="152400"/>
            </a:xfrm>
            <a:prstGeom prst="ellipse">
              <a:avLst/>
            </a:prstGeom>
            <a:solidFill>
              <a:srgbClr val="FF0000"/>
            </a:solidFill>
            <a:ln cap="flat" cmpd="sng" w="9525">
              <a:solidFill>
                <a:srgbClr val="8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Noto Sans Symbols"/>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4" name="Shape 1104"/>
        <p:cNvGrpSpPr/>
        <p:nvPr/>
      </p:nvGrpSpPr>
      <p:grpSpPr>
        <a:xfrm>
          <a:off x="0" y="0"/>
          <a:ext cx="0" cy="0"/>
          <a:chOff x="0" y="0"/>
          <a:chExt cx="0" cy="0"/>
        </a:xfrm>
      </p:grpSpPr>
      <p:sp>
        <p:nvSpPr>
          <p:cNvPr id="1105" name="Google Shape;1105;p68"/>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1106" name="Google Shape;1106;p68"/>
          <p:cNvSpPr txBox="1"/>
          <p:nvPr/>
        </p:nvSpPr>
        <p:spPr>
          <a:xfrm>
            <a:off x="457200" y="1321594"/>
            <a:ext cx="8229600" cy="3364800"/>
          </a:xfrm>
          <a:prstGeom prst="rect">
            <a:avLst/>
          </a:prstGeom>
          <a:noFill/>
          <a:ln>
            <a:noFill/>
          </a:ln>
        </p:spPr>
        <p:txBody>
          <a:bodyPr anchorCtr="0" anchor="t" bIns="45700" lIns="91425" spcFirstLastPara="1" rIns="91425" wrap="square" tIns="45700">
            <a:noAutofit/>
          </a:bodyPr>
          <a:lstStyle/>
          <a:p>
            <a:pPr indent="-149860" lvl="0" marL="342900" marR="0" rtl="0" algn="l">
              <a:lnSpc>
                <a:spcPct val="100000"/>
              </a:lnSpc>
              <a:spcBef>
                <a:spcPts val="0"/>
              </a:spcBef>
              <a:spcAft>
                <a:spcPts val="0"/>
              </a:spcAft>
              <a:buClr>
                <a:schemeClr val="dk2"/>
              </a:buClr>
              <a:buSzPts val="3040"/>
              <a:buFont typeface="Noto Sans Symbols"/>
              <a:buNone/>
            </a:pPr>
            <a:r>
              <a:t/>
            </a:r>
            <a:endParaRPr b="0" i="0" sz="3200" u="none" cap="none" strike="noStrike">
              <a:solidFill>
                <a:schemeClr val="dk1"/>
              </a:solidFill>
              <a:latin typeface="Calibri"/>
              <a:ea typeface="Calibri"/>
              <a:cs typeface="Calibri"/>
              <a:sym typeface="Calibri"/>
            </a:endParaRPr>
          </a:p>
          <a:p>
            <a:pPr indent="-107950" lvl="1" marL="742950" marR="0" rtl="0" algn="l">
              <a:lnSpc>
                <a:spcPct val="100000"/>
              </a:lnSpc>
              <a:spcBef>
                <a:spcPts val="560"/>
              </a:spcBef>
              <a:spcAft>
                <a:spcPts val="0"/>
              </a:spcAft>
              <a:buClr>
                <a:schemeClr val="dk1"/>
              </a:buClr>
              <a:buSzPts val="2800"/>
              <a:buFont typeface="Calibri"/>
              <a:buNone/>
            </a:pPr>
            <a:r>
              <a:t/>
            </a:r>
            <a:endParaRPr b="0" i="0" sz="2800" u="none" cap="none" strike="noStrike">
              <a:solidFill>
                <a:schemeClr val="dk1"/>
              </a:solidFill>
              <a:latin typeface="Calibri"/>
              <a:ea typeface="Calibri"/>
              <a:cs typeface="Calibri"/>
              <a:sym typeface="Calibri"/>
            </a:endParaRPr>
          </a:p>
          <a:p>
            <a:pPr indent="-149860" lvl="0" marL="342900" marR="0" rtl="0" algn="l">
              <a:lnSpc>
                <a:spcPct val="100000"/>
              </a:lnSpc>
              <a:spcBef>
                <a:spcPts val="640"/>
              </a:spcBef>
              <a:spcAft>
                <a:spcPts val="0"/>
              </a:spcAft>
              <a:buClr>
                <a:schemeClr val="dk2"/>
              </a:buClr>
              <a:buSzPts val="3040"/>
              <a:buFont typeface="Noto Sans Symbols"/>
              <a:buNone/>
            </a:pPr>
            <a:r>
              <a:t/>
            </a:r>
            <a:endParaRPr b="0" i="0" sz="3200" u="none" cap="none" strike="noStrike">
              <a:solidFill>
                <a:schemeClr val="dk1"/>
              </a:solidFill>
              <a:latin typeface="Calibri"/>
              <a:ea typeface="Calibri"/>
              <a:cs typeface="Calibri"/>
              <a:sym typeface="Calibri"/>
            </a:endParaRPr>
          </a:p>
        </p:txBody>
      </p:sp>
      <p:pic>
        <p:nvPicPr>
          <p:cNvPr id="1107" name="Google Shape;1107;p68"/>
          <p:cNvPicPr preferRelativeResize="0"/>
          <p:nvPr/>
        </p:nvPicPr>
        <p:blipFill rotWithShape="1">
          <a:blip r:embed="rId3">
            <a:alphaModFix/>
          </a:blip>
          <a:srcRect b="0" l="0" r="0" t="0"/>
          <a:stretch/>
        </p:blipFill>
        <p:spPr>
          <a:xfrm>
            <a:off x="2758325" y="2571741"/>
            <a:ext cx="3212306" cy="1028700"/>
          </a:xfrm>
          <a:prstGeom prst="rect">
            <a:avLst/>
          </a:prstGeom>
          <a:noFill/>
          <a:ln>
            <a:noFill/>
          </a:ln>
        </p:spPr>
      </p:pic>
      <p:sp>
        <p:nvSpPr>
          <p:cNvPr id="1108" name="Google Shape;1108;p68"/>
          <p:cNvSpPr txBox="1"/>
          <p:nvPr/>
        </p:nvSpPr>
        <p:spPr>
          <a:xfrm>
            <a:off x="1929650" y="1205009"/>
            <a:ext cx="4410900" cy="30390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109" name="Google Shape;1109;p68"/>
          <p:cNvSpPr txBox="1"/>
          <p:nvPr/>
        </p:nvSpPr>
        <p:spPr>
          <a:xfrm>
            <a:off x="912500" y="1780637"/>
            <a:ext cx="6445200" cy="3039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69"/>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1115" name="Google Shape;1115;p69"/>
          <p:cNvSpPr txBox="1"/>
          <p:nvPr/>
        </p:nvSpPr>
        <p:spPr>
          <a:xfrm>
            <a:off x="1077025" y="716625"/>
            <a:ext cx="7620000" cy="1262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chemeClr val="dk1"/>
                </a:solidFill>
                <a:latin typeface="Calibri"/>
                <a:ea typeface="Calibri"/>
                <a:cs typeface="Calibri"/>
                <a:sym typeface="Calibri"/>
              </a:rPr>
              <a:t>Suppose, a composite transformation is defined as scaling 2 times in both axis with respect to point (5, 5). Calculate the composite transformation matrix in homogeneous form. Then, find the new coordinates of the point (10, 10) after transformation.</a:t>
            </a:r>
            <a:endParaRPr b="0" i="0" sz="1700" u="none" cap="none" strike="noStrike">
              <a:solidFill>
                <a:srgbClr val="000000"/>
              </a:solidFill>
              <a:latin typeface="Arial"/>
              <a:ea typeface="Arial"/>
              <a:cs typeface="Arial"/>
              <a:sym typeface="Arial"/>
            </a:endParaRPr>
          </a:p>
        </p:txBody>
      </p:sp>
      <p:sp>
        <p:nvSpPr>
          <p:cNvPr id="1116" name="Google Shape;1116;p69"/>
          <p:cNvSpPr txBox="1"/>
          <p:nvPr/>
        </p:nvSpPr>
        <p:spPr>
          <a:xfrm>
            <a:off x="296925" y="2343674"/>
            <a:ext cx="6400200" cy="3039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117" name="Google Shape;1117;p69"/>
          <p:cNvPicPr preferRelativeResize="0"/>
          <p:nvPr/>
        </p:nvPicPr>
        <p:blipFill rotWithShape="1">
          <a:blip r:embed="rId4">
            <a:alphaModFix/>
          </a:blip>
          <a:srcRect b="0" l="0" r="0" t="0"/>
          <a:stretch/>
        </p:blipFill>
        <p:spPr>
          <a:xfrm>
            <a:off x="1461175" y="2787722"/>
            <a:ext cx="3157538" cy="20574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p70"/>
          <p:cNvSpPr txBox="1"/>
          <p:nvPr>
            <p:ph idx="12" type="sldNum"/>
          </p:nvPr>
        </p:nvSpPr>
        <p:spPr>
          <a:xfrm>
            <a:off x="6457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1123" name="Google Shape;1123;p70"/>
          <p:cNvSpPr txBox="1"/>
          <p:nvPr/>
        </p:nvSpPr>
        <p:spPr>
          <a:xfrm>
            <a:off x="1538925" y="1018403"/>
            <a:ext cx="2457600" cy="492000"/>
          </a:xfrm>
          <a:prstGeom prst="rect">
            <a:avLst/>
          </a:prstGeom>
          <a:blipFill rotWithShape="1">
            <a:blip r:embed="rId3">
              <a:alphaModFix/>
            </a:blip>
            <a:stretch>
              <a:fillRect b="0" l="0" r="0" t="-163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124" name="Google Shape;1124;p70"/>
          <p:cNvPicPr preferRelativeResize="0"/>
          <p:nvPr/>
        </p:nvPicPr>
        <p:blipFill rotWithShape="1">
          <a:blip r:embed="rId4">
            <a:alphaModFix/>
          </a:blip>
          <a:srcRect b="0" l="0" r="0" t="0"/>
          <a:stretch/>
        </p:blipFill>
        <p:spPr>
          <a:xfrm>
            <a:off x="1712913" y="1828800"/>
            <a:ext cx="1707356" cy="2057399"/>
          </a:xfrm>
          <a:prstGeom prst="rect">
            <a:avLst/>
          </a:prstGeom>
          <a:noFill/>
          <a:ln>
            <a:noFill/>
          </a:ln>
        </p:spPr>
      </p:pic>
      <p:sp>
        <p:nvSpPr>
          <p:cNvPr id="1125" name="Google Shape;1125;p70"/>
          <p:cNvSpPr txBox="1"/>
          <p:nvPr/>
        </p:nvSpPr>
        <p:spPr>
          <a:xfrm>
            <a:off x="1570350" y="4124831"/>
            <a:ext cx="49068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100"/>
              <a:buFont typeface="Arial"/>
              <a:buNone/>
            </a:pPr>
            <a:r>
              <a:rPr b="0" i="0" lang="en-US" sz="2100" u="none" cap="none" strike="noStrike">
                <a:solidFill>
                  <a:schemeClr val="dk1"/>
                </a:solidFill>
                <a:latin typeface="Calibri"/>
                <a:ea typeface="Calibri"/>
                <a:cs typeface="Calibri"/>
                <a:sym typeface="Calibri"/>
              </a:rPr>
              <a:t>So, the new coordinate of P is (15, 15)</a:t>
            </a:r>
            <a:endParaRPr b="0" i="0" sz="1700" u="none" cap="none" strike="noStrik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71"/>
          <p:cNvSpPr txBox="1"/>
          <p:nvPr>
            <p:ph idx="12" type="sldNum"/>
          </p:nvPr>
        </p:nvSpPr>
        <p:spPr>
          <a:xfrm>
            <a:off x="7496177" y="4734762"/>
            <a:ext cx="1555500" cy="320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pic>
        <p:nvPicPr>
          <p:cNvPr id="1131" name="Google Shape;1131;p71"/>
          <p:cNvPicPr preferRelativeResize="0"/>
          <p:nvPr/>
        </p:nvPicPr>
        <p:blipFill rotWithShape="1">
          <a:blip r:embed="rId3">
            <a:alphaModFix/>
          </a:blip>
          <a:srcRect b="0" l="0" r="0" t="0"/>
          <a:stretch/>
        </p:blipFill>
        <p:spPr>
          <a:xfrm>
            <a:off x="1595918" y="1100629"/>
            <a:ext cx="2229424" cy="1867647"/>
          </a:xfrm>
          <a:prstGeom prst="rect">
            <a:avLst/>
          </a:prstGeom>
          <a:noFill/>
          <a:ln>
            <a:noFill/>
          </a:ln>
        </p:spPr>
      </p:pic>
      <p:pic>
        <p:nvPicPr>
          <p:cNvPr id="1132" name="Google Shape;1132;p71"/>
          <p:cNvPicPr preferRelativeResize="0"/>
          <p:nvPr/>
        </p:nvPicPr>
        <p:blipFill rotWithShape="1">
          <a:blip r:embed="rId4">
            <a:alphaModFix/>
          </a:blip>
          <a:srcRect b="0" l="0" r="0" t="0"/>
          <a:stretch/>
        </p:blipFill>
        <p:spPr>
          <a:xfrm>
            <a:off x="4136462" y="1086263"/>
            <a:ext cx="2229424" cy="1867647"/>
          </a:xfrm>
          <a:prstGeom prst="rect">
            <a:avLst/>
          </a:prstGeom>
          <a:noFill/>
          <a:ln>
            <a:noFill/>
          </a:ln>
        </p:spPr>
      </p:pic>
      <p:pic>
        <p:nvPicPr>
          <p:cNvPr id="1133" name="Google Shape;1133;p71"/>
          <p:cNvPicPr preferRelativeResize="0"/>
          <p:nvPr/>
        </p:nvPicPr>
        <p:blipFill rotWithShape="1">
          <a:blip r:embed="rId5">
            <a:alphaModFix/>
          </a:blip>
          <a:srcRect b="0" l="0" r="0" t="0"/>
          <a:stretch/>
        </p:blipFill>
        <p:spPr>
          <a:xfrm>
            <a:off x="6697724" y="1086263"/>
            <a:ext cx="2229424" cy="1867647"/>
          </a:xfrm>
          <a:prstGeom prst="rect">
            <a:avLst/>
          </a:prstGeom>
          <a:noFill/>
          <a:ln>
            <a:noFill/>
          </a:ln>
        </p:spPr>
      </p:pic>
      <p:pic>
        <p:nvPicPr>
          <p:cNvPr id="1134" name="Google Shape;1134;p71"/>
          <p:cNvPicPr preferRelativeResize="0"/>
          <p:nvPr/>
        </p:nvPicPr>
        <p:blipFill rotWithShape="1">
          <a:blip r:embed="rId6">
            <a:alphaModFix/>
          </a:blip>
          <a:srcRect b="0" l="0" r="0" t="0"/>
          <a:stretch/>
        </p:blipFill>
        <p:spPr>
          <a:xfrm>
            <a:off x="1585625" y="3183733"/>
            <a:ext cx="2229424" cy="1867647"/>
          </a:xfrm>
          <a:prstGeom prst="rect">
            <a:avLst/>
          </a:prstGeom>
          <a:noFill/>
          <a:ln>
            <a:noFill/>
          </a:ln>
        </p:spPr>
      </p:pic>
      <p:pic>
        <p:nvPicPr>
          <p:cNvPr id="1135" name="Google Shape;1135;p71"/>
          <p:cNvPicPr preferRelativeResize="0"/>
          <p:nvPr/>
        </p:nvPicPr>
        <p:blipFill rotWithShape="1">
          <a:blip r:embed="rId7">
            <a:alphaModFix/>
          </a:blip>
          <a:srcRect b="0" l="0" r="0" t="0"/>
          <a:stretch/>
        </p:blipFill>
        <p:spPr>
          <a:xfrm>
            <a:off x="4178765" y="3210713"/>
            <a:ext cx="2229424" cy="1867647"/>
          </a:xfrm>
          <a:prstGeom prst="rect">
            <a:avLst/>
          </a:prstGeom>
          <a:noFill/>
          <a:ln>
            <a:noFill/>
          </a:ln>
        </p:spPr>
      </p:pic>
      <p:pic>
        <p:nvPicPr>
          <p:cNvPr id="1136" name="Google Shape;1136;p71"/>
          <p:cNvPicPr preferRelativeResize="0"/>
          <p:nvPr/>
        </p:nvPicPr>
        <p:blipFill rotWithShape="1">
          <a:blip r:embed="rId8">
            <a:alphaModFix/>
          </a:blip>
          <a:srcRect b="0" l="0" r="0" t="0"/>
          <a:stretch/>
        </p:blipFill>
        <p:spPr>
          <a:xfrm>
            <a:off x="6724046" y="3210713"/>
            <a:ext cx="2229424" cy="1867647"/>
          </a:xfrm>
          <a:prstGeom prst="rect">
            <a:avLst/>
          </a:prstGeom>
          <a:noFill/>
          <a:ln>
            <a:noFill/>
          </a:ln>
        </p:spPr>
      </p:pic>
      <p:cxnSp>
        <p:nvCxnSpPr>
          <p:cNvPr id="1137" name="Google Shape;1137;p71"/>
          <p:cNvCxnSpPr/>
          <p:nvPr/>
        </p:nvCxnSpPr>
        <p:spPr>
          <a:xfrm>
            <a:off x="3753604" y="1906608"/>
            <a:ext cx="4251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138" name="Google Shape;1138;p71"/>
          <p:cNvCxnSpPr/>
          <p:nvPr/>
        </p:nvCxnSpPr>
        <p:spPr>
          <a:xfrm>
            <a:off x="6511465" y="1847090"/>
            <a:ext cx="4251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139" name="Google Shape;1139;p71"/>
          <p:cNvCxnSpPr/>
          <p:nvPr/>
        </p:nvCxnSpPr>
        <p:spPr>
          <a:xfrm>
            <a:off x="3711301" y="3827618"/>
            <a:ext cx="4251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140" name="Google Shape;1140;p71"/>
          <p:cNvCxnSpPr/>
          <p:nvPr/>
        </p:nvCxnSpPr>
        <p:spPr>
          <a:xfrm>
            <a:off x="6485143" y="3720896"/>
            <a:ext cx="425100" cy="0"/>
          </a:xfrm>
          <a:prstGeom prst="straightConnector1">
            <a:avLst/>
          </a:prstGeom>
          <a:noFill/>
          <a:ln cap="flat" cmpd="sng" w="9525">
            <a:solidFill>
              <a:schemeClr val="dk1"/>
            </a:solidFill>
            <a:prstDash val="solid"/>
            <a:miter lim="800000"/>
            <a:headEnd len="sm" w="sm" type="none"/>
            <a:tailEnd len="med" w="med" type="triangle"/>
          </a:ln>
        </p:spPr>
      </p:cxnSp>
      <p:cxnSp>
        <p:nvCxnSpPr>
          <p:cNvPr id="1141" name="Google Shape;1141;p71"/>
          <p:cNvCxnSpPr/>
          <p:nvPr/>
        </p:nvCxnSpPr>
        <p:spPr>
          <a:xfrm flipH="1">
            <a:off x="3089127" y="2631434"/>
            <a:ext cx="3981900" cy="715800"/>
          </a:xfrm>
          <a:prstGeom prst="straightConnector1">
            <a:avLst/>
          </a:prstGeom>
          <a:noFill/>
          <a:ln cap="flat" cmpd="sng" w="9525">
            <a:solidFill>
              <a:schemeClr val="dk1"/>
            </a:solidFill>
            <a:prstDash val="solid"/>
            <a:miter lim="800000"/>
            <a:headEnd len="sm" w="sm" type="none"/>
            <a:tailEnd len="med" w="med" type="triangle"/>
          </a:ln>
        </p:spPr>
      </p:cxnSp>
      <p:sp>
        <p:nvSpPr>
          <p:cNvPr id="1142" name="Google Shape;1142;p71"/>
          <p:cNvSpPr txBox="1"/>
          <p:nvPr/>
        </p:nvSpPr>
        <p:spPr>
          <a:xfrm>
            <a:off x="2670177" y="1041829"/>
            <a:ext cx="837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P(x,y)</a:t>
            </a:r>
            <a:endParaRPr b="0" i="0" sz="1400" u="none" cap="none" strike="noStrike">
              <a:solidFill>
                <a:srgbClr val="000000"/>
              </a:solidFill>
              <a:latin typeface="Arial"/>
              <a:ea typeface="Arial"/>
              <a:cs typeface="Arial"/>
              <a:sym typeface="Arial"/>
            </a:endParaRPr>
          </a:p>
        </p:txBody>
      </p:sp>
      <p:sp>
        <p:nvSpPr>
          <p:cNvPr id="1143" name="Google Shape;1143;p71"/>
          <p:cNvSpPr txBox="1"/>
          <p:nvPr/>
        </p:nvSpPr>
        <p:spPr>
          <a:xfrm>
            <a:off x="5354747" y="2862394"/>
            <a:ext cx="1555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Reflect(x axis)</a:t>
            </a:r>
            <a:endParaRPr b="0" i="0" sz="1400" u="none" cap="none" strike="noStrike">
              <a:solidFill>
                <a:srgbClr val="000000"/>
              </a:solidFill>
              <a:latin typeface="Arial"/>
              <a:ea typeface="Arial"/>
              <a:cs typeface="Arial"/>
              <a:sym typeface="Arial"/>
            </a:endParaRPr>
          </a:p>
        </p:txBody>
      </p:sp>
      <p:sp>
        <p:nvSpPr>
          <p:cNvPr id="1144" name="Google Shape;1144;p71"/>
          <p:cNvSpPr txBox="1"/>
          <p:nvPr/>
        </p:nvSpPr>
        <p:spPr>
          <a:xfrm>
            <a:off x="6278753" y="1532005"/>
            <a:ext cx="11454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Rotate(-θ)</a:t>
            </a:r>
            <a:endParaRPr b="0" i="0" sz="1400" u="none" cap="none" strike="noStrike">
              <a:solidFill>
                <a:srgbClr val="000000"/>
              </a:solidFill>
              <a:latin typeface="Arial"/>
              <a:ea typeface="Arial"/>
              <a:cs typeface="Arial"/>
              <a:sym typeface="Arial"/>
            </a:endParaRPr>
          </a:p>
        </p:txBody>
      </p:sp>
      <p:sp>
        <p:nvSpPr>
          <p:cNvPr id="1145" name="Google Shape;1145;p71"/>
          <p:cNvSpPr txBox="1"/>
          <p:nvPr/>
        </p:nvSpPr>
        <p:spPr>
          <a:xfrm>
            <a:off x="3324900" y="3460491"/>
            <a:ext cx="1282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Rotate(θ)</a:t>
            </a:r>
            <a:endParaRPr b="0" i="0" sz="1400" u="none" cap="none" strike="noStrike">
              <a:solidFill>
                <a:srgbClr val="000000"/>
              </a:solidFill>
              <a:latin typeface="Arial"/>
              <a:ea typeface="Arial"/>
              <a:cs typeface="Arial"/>
              <a:sym typeface="Arial"/>
            </a:endParaRPr>
          </a:p>
        </p:txBody>
      </p:sp>
      <p:sp>
        <p:nvSpPr>
          <p:cNvPr id="1146" name="Google Shape;1146;p71"/>
          <p:cNvSpPr txBox="1"/>
          <p:nvPr/>
        </p:nvSpPr>
        <p:spPr>
          <a:xfrm>
            <a:off x="6073703" y="3407119"/>
            <a:ext cx="1555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Translate(0,b)</a:t>
            </a:r>
            <a:endParaRPr b="0" i="0" sz="1400" u="none" cap="none" strike="noStrike">
              <a:solidFill>
                <a:srgbClr val="000000"/>
              </a:solidFill>
              <a:latin typeface="Arial"/>
              <a:ea typeface="Arial"/>
              <a:cs typeface="Arial"/>
              <a:sym typeface="Arial"/>
            </a:endParaRPr>
          </a:p>
        </p:txBody>
      </p:sp>
      <p:sp>
        <p:nvSpPr>
          <p:cNvPr id="1147" name="Google Shape;1147;p71"/>
          <p:cNvSpPr txBox="1"/>
          <p:nvPr/>
        </p:nvSpPr>
        <p:spPr>
          <a:xfrm>
            <a:off x="3325560" y="1592982"/>
            <a:ext cx="14952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Translate(0,-b)</a:t>
            </a:r>
            <a:endParaRPr b="0" i="0" sz="1600" u="none" cap="none" strike="noStrike">
              <a:solidFill>
                <a:srgbClr val="000000"/>
              </a:solidFill>
              <a:latin typeface="Arial"/>
              <a:ea typeface="Arial"/>
              <a:cs typeface="Arial"/>
              <a:sym typeface="Arial"/>
            </a:endParaRPr>
          </a:p>
        </p:txBody>
      </p:sp>
      <p:sp>
        <p:nvSpPr>
          <p:cNvPr id="1148" name="Google Shape;1148;p71"/>
          <p:cNvSpPr txBox="1"/>
          <p:nvPr/>
        </p:nvSpPr>
        <p:spPr>
          <a:xfrm>
            <a:off x="1504224" y="227585"/>
            <a:ext cx="7323300" cy="6018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Reflection about line L, M</a:t>
            </a:r>
            <a:r>
              <a:rPr b="0" baseline="-25000" i="0" lang="en-US" sz="4400" u="none" cap="none" strike="noStrike">
                <a:solidFill>
                  <a:schemeClr val="dk1"/>
                </a:solidFill>
                <a:latin typeface="Calibri"/>
                <a:ea typeface="Calibri"/>
                <a:cs typeface="Calibri"/>
                <a:sym typeface="Calibri"/>
              </a:rPr>
              <a:t>L</a:t>
            </a:r>
            <a:endParaRPr b="0" i="0" sz="44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72"/>
          <p:cNvSpPr txBox="1"/>
          <p:nvPr/>
        </p:nvSpPr>
        <p:spPr>
          <a:xfrm>
            <a:off x="1167650" y="320244"/>
            <a:ext cx="6915300" cy="994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Reflection about line L, M</a:t>
            </a:r>
            <a:r>
              <a:rPr b="0" baseline="-25000" i="0" lang="en-US" sz="4400" u="none" cap="none" strike="noStrike">
                <a:solidFill>
                  <a:schemeClr val="dk1"/>
                </a:solidFill>
                <a:latin typeface="Calibri"/>
                <a:ea typeface="Calibri"/>
                <a:cs typeface="Calibri"/>
                <a:sym typeface="Calibri"/>
              </a:rPr>
              <a:t>L</a:t>
            </a:r>
            <a:endParaRPr b="0" i="0" sz="4400" u="none" cap="none" strike="noStrike">
              <a:solidFill>
                <a:schemeClr val="dk1"/>
              </a:solidFill>
              <a:latin typeface="Calibri"/>
              <a:ea typeface="Calibri"/>
              <a:cs typeface="Calibri"/>
              <a:sym typeface="Calibri"/>
            </a:endParaRPr>
          </a:p>
        </p:txBody>
      </p:sp>
      <p:sp>
        <p:nvSpPr>
          <p:cNvPr id="1154" name="Google Shape;1154;p72"/>
          <p:cNvSpPr txBox="1"/>
          <p:nvPr>
            <p:ph idx="12" type="sldNum"/>
          </p:nvPr>
        </p:nvSpPr>
        <p:spPr>
          <a:xfrm>
            <a:off x="6076950" y="4767263"/>
            <a:ext cx="2057400" cy="2739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1155" name="Google Shape;1155;p72"/>
          <p:cNvSpPr txBox="1"/>
          <p:nvPr/>
        </p:nvSpPr>
        <p:spPr>
          <a:xfrm>
            <a:off x="1235074" y="1638300"/>
            <a:ext cx="4736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200" u="none" cap="none" strike="noStrike">
                <a:solidFill>
                  <a:schemeClr val="dk1"/>
                </a:solidFill>
                <a:latin typeface="Tahoma"/>
                <a:ea typeface="Tahoma"/>
                <a:cs typeface="Tahoma"/>
                <a:sym typeface="Tahoma"/>
              </a:rPr>
              <a:t>Step 1:</a:t>
            </a:r>
            <a:r>
              <a:rPr b="0" i="0" lang="en-US" sz="2200" u="none" cap="none" strike="noStrike">
                <a:solidFill>
                  <a:schemeClr val="dk1"/>
                </a:solidFill>
                <a:latin typeface="Tahoma"/>
                <a:ea typeface="Tahoma"/>
                <a:cs typeface="Tahoma"/>
                <a:sym typeface="Tahoma"/>
              </a:rPr>
              <a:t> Translate (0,-b) to origin</a:t>
            </a:r>
            <a:endParaRPr b="0" i="0" sz="1200" u="none" cap="none" strike="noStrike">
              <a:solidFill>
                <a:srgbClr val="000000"/>
              </a:solidFill>
              <a:latin typeface="Arial"/>
              <a:ea typeface="Arial"/>
              <a:cs typeface="Arial"/>
              <a:sym typeface="Arial"/>
            </a:endParaRPr>
          </a:p>
        </p:txBody>
      </p:sp>
      <p:sp>
        <p:nvSpPr>
          <p:cNvPr id="1156" name="Google Shape;1156;p72"/>
          <p:cNvSpPr txBox="1"/>
          <p:nvPr/>
        </p:nvSpPr>
        <p:spPr>
          <a:xfrm>
            <a:off x="6553200" y="4343400"/>
            <a:ext cx="1600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400" u="none" cap="none" strike="noStrike">
                <a:solidFill>
                  <a:schemeClr val="dk1"/>
                </a:solidFill>
                <a:latin typeface="Tahoma"/>
                <a:ea typeface="Tahoma"/>
                <a:cs typeface="Tahoma"/>
                <a:sym typeface="Tahoma"/>
              </a:rPr>
              <a:t>T(0 ,-b)</a:t>
            </a:r>
            <a:endParaRPr b="0" i="0" sz="1400" u="none" cap="none" strike="noStrike">
              <a:solidFill>
                <a:srgbClr val="000000"/>
              </a:solidFill>
              <a:latin typeface="Arial"/>
              <a:ea typeface="Arial"/>
              <a:cs typeface="Arial"/>
              <a:sym typeface="Arial"/>
            </a:endParaRPr>
          </a:p>
        </p:txBody>
      </p:sp>
      <p:sp>
        <p:nvSpPr>
          <p:cNvPr id="1157" name="Google Shape;1157;p72"/>
          <p:cNvSpPr txBox="1"/>
          <p:nvPr/>
        </p:nvSpPr>
        <p:spPr>
          <a:xfrm>
            <a:off x="1219200" y="4343400"/>
            <a:ext cx="99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400" u="none" cap="none" strike="noStrike">
                <a:solidFill>
                  <a:schemeClr val="dk1"/>
                </a:solidFill>
                <a:latin typeface="Tahoma"/>
                <a:ea typeface="Tahoma"/>
                <a:cs typeface="Tahoma"/>
                <a:sym typeface="Tahoma"/>
              </a:rPr>
              <a:t>M</a:t>
            </a:r>
            <a:r>
              <a:rPr b="1" baseline="-25000" i="0" lang="en-US" sz="2400" u="none" cap="none" strike="noStrike">
                <a:solidFill>
                  <a:schemeClr val="dk1"/>
                </a:solidFill>
                <a:latin typeface="Tahoma"/>
                <a:ea typeface="Tahoma"/>
                <a:cs typeface="Tahoma"/>
                <a:sym typeface="Tahoma"/>
              </a:rPr>
              <a:t>L </a:t>
            </a:r>
            <a:r>
              <a:rPr b="1" i="0" lang="en-US" sz="2400" u="none" cap="none" strike="noStrike">
                <a:solidFill>
                  <a:schemeClr val="dk1"/>
                </a:solidFill>
                <a:latin typeface="Tahoma"/>
                <a:ea typeface="Tahoma"/>
                <a:cs typeface="Tahoma"/>
                <a:sym typeface="Tahoma"/>
              </a:rPr>
              <a:t>=</a:t>
            </a:r>
            <a:endParaRPr b="0" i="0" sz="1400" u="none" cap="none" strike="noStrike">
              <a:solidFill>
                <a:srgbClr val="000000"/>
              </a:solidFill>
              <a:latin typeface="Arial"/>
              <a:ea typeface="Arial"/>
              <a:cs typeface="Arial"/>
              <a:sym typeface="Arial"/>
            </a:endParaRPr>
          </a:p>
        </p:txBody>
      </p:sp>
      <p:sp>
        <p:nvSpPr>
          <p:cNvPr id="1158" name="Google Shape;1158;p72"/>
          <p:cNvSpPr txBox="1"/>
          <p:nvPr/>
        </p:nvSpPr>
        <p:spPr>
          <a:xfrm>
            <a:off x="1235075" y="2095500"/>
            <a:ext cx="47367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200" u="none" cap="none" strike="noStrike">
                <a:solidFill>
                  <a:schemeClr val="dk1"/>
                </a:solidFill>
                <a:latin typeface="Tahoma"/>
                <a:ea typeface="Tahoma"/>
                <a:cs typeface="Tahoma"/>
                <a:sym typeface="Tahoma"/>
              </a:rPr>
              <a:t>Step 2:</a:t>
            </a:r>
            <a:r>
              <a:rPr b="0" i="0" lang="en-US" sz="2200" u="none" cap="none" strike="noStrike">
                <a:solidFill>
                  <a:schemeClr val="dk1"/>
                </a:solidFill>
                <a:latin typeface="Tahoma"/>
                <a:ea typeface="Tahoma"/>
                <a:cs typeface="Tahoma"/>
                <a:sym typeface="Tahoma"/>
              </a:rPr>
              <a:t> Rotate -θ degrees</a:t>
            </a:r>
            <a:endParaRPr b="0" i="0" sz="2200" u="none" cap="none" strike="noStrike">
              <a:solidFill>
                <a:schemeClr val="dk1"/>
              </a:solidFill>
              <a:latin typeface="Tahoma"/>
              <a:ea typeface="Tahoma"/>
              <a:cs typeface="Tahoma"/>
              <a:sym typeface="Tahoma"/>
            </a:endParaRPr>
          </a:p>
        </p:txBody>
      </p:sp>
      <p:sp>
        <p:nvSpPr>
          <p:cNvPr id="1159" name="Google Shape;1159;p72"/>
          <p:cNvSpPr txBox="1"/>
          <p:nvPr/>
        </p:nvSpPr>
        <p:spPr>
          <a:xfrm>
            <a:off x="1235075" y="2552700"/>
            <a:ext cx="48609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200" u="none" cap="none" strike="noStrike">
                <a:solidFill>
                  <a:schemeClr val="dk1"/>
                </a:solidFill>
                <a:latin typeface="Tahoma"/>
                <a:ea typeface="Tahoma"/>
                <a:cs typeface="Tahoma"/>
                <a:sym typeface="Tahoma"/>
              </a:rPr>
              <a:t>Step 3:</a:t>
            </a:r>
            <a:r>
              <a:rPr b="0" i="0" lang="en-US" sz="2200" u="none" cap="none" strike="noStrike">
                <a:solidFill>
                  <a:schemeClr val="dk1"/>
                </a:solidFill>
                <a:latin typeface="Tahoma"/>
                <a:ea typeface="Tahoma"/>
                <a:cs typeface="Tahoma"/>
                <a:sym typeface="Tahoma"/>
              </a:rPr>
              <a:t> Mirror reflect about X-axis</a:t>
            </a:r>
            <a:endParaRPr b="0" i="0" sz="1200" u="none" cap="none" strike="noStrike">
              <a:solidFill>
                <a:srgbClr val="000000"/>
              </a:solidFill>
              <a:latin typeface="Arial"/>
              <a:ea typeface="Arial"/>
              <a:cs typeface="Arial"/>
              <a:sym typeface="Arial"/>
            </a:endParaRPr>
          </a:p>
        </p:txBody>
      </p:sp>
      <p:sp>
        <p:nvSpPr>
          <p:cNvPr id="1160" name="Google Shape;1160;p72"/>
          <p:cNvSpPr txBox="1"/>
          <p:nvPr/>
        </p:nvSpPr>
        <p:spPr>
          <a:xfrm>
            <a:off x="5334000" y="4343400"/>
            <a:ext cx="1371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400" u="none" cap="none" strike="noStrike">
                <a:solidFill>
                  <a:schemeClr val="dk1"/>
                </a:solidFill>
                <a:latin typeface="Tahoma"/>
                <a:ea typeface="Tahoma"/>
                <a:cs typeface="Tahoma"/>
                <a:sym typeface="Tahoma"/>
              </a:rPr>
              <a:t>R(-θ) *</a:t>
            </a:r>
            <a:endParaRPr b="0" i="0" sz="1400" u="none" cap="none" strike="noStrike">
              <a:solidFill>
                <a:srgbClr val="000000"/>
              </a:solidFill>
              <a:latin typeface="Arial"/>
              <a:ea typeface="Arial"/>
              <a:cs typeface="Arial"/>
              <a:sym typeface="Arial"/>
            </a:endParaRPr>
          </a:p>
        </p:txBody>
      </p:sp>
      <p:sp>
        <p:nvSpPr>
          <p:cNvPr id="1161" name="Google Shape;1161;p72"/>
          <p:cNvSpPr txBox="1"/>
          <p:nvPr/>
        </p:nvSpPr>
        <p:spPr>
          <a:xfrm>
            <a:off x="1981200" y="4343400"/>
            <a:ext cx="16002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400" u="none" cap="none" strike="noStrike">
                <a:solidFill>
                  <a:schemeClr val="dk1"/>
                </a:solidFill>
                <a:latin typeface="Tahoma"/>
                <a:ea typeface="Tahoma"/>
                <a:cs typeface="Tahoma"/>
                <a:sym typeface="Tahoma"/>
              </a:rPr>
              <a:t>T(0 ,b) *</a:t>
            </a:r>
            <a:endParaRPr b="0" i="0" sz="1400" u="none" cap="none" strike="noStrike">
              <a:solidFill>
                <a:srgbClr val="000000"/>
              </a:solidFill>
              <a:latin typeface="Arial"/>
              <a:ea typeface="Arial"/>
              <a:cs typeface="Arial"/>
              <a:sym typeface="Arial"/>
            </a:endParaRPr>
          </a:p>
        </p:txBody>
      </p:sp>
      <p:sp>
        <p:nvSpPr>
          <p:cNvPr id="1162" name="Google Shape;1162;p72"/>
          <p:cNvSpPr txBox="1"/>
          <p:nvPr/>
        </p:nvSpPr>
        <p:spPr>
          <a:xfrm>
            <a:off x="1235075" y="3011100"/>
            <a:ext cx="4428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200" u="none" cap="none" strike="noStrike">
                <a:solidFill>
                  <a:schemeClr val="dk1"/>
                </a:solidFill>
                <a:latin typeface="Tahoma"/>
                <a:ea typeface="Tahoma"/>
                <a:cs typeface="Tahoma"/>
                <a:sym typeface="Tahoma"/>
              </a:rPr>
              <a:t>Step 4:</a:t>
            </a:r>
            <a:r>
              <a:rPr b="0" i="0" lang="en-US" sz="2200" u="none" cap="none" strike="noStrike">
                <a:solidFill>
                  <a:schemeClr val="dk1"/>
                </a:solidFill>
                <a:latin typeface="Tahoma"/>
                <a:ea typeface="Tahoma"/>
                <a:cs typeface="Tahoma"/>
                <a:sym typeface="Tahoma"/>
              </a:rPr>
              <a:t> Rotate θ degrees</a:t>
            </a:r>
            <a:endParaRPr b="0" i="0" sz="1200" u="none" cap="none" strike="noStrike">
              <a:solidFill>
                <a:srgbClr val="000000"/>
              </a:solidFill>
              <a:latin typeface="Arial"/>
              <a:ea typeface="Arial"/>
              <a:cs typeface="Arial"/>
              <a:sym typeface="Arial"/>
            </a:endParaRPr>
          </a:p>
        </p:txBody>
      </p:sp>
      <p:sp>
        <p:nvSpPr>
          <p:cNvPr id="1163" name="Google Shape;1163;p72"/>
          <p:cNvSpPr txBox="1"/>
          <p:nvPr/>
        </p:nvSpPr>
        <p:spPr>
          <a:xfrm>
            <a:off x="1235075" y="3467100"/>
            <a:ext cx="45798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200" u="none" cap="none" strike="noStrike">
                <a:solidFill>
                  <a:schemeClr val="dk1"/>
                </a:solidFill>
                <a:latin typeface="Tahoma"/>
                <a:ea typeface="Tahoma"/>
                <a:cs typeface="Tahoma"/>
                <a:sym typeface="Tahoma"/>
              </a:rPr>
              <a:t>Step 5:</a:t>
            </a:r>
            <a:r>
              <a:rPr b="0" i="0" lang="en-US" sz="2200" u="none" cap="none" strike="noStrike">
                <a:solidFill>
                  <a:schemeClr val="dk1"/>
                </a:solidFill>
                <a:latin typeface="Tahoma"/>
                <a:ea typeface="Tahoma"/>
                <a:cs typeface="Tahoma"/>
                <a:sym typeface="Tahoma"/>
              </a:rPr>
              <a:t> Translate origin to (0,b)</a:t>
            </a:r>
            <a:endParaRPr b="0" i="0" sz="1200" u="none" cap="none" strike="noStrike">
              <a:solidFill>
                <a:srgbClr val="000000"/>
              </a:solidFill>
              <a:latin typeface="Arial"/>
              <a:ea typeface="Arial"/>
              <a:cs typeface="Arial"/>
              <a:sym typeface="Arial"/>
            </a:endParaRPr>
          </a:p>
        </p:txBody>
      </p:sp>
      <p:sp>
        <p:nvSpPr>
          <p:cNvPr id="1164" name="Google Shape;1164;p72"/>
          <p:cNvSpPr txBox="1"/>
          <p:nvPr/>
        </p:nvSpPr>
        <p:spPr>
          <a:xfrm>
            <a:off x="4572000" y="4343400"/>
            <a:ext cx="9906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400" u="none" cap="none" strike="noStrike">
                <a:solidFill>
                  <a:schemeClr val="dk1"/>
                </a:solidFill>
                <a:latin typeface="Tahoma"/>
                <a:ea typeface="Tahoma"/>
                <a:cs typeface="Tahoma"/>
                <a:sym typeface="Tahoma"/>
              </a:rPr>
              <a:t>M </a:t>
            </a:r>
            <a:r>
              <a:rPr b="1" baseline="-25000" i="0" lang="en-US" sz="2400" u="none" cap="none" strike="noStrike">
                <a:solidFill>
                  <a:schemeClr val="dk1"/>
                </a:solidFill>
                <a:latin typeface="Tahoma"/>
                <a:ea typeface="Tahoma"/>
                <a:cs typeface="Tahoma"/>
                <a:sym typeface="Tahoma"/>
              </a:rPr>
              <a:t>x</a:t>
            </a:r>
            <a:r>
              <a:rPr b="1" i="0" lang="en-US" sz="2400" u="none" cap="none" strike="noStrike">
                <a:solidFill>
                  <a:schemeClr val="dk1"/>
                </a:solidFill>
                <a:latin typeface="Tahoma"/>
                <a:ea typeface="Tahoma"/>
                <a:cs typeface="Tahoma"/>
                <a:sym typeface="Tahoma"/>
              </a:rPr>
              <a:t>*</a:t>
            </a:r>
            <a:endParaRPr b="1" i="0" sz="2400" u="none" cap="none" strike="noStrike">
              <a:solidFill>
                <a:schemeClr val="dk1"/>
              </a:solidFill>
              <a:latin typeface="Tahoma"/>
              <a:ea typeface="Tahoma"/>
              <a:cs typeface="Tahoma"/>
              <a:sym typeface="Tahoma"/>
            </a:endParaRPr>
          </a:p>
        </p:txBody>
      </p:sp>
      <p:sp>
        <p:nvSpPr>
          <p:cNvPr id="1165" name="Google Shape;1165;p72"/>
          <p:cNvSpPr txBox="1"/>
          <p:nvPr/>
        </p:nvSpPr>
        <p:spPr>
          <a:xfrm>
            <a:off x="3429000" y="4343400"/>
            <a:ext cx="12954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Noto Sans Symbols"/>
              <a:buNone/>
            </a:pPr>
            <a:r>
              <a:rPr b="1" i="0" lang="en-US" sz="2400" u="none" cap="none" strike="noStrike">
                <a:solidFill>
                  <a:schemeClr val="dk1"/>
                </a:solidFill>
                <a:latin typeface="Tahoma"/>
                <a:ea typeface="Tahoma"/>
                <a:cs typeface="Tahoma"/>
                <a:sym typeface="Tahoma"/>
              </a:rPr>
              <a:t>R(θ) *</a:t>
            </a:r>
            <a:endParaRPr b="0" i="0" sz="1400" u="none" cap="none" strike="noStrike">
              <a:solidFill>
                <a:srgbClr val="000000"/>
              </a:solidFill>
              <a:latin typeface="Arial"/>
              <a:ea typeface="Arial"/>
              <a:cs typeface="Arial"/>
              <a:sym typeface="Arial"/>
            </a:endParaRPr>
          </a:p>
        </p:txBody>
      </p:sp>
      <p:pic>
        <p:nvPicPr>
          <p:cNvPr id="1166" name="Google Shape;1166;p72"/>
          <p:cNvPicPr preferRelativeResize="0"/>
          <p:nvPr/>
        </p:nvPicPr>
        <p:blipFill rotWithShape="1">
          <a:blip r:embed="rId3">
            <a:alphaModFix/>
          </a:blip>
          <a:srcRect b="0" l="0" r="0" t="0"/>
          <a:stretch/>
        </p:blipFill>
        <p:spPr>
          <a:xfrm>
            <a:off x="5319713" y="1314450"/>
            <a:ext cx="2868215" cy="2801543"/>
          </a:xfrm>
          <a:prstGeom prst="rect">
            <a:avLst/>
          </a:prstGeom>
          <a:noFill/>
          <a:ln>
            <a:noFill/>
          </a:ln>
        </p:spPr>
      </p:pic>
      <p:pic>
        <p:nvPicPr>
          <p:cNvPr id="1167" name="Google Shape;1167;p72"/>
          <p:cNvPicPr preferRelativeResize="0"/>
          <p:nvPr/>
        </p:nvPicPr>
        <p:blipFill rotWithShape="1">
          <a:blip r:embed="rId4">
            <a:alphaModFix/>
          </a:blip>
          <a:srcRect b="0" l="0" r="0" t="0"/>
          <a:stretch/>
        </p:blipFill>
        <p:spPr>
          <a:xfrm>
            <a:off x="5319713" y="1314450"/>
            <a:ext cx="2868215" cy="2801543"/>
          </a:xfrm>
          <a:prstGeom prst="rect">
            <a:avLst/>
          </a:prstGeom>
          <a:noFill/>
          <a:ln>
            <a:noFill/>
          </a:ln>
        </p:spPr>
      </p:pic>
      <p:pic>
        <p:nvPicPr>
          <p:cNvPr id="1168" name="Google Shape;1168;p72"/>
          <p:cNvPicPr preferRelativeResize="0"/>
          <p:nvPr/>
        </p:nvPicPr>
        <p:blipFill rotWithShape="1">
          <a:blip r:embed="rId5">
            <a:alphaModFix/>
          </a:blip>
          <a:srcRect b="0" l="0" r="0" t="0"/>
          <a:stretch/>
        </p:blipFill>
        <p:spPr>
          <a:xfrm>
            <a:off x="5319713" y="1314450"/>
            <a:ext cx="2868215" cy="2801543"/>
          </a:xfrm>
          <a:prstGeom prst="rect">
            <a:avLst/>
          </a:prstGeom>
          <a:noFill/>
          <a:ln>
            <a:noFill/>
          </a:ln>
        </p:spPr>
      </p:pic>
      <p:pic>
        <p:nvPicPr>
          <p:cNvPr id="1169" name="Google Shape;1169;p72"/>
          <p:cNvPicPr preferRelativeResize="0"/>
          <p:nvPr/>
        </p:nvPicPr>
        <p:blipFill rotWithShape="1">
          <a:blip r:embed="rId6">
            <a:alphaModFix/>
          </a:blip>
          <a:srcRect b="0" l="0" r="0" t="0"/>
          <a:stretch/>
        </p:blipFill>
        <p:spPr>
          <a:xfrm>
            <a:off x="5319713" y="1314450"/>
            <a:ext cx="2868215" cy="2801543"/>
          </a:xfrm>
          <a:prstGeom prst="rect">
            <a:avLst/>
          </a:prstGeom>
          <a:noFill/>
          <a:ln>
            <a:noFill/>
          </a:ln>
        </p:spPr>
      </p:pic>
      <p:pic>
        <p:nvPicPr>
          <p:cNvPr id="1170" name="Google Shape;1170;p72"/>
          <p:cNvPicPr preferRelativeResize="0"/>
          <p:nvPr/>
        </p:nvPicPr>
        <p:blipFill rotWithShape="1">
          <a:blip r:embed="rId7">
            <a:alphaModFix/>
          </a:blip>
          <a:srcRect b="0" l="0" r="0" t="0"/>
          <a:stretch/>
        </p:blipFill>
        <p:spPr>
          <a:xfrm>
            <a:off x="5319713" y="1314450"/>
            <a:ext cx="2868215" cy="2801543"/>
          </a:xfrm>
          <a:prstGeom prst="rect">
            <a:avLst/>
          </a:prstGeom>
          <a:noFill/>
          <a:ln>
            <a:noFill/>
          </a:ln>
        </p:spPr>
      </p:pic>
      <p:pic>
        <p:nvPicPr>
          <p:cNvPr id="1171" name="Google Shape;1171;p72"/>
          <p:cNvPicPr preferRelativeResize="0"/>
          <p:nvPr/>
        </p:nvPicPr>
        <p:blipFill rotWithShape="1">
          <a:blip r:embed="rId8">
            <a:alphaModFix/>
          </a:blip>
          <a:srcRect b="0" l="0" r="0" t="0"/>
          <a:stretch/>
        </p:blipFill>
        <p:spPr>
          <a:xfrm>
            <a:off x="5319713" y="1314450"/>
            <a:ext cx="2868215" cy="280154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73"/>
          <p:cNvSpPr txBox="1"/>
          <p:nvPr>
            <p:ph idx="12" type="sldNum"/>
          </p:nvPr>
        </p:nvSpPr>
        <p:spPr>
          <a:xfrm>
            <a:off x="7513902" y="4668137"/>
            <a:ext cx="1617300" cy="3612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sz="900"/>
              <a:t>‹#›</a:t>
            </a:fld>
            <a:endParaRPr sz="900"/>
          </a:p>
        </p:txBody>
      </p:sp>
      <p:sp>
        <p:nvSpPr>
          <p:cNvPr id="1177" name="Google Shape;1177;p73"/>
          <p:cNvSpPr txBox="1"/>
          <p:nvPr/>
        </p:nvSpPr>
        <p:spPr>
          <a:xfrm>
            <a:off x="1517400" y="188475"/>
            <a:ext cx="70071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chemeClr val="dk1"/>
                </a:solidFill>
                <a:latin typeface="Calibri"/>
                <a:ea typeface="Calibri"/>
                <a:cs typeface="Calibri"/>
                <a:sym typeface="Calibri"/>
              </a:rPr>
              <a:t>Reflect the point (10, 5) with respect to the line</a:t>
            </a:r>
            <a:endParaRPr b="1" i="0" sz="2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b="1" i="0" lang="en-US" sz="2500" u="none" cap="none" strike="noStrike">
                <a:solidFill>
                  <a:schemeClr val="dk1"/>
                </a:solidFill>
                <a:latin typeface="Calibri"/>
                <a:ea typeface="Calibri"/>
                <a:cs typeface="Calibri"/>
                <a:sym typeface="Calibri"/>
              </a:rPr>
              <a:t> y=x+2.</a:t>
            </a:r>
            <a:endParaRPr b="1" i="0" sz="2300" u="none" cap="none" strike="noStrike">
              <a:solidFill>
                <a:srgbClr val="000000"/>
              </a:solidFill>
              <a:latin typeface="Arial"/>
              <a:ea typeface="Arial"/>
              <a:cs typeface="Arial"/>
              <a:sym typeface="Arial"/>
            </a:endParaRPr>
          </a:p>
        </p:txBody>
      </p:sp>
      <p:sp>
        <p:nvSpPr>
          <p:cNvPr id="1178" name="Google Shape;1178;p73"/>
          <p:cNvSpPr txBox="1"/>
          <p:nvPr/>
        </p:nvSpPr>
        <p:spPr>
          <a:xfrm>
            <a:off x="838200" y="1408424"/>
            <a:ext cx="7871700" cy="30390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179" name="Google Shape;1179;p73"/>
          <p:cNvPicPr preferRelativeResize="0"/>
          <p:nvPr/>
        </p:nvPicPr>
        <p:blipFill rotWithShape="1">
          <a:blip r:embed="rId4">
            <a:alphaModFix/>
          </a:blip>
          <a:srcRect b="0" l="0" r="0" t="0"/>
          <a:stretch/>
        </p:blipFill>
        <p:spPr>
          <a:xfrm>
            <a:off x="1079150" y="1712388"/>
            <a:ext cx="7527640" cy="1890564"/>
          </a:xfrm>
          <a:prstGeom prst="rect">
            <a:avLst/>
          </a:prstGeom>
          <a:noFill/>
          <a:ln>
            <a:noFill/>
          </a:ln>
        </p:spPr>
      </p:pic>
      <p:sp>
        <p:nvSpPr>
          <p:cNvPr id="1180" name="Google Shape;1180;p73"/>
          <p:cNvSpPr txBox="1"/>
          <p:nvPr/>
        </p:nvSpPr>
        <p:spPr>
          <a:xfrm>
            <a:off x="1517410" y="1062152"/>
            <a:ext cx="4342200" cy="34620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181" name="Google Shape;1181;p73"/>
          <p:cNvPicPr preferRelativeResize="0"/>
          <p:nvPr/>
        </p:nvPicPr>
        <p:blipFill rotWithShape="1">
          <a:blip r:embed="rId6">
            <a:alphaModFix/>
          </a:blip>
          <a:srcRect b="0" l="0" r="0" t="0"/>
          <a:stretch/>
        </p:blipFill>
        <p:spPr>
          <a:xfrm>
            <a:off x="1615569" y="3873595"/>
            <a:ext cx="2868183" cy="1083187"/>
          </a:xfrm>
          <a:prstGeom prst="rect">
            <a:avLst/>
          </a:prstGeom>
          <a:noFill/>
          <a:ln>
            <a:noFill/>
          </a:ln>
        </p:spPr>
      </p:pic>
      <p:sp>
        <p:nvSpPr>
          <p:cNvPr id="1182" name="Google Shape;1182;p73"/>
          <p:cNvSpPr txBox="1"/>
          <p:nvPr/>
        </p:nvSpPr>
        <p:spPr>
          <a:xfrm>
            <a:off x="5518399" y="4103606"/>
            <a:ext cx="35268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New coordinate (3, 12)</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p7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1189" name="Google Shape;1189;p74"/>
          <p:cNvSpPr txBox="1"/>
          <p:nvPr>
            <p:ph type="title"/>
          </p:nvPr>
        </p:nvSpPr>
        <p:spPr>
          <a:xfrm>
            <a:off x="225700" y="273850"/>
            <a:ext cx="82896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lang="en-US"/>
              <a:t>Exercise</a:t>
            </a:r>
            <a:endParaRPr/>
          </a:p>
        </p:txBody>
      </p:sp>
      <p:sp>
        <p:nvSpPr>
          <p:cNvPr id="1190" name="Google Shape;1190;p74"/>
          <p:cNvSpPr txBox="1"/>
          <p:nvPr>
            <p:ph idx="1" type="body"/>
          </p:nvPr>
        </p:nvSpPr>
        <p:spPr>
          <a:xfrm>
            <a:off x="225700" y="1369225"/>
            <a:ext cx="8723700" cy="3542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rPr b="1" lang="en-US" sz="2200"/>
              <a:t>Check this link for the sample problems: </a:t>
            </a:r>
            <a:endParaRPr b="1" sz="2200"/>
          </a:p>
          <a:p>
            <a:pPr indent="0" lvl="0" marL="0" rtl="0" algn="l">
              <a:lnSpc>
                <a:spcPct val="90000"/>
              </a:lnSpc>
              <a:spcBef>
                <a:spcPts val="800"/>
              </a:spcBef>
              <a:spcAft>
                <a:spcPts val="0"/>
              </a:spcAft>
              <a:buSzPts val="1400"/>
              <a:buNone/>
            </a:pPr>
            <a:r>
              <a:rPr lang="en-US" sz="1800" u="sng">
                <a:solidFill>
                  <a:schemeClr val="hlink"/>
                </a:solidFill>
                <a:hlinkClick r:id="rId3"/>
              </a:rPr>
              <a:t>https://docs.google.com/document/d/1FGYfEREicKold6MJ6hzQoVzP5hbnD-2lu23xl5vNYSQ/edit?usp=sharing</a:t>
            </a:r>
            <a:endParaRPr sz="18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75"/>
          <p:cNvSpPr txBox="1"/>
          <p:nvPr>
            <p:ph type="title"/>
          </p:nvPr>
        </p:nvSpPr>
        <p:spPr>
          <a:xfrm>
            <a:off x="628650" y="273844"/>
            <a:ext cx="7886700" cy="994200"/>
          </a:xfrm>
          <a:prstGeom prst="rect">
            <a:avLst/>
          </a:prstGeom>
          <a:noFill/>
          <a:ln>
            <a:noFill/>
          </a:ln>
        </p:spPr>
        <p:txBody>
          <a:bodyPr anchorCtr="0" anchor="ctr" bIns="46025" lIns="92075" spcFirstLastPara="1" rIns="92075" wrap="square" tIns="46025">
            <a:noAutofit/>
          </a:bodyPr>
          <a:lstStyle/>
          <a:p>
            <a:pPr indent="0" lvl="0" marL="0" rtl="0" algn="l">
              <a:lnSpc>
                <a:spcPct val="100000"/>
              </a:lnSpc>
              <a:spcBef>
                <a:spcPts val="0"/>
              </a:spcBef>
              <a:spcAft>
                <a:spcPts val="0"/>
              </a:spcAft>
              <a:buClr>
                <a:srgbClr val="663300"/>
              </a:buClr>
              <a:buSzPts val="4400"/>
              <a:buFont typeface="Times New Roman"/>
              <a:buNone/>
            </a:pPr>
            <a:r>
              <a:rPr b="0" i="1" lang="en-US" sz="4400" u="none">
                <a:solidFill>
                  <a:srgbClr val="663300"/>
                </a:solidFill>
                <a:latin typeface="Times New Roman"/>
                <a:ea typeface="Times New Roman"/>
                <a:cs typeface="Times New Roman"/>
                <a:sym typeface="Times New Roman"/>
              </a:rPr>
              <a:t>References</a:t>
            </a:r>
            <a:endParaRPr/>
          </a:p>
        </p:txBody>
      </p:sp>
      <p:sp>
        <p:nvSpPr>
          <p:cNvPr id="1196" name="Google Shape;1196;p75"/>
          <p:cNvSpPr txBox="1"/>
          <p:nvPr>
            <p:ph idx="1" type="body"/>
          </p:nvPr>
        </p:nvSpPr>
        <p:spPr>
          <a:xfrm>
            <a:off x="628650" y="1369219"/>
            <a:ext cx="7886700" cy="3263400"/>
          </a:xfrm>
          <a:prstGeom prst="rect">
            <a:avLst/>
          </a:prstGeom>
          <a:noFill/>
          <a:ln>
            <a:noFill/>
          </a:ln>
        </p:spPr>
        <p:txBody>
          <a:bodyPr anchorCtr="0" anchor="t" bIns="46025" lIns="92075" spcFirstLastPara="1" rIns="92075" wrap="square" tIns="46025">
            <a:noAutofit/>
          </a:bodyPr>
          <a:lstStyle/>
          <a:p>
            <a:pPr indent="-304800" lvl="0" marL="342900" marR="0" rtl="0" algn="l">
              <a:lnSpc>
                <a:spcPct val="100000"/>
              </a:lnSpc>
              <a:spcBef>
                <a:spcPts val="0"/>
              </a:spcBef>
              <a:spcAft>
                <a:spcPts val="0"/>
              </a:spcAft>
              <a:buClr>
                <a:schemeClr val="dk2"/>
              </a:buClr>
              <a:buSzPts val="2440"/>
              <a:buFont typeface="Noto Sans Symbols"/>
              <a:buChar char="✶"/>
            </a:pPr>
            <a:r>
              <a:rPr b="0" i="0" lang="en-US" sz="2600" u="none">
                <a:solidFill>
                  <a:schemeClr val="dk1"/>
                </a:solidFill>
                <a:latin typeface="Times New Roman"/>
                <a:ea typeface="Times New Roman"/>
                <a:cs typeface="Times New Roman"/>
                <a:sym typeface="Times New Roman"/>
              </a:rPr>
              <a:t>Chapter 4 and Chapter 6, Schaum's Outline of Computer Graphics (2nd Edition) by Zhigang Xiang, Roy A. Plastock</a:t>
            </a:r>
            <a:endParaRPr sz="1500"/>
          </a:p>
          <a:p>
            <a:pPr indent="-304800" lvl="0" marL="342900" marR="0" rtl="0" algn="l">
              <a:lnSpc>
                <a:spcPct val="100000"/>
              </a:lnSpc>
              <a:spcBef>
                <a:spcPts val="640"/>
              </a:spcBef>
              <a:spcAft>
                <a:spcPts val="0"/>
              </a:spcAft>
              <a:buClr>
                <a:schemeClr val="dk2"/>
              </a:buClr>
              <a:buSzPts val="2440"/>
              <a:buFont typeface="Noto Sans Symbols"/>
              <a:buChar char="✶"/>
            </a:pPr>
            <a:r>
              <a:rPr b="0" i="0" lang="en-US" sz="2600" u="none">
                <a:solidFill>
                  <a:schemeClr val="dk1"/>
                </a:solidFill>
                <a:latin typeface="Times New Roman"/>
                <a:ea typeface="Times New Roman"/>
                <a:cs typeface="Times New Roman"/>
                <a:sym typeface="Times New Roman"/>
              </a:rPr>
              <a:t>Chapter 5, Computer Graphics: Principles and Practice in C (2nd Edition) by James D. Foley, Andries van Dam, Steven K. Feiner, John F. Hughes</a:t>
            </a:r>
            <a:endParaRPr sz="1500"/>
          </a:p>
          <a:p>
            <a:pPr indent="-304800" lvl="0" marL="342900" marR="0" rtl="0" algn="l">
              <a:lnSpc>
                <a:spcPct val="100000"/>
              </a:lnSpc>
              <a:spcBef>
                <a:spcPts val="640"/>
              </a:spcBef>
              <a:spcAft>
                <a:spcPts val="0"/>
              </a:spcAft>
              <a:buClr>
                <a:schemeClr val="dk2"/>
              </a:buClr>
              <a:buSzPts val="2440"/>
              <a:buFont typeface="Noto Sans Symbols"/>
              <a:buChar char="✶"/>
            </a:pPr>
            <a:r>
              <a:rPr b="0" i="0" lang="en-US" sz="2600" u="none">
                <a:solidFill>
                  <a:schemeClr val="dk1"/>
                </a:solidFill>
                <a:latin typeface="Times New Roman"/>
                <a:ea typeface="Times New Roman"/>
                <a:cs typeface="Times New Roman"/>
                <a:sym typeface="Times New Roman"/>
              </a:rPr>
              <a:t>Chapter 6, Fundamentals of Computer Graphics, by Peter Shirley</a:t>
            </a:r>
            <a:endParaRPr sz="1500"/>
          </a:p>
          <a:p>
            <a:pPr indent="-149860" lvl="0" marL="342900" marR="0" rtl="0" algn="l">
              <a:lnSpc>
                <a:spcPct val="100000"/>
              </a:lnSpc>
              <a:spcBef>
                <a:spcPts val="640"/>
              </a:spcBef>
              <a:spcAft>
                <a:spcPts val="0"/>
              </a:spcAft>
              <a:buClr>
                <a:schemeClr val="dk2"/>
              </a:buClr>
              <a:buSzPts val="3040"/>
              <a:buFont typeface="Noto Sans Symbols"/>
              <a:buNone/>
            </a:pPr>
            <a:r>
              <a:t/>
            </a:r>
            <a:endParaRPr b="0" i="0" sz="2600" u="none">
              <a:solidFill>
                <a:schemeClr val="dk1"/>
              </a:solidFill>
              <a:latin typeface="Times New Roman"/>
              <a:ea typeface="Times New Roman"/>
              <a:cs typeface="Times New Roman"/>
              <a:sym typeface="Times New Roman"/>
            </a:endParaRPr>
          </a:p>
          <a:p>
            <a:pPr indent="-149860" lvl="0" marL="342900" marR="0" rtl="0" algn="l">
              <a:lnSpc>
                <a:spcPct val="100000"/>
              </a:lnSpc>
              <a:spcBef>
                <a:spcPts val="640"/>
              </a:spcBef>
              <a:spcAft>
                <a:spcPts val="0"/>
              </a:spcAft>
              <a:buClr>
                <a:schemeClr val="dk2"/>
              </a:buClr>
              <a:buSzPts val="3040"/>
              <a:buFont typeface="Noto Sans Symbols"/>
              <a:buNone/>
            </a:pPr>
            <a:r>
              <a:t/>
            </a:r>
            <a:endParaRPr b="0" i="0" sz="2600" u="none">
              <a:solidFill>
                <a:schemeClr val="dk1"/>
              </a:solidFill>
              <a:latin typeface="Times New Roman"/>
              <a:ea typeface="Times New Roman"/>
              <a:cs typeface="Times New Roman"/>
              <a:sym typeface="Times New Roman"/>
            </a:endParaRPr>
          </a:p>
          <a:p>
            <a:pPr indent="-149860" lvl="0" marL="342900" marR="0" rtl="0" algn="l">
              <a:lnSpc>
                <a:spcPct val="100000"/>
              </a:lnSpc>
              <a:spcBef>
                <a:spcPts val="640"/>
              </a:spcBef>
              <a:spcAft>
                <a:spcPts val="0"/>
              </a:spcAft>
              <a:buClr>
                <a:schemeClr val="dk2"/>
              </a:buClr>
              <a:buSzPts val="3040"/>
              <a:buFont typeface="Noto Sans Symbols"/>
              <a:buNone/>
            </a:pPr>
            <a:r>
              <a:t/>
            </a:r>
            <a:endParaRPr b="0" i="0" sz="2600" u="none">
              <a:solidFill>
                <a:schemeClr val="dk1"/>
              </a:solidFill>
              <a:latin typeface="Times New Roman"/>
              <a:ea typeface="Times New Roman"/>
              <a:cs typeface="Times New Roman"/>
              <a:sym typeface="Times New Roman"/>
            </a:endParaRPr>
          </a:p>
        </p:txBody>
      </p:sp>
      <p:sp>
        <p:nvSpPr>
          <p:cNvPr id="1197" name="Google Shape;1197;p75"/>
          <p:cNvSpPr txBox="1"/>
          <p:nvPr/>
        </p:nvSpPr>
        <p:spPr>
          <a:xfrm>
            <a:off x="7226300" y="4686300"/>
            <a:ext cx="1905000" cy="342900"/>
          </a:xfrm>
          <a:prstGeom prst="rect">
            <a:avLst/>
          </a:prstGeom>
          <a:noFill/>
          <a:ln>
            <a:noFill/>
          </a:ln>
        </p:spPr>
        <p:txBody>
          <a:bodyPr anchorCtr="0" anchor="ctr" bIns="46025" lIns="92075" spcFirstLastPara="1" rIns="92075" wrap="square" tIns="46025">
            <a:noAutofit/>
          </a:bodyPr>
          <a:lstStyle/>
          <a:p>
            <a:pPr indent="0" lvl="0" marL="0" marR="0" rtl="0" algn="r">
              <a:lnSpc>
                <a:spcPct val="100000"/>
              </a:lnSpc>
              <a:spcBef>
                <a:spcPts val="0"/>
              </a:spcBef>
              <a:spcAft>
                <a:spcPts val="0"/>
              </a:spcAft>
              <a:buClr>
                <a:schemeClr val="dk2"/>
              </a:buClr>
              <a:buSzPts val="1400"/>
              <a:buFont typeface="Times New Roman"/>
              <a:buNone/>
            </a:pPr>
            <a:fld id="{00000000-1234-1234-1234-123412341234}" type="slidenum">
              <a:rPr b="0" i="0" lang="en-US" sz="1400" u="none" cap="none" strike="noStrike">
                <a:solidFill>
                  <a:schemeClr val="dk2"/>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