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0" r:id="rId3"/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embeddedFontLst>
    <p:embeddedFont>
      <p:font typeface="Libre Franklin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LibreFranklin-bold.fntdata"/><Relationship Id="rId25" Type="http://schemas.openxmlformats.org/officeDocument/2006/relationships/font" Target="fonts/LibreFranklin-regular.fntdata"/><Relationship Id="rId28" Type="http://schemas.openxmlformats.org/officeDocument/2006/relationships/font" Target="fonts/LibreFranklin-boldItalic.fntdata"/><Relationship Id="rId27" Type="http://schemas.openxmlformats.org/officeDocument/2006/relationships/font" Target="fonts/LibreFranklin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:notes"/>
          <p:cNvSpPr/>
          <p:nvPr>
            <p:ph idx="2" type="sldImg"/>
          </p:nvPr>
        </p:nvSpPr>
        <p:spPr>
          <a:xfrm>
            <a:off x="458788" y="720725"/>
            <a:ext cx="63993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2" name="Google Shape;252;p2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" name="Google Shape;253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ee901bc9aa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ee901bc9aa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ee901bc9aa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ee8f23630c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9" name="Google Shape;269;g3ee8f23630c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ee901bc9aa_0_35:notes"/>
          <p:cNvSpPr/>
          <p:nvPr>
            <p:ph idx="2" type="sldImg"/>
          </p:nvPr>
        </p:nvSpPr>
        <p:spPr>
          <a:xfrm>
            <a:off x="458788" y="720725"/>
            <a:ext cx="63993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6" name="Google Shape;276;g3ee901bc9aa_0_35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7" name="Google Shape;277;g3ee901bc9aa_0_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:notes"/>
          <p:cNvSpPr/>
          <p:nvPr>
            <p:ph idx="2" type="sldImg"/>
          </p:nvPr>
        </p:nvSpPr>
        <p:spPr>
          <a:xfrm>
            <a:off x="458788" y="720725"/>
            <a:ext cx="6399212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6" name="Google Shape;286;p3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7" name="Google Shape;28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96" name="Google Shape;29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7" name="Google Shape;3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4" name="Google Shape;32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0" name="Google Shape;34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9:notes"/>
          <p:cNvSpPr/>
          <p:nvPr>
            <p:ph idx="2" type="sldImg"/>
          </p:nvPr>
        </p:nvSpPr>
        <p:spPr>
          <a:xfrm>
            <a:off x="458788" y="720725"/>
            <a:ext cx="6399212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0" name="Google Shape;350;p9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1" name="Google Shape;35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2" name="Google Shape;37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1" name="Google Shape;38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0" name="Google Shape;39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1" name="Google Shape;40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0" name="Google Shape;41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https://www3.ntu.edu.sg/home/ehchua/programming/opengl/CG_BasicsTheory.html</a:t>
            </a:r>
            <a:endParaRPr/>
          </a:p>
        </p:txBody>
      </p:sp>
      <p:sp>
        <p:nvSpPr>
          <p:cNvPr id="417" name="Google Shape;41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ee901bc9aa_0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6" name="Google Shape;426;g3ee901bc9aa_0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ef014e9857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ef014e9857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g3ef014e9857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rotWithShape="1">
            <a:blip r:embed="rId2">
              <a:alphaModFix amt="85000"/>
            </a:blip>
            <a:tile algn="ctr" flip="xy" tx="0" sx="92000" ty="-76200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rotWithShape="1">
            <a:blip r:embed="rId2">
              <a:alphaModFix amt="85000"/>
            </a:blip>
            <a:tile algn="ctr" flip="xy" tx="0" sx="92000" ty="-71755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rotWithShape="1">
            <a:blip r:embed="rId2">
              <a:alphaModFix amt="85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" name="Google Shape;22;p2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23" name="Google Shape;23;p2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0" sx="85000" ty="0" sy="85000"/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" name="Google Shape;25;p2"/>
          <p:cNvSpPr txBox="1"/>
          <p:nvPr>
            <p:ph type="ctrTitle"/>
          </p:nvPr>
        </p:nvSpPr>
        <p:spPr>
          <a:xfrm>
            <a:off x="1051560" y="1432223"/>
            <a:ext cx="9966960" cy="3035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Font typeface="Rockwell"/>
              <a:buNone/>
              <a:defRPr sz="96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"/>
          <p:cNvSpPr txBox="1"/>
          <p:nvPr>
            <p:ph idx="1" type="subTitle"/>
          </p:nvPr>
        </p:nvSpPr>
        <p:spPr>
          <a:xfrm>
            <a:off x="1069848" y="4389120"/>
            <a:ext cx="7891272" cy="1069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70"/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70"/>
              <a:buNone/>
              <a:defRPr sz="22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7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700"/>
              <a:buNone/>
              <a:defRPr sz="2000"/>
            </a:lvl9pPr>
          </a:lstStyle>
          <a:p/>
        </p:txBody>
      </p:sp>
      <p:sp>
        <p:nvSpPr>
          <p:cNvPr id="27" name="Google Shape;27;p2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"/>
          <p:cNvSpPr txBox="1"/>
          <p:nvPr>
            <p:ph idx="12" type="sldNum"/>
          </p:nvPr>
        </p:nvSpPr>
        <p:spPr>
          <a:xfrm>
            <a:off x="9592733" y="4289334"/>
            <a:ext cx="11938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" name="Google Shape;3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indent="-325755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indent="-325755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indent="-325755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indent="-325755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indent="-325755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indent="-325755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indent="-325755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/>
        </p:txBody>
      </p:sp>
      <p:sp>
        <p:nvSpPr>
          <p:cNvPr id="36" name="Google Shape;36;p3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9" name="Google Shape;39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rotWithShape="1">
            <a:blip r:embed="rId2">
              <a:alphaModFix amt="85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4"/>
          <p:cNvSpPr txBox="1"/>
          <p:nvPr>
            <p:ph type="title"/>
          </p:nvPr>
        </p:nvSpPr>
        <p:spPr>
          <a:xfrm>
            <a:off x="2167128" y="1225296"/>
            <a:ext cx="9281160" cy="3520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Rockwell"/>
              <a:buNone/>
              <a:defRPr b="0" sz="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"/>
          <p:cNvSpPr txBox="1"/>
          <p:nvPr>
            <p:ph idx="1" type="body"/>
          </p:nvPr>
        </p:nvSpPr>
        <p:spPr>
          <a:xfrm>
            <a:off x="2165774" y="5020056"/>
            <a:ext cx="905256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4"/>
          <p:cNvSpPr txBox="1"/>
          <p:nvPr>
            <p:ph idx="10" type="dt"/>
          </p:nvPr>
        </p:nvSpPr>
        <p:spPr>
          <a:xfrm>
            <a:off x="8593667" y="6272784"/>
            <a:ext cx="2644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1" type="ftr"/>
          </p:nvPr>
        </p:nvSpPr>
        <p:spPr>
          <a:xfrm>
            <a:off x="2182708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8" name="Google Shape;48;p4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49" name="Google Shape;49;p4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0" sx="85000" ty="0" sy="85000"/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4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" name="Google Shape;51;p4"/>
          <p:cNvSpPr txBox="1"/>
          <p:nvPr>
            <p:ph idx="12" type="sldNum"/>
          </p:nvPr>
        </p:nvSpPr>
        <p:spPr>
          <a:xfrm>
            <a:off x="843702" y="2506133"/>
            <a:ext cx="1188298" cy="720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2" name="Google Shape;5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"/>
          <p:cNvSpPr txBox="1"/>
          <p:nvPr>
            <p:ph idx="1" type="body"/>
          </p:nvPr>
        </p:nvSpPr>
        <p:spPr>
          <a:xfrm>
            <a:off x="1069848" y="2194560"/>
            <a:ext cx="475488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1496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indent="-31496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indent="-31496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indent="-31496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/>
        </p:txBody>
      </p:sp>
      <p:sp>
        <p:nvSpPr>
          <p:cNvPr id="58" name="Google Shape;58;p5"/>
          <p:cNvSpPr txBox="1"/>
          <p:nvPr>
            <p:ph idx="2" type="body"/>
          </p:nvPr>
        </p:nvSpPr>
        <p:spPr>
          <a:xfrm>
            <a:off x="6364224" y="2194560"/>
            <a:ext cx="475488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1496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indent="-31496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indent="-31496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indent="-31496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/>
        </p:txBody>
      </p:sp>
      <p:sp>
        <p:nvSpPr>
          <p:cNvPr id="59" name="Google Shape;59;p5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5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2" name="Google Shape;6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"/>
          <p:cNvSpPr txBox="1"/>
          <p:nvPr>
            <p:ph idx="1" type="body"/>
          </p:nvPr>
        </p:nvSpPr>
        <p:spPr>
          <a:xfrm>
            <a:off x="1066800" y="2048256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b="1" sz="200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None/>
              <a:defRPr b="1" sz="1600"/>
            </a:lvl9pPr>
          </a:lstStyle>
          <a:p/>
        </p:txBody>
      </p:sp>
      <p:sp>
        <p:nvSpPr>
          <p:cNvPr id="68" name="Google Shape;68;p6"/>
          <p:cNvSpPr txBox="1"/>
          <p:nvPr>
            <p:ph idx="2" type="body"/>
          </p:nvPr>
        </p:nvSpPr>
        <p:spPr>
          <a:xfrm>
            <a:off x="1069848" y="2743200"/>
            <a:ext cx="47548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1496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indent="-31496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indent="-31496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indent="-31496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/>
        </p:txBody>
      </p:sp>
      <p:sp>
        <p:nvSpPr>
          <p:cNvPr id="69" name="Google Shape;69;p6"/>
          <p:cNvSpPr txBox="1"/>
          <p:nvPr>
            <p:ph idx="3" type="body"/>
          </p:nvPr>
        </p:nvSpPr>
        <p:spPr>
          <a:xfrm>
            <a:off x="6364224" y="2048256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b="1" sz="200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None/>
              <a:defRPr b="1" sz="1600"/>
            </a:lvl9pPr>
          </a:lstStyle>
          <a:p/>
        </p:txBody>
      </p:sp>
      <p:sp>
        <p:nvSpPr>
          <p:cNvPr id="70" name="Google Shape;70;p6"/>
          <p:cNvSpPr txBox="1"/>
          <p:nvPr>
            <p:ph idx="4" type="body"/>
          </p:nvPr>
        </p:nvSpPr>
        <p:spPr>
          <a:xfrm>
            <a:off x="6364224" y="2743200"/>
            <a:ext cx="47548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1496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indent="-31496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indent="-31496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indent="-31496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/>
        </p:txBody>
      </p:sp>
      <p:sp>
        <p:nvSpPr>
          <p:cNvPr id="71" name="Google Shape;71;p6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6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4" name="Google Shape;74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7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7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7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2" name="Google Shape;82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8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8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9" name="Google Shape;89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rotWithShape="1">
            <a:blip r:embed="rId2">
              <a:alphaModFix amt="60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9"/>
          <p:cNvSpPr txBox="1"/>
          <p:nvPr>
            <p:ph type="title"/>
          </p:nvPr>
        </p:nvSpPr>
        <p:spPr>
          <a:xfrm>
            <a:off x="8549640" y="685800"/>
            <a:ext cx="32004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ckwell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9"/>
          <p:cNvSpPr txBox="1"/>
          <p:nvPr>
            <p:ph idx="1" type="body"/>
          </p:nvPr>
        </p:nvSpPr>
        <p:spPr>
          <a:xfrm>
            <a:off x="838200" y="685800"/>
            <a:ext cx="6711696" cy="5020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1496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indent="-31496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indent="-31496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indent="-31496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/>
        </p:txBody>
      </p:sp>
      <p:sp>
        <p:nvSpPr>
          <p:cNvPr id="96" name="Google Shape;96;p9"/>
          <p:cNvSpPr txBox="1"/>
          <p:nvPr>
            <p:ph idx="2" type="body"/>
          </p:nvPr>
        </p:nvSpPr>
        <p:spPr>
          <a:xfrm>
            <a:off x="8549640" y="2423160"/>
            <a:ext cx="3200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765"/>
              <a:buNone/>
              <a:defRPr sz="900"/>
            </a:lvl9pPr>
          </a:lstStyle>
          <a:p/>
        </p:txBody>
      </p:sp>
      <p:sp>
        <p:nvSpPr>
          <p:cNvPr id="97" name="Google Shape;97;p9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99" name="Google Shape;99;p9"/>
          <p:cNvGrpSpPr/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0" name="Google Shape;100;p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3" name="Google Shape;10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rotWithShape="1">
            <a:blip r:embed="rId2">
              <a:alphaModFix amt="60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0"/>
          <p:cNvSpPr txBox="1"/>
          <p:nvPr>
            <p:ph type="title"/>
          </p:nvPr>
        </p:nvSpPr>
        <p:spPr>
          <a:xfrm>
            <a:off x="8549640" y="685800"/>
            <a:ext cx="32004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ckwell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0"/>
          <p:cNvSpPr/>
          <p:nvPr>
            <p:ph idx="2" type="pic"/>
          </p:nvPr>
        </p:nvSpPr>
        <p:spPr>
          <a:xfrm>
            <a:off x="0" y="0"/>
            <a:ext cx="8303740" cy="6858000"/>
          </a:xfrm>
          <a:prstGeom prst="rect">
            <a:avLst/>
          </a:prstGeom>
          <a:solidFill>
            <a:srgbClr val="E1DFDF"/>
          </a:solidFill>
          <a:ln>
            <a:noFill/>
          </a:ln>
        </p:spPr>
      </p:sp>
      <p:sp>
        <p:nvSpPr>
          <p:cNvPr id="110" name="Google Shape;110;p10"/>
          <p:cNvSpPr txBox="1"/>
          <p:nvPr>
            <p:ph idx="1" type="body"/>
          </p:nvPr>
        </p:nvSpPr>
        <p:spPr>
          <a:xfrm>
            <a:off x="8549640" y="2423160"/>
            <a:ext cx="3200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765"/>
              <a:buNone/>
              <a:defRPr sz="900"/>
            </a:lvl9pPr>
          </a:lstStyle>
          <a:p/>
        </p:txBody>
      </p:sp>
      <p:sp>
        <p:nvSpPr>
          <p:cNvPr id="111" name="Google Shape;111;p10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12" name="Google Shape;112;p10"/>
          <p:cNvGrpSpPr/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13" name="Google Shape;113;p10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5" name="Google Shape;115;p10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6" name="Google Shape;11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1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" type="body"/>
          </p:nvPr>
        </p:nvSpPr>
        <p:spPr>
          <a:xfrm rot="5400000">
            <a:off x="4073652" y="-882396"/>
            <a:ext cx="4050792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indent="-325755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indent="-325755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indent="-325755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indent="-325755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indent="-325755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indent="-325755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indent="-325755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/>
        </p:txBody>
      </p:sp>
      <p:sp>
        <p:nvSpPr>
          <p:cNvPr id="122" name="Google Shape;122;p11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1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1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5" name="Google Shape;125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type="title"/>
          </p:nvPr>
        </p:nvSpPr>
        <p:spPr>
          <a:xfrm rot="5400000">
            <a:off x="7181850" y="2076450"/>
            <a:ext cx="5638800" cy="25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2"/>
          <p:cNvSpPr txBox="1"/>
          <p:nvPr>
            <p:ph idx="1" type="body"/>
          </p:nvPr>
        </p:nvSpPr>
        <p:spPr>
          <a:xfrm rot="5400000">
            <a:off x="2000250" y="-400050"/>
            <a:ext cx="5638800" cy="75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indent="-325755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indent="-325755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indent="-325755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indent="-325755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indent="-325755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indent="-325755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indent="-325755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/>
        </p:txBody>
      </p:sp>
      <p:sp>
        <p:nvSpPr>
          <p:cNvPr id="131" name="Google Shape;131;p12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2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2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4" name="Google Shape;134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9" name="Google Shape;149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5" name="Google Shape;15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8" name="Google Shape;158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1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1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5" name="Google Shape;1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8" name="Google Shape;168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4" name="Google Shape;174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7" name="Google Shape;177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1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3" name="Google Shape;183;p1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4" name="Google Shape;184;p1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5" name="Google Shape;185;p1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6" name="Google Shape;18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9" name="Google Shape;18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7" name="Google Shape;197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4" name="Google Shape;204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2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10" name="Google Shape;210;p2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11" name="Google Shape;21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4" name="Google Shape;214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2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2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21" name="Google Shape;22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4" name="Google Shape;22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0" name="Google Shape;23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3" name="Google Shape;23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2" name="Google Shape;242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Rockwell"/>
              <a:buNone/>
              <a:defRPr b="0" i="0" sz="54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-325755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-31496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-31496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-31496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-31496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-31496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-31496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-31496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grpSp>
        <p:nvGrpSpPr>
          <p:cNvPr id="14" name="Google Shape;14;p1"/>
          <p:cNvGrpSpPr/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5" name="Google Shape;15;p1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1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" name="Google Shape;17;p1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9" name="Google Shape;139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0" name="Google Shape;140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1" name="Google Shape;141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2" name="Google Shape;142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23.png"/><Relationship Id="rId5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jpg"/><Relationship Id="rId4" Type="http://schemas.openxmlformats.org/officeDocument/2006/relationships/image" Target="../media/image19.jpg"/><Relationship Id="rId5" Type="http://schemas.openxmlformats.org/officeDocument/2006/relationships/image" Target="../media/image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Relationship Id="rId4" Type="http://schemas.openxmlformats.org/officeDocument/2006/relationships/image" Target="../media/image17.png"/><Relationship Id="rId5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5"/>
          <p:cNvSpPr txBox="1"/>
          <p:nvPr>
            <p:ph type="ctrTitle"/>
          </p:nvPr>
        </p:nvSpPr>
        <p:spPr>
          <a:xfrm>
            <a:off x="895600" y="1427175"/>
            <a:ext cx="9613800" cy="22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Libre Franklin Thin"/>
              <a:buNone/>
            </a:pPr>
            <a:r>
              <a:rPr b="1" lang="en-US" sz="6000">
                <a:latin typeface="Libre Franklin"/>
                <a:ea typeface="Libre Franklin"/>
                <a:cs typeface="Libre Franklin"/>
                <a:sym typeface="Libre Franklin"/>
              </a:rPr>
              <a:t>INTRODUCTION TO COMPUTER GRAPHICS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6"/>
          <p:cNvSpPr txBox="1"/>
          <p:nvPr>
            <p:ph type="title"/>
          </p:nvPr>
        </p:nvSpPr>
        <p:spPr>
          <a:xfrm>
            <a:off x="347252" y="196367"/>
            <a:ext cx="11218500" cy="10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Course Objective</a:t>
            </a:r>
            <a:endParaRPr/>
          </a:p>
        </p:txBody>
      </p:sp>
      <p:sp>
        <p:nvSpPr>
          <p:cNvPr id="256" name="Google Shape;256;p26"/>
          <p:cNvSpPr txBox="1"/>
          <p:nvPr>
            <p:ph idx="1" type="body"/>
          </p:nvPr>
        </p:nvSpPr>
        <p:spPr>
          <a:xfrm>
            <a:off x="658521" y="602008"/>
            <a:ext cx="11218500" cy="34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None/>
            </a:pPr>
            <a:r>
              <a:t/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Char char="➔"/>
            </a:pPr>
            <a:r>
              <a:rPr lang="en-US" sz="2200"/>
              <a:t>To make students familiar with the basic steps of the graphics pipeline. 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➔"/>
            </a:pPr>
            <a:r>
              <a:rPr lang="en-US" sz="2200"/>
              <a:t>To make students understand the theories and underlying mathematics of graphics applications.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➔"/>
            </a:pPr>
            <a:r>
              <a:rPr lang="en-US" sz="2200"/>
              <a:t>To understand the algorithms commonly used in 3D computer graphics.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➔"/>
            </a:pPr>
            <a:r>
              <a:rPr lang="en-US" sz="2200"/>
              <a:t>To make the students understand advanced computer graphics techniques and applications.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➔"/>
            </a:pPr>
            <a:r>
              <a:rPr lang="en-US" sz="2200"/>
              <a:t>To demonstrate how to solve problems by designing projects.</a:t>
            </a:r>
            <a:endParaRPr sz="22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None/>
            </a:pPr>
            <a:r>
              <a:t/>
            </a:r>
            <a:endParaRPr sz="2200"/>
          </a:p>
          <a:p>
            <a:pPr indent="0" lvl="0" marL="1778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t/>
            </a:r>
            <a:endParaRPr sz="2100"/>
          </a:p>
        </p:txBody>
      </p:sp>
      <p:sp>
        <p:nvSpPr>
          <p:cNvPr id="257" name="Google Shape;257;p26"/>
          <p:cNvSpPr txBox="1"/>
          <p:nvPr>
            <p:ph idx="12" type="sldNum"/>
          </p:nvPr>
        </p:nvSpPr>
        <p:spPr>
          <a:xfrm>
            <a:off x="9789557" y="6229898"/>
            <a:ext cx="30714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8" name="Google Shape;258;p26"/>
          <p:cNvSpPr txBox="1"/>
          <p:nvPr/>
        </p:nvSpPr>
        <p:spPr>
          <a:xfrm>
            <a:off x="657200" y="3608360"/>
            <a:ext cx="10941900" cy="29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➔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Demonstrate advanced knowledge of the fundamentals of 2D and 3D computer graphics.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➔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 and apply the algorithms commonly used in 3D computer graphics.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➔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Display competency in a number of advanced computer graphics techniques and applications.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6"/>
          <p:cNvSpPr txBox="1"/>
          <p:nvPr>
            <p:ph type="title"/>
          </p:nvPr>
        </p:nvSpPr>
        <p:spPr>
          <a:xfrm>
            <a:off x="411502" y="3585992"/>
            <a:ext cx="11218500" cy="10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200"/>
              <a:t>Course Outcomes (COs)</a:t>
            </a:r>
            <a:endParaRPr sz="4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499" y="927126"/>
            <a:ext cx="11122099" cy="575455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Topics</a:t>
            </a:r>
            <a:endParaRPr/>
          </a:p>
        </p:txBody>
      </p:sp>
      <p:sp>
        <p:nvSpPr>
          <p:cNvPr id="272" name="Google Shape;272;p2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❏"/>
            </a:pPr>
            <a:r>
              <a:rPr lang="en-US" sz="1700"/>
              <a:t>Basics of Computer Graphics</a:t>
            </a:r>
            <a:endParaRPr sz="17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❏"/>
            </a:pPr>
            <a:r>
              <a:rPr lang="en-US" sz="1800"/>
              <a:t>Scan Conversion Algorithms: DDA, Midpoint Line Drawing Algorithm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❏"/>
            </a:pPr>
            <a:r>
              <a:rPr lang="en-US" sz="1800"/>
              <a:t>Eight Way Symmetry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❏"/>
            </a:pPr>
            <a:r>
              <a:rPr lang="en-US" sz="1800"/>
              <a:t>Line Clipping Algorithms: Cohen-Sutherland, Cyrus-Beck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❏"/>
            </a:pPr>
            <a:r>
              <a:rPr lang="en-US" sz="1800"/>
              <a:t>Geometric Transformations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❏"/>
            </a:pPr>
            <a:r>
              <a:rPr lang="en-US" sz="1800"/>
              <a:t>Projection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❏"/>
            </a:pPr>
            <a:r>
              <a:rPr lang="en-US" sz="1800"/>
              <a:t>Color Model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❏"/>
            </a:pPr>
            <a:r>
              <a:rPr lang="en-US" sz="1800"/>
              <a:t>Lighting Model 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❏"/>
            </a:pPr>
            <a:r>
              <a:rPr lang="en-US" sz="1800"/>
              <a:t>Shading Models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❏"/>
            </a:pPr>
            <a:r>
              <a:rPr lang="en-US" sz="1800"/>
              <a:t>Curves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700"/>
          </a:p>
        </p:txBody>
      </p:sp>
      <p:sp>
        <p:nvSpPr>
          <p:cNvPr id="273" name="Google Shape;273;p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is Computer Graphics?</a:t>
            </a:r>
            <a:endParaRPr/>
          </a:p>
        </p:txBody>
      </p:sp>
      <p:sp>
        <p:nvSpPr>
          <p:cNvPr id="280" name="Google Shape;280;p29"/>
          <p:cNvSpPr txBox="1"/>
          <p:nvPr>
            <p:ph idx="1" type="body"/>
          </p:nvPr>
        </p:nvSpPr>
        <p:spPr>
          <a:xfrm>
            <a:off x="838200" y="17494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Computer graphics generally means creation, storage and manipulation of models and images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Such models come from diverse and expanding set of fields including physical, biological, mathematical, artistic, and conceptual/abstract structures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81" name="Google Shape;281;p2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2" name="Google Shape;282;p29"/>
          <p:cNvSpPr txBox="1"/>
          <p:nvPr/>
        </p:nvSpPr>
        <p:spPr>
          <a:xfrm>
            <a:off x="2154438" y="5099937"/>
            <a:ext cx="62619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Arial"/>
              <a:buNone/>
            </a:pPr>
            <a:r>
              <a:rPr b="0" i="0" lang="en-US" sz="21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 from animation by William Latham, shown at </a:t>
            </a:r>
            <a:r>
              <a:rPr b="1" i="0" lang="en-US" sz="21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SIGGRAPH 1992</a:t>
            </a:r>
            <a:r>
              <a:rPr b="0" i="0" lang="en-US" sz="21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Latham creates his artwork using rules that govern patterns of natural forms.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athan" id="283" name="Google Shape;28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6340" y="3679115"/>
            <a:ext cx="3080919" cy="2560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etter_boeing" id="289" name="Google Shape;28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0600" y="1563654"/>
            <a:ext cx="2961641" cy="2425871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is Computer Graphics?</a:t>
            </a:r>
            <a:endParaRPr/>
          </a:p>
        </p:txBody>
      </p:sp>
      <p:sp>
        <p:nvSpPr>
          <p:cNvPr id="291" name="Google Shape;291;p30"/>
          <p:cNvSpPr txBox="1"/>
          <p:nvPr>
            <p:ph idx="1" type="body"/>
          </p:nvPr>
        </p:nvSpPr>
        <p:spPr>
          <a:xfrm>
            <a:off x="838200" y="1825625"/>
            <a:ext cx="859028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William Fetter coined term “computer graphics” in 1960 to describe new design methods he was pursuing at Boeing for cockpit ergonomics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Created a series of widely reproduced images on “pen plotter” exploring cockpit design, using 3D model of human body.  </a:t>
            </a:r>
            <a:endParaRPr/>
          </a:p>
        </p:txBody>
      </p:sp>
      <p:sp>
        <p:nvSpPr>
          <p:cNvPr id="292" name="Google Shape;292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1118501" y="3842170"/>
            <a:ext cx="8309979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Perhaps the best way to define computer graphics is to find out what it is not. It is not a machine. It is not a computer, nor a group of computer programs. It is not the know-how of a graphic designer, a programmer, a writer, a motion picture specialist, or a reproduction specialist.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Computer graphics is all these – a consciously managed and documented technology directed toward </a:t>
            </a:r>
            <a:r>
              <a:rPr b="0" i="1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communicating information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accurately and descriptively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Computer Graphics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by William A. Fetter, 1966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1"/>
          <p:cNvSpPr txBox="1"/>
          <p:nvPr>
            <p:ph type="ctrTitle"/>
          </p:nvPr>
        </p:nvSpPr>
        <p:spPr>
          <a:xfrm>
            <a:off x="1524000" y="508466"/>
            <a:ext cx="9144000" cy="1022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663C4E"/>
              </a:buClr>
              <a:buSzPts val="4400"/>
              <a:buFont typeface="Century Schoolbook"/>
              <a:buNone/>
            </a:pPr>
            <a:r>
              <a:rPr lang="en-US" sz="4400"/>
              <a:t>Differences</a:t>
            </a:r>
            <a:endParaRPr sz="4400"/>
          </a:p>
        </p:txBody>
      </p:sp>
      <p:grpSp>
        <p:nvGrpSpPr>
          <p:cNvPr id="299" name="Google Shape;299;p31"/>
          <p:cNvGrpSpPr/>
          <p:nvPr/>
        </p:nvGrpSpPr>
        <p:grpSpPr>
          <a:xfrm>
            <a:off x="1924878" y="1712842"/>
            <a:ext cx="8179904" cy="4280453"/>
            <a:chOff x="1646154" y="0"/>
            <a:chExt cx="5478629" cy="3651250"/>
          </a:xfrm>
        </p:grpSpPr>
        <p:sp>
          <p:nvSpPr>
            <p:cNvPr id="300" name="Google Shape;300;p31"/>
            <p:cNvSpPr/>
            <p:nvPr/>
          </p:nvSpPr>
          <p:spPr>
            <a:xfrm>
              <a:off x="1646154" y="0"/>
              <a:ext cx="1825625" cy="1825625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rgbClr val="7847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01" name="Google Shape;301;p31"/>
            <p:cNvCxnSpPr/>
            <p:nvPr/>
          </p:nvCxnSpPr>
          <p:spPr>
            <a:xfrm>
              <a:off x="1646154" y="0"/>
              <a:ext cx="182" cy="3651250"/>
            </a:xfrm>
            <a:prstGeom prst="straightConnector1">
              <a:avLst/>
            </a:prstGeom>
            <a:noFill/>
            <a:ln cap="flat" cmpd="sng" w="12700">
              <a:solidFill>
                <a:srgbClr val="5F384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02" name="Google Shape;302;p31"/>
            <p:cNvSpPr/>
            <p:nvPr/>
          </p:nvSpPr>
          <p:spPr>
            <a:xfrm>
              <a:off x="1646154" y="1825625"/>
              <a:ext cx="1825625" cy="1825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31"/>
            <p:cNvSpPr txBox="1"/>
            <p:nvPr/>
          </p:nvSpPr>
          <p:spPr>
            <a:xfrm>
              <a:off x="1646154" y="1825625"/>
              <a:ext cx="1825625" cy="1825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Computer vision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</a:t>
              </a: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Extracting information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from the contents of an input image or video frame.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Ex: Face Recognition, Autonomous Driving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31"/>
            <p:cNvSpPr/>
            <p:nvPr/>
          </p:nvSpPr>
          <p:spPr>
            <a:xfrm>
              <a:off x="3472656" y="0"/>
              <a:ext cx="1825625" cy="182562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rgbClr val="7847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05" name="Google Shape;305;p31"/>
            <p:cNvCxnSpPr/>
            <p:nvPr/>
          </p:nvCxnSpPr>
          <p:spPr>
            <a:xfrm>
              <a:off x="3472656" y="0"/>
              <a:ext cx="182" cy="3651250"/>
            </a:xfrm>
            <a:prstGeom prst="straightConnector1">
              <a:avLst/>
            </a:prstGeom>
            <a:noFill/>
            <a:ln cap="flat" cmpd="sng" w="12700">
              <a:solidFill>
                <a:srgbClr val="5F384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06" name="Google Shape;306;p31"/>
            <p:cNvSpPr/>
            <p:nvPr/>
          </p:nvSpPr>
          <p:spPr>
            <a:xfrm>
              <a:off x="3472656" y="1825625"/>
              <a:ext cx="1825625" cy="1825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31"/>
            <p:cNvSpPr txBox="1"/>
            <p:nvPr/>
          </p:nvSpPr>
          <p:spPr>
            <a:xfrm>
              <a:off x="3472656" y="1825625"/>
              <a:ext cx="1825625" cy="1825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Computer graphics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</a:t>
              </a: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Creating 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 image </a:t>
              </a: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from scratch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using computer.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Ex: Animated Movies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31"/>
            <p:cNvSpPr/>
            <p:nvPr/>
          </p:nvSpPr>
          <p:spPr>
            <a:xfrm>
              <a:off x="5299158" y="0"/>
              <a:ext cx="1825625" cy="1825625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rgbClr val="7847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09" name="Google Shape;309;p31"/>
            <p:cNvCxnSpPr/>
            <p:nvPr/>
          </p:nvCxnSpPr>
          <p:spPr>
            <a:xfrm>
              <a:off x="5299158" y="0"/>
              <a:ext cx="182" cy="3651250"/>
            </a:xfrm>
            <a:prstGeom prst="straightConnector1">
              <a:avLst/>
            </a:prstGeom>
            <a:noFill/>
            <a:ln cap="flat" cmpd="sng" w="12700">
              <a:solidFill>
                <a:srgbClr val="5F384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10" name="Google Shape;310;p31"/>
            <p:cNvSpPr/>
            <p:nvPr/>
          </p:nvSpPr>
          <p:spPr>
            <a:xfrm>
              <a:off x="5299158" y="1825625"/>
              <a:ext cx="1825625" cy="1825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31"/>
            <p:cNvSpPr txBox="1"/>
            <p:nvPr/>
          </p:nvSpPr>
          <p:spPr>
            <a:xfrm>
              <a:off x="5299158" y="1825625"/>
              <a:ext cx="1825625" cy="1825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Digital image processing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</a:t>
              </a: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Processing raw input images 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to perform different operations.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Ex: Apply Filter on an Image, Noise Reduction, Compression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12" name="Google Shape;312;p31"/>
          <p:cNvCxnSpPr/>
          <p:nvPr/>
        </p:nvCxnSpPr>
        <p:spPr>
          <a:xfrm>
            <a:off x="1924878" y="5993295"/>
            <a:ext cx="8179904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3" name="Google Shape;313;p31"/>
          <p:cNvCxnSpPr/>
          <p:nvPr/>
        </p:nvCxnSpPr>
        <p:spPr>
          <a:xfrm>
            <a:off x="10104782" y="3853070"/>
            <a:ext cx="0" cy="214022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4" name="Google Shape;314;p3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Applications of Computer Graphics</a:t>
            </a:r>
            <a:endParaRPr/>
          </a:p>
        </p:txBody>
      </p:sp>
      <p:sp>
        <p:nvSpPr>
          <p:cNvPr id="320" name="Google Shape;320;p32"/>
          <p:cNvSpPr txBox="1"/>
          <p:nvPr>
            <p:ph idx="1" type="body"/>
          </p:nvPr>
        </p:nvSpPr>
        <p:spPr>
          <a:xfrm>
            <a:off x="838200" y="1825625"/>
            <a:ext cx="10654800" cy="4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000"/>
              <a:buAutoNum type="arabicPeriod"/>
            </a:pPr>
            <a:r>
              <a:rPr b="1" lang="en-US" sz="2000"/>
              <a:t>Entertainment &amp; Gaming:</a:t>
            </a:r>
            <a:br>
              <a:rPr b="1" lang="en-US" sz="2000"/>
            </a:br>
            <a:r>
              <a:rPr lang="en-US" sz="2000"/>
              <a:t> </a:t>
            </a:r>
            <a:r>
              <a:rPr i="1" lang="en-US" sz="2000"/>
              <a:t>Visual Effects, Animation, Video Games, VR/AR Experiences.</a:t>
            </a:r>
            <a:endParaRPr i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en-US" sz="2000"/>
              <a:t>Design &amp; Engineering:</a:t>
            </a:r>
            <a:br>
              <a:rPr b="1" lang="en-US" sz="2000"/>
            </a:br>
            <a:r>
              <a:rPr lang="en-US" sz="2000"/>
              <a:t> </a:t>
            </a:r>
            <a:r>
              <a:rPr i="1" lang="en-US" sz="2000"/>
              <a:t>CAD Modeling, Architectural Visualization, Product prototyping.</a:t>
            </a:r>
            <a:endParaRPr i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en-US" sz="2000"/>
              <a:t>Education &amp; Training:</a:t>
            </a:r>
            <a:br>
              <a:rPr b="1" lang="en-US" sz="2000"/>
            </a:br>
            <a:r>
              <a:rPr lang="en-US" sz="2000"/>
              <a:t> </a:t>
            </a:r>
            <a:r>
              <a:rPr i="1" lang="en-US" sz="2000"/>
              <a:t>Virtual Labs, Interactive simulations, VR-based Learning.</a:t>
            </a:r>
            <a:endParaRPr i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en-US" sz="2000"/>
              <a:t>Medical &amp; Scientific Visualization:</a:t>
            </a:r>
            <a:br>
              <a:rPr b="1" lang="en-US" sz="2000"/>
            </a:br>
            <a:r>
              <a:rPr lang="en-US" sz="2000"/>
              <a:t> </a:t>
            </a:r>
            <a:r>
              <a:rPr i="1" lang="en-US" sz="2000"/>
              <a:t>MRI/CT Imaging, Surgery Simulation, Data and Astrophysical Visualization.</a:t>
            </a:r>
            <a:endParaRPr i="1" sz="20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US" sz="2000"/>
              <a:t>User Interfaces &amp; Marketing:</a:t>
            </a:r>
            <a:br>
              <a:rPr b="1" lang="en-US" sz="2000"/>
            </a:br>
            <a:r>
              <a:rPr lang="en-US" sz="2000"/>
              <a:t> </a:t>
            </a:r>
            <a:r>
              <a:rPr i="1" lang="en-US" sz="2000"/>
              <a:t>GUIs, Graphic Design, 3D Product Visualization, Digital Ads.</a:t>
            </a:r>
            <a:br>
              <a:rPr i="1" lang="en-US" sz="1800"/>
            </a:br>
            <a:endParaRPr i="1" sz="1800"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800"/>
          </a:p>
        </p:txBody>
      </p:sp>
      <p:sp>
        <p:nvSpPr>
          <p:cNvPr id="321" name="Google Shape;321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Input Methods in Computer Graphics</a:t>
            </a:r>
            <a:endParaRPr/>
          </a:p>
        </p:txBody>
      </p:sp>
      <p:sp>
        <p:nvSpPr>
          <p:cNvPr id="327" name="Google Shape;327;p3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/>
              <a:t>Keyboard and Mouse</a:t>
            </a:r>
            <a:r>
              <a:rPr lang="en-US" sz="2000"/>
              <a:t>: Traditional devices for controlling software, navigation, and object manipulation.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/>
              <a:t>Graphics Tablets</a:t>
            </a:r>
            <a:r>
              <a:rPr lang="en-US" sz="2000"/>
              <a:t>: Used for digital drawing and illustration.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/>
              <a:t>Touchscreens</a:t>
            </a:r>
            <a:r>
              <a:rPr lang="en-US" sz="2000"/>
              <a:t>: For direct interaction with graphical elements.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/>
              <a:t>3D Scanners</a:t>
            </a:r>
            <a:r>
              <a:rPr lang="en-US" sz="2000"/>
              <a:t>: Capture the 3D structure of objects to create digital models.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/>
              <a:t>Body as Interaction Device</a:t>
            </a:r>
            <a:r>
              <a:rPr lang="en-US" sz="2000"/>
              <a:t>: 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328" name="Google Shape;328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29" name="Google Shape;329;p33"/>
          <p:cNvGrpSpPr/>
          <p:nvPr/>
        </p:nvGrpSpPr>
        <p:grpSpPr>
          <a:xfrm>
            <a:off x="2162829" y="4526115"/>
            <a:ext cx="2669151" cy="1842631"/>
            <a:chOff x="629919" y="2929354"/>
            <a:chExt cx="2562481" cy="1717352"/>
          </a:xfrm>
        </p:grpSpPr>
        <p:pic>
          <p:nvPicPr>
            <p:cNvPr id="330" name="Google Shape;330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29919" y="2929354"/>
              <a:ext cx="2562481" cy="14394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1" name="Google Shape;331;p33"/>
            <p:cNvSpPr txBox="1"/>
            <p:nvPr/>
          </p:nvSpPr>
          <p:spPr>
            <a:xfrm>
              <a:off x="629919" y="4338929"/>
              <a:ext cx="256032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Xbox Kinect</a:t>
              </a:r>
              <a:endPara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332" name="Google Shape;332;p33"/>
          <p:cNvGrpSpPr/>
          <p:nvPr/>
        </p:nvGrpSpPr>
        <p:grpSpPr>
          <a:xfrm>
            <a:off x="4903490" y="4533020"/>
            <a:ext cx="2727960" cy="1849536"/>
            <a:chOff x="3291839" y="2922904"/>
            <a:chExt cx="2580643" cy="1723802"/>
          </a:xfrm>
        </p:grpSpPr>
        <p:pic>
          <p:nvPicPr>
            <p:cNvPr id="333" name="Google Shape;333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02000" y="2922904"/>
              <a:ext cx="2570482" cy="144589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4" name="Google Shape;334;p33"/>
            <p:cNvSpPr txBox="1"/>
            <p:nvPr/>
          </p:nvSpPr>
          <p:spPr>
            <a:xfrm>
              <a:off x="3291839" y="4338929"/>
              <a:ext cx="256032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Leap Motion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5" name="Google Shape;335;p33"/>
          <p:cNvGrpSpPr/>
          <p:nvPr/>
        </p:nvGrpSpPr>
        <p:grpSpPr>
          <a:xfrm>
            <a:off x="7533440" y="4533020"/>
            <a:ext cx="2727960" cy="1842631"/>
            <a:chOff x="5892799" y="2922956"/>
            <a:chExt cx="2560321" cy="1723750"/>
          </a:xfrm>
        </p:grpSpPr>
        <p:pic>
          <p:nvPicPr>
            <p:cNvPr id="336" name="Google Shape;336;p3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076772" y="2922956"/>
              <a:ext cx="2193467" cy="1452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7" name="Google Shape;337;p33"/>
            <p:cNvSpPr txBox="1"/>
            <p:nvPr/>
          </p:nvSpPr>
          <p:spPr>
            <a:xfrm>
              <a:off x="5892799" y="4338929"/>
              <a:ext cx="256032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Nimble UX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Output Devices in Computer Graphics</a:t>
            </a:r>
            <a:br>
              <a:rPr lang="en-US"/>
            </a:br>
            <a:endParaRPr/>
          </a:p>
        </p:txBody>
      </p:sp>
      <p:sp>
        <p:nvSpPr>
          <p:cNvPr id="343" name="Google Shape;343;p3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Monitors and Screens</a:t>
            </a:r>
            <a:r>
              <a:rPr lang="en-US" sz="2000"/>
              <a:t>: The most common output devices, used to display images and videos.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Printers</a:t>
            </a:r>
            <a:r>
              <a:rPr lang="en-US" sz="2000"/>
              <a:t>: For generating hard copies of graphics (2D or 3D).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Projectors</a:t>
            </a:r>
            <a:r>
              <a:rPr lang="en-US" sz="2000"/>
              <a:t>: Used in large-scale displays for presentations and entertainment.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VR/AR Headsets</a:t>
            </a:r>
            <a:r>
              <a:rPr lang="en-US" sz="2000"/>
              <a:t>: Immersive displays for virtual and augmented reality applications.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344" name="Google Shape;344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Samsung Odyssey OLED G9 G93SC" id="345" name="Google Shape;34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876" y="4049959"/>
            <a:ext cx="3500120" cy="19688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ew Epson Expression Photo Printer Brings Professional-Quality Printing To  Busy Families | Epson US" id="346" name="Google Shape;346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2960" y="4049959"/>
            <a:ext cx="3500120" cy="19688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s Virtual Reality Bad for Our Health? Studies Point to Physical and Mental  Impacts of VR Usage | Research Communities by Springer Nature" id="347" name="Google Shape;347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49791" y="4001293"/>
            <a:ext cx="2898333" cy="19292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Graphics Display Hardware</a:t>
            </a:r>
            <a:endParaRPr/>
          </a:p>
        </p:txBody>
      </p:sp>
      <p:sp>
        <p:nvSpPr>
          <p:cNvPr id="354" name="Google Shape;354;p35"/>
          <p:cNvSpPr txBox="1"/>
          <p:nvPr>
            <p:ph idx="1" type="body"/>
          </p:nvPr>
        </p:nvSpPr>
        <p:spPr>
          <a:xfrm>
            <a:off x="838200" y="2692399"/>
            <a:ext cx="5181600" cy="3484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Driven by display commands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(move (x, y), char(“A”) , line(x, y)…)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Survives as “scalable vector graphics”</a:t>
            </a:r>
            <a:endParaRPr/>
          </a:p>
        </p:txBody>
      </p:sp>
      <p:sp>
        <p:nvSpPr>
          <p:cNvPr id="355" name="Google Shape;355;p35"/>
          <p:cNvSpPr txBox="1"/>
          <p:nvPr>
            <p:ph idx="2" type="body"/>
          </p:nvPr>
        </p:nvSpPr>
        <p:spPr>
          <a:xfrm>
            <a:off x="6172200" y="2692399"/>
            <a:ext cx="5181600" cy="34845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Driven by array of pixels (no semantics, lowest form of representation)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Note “jaggies” (aliasing errors) due to discrete sampling of continuous primitives</a:t>
            </a:r>
            <a:endParaRPr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356" name="Google Shape;356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7" name="Google Shape;357;p35"/>
          <p:cNvSpPr txBox="1"/>
          <p:nvPr>
            <p:ph idx="4294967295" type="body"/>
          </p:nvPr>
        </p:nvSpPr>
        <p:spPr>
          <a:xfrm>
            <a:off x="876652" y="1808161"/>
            <a:ext cx="4995827" cy="7724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Vector Display</a:t>
            </a:r>
            <a:r>
              <a:rPr lang="en-US" sz="2400"/>
              <a:t> (calligraphic, stroke, random-scan)</a:t>
            </a:r>
            <a:endParaRPr/>
          </a:p>
        </p:txBody>
      </p:sp>
      <p:sp>
        <p:nvSpPr>
          <p:cNvPr id="358" name="Google Shape;358;p35"/>
          <p:cNvSpPr txBox="1"/>
          <p:nvPr>
            <p:ph idx="4294967295" type="body"/>
          </p:nvPr>
        </p:nvSpPr>
        <p:spPr>
          <a:xfrm>
            <a:off x="6172200" y="1808161"/>
            <a:ext cx="5565775" cy="763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Raster Display</a:t>
            </a:r>
            <a:r>
              <a:rPr lang="en-US" sz="2400"/>
              <a:t> (TV, bitmap, pixmap) used in displays and laser printers</a:t>
            </a:r>
            <a:endParaRPr/>
          </a:p>
        </p:txBody>
      </p:sp>
      <p:grpSp>
        <p:nvGrpSpPr>
          <p:cNvPr id="359" name="Google Shape;359;p35"/>
          <p:cNvGrpSpPr/>
          <p:nvPr/>
        </p:nvGrpSpPr>
        <p:grpSpPr>
          <a:xfrm>
            <a:off x="1307356" y="4014665"/>
            <a:ext cx="3989288" cy="2163365"/>
            <a:chOff x="298" y="1344"/>
            <a:chExt cx="2830" cy="1817"/>
          </a:xfrm>
        </p:grpSpPr>
        <p:pic>
          <p:nvPicPr>
            <p:cNvPr descr="022" id="360" name="Google Shape;360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36" y="1344"/>
              <a:ext cx="2792" cy="144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1" name="Google Shape;361;p35"/>
            <p:cNvSpPr txBox="1"/>
            <p:nvPr/>
          </p:nvSpPr>
          <p:spPr>
            <a:xfrm>
              <a:off x="298" y="2601"/>
              <a:ext cx="987" cy="56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rPr b="0" i="0" lang="en-US" sz="1867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Ideal Drawing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35"/>
            <p:cNvSpPr txBox="1"/>
            <p:nvPr/>
          </p:nvSpPr>
          <p:spPr>
            <a:xfrm>
              <a:off x="1977" y="2601"/>
              <a:ext cx="987" cy="56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rPr b="0" i="0" lang="en-US" sz="1867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Vector Drawing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63" name="Google Shape;363;p35"/>
          <p:cNvCxnSpPr/>
          <p:nvPr/>
        </p:nvCxnSpPr>
        <p:spPr>
          <a:xfrm rot="10800000">
            <a:off x="5907742" y="1895385"/>
            <a:ext cx="0" cy="4659291"/>
          </a:xfrm>
          <a:prstGeom prst="straightConnector1">
            <a:avLst/>
          </a:prstGeom>
          <a:noFill/>
          <a:ln cap="flat" cmpd="sng" w="762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364" name="Google Shape;364;p35"/>
          <p:cNvGrpSpPr/>
          <p:nvPr/>
        </p:nvGrpSpPr>
        <p:grpSpPr>
          <a:xfrm>
            <a:off x="7223760" y="4014665"/>
            <a:ext cx="3560233" cy="2181559"/>
            <a:chOff x="5276753" y="2719016"/>
            <a:chExt cx="2804145" cy="1636169"/>
          </a:xfrm>
        </p:grpSpPr>
        <p:grpSp>
          <p:nvGrpSpPr>
            <p:cNvPr id="365" name="Google Shape;365;p35"/>
            <p:cNvGrpSpPr/>
            <p:nvPr/>
          </p:nvGrpSpPr>
          <p:grpSpPr>
            <a:xfrm>
              <a:off x="5276753" y="2719016"/>
              <a:ext cx="2804145" cy="1616963"/>
              <a:chOff x="3105151" y="4280296"/>
              <a:chExt cx="4975014" cy="1894486"/>
            </a:xfrm>
          </p:grpSpPr>
          <p:pic>
            <p:nvPicPr>
              <p:cNvPr descr="raster_house1.png" id="366" name="Google Shape;366;p3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105151" y="4280296"/>
                <a:ext cx="2238889" cy="189448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raster_house2.png" id="367" name="Google Shape;367;p3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5884334" y="4280296"/>
                <a:ext cx="2195831" cy="189448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68" name="Google Shape;368;p35"/>
            <p:cNvSpPr txBox="1"/>
            <p:nvPr/>
          </p:nvSpPr>
          <p:spPr>
            <a:xfrm>
              <a:off x="5408983" y="4039762"/>
              <a:ext cx="1035851" cy="31542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33"/>
                <a:buFont typeface="Arial"/>
                <a:buNone/>
              </a:pPr>
              <a:r>
                <a:rPr b="0" i="0" lang="en-US" sz="2133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Outline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35"/>
            <p:cNvSpPr txBox="1"/>
            <p:nvPr/>
          </p:nvSpPr>
          <p:spPr>
            <a:xfrm>
              <a:off x="7130411" y="4028803"/>
              <a:ext cx="896014" cy="31542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33"/>
                <a:buFont typeface="Arial"/>
                <a:buNone/>
              </a:pPr>
              <a:r>
                <a:rPr b="0" i="0" lang="en-US" sz="2133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Filled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6"/>
          <p:cNvSpPr txBox="1"/>
          <p:nvPr>
            <p:ph type="title"/>
          </p:nvPr>
        </p:nvSpPr>
        <p:spPr>
          <a:xfrm>
            <a:off x="838200" y="365125"/>
            <a:ext cx="10515600" cy="18395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Output Technology: Vector Displays</a:t>
            </a:r>
            <a:br>
              <a:rPr lang="en-US"/>
            </a:br>
            <a:endParaRPr/>
          </a:p>
        </p:txBody>
      </p:sp>
      <p:sp>
        <p:nvSpPr>
          <p:cNvPr id="375" name="Google Shape;375;p36"/>
          <p:cNvSpPr txBox="1"/>
          <p:nvPr>
            <p:ph idx="1" type="body"/>
          </p:nvPr>
        </p:nvSpPr>
        <p:spPr>
          <a:xfrm>
            <a:off x="690880" y="1774825"/>
            <a:ext cx="523240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Also called Calligraphic, Stroke or Line Drawing Graphics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Lines drawn directly on phosphor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D</a:t>
            </a:r>
            <a:r>
              <a:rPr i="0" lang="en-US" sz="2000"/>
              <a:t>isplay processor directs electron beam according to list of lines defined in a "</a:t>
            </a:r>
            <a:r>
              <a:rPr b="1" i="0" lang="en-US" sz="2000"/>
              <a:t>display list</a:t>
            </a:r>
            <a:r>
              <a:rPr i="0" lang="en-US" sz="2000"/>
              <a:t>“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P</a:t>
            </a:r>
            <a:r>
              <a:rPr i="0" lang="en-US" sz="2000"/>
              <a:t>hosphors glow for only a few </a:t>
            </a:r>
            <a:r>
              <a:rPr lang="en-US" sz="2000"/>
              <a:t>microseconds</a:t>
            </a:r>
            <a:r>
              <a:rPr i="0" lang="en-US" sz="2000"/>
              <a:t> so lines must be redrawn or </a:t>
            </a:r>
            <a:r>
              <a:rPr b="1" i="0" lang="en-US" sz="2000"/>
              <a:t>refreshed</a:t>
            </a:r>
            <a:r>
              <a:rPr i="0" lang="en-US" sz="2000"/>
              <a:t> constantly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D</a:t>
            </a:r>
            <a:r>
              <a:rPr i="0" lang="en-US" sz="2000"/>
              <a:t>eflection speed limits # of lines that can be drawn without flicker.</a:t>
            </a:r>
            <a:endParaRPr i="0" sz="2000"/>
          </a:p>
        </p:txBody>
      </p:sp>
      <p:sp>
        <p:nvSpPr>
          <p:cNvPr id="376" name="Google Shape;376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:\PICTURE\vectordisplay.jpg" id="377" name="Google Shape;37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9926" y="1774825"/>
            <a:ext cx="5232402" cy="371617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6"/>
          <p:cNvSpPr txBox="1"/>
          <p:nvPr/>
        </p:nvSpPr>
        <p:spPr>
          <a:xfrm>
            <a:off x="7802880" y="5600065"/>
            <a:ext cx="31729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Fig.: Vector Display Architecture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Output Technology: Raster Displays</a:t>
            </a:r>
            <a:endParaRPr/>
          </a:p>
        </p:txBody>
      </p:sp>
      <p:sp>
        <p:nvSpPr>
          <p:cNvPr id="384" name="Google Shape;384;p37"/>
          <p:cNvSpPr txBox="1"/>
          <p:nvPr>
            <p:ph idx="1" type="body"/>
          </p:nvPr>
        </p:nvSpPr>
        <p:spPr>
          <a:xfrm>
            <a:off x="838200" y="1825625"/>
            <a:ext cx="52578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Display </a:t>
            </a:r>
            <a:r>
              <a:rPr b="1" lang="en-US" sz="2400">
                <a:solidFill>
                  <a:srgbClr val="FF3300"/>
                </a:solidFill>
              </a:rPr>
              <a:t>primitives</a:t>
            </a:r>
            <a:r>
              <a:rPr lang="en-US" sz="2400"/>
              <a:t> (lines, shaded regions, characters) stored as pixels in </a:t>
            </a:r>
            <a:r>
              <a:rPr b="1" lang="en-US" sz="2400">
                <a:solidFill>
                  <a:srgbClr val="FF3300"/>
                </a:solidFill>
              </a:rPr>
              <a:t>refresh buffer</a:t>
            </a:r>
            <a:r>
              <a:rPr lang="en-US" sz="2400"/>
              <a:t> (or </a:t>
            </a:r>
            <a:r>
              <a:rPr b="1" lang="en-US" sz="2400">
                <a:solidFill>
                  <a:srgbClr val="FF3300"/>
                </a:solidFill>
              </a:rPr>
              <a:t>frame buffer</a:t>
            </a:r>
            <a:r>
              <a:rPr lang="en-US" sz="2400"/>
              <a:t>)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Electron beam scans a regular pattern of horizontal raster lines connected by horizontal retrace and vertical retrace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Video controller coordinates the repeated scanning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Pixels are individual dots on a raster line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385" name="Google Shape;385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:\PICTURE\rasterdisplay.jpg" id="386" name="Google Shape;38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61760" y="1825625"/>
            <a:ext cx="5354320" cy="3683159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37"/>
          <p:cNvSpPr txBox="1"/>
          <p:nvPr/>
        </p:nvSpPr>
        <p:spPr>
          <a:xfrm>
            <a:off x="7843520" y="5563235"/>
            <a:ext cx="31586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Fig.: Raster Display Architecture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Basic Definitions</a:t>
            </a:r>
            <a:endParaRPr/>
          </a:p>
        </p:txBody>
      </p:sp>
      <p:sp>
        <p:nvSpPr>
          <p:cNvPr id="393" name="Google Shape;393;p38"/>
          <p:cNvSpPr txBox="1"/>
          <p:nvPr>
            <p:ph idx="1" type="body"/>
          </p:nvPr>
        </p:nvSpPr>
        <p:spPr>
          <a:xfrm>
            <a:off x="838200" y="2297114"/>
            <a:ext cx="578972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Raster:</a:t>
            </a:r>
            <a:r>
              <a:rPr lang="en-US" sz="2000"/>
              <a:t>  A rectangular array of points or dots.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Pixel (Pel):</a:t>
            </a:r>
            <a:r>
              <a:rPr lang="en-US" sz="2000"/>
              <a:t> One dot or picture element of the raster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Pixel Grid: </a:t>
            </a:r>
            <a:r>
              <a:rPr lang="en-US" sz="2000"/>
              <a:t>Images are arranged in a grid of pixels, where each pixel is stored with specific color information (RGB values)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Scan line:  </a:t>
            </a:r>
            <a:r>
              <a:rPr lang="en-US" sz="2000"/>
              <a:t>A row of pixels</a:t>
            </a:r>
            <a:endParaRPr/>
          </a:p>
        </p:txBody>
      </p:sp>
      <p:sp>
        <p:nvSpPr>
          <p:cNvPr id="394" name="Google Shape;394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95" name="Google Shape;39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3852" y="2297114"/>
            <a:ext cx="3948111" cy="181768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396" name="Google Shape;396;p38"/>
          <p:cNvSpPr txBox="1"/>
          <p:nvPr/>
        </p:nvSpPr>
        <p:spPr>
          <a:xfrm>
            <a:off x="6627929" y="4249738"/>
            <a:ext cx="3994036" cy="113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Video raster devices display an image by sequentially drawing out the pixels of the scan lines that form the raster.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8"/>
          <p:cNvSpPr/>
          <p:nvPr/>
        </p:nvSpPr>
        <p:spPr>
          <a:xfrm>
            <a:off x="6726297" y="3167004"/>
            <a:ext cx="3797300" cy="76200"/>
          </a:xfrm>
          <a:prstGeom prst="rect">
            <a:avLst/>
          </a:prstGeom>
          <a:solidFill>
            <a:schemeClr val="fol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8"/>
          <p:cNvSpPr/>
          <p:nvPr/>
        </p:nvSpPr>
        <p:spPr>
          <a:xfrm>
            <a:off x="7405747" y="2674174"/>
            <a:ext cx="117475" cy="107951"/>
          </a:xfrm>
          <a:prstGeom prst="rect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Frame Buffer</a:t>
            </a:r>
            <a:endParaRPr/>
          </a:p>
        </p:txBody>
      </p:sp>
      <p:sp>
        <p:nvSpPr>
          <p:cNvPr id="404" name="Google Shape;404;p39"/>
          <p:cNvSpPr txBox="1"/>
          <p:nvPr>
            <p:ph idx="1" type="body"/>
          </p:nvPr>
        </p:nvSpPr>
        <p:spPr>
          <a:xfrm>
            <a:off x="838200" y="1825625"/>
            <a:ext cx="552196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 frame buffer is characterized by its size, x, y, and pixel depth.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</a:t>
            </a:r>
            <a:r>
              <a:rPr b="1" lang="en-US" sz="2400"/>
              <a:t>resolution</a:t>
            </a:r>
            <a:r>
              <a:rPr lang="en-US" sz="2400"/>
              <a:t> of a frame buffer is the number of pixels in the display. e.g. 1024x1024 pixels.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Bit Planes or Bit Depth is the number of bits corresponding to each pixel. This determines the </a:t>
            </a:r>
            <a:r>
              <a:rPr b="1" lang="en-US" sz="2400"/>
              <a:t>color resolution</a:t>
            </a:r>
            <a:r>
              <a:rPr lang="en-US" sz="2400"/>
              <a:t> of the buffer.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Dual ported (simultaneously writing values and displaying in the monitor)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/>
          </a:p>
        </p:txBody>
      </p:sp>
      <p:sp>
        <p:nvSpPr>
          <p:cNvPr id="405" name="Google Shape;405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06" name="Google Shape;40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001" y="1371601"/>
            <a:ext cx="2476500" cy="2425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39"/>
          <p:cNvSpPr/>
          <p:nvPr/>
        </p:nvSpPr>
        <p:spPr>
          <a:xfrm>
            <a:off x="7000240" y="3962402"/>
            <a:ext cx="435356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Bilevel or monochrome displays have 1 bit/pixel (128Kbytes of RAM)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8bits/pixel -&gt;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256 simultaneous colors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24bits/pixel -&gt;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 million simultaneous colors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Raster vs. Vector Displays</a:t>
            </a:r>
            <a:endParaRPr/>
          </a:p>
        </p:txBody>
      </p:sp>
      <p:sp>
        <p:nvSpPr>
          <p:cNvPr id="413" name="Google Shape;413;p40"/>
          <p:cNvSpPr txBox="1"/>
          <p:nvPr>
            <p:ph idx="1" type="body"/>
          </p:nvPr>
        </p:nvSpPr>
        <p:spPr>
          <a:xfrm>
            <a:off x="838200" y="2611744"/>
            <a:ext cx="10612120" cy="193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Raster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Pixel-based, fixed resolution, common in displays. Cheaper. More realistic.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Vector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Shape-based, resolution-independent, best for scalable designs.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Cases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Raster is used for photographs and complex images, while vector is used for fonts and logos. </a:t>
            </a:r>
            <a:endParaRPr/>
          </a:p>
        </p:txBody>
      </p:sp>
      <p:sp>
        <p:nvSpPr>
          <p:cNvPr id="414" name="Google Shape;414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1"/>
          <p:cNvSpPr txBox="1"/>
          <p:nvPr>
            <p:ph type="title"/>
          </p:nvPr>
        </p:nvSpPr>
        <p:spPr>
          <a:xfrm>
            <a:off x="792173" y="34978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Rendering Pipeline</a:t>
            </a:r>
            <a:endParaRPr/>
          </a:p>
        </p:txBody>
      </p:sp>
      <p:sp>
        <p:nvSpPr>
          <p:cNvPr id="420" name="Google Shape;420;p41"/>
          <p:cNvSpPr txBox="1"/>
          <p:nvPr>
            <p:ph idx="1" type="body"/>
          </p:nvPr>
        </p:nvSpPr>
        <p:spPr>
          <a:xfrm>
            <a:off x="838200" y="1453475"/>
            <a:ext cx="10794900" cy="22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i="1" lang="en-US" sz="2000" u="none" cap="none" strike="noStrike">
                <a:solidFill>
                  <a:srgbClr val="0000FF"/>
                </a:solidFill>
              </a:rPr>
              <a:t>The </a:t>
            </a:r>
            <a:r>
              <a:rPr b="1" i="1" lang="en-US" sz="2000" u="none" cap="none" strike="noStrike">
                <a:solidFill>
                  <a:srgbClr val="FF0000"/>
                </a:solidFill>
              </a:rPr>
              <a:t>rendering pipeline</a:t>
            </a:r>
            <a:r>
              <a:rPr b="1" i="1" lang="en-US" sz="2000" u="none" cap="none" strike="noStrike">
                <a:solidFill>
                  <a:srgbClr val="0000FF"/>
                </a:solidFill>
              </a:rPr>
              <a:t> is a sequence of steps used in computer graphics to convert a 3D scene into a 2D image on the screen.</a:t>
            </a:r>
            <a:endParaRPr b="1" i="1" sz="2000" u="none" cap="none" strike="noStrike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i="1" sz="2000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20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SzPts val="1800"/>
              <a:buNone/>
            </a:pPr>
            <a:r>
              <a:t/>
            </a:r>
            <a:endParaRPr b="1" sz="1800"/>
          </a:p>
        </p:txBody>
      </p:sp>
      <p:sp>
        <p:nvSpPr>
          <p:cNvPr id="421" name="Google Shape;421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22" name="Google Shape;42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1381" y="2458894"/>
            <a:ext cx="9062874" cy="348335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41"/>
          <p:cNvSpPr txBox="1"/>
          <p:nvPr/>
        </p:nvSpPr>
        <p:spPr>
          <a:xfrm>
            <a:off x="295475" y="4963550"/>
            <a:ext cx="1104600" cy="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2"/>
          <p:cNvSpPr txBox="1"/>
          <p:nvPr>
            <p:ph type="title"/>
          </p:nvPr>
        </p:nvSpPr>
        <p:spPr>
          <a:xfrm>
            <a:off x="531354" y="411152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Rendering Pipeline</a:t>
            </a:r>
            <a:endParaRPr/>
          </a:p>
        </p:txBody>
      </p:sp>
      <p:sp>
        <p:nvSpPr>
          <p:cNvPr id="429" name="Google Shape;429;p4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0" name="Google Shape;430;p42"/>
          <p:cNvSpPr txBox="1"/>
          <p:nvPr/>
        </p:nvSpPr>
        <p:spPr>
          <a:xfrm>
            <a:off x="679050" y="1588250"/>
            <a:ext cx="10985100" cy="46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The 3D graphics rendering pipeline consists of the following main stages: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8128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1" lang="en-US" sz="2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Vertex Processing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: Process and transform individual vertices.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812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1" lang="en-US" sz="2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Rasterization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: Convert each primitive (connected vertices) into a set of fragments. A fragment can be treated as a pixel in 3D spaces, which is aligned with the pixel grid, with attributes such as position, color, normal and texture.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812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1" lang="en-US" sz="2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Fragment Processing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: Process individual fragments.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812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1" lang="en-US" sz="2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Output Merging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: Combine the fragments of all primitives (in 3D space) into 2D color-pixel for the display.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37" name="Google Shape;437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6225" y="5605250"/>
            <a:ext cx="1001075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od Type">
  <a:themeElements>
    <a:clrScheme name="Wood Type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