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Arial Narrow"/>
      <p:regular r:id="rId38"/>
      <p:bold r:id="rId39"/>
      <p:italic r:id="rId40"/>
      <p:boldItalic r:id="rId41"/>
    </p:embeddedFont>
    <p:embeddedFont>
      <p:font typeface="Average"/>
      <p:regular r:id="rId42"/>
    </p:embeddedFont>
    <p:embeddedFont>
      <p:font typeface="Oswald"/>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9">
          <p15:clr>
            <a:srgbClr val="000000"/>
          </p15:clr>
        </p15:guide>
        <p15:guide id="2" pos="2455">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B545E6-7EB7-4A36-8A64-6F5504877A36}">
  <a:tblStyle styleId="{85B545E6-7EB7-4A36-8A64-6F5504877A3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9" orient="horz"/>
        <p:guide pos="245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Narrow-italic.fntdata"/><Relationship Id="rId20" Type="http://schemas.openxmlformats.org/officeDocument/2006/relationships/slide" Target="slides/slide14.xml"/><Relationship Id="rId42" Type="http://schemas.openxmlformats.org/officeDocument/2006/relationships/font" Target="fonts/Average-regular.fntdata"/><Relationship Id="rId41" Type="http://schemas.openxmlformats.org/officeDocument/2006/relationships/font" Target="fonts/ArialNarrow-boldItalic.fntdata"/><Relationship Id="rId22" Type="http://schemas.openxmlformats.org/officeDocument/2006/relationships/slide" Target="slides/slide16.xml"/><Relationship Id="rId44" Type="http://schemas.openxmlformats.org/officeDocument/2006/relationships/font" Target="fonts/Oswald-bold.fntdata"/><Relationship Id="rId21" Type="http://schemas.openxmlformats.org/officeDocument/2006/relationships/slide" Target="slides/slide15.xml"/><Relationship Id="rId43" Type="http://schemas.openxmlformats.org/officeDocument/2006/relationships/font" Target="fonts/Oswald-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ArialNarrow-bold.fntdata"/><Relationship Id="rId16" Type="http://schemas.openxmlformats.org/officeDocument/2006/relationships/slide" Target="slides/slide10.xml"/><Relationship Id="rId38" Type="http://schemas.openxmlformats.org/officeDocument/2006/relationships/font" Target="fonts/ArialNarrow-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abs/pii/S0045790615002827"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1" name="Google Shape;18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0" name="Google Shape;20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0" name="Google Shape;21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9" name="Google Shape;21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8" name="Google Shape;22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9" name="Google Shape;23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1" name="Google Shape;25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1" name="Google Shape;27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3" name="Google Shape;28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1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3" name="Google Shape;30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1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3" name="Google Shape;31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https://programmingdesignsystems.com/color/color-models-and-color-spaces/index.html</a:t>
            </a:r>
            <a:endParaRPr/>
          </a:p>
        </p:txBody>
      </p:sp>
      <p:sp>
        <p:nvSpPr>
          <p:cNvPr id="314" name="Google Shape;314;p1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4" name="Google Shape;33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3" name="Google Shape;34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u="sng">
                <a:solidFill>
                  <a:schemeClr val="hlink"/>
                </a:solidFill>
                <a:hlinkClick r:id="rId2"/>
              </a:rPr>
              <a:t>https://www.sciencedirect.com/science/article/abs/pii/S0045790615002827</a:t>
            </a:r>
            <a:endParaRPr/>
          </a:p>
        </p:txBody>
      </p:sp>
      <p:sp>
        <p:nvSpPr>
          <p:cNvPr id="344" name="Google Shape;344;p1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3" name="Google Shape;35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2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1" name="Google Shape;36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1" name="Google Shape;37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C: Represents the strongest (maximum) RGB component in the segment.</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X: Represents the secondary color intensity (from blending the two adjacent hues).</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0: Represents the weakest RGB component in the segment.</a:t>
            </a:r>
            <a:endParaRPr sz="1200"/>
          </a:p>
          <a:p>
            <a:pPr indent="0" lvl="0" marL="0" rtl="0" algn="l">
              <a:lnSpc>
                <a:spcPct val="100000"/>
              </a:lnSpc>
              <a:spcBef>
                <a:spcPts val="0"/>
              </a:spcBef>
              <a:spcAft>
                <a:spcPts val="0"/>
              </a:spcAft>
              <a:buSzPts val="1400"/>
              <a:buNone/>
            </a:pPr>
            <a:r>
              <a:t/>
            </a:r>
            <a:endParaRPr sz="1200"/>
          </a:p>
        </p:txBody>
      </p:sp>
      <p:sp>
        <p:nvSpPr>
          <p:cNvPr id="372" name="Google Shape;372;p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3" name="Google Shape;38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2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3" name="Google Shape;39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2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3" name="Google Shape;40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2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3" name="Google Shape;41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2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4" name="Google Shape;42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2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4" name="Google Shape;43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2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4" name="Google Shape;44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2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1" name="Google Shape;46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3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22" name="Google Shape;22;p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23" name="Google Shape;23;p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3"/>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3"/>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7" name="Google Shape;27;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3"/>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31" name="Google Shape;31;p3"/>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32" name="Google Shape;32;p3"/>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4"/>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6" name="Google Shape;36;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p4"/>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40" name="Google Shape;40;p4"/>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41" name="Google Shape;41;p4"/>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9" name="Google Shape;49;p5"/>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50" name="Google Shape;50;p5"/>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51" name="Google Shape;51;p5"/>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5" name="Google Shape;55;p6"/>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7" name="Google Shape;57;p6"/>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1" name="Google Shape;61;p6"/>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62" name="Google Shape;62;p6"/>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63" name="Google Shape;63;p6"/>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9" name="Google Shape;69;p7"/>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0" name="Google Shape;70;p7"/>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1" name="Google Shape;71;p7"/>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6" name="Google Shape;76;p8"/>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7" name="Google Shape;77;p8"/>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8" name="Google Shape;78;p8"/>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82" name="Google Shape;82;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3" name="Google Shape;83;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6" name="Google Shape;86;p9"/>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87" name="Google Shape;87;p9"/>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88" name="Google Shape;88;p9"/>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0"/>
          <p:cNvSpPr/>
          <p:nvPr>
            <p:ph idx="2" type="pic"/>
          </p:nvPr>
        </p:nvSpPr>
        <p:spPr>
          <a:xfrm>
            <a:off x="3887391" y="740569"/>
            <a:ext cx="4629300" cy="3655200"/>
          </a:xfrm>
          <a:prstGeom prst="rect">
            <a:avLst/>
          </a:prstGeom>
          <a:noFill/>
          <a:ln>
            <a:noFill/>
          </a:ln>
        </p:spPr>
      </p:sp>
      <p:sp>
        <p:nvSpPr>
          <p:cNvPr id="92" name="Google Shape;92;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93" name="Google Shape;93;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6" name="Google Shape;96;p10"/>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97" name="Google Shape;97;p10"/>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98" name="Google Shape;98;p10"/>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5" name="Google Shape;105;p11"/>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06" name="Google Shape;106;p11"/>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07" name="Google Shape;107;p11"/>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8" name="Shape 108"/>
        <p:cNvGrpSpPr/>
        <p:nvPr/>
      </p:nvGrpSpPr>
      <p:grpSpPr>
        <a:xfrm>
          <a:off x="0" y="0"/>
          <a:ext cx="0" cy="0"/>
          <a:chOff x="0" y="0"/>
          <a:chExt cx="0" cy="0"/>
        </a:xfrm>
      </p:grpSpPr>
      <p:sp>
        <p:nvSpPr>
          <p:cNvPr id="109" name="Google Shape;109;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14" name="Google Shape;114;p1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15" name="Google Shape;115;p1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16" name="Google Shape;116;p1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showMasterSp="0">
  <p:cSld name="OBJECT_1">
    <p:bg>
      <p:bgPr>
        <a:solidFill>
          <a:schemeClr val="lt1"/>
        </a:solidFill>
      </p:bgPr>
    </p:bg>
    <p:spTree>
      <p:nvGrpSpPr>
        <p:cNvPr id="117" name="Shape 117"/>
        <p:cNvGrpSpPr/>
        <p:nvPr/>
      </p:nvGrpSpPr>
      <p:grpSpPr>
        <a:xfrm>
          <a:off x="0" y="0"/>
          <a:ext cx="0" cy="0"/>
          <a:chOff x="0" y="0"/>
          <a:chExt cx="0" cy="0"/>
        </a:xfrm>
      </p:grpSpPr>
      <p:pic>
        <p:nvPicPr>
          <p:cNvPr id="118" name="Google Shape;118;p13"/>
          <p:cNvPicPr preferRelativeResize="0"/>
          <p:nvPr/>
        </p:nvPicPr>
        <p:blipFill rotWithShape="1">
          <a:blip r:embed="rId2">
            <a:alphaModFix/>
          </a:blip>
          <a:srcRect b="0" l="0" r="0" t="0"/>
          <a:stretch/>
        </p:blipFill>
        <p:spPr>
          <a:xfrm>
            <a:off x="125729" y="4551425"/>
            <a:ext cx="585216" cy="538353"/>
          </a:xfrm>
          <a:prstGeom prst="rect">
            <a:avLst/>
          </a:prstGeom>
          <a:noFill/>
          <a:ln>
            <a:noFill/>
          </a:ln>
        </p:spPr>
      </p:pic>
      <p:pic>
        <p:nvPicPr>
          <p:cNvPr id="119" name="Google Shape;119;p13"/>
          <p:cNvPicPr preferRelativeResize="0"/>
          <p:nvPr/>
        </p:nvPicPr>
        <p:blipFill rotWithShape="1">
          <a:blip r:embed="rId3">
            <a:alphaModFix/>
          </a:blip>
          <a:srcRect b="0" l="0" r="0" t="0"/>
          <a:stretch/>
        </p:blipFill>
        <p:spPr>
          <a:xfrm>
            <a:off x="1106464" y="2205990"/>
            <a:ext cx="7253398" cy="428625"/>
          </a:xfrm>
          <a:prstGeom prst="rect">
            <a:avLst/>
          </a:prstGeom>
          <a:noFill/>
          <a:ln>
            <a:noFill/>
          </a:ln>
        </p:spPr>
      </p:pic>
      <p:sp>
        <p:nvSpPr>
          <p:cNvPr id="120" name="Google Shape;120;p13"/>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2" name="Google Shape;122;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13"/>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24" name="Shape 124"/>
        <p:cNvGrpSpPr/>
        <p:nvPr/>
      </p:nvGrpSpPr>
      <p:grpSpPr>
        <a:xfrm>
          <a:off x="0" y="0"/>
          <a:ext cx="0" cy="0"/>
          <a:chOff x="0" y="0"/>
          <a:chExt cx="0" cy="0"/>
        </a:xfrm>
      </p:grpSpPr>
      <p:sp>
        <p:nvSpPr>
          <p:cNvPr id="125" name="Google Shape;125;p14"/>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14"/>
          <p:cNvSpPr txBox="1"/>
          <p:nvPr>
            <p:ph idx="1" type="body"/>
          </p:nvPr>
        </p:nvSpPr>
        <p:spPr>
          <a:xfrm>
            <a:off x="687704" y="1351979"/>
            <a:ext cx="7768500" cy="171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100"/>
              <a:buNone/>
              <a:defRPr b="0" i="0">
                <a:solidFill>
                  <a:schemeClr val="dk1"/>
                </a:solidFil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14"/>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spTree>
      <p:nvGrpSpPr>
        <p:cNvPr id="130" name="Shape 130"/>
        <p:cNvGrpSpPr/>
        <p:nvPr/>
      </p:nvGrpSpPr>
      <p:grpSpPr>
        <a:xfrm>
          <a:off x="0" y="0"/>
          <a:ext cx="0" cy="0"/>
          <a:chOff x="0" y="0"/>
          <a:chExt cx="0" cy="0"/>
        </a:xfrm>
      </p:grpSpPr>
      <p:sp>
        <p:nvSpPr>
          <p:cNvPr id="131" name="Google Shape;131;p15"/>
          <p:cNvSpPr txBox="1"/>
          <p:nvPr>
            <p:ph type="ctrTitle"/>
          </p:nvPr>
        </p:nvSpPr>
        <p:spPr>
          <a:xfrm>
            <a:off x="685800" y="1594485"/>
            <a:ext cx="77724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 name="Google Shape;132;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1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15"/>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36" name="Shape 136"/>
        <p:cNvGrpSpPr/>
        <p:nvPr/>
      </p:nvGrpSpPr>
      <p:grpSpPr>
        <a:xfrm>
          <a:off x="0" y="0"/>
          <a:ext cx="0" cy="0"/>
          <a:chOff x="0" y="0"/>
          <a:chExt cx="0" cy="0"/>
        </a:xfrm>
      </p:grpSpPr>
      <p:sp>
        <p:nvSpPr>
          <p:cNvPr id="137" name="Google Shape;137;p1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1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9" name="Google Shape;139;p16"/>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OBJECT_2">
    <p:spTree>
      <p:nvGrpSpPr>
        <p:cNvPr id="140" name="Shape 140"/>
        <p:cNvGrpSpPr/>
        <p:nvPr/>
      </p:nvGrpSpPr>
      <p:grpSpPr>
        <a:xfrm>
          <a:off x="0" y="0"/>
          <a:ext cx="0" cy="0"/>
          <a:chOff x="0" y="0"/>
          <a:chExt cx="0" cy="0"/>
        </a:xfrm>
      </p:grpSpPr>
      <p:sp>
        <p:nvSpPr>
          <p:cNvPr id="141" name="Google Shape;141;p1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17"/>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3" name="Google Shape;143;p17"/>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 name="Google Shape;144;p17"/>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17"/>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OBJECT_3">
    <p:spTree>
      <p:nvGrpSpPr>
        <p:cNvPr id="146" name="Shape 146"/>
        <p:cNvGrpSpPr/>
        <p:nvPr/>
      </p:nvGrpSpPr>
      <p:grpSpPr>
        <a:xfrm>
          <a:off x="0" y="0"/>
          <a:ext cx="0" cy="0"/>
          <a:chOff x="0" y="0"/>
          <a:chExt cx="0" cy="0"/>
        </a:xfrm>
      </p:grpSpPr>
      <p:sp>
        <p:nvSpPr>
          <p:cNvPr id="147" name="Google Shape;147;p1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18"/>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9" name="Google Shape;149;p18"/>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18"/>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18"/>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p:cSld name="OBJECT_1_1">
    <p:spTree>
      <p:nvGrpSpPr>
        <p:cNvPr id="152" name="Shape 152"/>
        <p:cNvGrpSpPr/>
        <p:nvPr/>
      </p:nvGrpSpPr>
      <p:grpSpPr>
        <a:xfrm>
          <a:off x="0" y="0"/>
          <a:ext cx="0" cy="0"/>
          <a:chOff x="0" y="0"/>
          <a:chExt cx="0" cy="0"/>
        </a:xfrm>
      </p:grpSpPr>
      <p:sp>
        <p:nvSpPr>
          <p:cNvPr id="153" name="Google Shape;153;p1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19"/>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55" name="Google Shape;155;p19"/>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19"/>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19"/>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4.gif"/><Relationship Id="rId5" Type="http://schemas.openxmlformats.org/officeDocument/2006/relationships/hyperlink" Target="https://programmingdesignsystems.com/color/color-models-and-color-space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2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hyperlink" Target="https://programmingdesignsystems.com/color/color-models-and-color-spaces/index.html" TargetMode="External"/><Relationship Id="rId5" Type="http://schemas.openxmlformats.org/officeDocument/2006/relationships/hyperlink" Target="https://math.hws.edu/graphicsbook/demos/c2/rgb-hsv.html" TargetMode="External"/><Relationship Id="rId6" Type="http://schemas.openxmlformats.org/officeDocument/2006/relationships/hyperlink" Target="https://www.w3schools.com/colors/default.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cxnSp>
        <p:nvCxnSpPr>
          <p:cNvPr id="163" name="Google Shape;163;p20"/>
          <p:cNvCxnSpPr/>
          <p:nvPr/>
        </p:nvCxnSpPr>
        <p:spPr>
          <a:xfrm>
            <a:off x="684450" y="1257300"/>
            <a:ext cx="7775100" cy="31200"/>
          </a:xfrm>
          <a:prstGeom prst="straightConnector1">
            <a:avLst/>
          </a:prstGeom>
          <a:noFill/>
          <a:ln cap="flat" cmpd="sng" w="19050">
            <a:solidFill>
              <a:srgbClr val="5B0F00"/>
            </a:solidFill>
            <a:prstDash val="solid"/>
            <a:round/>
            <a:headEnd len="sm" w="sm" type="none"/>
            <a:tailEnd len="sm" w="sm" type="none"/>
          </a:ln>
        </p:spPr>
      </p:cxnSp>
      <p:sp>
        <p:nvSpPr>
          <p:cNvPr id="164" name="Google Shape;164;p20"/>
          <p:cNvSpPr txBox="1"/>
          <p:nvPr/>
        </p:nvSpPr>
        <p:spPr>
          <a:xfrm>
            <a:off x="1841325" y="444375"/>
            <a:ext cx="6190800" cy="8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US" sz="5200" u="none" cap="none" strike="noStrike">
                <a:solidFill>
                  <a:srgbClr val="783F04"/>
                </a:solidFill>
                <a:latin typeface="Oswald"/>
                <a:ea typeface="Oswald"/>
                <a:cs typeface="Oswald"/>
                <a:sym typeface="Oswald"/>
              </a:rPr>
              <a:t> Computer Graphics</a:t>
            </a:r>
            <a:endParaRPr b="1" i="0" sz="5200" u="none" cap="none" strike="noStrike">
              <a:solidFill>
                <a:srgbClr val="783F04"/>
              </a:solidFill>
              <a:latin typeface="Oswald"/>
              <a:ea typeface="Oswald"/>
              <a:cs typeface="Oswald"/>
              <a:sym typeface="Oswald"/>
            </a:endParaRPr>
          </a:p>
        </p:txBody>
      </p:sp>
      <p:sp>
        <p:nvSpPr>
          <p:cNvPr id="165" name="Google Shape;165;p20"/>
          <p:cNvSpPr txBox="1"/>
          <p:nvPr/>
        </p:nvSpPr>
        <p:spPr>
          <a:xfrm>
            <a:off x="2591725" y="1923638"/>
            <a:ext cx="44607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Average"/>
              <a:ea typeface="Average"/>
              <a:cs typeface="Average"/>
              <a:sym typeface="Average"/>
            </a:endParaRPr>
          </a:p>
        </p:txBody>
      </p:sp>
      <p:pic>
        <p:nvPicPr>
          <p:cNvPr id="166" name="Google Shape;166;p20"/>
          <p:cNvPicPr preferRelativeResize="0"/>
          <p:nvPr/>
        </p:nvPicPr>
        <p:blipFill rotWithShape="1">
          <a:blip r:embed="rId3">
            <a:alphaModFix/>
          </a:blip>
          <a:srcRect b="0" l="0" r="0" t="0"/>
          <a:stretch/>
        </p:blipFill>
        <p:spPr>
          <a:xfrm>
            <a:off x="1841325" y="1741975"/>
            <a:ext cx="5628100" cy="2695150"/>
          </a:xfrm>
          <a:prstGeom prst="rect">
            <a:avLst/>
          </a:prstGeom>
          <a:noFill/>
          <a:ln>
            <a:noFill/>
          </a:ln>
        </p:spPr>
      </p:pic>
      <p:sp>
        <p:nvSpPr>
          <p:cNvPr id="167" name="Google Shape;167;p20"/>
          <p:cNvSpPr txBox="1"/>
          <p:nvPr/>
        </p:nvSpPr>
        <p:spPr>
          <a:xfrm>
            <a:off x="3488025" y="2033063"/>
            <a:ext cx="28974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300"/>
              <a:buFont typeface="Arial"/>
              <a:buNone/>
            </a:pPr>
            <a:r>
              <a:rPr b="1" i="0" lang="en-US" sz="6300" u="none" cap="none" strike="noStrike">
                <a:solidFill>
                  <a:srgbClr val="783F04"/>
                </a:solidFill>
                <a:latin typeface="Oswald"/>
                <a:ea typeface="Oswald"/>
                <a:cs typeface="Oswald"/>
                <a:sym typeface="Oswald"/>
              </a:rPr>
              <a:t> Color Models</a:t>
            </a:r>
            <a:endParaRPr b="1" i="0" sz="6300" u="none" cap="none" strike="noStrike">
              <a:solidFill>
                <a:srgbClr val="783F04"/>
              </a:solidFill>
              <a:latin typeface="Oswald"/>
              <a:ea typeface="Oswald"/>
              <a:cs typeface="Oswald"/>
              <a:sym typeface="Oswald"/>
            </a:endParaRPr>
          </a:p>
        </p:txBody>
      </p:sp>
      <p:sp>
        <p:nvSpPr>
          <p:cNvPr id="168" name="Google Shape;16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cxnSp>
        <p:nvCxnSpPr>
          <p:cNvPr id="174" name="Google Shape;174;p2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75" name="Google Shape;175;p21"/>
          <p:cNvSpPr txBox="1"/>
          <p:nvPr/>
        </p:nvSpPr>
        <p:spPr>
          <a:xfrm>
            <a:off x="361325" y="141500"/>
            <a:ext cx="79656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000" u="none" cap="none" strike="noStrike">
                <a:solidFill>
                  <a:srgbClr val="5B0F00"/>
                </a:solidFill>
                <a:latin typeface="Oswald"/>
                <a:ea typeface="Oswald"/>
                <a:cs typeface="Oswald"/>
                <a:sym typeface="Oswald"/>
              </a:rPr>
              <a:t>Achromatic/Grayscale</a:t>
            </a:r>
            <a:endParaRPr b="1" i="0" sz="3000" u="none" cap="none" strike="noStrike">
              <a:solidFill>
                <a:srgbClr val="5B0F00"/>
              </a:solidFill>
              <a:latin typeface="Oswald"/>
              <a:ea typeface="Oswald"/>
              <a:cs typeface="Oswald"/>
              <a:sym typeface="Oswald"/>
            </a:endParaRPr>
          </a:p>
        </p:txBody>
      </p:sp>
      <p:sp>
        <p:nvSpPr>
          <p:cNvPr id="176" name="Google Shape;176;p21"/>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Used as a synonym for ‘black and white’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All RGB values are equal (r=g=b) for Achromatic</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Different intensities of grey</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Lack of hue (pure color), saturation (intensity of a color) and brightness</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Only measured using the quantity of light</a:t>
            </a:r>
            <a:endParaRPr b="0" i="0" sz="2700" u="none" cap="none" strike="noStrike">
              <a:solidFill>
                <a:srgbClr val="5B0F00"/>
              </a:solidFill>
              <a:latin typeface="Oswald"/>
              <a:ea typeface="Oswald"/>
              <a:cs typeface="Oswald"/>
              <a:sym typeface="Oswald"/>
            </a:endParaRPr>
          </a:p>
        </p:txBody>
      </p:sp>
      <p:pic>
        <p:nvPicPr>
          <p:cNvPr id="177" name="Google Shape;177;p21"/>
          <p:cNvPicPr preferRelativeResize="0"/>
          <p:nvPr/>
        </p:nvPicPr>
        <p:blipFill rotWithShape="1">
          <a:blip r:embed="rId3">
            <a:alphaModFix/>
          </a:blip>
          <a:srcRect b="0" l="0" r="0" t="0"/>
          <a:stretch/>
        </p:blipFill>
        <p:spPr>
          <a:xfrm>
            <a:off x="896131" y="3560075"/>
            <a:ext cx="7780074" cy="1514524"/>
          </a:xfrm>
          <a:prstGeom prst="rect">
            <a:avLst/>
          </a:prstGeom>
          <a:noFill/>
          <a:ln>
            <a:noFill/>
          </a:ln>
        </p:spPr>
      </p:pic>
      <p:sp>
        <p:nvSpPr>
          <p:cNvPr id="178" name="Google Shape;178;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cxnSp>
        <p:nvCxnSpPr>
          <p:cNvPr id="184" name="Google Shape;184;p2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85" name="Google Shape;185;p22"/>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Electromagnetic Spectrum</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186" name="Google Shape;186;p22"/>
          <p:cNvSpPr txBox="1"/>
          <p:nvPr/>
        </p:nvSpPr>
        <p:spPr>
          <a:xfrm>
            <a:off x="126800" y="3525193"/>
            <a:ext cx="8379600" cy="1483800"/>
          </a:xfrm>
          <a:prstGeom prst="rect">
            <a:avLst/>
          </a:prstGeom>
          <a:noFill/>
          <a:ln>
            <a:noFill/>
          </a:ln>
        </p:spPr>
        <p:txBody>
          <a:bodyPr anchorCtr="0" anchor="t" bIns="91425" lIns="91425" spcFirstLastPara="1" rIns="91425" wrap="square" tIns="91425">
            <a:noAutofit/>
          </a:bodyPr>
          <a:lstStyle/>
          <a:p>
            <a:pPr indent="-425450" lvl="0" marL="457200" marR="0" rtl="0" algn="just">
              <a:lnSpc>
                <a:spcPct val="80000"/>
              </a:lnSpc>
              <a:spcBef>
                <a:spcPts val="0"/>
              </a:spcBef>
              <a:spcAft>
                <a:spcPts val="0"/>
              </a:spcAft>
              <a:buClr>
                <a:srgbClr val="5B0F00"/>
              </a:buClr>
              <a:buSzPts val="3100"/>
              <a:buFont typeface="Oswald"/>
              <a:buChar char="●"/>
            </a:pPr>
            <a:r>
              <a:rPr b="0" i="0" lang="en-US" sz="2800" u="none" cap="none" strike="noStrike">
                <a:solidFill>
                  <a:srgbClr val="5B0F00"/>
                </a:solidFill>
                <a:latin typeface="Oswald"/>
                <a:ea typeface="Oswald"/>
                <a:cs typeface="Oswald"/>
                <a:sym typeface="Oswald"/>
              </a:rPr>
              <a:t>Visible light: a narrow band of electromagnetic radiation → </a:t>
            </a:r>
            <a:endParaRPr b="0" i="0" sz="2800" u="none" cap="none" strike="noStrike">
              <a:solidFill>
                <a:srgbClr val="5B0F00"/>
              </a:solidFill>
              <a:latin typeface="Oswald"/>
              <a:ea typeface="Oswald"/>
              <a:cs typeface="Oswald"/>
              <a:sym typeface="Oswald"/>
            </a:endParaRPr>
          </a:p>
          <a:p>
            <a:pPr indent="0" lvl="0" marL="457200" marR="0" rtl="0" algn="just">
              <a:lnSpc>
                <a:spcPct val="80000"/>
              </a:lnSpc>
              <a:spcBef>
                <a:spcPts val="1000"/>
              </a:spcBef>
              <a:spcAft>
                <a:spcPts val="0"/>
              </a:spcAft>
              <a:buClr>
                <a:srgbClr val="000000"/>
              </a:buClr>
              <a:buSzPts val="3200"/>
              <a:buFont typeface="Arial"/>
              <a:buNone/>
            </a:pPr>
            <a:r>
              <a:rPr b="1" i="0" lang="en-US" sz="3200" u="none" cap="none" strike="noStrike">
                <a:solidFill>
                  <a:srgbClr val="0000FF"/>
                </a:solidFill>
                <a:latin typeface="Verdana"/>
                <a:ea typeface="Verdana"/>
                <a:cs typeface="Verdana"/>
                <a:sym typeface="Verdana"/>
              </a:rPr>
              <a:t>  380nm (blue)</a:t>
            </a:r>
            <a:r>
              <a:rPr b="0" i="0" lang="en-US" sz="3200" u="none" cap="none" strike="noStrike">
                <a:solidFill>
                  <a:schemeClr val="dk1"/>
                </a:solidFill>
                <a:latin typeface="Verdana"/>
                <a:ea typeface="Verdana"/>
                <a:cs typeface="Verdana"/>
                <a:sym typeface="Verdana"/>
              </a:rPr>
              <a:t>  - </a:t>
            </a:r>
            <a:r>
              <a:rPr b="1" i="0" lang="en-US" sz="3200" u="none" cap="none" strike="noStrike">
                <a:solidFill>
                  <a:srgbClr val="FF0033"/>
                </a:solidFill>
                <a:latin typeface="Verdana"/>
                <a:ea typeface="Verdana"/>
                <a:cs typeface="Verdana"/>
                <a:sym typeface="Verdana"/>
              </a:rPr>
              <a:t>780nm (red)</a:t>
            </a:r>
            <a:endParaRPr b="0" i="0" sz="2700" u="none" cap="none" strike="noStrike">
              <a:solidFill>
                <a:srgbClr val="5B0F00"/>
              </a:solidFill>
              <a:latin typeface="Oswald"/>
              <a:ea typeface="Oswald"/>
              <a:cs typeface="Oswald"/>
              <a:sym typeface="Oswald"/>
            </a:endParaRPr>
          </a:p>
        </p:txBody>
      </p:sp>
      <p:pic>
        <p:nvPicPr>
          <p:cNvPr id="187" name="Google Shape;187;p22"/>
          <p:cNvPicPr preferRelativeResize="0"/>
          <p:nvPr>
            <p:ph idx="1" type="body"/>
          </p:nvPr>
        </p:nvPicPr>
        <p:blipFill rotWithShape="1">
          <a:blip r:embed="rId3">
            <a:alphaModFix/>
          </a:blip>
          <a:srcRect b="0" l="0" r="0" t="0"/>
          <a:stretch/>
        </p:blipFill>
        <p:spPr>
          <a:xfrm>
            <a:off x="129175" y="817550"/>
            <a:ext cx="8755800" cy="2588400"/>
          </a:xfrm>
          <a:prstGeom prst="rect">
            <a:avLst/>
          </a:prstGeom>
          <a:noFill/>
          <a:ln>
            <a:noFill/>
          </a:ln>
        </p:spPr>
      </p:pic>
      <p:sp>
        <p:nvSpPr>
          <p:cNvPr id="188" name="Google Shape;188;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cxnSp>
        <p:nvCxnSpPr>
          <p:cNvPr id="194" name="Google Shape;194;p2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95" name="Google Shape;195;p23"/>
          <p:cNvSpPr txBox="1"/>
          <p:nvPr/>
        </p:nvSpPr>
        <p:spPr>
          <a:xfrm>
            <a:off x="263643" y="92665"/>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Chromaticity Diagram</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pic>
        <p:nvPicPr>
          <p:cNvPr descr="http://www.handprint.com/HP/WCL/IMG/CIELUV.jpg" id="196" name="Google Shape;196;p23"/>
          <p:cNvPicPr preferRelativeResize="0"/>
          <p:nvPr>
            <p:ph idx="1" type="body"/>
          </p:nvPr>
        </p:nvPicPr>
        <p:blipFill rotWithShape="1">
          <a:blip r:embed="rId3">
            <a:alphaModFix/>
          </a:blip>
          <a:srcRect b="0" l="0" r="0" t="0"/>
          <a:stretch/>
        </p:blipFill>
        <p:spPr>
          <a:xfrm>
            <a:off x="1738500" y="904875"/>
            <a:ext cx="5950500" cy="4131900"/>
          </a:xfrm>
          <a:prstGeom prst="rect">
            <a:avLst/>
          </a:prstGeom>
          <a:noFill/>
          <a:ln>
            <a:noFill/>
          </a:ln>
        </p:spPr>
      </p:pic>
      <p:sp>
        <p:nvSpPr>
          <p:cNvPr id="197" name="Google Shape;197;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cxnSp>
        <p:nvCxnSpPr>
          <p:cNvPr id="203" name="Google Shape;203;p2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04" name="Google Shape;204;p24"/>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Color Gamut</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205" name="Google Shape;205;p24"/>
          <p:cNvSpPr txBox="1"/>
          <p:nvPr/>
        </p:nvSpPr>
        <p:spPr>
          <a:xfrm>
            <a:off x="4122525" y="893400"/>
            <a:ext cx="4700700" cy="33960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Clr>
                <a:srgbClr val="000000"/>
              </a:buClr>
              <a:buSzPts val="2800"/>
              <a:buFont typeface="Arial"/>
              <a:buNone/>
            </a:pPr>
            <a:r>
              <a:rPr b="0" i="0" lang="en-US" sz="2800" u="none" cap="none" strike="noStrike">
                <a:solidFill>
                  <a:srgbClr val="5B0F00"/>
                </a:solidFill>
                <a:latin typeface="Oswald"/>
                <a:ea typeface="Oswald"/>
                <a:cs typeface="Oswald"/>
                <a:sym typeface="Oswald"/>
              </a:rPr>
              <a:t>The color gamut describes a range of colors within the spectrum of colors, or a color space, that can be reproduced on an output device. Depending on how wide the gamut is, every screen will display different quantities of color. </a:t>
            </a:r>
            <a:endParaRPr b="0" i="0" sz="2700" u="none" cap="none" strike="noStrike">
              <a:solidFill>
                <a:srgbClr val="5B0F00"/>
              </a:solidFill>
              <a:latin typeface="Oswald"/>
              <a:ea typeface="Oswald"/>
              <a:cs typeface="Oswald"/>
              <a:sym typeface="Oswald"/>
            </a:endParaRPr>
          </a:p>
        </p:txBody>
      </p:sp>
      <p:pic>
        <p:nvPicPr>
          <p:cNvPr id="206" name="Google Shape;206;p24"/>
          <p:cNvPicPr preferRelativeResize="0"/>
          <p:nvPr>
            <p:ph idx="1" type="body"/>
          </p:nvPr>
        </p:nvPicPr>
        <p:blipFill rotWithShape="1">
          <a:blip r:embed="rId3">
            <a:alphaModFix/>
          </a:blip>
          <a:srcRect b="0" l="0" r="0" t="0"/>
          <a:stretch/>
        </p:blipFill>
        <p:spPr>
          <a:xfrm>
            <a:off x="361325" y="893411"/>
            <a:ext cx="3396000" cy="3396000"/>
          </a:xfrm>
          <a:prstGeom prst="rect">
            <a:avLst/>
          </a:prstGeom>
          <a:noFill/>
          <a:ln>
            <a:noFill/>
          </a:ln>
        </p:spPr>
      </p:pic>
      <p:sp>
        <p:nvSpPr>
          <p:cNvPr id="207" name="Google Shape;207;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cxnSp>
        <p:nvCxnSpPr>
          <p:cNvPr id="213" name="Google Shape;213;p2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14" name="Google Shape;214;p25"/>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Color Systems</a:t>
            </a:r>
            <a:endParaRPr b="1" i="0" sz="3400" u="none" cap="none" strike="noStrike">
              <a:solidFill>
                <a:srgbClr val="5B0F00"/>
              </a:solidFill>
              <a:latin typeface="Oswald"/>
              <a:ea typeface="Oswald"/>
              <a:cs typeface="Oswald"/>
              <a:sym typeface="Oswald"/>
            </a:endParaRPr>
          </a:p>
        </p:txBody>
      </p:sp>
      <p:sp>
        <p:nvSpPr>
          <p:cNvPr id="215" name="Google Shape;215;p25"/>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The purpose of a color model (also called Color Space or Color System) is to facilitate the specification of colors in some standard way.</a:t>
            </a:r>
            <a:br>
              <a:rPr b="0" i="0" lang="en-US" sz="2800" u="none" cap="none" strike="noStrike">
                <a:solidFill>
                  <a:srgbClr val="5B0F00"/>
                </a:solidFill>
                <a:latin typeface="Oswald"/>
                <a:ea typeface="Oswald"/>
                <a:cs typeface="Oswald"/>
                <a:sym typeface="Oswald"/>
              </a:rPr>
            </a:br>
            <a:endParaRPr b="0" i="0" sz="4000" u="none" cap="none" strike="noStrike">
              <a:solidFill>
                <a:srgbClr val="5B0F00"/>
              </a:solidFill>
              <a:latin typeface="Oswald"/>
              <a:ea typeface="Oswald"/>
              <a:cs typeface="Oswald"/>
              <a:sym typeface="Oswald"/>
            </a:endParaRPr>
          </a:p>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 color model is a specification of a coordinate system and a subspace within that system where each color is represented by a single point.</a:t>
            </a:r>
            <a:br>
              <a:rPr b="0" i="0" lang="en-US" sz="2800" u="none" cap="none" strike="noStrike">
                <a:solidFill>
                  <a:srgbClr val="5B0F00"/>
                </a:solidFill>
                <a:latin typeface="Oswald"/>
                <a:ea typeface="Oswald"/>
                <a:cs typeface="Oswald"/>
                <a:sym typeface="Oswald"/>
              </a:rPr>
            </a:br>
            <a:endParaRPr b="0" i="0" sz="2800" u="none" cap="none" strike="noStrike">
              <a:solidFill>
                <a:srgbClr val="5B0F00"/>
              </a:solidFill>
              <a:latin typeface="Oswald"/>
              <a:ea typeface="Oswald"/>
              <a:cs typeface="Oswald"/>
              <a:sym typeface="Oswald"/>
            </a:endParaRPr>
          </a:p>
          <a:p>
            <a:pPr indent="-406400" lvl="0" marL="457200" marR="0" rtl="0" algn="l">
              <a:lnSpc>
                <a:spcPct val="10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Available color systems are dependent on the medium on which one is working.</a:t>
            </a:r>
            <a:endParaRPr b="0" i="0" sz="2700" u="none" cap="none" strike="noStrike">
              <a:solidFill>
                <a:srgbClr val="5B0F00"/>
              </a:solidFill>
              <a:latin typeface="Oswald"/>
              <a:ea typeface="Oswald"/>
              <a:cs typeface="Oswald"/>
              <a:sym typeface="Oswald"/>
            </a:endParaRPr>
          </a:p>
        </p:txBody>
      </p:sp>
      <p:sp>
        <p:nvSpPr>
          <p:cNvPr id="216" name="Google Shape;216;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cxnSp>
        <p:nvCxnSpPr>
          <p:cNvPr id="222" name="Google Shape;222;p2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23" name="Google Shape;223;p26"/>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Different Color Models</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224" name="Google Shape;224;p26"/>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RGB (Red, Green, Blue)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CMY (Cyan, Magenta, Yellow)</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HSV (Hue, Saturation, Value)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HLS (Hue, Lightness, Saturation)</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YIQ (Luminance,In phase, Quadrature)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YUV (Y' stands for the lumaY' stands for the luma component (the brightness) and U and V are the chrominance (color) components )</a:t>
            </a:r>
            <a:endParaRPr b="0" i="0" sz="2700" u="none" cap="none" strike="noStrike">
              <a:solidFill>
                <a:srgbClr val="5B0F00"/>
              </a:solidFill>
              <a:latin typeface="Oswald"/>
              <a:ea typeface="Oswald"/>
              <a:cs typeface="Oswald"/>
              <a:sym typeface="Oswald"/>
            </a:endParaRPr>
          </a:p>
          <a:p>
            <a:pPr indent="0" lvl="0" marL="45720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5B0F00"/>
              </a:solidFill>
              <a:latin typeface="Oswald"/>
              <a:ea typeface="Oswald"/>
              <a:cs typeface="Oswald"/>
              <a:sym typeface="Oswald"/>
            </a:endParaRPr>
          </a:p>
        </p:txBody>
      </p:sp>
      <p:sp>
        <p:nvSpPr>
          <p:cNvPr id="225" name="Google Shape;225;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cxnSp>
        <p:nvCxnSpPr>
          <p:cNvPr id="231" name="Google Shape;231;p2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32" name="Google Shape;232;p27"/>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Additive Color</a:t>
            </a:r>
            <a:endParaRPr b="1" i="0" sz="3400" u="none" cap="none" strike="noStrike">
              <a:solidFill>
                <a:srgbClr val="5B0F00"/>
              </a:solidFill>
              <a:latin typeface="Oswald"/>
              <a:ea typeface="Oswald"/>
              <a:cs typeface="Oswald"/>
              <a:sym typeface="Oswald"/>
            </a:endParaRPr>
          </a:p>
        </p:txBody>
      </p:sp>
      <p:sp>
        <p:nvSpPr>
          <p:cNvPr id="233" name="Google Shape;233;p27"/>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n-US" sz="2700" u="none" cap="none" strike="noStrike">
                <a:solidFill>
                  <a:srgbClr val="5B0F00"/>
                </a:solidFill>
                <a:latin typeface="Oswald"/>
                <a:ea typeface="Oswald"/>
                <a:cs typeface="Oswald"/>
                <a:sym typeface="Oswald"/>
              </a:rPr>
              <a:t>Additive color mixing begins with black and ends with white; as more color is added, the result is lighter and tends to white. If we are working on a computer, the colors we see on the screen are created with light using the additive color method. </a:t>
            </a:r>
            <a:endParaRPr b="0" i="0" sz="21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200"/>
              <a:buFont typeface="Arial"/>
              <a:buNone/>
            </a:pPr>
            <a:r>
              <a:t/>
            </a:r>
            <a:endParaRPr b="0" i="0" sz="2700" u="none" cap="none" strike="noStrike">
              <a:solidFill>
                <a:srgbClr val="5B0F00"/>
              </a:solidFill>
              <a:latin typeface="Oswald"/>
              <a:ea typeface="Oswald"/>
              <a:cs typeface="Oswald"/>
              <a:sym typeface="Oswald"/>
            </a:endParaRPr>
          </a:p>
        </p:txBody>
      </p:sp>
      <p:pic>
        <p:nvPicPr>
          <p:cNvPr id="234" name="Google Shape;234;p27"/>
          <p:cNvPicPr preferRelativeResize="0"/>
          <p:nvPr/>
        </p:nvPicPr>
        <p:blipFill rotWithShape="1">
          <a:blip r:embed="rId3">
            <a:alphaModFix/>
          </a:blip>
          <a:srcRect b="0" l="0" r="0" t="0"/>
          <a:stretch/>
        </p:blipFill>
        <p:spPr>
          <a:xfrm>
            <a:off x="1546975" y="2627081"/>
            <a:ext cx="1985400" cy="1985400"/>
          </a:xfrm>
          <a:prstGeom prst="rect">
            <a:avLst/>
          </a:prstGeom>
          <a:noFill/>
          <a:ln>
            <a:noFill/>
          </a:ln>
        </p:spPr>
      </p:pic>
      <p:sp>
        <p:nvSpPr>
          <p:cNvPr id="235" name="Google Shape;235;p27"/>
          <p:cNvSpPr txBox="1"/>
          <p:nvPr/>
        </p:nvSpPr>
        <p:spPr>
          <a:xfrm>
            <a:off x="3886900" y="3277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RGB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Additive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sp>
        <p:nvSpPr>
          <p:cNvPr id="236" name="Google Shape;236;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cxnSp>
        <p:nvCxnSpPr>
          <p:cNvPr id="242" name="Google Shape;242;p2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43" name="Google Shape;243;p28"/>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pic>
        <p:nvPicPr>
          <p:cNvPr id="244" name="Google Shape;244;p28"/>
          <p:cNvPicPr preferRelativeResize="0"/>
          <p:nvPr/>
        </p:nvPicPr>
        <p:blipFill rotWithShape="1">
          <a:blip r:embed="rId3">
            <a:alphaModFix/>
          </a:blip>
          <a:srcRect b="0" l="0" r="0" t="0"/>
          <a:stretch/>
        </p:blipFill>
        <p:spPr>
          <a:xfrm>
            <a:off x="319625" y="796969"/>
            <a:ext cx="3858507" cy="3074981"/>
          </a:xfrm>
          <a:prstGeom prst="rect">
            <a:avLst/>
          </a:prstGeom>
          <a:noFill/>
          <a:ln>
            <a:noFill/>
          </a:ln>
        </p:spPr>
      </p:pic>
      <p:sp>
        <p:nvSpPr>
          <p:cNvPr id="245" name="Google Shape;245;p28"/>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46" name="Google Shape;246;p28"/>
          <p:cNvPicPr preferRelativeResize="0"/>
          <p:nvPr/>
        </p:nvPicPr>
        <p:blipFill rotWithShape="1">
          <a:blip r:embed="rId4">
            <a:alphaModFix/>
          </a:blip>
          <a:srcRect b="0" l="0" r="0" t="0"/>
          <a:stretch/>
        </p:blipFill>
        <p:spPr>
          <a:xfrm>
            <a:off x="5139904" y="659221"/>
            <a:ext cx="3699693" cy="3350468"/>
          </a:xfrm>
          <a:prstGeom prst="rect">
            <a:avLst/>
          </a:prstGeom>
          <a:noFill/>
          <a:ln>
            <a:noFill/>
          </a:ln>
        </p:spPr>
      </p:pic>
      <p:sp>
        <p:nvSpPr>
          <p:cNvPr id="247" name="Google Shape;247;p28"/>
          <p:cNvSpPr txBox="1"/>
          <p:nvPr/>
        </p:nvSpPr>
        <p:spPr>
          <a:xfrm>
            <a:off x="5690675" y="3937925"/>
            <a:ext cx="3049500" cy="7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RGB 24 bit (8-bit per channel) color cube</a:t>
            </a:r>
            <a:endParaRPr b="1" i="0" sz="2200" u="none" cap="none" strike="noStrike">
              <a:solidFill>
                <a:srgbClr val="5B0F00"/>
              </a:solidFill>
              <a:latin typeface="Oswald"/>
              <a:ea typeface="Oswald"/>
              <a:cs typeface="Oswald"/>
              <a:sym typeface="Oswald"/>
            </a:endParaRPr>
          </a:p>
        </p:txBody>
      </p:sp>
      <p:sp>
        <p:nvSpPr>
          <p:cNvPr id="248" name="Google Shape;24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cxnSp>
        <p:nvCxnSpPr>
          <p:cNvPr id="254" name="Google Shape;254;p29"/>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55" name="Google Shape;255;p29"/>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sp>
        <p:nvSpPr>
          <p:cNvPr id="256" name="Google Shape;256;p29"/>
          <p:cNvSpPr txBox="1"/>
          <p:nvPr/>
        </p:nvSpPr>
        <p:spPr>
          <a:xfrm>
            <a:off x="319625" y="815138"/>
            <a:ext cx="8609100" cy="3669300"/>
          </a:xfrm>
          <a:prstGeom prst="rect">
            <a:avLst/>
          </a:prstGeom>
          <a:noFill/>
          <a:ln>
            <a:noFill/>
          </a:ln>
        </p:spPr>
        <p:txBody>
          <a:bodyPr anchorCtr="0" anchor="t" bIns="91425" lIns="91425" spcFirstLastPara="1" rIns="91425" wrap="square" tIns="91425">
            <a:noAutofit/>
          </a:bodyPr>
          <a:lstStyle/>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Primary colors are </a:t>
            </a:r>
            <a:r>
              <a:rPr b="1" i="0" lang="en-US" sz="2500" u="none" cap="none" strike="noStrike">
                <a:solidFill>
                  <a:srgbClr val="FF0000"/>
                </a:solidFill>
                <a:latin typeface="Oswald"/>
                <a:ea typeface="Oswald"/>
                <a:cs typeface="Oswald"/>
                <a:sym typeface="Oswald"/>
              </a:rPr>
              <a:t>red</a:t>
            </a:r>
            <a:r>
              <a:rPr b="0" i="0" lang="en-US" sz="2500" u="none" cap="none" strike="noStrike">
                <a:solidFill>
                  <a:srgbClr val="5B0F00"/>
                </a:solidFill>
                <a:latin typeface="Oswald"/>
                <a:ea typeface="Oswald"/>
                <a:cs typeface="Oswald"/>
                <a:sym typeface="Oswald"/>
              </a:rPr>
              <a:t>, </a:t>
            </a:r>
            <a:r>
              <a:rPr b="1" i="0" lang="en-US" sz="2500" u="none" cap="none" strike="noStrike">
                <a:solidFill>
                  <a:srgbClr val="00FF00"/>
                </a:solidFill>
                <a:latin typeface="Oswald"/>
                <a:ea typeface="Oswald"/>
                <a:cs typeface="Oswald"/>
                <a:sym typeface="Oswald"/>
              </a:rPr>
              <a:t>green</a:t>
            </a:r>
            <a:r>
              <a:rPr b="0" i="0" lang="en-US" sz="2500" u="none" cap="none" strike="noStrike">
                <a:solidFill>
                  <a:srgbClr val="5B0F00"/>
                </a:solidFill>
                <a:latin typeface="Oswald"/>
                <a:ea typeface="Oswald"/>
                <a:cs typeface="Oswald"/>
                <a:sym typeface="Oswald"/>
              </a:rPr>
              <a:t>, and </a:t>
            </a:r>
            <a:r>
              <a:rPr b="1" i="0" lang="en-US" sz="2500" u="none" cap="none" strike="noStrike">
                <a:solidFill>
                  <a:srgbClr val="0000FF"/>
                </a:solidFill>
                <a:latin typeface="Oswald"/>
                <a:ea typeface="Oswald"/>
                <a:cs typeface="Oswald"/>
                <a:sym typeface="Oswald"/>
              </a:rPr>
              <a:t>blue</a:t>
            </a:r>
            <a:r>
              <a:rPr b="0" i="0" lang="en-US" sz="2500" u="none" cap="none" strike="noStrike">
                <a:solidFill>
                  <a:srgbClr val="5B0F00"/>
                </a:solidFill>
                <a:latin typeface="Oswald"/>
                <a:ea typeface="Oswald"/>
                <a:cs typeface="Oswald"/>
                <a:sym typeface="Oswald"/>
              </a:rPr>
              <a:t>.</a:t>
            </a:r>
            <a:endParaRPr b="0" i="0" sz="2500" u="none" cap="none" strike="noStrike">
              <a:solidFill>
                <a:srgbClr val="5B0F00"/>
              </a:solidFill>
              <a:latin typeface="Oswald"/>
              <a:ea typeface="Oswald"/>
              <a:cs typeface="Oswald"/>
              <a:sym typeface="Oswald"/>
            </a:endParaRPr>
          </a:p>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The RGB model is usually represented by a unit cube with one corner located at the origin of a three-dimensional color coordinate system, the axes being labeled R, G, B, and having a range of values [0, 1].</a:t>
            </a:r>
            <a:endParaRPr b="0" i="0" sz="2500" u="none" cap="none" strike="noStrike">
              <a:solidFill>
                <a:srgbClr val="5B0F00"/>
              </a:solidFill>
              <a:latin typeface="Oswald"/>
              <a:ea typeface="Oswald"/>
              <a:cs typeface="Oswald"/>
              <a:sym typeface="Oswald"/>
            </a:endParaRPr>
          </a:p>
          <a:p>
            <a:pPr indent="-444500" lvl="0" marL="457200" marR="0" rtl="0" algn="just">
              <a:lnSpc>
                <a:spcPct val="100000"/>
              </a:lnSpc>
              <a:spcBef>
                <a:spcPts val="40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The origin (0, 0, 0) is considered </a:t>
            </a:r>
            <a:r>
              <a:rPr b="1" i="0" lang="en-US" sz="2400" u="none" cap="none" strike="noStrike">
                <a:solidFill>
                  <a:srgbClr val="000000"/>
                </a:solidFill>
                <a:latin typeface="Oswald"/>
                <a:ea typeface="Oswald"/>
                <a:cs typeface="Oswald"/>
                <a:sym typeface="Oswald"/>
              </a:rPr>
              <a:t>black</a:t>
            </a:r>
            <a:r>
              <a:rPr b="0" i="0" lang="en-US" sz="2400" u="none" cap="none" strike="noStrike">
                <a:solidFill>
                  <a:srgbClr val="5B0F00"/>
                </a:solidFill>
                <a:latin typeface="Oswald"/>
                <a:ea typeface="Oswald"/>
                <a:cs typeface="Oswald"/>
                <a:sym typeface="Oswald"/>
              </a:rPr>
              <a:t> and the diagonally opposite corner (1, 1, 1) is called </a:t>
            </a:r>
            <a:r>
              <a:rPr b="1" i="0" lang="en-US" sz="2400" u="none" cap="none" strike="noStrike">
                <a:solidFill>
                  <a:schemeClr val="dk1"/>
                </a:solidFill>
                <a:highlight>
                  <a:schemeClr val="lt1"/>
                </a:highlight>
                <a:latin typeface="Oswald"/>
                <a:ea typeface="Oswald"/>
                <a:cs typeface="Oswald"/>
                <a:sym typeface="Oswald"/>
              </a:rPr>
              <a:t>white</a:t>
            </a:r>
            <a:r>
              <a:rPr b="0" i="0" lang="en-US" sz="2400" u="none" cap="none" strike="noStrike">
                <a:solidFill>
                  <a:srgbClr val="5B0F00"/>
                </a:solidFill>
                <a:latin typeface="Oswald"/>
                <a:ea typeface="Oswald"/>
                <a:cs typeface="Oswald"/>
                <a:sym typeface="Oswald"/>
              </a:rPr>
              <a:t>. The line joining black to white represents a gray scale and has R=G=B.</a:t>
            </a:r>
            <a:endParaRPr b="0" i="0" sz="1800" u="none" cap="none" strike="noStrike">
              <a:solidFill>
                <a:srgbClr val="5B0F00"/>
              </a:solidFill>
              <a:latin typeface="Oswald"/>
              <a:ea typeface="Oswald"/>
              <a:cs typeface="Oswald"/>
              <a:sym typeface="Oswald"/>
            </a:endParaRPr>
          </a:p>
          <a:p>
            <a:pPr indent="-444500" lvl="0" marL="457200" marR="0" rtl="0" algn="just">
              <a:lnSpc>
                <a:spcPct val="80000"/>
              </a:lnSpc>
              <a:spcBef>
                <a:spcPts val="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This is the model used for active displays such as television and computer screens. </a:t>
            </a:r>
            <a:endParaRPr b="0" i="0" sz="3400" u="none" cap="none" strike="noStrike">
              <a:solidFill>
                <a:srgbClr val="5B0F00"/>
              </a:solidFill>
              <a:latin typeface="Oswald"/>
              <a:ea typeface="Oswald"/>
              <a:cs typeface="Oswald"/>
              <a:sym typeface="Oswald"/>
            </a:endParaRPr>
          </a:p>
        </p:txBody>
      </p:sp>
      <p:sp>
        <p:nvSpPr>
          <p:cNvPr id="257" name="Google Shape;257;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cxnSp>
        <p:nvCxnSpPr>
          <p:cNvPr id="263" name="Google Shape;263;p3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64" name="Google Shape;264;p30"/>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Subtractive Color</a:t>
            </a:r>
            <a:endParaRPr b="1" i="0" sz="3400" u="none" cap="none" strike="noStrike">
              <a:solidFill>
                <a:srgbClr val="5B0F00"/>
              </a:solidFill>
              <a:latin typeface="Oswald"/>
              <a:ea typeface="Oswald"/>
              <a:cs typeface="Oswald"/>
              <a:sym typeface="Oswald"/>
            </a:endParaRPr>
          </a:p>
        </p:txBody>
      </p:sp>
      <p:sp>
        <p:nvSpPr>
          <p:cNvPr id="265" name="Google Shape;265;p30"/>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2800" u="none" cap="none" strike="noStrike">
                <a:solidFill>
                  <a:srgbClr val="5B0F00"/>
                </a:solidFill>
                <a:latin typeface="Oswald"/>
                <a:ea typeface="Oswald"/>
                <a:cs typeface="Oswald"/>
                <a:sym typeface="Oswald"/>
              </a:rPr>
              <a:t>Subtractive color mixing means that one begins with white and ends with black; as one adds color, the result gets darker and tends to be black. When we mix colors using paint, or through the printing process, we are using the subtractive color method.</a:t>
            </a:r>
            <a:endParaRPr b="0" i="0" sz="2100" u="none" cap="none" strike="noStrike">
              <a:solidFill>
                <a:srgbClr val="5B0F00"/>
              </a:solidFill>
              <a:latin typeface="Oswald"/>
              <a:ea typeface="Oswald"/>
              <a:cs typeface="Oswald"/>
              <a:sym typeface="Oswald"/>
            </a:endParaRPr>
          </a:p>
        </p:txBody>
      </p:sp>
      <p:sp>
        <p:nvSpPr>
          <p:cNvPr id="266" name="Google Shape;266;p30"/>
          <p:cNvSpPr txBox="1"/>
          <p:nvPr/>
        </p:nvSpPr>
        <p:spPr>
          <a:xfrm>
            <a:off x="3734500" y="3658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CMY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Subtractive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pic>
        <p:nvPicPr>
          <p:cNvPr id="267" name="Google Shape;267;p30"/>
          <p:cNvPicPr preferRelativeResize="0"/>
          <p:nvPr/>
        </p:nvPicPr>
        <p:blipFill rotWithShape="1">
          <a:blip r:embed="rId3">
            <a:alphaModFix/>
          </a:blip>
          <a:srcRect b="0" l="0" r="0" t="0"/>
          <a:stretch/>
        </p:blipFill>
        <p:spPr>
          <a:xfrm>
            <a:off x="1291800" y="3027656"/>
            <a:ext cx="2048286" cy="1985400"/>
          </a:xfrm>
          <a:prstGeom prst="rect">
            <a:avLst/>
          </a:prstGeom>
          <a:noFill/>
          <a:ln>
            <a:noFill/>
          </a:ln>
        </p:spPr>
      </p:pic>
      <p:sp>
        <p:nvSpPr>
          <p:cNvPr id="268" name="Google Shape;268;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cxnSp>
        <p:nvCxnSpPr>
          <p:cNvPr id="274" name="Google Shape;274;p3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75" name="Google Shape;275;p31"/>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76" name="Google Shape;276;p31"/>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77" name="Google Shape;277;p31"/>
          <p:cNvPicPr preferRelativeResize="0"/>
          <p:nvPr/>
        </p:nvPicPr>
        <p:blipFill rotWithShape="1">
          <a:blip r:embed="rId3">
            <a:alphaModFix/>
          </a:blip>
          <a:srcRect b="0" l="0" r="0" t="0"/>
          <a:stretch/>
        </p:blipFill>
        <p:spPr>
          <a:xfrm>
            <a:off x="361325" y="1043944"/>
            <a:ext cx="3447506" cy="2828032"/>
          </a:xfrm>
          <a:prstGeom prst="rect">
            <a:avLst/>
          </a:prstGeom>
          <a:noFill/>
          <a:ln>
            <a:noFill/>
          </a:ln>
        </p:spPr>
      </p:pic>
      <p:pic>
        <p:nvPicPr>
          <p:cNvPr id="278" name="Google Shape;278;p31"/>
          <p:cNvPicPr preferRelativeResize="0"/>
          <p:nvPr/>
        </p:nvPicPr>
        <p:blipFill rotWithShape="1">
          <a:blip r:embed="rId4">
            <a:alphaModFix/>
          </a:blip>
          <a:srcRect b="0" l="0" r="0" t="0"/>
          <a:stretch/>
        </p:blipFill>
        <p:spPr>
          <a:xfrm>
            <a:off x="5110400" y="945000"/>
            <a:ext cx="3447506" cy="3253497"/>
          </a:xfrm>
          <a:prstGeom prst="rect">
            <a:avLst/>
          </a:prstGeom>
          <a:noFill/>
          <a:ln>
            <a:noFill/>
          </a:ln>
        </p:spPr>
      </p:pic>
      <p:sp>
        <p:nvSpPr>
          <p:cNvPr id="279" name="Google Shape;279;p31"/>
          <p:cNvSpPr txBox="1"/>
          <p:nvPr/>
        </p:nvSpPr>
        <p:spPr>
          <a:xfrm>
            <a:off x="5801900" y="4003894"/>
            <a:ext cx="29385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5B0F00"/>
                </a:solidFill>
                <a:latin typeface="Oswald"/>
                <a:ea typeface="Oswald"/>
                <a:cs typeface="Oswald"/>
                <a:sym typeface="Oswald"/>
              </a:rPr>
              <a:t>CMY color cube</a:t>
            </a:r>
            <a:endParaRPr b="1" i="0" sz="2100" u="none" cap="none" strike="noStrike">
              <a:solidFill>
                <a:srgbClr val="5B0F00"/>
              </a:solidFill>
              <a:latin typeface="Oswald"/>
              <a:ea typeface="Oswald"/>
              <a:cs typeface="Oswald"/>
              <a:sym typeface="Oswald"/>
            </a:endParaRPr>
          </a:p>
        </p:txBody>
      </p:sp>
      <p:sp>
        <p:nvSpPr>
          <p:cNvPr id="280" name="Google Shape;280;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cxnSp>
        <p:nvCxnSpPr>
          <p:cNvPr id="286" name="Google Shape;286;p3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87" name="Google Shape;287;p32"/>
          <p:cNvSpPr txBox="1"/>
          <p:nvPr/>
        </p:nvSpPr>
        <p:spPr>
          <a:xfrm>
            <a:off x="2089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88" name="Google Shape;288;p32"/>
          <p:cNvSpPr txBox="1"/>
          <p:nvPr/>
        </p:nvSpPr>
        <p:spPr>
          <a:xfrm>
            <a:off x="141769" y="377894"/>
            <a:ext cx="8609100" cy="36693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Clr>
                <a:srgbClr val="000000"/>
              </a:buClr>
              <a:buSzPts val="2700"/>
              <a:buFont typeface="Arial"/>
              <a:buNone/>
            </a:pPr>
            <a:r>
              <a:t/>
            </a:r>
            <a:endParaRPr b="0" i="0" sz="28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Cyan, magenta, and yellow are the secondary colors with respect to the primary colors of red, green, and blue. However, in this subtractive model, they are the primary colors and red, green, and blue, are the secondaries.</a:t>
            </a:r>
            <a:endParaRPr b="0" i="0" sz="32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In this model, colors are formed by subtraction, where adding different pigments causes various colors not to be reflected and thus not to be seen. Here, white is the absence of colors, and black is the sum of all of them.</a:t>
            </a:r>
            <a:endParaRPr b="0" i="0" sz="25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Most devices that deposit color pigments on paper </a:t>
            </a:r>
            <a:r>
              <a:rPr b="1" i="0" lang="en-US" sz="2100" u="none" cap="none" strike="noStrike">
                <a:solidFill>
                  <a:srgbClr val="5B0F00"/>
                </a:solidFill>
                <a:latin typeface="Oswald"/>
                <a:ea typeface="Oswald"/>
                <a:cs typeface="Oswald"/>
                <a:sym typeface="Oswald"/>
              </a:rPr>
              <a:t>(such as Color Printers and Copiers)</a:t>
            </a:r>
            <a:r>
              <a:rPr b="0" i="0" lang="en-US" sz="2100" u="none" cap="none" strike="noStrike">
                <a:solidFill>
                  <a:srgbClr val="5B0F00"/>
                </a:solidFill>
                <a:latin typeface="Oswald"/>
                <a:ea typeface="Oswald"/>
                <a:cs typeface="Oswald"/>
                <a:sym typeface="Oswald"/>
              </a:rPr>
              <a:t> requires CMY data input or perform RGB to CMY conversion internally.</a:t>
            </a:r>
            <a:endParaRPr b="0" i="0" sz="4100" u="none" cap="none" strike="noStrike">
              <a:solidFill>
                <a:srgbClr val="5B0F00"/>
              </a:solidFill>
              <a:latin typeface="Oswald"/>
              <a:ea typeface="Oswald"/>
              <a:cs typeface="Oswald"/>
              <a:sym typeface="Oswald"/>
            </a:endParaRPr>
          </a:p>
        </p:txBody>
      </p:sp>
      <p:pic>
        <p:nvPicPr>
          <p:cNvPr id="289" name="Google Shape;289;p32"/>
          <p:cNvPicPr preferRelativeResize="0"/>
          <p:nvPr/>
        </p:nvPicPr>
        <p:blipFill rotWithShape="1">
          <a:blip r:embed="rId3">
            <a:alphaModFix/>
          </a:blip>
          <a:srcRect b="0" l="0" r="0" t="0"/>
          <a:stretch/>
        </p:blipFill>
        <p:spPr>
          <a:xfrm>
            <a:off x="2903825" y="3376275"/>
            <a:ext cx="2761975" cy="1673125"/>
          </a:xfrm>
          <a:prstGeom prst="rect">
            <a:avLst/>
          </a:prstGeom>
          <a:noFill/>
          <a:ln>
            <a:noFill/>
          </a:ln>
        </p:spPr>
      </p:pic>
      <p:sp>
        <p:nvSpPr>
          <p:cNvPr id="290" name="Google Shape;290;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cxnSp>
        <p:nvCxnSpPr>
          <p:cNvPr id="296" name="Google Shape;296;p3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97" name="Google Shape;297;p33"/>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CMYK Model</a:t>
            </a:r>
            <a:endParaRPr b="1" i="0" sz="3400" u="none" cap="none" strike="noStrike">
              <a:solidFill>
                <a:srgbClr val="5B0F00"/>
              </a:solidFill>
              <a:latin typeface="Oswald"/>
              <a:ea typeface="Oswald"/>
              <a:cs typeface="Oswald"/>
              <a:sym typeface="Oswald"/>
            </a:endParaRPr>
          </a:p>
        </p:txBody>
      </p:sp>
      <p:sp>
        <p:nvSpPr>
          <p:cNvPr id="298" name="Google Shape;298;p33"/>
          <p:cNvSpPr txBox="1"/>
          <p:nvPr/>
        </p:nvSpPr>
        <p:spPr>
          <a:xfrm>
            <a:off x="267450" y="854644"/>
            <a:ext cx="8786100" cy="1793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400"/>
              </a:spcBef>
              <a:spcAft>
                <a:spcPts val="0"/>
              </a:spcAft>
              <a:buClr>
                <a:srgbClr val="000000"/>
              </a:buClr>
              <a:buSzPts val="2200"/>
              <a:buFont typeface="Arial"/>
              <a:buNone/>
            </a:pPr>
            <a:r>
              <a:rPr b="0" i="0" lang="en-US" sz="2200" u="none" cap="none" strike="noStrike">
                <a:solidFill>
                  <a:srgbClr val="5B0F00"/>
                </a:solidFill>
                <a:latin typeface="Oswald"/>
                <a:ea typeface="Oswald"/>
                <a:cs typeface="Oswald"/>
                <a:sym typeface="Oswald"/>
              </a:rPr>
              <a:t>Equal amounts of pigment primaries (</a:t>
            </a:r>
            <a:r>
              <a:rPr b="1" i="0" lang="en-US" sz="2200" u="none" cap="none" strike="noStrike">
                <a:solidFill>
                  <a:srgbClr val="00FFFF"/>
                </a:solidFill>
                <a:highlight>
                  <a:srgbClr val="434343"/>
                </a:highlight>
                <a:latin typeface="Oswald"/>
                <a:ea typeface="Oswald"/>
                <a:cs typeface="Oswald"/>
                <a:sym typeface="Oswald"/>
              </a:rPr>
              <a:t>Cyan</a:t>
            </a:r>
            <a:r>
              <a:rPr b="0" i="0" lang="en-US" sz="2200" u="none" cap="none" strike="noStrike">
                <a:solidFill>
                  <a:srgbClr val="5B0F00"/>
                </a:solidFill>
                <a:latin typeface="Oswald"/>
                <a:ea typeface="Oswald"/>
                <a:cs typeface="Oswald"/>
                <a:sym typeface="Oswald"/>
              </a:rPr>
              <a:t>, </a:t>
            </a:r>
            <a:r>
              <a:rPr b="1" i="0" lang="en-US" sz="2200" u="none" cap="none" strike="noStrike">
                <a:solidFill>
                  <a:srgbClr val="FF00FF"/>
                </a:solidFill>
                <a:latin typeface="Oswald"/>
                <a:ea typeface="Oswald"/>
                <a:cs typeface="Oswald"/>
                <a:sym typeface="Oswald"/>
              </a:rPr>
              <a:t>Magenta</a:t>
            </a:r>
            <a:r>
              <a:rPr b="0" i="0" lang="en-US" sz="2200" u="none" cap="none" strike="noStrike">
                <a:solidFill>
                  <a:srgbClr val="5B0F00"/>
                </a:solidFill>
                <a:latin typeface="Oswald"/>
                <a:ea typeface="Oswald"/>
                <a:cs typeface="Oswald"/>
                <a:sym typeface="Oswald"/>
              </a:rPr>
              <a:t> and </a:t>
            </a:r>
            <a:r>
              <a:rPr b="1" i="0" lang="en-US" sz="2200" u="none" cap="none" strike="noStrike">
                <a:solidFill>
                  <a:srgbClr val="FFFF00"/>
                </a:solidFill>
                <a:highlight>
                  <a:srgbClr val="434343"/>
                </a:highlight>
                <a:latin typeface="Oswald"/>
                <a:ea typeface="Oswald"/>
                <a:cs typeface="Oswald"/>
                <a:sym typeface="Oswald"/>
              </a:rPr>
              <a:t>Yellow</a:t>
            </a:r>
            <a:r>
              <a:rPr b="0" i="0" lang="en-US" sz="2200" u="none" cap="none" strike="noStrike">
                <a:solidFill>
                  <a:srgbClr val="5B0F00"/>
                </a:solidFill>
                <a:latin typeface="Oswald"/>
                <a:ea typeface="Oswald"/>
                <a:cs typeface="Oswald"/>
                <a:sym typeface="Oswald"/>
              </a:rPr>
              <a:t>) should produce Black. In practice combining these colors for printing produces a “Muddy-Black” color. So in order to produce “</a:t>
            </a:r>
            <a:r>
              <a:rPr b="1" i="0" lang="en-US" sz="2200" u="none" cap="none" strike="noStrike">
                <a:solidFill>
                  <a:srgbClr val="000000"/>
                </a:solidFill>
                <a:latin typeface="Oswald"/>
                <a:ea typeface="Oswald"/>
                <a:cs typeface="Oswald"/>
                <a:sym typeface="Oswald"/>
              </a:rPr>
              <a:t>True-Black”</a:t>
            </a:r>
            <a:r>
              <a:rPr b="0" i="0" lang="en-US" sz="2200" u="none" cap="none" strike="noStrike">
                <a:solidFill>
                  <a:srgbClr val="5B0F00"/>
                </a:solidFill>
                <a:latin typeface="Oswald"/>
                <a:ea typeface="Oswald"/>
                <a:cs typeface="Oswald"/>
                <a:sym typeface="Oswald"/>
              </a:rPr>
              <a:t> a fourth color “Black” is added giving rise to CMYK model.</a:t>
            </a:r>
            <a:endParaRPr b="0" i="0" sz="2400" u="none" cap="none" strike="noStrike">
              <a:solidFill>
                <a:srgbClr val="5B0F00"/>
              </a:solidFill>
              <a:latin typeface="Oswald"/>
              <a:ea typeface="Oswald"/>
              <a:cs typeface="Oswald"/>
              <a:sym typeface="Oswald"/>
            </a:endParaRPr>
          </a:p>
        </p:txBody>
      </p:sp>
      <p:pic>
        <p:nvPicPr>
          <p:cNvPr id="299" name="Google Shape;299;p33"/>
          <p:cNvPicPr preferRelativeResize="0"/>
          <p:nvPr/>
        </p:nvPicPr>
        <p:blipFill rotWithShape="1">
          <a:blip r:embed="rId3">
            <a:alphaModFix/>
          </a:blip>
          <a:srcRect b="0" l="0" r="0" t="0"/>
          <a:stretch/>
        </p:blipFill>
        <p:spPr>
          <a:xfrm>
            <a:off x="2464125" y="2159125"/>
            <a:ext cx="3637975" cy="2958374"/>
          </a:xfrm>
          <a:prstGeom prst="rect">
            <a:avLst/>
          </a:prstGeom>
          <a:noFill/>
          <a:ln>
            <a:noFill/>
          </a:ln>
        </p:spPr>
      </p:pic>
      <p:sp>
        <p:nvSpPr>
          <p:cNvPr id="300" name="Google Shape;300;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cxnSp>
        <p:nvCxnSpPr>
          <p:cNvPr id="306" name="Google Shape;306;p3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07" name="Google Shape;307;p34"/>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 CMY Conversion </a:t>
            </a:r>
            <a:endParaRPr b="1" i="0" sz="3400" u="none" cap="none" strike="noStrike">
              <a:solidFill>
                <a:srgbClr val="5B0F00"/>
              </a:solidFill>
              <a:latin typeface="Oswald"/>
              <a:ea typeface="Oswald"/>
              <a:cs typeface="Oswald"/>
              <a:sym typeface="Oswald"/>
            </a:endParaRPr>
          </a:p>
        </p:txBody>
      </p:sp>
      <p:pic>
        <p:nvPicPr>
          <p:cNvPr id="308" name="Google Shape;308;p34"/>
          <p:cNvPicPr preferRelativeResize="0"/>
          <p:nvPr/>
        </p:nvPicPr>
        <p:blipFill rotWithShape="1">
          <a:blip r:embed="rId3">
            <a:alphaModFix/>
          </a:blip>
          <a:srcRect b="0" l="0" r="0" t="0"/>
          <a:stretch/>
        </p:blipFill>
        <p:spPr>
          <a:xfrm>
            <a:off x="356063" y="1370654"/>
            <a:ext cx="8431876" cy="2704631"/>
          </a:xfrm>
          <a:prstGeom prst="rect">
            <a:avLst/>
          </a:prstGeom>
          <a:noFill/>
          <a:ln>
            <a:noFill/>
          </a:ln>
        </p:spPr>
      </p:pic>
      <p:sp>
        <p:nvSpPr>
          <p:cNvPr id="309" name="Google Shape;309;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10" name="Google Shape;310;p34"/>
          <p:cNvSpPr/>
          <p:nvPr/>
        </p:nvSpPr>
        <p:spPr>
          <a:xfrm>
            <a:off x="6530075" y="509675"/>
            <a:ext cx="2057400" cy="88236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RGB 8-bit per channel System</a:t>
            </a:r>
            <a:endParaRPr b="1"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5" name="Shape 315"/>
        <p:cNvGrpSpPr/>
        <p:nvPr/>
      </p:nvGrpSpPr>
      <p:grpSpPr>
        <a:xfrm>
          <a:off x="0" y="0"/>
          <a:ext cx="0" cy="0"/>
          <a:chOff x="0" y="0"/>
          <a:chExt cx="0" cy="0"/>
        </a:xfrm>
      </p:grpSpPr>
      <p:cxnSp>
        <p:nvCxnSpPr>
          <p:cNvPr id="316" name="Google Shape;316;p3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17" name="Google Shape;317;p35"/>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HSV/HSB Color Model</a:t>
            </a:r>
            <a:endParaRPr b="1" i="0" sz="3400" u="none" cap="none" strike="noStrike">
              <a:solidFill>
                <a:srgbClr val="5B0F00"/>
              </a:solidFill>
              <a:latin typeface="Oswald"/>
              <a:ea typeface="Oswald"/>
              <a:cs typeface="Oswald"/>
              <a:sym typeface="Oswald"/>
            </a:endParaRPr>
          </a:p>
        </p:txBody>
      </p:sp>
      <p:pic>
        <p:nvPicPr>
          <p:cNvPr id="318" name="Google Shape;318;p35"/>
          <p:cNvPicPr preferRelativeResize="0"/>
          <p:nvPr/>
        </p:nvPicPr>
        <p:blipFill rotWithShape="1">
          <a:blip r:embed="rId3">
            <a:alphaModFix/>
          </a:blip>
          <a:srcRect b="0" l="0" r="0" t="0"/>
          <a:stretch/>
        </p:blipFill>
        <p:spPr>
          <a:xfrm>
            <a:off x="361325" y="1150294"/>
            <a:ext cx="3462150" cy="2596613"/>
          </a:xfrm>
          <a:prstGeom prst="rect">
            <a:avLst/>
          </a:prstGeom>
          <a:noFill/>
          <a:ln>
            <a:noFill/>
          </a:ln>
        </p:spPr>
      </p:pic>
      <p:pic>
        <p:nvPicPr>
          <p:cNvPr id="319" name="Google Shape;319;p35"/>
          <p:cNvPicPr preferRelativeResize="0"/>
          <p:nvPr/>
        </p:nvPicPr>
        <p:blipFill rotWithShape="1">
          <a:blip r:embed="rId4">
            <a:alphaModFix/>
          </a:blip>
          <a:srcRect b="0" l="0" r="0" t="0"/>
          <a:stretch/>
        </p:blipFill>
        <p:spPr>
          <a:xfrm>
            <a:off x="5124300" y="1150294"/>
            <a:ext cx="2947020" cy="2596612"/>
          </a:xfrm>
          <a:prstGeom prst="rect">
            <a:avLst/>
          </a:prstGeom>
          <a:noFill/>
          <a:ln>
            <a:noFill/>
          </a:ln>
        </p:spPr>
      </p:pic>
      <p:sp>
        <p:nvSpPr>
          <p:cNvPr id="320" name="Google Shape;320;p35"/>
          <p:cNvSpPr/>
          <p:nvPr/>
        </p:nvSpPr>
        <p:spPr>
          <a:xfrm rot="10800000">
            <a:off x="1123925" y="3825675"/>
            <a:ext cx="2571900" cy="1089900"/>
          </a:xfrm>
          <a:prstGeom prst="wedgeRoundRectCallout">
            <a:avLst>
              <a:gd fmla="val -20833" name="adj1"/>
              <a:gd fmla="val 62500" name="adj2"/>
              <a:gd fmla="val 0" name="adj3"/>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1" name="Google Shape;321;p35"/>
          <p:cNvSpPr txBox="1"/>
          <p:nvPr/>
        </p:nvSpPr>
        <p:spPr>
          <a:xfrm>
            <a:off x="1532825" y="4116675"/>
            <a:ext cx="19074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Check this </a:t>
            </a:r>
            <a:r>
              <a:rPr b="0" i="0" lang="en-US" sz="2100" u="sng" cap="none" strike="noStrike">
                <a:solidFill>
                  <a:schemeClr val="hlink"/>
                </a:solidFill>
                <a:latin typeface="Calibri"/>
                <a:ea typeface="Calibri"/>
                <a:cs typeface="Calibri"/>
                <a:sym typeface="Calibri"/>
                <a:hlinkClick r:id="rId5"/>
              </a:rPr>
              <a:t>link</a:t>
            </a:r>
            <a:endParaRPr b="0" i="0" sz="2100" u="none" cap="none" strike="noStrike">
              <a:solidFill>
                <a:schemeClr val="dk1"/>
              </a:solidFill>
              <a:latin typeface="Calibri"/>
              <a:ea typeface="Calibri"/>
              <a:cs typeface="Calibri"/>
              <a:sym typeface="Calibri"/>
            </a:endParaRPr>
          </a:p>
        </p:txBody>
      </p:sp>
      <p:sp>
        <p:nvSpPr>
          <p:cNvPr id="322" name="Google Shape;322;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cxnSp>
        <p:nvCxnSpPr>
          <p:cNvPr id="328" name="Google Shape;328;p3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29" name="Google Shape;329;p36"/>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sp>
        <p:nvSpPr>
          <p:cNvPr id="330" name="Google Shape;330;p36"/>
          <p:cNvSpPr txBox="1"/>
          <p:nvPr/>
        </p:nvSpPr>
        <p:spPr>
          <a:xfrm>
            <a:off x="559925" y="737325"/>
            <a:ext cx="8424000" cy="3904800"/>
          </a:xfrm>
          <a:prstGeom prst="rect">
            <a:avLst/>
          </a:prstGeom>
          <a:noFill/>
          <a:ln>
            <a:noFill/>
          </a:ln>
        </p:spPr>
        <p:txBody>
          <a:bodyPr anchorCtr="0" anchor="t" bIns="91425" lIns="91425" spcFirstLastPara="1" rIns="91425" wrap="square" tIns="91425">
            <a:noAutofit/>
          </a:bodyPr>
          <a:lstStyle/>
          <a:p>
            <a:pPr indent="0" lvl="0" marL="0" marR="0" rtl="0" algn="just">
              <a:lnSpc>
                <a:spcPct val="90000"/>
              </a:lnSpc>
              <a:spcBef>
                <a:spcPts val="360"/>
              </a:spcBef>
              <a:spcAft>
                <a:spcPts val="0"/>
              </a:spcAft>
              <a:buClr>
                <a:srgbClr val="000000"/>
              </a:buClr>
              <a:buSzPts val="1800"/>
              <a:buFont typeface="Arial"/>
              <a:buNone/>
            </a:pPr>
            <a:r>
              <a:rPr b="1" i="0" lang="en-US" sz="1600" u="none" cap="none" strike="noStrike">
                <a:solidFill>
                  <a:srgbClr val="3333CC"/>
                </a:solidFill>
                <a:latin typeface="Oswald"/>
                <a:ea typeface="Oswald"/>
                <a:cs typeface="Oswald"/>
                <a:sym typeface="Oswald"/>
              </a:rPr>
              <a:t>Hue (color wheel/dominant color)</a:t>
            </a:r>
            <a:r>
              <a:rPr b="0" i="0" lang="en-US" sz="1600" u="none" cap="none" strike="noStrike">
                <a:solidFill>
                  <a:srgbClr val="3333CC"/>
                </a:solidFill>
                <a:latin typeface="Oswald"/>
                <a:ea typeface="Oswald"/>
                <a:cs typeface="Oswald"/>
                <a:sym typeface="Oswald"/>
              </a:rPr>
              <a:t> </a:t>
            </a:r>
            <a:endParaRPr b="0" i="0" sz="1600" u="none" cap="none" strike="noStrike">
              <a:solidFill>
                <a:srgbClr val="0000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Wavelength of the pure colour observed in the signal.</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The cone represents the HSV model, the hue represents different colours in different angle ranges.</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More than </a:t>
            </a:r>
            <a:r>
              <a:rPr b="1" i="0" lang="en-US" sz="1600" u="none" cap="none" strike="noStrike">
                <a:solidFill>
                  <a:srgbClr val="5B0F00"/>
                </a:solidFill>
                <a:latin typeface="Oswald"/>
                <a:ea typeface="Oswald"/>
                <a:cs typeface="Oswald"/>
                <a:sym typeface="Oswald"/>
              </a:rPr>
              <a:t>400 hues</a:t>
            </a:r>
            <a:r>
              <a:rPr b="0" i="0" lang="en-US" sz="1600" u="none" cap="none" strike="noStrike">
                <a:solidFill>
                  <a:srgbClr val="5B0F00"/>
                </a:solidFill>
                <a:latin typeface="Oswald"/>
                <a:ea typeface="Oswald"/>
                <a:cs typeface="Oswald"/>
                <a:sym typeface="Oswald"/>
              </a:rPr>
              <a:t> can be seen by the human eye.</a:t>
            </a:r>
            <a:endParaRPr b="0" i="0" sz="1600" u="none" cap="none" strike="noStrike">
              <a:solidFill>
                <a:srgbClr val="5B0F00"/>
              </a:solidFill>
              <a:latin typeface="Oswald"/>
              <a:ea typeface="Oswald"/>
              <a:cs typeface="Oswald"/>
              <a:sym typeface="Oswald"/>
            </a:endParaRPr>
          </a:p>
          <a:p>
            <a:pPr indent="0" lvl="0" marL="0" marR="0" rtl="0" algn="just">
              <a:lnSpc>
                <a:spcPct val="90000"/>
              </a:lnSpc>
              <a:spcBef>
                <a:spcPts val="360"/>
              </a:spcBef>
              <a:spcAft>
                <a:spcPts val="0"/>
              </a:spcAft>
              <a:buClr>
                <a:srgbClr val="000000"/>
              </a:buClr>
              <a:buSzPts val="1800"/>
              <a:buFont typeface="Arial"/>
              <a:buNone/>
            </a:pPr>
            <a:r>
              <a:rPr b="1" i="0" lang="en-US" sz="1400" u="none" cap="none" strike="noStrike">
                <a:solidFill>
                  <a:srgbClr val="3333CC"/>
                </a:solidFill>
                <a:latin typeface="Oswald"/>
                <a:ea typeface="Oswald"/>
                <a:cs typeface="Oswald"/>
                <a:sym typeface="Oswald"/>
              </a:rPr>
              <a:t>Saturation (percentage/purity of the color)</a:t>
            </a:r>
            <a:endParaRPr b="1" i="0" sz="1400" u="none" cap="none" strike="noStrike">
              <a:solidFill>
                <a:srgbClr val="3333CC"/>
              </a:solidFill>
              <a:latin typeface="Oswald"/>
              <a:ea typeface="Oswald"/>
              <a:cs typeface="Oswald"/>
              <a:sym typeface="Oswald"/>
            </a:endParaRPr>
          </a:p>
          <a:p>
            <a:pPr indent="-342900" lvl="0" marL="457200" marR="0" rtl="0" algn="just">
              <a:lnSpc>
                <a:spcPct val="90000"/>
              </a:lnSpc>
              <a:spcBef>
                <a:spcPts val="400"/>
              </a:spcBef>
              <a:spcAft>
                <a:spcPts val="0"/>
              </a:spcAft>
              <a:buClr>
                <a:srgbClr val="5B0F00"/>
              </a:buClr>
              <a:buSzPts val="1800"/>
              <a:buFont typeface="Oswald"/>
              <a:buChar char="●"/>
            </a:pPr>
            <a:r>
              <a:rPr b="0" i="0" lang="en-US" sz="1600" u="none" cap="none" strike="noStrike">
                <a:solidFill>
                  <a:srgbClr val="5B0F00"/>
                </a:solidFill>
                <a:latin typeface="Oswald"/>
                <a:ea typeface="Oswald"/>
                <a:cs typeface="Oswald"/>
                <a:sym typeface="Oswald"/>
              </a:rPr>
              <a:t>Inverse of the quantity of “white” present in the signal. A pure colour has 100% saturation, the white and grey have 0% saturation.</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About </a:t>
            </a:r>
            <a:r>
              <a:rPr b="1" i="0" lang="en-US" sz="1600" u="none" cap="none" strike="noStrike">
                <a:solidFill>
                  <a:srgbClr val="5B0F00"/>
                </a:solidFill>
                <a:latin typeface="Oswald"/>
                <a:ea typeface="Oswald"/>
                <a:cs typeface="Oswald"/>
                <a:sym typeface="Oswald"/>
              </a:rPr>
              <a:t>20 saturation levels</a:t>
            </a:r>
            <a:r>
              <a:rPr b="0" i="0" lang="en-US" sz="1600" u="none" cap="none" strike="noStrike">
                <a:solidFill>
                  <a:srgbClr val="5B0F00"/>
                </a:solidFill>
                <a:latin typeface="Oswald"/>
                <a:ea typeface="Oswald"/>
                <a:cs typeface="Oswald"/>
                <a:sym typeface="Oswald"/>
              </a:rPr>
              <a:t> are visible per hue.</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How far the color is from equal intensity grey</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Range </a:t>
            </a:r>
            <a:r>
              <a:rPr b="1" i="0" lang="en-US" sz="1600" u="none" cap="none" strike="noStrike">
                <a:solidFill>
                  <a:srgbClr val="5B0F00"/>
                </a:solidFill>
                <a:latin typeface="Oswald"/>
                <a:ea typeface="Oswald"/>
                <a:cs typeface="Oswald"/>
                <a:sym typeface="Oswald"/>
              </a:rPr>
              <a:t>[0,1]</a:t>
            </a:r>
            <a:endParaRPr b="0" i="0" sz="1200" u="none" cap="none" strike="noStrike">
              <a:solidFill>
                <a:srgbClr val="273239"/>
              </a:solidFill>
              <a:highlight>
                <a:schemeClr val="dk1"/>
              </a:highlight>
              <a:latin typeface="Verdana"/>
              <a:ea typeface="Verdana"/>
              <a:cs typeface="Verdana"/>
              <a:sym typeface="Verdana"/>
            </a:endParaRPr>
          </a:p>
          <a:p>
            <a:pPr indent="0" lvl="0" marL="0" marR="0" rtl="0" algn="just">
              <a:lnSpc>
                <a:spcPct val="90000"/>
              </a:lnSpc>
              <a:spcBef>
                <a:spcPts val="360"/>
              </a:spcBef>
              <a:spcAft>
                <a:spcPts val="0"/>
              </a:spcAft>
              <a:buClr>
                <a:srgbClr val="000000"/>
              </a:buClr>
              <a:buSzPts val="1600"/>
              <a:buFont typeface="Arial"/>
              <a:buNone/>
            </a:pPr>
            <a:r>
              <a:rPr b="1" i="0" lang="en-US" sz="1400" u="none" cap="none" strike="noStrike">
                <a:solidFill>
                  <a:srgbClr val="3333CC"/>
                </a:solidFill>
                <a:latin typeface="Oswald"/>
                <a:ea typeface="Oswald"/>
                <a:cs typeface="Oswald"/>
                <a:sym typeface="Oswald"/>
              </a:rPr>
              <a:t>Value (brightness or intensity of a color)</a:t>
            </a:r>
            <a:endParaRPr b="1" i="0" sz="1400" u="none" cap="none" strike="noStrike">
              <a:solidFill>
                <a:srgbClr val="3333CC"/>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Distinguishes the grey levels. Its value lies in percentages </a:t>
            </a:r>
            <a:r>
              <a:rPr b="1" i="0" lang="en-US" sz="1600" u="none" cap="none" strike="noStrike">
                <a:solidFill>
                  <a:srgbClr val="5B0F00"/>
                </a:solidFill>
                <a:latin typeface="Oswald"/>
                <a:ea typeface="Oswald"/>
                <a:cs typeface="Oswald"/>
                <a:sym typeface="Oswald"/>
              </a:rPr>
              <a:t>from 0 to 100</a:t>
            </a:r>
            <a:r>
              <a:rPr b="0" i="0" lang="en-US" sz="1600" u="none" cap="none" strike="noStrike">
                <a:solidFill>
                  <a:srgbClr val="5B0F00"/>
                </a:solidFill>
                <a:latin typeface="Oswald"/>
                <a:ea typeface="Oswald"/>
                <a:cs typeface="Oswald"/>
                <a:sym typeface="Oswald"/>
              </a:rPr>
              <a:t>. 0 is black and 1 is the brightest and reveals the colour. </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Value describes how light or dark a color appears. Eg. A bright yellow has a high value. A dark brown or deep blue has a low value.</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Helps in generating shading or lighting effects in graphics. </a:t>
            </a:r>
            <a:endParaRPr b="0" i="0" sz="1600" u="none" cap="none" strike="noStrike">
              <a:solidFill>
                <a:srgbClr val="5B0F00"/>
              </a:solidFill>
              <a:latin typeface="Oswald"/>
              <a:ea typeface="Oswald"/>
              <a:cs typeface="Oswald"/>
              <a:sym typeface="Oswald"/>
            </a:endParaRPr>
          </a:p>
          <a:p>
            <a:pPr indent="0" lvl="0" marL="1371600" marR="0" rtl="0" algn="just">
              <a:lnSpc>
                <a:spcPct val="90000"/>
              </a:lnSpc>
              <a:spcBef>
                <a:spcPts val="400"/>
              </a:spcBef>
              <a:spcAft>
                <a:spcPts val="0"/>
              </a:spcAft>
              <a:buClr>
                <a:srgbClr val="000000"/>
              </a:buClr>
              <a:buSzPts val="1400"/>
              <a:buFont typeface="Arial"/>
              <a:buNone/>
            </a:pPr>
            <a:r>
              <a:t/>
            </a:r>
            <a:endParaRPr b="0" i="0" sz="12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600" u="none" cap="none" strike="noStrike">
              <a:solidFill>
                <a:schemeClr val="accent3"/>
              </a:solidFill>
              <a:latin typeface="Average"/>
              <a:ea typeface="Average"/>
              <a:cs typeface="Average"/>
              <a:sym typeface="Average"/>
            </a:endParaRPr>
          </a:p>
        </p:txBody>
      </p:sp>
      <p:sp>
        <p:nvSpPr>
          <p:cNvPr id="331" name="Google Shape;331;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cxnSp>
        <p:nvCxnSpPr>
          <p:cNvPr id="337" name="Google Shape;337;p3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38" name="Google Shape;338;p37"/>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pic>
        <p:nvPicPr>
          <p:cNvPr id="339" name="Google Shape;339;p37"/>
          <p:cNvPicPr preferRelativeResize="0"/>
          <p:nvPr/>
        </p:nvPicPr>
        <p:blipFill rotWithShape="1">
          <a:blip r:embed="rId3">
            <a:alphaModFix/>
          </a:blip>
          <a:srcRect b="0" l="0" r="0" t="0"/>
          <a:stretch/>
        </p:blipFill>
        <p:spPr>
          <a:xfrm>
            <a:off x="1518150" y="919201"/>
            <a:ext cx="6107700" cy="3457506"/>
          </a:xfrm>
          <a:prstGeom prst="rect">
            <a:avLst/>
          </a:prstGeom>
          <a:noFill/>
          <a:ln>
            <a:noFill/>
          </a:ln>
        </p:spPr>
      </p:pic>
      <p:sp>
        <p:nvSpPr>
          <p:cNvPr id="340" name="Google Shape;340;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pic>
        <p:nvPicPr>
          <p:cNvPr id="346" name="Google Shape;346;p38"/>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47" name="Google Shape;347;p3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48" name="Google Shape;348;p38"/>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a:t>
            </a:r>
            <a:endParaRPr b="1" i="0" sz="3400" u="none" cap="none" strike="noStrike">
              <a:solidFill>
                <a:srgbClr val="5B0F00"/>
              </a:solidFill>
              <a:latin typeface="Oswald"/>
              <a:ea typeface="Oswald"/>
              <a:cs typeface="Oswald"/>
              <a:sym typeface="Oswald"/>
            </a:endParaRPr>
          </a:p>
        </p:txBody>
      </p:sp>
      <p:sp>
        <p:nvSpPr>
          <p:cNvPr id="349" name="Google Shape;349;p38"/>
          <p:cNvSpPr txBox="1"/>
          <p:nvPr/>
        </p:nvSpPr>
        <p:spPr>
          <a:xfrm>
            <a:off x="382150" y="792125"/>
            <a:ext cx="8233800" cy="4249200"/>
          </a:xfrm>
          <a:prstGeom prst="rect">
            <a:avLst/>
          </a:prstGeom>
          <a:noFill/>
          <a:ln>
            <a:noFill/>
          </a:ln>
        </p:spPr>
        <p:txBody>
          <a:bodyPr anchorCtr="0" anchor="t" bIns="91425" lIns="91425" spcFirstLastPara="1" rIns="91425" wrap="square" tIns="91425">
            <a:noAutofit/>
          </a:bodyPr>
          <a:lstStyle/>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Divide r, g, b by 255 (if the scale is 0-255, otherwise skip)</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Compute cmax, cmin, difference</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800"/>
              </a:spcBef>
              <a:spcAft>
                <a:spcPts val="0"/>
              </a:spcAft>
              <a:buClr>
                <a:srgbClr val="5B0F00"/>
              </a:buClr>
              <a:buSzPts val="1600"/>
              <a:buFont typeface="Oswald"/>
              <a:buAutoNum type="arabicPeriod"/>
            </a:pPr>
            <a:r>
              <a:rPr b="1" i="0" lang="en-US" sz="1600" u="none" cap="none" strike="noStrike">
                <a:solidFill>
                  <a:srgbClr val="5B0F00"/>
                </a:solidFill>
                <a:latin typeface="Oswald"/>
                <a:ea typeface="Oswald"/>
                <a:cs typeface="Oswald"/>
                <a:sym typeface="Oswald"/>
              </a:rPr>
              <a:t>Saturation</a:t>
            </a:r>
            <a:r>
              <a:rPr b="0" i="0" lang="en-US" sz="1600" u="none" cap="none" strike="noStrike">
                <a:solidFill>
                  <a:srgbClr val="5B0F00"/>
                </a:solidFill>
                <a:latin typeface="Oswald"/>
                <a:ea typeface="Oswald"/>
                <a:cs typeface="Oswald"/>
                <a:sym typeface="Oswald"/>
              </a:rPr>
              <a:t> computation :</a:t>
            </a:r>
            <a:endParaRPr b="0" i="0" sz="1600" u="none" cap="none" strike="noStrike">
              <a:solidFill>
                <a:srgbClr val="5B0F00"/>
              </a:solidFill>
              <a:latin typeface="Oswald"/>
              <a:ea typeface="Oswald"/>
              <a:cs typeface="Oswald"/>
              <a:sym typeface="Oswald"/>
            </a:endParaRPr>
          </a:p>
          <a:p>
            <a:pPr indent="-368300" lvl="1" marL="9144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 0, then s = 0,</a:t>
            </a:r>
            <a:endParaRPr b="0" i="0" sz="1600" u="none" cap="none" strike="noStrike">
              <a:solidFill>
                <a:srgbClr val="5B0F00"/>
              </a:solidFill>
              <a:latin typeface="Oswald"/>
              <a:ea typeface="Oswald"/>
              <a:cs typeface="Oswald"/>
              <a:sym typeface="Oswald"/>
            </a:endParaRPr>
          </a:p>
          <a:p>
            <a:pPr indent="-368300" lvl="1" marL="9144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does not equal 0 then compute s = </a:t>
            </a:r>
            <a:r>
              <a:rPr b="1" i="0" lang="en-US" sz="1600" u="none" cap="none" strike="noStrike">
                <a:solidFill>
                  <a:srgbClr val="5B0F00"/>
                </a:solidFill>
                <a:latin typeface="Oswald"/>
                <a:ea typeface="Oswald"/>
                <a:cs typeface="Oswald"/>
                <a:sym typeface="Oswald"/>
              </a:rPr>
              <a:t>(diff/cmax)*100</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0"/>
              </a:spcBef>
              <a:spcAft>
                <a:spcPts val="0"/>
              </a:spcAft>
              <a:buClr>
                <a:srgbClr val="5B0F00"/>
              </a:buClr>
              <a:buSzPts val="1600"/>
              <a:buFont typeface="Oswald"/>
              <a:buAutoNum type="arabicPeriod"/>
            </a:pPr>
            <a:r>
              <a:rPr b="1" i="0" lang="en-US" sz="1600" u="none" cap="none" strike="noStrike">
                <a:solidFill>
                  <a:srgbClr val="5B0F00"/>
                </a:solidFill>
                <a:latin typeface="Oswald"/>
                <a:ea typeface="Oswald"/>
                <a:cs typeface="Oswald"/>
                <a:sym typeface="Oswald"/>
              </a:rPr>
              <a:t>Hue</a:t>
            </a:r>
            <a:r>
              <a:rPr b="0" i="0" lang="en-US" sz="1600" u="none" cap="none" strike="noStrike">
                <a:solidFill>
                  <a:srgbClr val="5B0F00"/>
                </a:solidFill>
                <a:latin typeface="Oswald"/>
                <a:ea typeface="Oswald"/>
                <a:cs typeface="Oswald"/>
                <a:sym typeface="Oswald"/>
              </a:rPr>
              <a:t> calculation : </a:t>
            </a:r>
            <a:endParaRPr b="0" i="0" sz="34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s equal 0, then h = 0          </a:t>
            </a:r>
            <a:r>
              <a:rPr b="0" i="1" lang="en-US" sz="1600" u="none" cap="none" strike="noStrike">
                <a:solidFill>
                  <a:srgbClr val="5B0F00"/>
                </a:solidFill>
                <a:latin typeface="Oswald"/>
                <a:ea typeface="Oswald"/>
                <a:cs typeface="Oswald"/>
                <a:sym typeface="Oswald"/>
              </a:rPr>
              <a:t>[h = undefined]</a:t>
            </a:r>
            <a:endParaRPr b="0" i="1"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r then compute h = </a:t>
            </a:r>
            <a:r>
              <a:rPr b="1" i="0" lang="en-US" sz="1600" u="none" cap="none" strike="noStrike">
                <a:solidFill>
                  <a:srgbClr val="5B0F00"/>
                </a:solidFill>
                <a:latin typeface="Oswald"/>
                <a:ea typeface="Oswald"/>
                <a:cs typeface="Oswald"/>
                <a:sym typeface="Oswald"/>
              </a:rPr>
              <a:t>(g – b)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g then compute h = </a:t>
            </a:r>
            <a:r>
              <a:rPr b="1" i="0" lang="en-US" sz="1600" u="none" cap="none" strike="noStrike">
                <a:solidFill>
                  <a:srgbClr val="5B0F00"/>
                </a:solidFill>
                <a:latin typeface="Oswald"/>
                <a:ea typeface="Oswald"/>
                <a:cs typeface="Oswald"/>
                <a:sym typeface="Oswald"/>
              </a:rPr>
              <a:t>2 + ((b – r)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b then compute h = </a:t>
            </a:r>
            <a:r>
              <a:rPr b="1" i="0" lang="en-US" sz="1600" u="none" cap="none" strike="noStrike">
                <a:solidFill>
                  <a:srgbClr val="5B0F00"/>
                </a:solidFill>
                <a:latin typeface="Oswald"/>
                <a:ea typeface="Oswald"/>
                <a:cs typeface="Oswald"/>
                <a:sym typeface="Oswald"/>
              </a:rPr>
              <a:t>4 + ((r – g) / diff)</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h = h * 60</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if h&lt;0 → h = h + 360</a:t>
            </a:r>
            <a:endParaRPr b="1" i="0" sz="3000" u="none" cap="none" strike="noStrike">
              <a:solidFill>
                <a:srgbClr val="5B0F00"/>
              </a:solidFill>
              <a:latin typeface="Oswald"/>
              <a:ea typeface="Oswald"/>
              <a:cs typeface="Oswald"/>
              <a:sym typeface="Oswald"/>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5B0F00"/>
                </a:solidFill>
                <a:latin typeface="Oswald"/>
                <a:ea typeface="Oswald"/>
                <a:cs typeface="Oswald"/>
                <a:sym typeface="Oswald"/>
              </a:rPr>
              <a:t>     </a:t>
            </a:r>
            <a:r>
              <a:rPr b="1" i="0" lang="en-US" sz="1600" u="none" cap="none" strike="noStrike">
                <a:solidFill>
                  <a:srgbClr val="5B0F00"/>
                </a:solidFill>
                <a:latin typeface="Oswald"/>
                <a:ea typeface="Oswald"/>
                <a:cs typeface="Oswald"/>
                <a:sym typeface="Oswald"/>
              </a:rPr>
              <a:t>5.</a:t>
            </a:r>
            <a:r>
              <a:rPr b="0" i="0" lang="en-US" sz="1600" u="none" cap="none" strike="noStrike">
                <a:solidFill>
                  <a:srgbClr val="5B0F00"/>
                </a:solidFill>
                <a:latin typeface="Oswald"/>
                <a:ea typeface="Oswald"/>
                <a:cs typeface="Oswald"/>
                <a:sym typeface="Oswald"/>
              </a:rPr>
              <a:t>	     </a:t>
            </a:r>
            <a:r>
              <a:rPr b="1" i="0" lang="en-US" sz="1600" u="none" cap="none" strike="noStrike">
                <a:solidFill>
                  <a:srgbClr val="5B0F00"/>
                </a:solidFill>
                <a:latin typeface="Oswald"/>
                <a:ea typeface="Oswald"/>
                <a:cs typeface="Oswald"/>
                <a:sym typeface="Oswald"/>
              </a:rPr>
              <a:t>Value</a:t>
            </a:r>
            <a:r>
              <a:rPr b="0" i="0" lang="en-US" sz="1600" u="none" cap="none" strike="noStrike">
                <a:solidFill>
                  <a:srgbClr val="5B0F00"/>
                </a:solidFill>
                <a:latin typeface="Oswald"/>
                <a:ea typeface="Oswald"/>
                <a:cs typeface="Oswald"/>
                <a:sym typeface="Oswald"/>
              </a:rPr>
              <a:t> Computation: </a:t>
            </a:r>
            <a:r>
              <a:rPr b="1" i="0" lang="en-US" sz="1600" u="none" cap="none" strike="noStrike">
                <a:solidFill>
                  <a:srgbClr val="5B0F00"/>
                </a:solidFill>
                <a:latin typeface="Oswald"/>
                <a:ea typeface="Oswald"/>
                <a:cs typeface="Oswald"/>
                <a:sym typeface="Oswald"/>
              </a:rPr>
              <a:t>v = cmax*100</a:t>
            </a:r>
            <a:endParaRPr b="1" i="0" sz="2000" u="none" cap="none" strike="noStrike">
              <a:solidFill>
                <a:srgbClr val="5B0F00"/>
              </a:solidFill>
              <a:latin typeface="Oswald"/>
              <a:ea typeface="Oswald"/>
              <a:cs typeface="Oswald"/>
              <a:sym typeface="Oswald"/>
            </a:endParaRPr>
          </a:p>
        </p:txBody>
      </p:sp>
      <p:sp>
        <p:nvSpPr>
          <p:cNvPr id="350" name="Google Shape;350;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txBox="1"/>
          <p:nvPr>
            <p:ph type="title"/>
          </p:nvPr>
        </p:nvSpPr>
        <p:spPr>
          <a:xfrm>
            <a:off x="762600" y="93775"/>
            <a:ext cx="6979500" cy="9777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00000"/>
              </a:lnSpc>
              <a:spcBef>
                <a:spcPts val="0"/>
              </a:spcBef>
              <a:spcAft>
                <a:spcPts val="0"/>
              </a:spcAft>
              <a:buClr>
                <a:schemeClr val="dk1"/>
              </a:buClr>
              <a:buSzPct val="100000"/>
              <a:buFont typeface="Arial"/>
              <a:buNone/>
            </a:pPr>
            <a:r>
              <a:rPr b="1" lang="en-US" sz="3400">
                <a:solidFill>
                  <a:srgbClr val="5B0F00"/>
                </a:solidFill>
                <a:latin typeface="Oswald"/>
                <a:ea typeface="Oswald"/>
                <a:cs typeface="Oswald"/>
                <a:sym typeface="Oswald"/>
              </a:rPr>
              <a:t>RGB to HSV Conversion (Algorithm)</a:t>
            </a:r>
            <a:endParaRPr b="1" sz="3400">
              <a:solidFill>
                <a:srgbClr val="5B0F00"/>
              </a:solidFill>
              <a:latin typeface="Oswald"/>
              <a:ea typeface="Oswald"/>
              <a:cs typeface="Oswald"/>
              <a:sym typeface="Oswald"/>
            </a:endParaRPr>
          </a:p>
          <a:p>
            <a:pPr indent="0" lvl="0" marL="0" rtl="0" algn="l">
              <a:lnSpc>
                <a:spcPct val="90000"/>
              </a:lnSpc>
              <a:spcBef>
                <a:spcPts val="0"/>
              </a:spcBef>
              <a:spcAft>
                <a:spcPts val="0"/>
              </a:spcAft>
              <a:buSzPct val="47138"/>
              <a:buNone/>
            </a:pPr>
            <a:r>
              <a:t/>
            </a:r>
            <a:endParaRPr/>
          </a:p>
        </p:txBody>
      </p:sp>
      <p:sp>
        <p:nvSpPr>
          <p:cNvPr id="357" name="Google Shape;357;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58" name="Google Shape;358;p39"/>
          <p:cNvPicPr preferRelativeResize="0"/>
          <p:nvPr/>
        </p:nvPicPr>
        <p:blipFill rotWithShape="1">
          <a:blip r:embed="rId3">
            <a:alphaModFix/>
          </a:blip>
          <a:srcRect b="0" l="0" r="0" t="0"/>
          <a:stretch/>
        </p:blipFill>
        <p:spPr>
          <a:xfrm>
            <a:off x="628650" y="687375"/>
            <a:ext cx="4564870" cy="4353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cxnSp>
        <p:nvCxnSpPr>
          <p:cNvPr id="364" name="Google Shape;364;p4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65" name="Google Shape;365;p40"/>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 Example</a:t>
            </a:r>
            <a:endParaRPr b="1" i="0" sz="3400" u="none" cap="none" strike="noStrike">
              <a:solidFill>
                <a:srgbClr val="5B0F00"/>
              </a:solidFill>
              <a:latin typeface="Oswald"/>
              <a:ea typeface="Oswald"/>
              <a:cs typeface="Oswald"/>
              <a:sym typeface="Oswald"/>
            </a:endParaRPr>
          </a:p>
        </p:txBody>
      </p:sp>
      <p:pic>
        <p:nvPicPr>
          <p:cNvPr id="366" name="Google Shape;366;p40"/>
          <p:cNvPicPr preferRelativeResize="0"/>
          <p:nvPr/>
        </p:nvPicPr>
        <p:blipFill rotWithShape="1">
          <a:blip r:embed="rId3">
            <a:alphaModFix/>
          </a:blip>
          <a:srcRect b="0" l="0" r="0" t="0"/>
          <a:stretch/>
        </p:blipFill>
        <p:spPr>
          <a:xfrm>
            <a:off x="452625" y="857950"/>
            <a:ext cx="8282527" cy="3952752"/>
          </a:xfrm>
          <a:prstGeom prst="rect">
            <a:avLst/>
          </a:prstGeom>
          <a:noFill/>
          <a:ln>
            <a:noFill/>
          </a:ln>
        </p:spPr>
      </p:pic>
      <p:sp>
        <p:nvSpPr>
          <p:cNvPr id="367" name="Google Shape;367;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68" name="Google Shape;368;p40"/>
          <p:cNvSpPr/>
          <p:nvPr/>
        </p:nvSpPr>
        <p:spPr>
          <a:xfrm>
            <a:off x="6530075" y="509675"/>
            <a:ext cx="2057400" cy="88236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RGB 8-bit per channel System</a:t>
            </a:r>
            <a:endParaRPr b="1" i="0" sz="12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73" name="Shape 373"/>
        <p:cNvGrpSpPr/>
        <p:nvPr/>
      </p:nvGrpSpPr>
      <p:grpSpPr>
        <a:xfrm>
          <a:off x="0" y="0"/>
          <a:ext cx="0" cy="0"/>
          <a:chOff x="0" y="0"/>
          <a:chExt cx="0" cy="0"/>
        </a:xfrm>
      </p:grpSpPr>
      <p:pic>
        <p:nvPicPr>
          <p:cNvPr id="374" name="Google Shape;374;p41"/>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75" name="Google Shape;375;p4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76" name="Google Shape;376;p41"/>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a:t>
            </a:r>
            <a:endParaRPr b="1" i="0" sz="3400" u="none" cap="none" strike="noStrike">
              <a:solidFill>
                <a:srgbClr val="5B0F00"/>
              </a:solidFill>
              <a:latin typeface="Oswald"/>
              <a:ea typeface="Oswald"/>
              <a:cs typeface="Oswald"/>
              <a:sym typeface="Oswald"/>
            </a:endParaRPr>
          </a:p>
        </p:txBody>
      </p:sp>
      <p:sp>
        <p:nvSpPr>
          <p:cNvPr id="377" name="Google Shape;377;p41"/>
          <p:cNvSpPr txBox="1"/>
          <p:nvPr/>
        </p:nvSpPr>
        <p:spPr>
          <a:xfrm>
            <a:off x="340475" y="745200"/>
            <a:ext cx="8149800" cy="409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1. Calculate Chromatic Component (</a:t>
            </a:r>
            <a:r>
              <a:rPr b="1" i="1" lang="en-US" sz="1300" u="none" cap="none" strike="noStrike">
                <a:solidFill>
                  <a:srgbClr val="5B0F00"/>
                </a:solidFill>
                <a:latin typeface="Oswald"/>
                <a:ea typeface="Oswald"/>
                <a:cs typeface="Oswald"/>
                <a:sym typeface="Oswald"/>
              </a:rPr>
              <a:t>C </a:t>
            </a:r>
            <a:r>
              <a:rPr b="1" i="0" lang="en-US" sz="1300" u="none" cap="none" strike="noStrike">
                <a:solidFill>
                  <a:srgbClr val="5B0F00"/>
                </a:solidFill>
                <a:latin typeface="Oswald"/>
                <a:ea typeface="Oswald"/>
                <a:cs typeface="Oswald"/>
                <a:sym typeface="Oswald"/>
              </a:rPr>
              <a: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chroma C, represents the difference between the maximum and minimum RGB components:</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300" u="none" cap="none" strike="noStrike">
                <a:solidFill>
                  <a:srgbClr val="5B0F00"/>
                </a:solidFill>
                <a:latin typeface="Oswald"/>
                <a:ea typeface="Oswald"/>
                <a:cs typeface="Oswald"/>
                <a:sym typeface="Oswald"/>
              </a:rPr>
              <a:t>C = V × S</a:t>
            </a:r>
            <a:br>
              <a:rPr b="1" i="1" lang="en-US" sz="13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2. Find the Intermediate Value (X)</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value X is a scaled component based on the current segment of the hue:</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X = C × ( 1 −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(H/60  mod 2 ) − 1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3. Calculate the Adjustment (m)</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adjustment m, shifts the RGB values to match the value V (the maximum component):</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 m = V − C</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4. Assign RGB Values Based on Hue Segment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hue (</a:t>
            </a:r>
            <a:r>
              <a:rPr b="0" i="1" lang="en-US" sz="1300" u="none" cap="none" strike="noStrike">
                <a:solidFill>
                  <a:srgbClr val="5B0F00"/>
                </a:solidFill>
                <a:latin typeface="Oswald"/>
                <a:ea typeface="Oswald"/>
                <a:cs typeface="Oswald"/>
                <a:sym typeface="Oswald"/>
              </a:rPr>
              <a:t>H </a:t>
            </a:r>
            <a:r>
              <a:rPr b="0" i="0" lang="en-US" sz="1300" u="none" cap="none" strike="noStrike">
                <a:solidFill>
                  <a:srgbClr val="5B0F00"/>
                </a:solidFill>
                <a:latin typeface="Oswald"/>
                <a:ea typeface="Oswald"/>
                <a:cs typeface="Oswald"/>
                <a:sym typeface="Oswald"/>
              </a:rPr>
              <a:t>) determines the sequence of R,G,B. Divide </a:t>
            </a:r>
            <a:r>
              <a:rPr b="0" i="1" lang="en-US" sz="1300" u="none" cap="none" strike="noStrike">
                <a:solidFill>
                  <a:srgbClr val="5B0F00"/>
                </a:solidFill>
                <a:latin typeface="Oswald"/>
                <a:ea typeface="Oswald"/>
                <a:cs typeface="Oswald"/>
                <a:sym typeface="Oswald"/>
              </a:rPr>
              <a:t>H</a:t>
            </a:r>
            <a:r>
              <a:rPr b="0" i="0" lang="en-US" sz="1300" u="none" cap="none" strike="noStrike">
                <a:solidFill>
                  <a:srgbClr val="5B0F00"/>
                </a:solidFill>
                <a:latin typeface="Oswald"/>
                <a:ea typeface="Oswald"/>
                <a:cs typeface="Oswald"/>
                <a:sym typeface="Oswald"/>
              </a:rPr>
              <a:t> into 6 segments (0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−360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a:t>
            </a:r>
            <a:br>
              <a:rPr b="0" i="0" lang="en-US" sz="1300" u="none" cap="none" strike="noStrike">
                <a:solidFill>
                  <a:srgbClr val="5B0F00"/>
                </a:solidFill>
                <a:latin typeface="Oswald"/>
                <a:ea typeface="Oswald"/>
                <a:cs typeface="Oswald"/>
                <a:sym typeface="Oswald"/>
              </a:rPr>
            </a:b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400"/>
              <a:buFont typeface="Arial"/>
              <a:buNone/>
            </a:pPr>
            <a:r>
              <a:t/>
            </a:r>
            <a:endParaRPr b="1" i="1" sz="1400" u="none" cap="none" strike="noStrike">
              <a:solidFill>
                <a:srgbClr val="5B0F00"/>
              </a:solidFill>
              <a:latin typeface="Oswald"/>
              <a:ea typeface="Oswald"/>
              <a:cs typeface="Oswald"/>
              <a:sym typeface="Oswald"/>
            </a:endParaRPr>
          </a:p>
          <a:p>
            <a:pPr indent="0" lvl="0" marL="0" marR="0" rtl="0" algn="l">
              <a:lnSpc>
                <a:spcPct val="100000"/>
              </a:lnSpc>
              <a:spcBef>
                <a:spcPts val="1200"/>
              </a:spcBef>
              <a:spcAft>
                <a:spcPts val="0"/>
              </a:spcAft>
              <a:buClr>
                <a:srgbClr val="000000"/>
              </a:buClr>
              <a:buSzPts val="1300"/>
              <a:buFont typeface="Arial"/>
              <a:buNone/>
            </a:pPr>
            <a:r>
              <a:t/>
            </a:r>
            <a:endParaRPr b="1" i="1" sz="1300" u="none" cap="none" strike="noStrike">
              <a:solidFill>
                <a:srgbClr val="5B0F00"/>
              </a:solidFill>
              <a:latin typeface="Oswald"/>
              <a:ea typeface="Oswald"/>
              <a:cs typeface="Oswald"/>
              <a:sym typeface="Oswald"/>
            </a:endParaRPr>
          </a:p>
        </p:txBody>
      </p:sp>
      <p:pic>
        <p:nvPicPr>
          <p:cNvPr id="378" name="Google Shape;378;p41"/>
          <p:cNvPicPr preferRelativeResize="0"/>
          <p:nvPr/>
        </p:nvPicPr>
        <p:blipFill rotWithShape="1">
          <a:blip r:embed="rId4">
            <a:alphaModFix/>
          </a:blip>
          <a:srcRect b="0" l="0" r="0" t="14317"/>
          <a:stretch/>
        </p:blipFill>
        <p:spPr>
          <a:xfrm>
            <a:off x="5458550" y="1694475"/>
            <a:ext cx="3685451" cy="1272775"/>
          </a:xfrm>
          <a:prstGeom prst="rect">
            <a:avLst/>
          </a:prstGeom>
          <a:noFill/>
          <a:ln>
            <a:noFill/>
          </a:ln>
        </p:spPr>
      </p:pic>
      <p:sp>
        <p:nvSpPr>
          <p:cNvPr id="379" name="Google Shape;379;p41"/>
          <p:cNvSpPr txBox="1"/>
          <p:nvPr/>
        </p:nvSpPr>
        <p:spPr>
          <a:xfrm>
            <a:off x="5697625" y="3590550"/>
            <a:ext cx="3022500" cy="145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5. Adjustment</a:t>
            </a:r>
            <a:endParaRPr b="1"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br>
              <a:rPr b="0" i="0" lang="en-US" sz="1300" u="none" cap="none" strike="noStrike">
                <a:solidFill>
                  <a:srgbClr val="5B0F00"/>
                </a:solidFill>
                <a:latin typeface="Oswald"/>
                <a:ea typeface="Oswald"/>
                <a:cs typeface="Oswald"/>
                <a:sym typeface="Oswald"/>
              </a:rPr>
            </a:br>
            <a:r>
              <a:rPr b="0" i="0" lang="en-US" sz="1300" u="none" cap="none" strike="noStrike">
                <a:solidFill>
                  <a:srgbClr val="5B0F00"/>
                </a:solidFill>
                <a:latin typeface="Oswald"/>
                <a:ea typeface="Oswald"/>
                <a:cs typeface="Oswald"/>
                <a:sym typeface="Oswald"/>
              </a:rPr>
              <a:t>Adjust the RGB values to match the original value (V):</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R</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=(R+m), G</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=(G+m), B</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=(B+m)</a:t>
            </a:r>
            <a:endParaRPr b="1" i="0" sz="1600" u="none" cap="none" strike="noStrike">
              <a:solidFill>
                <a:srgbClr val="5B0F00"/>
              </a:solidFill>
              <a:latin typeface="Oswald"/>
              <a:ea typeface="Oswald"/>
              <a:cs typeface="Oswald"/>
              <a:sym typeface="Oswald"/>
            </a:endParaRPr>
          </a:p>
        </p:txBody>
      </p:sp>
      <p:sp>
        <p:nvSpPr>
          <p:cNvPr id="380" name="Google Shape;380;p4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85" name="Shape 385"/>
        <p:cNvGrpSpPr/>
        <p:nvPr/>
      </p:nvGrpSpPr>
      <p:grpSpPr>
        <a:xfrm>
          <a:off x="0" y="0"/>
          <a:ext cx="0" cy="0"/>
          <a:chOff x="0" y="0"/>
          <a:chExt cx="0" cy="0"/>
        </a:xfrm>
      </p:grpSpPr>
      <p:pic>
        <p:nvPicPr>
          <p:cNvPr id="386" name="Google Shape;386;p42"/>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87" name="Google Shape;387;p4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88" name="Google Shape;388;p42"/>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 Example</a:t>
            </a:r>
            <a:endParaRPr b="1" i="0" sz="3400" u="none" cap="none" strike="noStrike">
              <a:solidFill>
                <a:srgbClr val="5B0F00"/>
              </a:solidFill>
              <a:latin typeface="Oswald"/>
              <a:ea typeface="Oswald"/>
              <a:cs typeface="Oswald"/>
              <a:sym typeface="Oswald"/>
            </a:endParaRPr>
          </a:p>
        </p:txBody>
      </p:sp>
      <p:pic>
        <p:nvPicPr>
          <p:cNvPr id="389" name="Google Shape;389;p42"/>
          <p:cNvPicPr preferRelativeResize="0"/>
          <p:nvPr/>
        </p:nvPicPr>
        <p:blipFill rotWithShape="1">
          <a:blip r:embed="rId4">
            <a:alphaModFix/>
          </a:blip>
          <a:srcRect b="0" l="0" r="0" t="0"/>
          <a:stretch/>
        </p:blipFill>
        <p:spPr>
          <a:xfrm>
            <a:off x="578675" y="1091750"/>
            <a:ext cx="8005202" cy="3731549"/>
          </a:xfrm>
          <a:prstGeom prst="rect">
            <a:avLst/>
          </a:prstGeom>
          <a:noFill/>
          <a:ln>
            <a:noFill/>
          </a:ln>
        </p:spPr>
      </p:pic>
      <p:sp>
        <p:nvSpPr>
          <p:cNvPr id="390" name="Google Shape;390;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5" name="Shape 395"/>
        <p:cNvGrpSpPr/>
        <p:nvPr/>
      </p:nvGrpSpPr>
      <p:grpSpPr>
        <a:xfrm>
          <a:off x="0" y="0"/>
          <a:ext cx="0" cy="0"/>
          <a:chOff x="0" y="0"/>
          <a:chExt cx="0" cy="0"/>
        </a:xfrm>
      </p:grpSpPr>
      <p:pic>
        <p:nvPicPr>
          <p:cNvPr id="396" name="Google Shape;396;p43"/>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97" name="Google Shape;397;p4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98" name="Google Shape;398;p43"/>
          <p:cNvSpPr txBox="1"/>
          <p:nvPr/>
        </p:nvSpPr>
        <p:spPr>
          <a:xfrm>
            <a:off x="2851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 Application</a:t>
            </a:r>
            <a:endParaRPr b="1" i="0" sz="3400" u="none" cap="none" strike="noStrike">
              <a:solidFill>
                <a:srgbClr val="5B0F00"/>
              </a:solidFill>
              <a:latin typeface="Oswald"/>
              <a:ea typeface="Oswald"/>
              <a:cs typeface="Oswald"/>
              <a:sym typeface="Oswald"/>
            </a:endParaRPr>
          </a:p>
        </p:txBody>
      </p:sp>
      <p:sp>
        <p:nvSpPr>
          <p:cNvPr id="399" name="Google Shape;399;p43"/>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The HSV model is widely used in computer graphics for intuitive </a:t>
            </a:r>
            <a:r>
              <a:rPr b="1" i="0" lang="en-US" sz="2200" u="none" cap="none" strike="noStrike">
                <a:solidFill>
                  <a:srgbClr val="5B0F00"/>
                </a:solidFill>
                <a:latin typeface="Oswald"/>
                <a:ea typeface="Oswald"/>
                <a:cs typeface="Oswald"/>
                <a:sym typeface="Oswald"/>
              </a:rPr>
              <a:t>color selection</a:t>
            </a:r>
            <a:r>
              <a:rPr b="0" i="0" lang="en-US" sz="2200" u="none" cap="none" strike="noStrike">
                <a:solidFill>
                  <a:srgbClr val="5B0F00"/>
                </a:solidFill>
                <a:latin typeface="Oswald"/>
                <a:ea typeface="Oswald"/>
                <a:cs typeface="Oswald"/>
                <a:sym typeface="Oswald"/>
              </a:rPr>
              <a:t> in tools like color pickers and gradient design.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 aids in </a:t>
            </a:r>
            <a:r>
              <a:rPr b="1" i="0" lang="en-US" sz="2200" u="none" cap="none" strike="noStrike">
                <a:solidFill>
                  <a:srgbClr val="5B0F00"/>
                </a:solidFill>
                <a:latin typeface="Oswald"/>
                <a:ea typeface="Oswald"/>
                <a:cs typeface="Oswald"/>
                <a:sym typeface="Oswald"/>
              </a:rPr>
              <a:t>image processing</a:t>
            </a:r>
            <a:r>
              <a:rPr b="0" i="0" lang="en-US" sz="2200" u="none" cap="none" strike="noStrike">
                <a:solidFill>
                  <a:srgbClr val="5B0F00"/>
                </a:solidFill>
                <a:latin typeface="Oswald"/>
                <a:ea typeface="Oswald"/>
                <a:cs typeface="Oswald"/>
                <a:sym typeface="Oswald"/>
              </a:rPr>
              <a:t> tasks such as color-based filtering, segmentation, and thresholding.</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In </a:t>
            </a:r>
            <a:r>
              <a:rPr b="1" i="0" lang="en-US" sz="2200" u="none" cap="none" strike="noStrike">
                <a:solidFill>
                  <a:srgbClr val="5B0F00"/>
                </a:solidFill>
                <a:latin typeface="Oswald"/>
                <a:ea typeface="Oswald"/>
                <a:cs typeface="Oswald"/>
                <a:sym typeface="Oswald"/>
              </a:rPr>
              <a:t>shading, lighting, and special effects</a:t>
            </a:r>
            <a:r>
              <a:rPr b="0" i="0" lang="en-US" sz="2200" u="none" cap="none" strike="noStrike">
                <a:solidFill>
                  <a:srgbClr val="5B0F00"/>
                </a:solidFill>
                <a:latin typeface="Oswald"/>
                <a:ea typeface="Oswald"/>
                <a:cs typeface="Oswald"/>
                <a:sym typeface="Oswald"/>
              </a:rPr>
              <a:t>, HSV simplifies dynamic adjustments and smooth color transitions.</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It's critical for </a:t>
            </a:r>
            <a:r>
              <a:rPr b="1" i="0" lang="en-US" sz="2200" u="none" cap="none" strike="noStrike">
                <a:solidFill>
                  <a:srgbClr val="5B0F00"/>
                </a:solidFill>
                <a:latin typeface="Oswald"/>
                <a:ea typeface="Oswald"/>
                <a:cs typeface="Oswald"/>
                <a:sym typeface="Oswald"/>
              </a:rPr>
              <a:t>color grading</a:t>
            </a:r>
            <a:r>
              <a:rPr b="0" i="0" lang="en-US" sz="2200" u="none" cap="none" strike="noStrike">
                <a:solidFill>
                  <a:srgbClr val="5B0F00"/>
                </a:solidFill>
                <a:latin typeface="Oswald"/>
                <a:ea typeface="Oswald"/>
                <a:cs typeface="Oswald"/>
                <a:sym typeface="Oswald"/>
              </a:rPr>
              <a:t> in video editing and </a:t>
            </a:r>
            <a:r>
              <a:rPr b="1" i="0" lang="en-US" sz="2200" u="none" cap="none" strike="noStrike">
                <a:solidFill>
                  <a:srgbClr val="5B0F00"/>
                </a:solidFill>
                <a:latin typeface="Oswald"/>
                <a:ea typeface="Oswald"/>
                <a:cs typeface="Oswald"/>
                <a:sym typeface="Oswald"/>
              </a:rPr>
              <a:t>data visualization</a:t>
            </a:r>
            <a:r>
              <a:rPr b="0" i="0" lang="en-US" sz="2200" u="none" cap="none" strike="noStrike">
                <a:solidFill>
                  <a:srgbClr val="5B0F00"/>
                </a:solidFill>
                <a:latin typeface="Oswald"/>
                <a:ea typeface="Oswald"/>
                <a:cs typeface="Oswald"/>
                <a:sym typeface="Oswald"/>
              </a:rPr>
              <a:t>, mapping values to colors effectively.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Additionally, HSV is essential in </a:t>
            </a:r>
            <a:r>
              <a:rPr b="1" i="0" lang="en-US" sz="2200" u="none" cap="none" strike="noStrike">
                <a:solidFill>
                  <a:srgbClr val="5B0F00"/>
                </a:solidFill>
                <a:latin typeface="Oswald"/>
                <a:ea typeface="Oswald"/>
                <a:cs typeface="Oswald"/>
                <a:sym typeface="Oswald"/>
              </a:rPr>
              <a:t>gaming, AR/VR, and AI applications</a:t>
            </a:r>
            <a:r>
              <a:rPr b="0" i="0" lang="en-US" sz="2200" u="none" cap="none" strike="noStrike">
                <a:solidFill>
                  <a:srgbClr val="5B0F00"/>
                </a:solidFill>
                <a:latin typeface="Oswald"/>
                <a:ea typeface="Oswald"/>
                <a:cs typeface="Oswald"/>
                <a:sym typeface="Oswald"/>
              </a:rPr>
              <a:t>, where it supports object highlighting, procedural content generation, and feature extraction.</a:t>
            </a:r>
            <a:endParaRPr b="0" i="0" sz="2400" u="none" cap="none" strike="noStrike">
              <a:solidFill>
                <a:srgbClr val="5B0F00"/>
              </a:solidFill>
              <a:latin typeface="Oswald"/>
              <a:ea typeface="Oswald"/>
              <a:cs typeface="Oswald"/>
              <a:sym typeface="Oswald"/>
            </a:endParaRPr>
          </a:p>
        </p:txBody>
      </p:sp>
      <p:sp>
        <p:nvSpPr>
          <p:cNvPr id="400" name="Google Shape;400;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05" name="Shape 405"/>
        <p:cNvGrpSpPr/>
        <p:nvPr/>
      </p:nvGrpSpPr>
      <p:grpSpPr>
        <a:xfrm>
          <a:off x="0" y="0"/>
          <a:ext cx="0" cy="0"/>
          <a:chOff x="0" y="0"/>
          <a:chExt cx="0" cy="0"/>
        </a:xfrm>
      </p:grpSpPr>
      <p:pic>
        <p:nvPicPr>
          <p:cNvPr id="406" name="Google Shape;406;p44"/>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07" name="Google Shape;407;p4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08" name="Google Shape;408;p44"/>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sp>
        <p:nvSpPr>
          <p:cNvPr id="409" name="Google Shape;409;p44"/>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360"/>
              </a:spcBef>
              <a:spcAft>
                <a:spcPts val="0"/>
              </a:spcAft>
              <a:buClr>
                <a:srgbClr val="5B0F00"/>
              </a:buClr>
              <a:buSzPts val="2100"/>
              <a:buFont typeface="Oswald"/>
              <a:buAutoNum type="arabicPeriod"/>
            </a:pPr>
            <a:r>
              <a:rPr b="0" i="0" lang="en-US" sz="2300" u="none" cap="none" strike="noStrike">
                <a:solidFill>
                  <a:srgbClr val="5B0F00"/>
                </a:solidFill>
                <a:latin typeface="Oswald"/>
                <a:ea typeface="Oswald"/>
                <a:cs typeface="Oswald"/>
                <a:sym typeface="Oswald"/>
              </a:rPr>
              <a:t>HLS (Hue, Lightness, Saturation) – A cylindrical color model.</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Clr>
                <a:srgbClr val="000000"/>
              </a:buClr>
              <a:buSzPts val="2300"/>
              <a:buFont typeface="Arial"/>
              <a:buNone/>
            </a:pPr>
            <a:r>
              <a:t/>
            </a:r>
            <a:endParaRPr b="0" i="0" sz="2300" u="none" cap="none" strike="noStrike">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b="0" i="0" lang="en-US" sz="2300" u="none" cap="none" strike="noStrike">
                <a:solidFill>
                  <a:srgbClr val="5B0F00"/>
                </a:solidFill>
                <a:latin typeface="Oswald"/>
                <a:ea typeface="Oswald"/>
                <a:cs typeface="Oswald"/>
                <a:sym typeface="Oswald"/>
              </a:rPr>
              <a:t>a. Hue: Angle on the color wheel (e.g., 0° = red, 120° = green, 240° = blue).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b. Lightness: 0=black,1=white,0.5=pure color.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c. Saturation: 0=gray,1=fully vivid color</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Clr>
                <a:srgbClr val="000000"/>
              </a:buClr>
              <a:buSzPts val="2300"/>
              <a:buFont typeface="Arial"/>
              <a:buNone/>
            </a:pPr>
            <a:r>
              <a:t/>
            </a:r>
            <a:endParaRPr b="0" i="0" sz="2300" u="none" cap="none" strike="noStrike">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b="1" i="0" lang="en-US" sz="2300" u="none" cap="none" strike="noStrike">
                <a:solidFill>
                  <a:srgbClr val="5B0F00"/>
                </a:solidFill>
                <a:latin typeface="Oswald"/>
                <a:ea typeface="Oswald"/>
                <a:cs typeface="Oswald"/>
                <a:sym typeface="Oswald"/>
              </a:rPr>
              <a:t>Application: Image editing, color pickers, and design tools. Useful for adjusting brightness without altering color hue.</a:t>
            </a:r>
            <a:endParaRPr b="1" i="0" sz="2900" u="none" cap="none" strike="noStrike">
              <a:solidFill>
                <a:srgbClr val="5B0F00"/>
              </a:solidFill>
              <a:latin typeface="Oswald"/>
              <a:ea typeface="Oswald"/>
              <a:cs typeface="Oswald"/>
              <a:sym typeface="Oswald"/>
            </a:endParaRPr>
          </a:p>
        </p:txBody>
      </p:sp>
      <p:sp>
        <p:nvSpPr>
          <p:cNvPr id="410" name="Google Shape;410;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15" name="Shape 415"/>
        <p:cNvGrpSpPr/>
        <p:nvPr/>
      </p:nvGrpSpPr>
      <p:grpSpPr>
        <a:xfrm>
          <a:off x="0" y="0"/>
          <a:ext cx="0" cy="0"/>
          <a:chOff x="0" y="0"/>
          <a:chExt cx="0" cy="0"/>
        </a:xfrm>
      </p:grpSpPr>
      <p:pic>
        <p:nvPicPr>
          <p:cNvPr id="416" name="Google Shape;416;p45"/>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17" name="Google Shape;417;p4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18" name="Google Shape;418;p45"/>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pic>
        <p:nvPicPr>
          <p:cNvPr id="419" name="Google Shape;419;p45"/>
          <p:cNvPicPr preferRelativeResize="0"/>
          <p:nvPr/>
        </p:nvPicPr>
        <p:blipFill rotWithShape="1">
          <a:blip r:embed="rId4">
            <a:alphaModFix/>
          </a:blip>
          <a:srcRect b="0" l="0" r="0" t="0"/>
          <a:stretch/>
        </p:blipFill>
        <p:spPr>
          <a:xfrm>
            <a:off x="1101300" y="1231349"/>
            <a:ext cx="2600700" cy="3550950"/>
          </a:xfrm>
          <a:prstGeom prst="rect">
            <a:avLst/>
          </a:prstGeom>
          <a:noFill/>
          <a:ln>
            <a:noFill/>
          </a:ln>
        </p:spPr>
      </p:pic>
      <p:pic>
        <p:nvPicPr>
          <p:cNvPr id="420" name="Google Shape;420;p45"/>
          <p:cNvPicPr preferRelativeResize="0"/>
          <p:nvPr/>
        </p:nvPicPr>
        <p:blipFill rotWithShape="1">
          <a:blip r:embed="rId5">
            <a:alphaModFix/>
          </a:blip>
          <a:srcRect b="0" l="0" r="0" t="0"/>
          <a:stretch/>
        </p:blipFill>
        <p:spPr>
          <a:xfrm>
            <a:off x="4502355" y="1231349"/>
            <a:ext cx="2952445" cy="3307750"/>
          </a:xfrm>
          <a:prstGeom prst="rect">
            <a:avLst/>
          </a:prstGeom>
          <a:noFill/>
          <a:ln>
            <a:noFill/>
          </a:ln>
        </p:spPr>
      </p:pic>
      <p:sp>
        <p:nvSpPr>
          <p:cNvPr id="421" name="Google Shape;421;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26" name="Shape 426"/>
        <p:cNvGrpSpPr/>
        <p:nvPr/>
      </p:nvGrpSpPr>
      <p:grpSpPr>
        <a:xfrm>
          <a:off x="0" y="0"/>
          <a:ext cx="0" cy="0"/>
          <a:chOff x="0" y="0"/>
          <a:chExt cx="0" cy="0"/>
        </a:xfrm>
      </p:grpSpPr>
      <p:pic>
        <p:nvPicPr>
          <p:cNvPr id="427" name="Google Shape;427;p46"/>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28" name="Google Shape;428;p4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29" name="Google Shape;429;p46"/>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 HLS Comparison</a:t>
            </a:r>
            <a:endParaRPr b="1" i="0" sz="3400" u="none" cap="none" strike="noStrike">
              <a:solidFill>
                <a:srgbClr val="5B0F00"/>
              </a:solidFill>
              <a:latin typeface="Oswald"/>
              <a:ea typeface="Oswald"/>
              <a:cs typeface="Oswald"/>
              <a:sym typeface="Oswald"/>
            </a:endParaRPr>
          </a:p>
        </p:txBody>
      </p:sp>
      <p:pic>
        <p:nvPicPr>
          <p:cNvPr id="430" name="Google Shape;430;p46"/>
          <p:cNvPicPr preferRelativeResize="0"/>
          <p:nvPr/>
        </p:nvPicPr>
        <p:blipFill rotWithShape="1">
          <a:blip r:embed="rId4">
            <a:alphaModFix/>
          </a:blip>
          <a:srcRect b="0" l="18086" r="0" t="0"/>
          <a:stretch/>
        </p:blipFill>
        <p:spPr>
          <a:xfrm>
            <a:off x="704750" y="682700"/>
            <a:ext cx="7828700" cy="3856601"/>
          </a:xfrm>
          <a:prstGeom prst="rect">
            <a:avLst/>
          </a:prstGeom>
          <a:noFill/>
          <a:ln>
            <a:noFill/>
          </a:ln>
        </p:spPr>
      </p:pic>
      <p:sp>
        <p:nvSpPr>
          <p:cNvPr id="431" name="Google Shape;431;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36" name="Shape 436"/>
        <p:cNvGrpSpPr/>
        <p:nvPr/>
      </p:nvGrpSpPr>
      <p:grpSpPr>
        <a:xfrm>
          <a:off x="0" y="0"/>
          <a:ext cx="0" cy="0"/>
          <a:chOff x="0" y="0"/>
          <a:chExt cx="0" cy="0"/>
        </a:xfrm>
      </p:grpSpPr>
      <p:pic>
        <p:nvPicPr>
          <p:cNvPr id="437" name="Google Shape;437;p47"/>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38" name="Google Shape;438;p4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39" name="Google Shape;439;p47"/>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a:t>
            </a:r>
            <a:endParaRPr b="1" i="0" sz="3400" u="none" cap="none" strike="noStrike">
              <a:solidFill>
                <a:srgbClr val="5B0F00"/>
              </a:solidFill>
              <a:latin typeface="Oswald"/>
              <a:ea typeface="Oswald"/>
              <a:cs typeface="Oswald"/>
              <a:sym typeface="Oswald"/>
            </a:endParaRPr>
          </a:p>
        </p:txBody>
      </p:sp>
      <p:sp>
        <p:nvSpPr>
          <p:cNvPr id="440" name="Google Shape;440;p47"/>
          <p:cNvSpPr txBox="1"/>
          <p:nvPr/>
        </p:nvSpPr>
        <p:spPr>
          <a:xfrm>
            <a:off x="167225" y="771338"/>
            <a:ext cx="8233800" cy="4282500"/>
          </a:xfrm>
          <a:prstGeom prst="rect">
            <a:avLst/>
          </a:prstGeom>
          <a:noFill/>
          <a:ln>
            <a:noFill/>
          </a:ln>
        </p:spPr>
        <p:txBody>
          <a:bodyPr anchorCtr="0" anchor="t" bIns="91425" lIns="91425" spcFirstLastPara="1" rIns="91425" wrap="square" tIns="91425">
            <a:noAutofit/>
          </a:bodyPr>
          <a:lstStyle/>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Normalise</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Compute cmax, cmin, difference</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L = (cmax + cmin) / 2</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Hue calculation :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diff = 0, then h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r then compute H = </a:t>
            </a:r>
            <a:r>
              <a:rPr b="1" i="0" lang="en-US" sz="1800" u="none" cap="none" strike="noStrike">
                <a:solidFill>
                  <a:srgbClr val="5B0F00"/>
                </a:solidFill>
                <a:latin typeface="Oswald"/>
                <a:ea typeface="Oswald"/>
                <a:cs typeface="Oswald"/>
                <a:sym typeface="Oswald"/>
              </a:rPr>
              <a:t>(g – b)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g then compute H = </a:t>
            </a:r>
            <a:r>
              <a:rPr b="1" i="0" lang="en-US" sz="1800" u="none" cap="none" strike="noStrike">
                <a:solidFill>
                  <a:srgbClr val="5B0F00"/>
                </a:solidFill>
                <a:latin typeface="Oswald"/>
                <a:ea typeface="Oswald"/>
                <a:cs typeface="Oswald"/>
                <a:sym typeface="Oswald"/>
              </a:rPr>
              <a:t>2 + (b – r)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b then compute H = </a:t>
            </a:r>
            <a:r>
              <a:rPr b="1" i="0" lang="en-US" sz="1800" u="none" cap="none" strike="noStrike">
                <a:solidFill>
                  <a:srgbClr val="5B0F00"/>
                </a:solidFill>
                <a:latin typeface="Oswald"/>
                <a:ea typeface="Oswald"/>
                <a:cs typeface="Oswald"/>
                <a:sym typeface="Oswald"/>
              </a:rPr>
              <a:t>4 + (r – g)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H = H * 60</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if H &lt; 0 → H = H + 360</a:t>
            </a:r>
            <a:endParaRPr b="1" i="0" sz="32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startAt="4"/>
            </a:pPr>
            <a:r>
              <a:rPr b="0" i="0" lang="en-US" sz="1800" u="none" cap="none" strike="noStrike">
                <a:solidFill>
                  <a:srgbClr val="5B0F00"/>
                </a:solidFill>
                <a:latin typeface="Oswald"/>
                <a:ea typeface="Oswald"/>
                <a:cs typeface="Oswald"/>
                <a:sym typeface="Oswald"/>
              </a:rPr>
              <a:t>Saturation computation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if diff = 0, then S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S = diff/(cmax + cmin)  if L &lt;= 0.5</a:t>
            </a:r>
            <a:endParaRPr b="0" i="0" sz="1800" u="none" cap="none" strike="noStrike">
              <a:solidFill>
                <a:srgbClr val="5B0F00"/>
              </a:solidFill>
              <a:latin typeface="Oswald"/>
              <a:ea typeface="Oswald"/>
              <a:cs typeface="Oswald"/>
              <a:sym typeface="Oswald"/>
            </a:endParaRPr>
          </a:p>
          <a:p>
            <a:pPr indent="-342900" lvl="1" marL="1371600" marR="0" rtl="0" algn="l">
              <a:lnSpc>
                <a:spcPct val="100000"/>
              </a:lnSpc>
              <a:spcBef>
                <a:spcPts val="0"/>
              </a:spcBef>
              <a:spcAft>
                <a:spcPts val="0"/>
              </a:spcAft>
              <a:buClr>
                <a:srgbClr val="5B0F00"/>
              </a:buClr>
              <a:buSzPts val="1800"/>
              <a:buFont typeface="Oswald"/>
              <a:buChar char="○"/>
            </a:pPr>
            <a:r>
              <a:rPr b="0" i="0" lang="en-US" sz="1800" u="none" cap="none" strike="noStrike">
                <a:solidFill>
                  <a:srgbClr val="5B0F00"/>
                </a:solidFill>
                <a:latin typeface="Oswald"/>
                <a:ea typeface="Oswald"/>
                <a:cs typeface="Oswald"/>
                <a:sym typeface="Oswald"/>
              </a:rPr>
              <a:t>S = diff/[2- (cmax + cmin)] if L &gt; 0.5</a:t>
            </a:r>
            <a:endParaRPr b="0" i="0" sz="1800" u="none" cap="none" strike="noStrike">
              <a:solidFill>
                <a:srgbClr val="5B0F00"/>
              </a:solidFill>
              <a:latin typeface="Oswald"/>
              <a:ea typeface="Oswald"/>
              <a:cs typeface="Oswald"/>
              <a:sym typeface="Oswald"/>
            </a:endParaRPr>
          </a:p>
        </p:txBody>
      </p:sp>
      <p:sp>
        <p:nvSpPr>
          <p:cNvPr id="441" name="Google Shape;441;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46" name="Shape 446"/>
        <p:cNvGrpSpPr/>
        <p:nvPr/>
      </p:nvGrpSpPr>
      <p:grpSpPr>
        <a:xfrm>
          <a:off x="0" y="0"/>
          <a:ext cx="0" cy="0"/>
          <a:chOff x="0" y="0"/>
          <a:chExt cx="0" cy="0"/>
        </a:xfrm>
      </p:grpSpPr>
      <p:pic>
        <p:nvPicPr>
          <p:cNvPr id="447" name="Google Shape;447;p48"/>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48" name="Google Shape;448;p4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49" name="Google Shape;449;p48"/>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 Example</a:t>
            </a:r>
            <a:endParaRPr b="1" i="0" sz="3400" u="none" cap="none" strike="noStrike">
              <a:solidFill>
                <a:srgbClr val="5B0F00"/>
              </a:solidFill>
              <a:latin typeface="Oswald"/>
              <a:ea typeface="Oswald"/>
              <a:cs typeface="Oswald"/>
              <a:sym typeface="Oswald"/>
            </a:endParaRPr>
          </a:p>
        </p:txBody>
      </p:sp>
      <p:pic>
        <p:nvPicPr>
          <p:cNvPr id="450" name="Google Shape;450;p48"/>
          <p:cNvPicPr preferRelativeResize="0"/>
          <p:nvPr/>
        </p:nvPicPr>
        <p:blipFill rotWithShape="1">
          <a:blip r:embed="rId4">
            <a:alphaModFix/>
          </a:blip>
          <a:srcRect b="0" l="0" r="0" t="0"/>
          <a:stretch/>
        </p:blipFill>
        <p:spPr>
          <a:xfrm>
            <a:off x="817075" y="845350"/>
            <a:ext cx="7727876" cy="4003176"/>
          </a:xfrm>
          <a:prstGeom prst="rect">
            <a:avLst/>
          </a:prstGeom>
          <a:noFill/>
          <a:ln>
            <a:noFill/>
          </a:ln>
        </p:spPr>
      </p:pic>
      <p:sp>
        <p:nvSpPr>
          <p:cNvPr id="451" name="Google Shape;451;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49"/>
          <p:cNvSpPr txBox="1"/>
          <p:nvPr>
            <p:ph type="title"/>
          </p:nvPr>
        </p:nvSpPr>
        <p:spPr>
          <a:xfrm>
            <a:off x="628650" y="273844"/>
            <a:ext cx="7886700" cy="99420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Arial"/>
              <a:buNone/>
            </a:pPr>
            <a:r>
              <a:rPr b="0" i="0" lang="en-US" sz="4000" u="none">
                <a:latin typeface="Arial"/>
                <a:ea typeface="Arial"/>
                <a:cs typeface="Arial"/>
                <a:sym typeface="Arial"/>
              </a:rPr>
              <a:t>Exercise </a:t>
            </a:r>
            <a:endParaRPr/>
          </a:p>
        </p:txBody>
      </p:sp>
      <p:graphicFrame>
        <p:nvGraphicFramePr>
          <p:cNvPr id="457" name="Google Shape;457;p49"/>
          <p:cNvGraphicFramePr/>
          <p:nvPr/>
        </p:nvGraphicFramePr>
        <p:xfrm>
          <a:off x="628646" y="1737325"/>
          <a:ext cx="3000000" cy="3000000"/>
        </p:xfrm>
        <a:graphic>
          <a:graphicData uri="http://schemas.openxmlformats.org/drawingml/2006/table">
            <a:tbl>
              <a:tblPr>
                <a:noFill/>
                <a:tableStyleId>{85B545E6-7EB7-4A36-8A64-6F5504877A36}</a:tableStyleId>
              </a:tblPr>
              <a:tblGrid>
                <a:gridCol w="518675"/>
                <a:gridCol w="835700"/>
                <a:gridCol w="757425"/>
                <a:gridCol w="743025"/>
                <a:gridCol w="594125"/>
                <a:gridCol w="880525"/>
                <a:gridCol w="1499825"/>
                <a:gridCol w="752900"/>
                <a:gridCol w="617600"/>
                <a:gridCol w="686950"/>
              </a:tblGrid>
              <a:tr h="440200">
                <a:tc gridSpan="10">
                  <a:txBody>
                    <a:bodyPr/>
                    <a:lstStyle/>
                    <a:p>
                      <a:pPr indent="0" lvl="0" marL="0" marR="0" rtl="0" algn="l">
                        <a:lnSpc>
                          <a:spcPct val="115000"/>
                        </a:lnSpc>
                        <a:spcBef>
                          <a:spcPts val="0"/>
                        </a:spcBef>
                        <a:spcAft>
                          <a:spcPts val="0"/>
                        </a:spcAft>
                        <a:buClr>
                          <a:srgbClr val="00000A"/>
                        </a:buClr>
                        <a:buSzPts val="1500"/>
                        <a:buFont typeface="Verdana"/>
                        <a:buNone/>
                      </a:pPr>
                      <a:r>
                        <a:rPr b="0" i="0" lang="en-US" sz="1500" u="none" cap="none" strike="noStrike">
                          <a:solidFill>
                            <a:srgbClr val="00000A"/>
                          </a:solidFill>
                          <a:latin typeface="Verdana"/>
                          <a:ea typeface="Verdana"/>
                          <a:cs typeface="Verdana"/>
                          <a:sym typeface="Verdana"/>
                        </a:rPr>
                        <a:t>Convert the following colors:</a:t>
                      </a:r>
                      <a:endParaRPr sz="1100" u="none" cap="none" strike="noStrike"/>
                    </a:p>
                  </a:txBody>
                  <a:tcPr marT="0" marB="0" marR="18425" marL="18425">
                    <a:lnB cap="flat" cmpd="sng" w="12700">
                      <a:solidFill>
                        <a:srgbClr val="000000"/>
                      </a:solidFill>
                      <a:prstDash val="solid"/>
                      <a:round/>
                      <a:headEnd len="sm" w="sm" type="none"/>
                      <a:tailEnd len="sm" w="sm" type="none"/>
                    </a:lnB>
                    <a:solidFill>
                      <a:srgbClr val="FFFFFF"/>
                    </a:solidFill>
                  </a:tcPr>
                </a:tc>
                <a:tc hMerge="1"/>
                <a:tc hMerge="1"/>
                <a:tc hMerge="1"/>
                <a:tc hMerge="1"/>
                <a:tc hMerge="1"/>
                <a:tc hMerge="1"/>
                <a:tc hMerge="1"/>
                <a:tc hMerge="1"/>
                <a:tc hMerge="1"/>
              </a:tr>
              <a:tr h="667650">
                <a:tc>
                  <a:txBody>
                    <a:bodyPr/>
                    <a:lstStyle/>
                    <a:p>
                      <a:pPr indent="0" lvl="0" marL="0" marR="0" rtl="0" algn="ctr">
                        <a:lnSpc>
                          <a:spcPct val="115000"/>
                        </a:lnSpc>
                        <a:spcBef>
                          <a:spcPts val="0"/>
                        </a:spcBef>
                        <a:spcAft>
                          <a:spcPts val="0"/>
                        </a:spcAft>
                        <a:buClr>
                          <a:srgbClr val="00000A"/>
                        </a:buClr>
                        <a:buSzPts val="1500"/>
                        <a:buFont typeface="Verdana"/>
                        <a:buNone/>
                      </a:pPr>
                      <a:r>
                        <a:t/>
                      </a:r>
                      <a:endParaRPr b="1" sz="1100" u="none" cap="none" strike="noStrike"/>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R</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G</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Hue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Sat.</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Brightness/ Value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C</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M</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Y</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3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1</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0.25</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0.30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236</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100%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06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2</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0.99</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20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3</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0.11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4</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60</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62.5%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80%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0.7</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5</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58" name="Google Shape;458;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 name="Shape 463"/>
        <p:cNvGrpSpPr/>
        <p:nvPr/>
      </p:nvGrpSpPr>
      <p:grpSpPr>
        <a:xfrm>
          <a:off x="0" y="0"/>
          <a:ext cx="0" cy="0"/>
          <a:chOff x="0" y="0"/>
          <a:chExt cx="0" cy="0"/>
        </a:xfrm>
      </p:grpSpPr>
      <p:pic>
        <p:nvPicPr>
          <p:cNvPr id="464" name="Google Shape;464;p50"/>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65" name="Google Shape;465;p5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66" name="Google Shape;466;p50"/>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Reference</a:t>
            </a:r>
            <a:endParaRPr b="1" i="0" sz="3400" u="none" cap="none" strike="noStrike">
              <a:solidFill>
                <a:srgbClr val="5B0F00"/>
              </a:solidFill>
              <a:latin typeface="Oswald"/>
              <a:ea typeface="Oswald"/>
              <a:cs typeface="Oswald"/>
              <a:sym typeface="Oswald"/>
            </a:endParaRPr>
          </a:p>
        </p:txBody>
      </p:sp>
      <p:sp>
        <p:nvSpPr>
          <p:cNvPr id="467" name="Google Shape;467;p50"/>
          <p:cNvSpPr txBox="1"/>
          <p:nvPr/>
        </p:nvSpPr>
        <p:spPr>
          <a:xfrm>
            <a:off x="167225" y="1304751"/>
            <a:ext cx="8233800" cy="31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5B0F00"/>
              </a:buClr>
              <a:buSzPts val="1800"/>
              <a:buFont typeface="Oswald"/>
              <a:buAutoNum type="arabicPeriod"/>
            </a:pPr>
            <a:r>
              <a:rPr b="0" i="0" lang="en-US" sz="2300" u="none" cap="none" strike="noStrike">
                <a:solidFill>
                  <a:schemeClr val="dk1"/>
                </a:solidFill>
                <a:latin typeface="Arial Narrow"/>
                <a:ea typeface="Arial Narrow"/>
                <a:cs typeface="Arial Narrow"/>
                <a:sym typeface="Arial Narrow"/>
              </a:rPr>
              <a:t>Computer Graphics: Principles and Practice: John F. Hughes, James D. Foley, Andries van Dam, Steven K. Feiner (2nd Edition)</a:t>
            </a:r>
            <a:endParaRPr b="0" i="0" sz="23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1000"/>
              </a:spcBef>
              <a:spcAft>
                <a:spcPts val="0"/>
              </a:spcAft>
              <a:buClr>
                <a:srgbClr val="000000"/>
              </a:buClr>
              <a:buSzPts val="2300"/>
              <a:buFont typeface="Arial"/>
              <a:buNone/>
            </a:pPr>
            <a:r>
              <a:rPr b="1" i="0" lang="en-US" sz="2300" u="none" cap="none" strike="noStrike">
                <a:solidFill>
                  <a:schemeClr val="dk1"/>
                </a:solidFill>
                <a:latin typeface="Arial Narrow"/>
                <a:ea typeface="Arial Narrow"/>
                <a:cs typeface="Arial Narrow"/>
                <a:sym typeface="Arial Narrow"/>
              </a:rPr>
              <a:t>Chapter: 13.1(before 13.1.1), 13.3.1, 13.3.2, 13.3.4, 13.3.5</a:t>
            </a:r>
            <a:endParaRPr b="1" i="0" sz="23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100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342900" lvl="0" marL="457200" marR="0" rtl="0" algn="l">
              <a:lnSpc>
                <a:spcPct val="100000"/>
              </a:lnSpc>
              <a:spcBef>
                <a:spcPts val="1000"/>
              </a:spcBef>
              <a:spcAft>
                <a:spcPts val="0"/>
              </a:spcAft>
              <a:buClr>
                <a:srgbClr val="3333CC"/>
              </a:buClr>
              <a:buSzPts val="1800"/>
              <a:buFont typeface="Oswald"/>
              <a:buAutoNum type="arabicPeriod"/>
            </a:pPr>
            <a:r>
              <a:rPr b="0" i="0" lang="en-US" sz="2300" u="none" cap="none" strike="noStrike">
                <a:solidFill>
                  <a:schemeClr val="dk1"/>
                </a:solidFill>
                <a:latin typeface="Arial Narrow"/>
                <a:ea typeface="Arial Narrow"/>
                <a:cs typeface="Arial Narrow"/>
                <a:sym typeface="Arial Narrow"/>
              </a:rPr>
              <a:t>Website Links:</a:t>
            </a:r>
            <a:endParaRPr b="0" i="0" sz="2300" u="none" cap="none" strike="noStrike">
              <a:solidFill>
                <a:schemeClr val="dk1"/>
              </a:solidFill>
              <a:latin typeface="Arial Narrow"/>
              <a:ea typeface="Arial Narrow"/>
              <a:cs typeface="Arial Narrow"/>
              <a:sym typeface="Arial Narrow"/>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4">
                  <a:extLst>
                    <a:ext uri="{A12FA001-AC4F-418D-AE19-62706E023703}">
                      <ahyp:hlinkClr val="tx"/>
                    </a:ext>
                  </a:extLst>
                </a:hlinkClick>
              </a:rPr>
              <a:t>Link 1</a:t>
            </a:r>
            <a:endParaRPr b="0" i="0" sz="1900" u="none" cap="none" strike="noStrike">
              <a:solidFill>
                <a:srgbClr val="3333CC"/>
              </a:solidFill>
              <a:latin typeface="Arial"/>
              <a:ea typeface="Arial"/>
              <a:cs typeface="Arial"/>
              <a:sym typeface="Arial"/>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5">
                  <a:extLst>
                    <a:ext uri="{A12FA001-AC4F-418D-AE19-62706E023703}">
                      <ahyp:hlinkClr val="tx"/>
                    </a:ext>
                  </a:extLst>
                </a:hlinkClick>
              </a:rPr>
              <a:t>Link 2</a:t>
            </a:r>
            <a:endParaRPr b="0" i="0" sz="1900" u="none" cap="none" strike="noStrike">
              <a:solidFill>
                <a:srgbClr val="3333CC"/>
              </a:solidFill>
              <a:latin typeface="Arial"/>
              <a:ea typeface="Arial"/>
              <a:cs typeface="Arial"/>
              <a:sym typeface="Arial"/>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6">
                  <a:extLst>
                    <a:ext uri="{A12FA001-AC4F-418D-AE19-62706E023703}">
                      <ahyp:hlinkClr val="tx"/>
                    </a:ext>
                  </a:extLst>
                </a:hlinkClick>
              </a:rPr>
              <a:t>Link 3</a:t>
            </a:r>
            <a:endParaRPr b="0" i="0" sz="10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100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5B0F00"/>
              </a:solidFill>
              <a:latin typeface="Oswald"/>
              <a:ea typeface="Oswald"/>
              <a:cs typeface="Oswald"/>
              <a:sym typeface="Oswald"/>
            </a:endParaRPr>
          </a:p>
        </p:txBody>
      </p:sp>
      <p:sp>
        <p:nvSpPr>
          <p:cNvPr id="468" name="Google Shape;468;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