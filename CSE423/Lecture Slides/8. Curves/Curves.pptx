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7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</p:sldIdLst>
  <p:sldSz cy="6858000" cx="12192000"/>
  <p:notesSz cx="6858000" cy="9144000"/>
  <p:embeddedFontLst>
    <p:embeddedFont>
      <p:font typeface="Garamond"/>
      <p:regular r:id="rId71"/>
      <p:bold r:id="rId72"/>
      <p:italic r:id="rId73"/>
      <p:boldItalic r:id="rId74"/>
    </p:embeddedFont>
    <p:embeddedFont>
      <p:font typeface="Pacifico"/>
      <p:regular r:id="rId7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73" Type="http://schemas.openxmlformats.org/officeDocument/2006/relationships/font" Target="fonts/Garamond-italic.fntdata"/><Relationship Id="rId72" Type="http://schemas.openxmlformats.org/officeDocument/2006/relationships/font" Target="fonts/Garamond-bold.fntdata"/><Relationship Id="rId31" Type="http://schemas.openxmlformats.org/officeDocument/2006/relationships/slide" Target="slides/slide27.xml"/><Relationship Id="rId75" Type="http://schemas.openxmlformats.org/officeDocument/2006/relationships/font" Target="fonts/Pacifico-regular.fntdata"/><Relationship Id="rId30" Type="http://schemas.openxmlformats.org/officeDocument/2006/relationships/slide" Target="slides/slide26.xml"/><Relationship Id="rId74" Type="http://schemas.openxmlformats.org/officeDocument/2006/relationships/font" Target="fonts/Garamond-boldItalic.fntdata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71" Type="http://schemas.openxmlformats.org/officeDocument/2006/relationships/font" Target="fonts/Garamond-regular.fntdata"/><Relationship Id="rId70" Type="http://schemas.openxmlformats.org/officeDocument/2006/relationships/slide" Target="slides/slide66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20" Type="http://schemas.openxmlformats.org/officeDocument/2006/relationships/slide" Target="slides/slide16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22" Type="http://schemas.openxmlformats.org/officeDocument/2006/relationships/slide" Target="slides/slide18.xml"/><Relationship Id="rId66" Type="http://schemas.openxmlformats.org/officeDocument/2006/relationships/slide" Target="slides/slide62.xml"/><Relationship Id="rId21" Type="http://schemas.openxmlformats.org/officeDocument/2006/relationships/slide" Target="slides/slide17.xml"/><Relationship Id="rId65" Type="http://schemas.openxmlformats.org/officeDocument/2006/relationships/slide" Target="slides/slide61.xml"/><Relationship Id="rId24" Type="http://schemas.openxmlformats.org/officeDocument/2006/relationships/slide" Target="slides/slide20.xml"/><Relationship Id="rId68" Type="http://schemas.openxmlformats.org/officeDocument/2006/relationships/slide" Target="slides/slide64.xml"/><Relationship Id="rId23" Type="http://schemas.openxmlformats.org/officeDocument/2006/relationships/slide" Target="slides/slide19.xml"/><Relationship Id="rId67" Type="http://schemas.openxmlformats.org/officeDocument/2006/relationships/slide" Target="slides/slide63.xml"/><Relationship Id="rId60" Type="http://schemas.openxmlformats.org/officeDocument/2006/relationships/slide" Target="slides/slide56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69" Type="http://schemas.openxmlformats.org/officeDocument/2006/relationships/slide" Target="slides/slide6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54f62525e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g354f62525e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g354f62525e6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4524542d204bdc5f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" name="Google Shape;213;g4524542d204bdc5f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4524542d204bdc5f_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g4524542d204bdc5f_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0" name="Google Shape;23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" name="Google Shape;23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0" name="Google Shape;25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7" name="Google Shape;25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4" name="Google Shape;26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54879ed49f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9" name="Google Shape;279;g354879ed49f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54879ed49f_1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7" name="Google Shape;287;g354879ed49f_1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54879ed49f_1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g354879ed49f_1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4" name="Google Shape;294;g354879ed49f_1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54879ed49f_1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g354879ed49f_1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1" name="Google Shape;301;g354879ed49f_1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54879ed49f_1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g354879ed49f_1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8" name="Google Shape;308;g354879ed49f_1_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4" name="Google Shape;31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8" name="Google Shape;33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5" name="Google Shape;34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2" name="Google Shape;35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9" name="Google Shape;35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54879ed49f_1_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6" name="Google Shape;366;g354879ed49f_1_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3" name="Google Shape;37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0" name="Google Shape;390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8" name="Google Shape;398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8" name="Google Shape;40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5" name="Google Shape;41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1" name="Google Shape;421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7" name="Google Shape;427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4" name="Google Shape;434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1" name="Google Shape;441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8" name="Google Shape;448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6343d5dc69b7df39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6" name="Google Shape;456;g6343d5dc69b7df39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6343d5dc69b7df39_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4" name="Google Shape;484;g6343d5dc69b7df39_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0" name="Google Shape;510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7" name="Google Shape;517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4" name="Google Shape;524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1" name="Google Shape;531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9" name="Google Shape;539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5" name="Google Shape;545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3" name="Google Shape;553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1" name="Google Shape;561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9" name="Google Shape;569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6" name="Google Shape;576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3" name="Google Shape;583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1" name="Google Shape;591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8" name="Google Shape;598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1" name="Google Shape;611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0" name="Google Shape;620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8" name="Google Shape;628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6" name="Google Shape;636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4" name="Google Shape;644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2" name="Google Shape;652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8" name="Google Shape;668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5" name="Google Shape;675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2" name="Google Shape;682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0" name="Google Shape;690;p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1" name="Google Shape;691;p5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0" name="Google Shape;700;p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1" name="Google Shape;701;p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9" name="Google Shape;719;p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0" name="Google Shape;720;p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8" name="Google Shape;738;p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9" name="Google Shape;739;p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0" name="Google Shape;750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6" name="Google Shape;756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3" name="Google Shape;763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" name="Google Shape;2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" name="Google Shape;30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7" name="Google Shape;37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5" name="Google Shape;45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 showMasterSp="0">
  <p:cSld name="Section Head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1307870" y="1267730"/>
            <a:ext cx="9576300" cy="4308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ctr">
              <a:srgbClr val="000000">
                <a:alpha val="6549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1447801" y="1411615"/>
            <a:ext cx="9296400" cy="4034700"/>
          </a:xfrm>
          <a:prstGeom prst="rect">
            <a:avLst/>
          </a:prstGeom>
          <a:noFill/>
          <a:ln cap="sq" cmpd="sng" w="952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5135880" y="1267730"/>
            <a:ext cx="1920300" cy="731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6"/>
          <p:cNvSpPr txBox="1"/>
          <p:nvPr>
            <p:ph type="title"/>
          </p:nvPr>
        </p:nvSpPr>
        <p:spPr>
          <a:xfrm>
            <a:off x="1629156" y="2275165"/>
            <a:ext cx="8933700" cy="24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800"/>
              <a:buFont typeface="Avenir"/>
              <a:buNone/>
              <a:defRPr sz="6800" cap="none">
                <a:solidFill>
                  <a:srgbClr val="262626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54" name="Google Shape;54;p6"/>
          <p:cNvGrpSpPr/>
          <p:nvPr/>
        </p:nvGrpSpPr>
        <p:grpSpPr>
          <a:xfrm>
            <a:off x="5250180" y="1267730"/>
            <a:ext cx="1691700" cy="615934"/>
            <a:chOff x="5250180" y="1267730"/>
            <a:chExt cx="1691700" cy="615934"/>
          </a:xfrm>
        </p:grpSpPr>
        <p:cxnSp>
          <p:nvCxnSpPr>
            <p:cNvPr id="55" name="Google Shape;55;p6"/>
            <p:cNvCxnSpPr/>
            <p:nvPr/>
          </p:nvCxnSpPr>
          <p:spPr>
            <a:xfrm>
              <a:off x="5250180" y="1267730"/>
              <a:ext cx="0" cy="612600"/>
            </a:xfrm>
            <a:prstGeom prst="straightConnector1">
              <a:avLst/>
            </a:prstGeom>
            <a:solidFill>
              <a:srgbClr val="262626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6" name="Google Shape;56;p6"/>
            <p:cNvCxnSpPr/>
            <p:nvPr/>
          </p:nvCxnSpPr>
          <p:spPr>
            <a:xfrm>
              <a:off x="6941820" y="1267730"/>
              <a:ext cx="0" cy="612600"/>
            </a:xfrm>
            <a:prstGeom prst="straightConnector1">
              <a:avLst/>
            </a:prstGeom>
            <a:solidFill>
              <a:srgbClr val="262626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7" name="Google Shape;57;p6"/>
            <p:cNvCxnSpPr/>
            <p:nvPr/>
          </p:nvCxnSpPr>
          <p:spPr>
            <a:xfrm>
              <a:off x="5250180" y="1883664"/>
              <a:ext cx="1691700" cy="0"/>
            </a:xfrm>
            <a:prstGeom prst="straightConnector1">
              <a:avLst/>
            </a:prstGeom>
            <a:solidFill>
              <a:srgbClr val="262626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58" name="Google Shape;58;p6"/>
          <p:cNvSpPr txBox="1"/>
          <p:nvPr>
            <p:ph idx="10" type="dt"/>
          </p:nvPr>
        </p:nvSpPr>
        <p:spPr>
          <a:xfrm>
            <a:off x="5318760" y="1344502"/>
            <a:ext cx="1554600" cy="49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"/>
          <p:cNvSpPr txBox="1"/>
          <p:nvPr>
            <p:ph idx="11" type="ftr"/>
          </p:nvPr>
        </p:nvSpPr>
        <p:spPr>
          <a:xfrm>
            <a:off x="1629157" y="5177408"/>
            <a:ext cx="566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"/>
          <p:cNvSpPr txBox="1"/>
          <p:nvPr>
            <p:ph idx="12" type="sldNum"/>
          </p:nvPr>
        </p:nvSpPr>
        <p:spPr>
          <a:xfrm>
            <a:off x="8604504" y="5177408"/>
            <a:ext cx="1958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262626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262626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262626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262626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262626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262626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262626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262626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262626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4" name="Google Shape;64;p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7" name="Google Shape;6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8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8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7" name="Google Shape;77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9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9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3" name="Google Shape;83;p9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9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5" name="Google Shape;85;p9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9" name="Google Shape;89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0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0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95" name="Google Shape;95;p10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6" name="Google Shape;96;p1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9" name="Google Shape;99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1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1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11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6" name="Google Shape;106;p1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9" name="Google Shape;109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2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1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8" name="Google Shape;118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3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1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7" name="Google Shape;127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 showMasterSp="0">
  <p:cSld name="OBJECT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67639" y="6068566"/>
            <a:ext cx="780288" cy="717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5285" y="2941320"/>
            <a:ext cx="9671197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4"/>
          <p:cNvSpPr txBox="1"/>
          <p:nvPr>
            <p:ph type="title"/>
          </p:nvPr>
        </p:nvSpPr>
        <p:spPr>
          <a:xfrm>
            <a:off x="1032509" y="2794761"/>
            <a:ext cx="101271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4"/>
          <p:cNvSpPr txBox="1"/>
          <p:nvPr>
            <p:ph idx="11" type="ftr"/>
          </p:nvPr>
        </p:nvSpPr>
        <p:spPr>
          <a:xfrm>
            <a:off x="4145280" y="6377940"/>
            <a:ext cx="390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4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4"/>
          <p:cNvSpPr txBox="1"/>
          <p:nvPr>
            <p:ph idx="12" type="sldNum"/>
          </p:nvPr>
        </p:nvSpPr>
        <p:spPr>
          <a:xfrm>
            <a:off x="8778240" y="6377940"/>
            <a:ext cx="280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Title and Conten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5"/>
          <p:cNvSpPr txBox="1"/>
          <p:nvPr>
            <p:ph type="title"/>
          </p:nvPr>
        </p:nvSpPr>
        <p:spPr>
          <a:xfrm>
            <a:off x="1032509" y="2794761"/>
            <a:ext cx="101271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15"/>
          <p:cNvSpPr txBox="1"/>
          <p:nvPr>
            <p:ph idx="1" type="body"/>
          </p:nvPr>
        </p:nvSpPr>
        <p:spPr>
          <a:xfrm>
            <a:off x="916939" y="1802638"/>
            <a:ext cx="10358100" cy="22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15"/>
          <p:cNvSpPr txBox="1"/>
          <p:nvPr>
            <p:ph idx="11" type="ftr"/>
          </p:nvPr>
        </p:nvSpPr>
        <p:spPr>
          <a:xfrm>
            <a:off x="4145280" y="6377940"/>
            <a:ext cx="390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15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5"/>
          <p:cNvSpPr txBox="1"/>
          <p:nvPr>
            <p:ph idx="12" type="sldNum"/>
          </p:nvPr>
        </p:nvSpPr>
        <p:spPr>
          <a:xfrm>
            <a:off x="8778240" y="6377940"/>
            <a:ext cx="280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 Slide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 txBox="1"/>
          <p:nvPr>
            <p:ph type="ctrTitle"/>
          </p:nvPr>
        </p:nvSpPr>
        <p:spPr>
          <a:xfrm>
            <a:off x="914400" y="2125980"/>
            <a:ext cx="10363200" cy="14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16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16"/>
          <p:cNvSpPr txBox="1"/>
          <p:nvPr>
            <p:ph idx="11" type="ftr"/>
          </p:nvPr>
        </p:nvSpPr>
        <p:spPr>
          <a:xfrm>
            <a:off x="4145280" y="6377940"/>
            <a:ext cx="390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16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16"/>
          <p:cNvSpPr txBox="1"/>
          <p:nvPr>
            <p:ph idx="12" type="sldNum"/>
          </p:nvPr>
        </p:nvSpPr>
        <p:spPr>
          <a:xfrm>
            <a:off x="8778240" y="6377940"/>
            <a:ext cx="280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7"/>
          <p:cNvSpPr txBox="1"/>
          <p:nvPr>
            <p:ph idx="11" type="ftr"/>
          </p:nvPr>
        </p:nvSpPr>
        <p:spPr>
          <a:xfrm>
            <a:off x="4145280" y="6377940"/>
            <a:ext cx="390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17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17"/>
          <p:cNvSpPr txBox="1"/>
          <p:nvPr>
            <p:ph idx="12" type="sldNum"/>
          </p:nvPr>
        </p:nvSpPr>
        <p:spPr>
          <a:xfrm>
            <a:off x="8778240" y="6377940"/>
            <a:ext cx="280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2">
  <p:cSld name="OBJECT_2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8"/>
          <p:cNvSpPr txBox="1"/>
          <p:nvPr>
            <p:ph idx="1" type="body"/>
          </p:nvPr>
        </p:nvSpPr>
        <p:spPr>
          <a:xfrm>
            <a:off x="609600" y="1600200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56" name="Google Shape;156;p18"/>
          <p:cNvSpPr txBox="1"/>
          <p:nvPr>
            <p:ph idx="10" type="dt"/>
          </p:nvPr>
        </p:nvSpPr>
        <p:spPr>
          <a:xfrm>
            <a:off x="609600" y="6356350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18"/>
          <p:cNvSpPr txBox="1"/>
          <p:nvPr>
            <p:ph idx="11" type="ftr"/>
          </p:nvPr>
        </p:nvSpPr>
        <p:spPr>
          <a:xfrm>
            <a:off x="4165600" y="6356350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18"/>
          <p:cNvSpPr txBox="1"/>
          <p:nvPr>
            <p:ph idx="12" type="sldNum"/>
          </p:nvPr>
        </p:nvSpPr>
        <p:spPr>
          <a:xfrm>
            <a:off x="8737600" y="6356350"/>
            <a:ext cx="284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3">
  <p:cSld name="OBJECT_3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9"/>
          <p:cNvSpPr txBox="1"/>
          <p:nvPr>
            <p:ph idx="1" type="body"/>
          </p:nvPr>
        </p:nvSpPr>
        <p:spPr>
          <a:xfrm>
            <a:off x="609600" y="1600200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62" name="Google Shape;162;p19"/>
          <p:cNvSpPr txBox="1"/>
          <p:nvPr>
            <p:ph idx="10" type="dt"/>
          </p:nvPr>
        </p:nvSpPr>
        <p:spPr>
          <a:xfrm>
            <a:off x="609600" y="6356350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19"/>
          <p:cNvSpPr txBox="1"/>
          <p:nvPr>
            <p:ph idx="11" type="ftr"/>
          </p:nvPr>
        </p:nvSpPr>
        <p:spPr>
          <a:xfrm>
            <a:off x="4165600" y="6356350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9"/>
          <p:cNvSpPr txBox="1"/>
          <p:nvPr>
            <p:ph idx="12" type="sldNum"/>
          </p:nvPr>
        </p:nvSpPr>
        <p:spPr>
          <a:xfrm>
            <a:off x="8737600" y="6356350"/>
            <a:ext cx="284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 1">
  <p:cSld name="OBJECT_1_1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0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20"/>
          <p:cNvSpPr txBox="1"/>
          <p:nvPr>
            <p:ph idx="1" type="body"/>
          </p:nvPr>
        </p:nvSpPr>
        <p:spPr>
          <a:xfrm>
            <a:off x="609600" y="1600200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68" name="Google Shape;168;p20"/>
          <p:cNvSpPr txBox="1"/>
          <p:nvPr>
            <p:ph idx="10" type="dt"/>
          </p:nvPr>
        </p:nvSpPr>
        <p:spPr>
          <a:xfrm>
            <a:off x="609600" y="6356350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20"/>
          <p:cNvSpPr txBox="1"/>
          <p:nvPr>
            <p:ph idx="11" type="ftr"/>
          </p:nvPr>
        </p:nvSpPr>
        <p:spPr>
          <a:xfrm>
            <a:off x="4165600" y="6356350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20"/>
          <p:cNvSpPr txBox="1"/>
          <p:nvPr>
            <p:ph idx="12" type="sldNum"/>
          </p:nvPr>
        </p:nvSpPr>
        <p:spPr>
          <a:xfrm>
            <a:off x="8737600" y="6356350"/>
            <a:ext cx="284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jpg"/><Relationship Id="rId4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2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Relationship Id="rId4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image" Target="../media/image33.png"/><Relationship Id="rId7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geogebra.org/m/cAsHbXEU" TargetMode="External"/><Relationship Id="rId4" Type="http://schemas.openxmlformats.org/officeDocument/2006/relationships/hyperlink" Target="https://www.geogebra.org/m/cAsHbXEU" TargetMode="External"/><Relationship Id="rId5" Type="http://schemas.openxmlformats.org/officeDocument/2006/relationships/hyperlink" Target="https://christopherchudzicki.github.io/MathBox-Demos/parametric_curves_3D.html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2.png"/><Relationship Id="rId4" Type="http://schemas.openxmlformats.org/officeDocument/2006/relationships/image" Target="../media/image1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8.png"/><Relationship Id="rId4" Type="http://schemas.openxmlformats.org/officeDocument/2006/relationships/image" Target="../media/image50.png"/><Relationship Id="rId5" Type="http://schemas.openxmlformats.org/officeDocument/2006/relationships/image" Target="../media/image4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5.png"/><Relationship Id="rId4" Type="http://schemas.openxmlformats.org/officeDocument/2006/relationships/image" Target="../media/image5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5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3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hyperlink" Target="https://www.desmos.com/calculator/d1ofwre0fr" TargetMode="External"/><Relationship Id="rId4" Type="http://schemas.openxmlformats.org/officeDocument/2006/relationships/hyperlink" Target="https://www.jasondavies.com/animated-bezier/" TargetMode="Externa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hyperlink" Target="https://editor.p5js.org/shonku/sketches/vonrqpOhd" TargetMode="Externa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4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1.png"/><Relationship Id="rId4" Type="http://schemas.openxmlformats.org/officeDocument/2006/relationships/image" Target="../media/image40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6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6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hyperlink" Target="https://editor.p5js.org/shonku/sketches/9dlzE16jW" TargetMode="External"/><Relationship Id="rId4" Type="http://schemas.openxmlformats.org/officeDocument/2006/relationships/image" Target="../media/image60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37.png"/><Relationship Id="rId4" Type="http://schemas.openxmlformats.org/officeDocument/2006/relationships/hyperlink" Target="https://math.stackexchange.com/questions/229354/proof-that-the-convex-hull-of-a-finite-set-s-is-equal-to-all-convex-combinations" TargetMode="Externa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41.png"/><Relationship Id="rId4" Type="http://schemas.openxmlformats.org/officeDocument/2006/relationships/image" Target="../media/image48.png"/><Relationship Id="rId5" Type="http://schemas.openxmlformats.org/officeDocument/2006/relationships/image" Target="../media/image42.png"/><Relationship Id="rId6" Type="http://schemas.openxmlformats.org/officeDocument/2006/relationships/image" Target="../media/image55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63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9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64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hyperlink" Target="https://math.hws.edu/eck/cs424/notes2013/canvas/bezier.html" TargetMode="External"/><Relationship Id="rId4" Type="http://schemas.openxmlformats.org/officeDocument/2006/relationships/hyperlink" Target="https://editor.p5js.org/shonku/sketches/1wWKxEu0j" TargetMode="External"/><Relationship Id="rId5" Type="http://schemas.openxmlformats.org/officeDocument/2006/relationships/image" Target="../media/image62.png"/></Relationships>
</file>

<file path=ppt/slides/_rels/slide61.xml.rels><?xml version="1.0" encoding="UTF-8" standalone="yes"?><Relationships xmlns="http://schemas.openxmlformats.org/package/2006/relationships"><Relationship Id="rId11" Type="http://schemas.openxmlformats.org/officeDocument/2006/relationships/image" Target="../media/image68.png"/><Relationship Id="rId10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58.png"/><Relationship Id="rId4" Type="http://schemas.openxmlformats.org/officeDocument/2006/relationships/image" Target="../media/image62.png"/><Relationship Id="rId9" Type="http://schemas.openxmlformats.org/officeDocument/2006/relationships/image" Target="../media/image69.png"/><Relationship Id="rId5" Type="http://schemas.openxmlformats.org/officeDocument/2006/relationships/image" Target="../media/image49.png"/><Relationship Id="rId6" Type="http://schemas.openxmlformats.org/officeDocument/2006/relationships/image" Target="../media/image66.png"/><Relationship Id="rId7" Type="http://schemas.openxmlformats.org/officeDocument/2006/relationships/image" Target="../media/image61.png"/><Relationship Id="rId8" Type="http://schemas.openxmlformats.org/officeDocument/2006/relationships/image" Target="../media/image53.png"/></Relationships>
</file>

<file path=ppt/slides/_rels/slide62.xml.rels><?xml version="1.0" encoding="UTF-8" standalone="yes"?><Relationships xmlns="http://schemas.openxmlformats.org/package/2006/relationships"><Relationship Id="rId11" Type="http://schemas.openxmlformats.org/officeDocument/2006/relationships/image" Target="../media/image68.png"/><Relationship Id="rId10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71.png"/><Relationship Id="rId4" Type="http://schemas.openxmlformats.org/officeDocument/2006/relationships/image" Target="../media/image62.png"/><Relationship Id="rId9" Type="http://schemas.openxmlformats.org/officeDocument/2006/relationships/image" Target="../media/image69.png"/><Relationship Id="rId5" Type="http://schemas.openxmlformats.org/officeDocument/2006/relationships/image" Target="../media/image49.png"/><Relationship Id="rId6" Type="http://schemas.openxmlformats.org/officeDocument/2006/relationships/image" Target="../media/image66.png"/><Relationship Id="rId7" Type="http://schemas.openxmlformats.org/officeDocument/2006/relationships/image" Target="../media/image61.png"/><Relationship Id="rId8" Type="http://schemas.openxmlformats.org/officeDocument/2006/relationships/image" Target="../media/image53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72.png"/><Relationship Id="rId4" Type="http://schemas.openxmlformats.org/officeDocument/2006/relationships/image" Target="../media/image67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hyperlink" Target="https://pages.graphics.cs.wisc.edu/559-sp22/" TargetMode="External"/><Relationship Id="rId4" Type="http://schemas.openxmlformats.org/officeDocument/2006/relationships/hyperlink" Target="https://www.cs.utexas.edu/users/fussell/courses/cs384g-fall2011/lectures/lecture17-Subdivision_curves.pdf" TargetMode="External"/><Relationship Id="rId5" Type="http://schemas.openxmlformats.org/officeDocument/2006/relationships/hyperlink" Target="https://www.cs.utexas.edu/users/fussell/courses/cs384g-fall2011/lectures/lecture17-Subdivision_curves.pdf" TargetMode="Externa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hyperlink" Target="https://www.youtube.com/watch?v=aVwxzDHniEw" TargetMode="External"/><Relationship Id="rId4" Type="http://schemas.openxmlformats.org/officeDocument/2006/relationships/hyperlink" Target="https://www.youtube.com/watch?v=jvPPXbo87ds" TargetMode="External"/><Relationship Id="rId5" Type="http://schemas.openxmlformats.org/officeDocument/2006/relationships/image" Target="../media/image70.png"/><Relationship Id="rId6" Type="http://schemas.openxmlformats.org/officeDocument/2006/relationships/image" Target="../media/image6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1"/>
          <p:cNvSpPr/>
          <p:nvPr/>
        </p:nvSpPr>
        <p:spPr>
          <a:xfrm>
            <a:off x="1307870" y="1267730"/>
            <a:ext cx="9576300" cy="4308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ctr">
              <a:srgbClr val="000000">
                <a:alpha val="6549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1"/>
          <p:cNvSpPr/>
          <p:nvPr/>
        </p:nvSpPr>
        <p:spPr>
          <a:xfrm>
            <a:off x="1447801" y="1411615"/>
            <a:ext cx="9296400" cy="4034700"/>
          </a:xfrm>
          <a:prstGeom prst="rect">
            <a:avLst/>
          </a:prstGeom>
          <a:noFill/>
          <a:ln cap="sq" cmpd="sng" w="952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1"/>
          <p:cNvSpPr txBox="1"/>
          <p:nvPr>
            <p:ph type="ctrTitle"/>
          </p:nvPr>
        </p:nvSpPr>
        <p:spPr>
          <a:xfrm>
            <a:off x="1806157" y="2115013"/>
            <a:ext cx="8649600" cy="25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800"/>
              <a:buFont typeface="Avenir"/>
              <a:buNone/>
            </a:pPr>
            <a:r>
              <a:rPr b="1" lang="en-US" sz="6800">
                <a:latin typeface="Pacifico"/>
                <a:ea typeface="Pacifico"/>
                <a:cs typeface="Pacifico"/>
                <a:sym typeface="Pacifico"/>
              </a:rPr>
              <a:t>CURVES</a:t>
            </a:r>
            <a:endParaRPr b="1">
              <a:latin typeface="Pacifico"/>
              <a:ea typeface="Pacifico"/>
              <a:cs typeface="Pacifico"/>
              <a:sym typeface="Pacifico"/>
            </a:endParaRPr>
          </a:p>
        </p:txBody>
      </p:sp>
      <p:cxnSp>
        <p:nvCxnSpPr>
          <p:cNvPr id="179" name="Google Shape;179;p21"/>
          <p:cNvCxnSpPr/>
          <p:nvPr/>
        </p:nvCxnSpPr>
        <p:spPr>
          <a:xfrm>
            <a:off x="5250180" y="1267730"/>
            <a:ext cx="0" cy="640200"/>
          </a:xfrm>
          <a:prstGeom prst="straightConnector1">
            <a:avLst/>
          </a:prstGeom>
          <a:solidFill>
            <a:srgbClr val="262626"/>
          </a:solidFill>
          <a:ln cap="flat" cmpd="sng" w="952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0" name="Google Shape;180;p21"/>
          <p:cNvCxnSpPr/>
          <p:nvPr/>
        </p:nvCxnSpPr>
        <p:spPr>
          <a:xfrm>
            <a:off x="6941820" y="1267730"/>
            <a:ext cx="0" cy="640200"/>
          </a:xfrm>
          <a:prstGeom prst="straightConnector1">
            <a:avLst/>
          </a:prstGeom>
          <a:solidFill>
            <a:srgbClr val="262626"/>
          </a:solidFill>
          <a:ln cap="flat" cmpd="sng" w="952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1" name="Google Shape;181;p21"/>
          <p:cNvCxnSpPr/>
          <p:nvPr/>
        </p:nvCxnSpPr>
        <p:spPr>
          <a:xfrm>
            <a:off x="5250180" y="1913025"/>
            <a:ext cx="1691700" cy="0"/>
          </a:xfrm>
          <a:prstGeom prst="straightConnector1">
            <a:avLst/>
          </a:prstGeom>
          <a:solidFill>
            <a:srgbClr val="262626"/>
          </a:solidFill>
          <a:ln cap="flat" cmpd="sng" w="952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2" name="Google Shape;182;p2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ew York 3D Rollercoaster Rush Review - IGN" id="193" name="Google Shape;19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63274" y="1769706"/>
            <a:ext cx="4400939" cy="33007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oad Builder on Steam" id="194" name="Google Shape;19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7787" y="1769706"/>
            <a:ext cx="5884507" cy="331003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Curve</a:t>
            </a:r>
            <a:endParaRPr/>
          </a:p>
        </p:txBody>
      </p:sp>
      <p:sp>
        <p:nvSpPr>
          <p:cNvPr id="201" name="Google Shape;201;p2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790" r="0" t="-79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 </a:t>
            </a:r>
            <a:endParaRPr/>
          </a:p>
        </p:txBody>
      </p:sp>
      <p:pic>
        <p:nvPicPr>
          <p:cNvPr descr="New York 3D Rollercoaster Rush Review - IGN" id="202" name="Google Shape;20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9524" y="3429000"/>
            <a:ext cx="3853543" cy="2890157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 sz="4900"/>
              <a:t>Curve Representations (Types)</a:t>
            </a:r>
            <a:endParaRPr sz="4900"/>
          </a:p>
        </p:txBody>
      </p:sp>
      <p:sp>
        <p:nvSpPr>
          <p:cNvPr id="209" name="Google Shape;209;p2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0" name="Google Shape;210;p25"/>
          <p:cNvSpPr txBox="1"/>
          <p:nvPr/>
        </p:nvSpPr>
        <p:spPr>
          <a:xfrm>
            <a:off x="1389225" y="1690825"/>
            <a:ext cx="10055100" cy="46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AutoNum type="arabicPeriod"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Explicit Representation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AutoNum type="arabicPeriod"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Implicit Representation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AutoNum type="arabicPeriod"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Parametric Representation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AutoNum type="arabicPeriod"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Subdivision Representation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AutoNum type="arabicPeriod"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Procedural Representation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6"/>
          <p:cNvSpPr txBox="1"/>
          <p:nvPr/>
        </p:nvSpPr>
        <p:spPr>
          <a:xfrm>
            <a:off x="8710083" y="6367462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900" spcFirstLastPara="1" rIns="121900" wrap="square" tIns="60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None/>
            </a:pPr>
            <a:fld id="{00000000-1234-1234-1234-123412341234}" type="slidenum">
              <a:rPr b="0" i="0" lang="en-US" sz="1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6"/>
          <p:cNvSpPr txBox="1"/>
          <p:nvPr>
            <p:ph type="title"/>
          </p:nvPr>
        </p:nvSpPr>
        <p:spPr>
          <a:xfrm>
            <a:off x="658375" y="390000"/>
            <a:ext cx="10515600" cy="7608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900" spcFirstLastPara="1" rIns="121900" wrap="square" tIns="609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Curve Representations (Overview)</a:t>
            </a:r>
            <a:endParaRPr b="1" sz="5900">
              <a:solidFill>
                <a:srgbClr val="000066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17" name="Google Shape;217;p26"/>
          <p:cNvSpPr txBox="1"/>
          <p:nvPr>
            <p:ph idx="1" type="body"/>
          </p:nvPr>
        </p:nvSpPr>
        <p:spPr>
          <a:xfrm>
            <a:off x="508000" y="1226867"/>
            <a:ext cx="11175900" cy="47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-3937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i="0" lang="en-US" sz="3200" u="none">
                <a:solidFill>
                  <a:schemeClr val="dk1"/>
                </a:solidFill>
              </a:rPr>
              <a:t>There are </a:t>
            </a:r>
            <a:r>
              <a:rPr lang="en-US" sz="3200"/>
              <a:t>several</a:t>
            </a:r>
            <a:r>
              <a:rPr i="0" lang="en-US" sz="3200" u="none">
                <a:solidFill>
                  <a:schemeClr val="dk1"/>
                </a:solidFill>
              </a:rPr>
              <a:t> ways to represent a curve</a:t>
            </a:r>
            <a:endParaRPr sz="1700"/>
          </a:p>
          <a:p>
            <a:pPr indent="-311150" lvl="1" marL="9906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CC3300"/>
              </a:buClr>
              <a:buSzPts val="1900"/>
              <a:buFont typeface="Calibri"/>
              <a:buChar char="•"/>
            </a:pPr>
            <a:r>
              <a:rPr i="0" lang="en-US" sz="2700" u="none">
                <a:solidFill>
                  <a:srgbClr val="CC3300"/>
                </a:solidFill>
              </a:rPr>
              <a:t>Explicit</a:t>
            </a:r>
            <a:r>
              <a:rPr i="0" lang="en-US" sz="2700" u="none">
                <a:solidFill>
                  <a:schemeClr val="dk1"/>
                </a:solidFill>
              </a:rPr>
              <a:t>: y = f(x)</a:t>
            </a:r>
            <a:endParaRPr sz="1300"/>
          </a:p>
          <a:p>
            <a:pPr indent="-304800" lvl="3" marL="2133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ahoma"/>
              <a:buNone/>
            </a:pPr>
            <a:r>
              <a:rPr b="1" i="0" lang="en-US" sz="2100" u="none">
                <a:solidFill>
                  <a:schemeClr val="dk1"/>
                </a:solidFill>
              </a:rPr>
              <a:t>y = mx + b			y = x</a:t>
            </a:r>
            <a:r>
              <a:rPr b="1" baseline="30000" i="0" lang="en-US" sz="2100" u="none">
                <a:solidFill>
                  <a:schemeClr val="dk1"/>
                </a:solidFill>
              </a:rPr>
              <a:t>2</a:t>
            </a:r>
            <a:endParaRPr sz="800"/>
          </a:p>
          <a:p>
            <a:pPr indent="-304800" lvl="2" marL="15240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ahoma"/>
              <a:buNone/>
            </a:pPr>
            <a:r>
              <a:rPr i="0" lang="en-US" sz="2100" u="none">
                <a:solidFill>
                  <a:schemeClr val="dk1"/>
                </a:solidFill>
              </a:rPr>
              <a:t>(–) Must be a single valued function</a:t>
            </a:r>
            <a:endParaRPr sz="900"/>
          </a:p>
          <a:p>
            <a:pPr indent="-304800" lvl="2" marL="15240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ahoma"/>
              <a:buNone/>
            </a:pPr>
            <a:r>
              <a:rPr i="0" lang="en-US" sz="2100" u="none">
                <a:solidFill>
                  <a:schemeClr val="dk1"/>
                </a:solidFill>
              </a:rPr>
              <a:t>(–) Vertical lines, say x = d? No way to represent using single valued </a:t>
            </a:r>
            <a:r>
              <a:rPr lang="en-US" sz="2100"/>
              <a:t>function</a:t>
            </a:r>
            <a:endParaRPr sz="900"/>
          </a:p>
          <a:p>
            <a:pPr indent="-311150" lvl="1" marL="9906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CC3300"/>
              </a:buClr>
              <a:buSzPts val="1900"/>
              <a:buFont typeface="Calibri"/>
              <a:buChar char="•"/>
            </a:pPr>
            <a:r>
              <a:rPr i="0" lang="en-US" sz="2700" u="none">
                <a:solidFill>
                  <a:srgbClr val="CC3300"/>
                </a:solidFill>
              </a:rPr>
              <a:t>Implicit</a:t>
            </a:r>
            <a:r>
              <a:rPr i="0" lang="en-US" sz="2700" u="none">
                <a:solidFill>
                  <a:schemeClr val="dk1"/>
                </a:solidFill>
              </a:rPr>
              <a:t>: f(x,y) = 0</a:t>
            </a:r>
            <a:endParaRPr sz="1300"/>
          </a:p>
          <a:p>
            <a:pPr indent="-304800" lvl="2" marL="15240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ahoma"/>
              <a:buNone/>
            </a:pPr>
            <a:r>
              <a:rPr i="0" lang="en-US" sz="2100" u="none">
                <a:solidFill>
                  <a:schemeClr val="dk1"/>
                </a:solidFill>
              </a:rPr>
              <a:t>		</a:t>
            </a:r>
            <a:r>
              <a:rPr b="1" i="0" lang="en-US" sz="2100" u="none">
                <a:solidFill>
                  <a:schemeClr val="dk1"/>
                </a:solidFill>
              </a:rPr>
              <a:t>x</a:t>
            </a:r>
            <a:r>
              <a:rPr b="1" baseline="30000" i="0" lang="en-US" sz="2100" u="none">
                <a:solidFill>
                  <a:schemeClr val="dk1"/>
                </a:solidFill>
              </a:rPr>
              <a:t>2</a:t>
            </a:r>
            <a:r>
              <a:rPr b="1" i="0" lang="en-US" sz="2100" u="none">
                <a:solidFill>
                  <a:schemeClr val="dk1"/>
                </a:solidFill>
              </a:rPr>
              <a:t> + y</a:t>
            </a:r>
            <a:r>
              <a:rPr b="1" baseline="30000" i="0" lang="en-US" sz="2100" u="none">
                <a:solidFill>
                  <a:schemeClr val="dk1"/>
                </a:solidFill>
              </a:rPr>
              <a:t>2</a:t>
            </a:r>
            <a:r>
              <a:rPr b="1" i="0" lang="en-US" sz="2100" u="none">
                <a:solidFill>
                  <a:schemeClr val="dk1"/>
                </a:solidFill>
              </a:rPr>
              <a:t> - r</a:t>
            </a:r>
            <a:r>
              <a:rPr b="1" baseline="30000" i="0" lang="en-US" sz="2100" u="none">
                <a:solidFill>
                  <a:schemeClr val="dk1"/>
                </a:solidFill>
              </a:rPr>
              <a:t>2</a:t>
            </a:r>
            <a:r>
              <a:rPr b="1" i="0" lang="en-US" sz="2100" u="none">
                <a:solidFill>
                  <a:schemeClr val="dk1"/>
                </a:solidFill>
              </a:rPr>
              <a:t> = 0 </a:t>
            </a:r>
            <a:endParaRPr sz="900"/>
          </a:p>
          <a:p>
            <a:pPr indent="-304800" lvl="2" marL="15240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ahoma"/>
              <a:buNone/>
            </a:pPr>
            <a:r>
              <a:rPr i="0" lang="en-US" sz="2100" u="none">
                <a:solidFill>
                  <a:schemeClr val="dk1"/>
                </a:solidFill>
              </a:rPr>
              <a:t>(+) </a:t>
            </a:r>
            <a:r>
              <a:rPr b="1" i="0" lang="en-US" sz="2100" u="none">
                <a:solidFill>
                  <a:schemeClr val="dk1"/>
                </a:solidFill>
              </a:rPr>
              <a:t>y </a:t>
            </a:r>
            <a:r>
              <a:rPr i="0" lang="en-US" sz="2100" u="none">
                <a:solidFill>
                  <a:schemeClr val="dk1"/>
                </a:solidFill>
              </a:rPr>
              <a:t>can be multiple valued function of x</a:t>
            </a:r>
            <a:endParaRPr sz="900"/>
          </a:p>
          <a:p>
            <a:pPr indent="-304800" lvl="2" marL="15240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ahoma"/>
              <a:buNone/>
            </a:pPr>
            <a:r>
              <a:rPr i="0" lang="en-US" sz="2100" u="none">
                <a:solidFill>
                  <a:schemeClr val="dk1"/>
                </a:solidFill>
              </a:rPr>
              <a:t>(–) Continuity hard to detect</a:t>
            </a:r>
            <a:endParaRPr sz="900"/>
          </a:p>
          <a:p>
            <a:pPr indent="-311150" lvl="1" marL="9906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CC3300"/>
              </a:buClr>
              <a:buSzPts val="1900"/>
              <a:buFont typeface="Calibri"/>
              <a:buChar char="•"/>
            </a:pPr>
            <a:r>
              <a:rPr i="0" lang="en-US" sz="2700" u="none">
                <a:solidFill>
                  <a:srgbClr val="CC3300"/>
                </a:solidFill>
              </a:rPr>
              <a:t>Parametric</a:t>
            </a:r>
            <a:r>
              <a:rPr i="0" lang="en-US" sz="2700" u="none">
                <a:solidFill>
                  <a:schemeClr val="dk1"/>
                </a:solidFill>
              </a:rPr>
              <a:t>: (x, y) = (x(t), y(t))</a:t>
            </a:r>
            <a:endParaRPr sz="1300"/>
          </a:p>
          <a:p>
            <a:pPr indent="-304800" lvl="2" marL="15240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ahoma"/>
              <a:buNone/>
            </a:pPr>
            <a:r>
              <a:rPr b="1" i="0" lang="en-US" sz="2100" u="none">
                <a:solidFill>
                  <a:schemeClr val="dk1"/>
                </a:solidFill>
              </a:rPr>
              <a:t>		(x, y) = (cos</a:t>
            </a:r>
            <a:r>
              <a:rPr b="1" i="1" lang="en-US" sz="2100" u="none">
                <a:solidFill>
                  <a:schemeClr val="dk1"/>
                </a:solidFill>
              </a:rPr>
              <a:t>t</a:t>
            </a:r>
            <a:r>
              <a:rPr b="1" i="0" lang="en-US" sz="2100" u="none">
                <a:solidFill>
                  <a:schemeClr val="dk1"/>
                </a:solidFill>
              </a:rPr>
              <a:t>, sin</a:t>
            </a:r>
            <a:r>
              <a:rPr b="1" i="1" lang="en-US" sz="2100" u="none">
                <a:solidFill>
                  <a:schemeClr val="dk1"/>
                </a:solidFill>
              </a:rPr>
              <a:t>t</a:t>
            </a:r>
            <a:r>
              <a:rPr b="1" i="0" lang="en-US" sz="2100" u="none">
                <a:solidFill>
                  <a:schemeClr val="dk1"/>
                </a:solidFill>
              </a:rPr>
              <a:t>)</a:t>
            </a:r>
            <a:endParaRPr sz="900"/>
          </a:p>
          <a:p>
            <a:pPr indent="-304800" lvl="2" marL="15240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ahoma"/>
              <a:buNone/>
            </a:pPr>
            <a:r>
              <a:rPr i="0" lang="en-US" sz="2100" u="none">
                <a:solidFill>
                  <a:schemeClr val="dk1"/>
                </a:solidFill>
              </a:rPr>
              <a:t>(+) Easy to specify, modify and control</a:t>
            </a:r>
            <a:endParaRPr sz="900"/>
          </a:p>
          <a:p>
            <a:pPr indent="-304800" lvl="2" marL="15240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ahoma"/>
              <a:buNone/>
            </a:pPr>
            <a:r>
              <a:rPr i="0" lang="en-US" sz="2100" u="none">
                <a:solidFill>
                  <a:schemeClr val="dk1"/>
                </a:solidFill>
              </a:rPr>
              <a:t>(–) Extra hidden variable t, the parameter, non intuitive</a:t>
            </a:r>
            <a:endParaRPr sz="900"/>
          </a:p>
        </p:txBody>
      </p:sp>
      <p:sp>
        <p:nvSpPr>
          <p:cNvPr id="218" name="Google Shape;218;p2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 txBox="1"/>
          <p:nvPr/>
        </p:nvSpPr>
        <p:spPr>
          <a:xfrm>
            <a:off x="8710083" y="6367462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900" spcFirstLastPara="1" rIns="121900" wrap="square" tIns="60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None/>
            </a:pPr>
            <a:fld id="{00000000-1234-1234-1234-123412341234}" type="slidenum">
              <a:rPr b="0" i="0" lang="en-US" sz="1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7"/>
          <p:cNvSpPr txBox="1"/>
          <p:nvPr>
            <p:ph idx="1" type="body"/>
          </p:nvPr>
        </p:nvSpPr>
        <p:spPr>
          <a:xfrm>
            <a:off x="838200" y="1376392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-3683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i="0" lang="en-US" u="none">
                <a:solidFill>
                  <a:schemeClr val="dk1"/>
                </a:solidFill>
              </a:rPr>
              <a:t>Curves: single parameter t (e.g. time)</a:t>
            </a:r>
            <a:endParaRPr sz="1300"/>
          </a:p>
          <a:p>
            <a:pPr indent="-285750" lvl="1" marL="9906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i="1" lang="en-US" sz="2300" u="none">
                <a:solidFill>
                  <a:schemeClr val="dk1"/>
                </a:solidFill>
              </a:rPr>
              <a:t>x = x(t), y = y(t), z = z(t)</a:t>
            </a:r>
            <a:endParaRPr sz="900"/>
          </a:p>
          <a:p>
            <a:pPr indent="-3683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i="0" lang="en-US" u="none">
                <a:solidFill>
                  <a:schemeClr val="dk1"/>
                </a:solidFill>
              </a:rPr>
              <a:t>Circle: </a:t>
            </a:r>
            <a:endParaRPr sz="1300"/>
          </a:p>
          <a:p>
            <a:pPr indent="-285750" lvl="1" marL="9906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i="1" lang="en-US" sz="2300" u="none">
                <a:solidFill>
                  <a:schemeClr val="dk1"/>
                </a:solidFill>
              </a:rPr>
              <a:t>x = cos(t), y = sin(t), z = 0</a:t>
            </a:r>
            <a:endParaRPr sz="900"/>
          </a:p>
          <a:p>
            <a:pPr indent="-3683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i="0" lang="en-US" u="none">
                <a:solidFill>
                  <a:schemeClr val="dk1"/>
                </a:solidFill>
              </a:rPr>
              <a:t>Tangent described by derivative</a:t>
            </a:r>
            <a:endParaRPr i="0" u="none">
              <a:solidFill>
                <a:schemeClr val="dk1"/>
              </a:solidFill>
            </a:endParaRPr>
          </a:p>
          <a:p>
            <a:pPr indent="0" lvl="0" marL="2413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159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Tahoma"/>
              <a:buNone/>
            </a:pPr>
            <a:r>
              <a:t/>
            </a:r>
            <a:endParaRPr i="0" u="none">
              <a:solidFill>
                <a:schemeClr val="dk1"/>
              </a:solidFill>
            </a:endParaRPr>
          </a:p>
          <a:p>
            <a:pPr indent="-2159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Tahoma"/>
              <a:buNone/>
            </a:pPr>
            <a:r>
              <a:t/>
            </a:r>
            <a:endParaRPr i="0" u="none">
              <a:solidFill>
                <a:schemeClr val="dk1"/>
              </a:solidFill>
            </a:endParaRPr>
          </a:p>
          <a:p>
            <a:pPr indent="-2159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Tahoma"/>
              <a:buNone/>
            </a:pPr>
            <a:r>
              <a:t/>
            </a:r>
            <a:endParaRPr i="0" u="none">
              <a:solidFill>
                <a:schemeClr val="dk1"/>
              </a:solidFill>
            </a:endParaRPr>
          </a:p>
          <a:p>
            <a:pPr indent="-2159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Tahoma"/>
              <a:buNone/>
            </a:pPr>
            <a:r>
              <a:t/>
            </a:r>
            <a:endParaRPr i="0" u="none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i="0" lang="en-US" u="none">
                <a:solidFill>
                  <a:schemeClr val="dk1"/>
                </a:solidFill>
              </a:rPr>
              <a:t>Magnitude is “velocity”</a:t>
            </a:r>
            <a:endParaRPr sz="1300"/>
          </a:p>
        </p:txBody>
      </p:sp>
      <p:pic>
        <p:nvPicPr>
          <p:cNvPr id="225" name="Google Shape;22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30400" y="3810000"/>
            <a:ext cx="449580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7" name="Google Shape;227;p27"/>
          <p:cNvSpPr txBox="1"/>
          <p:nvPr>
            <p:ph type="title"/>
          </p:nvPr>
        </p:nvSpPr>
        <p:spPr>
          <a:xfrm>
            <a:off x="886975" y="383375"/>
            <a:ext cx="10515600" cy="7608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900" spcFirstLastPara="1" rIns="121900" wrap="square" tIns="609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Parametric Representation</a:t>
            </a:r>
            <a:endParaRPr b="1" sz="5900">
              <a:solidFill>
                <a:srgbClr val="000066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rametric Equations - YouTube" id="232" name="Google Shape;23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903" y="1650944"/>
            <a:ext cx="8168192" cy="459461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8"/>
          <p:cNvSpPr txBox="1"/>
          <p:nvPr/>
        </p:nvSpPr>
        <p:spPr>
          <a:xfrm>
            <a:off x="4714351" y="783771"/>
            <a:ext cx="2763300" cy="5847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Same curve, different parameterization</a:t>
            </a:r>
            <a:endParaRPr/>
          </a:p>
        </p:txBody>
      </p:sp>
      <p:sp>
        <p:nvSpPr>
          <p:cNvPr id="240" name="Google Shape;240;p29"/>
          <p:cNvSpPr txBox="1"/>
          <p:nvPr>
            <p:ph idx="1" type="body"/>
          </p:nvPr>
        </p:nvSpPr>
        <p:spPr>
          <a:xfrm>
            <a:off x="1066800" y="2103120"/>
            <a:ext cx="5029200" cy="3849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57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 </a:t>
            </a:r>
            <a:endParaRPr/>
          </a:p>
        </p:txBody>
      </p:sp>
      <p:cxnSp>
        <p:nvCxnSpPr>
          <p:cNvPr id="241" name="Google Shape;241;p29"/>
          <p:cNvCxnSpPr/>
          <p:nvPr/>
        </p:nvCxnSpPr>
        <p:spPr>
          <a:xfrm rot="10800000">
            <a:off x="6943457" y="2371411"/>
            <a:ext cx="3376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2" name="Google Shape;242;p29"/>
          <p:cNvSpPr txBox="1"/>
          <p:nvPr/>
        </p:nvSpPr>
        <p:spPr>
          <a:xfrm>
            <a:off x="6541477" y="2543963"/>
            <a:ext cx="804000" cy="3693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9"/>
          <p:cNvSpPr txBox="1"/>
          <p:nvPr/>
        </p:nvSpPr>
        <p:spPr>
          <a:xfrm>
            <a:off x="9917723" y="2543963"/>
            <a:ext cx="804000" cy="3693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4" name="Google Shape;244;p29"/>
          <p:cNvCxnSpPr/>
          <p:nvPr/>
        </p:nvCxnSpPr>
        <p:spPr>
          <a:xfrm rot="10800000">
            <a:off x="6943457" y="4486589"/>
            <a:ext cx="3376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5" name="Google Shape;245;p29"/>
          <p:cNvSpPr txBox="1"/>
          <p:nvPr/>
        </p:nvSpPr>
        <p:spPr>
          <a:xfrm>
            <a:off x="6541477" y="4659141"/>
            <a:ext cx="804000" cy="3693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9"/>
          <p:cNvSpPr txBox="1"/>
          <p:nvPr/>
        </p:nvSpPr>
        <p:spPr>
          <a:xfrm>
            <a:off x="9917723" y="4659141"/>
            <a:ext cx="804000" cy="3693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Parametric Curve Visualization</a:t>
            </a:r>
            <a:endParaRPr/>
          </a:p>
        </p:txBody>
      </p:sp>
      <p:sp>
        <p:nvSpPr>
          <p:cNvPr id="253" name="Google Shape;253;p3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2D Curve Visualization</a:t>
            </a:r>
            <a:endParaRPr u="sng">
              <a:solidFill>
                <a:schemeClr val="hlink"/>
              </a:solidFill>
              <a:hlinkClick r:id="rId3"/>
            </a:endParaRPr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https://www.geogebra.org/m/cAsHbXEU</a:t>
            </a:r>
            <a:r>
              <a:rPr lang="en-US"/>
              <a:t> </a:t>
            </a:r>
            <a:endParaRPr/>
          </a:p>
          <a:p>
            <a:pPr indent="-30479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3D Curve Visualization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 u="sng">
                <a:solidFill>
                  <a:schemeClr val="hlink"/>
                </a:solidFill>
                <a:hlinkClick r:id="rId5"/>
              </a:rPr>
              <a:t>https://christopherchudzicki.github.io/MathBox-Demos/parametric_curves_3D.html</a:t>
            </a:r>
            <a:r>
              <a:rPr lang="en-US"/>
              <a:t> </a:t>
            </a:r>
            <a:endParaRPr/>
          </a:p>
        </p:txBody>
      </p:sp>
      <p:sp>
        <p:nvSpPr>
          <p:cNvPr id="254" name="Google Shape;254;p3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Subdivision Representation</a:t>
            </a:r>
            <a:endParaRPr/>
          </a:p>
        </p:txBody>
      </p:sp>
      <p:sp>
        <p:nvSpPr>
          <p:cNvPr id="260" name="Google Shape;260;p3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Start with a set of points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Have a rule that adds points [possibly removing old ones]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Repeat the rule</a:t>
            </a:r>
            <a:endParaRPr/>
          </a:p>
          <a:p>
            <a:pPr indent="-30479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Each subdivision makes the set of points closer to the intended curve</a:t>
            </a:r>
            <a:endParaRPr/>
          </a:p>
        </p:txBody>
      </p:sp>
      <p:sp>
        <p:nvSpPr>
          <p:cNvPr id="261" name="Google Shape;261;p3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2"/>
          <p:cNvSpPr txBox="1"/>
          <p:nvPr>
            <p:ph type="title"/>
          </p:nvPr>
        </p:nvSpPr>
        <p:spPr>
          <a:xfrm>
            <a:off x="9224387" y="2743200"/>
            <a:ext cx="2673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Example</a:t>
            </a:r>
            <a:endParaRPr/>
          </a:p>
        </p:txBody>
      </p:sp>
      <p:pic>
        <p:nvPicPr>
          <p:cNvPr id="267" name="Google Shape;267;p3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7809" y="822542"/>
            <a:ext cx="8241300" cy="5230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3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Lagrange Polynomial</a:t>
            </a:r>
            <a:endParaRPr/>
          </a:p>
        </p:txBody>
      </p:sp>
      <p:pic>
        <p:nvPicPr>
          <p:cNvPr id="274" name="Google Shape;27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6325" y="3907650"/>
            <a:ext cx="8780175" cy="2019375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3"/>
          <p:cNvSpPr/>
          <p:nvPr/>
        </p:nvSpPr>
        <p:spPr>
          <a:xfrm>
            <a:off x="1066800" y="1709394"/>
            <a:ext cx="8382000" cy="16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Given n+1 points (x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0</a:t>
            </a:r>
            <a:r>
              <a:rPr b="0" i="0" lang="en-US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, y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0</a:t>
            </a:r>
            <a:r>
              <a:rPr b="0" i="0" lang="en-US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), (x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r>
              <a:rPr b="0" i="0" lang="en-US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, y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r>
              <a:rPr b="0" i="0" lang="en-US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) …….. (x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n</a:t>
            </a:r>
            <a:r>
              <a:rPr b="0" i="0" lang="en-US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, y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n</a:t>
            </a:r>
            <a:r>
              <a:rPr b="0" i="0" lang="en-US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To construct a curve that passes through these points we can use Lagrange polynomial defined as follows:.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3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Lagrange Polynomial (Example)</a:t>
            </a:r>
            <a:endParaRPr/>
          </a:p>
        </p:txBody>
      </p:sp>
      <p:sp>
        <p:nvSpPr>
          <p:cNvPr id="282" name="Google Shape;282;p34"/>
          <p:cNvSpPr/>
          <p:nvPr/>
        </p:nvSpPr>
        <p:spPr>
          <a:xfrm>
            <a:off x="1066800" y="2014196"/>
            <a:ext cx="83820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Noto Sans Symbols"/>
              <a:buChar char="▪"/>
            </a:pPr>
            <a:r>
              <a:rPr b="1" i="0" lang="en-US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Let’s consider the following data points: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3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4" name="Google Shape;2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5800" y="2971800"/>
            <a:ext cx="2336750" cy="232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90" name="Google Shape;29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375" y="120450"/>
            <a:ext cx="10489051" cy="636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97" name="Google Shape;29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0100" y="804150"/>
            <a:ext cx="9821108" cy="555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4" name="Google Shape;30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1100" y="870400"/>
            <a:ext cx="9626974" cy="5866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11" name="Google Shape;31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3800" y="748750"/>
            <a:ext cx="10884401" cy="518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9"/>
          <p:cNvSpPr/>
          <p:nvPr/>
        </p:nvSpPr>
        <p:spPr>
          <a:xfrm>
            <a:off x="1066800" y="2014200"/>
            <a:ext cx="10201800" cy="43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3400" u="none" cap="none" strike="noStrike">
                <a:solidFill>
                  <a:srgbClr val="FF0000"/>
                </a:solidFill>
                <a:latin typeface="Avenir"/>
                <a:ea typeface="Avenir"/>
                <a:cs typeface="Avenir"/>
                <a:sym typeface="Avenir"/>
              </a:rPr>
              <a:t>Problems: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660"/>
              <a:buFont typeface="Arial"/>
              <a:buChar char="•"/>
            </a:pPr>
            <a:r>
              <a:rPr b="0" i="0" lang="en-US" sz="29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y=f(x), no multiple values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660"/>
              <a:buFont typeface="Arial"/>
              <a:buChar char="•"/>
            </a:pPr>
            <a:r>
              <a:rPr b="0" i="0" lang="en-US" sz="29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Higher order functions tend to oscillate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660"/>
              <a:buFont typeface="Arial"/>
              <a:buChar char="•"/>
            </a:pPr>
            <a:r>
              <a:rPr b="0" i="0" lang="en-US" sz="29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No local control (change any (xi, yi) changes the whole curve)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660"/>
              <a:buFont typeface="Arial"/>
              <a:buChar char="•"/>
            </a:pPr>
            <a:r>
              <a:rPr b="0" i="0" lang="en-US" sz="29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Computationally expensive due to high degree.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17" name="Google Shape;317;p3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8" name="Google Shape;318;p3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Lagrange Polynomial (Problems)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How to draw complex curves</a:t>
            </a:r>
            <a:endParaRPr/>
          </a:p>
        </p:txBody>
      </p:sp>
      <p:sp>
        <p:nvSpPr>
          <p:cNvPr id="324" name="Google Shape;324;p4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Break them into “manageable” smaller curves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These smaller curves are called</a:t>
            </a:r>
            <a:r>
              <a:rPr b="1" lang="en-US"/>
              <a:t> splines</a:t>
            </a:r>
            <a:endParaRPr/>
          </a:p>
        </p:txBody>
      </p:sp>
      <p:pic>
        <p:nvPicPr>
          <p:cNvPr id="325" name="Google Shape;32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397" y="3429000"/>
            <a:ext cx="4520592" cy="2654136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40"/>
          <p:cNvSpPr/>
          <p:nvPr/>
        </p:nvSpPr>
        <p:spPr>
          <a:xfrm>
            <a:off x="6804940" y="4562666"/>
            <a:ext cx="101700" cy="101700"/>
          </a:xfrm>
          <a:prstGeom prst="ellipse">
            <a:avLst/>
          </a:prstGeom>
          <a:solidFill>
            <a:srgbClr val="1100EE"/>
          </a:solidFill>
          <a:ln cap="flat" cmpd="sng" w="12700">
            <a:solidFill>
              <a:srgbClr val="1100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27" name="Google Shape;327;p40"/>
          <p:cNvSpPr/>
          <p:nvPr/>
        </p:nvSpPr>
        <p:spPr>
          <a:xfrm>
            <a:off x="7485660" y="3795586"/>
            <a:ext cx="101700" cy="101700"/>
          </a:xfrm>
          <a:prstGeom prst="ellipse">
            <a:avLst/>
          </a:prstGeom>
          <a:solidFill>
            <a:srgbClr val="1100EE"/>
          </a:solidFill>
          <a:ln cap="flat" cmpd="sng" w="12700">
            <a:solidFill>
              <a:srgbClr val="1100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28" name="Google Shape;328;p40"/>
          <p:cNvSpPr/>
          <p:nvPr/>
        </p:nvSpPr>
        <p:spPr>
          <a:xfrm>
            <a:off x="8196860" y="5634546"/>
            <a:ext cx="101700" cy="101700"/>
          </a:xfrm>
          <a:prstGeom prst="ellipse">
            <a:avLst/>
          </a:prstGeom>
          <a:solidFill>
            <a:srgbClr val="1100EE"/>
          </a:solidFill>
          <a:ln cap="flat" cmpd="sng" w="12700">
            <a:solidFill>
              <a:srgbClr val="1100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29" name="Google Shape;329;p40"/>
          <p:cNvSpPr/>
          <p:nvPr/>
        </p:nvSpPr>
        <p:spPr>
          <a:xfrm>
            <a:off x="8891093" y="3546666"/>
            <a:ext cx="101700" cy="101700"/>
          </a:xfrm>
          <a:prstGeom prst="ellipse">
            <a:avLst/>
          </a:prstGeom>
          <a:solidFill>
            <a:srgbClr val="1100EE"/>
          </a:solidFill>
          <a:ln cap="flat" cmpd="sng" w="12700">
            <a:solidFill>
              <a:srgbClr val="1100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30" name="Google Shape;330;p40"/>
          <p:cNvSpPr/>
          <p:nvPr/>
        </p:nvSpPr>
        <p:spPr>
          <a:xfrm>
            <a:off x="9637853" y="4943666"/>
            <a:ext cx="101700" cy="101700"/>
          </a:xfrm>
          <a:prstGeom prst="ellipse">
            <a:avLst/>
          </a:prstGeom>
          <a:solidFill>
            <a:srgbClr val="1100EE"/>
          </a:solidFill>
          <a:ln cap="flat" cmpd="sng" w="12700">
            <a:solidFill>
              <a:srgbClr val="1100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31" name="Google Shape;331;p40"/>
          <p:cNvSpPr/>
          <p:nvPr/>
        </p:nvSpPr>
        <p:spPr>
          <a:xfrm>
            <a:off x="10338893" y="4511866"/>
            <a:ext cx="101700" cy="101700"/>
          </a:xfrm>
          <a:prstGeom prst="ellipse">
            <a:avLst/>
          </a:prstGeom>
          <a:solidFill>
            <a:srgbClr val="1100EE"/>
          </a:solidFill>
          <a:ln cap="flat" cmpd="sng" w="12700">
            <a:solidFill>
              <a:srgbClr val="1100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32" name="Google Shape;332;p40"/>
          <p:cNvSpPr/>
          <p:nvPr/>
        </p:nvSpPr>
        <p:spPr>
          <a:xfrm>
            <a:off x="11050093" y="4821746"/>
            <a:ext cx="101700" cy="101700"/>
          </a:xfrm>
          <a:prstGeom prst="ellipse">
            <a:avLst/>
          </a:prstGeom>
          <a:solidFill>
            <a:srgbClr val="1100EE"/>
          </a:solidFill>
          <a:ln cap="flat" cmpd="sng" w="12700">
            <a:solidFill>
              <a:srgbClr val="1100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333" name="Google Shape;333;p40"/>
          <p:cNvCxnSpPr/>
          <p:nvPr/>
        </p:nvCxnSpPr>
        <p:spPr>
          <a:xfrm flipH="1">
            <a:off x="7609560" y="3212452"/>
            <a:ext cx="638100" cy="583200"/>
          </a:xfrm>
          <a:prstGeom prst="straightConnector1">
            <a:avLst/>
          </a:prstGeom>
          <a:noFill/>
          <a:ln cap="flat" cmpd="sng" w="28575">
            <a:solidFill>
              <a:srgbClr val="0070C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4" name="Google Shape;334;p40"/>
          <p:cNvSpPr txBox="1"/>
          <p:nvPr/>
        </p:nvSpPr>
        <p:spPr>
          <a:xfrm>
            <a:off x="8298460" y="2967546"/>
            <a:ext cx="327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Avenir"/>
                <a:ea typeface="Avenir"/>
                <a:cs typeface="Avenir"/>
                <a:sym typeface="Avenir"/>
              </a:rPr>
              <a:t>What happens on the joints?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4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Solution: Piecewise Linear Polynomial</a:t>
            </a:r>
            <a:endParaRPr/>
          </a:p>
        </p:txBody>
      </p:sp>
      <p:sp>
        <p:nvSpPr>
          <p:cNvPr id="341" name="Google Shape;341;p4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800"/>
              <a:buChar char="◦"/>
            </a:pPr>
            <a:r>
              <a:rPr lang="en-US" sz="2800"/>
              <a:t>To overcome the problems with Lagrange polynomial </a:t>
            </a:r>
            <a:endParaRPr/>
          </a:p>
          <a:p>
            <a:pPr indent="-182880" lvl="1" marL="457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Char char="◦"/>
            </a:pPr>
            <a:r>
              <a:rPr lang="en-US" sz="2400"/>
              <a:t>Divide given points into overlap sequences of 4 points</a:t>
            </a:r>
            <a:endParaRPr/>
          </a:p>
          <a:p>
            <a:pPr indent="-30480" lvl="1" marL="457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82880" lvl="1" marL="457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Char char="◦"/>
            </a:pPr>
            <a:r>
              <a:rPr lang="en-US" sz="2400"/>
              <a:t>Construct </a:t>
            </a:r>
            <a:r>
              <a:rPr b="1" lang="en-US" sz="2400">
                <a:solidFill>
                  <a:srgbClr val="CC0000"/>
                </a:solidFill>
              </a:rPr>
              <a:t>3</a:t>
            </a:r>
            <a:r>
              <a:rPr b="1" baseline="30000" lang="en-US" sz="2400">
                <a:solidFill>
                  <a:srgbClr val="CC0000"/>
                </a:solidFill>
              </a:rPr>
              <a:t>rd</a:t>
            </a:r>
            <a:r>
              <a:rPr b="1" lang="en-US" sz="2400">
                <a:solidFill>
                  <a:srgbClr val="CC0000"/>
                </a:solidFill>
              </a:rPr>
              <a:t> degree</a:t>
            </a:r>
            <a:r>
              <a:rPr lang="en-US" sz="2400"/>
              <a:t> polynomial that passes through these points, p</a:t>
            </a:r>
            <a:r>
              <a:rPr baseline="-25000" lang="en-US" sz="2400"/>
              <a:t>0</a:t>
            </a:r>
            <a:r>
              <a:rPr lang="en-US" sz="2400"/>
              <a:t>, p</a:t>
            </a:r>
            <a:r>
              <a:rPr baseline="-25000" lang="en-US" sz="2400"/>
              <a:t>1 </a:t>
            </a:r>
            <a:r>
              <a:rPr lang="en-US" sz="2400"/>
              <a:t>, p</a:t>
            </a:r>
            <a:r>
              <a:rPr baseline="-25000" lang="en-US" sz="2400"/>
              <a:t>2 </a:t>
            </a:r>
            <a:r>
              <a:rPr lang="en-US" sz="2400"/>
              <a:t>, p</a:t>
            </a:r>
            <a:r>
              <a:rPr baseline="-25000" lang="en-US" sz="2400"/>
              <a:t>3</a:t>
            </a:r>
            <a:r>
              <a:rPr lang="en-US" sz="2400"/>
              <a:t> then p</a:t>
            </a:r>
            <a:r>
              <a:rPr baseline="-25000" lang="en-US" sz="2400"/>
              <a:t>3</a:t>
            </a:r>
            <a:r>
              <a:rPr lang="en-US" sz="2400"/>
              <a:t>, p</a:t>
            </a:r>
            <a:r>
              <a:rPr baseline="-25000" lang="en-US" sz="2400"/>
              <a:t>4 </a:t>
            </a:r>
            <a:r>
              <a:rPr lang="en-US" sz="2400"/>
              <a:t>, p</a:t>
            </a:r>
            <a:r>
              <a:rPr baseline="-25000" lang="en-US" sz="2400"/>
              <a:t>5 </a:t>
            </a:r>
            <a:r>
              <a:rPr lang="en-US" sz="2400"/>
              <a:t>, p</a:t>
            </a:r>
            <a:r>
              <a:rPr baseline="-25000" lang="en-US" sz="2400"/>
              <a:t>6</a:t>
            </a:r>
            <a:r>
              <a:rPr lang="en-US" sz="2400"/>
              <a:t> etc.</a:t>
            </a:r>
            <a:endParaRPr/>
          </a:p>
          <a:p>
            <a:pPr indent="-30480" lvl="1" marL="457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82880" lvl="1" marL="457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Char char="◦"/>
            </a:pPr>
            <a:r>
              <a:rPr lang="en-US" sz="2400"/>
              <a:t>Then glue the curves so that they appear </a:t>
            </a:r>
            <a:r>
              <a:rPr b="1" lang="en-US" sz="2400">
                <a:solidFill>
                  <a:srgbClr val="CC0000"/>
                </a:solidFill>
              </a:rPr>
              <a:t>sufficiently smooth</a:t>
            </a:r>
            <a:r>
              <a:rPr lang="en-US" sz="2400"/>
              <a:t> at joint points.</a:t>
            </a:r>
            <a:endParaRPr/>
          </a:p>
          <a:p>
            <a:pPr indent="-30479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342" name="Google Shape;342;p4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Piecewise Linear Polynomial</a:t>
            </a:r>
            <a:endParaRPr/>
          </a:p>
        </p:txBody>
      </p:sp>
      <p:sp>
        <p:nvSpPr>
          <p:cNvPr id="348" name="Google Shape;348;p4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Questions: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FF0000"/>
              </a:buClr>
              <a:buSzPts val="2800"/>
              <a:buChar char="◦"/>
            </a:pPr>
            <a:r>
              <a:rPr b="1" lang="en-US" sz="2800">
                <a:solidFill>
                  <a:srgbClr val="FF0000"/>
                </a:solidFill>
              </a:rPr>
              <a:t>Why 3rd Degree curves used?</a:t>
            </a:r>
            <a:endParaRPr b="1">
              <a:solidFill>
                <a:srgbClr val="FF0000"/>
              </a:solidFill>
            </a:endParaRPr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FF0000"/>
              </a:buClr>
              <a:buSzPts val="2800"/>
              <a:buChar char="◦"/>
            </a:pPr>
            <a:r>
              <a:rPr b="1" lang="en-US" sz="2800">
                <a:solidFill>
                  <a:srgbClr val="FF0000"/>
                </a:solidFill>
              </a:rPr>
              <a:t>How to measure smoothness at joint point?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349" name="Google Shape;349;p4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Why Cubic Curves</a:t>
            </a:r>
            <a:endParaRPr/>
          </a:p>
        </p:txBody>
      </p:sp>
      <p:sp>
        <p:nvSpPr>
          <p:cNvPr id="355" name="Google Shape;355;p4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Cubic polynomials are most often used for piecewise because: 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rPr lang="en-US"/>
              <a:t>(1) Lower-degree polynomials offer too little flexibility in controlling the shape of the curve.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rPr lang="en-US"/>
              <a:t>(2) Higher-degree polynomials can introduce unwanted wiggles and also require more computation.</a:t>
            </a:r>
            <a:endParaRPr/>
          </a:p>
        </p:txBody>
      </p:sp>
      <p:sp>
        <p:nvSpPr>
          <p:cNvPr id="356" name="Google Shape;356;p4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Why Cubic Curves</a:t>
            </a:r>
            <a:endParaRPr/>
          </a:p>
        </p:txBody>
      </p:sp>
      <p:sp>
        <p:nvSpPr>
          <p:cNvPr id="362" name="Google Shape;362;p4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(3) No lower-degree representation allows a curve segment to be defined by two given endpoints with given derivative at each endpoints.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rPr lang="en-US"/>
              <a:t>(4) No lower-degree curves are non planar in 3D.</a:t>
            </a:r>
            <a:endParaRPr/>
          </a:p>
          <a:p>
            <a:pPr indent="-30479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363" name="Google Shape;363;p4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Piecewise Linear Polynomial</a:t>
            </a:r>
            <a:endParaRPr/>
          </a:p>
        </p:txBody>
      </p:sp>
      <p:sp>
        <p:nvSpPr>
          <p:cNvPr id="369" name="Google Shape;369;p4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Questions: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006600"/>
              </a:buClr>
              <a:buSzPts val="2800"/>
              <a:buChar char="◦"/>
            </a:pPr>
            <a:r>
              <a:rPr b="1" lang="en-US" sz="2800">
                <a:solidFill>
                  <a:srgbClr val="006600"/>
                </a:solidFill>
              </a:rPr>
              <a:t>Why 3rd Degree curves used?</a:t>
            </a:r>
            <a:endParaRPr b="1">
              <a:solidFill>
                <a:srgbClr val="006600"/>
              </a:solidFill>
            </a:endParaRPr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FF0000"/>
              </a:buClr>
              <a:buSzPts val="2800"/>
              <a:buChar char="◦"/>
            </a:pPr>
            <a:r>
              <a:rPr b="1" lang="en-US" sz="2800">
                <a:solidFill>
                  <a:srgbClr val="FF0000"/>
                </a:solidFill>
              </a:rPr>
              <a:t>How to measure smoothness at joint point?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370" name="Google Shape;370;p4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Introducing Continuity</a:t>
            </a:r>
            <a:endParaRPr/>
          </a:p>
        </p:txBody>
      </p:sp>
      <p:sp>
        <p:nvSpPr>
          <p:cNvPr id="376" name="Google Shape;376;p46"/>
          <p:cNvSpPr txBox="1"/>
          <p:nvPr>
            <p:ph idx="1" type="body"/>
          </p:nvPr>
        </p:nvSpPr>
        <p:spPr>
          <a:xfrm>
            <a:off x="1066800" y="2103120"/>
            <a:ext cx="4761300" cy="3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AKA “Smoothness”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Is there any gaps, sudden turns?</a:t>
            </a:r>
            <a:endParaRPr/>
          </a:p>
          <a:p>
            <a:pPr indent="-30479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Not same as “not wiggly”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A curve can be wiggly but still smooth.</a:t>
            </a:r>
            <a:endParaRPr/>
          </a:p>
        </p:txBody>
      </p:sp>
      <p:pic>
        <p:nvPicPr>
          <p:cNvPr id="377" name="Google Shape;377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3654" y="2475648"/>
            <a:ext cx="4520592" cy="2654136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46"/>
          <p:cNvSpPr/>
          <p:nvPr/>
        </p:nvSpPr>
        <p:spPr>
          <a:xfrm>
            <a:off x="7066197" y="3609314"/>
            <a:ext cx="101700" cy="101700"/>
          </a:xfrm>
          <a:prstGeom prst="ellipse">
            <a:avLst/>
          </a:prstGeom>
          <a:solidFill>
            <a:srgbClr val="1100EE"/>
          </a:solidFill>
          <a:ln cap="flat" cmpd="sng" w="12700">
            <a:solidFill>
              <a:srgbClr val="1100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79" name="Google Shape;379;p46"/>
          <p:cNvSpPr/>
          <p:nvPr/>
        </p:nvSpPr>
        <p:spPr>
          <a:xfrm>
            <a:off x="7746917" y="2842234"/>
            <a:ext cx="101700" cy="101700"/>
          </a:xfrm>
          <a:prstGeom prst="ellipse">
            <a:avLst/>
          </a:prstGeom>
          <a:solidFill>
            <a:srgbClr val="1100EE"/>
          </a:solidFill>
          <a:ln cap="flat" cmpd="sng" w="12700">
            <a:solidFill>
              <a:srgbClr val="1100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80" name="Google Shape;380;p46"/>
          <p:cNvSpPr/>
          <p:nvPr/>
        </p:nvSpPr>
        <p:spPr>
          <a:xfrm>
            <a:off x="8458117" y="4681194"/>
            <a:ext cx="101700" cy="101700"/>
          </a:xfrm>
          <a:prstGeom prst="ellipse">
            <a:avLst/>
          </a:prstGeom>
          <a:solidFill>
            <a:srgbClr val="1100EE"/>
          </a:solidFill>
          <a:ln cap="flat" cmpd="sng" w="12700">
            <a:solidFill>
              <a:srgbClr val="1100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81" name="Google Shape;381;p46"/>
          <p:cNvSpPr/>
          <p:nvPr/>
        </p:nvSpPr>
        <p:spPr>
          <a:xfrm>
            <a:off x="9152350" y="2593314"/>
            <a:ext cx="101700" cy="101700"/>
          </a:xfrm>
          <a:prstGeom prst="ellipse">
            <a:avLst/>
          </a:prstGeom>
          <a:solidFill>
            <a:srgbClr val="1100EE"/>
          </a:solidFill>
          <a:ln cap="flat" cmpd="sng" w="12700">
            <a:solidFill>
              <a:srgbClr val="1100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82" name="Google Shape;382;p46"/>
          <p:cNvSpPr/>
          <p:nvPr/>
        </p:nvSpPr>
        <p:spPr>
          <a:xfrm>
            <a:off x="9899110" y="3990314"/>
            <a:ext cx="101700" cy="101700"/>
          </a:xfrm>
          <a:prstGeom prst="ellipse">
            <a:avLst/>
          </a:prstGeom>
          <a:solidFill>
            <a:srgbClr val="1100EE"/>
          </a:solidFill>
          <a:ln cap="flat" cmpd="sng" w="12700">
            <a:solidFill>
              <a:srgbClr val="1100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83" name="Google Shape;383;p46"/>
          <p:cNvSpPr/>
          <p:nvPr/>
        </p:nvSpPr>
        <p:spPr>
          <a:xfrm>
            <a:off x="10600150" y="3558514"/>
            <a:ext cx="101700" cy="101700"/>
          </a:xfrm>
          <a:prstGeom prst="ellipse">
            <a:avLst/>
          </a:prstGeom>
          <a:solidFill>
            <a:srgbClr val="1100EE"/>
          </a:solidFill>
          <a:ln cap="flat" cmpd="sng" w="12700">
            <a:solidFill>
              <a:srgbClr val="1100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84" name="Google Shape;384;p46"/>
          <p:cNvSpPr/>
          <p:nvPr/>
        </p:nvSpPr>
        <p:spPr>
          <a:xfrm>
            <a:off x="11311350" y="3868394"/>
            <a:ext cx="101700" cy="101700"/>
          </a:xfrm>
          <a:prstGeom prst="ellipse">
            <a:avLst/>
          </a:prstGeom>
          <a:solidFill>
            <a:srgbClr val="1100EE"/>
          </a:solidFill>
          <a:ln cap="flat" cmpd="sng" w="12700">
            <a:solidFill>
              <a:srgbClr val="1100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385" name="Google Shape;385;p46"/>
          <p:cNvCxnSpPr/>
          <p:nvPr/>
        </p:nvCxnSpPr>
        <p:spPr>
          <a:xfrm flipH="1">
            <a:off x="7870817" y="2259100"/>
            <a:ext cx="638100" cy="583200"/>
          </a:xfrm>
          <a:prstGeom prst="straightConnector1">
            <a:avLst/>
          </a:prstGeom>
          <a:noFill/>
          <a:ln cap="flat" cmpd="sng" w="28575">
            <a:solidFill>
              <a:srgbClr val="0070C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86" name="Google Shape;386;p46"/>
          <p:cNvSpPr txBox="1"/>
          <p:nvPr/>
        </p:nvSpPr>
        <p:spPr>
          <a:xfrm>
            <a:off x="8559717" y="2014194"/>
            <a:ext cx="327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Avenir"/>
                <a:ea typeface="Avenir"/>
                <a:cs typeface="Avenir"/>
                <a:sym typeface="Avenir"/>
              </a:rPr>
              <a:t>What happens on the joints?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4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Continuity</a:t>
            </a:r>
            <a:endParaRPr/>
          </a:p>
        </p:txBody>
      </p:sp>
      <p:sp>
        <p:nvSpPr>
          <p:cNvPr id="393" name="Google Shape;393;p47"/>
          <p:cNvSpPr txBox="1"/>
          <p:nvPr>
            <p:ph idx="1" type="body"/>
          </p:nvPr>
        </p:nvSpPr>
        <p:spPr>
          <a:xfrm>
            <a:off x="1066800" y="2103120"/>
            <a:ext cx="4846200" cy="3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Are the points next to each other?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Can we draw without lifting the pen?</a:t>
            </a:r>
            <a:endParaRPr/>
          </a:p>
          <a:p>
            <a:pPr indent="-30479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Approach a point from left and right, do we get the same point?</a:t>
            </a:r>
            <a:endParaRPr/>
          </a:p>
        </p:txBody>
      </p:sp>
      <p:pic>
        <p:nvPicPr>
          <p:cNvPr descr="Parametric &amp; Geometric Continuity of Curves in Computer Graphics -  GeeksforGeeks" id="394" name="Google Shape;394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78882" y="2103120"/>
            <a:ext cx="5210571" cy="2012633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4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Continuity in Direction</a:t>
            </a:r>
            <a:endParaRPr/>
          </a:p>
        </p:txBody>
      </p:sp>
      <p:pic>
        <p:nvPicPr>
          <p:cNvPr id="401" name="Google Shape;401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2383" y="4312247"/>
            <a:ext cx="4862816" cy="1968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2243019"/>
            <a:ext cx="4862817" cy="1561752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48"/>
          <p:cNvSpPr txBox="1"/>
          <p:nvPr/>
        </p:nvSpPr>
        <p:spPr>
          <a:xfrm>
            <a:off x="6096000" y="2839229"/>
            <a:ext cx="334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First derivative same at joint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48"/>
          <p:cNvSpPr txBox="1"/>
          <p:nvPr/>
        </p:nvSpPr>
        <p:spPr>
          <a:xfrm>
            <a:off x="3498208" y="5180598"/>
            <a:ext cx="27642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First derivative changes abruptly at joint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4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Derivative of a Curve</a:t>
            </a:r>
            <a:endParaRPr/>
          </a:p>
        </p:txBody>
      </p:sp>
      <p:sp>
        <p:nvSpPr>
          <p:cNvPr id="411" name="Google Shape;411;p4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79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 </a:t>
            </a:r>
            <a:endParaRPr/>
          </a:p>
        </p:txBody>
      </p:sp>
      <p:sp>
        <p:nvSpPr>
          <p:cNvPr id="412" name="Google Shape;412;p4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" name="Google Shape;417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8427" y="538480"/>
            <a:ext cx="11101185" cy="362712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5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" name="Google Shape;423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79" y="648710"/>
            <a:ext cx="10948168" cy="349657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5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Parametric Continuity, C(n)</a:t>
            </a:r>
            <a:endParaRPr/>
          </a:p>
        </p:txBody>
      </p:sp>
      <p:sp>
        <p:nvSpPr>
          <p:cNvPr id="430" name="Google Shape;430;p5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910" r="0" t="-79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 </a:t>
            </a:r>
            <a:endParaRPr/>
          </a:p>
        </p:txBody>
      </p:sp>
      <p:sp>
        <p:nvSpPr>
          <p:cNvPr id="431" name="Google Shape;431;p5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5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How much continuity do we need</a:t>
            </a:r>
            <a:endParaRPr/>
          </a:p>
        </p:txBody>
      </p:sp>
      <p:sp>
        <p:nvSpPr>
          <p:cNvPr id="437" name="Google Shape;437;p5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910" r="0" t="-79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 </a:t>
            </a:r>
            <a:endParaRPr/>
          </a:p>
        </p:txBody>
      </p:sp>
      <p:sp>
        <p:nvSpPr>
          <p:cNvPr id="438" name="Google Shape;438;p5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3" name="Google Shape;443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7509" y="2010268"/>
            <a:ext cx="10936491" cy="2988984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5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5" name="Google Shape;445;p54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Geometric Continuity, G(n)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C and G continuity</a:t>
            </a:r>
            <a:endParaRPr/>
          </a:p>
        </p:txBody>
      </p:sp>
      <p:sp>
        <p:nvSpPr>
          <p:cNvPr id="451" name="Google Shape;451;p55"/>
          <p:cNvSpPr txBox="1"/>
          <p:nvPr>
            <p:ph idx="1" type="body"/>
          </p:nvPr>
        </p:nvSpPr>
        <p:spPr>
          <a:xfrm>
            <a:off x="964725" y="1825625"/>
            <a:ext cx="10515600" cy="41409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20" r="0" t="-79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 </a:t>
            </a:r>
            <a:endParaRPr/>
          </a:p>
        </p:txBody>
      </p:sp>
      <p:sp>
        <p:nvSpPr>
          <p:cNvPr id="452" name="Google Shape;452;p5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3" name="Google Shape;453;p55"/>
          <p:cNvSpPr txBox="1"/>
          <p:nvPr/>
        </p:nvSpPr>
        <p:spPr>
          <a:xfrm>
            <a:off x="964725" y="3156350"/>
            <a:ext cx="107169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a curve is </a:t>
            </a:r>
            <a:r>
              <a:rPr b="1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C(n)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continuous, it will always be </a:t>
            </a:r>
            <a:r>
              <a:rPr b="1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G(n)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continuous but not always vice-versa.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56"/>
          <p:cNvSpPr txBox="1"/>
          <p:nvPr/>
        </p:nvSpPr>
        <p:spPr>
          <a:xfrm>
            <a:off x="8710083" y="6469062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900" spcFirstLastPara="1" rIns="121900" wrap="square" tIns="60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None/>
            </a:pPr>
            <a:fld id="{00000000-1234-1234-1234-123412341234}" type="slidenum">
              <a:rPr b="0" i="0" lang="en-US" sz="1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9" name="Google Shape;459;p56"/>
          <p:cNvGrpSpPr/>
          <p:nvPr/>
        </p:nvGrpSpPr>
        <p:grpSpPr>
          <a:xfrm>
            <a:off x="304800" y="1700212"/>
            <a:ext cx="8255000" cy="1257299"/>
            <a:chOff x="144" y="1007"/>
            <a:chExt cx="3900" cy="792"/>
          </a:xfrm>
        </p:grpSpPr>
        <p:sp>
          <p:nvSpPr>
            <p:cNvPr id="460" name="Google Shape;460;p56"/>
            <p:cNvSpPr txBox="1"/>
            <p:nvPr/>
          </p:nvSpPr>
          <p:spPr>
            <a:xfrm>
              <a:off x="144" y="1199"/>
              <a:ext cx="39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25" lIns="121900" spcFirstLastPara="1" rIns="121900" wrap="square" tIns="60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b="0" i="0" lang="en-US" sz="2100" u="none" cap="none" strike="noStrik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If the </a:t>
              </a:r>
              <a:r>
                <a:rPr b="1" i="0" lang="en-US" sz="2100" u="none" cap="none" strike="noStrik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directions</a:t>
              </a:r>
              <a:r>
                <a:rPr b="0" i="0" lang="en-US" sz="2100" u="none" cap="none" strike="noStrik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(but not necessarily the magnitudes) of the two segments’ tangent vectors are equal at a join point.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56"/>
            <p:cNvSpPr txBox="1"/>
            <p:nvPr/>
          </p:nvSpPr>
          <p:spPr>
            <a:xfrm>
              <a:off x="144" y="1007"/>
              <a:ext cx="3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25" lIns="121900" spcFirstLastPara="1" rIns="121900" wrap="square" tIns="60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5050"/>
                </a:buClr>
                <a:buSzPts val="2400"/>
                <a:buFont typeface="Bookman Old Style"/>
                <a:buNone/>
              </a:pPr>
              <a:r>
                <a:rPr b="0" i="1" lang="en-US" sz="2400" u="sng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</a:t>
              </a:r>
              <a:r>
                <a:rPr b="0" i="1" lang="en-US" sz="1200" u="none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</a:t>
              </a:r>
              <a:r>
                <a:rPr b="0" baseline="30000" i="0" lang="en-US" sz="2400" u="none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1 </a:t>
              </a:r>
              <a:r>
                <a:rPr b="0" i="0" lang="en-US" sz="2400" u="sng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Geometric</a:t>
              </a:r>
              <a:r>
                <a:rPr b="0" i="0" lang="en-US" sz="2400" u="none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</a:t>
              </a:r>
              <a:r>
                <a:rPr b="0" i="0" lang="en-US" sz="2400" u="sng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Continuity</a:t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2" name="Google Shape;462;p56"/>
          <p:cNvGrpSpPr/>
          <p:nvPr/>
        </p:nvGrpSpPr>
        <p:grpSpPr>
          <a:xfrm>
            <a:off x="304800" y="5143500"/>
            <a:ext cx="8255000" cy="1289050"/>
            <a:chOff x="144" y="3176"/>
            <a:chExt cx="3900" cy="812"/>
          </a:xfrm>
        </p:grpSpPr>
        <p:sp>
          <p:nvSpPr>
            <p:cNvPr id="463" name="Google Shape;463;p56"/>
            <p:cNvSpPr txBox="1"/>
            <p:nvPr/>
          </p:nvSpPr>
          <p:spPr>
            <a:xfrm>
              <a:off x="144" y="3388"/>
              <a:ext cx="39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25" lIns="121900" spcFirstLastPara="1" rIns="121900" wrap="square" tIns="60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b="0" i="0" lang="en-US" sz="2100" u="none" cap="none" strike="noStrik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If the direction and magnitude of </a:t>
              </a:r>
              <a:r>
                <a:rPr b="0" i="1" lang="en-US" sz="2100" u="none" cap="none" strike="noStrik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Q</a:t>
              </a:r>
              <a:r>
                <a:rPr b="0" baseline="30000" i="1" lang="en-US" sz="2100" u="none" cap="none" strike="noStrik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n</a:t>
              </a:r>
              <a:r>
                <a:rPr b="0" i="0" lang="en-US" sz="2100" u="none" cap="none" strike="noStrik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(</a:t>
              </a:r>
              <a:r>
                <a:rPr b="0" i="1" lang="en-US" sz="2100" u="none" cap="none" strike="noStrik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t</a:t>
              </a:r>
              <a:r>
                <a:rPr b="0" i="0" lang="en-US" sz="2100" u="none" cap="none" strike="noStrik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) through the </a:t>
              </a:r>
              <a:r>
                <a:rPr b="0" i="1" lang="en-US" sz="2100" u="none" cap="none" strike="noStrik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n</a:t>
              </a:r>
              <a:r>
                <a:rPr b="0" i="0" lang="en-US" sz="2100" u="none" cap="none" strike="noStrik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th derivative are equal at the join point.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56"/>
            <p:cNvSpPr txBox="1"/>
            <p:nvPr/>
          </p:nvSpPr>
          <p:spPr>
            <a:xfrm>
              <a:off x="144" y="3176"/>
              <a:ext cx="3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25" lIns="121900" spcFirstLastPara="1" rIns="121900" wrap="square" tIns="60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5050"/>
                </a:buClr>
                <a:buSzPts val="2400"/>
                <a:buFont typeface="Bookman Old Style"/>
                <a:buNone/>
              </a:pPr>
              <a:r>
                <a:rPr b="0" i="1" lang="en-US" sz="2400" u="sng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C</a:t>
              </a:r>
              <a:r>
                <a:rPr b="0" i="1" lang="en-US" sz="1200" u="none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</a:t>
              </a:r>
              <a:r>
                <a:rPr b="0" baseline="30000" i="1" lang="en-US" sz="2400" u="none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n</a:t>
              </a:r>
              <a:r>
                <a:rPr b="0" baseline="30000" i="0" lang="en-US" sz="2400" u="none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</a:t>
              </a:r>
              <a:r>
                <a:rPr b="0" i="0" lang="en-US" sz="2400" u="sng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Parametric</a:t>
              </a:r>
              <a:r>
                <a:rPr b="0" i="0" lang="en-US" sz="2400" u="none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</a:t>
              </a:r>
              <a:r>
                <a:rPr b="0" i="0" lang="en-US" sz="2400" u="sng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Continuity</a:t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5" name="Google Shape;465;p56"/>
          <p:cNvSpPr txBox="1"/>
          <p:nvPr>
            <p:ph type="title"/>
          </p:nvPr>
        </p:nvSpPr>
        <p:spPr>
          <a:xfrm>
            <a:off x="838200" y="-293734"/>
            <a:ext cx="105156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900" spcFirstLastPara="1" rIns="121900" wrap="square" tIns="609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Pts val="5900"/>
              <a:buFont typeface="Garamond"/>
              <a:buNone/>
            </a:pPr>
            <a:r>
              <a:rPr b="1" i="0" lang="en-US" sz="5500" u="none">
                <a:solidFill>
                  <a:srgbClr val="3F3F3F"/>
                </a:solidFill>
              </a:rPr>
              <a:t>Measure of Smoothness</a:t>
            </a:r>
            <a:endParaRPr sz="4000">
              <a:solidFill>
                <a:srgbClr val="3F3F3F"/>
              </a:solidFill>
            </a:endParaRPr>
          </a:p>
        </p:txBody>
      </p:sp>
      <p:grpSp>
        <p:nvGrpSpPr>
          <p:cNvPr id="466" name="Google Shape;466;p56"/>
          <p:cNvGrpSpPr/>
          <p:nvPr/>
        </p:nvGrpSpPr>
        <p:grpSpPr>
          <a:xfrm>
            <a:off x="304800" y="831850"/>
            <a:ext cx="11582532" cy="1881127"/>
            <a:chOff x="144" y="460"/>
            <a:chExt cx="5472" cy="1185"/>
          </a:xfrm>
        </p:grpSpPr>
        <p:sp>
          <p:nvSpPr>
            <p:cNvPr id="467" name="Google Shape;467;p56"/>
            <p:cNvSpPr txBox="1"/>
            <p:nvPr/>
          </p:nvSpPr>
          <p:spPr>
            <a:xfrm>
              <a:off x="215" y="768"/>
              <a:ext cx="3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25" lIns="121900" spcFirstLastPara="1" rIns="121900" wrap="square" tIns="60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b="0" i="0" lang="en-US" sz="2100" u="none" cap="none" strike="noStrik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If two curve segments join together.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56"/>
            <p:cNvSpPr txBox="1"/>
            <p:nvPr/>
          </p:nvSpPr>
          <p:spPr>
            <a:xfrm>
              <a:off x="144" y="460"/>
              <a:ext cx="3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25" lIns="121900" spcFirstLastPara="1" rIns="121900" wrap="square" tIns="60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5050"/>
                </a:buClr>
                <a:buSzPts val="2400"/>
                <a:buFont typeface="Bookman Old Style"/>
                <a:buNone/>
              </a:pPr>
              <a:r>
                <a:rPr b="0" i="1" lang="en-US" sz="2400" u="sng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</a:t>
              </a:r>
              <a:r>
                <a:rPr b="0" i="1" lang="en-US" sz="1200" u="none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</a:t>
              </a:r>
              <a:r>
                <a:rPr b="0" baseline="30000" i="0" lang="en-US" sz="2400" u="none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0 </a:t>
              </a:r>
              <a:r>
                <a:rPr b="0" i="0" lang="en-US" sz="2400" u="sng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Geometric</a:t>
              </a:r>
              <a:r>
                <a:rPr b="0" i="0" lang="en-US" sz="2400" u="none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</a:t>
              </a:r>
              <a:r>
                <a:rPr b="0" i="0" lang="en-US" sz="2400" u="sng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Continuity</a:t>
              </a:r>
              <a:r>
                <a:rPr b="0" i="0" lang="en-US" sz="2400" u="none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⇔ </a:t>
              </a:r>
              <a:r>
                <a:rPr b="0" i="1" lang="en-US" sz="2400" u="sng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C</a:t>
              </a:r>
              <a:r>
                <a:rPr b="0" i="1" lang="en-US" sz="1200" u="none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</a:t>
              </a:r>
              <a:r>
                <a:rPr b="0" baseline="30000" i="0" lang="en-US" sz="2400" u="none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0 </a:t>
              </a:r>
              <a:r>
                <a:rPr b="0" i="0" lang="en-US" sz="2400" u="sng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Parametric</a:t>
              </a:r>
              <a:r>
                <a:rPr b="0" i="0" lang="en-US" sz="2400" u="none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</a:t>
              </a:r>
              <a:r>
                <a:rPr b="0" i="0" lang="en-US" sz="2400" u="sng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Continuity</a:t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69" name="Google Shape;469;p5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080" y="460"/>
              <a:ext cx="1536" cy="11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0" name="Google Shape;470;p56"/>
            <p:cNvSpPr txBox="1"/>
            <p:nvPr/>
          </p:nvSpPr>
          <p:spPr>
            <a:xfrm>
              <a:off x="4944" y="768"/>
              <a:ext cx="6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25" lIns="121900" spcFirstLastPara="1" rIns="121900" wrap="square" tIns="60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3200"/>
                <a:buFont typeface="Times New Roman"/>
                <a:buNone/>
              </a:pPr>
              <a:r>
                <a:rPr b="1" i="1" lang="en-US" sz="3200" u="none" cap="none" strike="noStrik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b="1" baseline="30000" i="1" lang="en-US" sz="3200" u="none" cap="none" strike="noStrik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1" name="Google Shape;471;p56"/>
          <p:cNvGrpSpPr/>
          <p:nvPr/>
        </p:nvGrpSpPr>
        <p:grpSpPr>
          <a:xfrm>
            <a:off x="304800" y="2692400"/>
            <a:ext cx="11582189" cy="1911255"/>
            <a:chOff x="144" y="1632"/>
            <a:chExt cx="5472" cy="1204"/>
          </a:xfrm>
        </p:grpSpPr>
        <p:sp>
          <p:nvSpPr>
            <p:cNvPr id="472" name="Google Shape;472;p56"/>
            <p:cNvSpPr txBox="1"/>
            <p:nvPr/>
          </p:nvSpPr>
          <p:spPr>
            <a:xfrm>
              <a:off x="144" y="1996"/>
              <a:ext cx="39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25" lIns="121900" spcFirstLastPara="1" rIns="121900" wrap="square" tIns="60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b="0" i="0" lang="en-US" sz="2100" u="none" cap="none" strike="noStrik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If the </a:t>
              </a:r>
              <a:r>
                <a:rPr b="1" i="0" lang="en-US" sz="2100" u="none" cap="none" strike="noStrik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directions and magnitudes</a:t>
              </a:r>
              <a:r>
                <a:rPr b="0" i="0" lang="en-US" sz="2100" u="none" cap="none" strike="noStrik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of the two segments’ tangent vectors are equal at a join point.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56"/>
            <p:cNvSpPr txBox="1"/>
            <p:nvPr/>
          </p:nvSpPr>
          <p:spPr>
            <a:xfrm>
              <a:off x="144" y="1804"/>
              <a:ext cx="3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25" lIns="121900" spcFirstLastPara="1" rIns="121900" wrap="square" tIns="60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5050"/>
                </a:buClr>
                <a:buSzPts val="2400"/>
                <a:buFont typeface="Bookman Old Style"/>
                <a:buNone/>
              </a:pPr>
              <a:r>
                <a:rPr b="0" i="1" lang="en-US" sz="2400" u="sng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C</a:t>
              </a:r>
              <a:r>
                <a:rPr b="0" i="1" lang="en-US" sz="1200" u="none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</a:t>
              </a:r>
              <a:r>
                <a:rPr b="0" baseline="30000" i="0" lang="en-US" sz="2400" u="none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1 </a:t>
              </a:r>
              <a:r>
                <a:rPr b="0" i="0" lang="en-US" sz="2400" u="sng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Parametric</a:t>
              </a:r>
              <a:r>
                <a:rPr b="0" i="0" lang="en-US" sz="2400" u="none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</a:t>
              </a:r>
              <a:r>
                <a:rPr b="0" i="0" lang="en-US" sz="2400" u="sng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Continuity</a:t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74" name="Google Shape;474;p5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076" y="1632"/>
              <a:ext cx="1540" cy="12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56"/>
            <p:cNvSpPr txBox="1"/>
            <p:nvPr/>
          </p:nvSpPr>
          <p:spPr>
            <a:xfrm>
              <a:off x="4944" y="2016"/>
              <a:ext cx="6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25" lIns="121900" spcFirstLastPara="1" rIns="121900" wrap="square" tIns="60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3200"/>
                <a:buFont typeface="Times New Roman"/>
                <a:buNone/>
              </a:pPr>
              <a:r>
                <a:rPr b="1" i="1" lang="en-US" sz="3200" u="none" cap="none" strike="noStrik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b="1" baseline="30000" i="1" lang="en-US" sz="3200" u="none" cap="none" strike="noStrik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6" name="Google Shape;476;p56"/>
          <p:cNvGrpSpPr/>
          <p:nvPr/>
        </p:nvGrpSpPr>
        <p:grpSpPr>
          <a:xfrm>
            <a:off x="304800" y="4000500"/>
            <a:ext cx="11582532" cy="2533765"/>
            <a:chOff x="144" y="2456"/>
            <a:chExt cx="5472" cy="1596"/>
          </a:xfrm>
        </p:grpSpPr>
        <p:pic>
          <p:nvPicPr>
            <p:cNvPr id="477" name="Google Shape;477;p5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080" y="2832"/>
              <a:ext cx="1536" cy="12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56"/>
            <p:cNvSpPr txBox="1"/>
            <p:nvPr/>
          </p:nvSpPr>
          <p:spPr>
            <a:xfrm>
              <a:off x="144" y="2668"/>
              <a:ext cx="39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25" lIns="121900" spcFirstLastPara="1" rIns="121900" wrap="square" tIns="60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b="0" i="0" lang="en-US" sz="2100" u="none" cap="none" strike="noStrik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If the direction and magnitude of </a:t>
              </a:r>
              <a:r>
                <a:rPr b="0" i="1" lang="en-US" sz="2100" u="none" cap="none" strike="noStrik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Q</a:t>
              </a:r>
              <a:r>
                <a:rPr b="0" baseline="30000" i="1" lang="en-US" sz="2100" u="none" cap="none" strike="noStrik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2</a:t>
              </a:r>
              <a:r>
                <a:rPr b="0" i="0" lang="en-US" sz="2100" u="none" cap="none" strike="noStrik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(</a:t>
              </a:r>
              <a:r>
                <a:rPr b="0" i="1" lang="en-US" sz="2100" u="none" cap="none" strike="noStrik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t</a:t>
              </a:r>
              <a:r>
                <a:rPr b="0" i="0" lang="en-US" sz="2100" u="none" cap="none" strike="noStrik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) (curvature or </a:t>
              </a:r>
              <a:r>
                <a:rPr b="1" i="0" lang="en-US" sz="2100" u="none" cap="none" strike="noStrik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acceleration</a:t>
              </a:r>
              <a:r>
                <a:rPr b="0" i="0" lang="en-US" sz="2100" u="none" cap="none" strike="noStrik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) are equal at the join point.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56"/>
            <p:cNvSpPr txBox="1"/>
            <p:nvPr/>
          </p:nvSpPr>
          <p:spPr>
            <a:xfrm>
              <a:off x="144" y="2456"/>
              <a:ext cx="3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25" lIns="121900" spcFirstLastPara="1" rIns="121900" wrap="square" tIns="60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5050"/>
                </a:buClr>
                <a:buSzPts val="2400"/>
                <a:buFont typeface="Bookman Old Style"/>
                <a:buNone/>
              </a:pPr>
              <a:r>
                <a:rPr b="0" i="1" lang="en-US" sz="2400" u="sng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C</a:t>
              </a:r>
              <a:r>
                <a:rPr b="0" i="1" lang="en-US" sz="1200" u="none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</a:t>
              </a:r>
              <a:r>
                <a:rPr b="0" baseline="30000" i="1" lang="en-US" sz="2400" u="none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2</a:t>
              </a:r>
              <a:r>
                <a:rPr b="0" baseline="30000" i="0" lang="en-US" sz="2400" u="none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</a:t>
              </a:r>
              <a:r>
                <a:rPr b="0" i="0" lang="en-US" sz="2400" u="sng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Parametric</a:t>
              </a:r>
              <a:r>
                <a:rPr b="0" i="0" lang="en-US" sz="2400" u="none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</a:t>
              </a:r>
              <a:r>
                <a:rPr b="0" i="0" lang="en-US" sz="2400" u="sng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Continuity</a:t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56"/>
            <p:cNvSpPr txBox="1"/>
            <p:nvPr/>
          </p:nvSpPr>
          <p:spPr>
            <a:xfrm>
              <a:off x="4944" y="3216"/>
              <a:ext cx="6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25" lIns="121900" spcFirstLastPara="1" rIns="121900" wrap="square" tIns="60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3200"/>
                <a:buFont typeface="Times New Roman"/>
                <a:buNone/>
              </a:pPr>
              <a:r>
                <a:rPr b="1" i="1" lang="en-US" sz="3200" u="none" cap="none" strike="noStrik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b="1" baseline="30000" i="1" lang="en-US" sz="3200" u="none" cap="none" strike="noStrik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1" name="Google Shape;481;p5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7"/>
          <p:cNvSpPr txBox="1"/>
          <p:nvPr/>
        </p:nvSpPr>
        <p:spPr>
          <a:xfrm>
            <a:off x="8710083" y="6367462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900" spcFirstLastPara="1" rIns="121900" wrap="square" tIns="60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None/>
            </a:pPr>
            <a:fld id="{00000000-1234-1234-1234-123412341234}" type="slidenum">
              <a:rPr b="0" i="0" lang="en-US" sz="1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57"/>
          <p:cNvSpPr txBox="1"/>
          <p:nvPr>
            <p:ph type="title"/>
          </p:nvPr>
        </p:nvSpPr>
        <p:spPr>
          <a:xfrm>
            <a:off x="922100" y="-48100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900" spcFirstLastPara="1" rIns="121900" wrap="square" tIns="609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Pts val="5900"/>
              <a:buFont typeface="Garamond"/>
              <a:buNone/>
            </a:pPr>
            <a:r>
              <a:rPr b="1" i="0" lang="en-US" sz="4900" u="none">
                <a:solidFill>
                  <a:srgbClr val="3F3F3F"/>
                </a:solidFill>
              </a:rPr>
              <a:t>Measure of Smoothness</a:t>
            </a:r>
            <a:endParaRPr sz="3500">
              <a:solidFill>
                <a:srgbClr val="3F3F3F"/>
              </a:solidFill>
            </a:endParaRPr>
          </a:p>
        </p:txBody>
      </p:sp>
      <p:grpSp>
        <p:nvGrpSpPr>
          <p:cNvPr id="488" name="Google Shape;488;p57"/>
          <p:cNvGrpSpPr/>
          <p:nvPr/>
        </p:nvGrpSpPr>
        <p:grpSpPr>
          <a:xfrm>
            <a:off x="508000" y="844595"/>
            <a:ext cx="5588001" cy="2427013"/>
            <a:chOff x="589" y="512"/>
            <a:chExt cx="2967" cy="1785"/>
          </a:xfrm>
        </p:grpSpPr>
        <p:pic>
          <p:nvPicPr>
            <p:cNvPr id="489" name="Google Shape;489;p5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89" y="619"/>
              <a:ext cx="2784" cy="16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0" name="Google Shape;490;p57"/>
            <p:cNvSpPr txBox="1"/>
            <p:nvPr/>
          </p:nvSpPr>
          <p:spPr>
            <a:xfrm>
              <a:off x="816" y="115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25" lIns="121900" spcFirstLastPara="1" rIns="121900" wrap="square" tIns="60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3200"/>
                <a:buFont typeface="Times New Roman"/>
                <a:buNone/>
              </a:pPr>
              <a:r>
                <a:rPr b="1" i="1" lang="en-US" sz="2400" u="none" cap="none" strike="noStrik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57"/>
            <p:cNvSpPr txBox="1"/>
            <p:nvPr/>
          </p:nvSpPr>
          <p:spPr>
            <a:xfrm>
              <a:off x="829" y="720"/>
              <a:ext cx="6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25" lIns="121900" spcFirstLastPara="1" rIns="121900" wrap="square" tIns="60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3200"/>
                <a:buFont typeface="Times New Roman"/>
                <a:buNone/>
              </a:pPr>
              <a:r>
                <a:rPr b="1" i="1" lang="en-US" sz="2300" u="none" cap="none" strike="noStrik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Joint Point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57"/>
            <p:cNvSpPr txBox="1"/>
            <p:nvPr/>
          </p:nvSpPr>
          <p:spPr>
            <a:xfrm>
              <a:off x="1632" y="1200"/>
              <a:ext cx="6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25" lIns="121900" spcFirstLastPara="1" rIns="121900" wrap="square" tIns="60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3200"/>
                <a:buFont typeface="Times New Roman"/>
                <a:buNone/>
              </a:pPr>
              <a:r>
                <a:rPr b="1" i="1" lang="en-US" sz="3200" u="none" cap="none" strike="noStrik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b="1" baseline="30000" i="1" lang="en-US" sz="3200" u="none" cap="none" strike="noStrik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57"/>
            <p:cNvSpPr txBox="1"/>
            <p:nvPr/>
          </p:nvSpPr>
          <p:spPr>
            <a:xfrm>
              <a:off x="2064" y="912"/>
              <a:ext cx="6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25" lIns="121900" spcFirstLastPara="1" rIns="121900" wrap="square" tIns="60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3200"/>
                <a:buFont typeface="Times New Roman"/>
                <a:buNone/>
              </a:pPr>
              <a:r>
                <a:rPr b="1" i="1" lang="en-US" sz="3200" u="none" cap="none" strike="noStrik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b="1" baseline="30000" i="1" lang="en-US" sz="3200" u="none" cap="none" strike="noStrik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57"/>
            <p:cNvSpPr txBox="1"/>
            <p:nvPr/>
          </p:nvSpPr>
          <p:spPr>
            <a:xfrm>
              <a:off x="2956" y="512"/>
              <a:ext cx="6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25" lIns="121900" spcFirstLastPara="1" rIns="121900" wrap="square" tIns="60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3200"/>
                <a:buFont typeface="Times New Roman"/>
                <a:buNone/>
              </a:pPr>
              <a:r>
                <a:rPr b="1" i="1" lang="en-US" sz="3200" u="none" cap="none" strike="noStrik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b="1" baseline="30000" i="1" lang="en-US" sz="3200" u="none" cap="none" strike="noStrik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5" name="Google Shape;495;p57"/>
          <p:cNvGrpSpPr/>
          <p:nvPr/>
        </p:nvGrpSpPr>
        <p:grpSpPr>
          <a:xfrm>
            <a:off x="6337300" y="3385813"/>
            <a:ext cx="5304156" cy="2996907"/>
            <a:chOff x="2544" y="1920"/>
            <a:chExt cx="2862" cy="2159"/>
          </a:xfrm>
        </p:grpSpPr>
        <p:pic>
          <p:nvPicPr>
            <p:cNvPr id="496" name="Google Shape;496;p5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544" y="2352"/>
              <a:ext cx="2862" cy="1624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97" name="Google Shape;497;p57"/>
            <p:cNvCxnSpPr/>
            <p:nvPr/>
          </p:nvCxnSpPr>
          <p:spPr>
            <a:xfrm flipH="1" rot="10800000">
              <a:off x="3360" y="1920"/>
              <a:ext cx="600" cy="12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498" name="Google Shape;498;p57"/>
            <p:cNvCxnSpPr/>
            <p:nvPr/>
          </p:nvCxnSpPr>
          <p:spPr>
            <a:xfrm flipH="1" rot="10800000">
              <a:off x="3312" y="2520"/>
              <a:ext cx="300" cy="6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499" name="Google Shape;499;p57"/>
            <p:cNvSpPr txBox="1"/>
            <p:nvPr/>
          </p:nvSpPr>
          <p:spPr>
            <a:xfrm>
              <a:off x="2592" y="3479"/>
              <a:ext cx="6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25" lIns="121900" spcFirstLastPara="1" rIns="121900" wrap="square" tIns="60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3200"/>
                <a:buFont typeface="Times New Roman"/>
                <a:buNone/>
              </a:pPr>
              <a:r>
                <a:rPr b="1" i="1" lang="en-US" sz="2800" u="none" cap="none" strike="noStrik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Q</a:t>
              </a:r>
              <a:r>
                <a:rPr b="1" baseline="-25000" i="1" lang="en-US" sz="2800" u="none" cap="none" strike="noStrik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57"/>
            <p:cNvSpPr txBox="1"/>
            <p:nvPr/>
          </p:nvSpPr>
          <p:spPr>
            <a:xfrm>
              <a:off x="3984" y="3120"/>
              <a:ext cx="6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25" lIns="121900" spcFirstLastPara="1" rIns="121900" wrap="square" tIns="60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3200"/>
                <a:buFont typeface="Times New Roman"/>
                <a:buNone/>
              </a:pPr>
              <a:r>
                <a:rPr b="1" i="1" lang="en-US" sz="2800" u="none" cap="none" strike="noStrik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Q</a:t>
              </a:r>
              <a:r>
                <a:rPr b="1" baseline="-25000" i="1" lang="en-US" sz="2800" u="none" cap="none" strike="noStrik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57"/>
            <p:cNvSpPr txBox="1"/>
            <p:nvPr/>
          </p:nvSpPr>
          <p:spPr>
            <a:xfrm>
              <a:off x="4704" y="2544"/>
              <a:ext cx="6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25" lIns="121900" spcFirstLastPara="1" rIns="121900" wrap="square" tIns="60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3200"/>
                <a:buFont typeface="Times New Roman"/>
                <a:buNone/>
              </a:pPr>
              <a:r>
                <a:rPr b="1" i="1" lang="en-US" sz="2800" u="none" cap="none" strike="noStrik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Q</a:t>
              </a:r>
              <a:r>
                <a:rPr b="1" baseline="-25000" i="1" lang="en-US" sz="2800" u="none" cap="none" strike="noStrik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57"/>
            <p:cNvSpPr txBox="1"/>
            <p:nvPr/>
          </p:nvSpPr>
          <p:spPr>
            <a:xfrm>
              <a:off x="3840" y="2006"/>
              <a:ext cx="1200" cy="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25" lIns="121900" spcFirstLastPara="1" rIns="121900" wrap="square" tIns="60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3200"/>
                <a:buFont typeface="Times New Roman"/>
                <a:buNone/>
              </a:pPr>
              <a:r>
                <a:rPr b="1" i="1" lang="en-US" sz="2800" u="none" cap="none" strike="noStrik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TV</a:t>
              </a:r>
              <a:r>
                <a:rPr b="1" baseline="-25000" i="1" lang="en-US" sz="2800" u="none" cap="none" strike="noStrik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r>
                <a:rPr b="1" i="1" lang="en-US" sz="2800" u="none" cap="none" strike="noStrik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=2*TV</a:t>
              </a:r>
              <a:r>
                <a:rPr b="1" baseline="-25000" i="1" lang="en-US" sz="2800" u="none" cap="none" strike="noStrik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1" baseline="-25000" i="1" sz="2800" u="none" cap="none" strike="noStrik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3" name="Google Shape;503;p57"/>
            <p:cNvSpPr txBox="1"/>
            <p:nvPr/>
          </p:nvSpPr>
          <p:spPr>
            <a:xfrm>
              <a:off x="2654" y="2400"/>
              <a:ext cx="900" cy="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25" lIns="121900" spcFirstLastPara="1" rIns="121900" wrap="square" tIns="60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3200"/>
                <a:buFont typeface="Times New Roman"/>
                <a:buNone/>
              </a:pPr>
              <a:r>
                <a:rPr b="1" i="1" lang="en-US" sz="2800" u="none" cap="none" strike="noStrik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TV</a:t>
              </a:r>
              <a:r>
                <a:rPr b="1" baseline="-25000" i="1" lang="en-US" sz="2800" u="none" cap="none" strike="noStrik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r>
                <a:rPr b="1" i="1" lang="en-US" sz="2800" u="none" cap="none" strike="noStrik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=TV</a:t>
              </a:r>
              <a:r>
                <a:rPr b="1" baseline="-25000" i="1" lang="en-US" sz="2800" u="none" cap="none" strike="noStrik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1" baseline="-25000" i="1" sz="2800" u="none" cap="none" strike="noStrik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504" name="Google Shape;504;p57"/>
          <p:cNvSpPr txBox="1"/>
          <p:nvPr/>
        </p:nvSpPr>
        <p:spPr>
          <a:xfrm>
            <a:off x="508016" y="3652700"/>
            <a:ext cx="5848500" cy="26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-27305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2700"/>
              <a:buFont typeface="Calibri"/>
              <a:buChar char="•"/>
            </a:pPr>
            <a:r>
              <a:rPr b="0" i="0" lang="en-US" sz="2700" u="none" cap="none" strike="noStrik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b="0" baseline="-25000" i="0" lang="en-US" sz="2700" u="none" cap="none" strike="noStrik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2700" u="none" cap="none" strike="noStrik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&amp; Q</a:t>
            </a:r>
            <a:r>
              <a:rPr b="0" baseline="-25000" i="0" lang="en-US" sz="2700" u="none" cap="none" strike="noStrik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700" u="none" cap="none" strike="noStrik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 are C</a:t>
            </a:r>
            <a:r>
              <a:rPr b="0" baseline="30000" i="0" lang="en-US" sz="2700" u="none" cap="none" strike="noStrik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2700" u="none" cap="none" strike="noStrik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 and G</a:t>
            </a:r>
            <a:r>
              <a:rPr b="0" baseline="30000" i="0" lang="en-US" sz="2700" u="none" cap="none" strike="noStrik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2700" u="none" cap="none" strike="noStrik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 continuous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305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2700"/>
              <a:buFont typeface="Calibri"/>
              <a:buChar char="•"/>
            </a:pPr>
            <a:r>
              <a:rPr b="0" i="0" lang="en-US" sz="2700" u="none" cap="none" strike="noStrik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b="0" baseline="-25000" i="0" lang="en-US" sz="2700" u="none" cap="none" strike="noStrik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2700" u="none" cap="none" strike="noStrik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&amp; Q</a:t>
            </a:r>
            <a:r>
              <a:rPr b="0" baseline="-25000" i="0" lang="en-US" sz="2700" u="none" cap="none" strike="noStrik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2700" u="none" cap="none" strike="noStrik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 are G</a:t>
            </a:r>
            <a:r>
              <a:rPr b="0" baseline="30000" i="0" lang="en-US" sz="2700" u="none" cap="none" strike="noStrik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2700" u="none" cap="none" strike="noStrik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 continuous only as Tangent vectors have different magnitude.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305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2700"/>
              <a:buFont typeface="Calibri"/>
              <a:buChar char="•"/>
            </a:pPr>
            <a:r>
              <a:rPr b="0" i="0" lang="en-US" sz="2700" u="none" cap="none" strike="noStrik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Observe the effect of increasing in magnitude of TV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57"/>
          <p:cNvSpPr txBox="1"/>
          <p:nvPr/>
        </p:nvSpPr>
        <p:spPr>
          <a:xfrm>
            <a:off x="7804149" y="5029200"/>
            <a:ext cx="628800" cy="7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Times New Roman"/>
              <a:buNone/>
            </a:pPr>
            <a:r>
              <a:rPr b="1" i="1" lang="en-US" sz="2800" u="none" cap="none" strike="noStrik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1" baseline="-25000" i="1" lang="en-US" sz="2800" u="none" cap="none" strike="noStrik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57"/>
          <p:cNvSpPr txBox="1"/>
          <p:nvPr/>
        </p:nvSpPr>
        <p:spPr>
          <a:xfrm>
            <a:off x="6343649" y="1114425"/>
            <a:ext cx="58485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By increasing parametric continuity we can increase smoothness of the curve.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5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5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Line Segment Parameterization</a:t>
            </a:r>
            <a:endParaRPr/>
          </a:p>
        </p:txBody>
      </p:sp>
      <p:sp>
        <p:nvSpPr>
          <p:cNvPr id="513" name="Google Shape;513;p5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79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 </a:t>
            </a:r>
            <a:endParaRPr/>
          </a:p>
        </p:txBody>
      </p:sp>
      <p:sp>
        <p:nvSpPr>
          <p:cNvPr id="514" name="Google Shape;514;p5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Linear Interpolation (or, Lerp)</a:t>
            </a:r>
            <a:endParaRPr/>
          </a:p>
        </p:txBody>
      </p:sp>
      <p:sp>
        <p:nvSpPr>
          <p:cNvPr id="520" name="Google Shape;520;p5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79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 </a:t>
            </a:r>
            <a:endParaRPr/>
          </a:p>
        </p:txBody>
      </p:sp>
      <p:sp>
        <p:nvSpPr>
          <p:cNvPr id="521" name="Google Shape;521;p5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6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Cubic Curves</a:t>
            </a:r>
            <a:endParaRPr/>
          </a:p>
        </p:txBody>
      </p:sp>
      <p:sp>
        <p:nvSpPr>
          <p:cNvPr id="527" name="Google Shape;527;p6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790" r="-66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 </a:t>
            </a:r>
            <a:endParaRPr/>
          </a:p>
        </p:txBody>
      </p:sp>
      <p:sp>
        <p:nvSpPr>
          <p:cNvPr id="528" name="Google Shape;528;p6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6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Desirable Properties of a Curve</a:t>
            </a:r>
            <a:endParaRPr/>
          </a:p>
        </p:txBody>
      </p:sp>
      <p:sp>
        <p:nvSpPr>
          <p:cNvPr id="534" name="Google Shape;534;p6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Simple control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lines need only two points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curves will need more (but not significantly more)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Intuitive control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Physically meaningful quantities like position, tangent, curvature etc.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Global Vs. Local Control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Portion of curve affected by a control point.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General Parameterization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Handle multi-valued x-y mapping</a:t>
            </a:r>
            <a:endParaRPr/>
          </a:p>
        </p:txBody>
      </p:sp>
      <p:sp>
        <p:nvSpPr>
          <p:cNvPr id="535" name="Google Shape;535;p6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6" name="Google Shape;536;p61"/>
          <p:cNvSpPr txBox="1"/>
          <p:nvPr/>
        </p:nvSpPr>
        <p:spPr>
          <a:xfrm>
            <a:off x="8610600" y="816700"/>
            <a:ext cx="2257500" cy="771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Spring 2026 Final Syllabus Upto this.</a:t>
            </a:r>
            <a:endParaRPr b="1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62"/>
          <p:cNvSpPr txBox="1"/>
          <p:nvPr>
            <p:ph type="title"/>
          </p:nvPr>
        </p:nvSpPr>
        <p:spPr>
          <a:xfrm>
            <a:off x="1629156" y="2275165"/>
            <a:ext cx="8933700" cy="24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800"/>
              <a:buFont typeface="Avenir"/>
              <a:buNone/>
            </a:pPr>
            <a:r>
              <a:rPr lang="en-US"/>
              <a:t>BÉZIER CURVE</a:t>
            </a:r>
            <a:endParaRPr/>
          </a:p>
        </p:txBody>
      </p:sp>
      <p:sp>
        <p:nvSpPr>
          <p:cNvPr id="542" name="Google Shape;542;p62"/>
          <p:cNvSpPr txBox="1"/>
          <p:nvPr>
            <p:ph idx="12" type="sldNum"/>
          </p:nvPr>
        </p:nvSpPr>
        <p:spPr>
          <a:xfrm>
            <a:off x="8604504" y="5177408"/>
            <a:ext cx="1958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6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History</a:t>
            </a:r>
            <a:endParaRPr/>
          </a:p>
        </p:txBody>
      </p:sp>
      <p:sp>
        <p:nvSpPr>
          <p:cNvPr id="548" name="Google Shape;548;p63"/>
          <p:cNvSpPr txBox="1"/>
          <p:nvPr>
            <p:ph idx="1" type="body"/>
          </p:nvPr>
        </p:nvSpPr>
        <p:spPr>
          <a:xfrm>
            <a:off x="1066800" y="2103120"/>
            <a:ext cx="4570200" cy="3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Named after French engineer Pierre Bézier (1910–1999), 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First used it in the 1960s for designing curves for the bodywork of Renault cars.</a:t>
            </a:r>
            <a:endParaRPr/>
          </a:p>
        </p:txBody>
      </p:sp>
      <p:pic>
        <p:nvPicPr>
          <p:cNvPr id="549" name="Google Shape;549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7160" y="2014194"/>
            <a:ext cx="4906946" cy="2574577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6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6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Bézier Curve</a:t>
            </a:r>
            <a:endParaRPr/>
          </a:p>
        </p:txBody>
      </p:sp>
      <p:sp>
        <p:nvSpPr>
          <p:cNvPr id="556" name="Google Shape;556;p64"/>
          <p:cNvSpPr txBox="1"/>
          <p:nvPr>
            <p:ph idx="1" type="body"/>
          </p:nvPr>
        </p:nvSpPr>
        <p:spPr>
          <a:xfrm>
            <a:off x="1066800" y="2103120"/>
            <a:ext cx="5585100" cy="3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Will have some control points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Move around control points to change shape of the curve</a:t>
            </a:r>
            <a:endParaRPr/>
          </a:p>
          <a:p>
            <a:pPr indent="-30479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30479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For example: 4 control points to build a cubic Bézier curve</a:t>
            </a:r>
            <a:endParaRPr/>
          </a:p>
        </p:txBody>
      </p:sp>
      <p:pic>
        <p:nvPicPr>
          <p:cNvPr descr="Bézier curve - Wikipedia" id="557" name="Google Shape;557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83306" y="2441748"/>
            <a:ext cx="4799094" cy="2999434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6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6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Family of Bézier Curves</a:t>
            </a:r>
            <a:endParaRPr/>
          </a:p>
        </p:txBody>
      </p:sp>
      <p:pic>
        <p:nvPicPr>
          <p:cNvPr id="564" name="Google Shape;564;p6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5464" l="0" r="0" t="0"/>
          <a:stretch/>
        </p:blipFill>
        <p:spPr>
          <a:xfrm>
            <a:off x="1607406" y="2074389"/>
            <a:ext cx="8977200" cy="34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65"/>
          <p:cNvSpPr txBox="1"/>
          <p:nvPr/>
        </p:nvSpPr>
        <p:spPr>
          <a:xfrm>
            <a:off x="1607431" y="5637125"/>
            <a:ext cx="897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Linear                         Quadratic                          Cubic                        Quartic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6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6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Bézier Curve Demonstration</a:t>
            </a:r>
            <a:endParaRPr/>
          </a:p>
        </p:txBody>
      </p:sp>
      <p:sp>
        <p:nvSpPr>
          <p:cNvPr id="572" name="Google Shape;572;p66"/>
          <p:cNvSpPr txBox="1"/>
          <p:nvPr>
            <p:ph idx="1" type="body"/>
          </p:nvPr>
        </p:nvSpPr>
        <p:spPr>
          <a:xfrm>
            <a:off x="838200" y="2206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Single Curve Graph 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https://www.desmos.com/calculator/d1ofwre0fr</a:t>
            </a:r>
            <a:endParaRPr/>
          </a:p>
          <a:p>
            <a:pPr indent="-30479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Family of Bezier Curve Animation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https://www.jasondavies.com/animated-bezier/</a:t>
            </a:r>
            <a:endParaRPr/>
          </a:p>
        </p:txBody>
      </p:sp>
      <p:sp>
        <p:nvSpPr>
          <p:cNvPr id="573" name="Google Shape;573;p6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6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How to draw Bézier Curves</a:t>
            </a:r>
            <a:endParaRPr/>
          </a:p>
        </p:txBody>
      </p:sp>
      <p:sp>
        <p:nvSpPr>
          <p:cNvPr id="579" name="Google Shape;579;p6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479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Cubic Bezier Curve Code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https://editor.p5js.org/shonku/sketches/vonrqpOhd</a:t>
            </a:r>
            <a:endParaRPr/>
          </a:p>
          <a:p>
            <a:pPr indent="-30479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580" name="Google Shape;580;p6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6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Draw Cubic Bézier Curves</a:t>
            </a:r>
            <a:endParaRPr/>
          </a:p>
        </p:txBody>
      </p:sp>
      <p:sp>
        <p:nvSpPr>
          <p:cNvPr id="586" name="Google Shape;586;p68"/>
          <p:cNvSpPr txBox="1"/>
          <p:nvPr>
            <p:ph idx="1" type="body"/>
          </p:nvPr>
        </p:nvSpPr>
        <p:spPr>
          <a:xfrm>
            <a:off x="1066800" y="2103120"/>
            <a:ext cx="6198300" cy="43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Given 4 control points p1, p2, p3, p4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For t = 0 to 1 in proper interval:</a:t>
            </a:r>
            <a:endParaRPr/>
          </a:p>
          <a:p>
            <a:pPr indent="0" lvl="1" marL="27432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q1 = lerp(p1, p2, t)</a:t>
            </a:r>
            <a:endParaRPr/>
          </a:p>
          <a:p>
            <a:pPr indent="0" lvl="1" marL="27432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q2 = lerp(p2, p3, t)</a:t>
            </a:r>
            <a:endParaRPr/>
          </a:p>
          <a:p>
            <a:pPr indent="0" lvl="1" marL="27432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q3 = lerp(p3, p4, t)</a:t>
            </a:r>
            <a:endParaRPr/>
          </a:p>
          <a:p>
            <a:pPr indent="0" lvl="1" marL="27432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1" marL="27432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r1 = lerp(q1, q2, t)</a:t>
            </a:r>
            <a:endParaRPr/>
          </a:p>
          <a:p>
            <a:pPr indent="0" lvl="1" marL="27432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r2 = lerp(q2, q3, t)</a:t>
            </a:r>
            <a:endParaRPr/>
          </a:p>
          <a:p>
            <a:pPr indent="0" lvl="1" marL="27432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1" marL="27432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s = lerp(r1, r2, t)</a:t>
            </a:r>
            <a:endParaRPr/>
          </a:p>
          <a:p>
            <a:pPr indent="0" lvl="1" marL="27432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Draw(s)</a:t>
            </a:r>
            <a:endParaRPr/>
          </a:p>
        </p:txBody>
      </p:sp>
      <p:pic>
        <p:nvPicPr>
          <p:cNvPr id="587" name="Google Shape;587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62450" y="1956416"/>
            <a:ext cx="3878916" cy="387129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88" name="Google Shape;588;p6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6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Draw Bézier curves</a:t>
            </a:r>
            <a:endParaRPr/>
          </a:p>
        </p:txBody>
      </p:sp>
      <p:sp>
        <p:nvSpPr>
          <p:cNvPr id="594" name="Google Shape;594;p6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Process of recursively finding a point on a Bézier curve has a name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“De Casteljau’s Algorithm”</a:t>
            </a:r>
            <a:endParaRPr/>
          </a:p>
        </p:txBody>
      </p:sp>
      <p:sp>
        <p:nvSpPr>
          <p:cNvPr id="595" name="Google Shape;595;p6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7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Equation of a Cubic Bézier Curve</a:t>
            </a:r>
            <a:endParaRPr/>
          </a:p>
        </p:txBody>
      </p:sp>
      <p:sp>
        <p:nvSpPr>
          <p:cNvPr id="601" name="Google Shape;601;p70"/>
          <p:cNvSpPr txBox="1"/>
          <p:nvPr>
            <p:ph idx="1" type="body"/>
          </p:nvPr>
        </p:nvSpPr>
        <p:spPr>
          <a:xfrm>
            <a:off x="0" y="2263925"/>
            <a:ext cx="1859700" cy="687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85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ct val="100000"/>
              <a:buNone/>
            </a:pPr>
            <a:r>
              <a:rPr lang="en-US" sz="1400">
                <a:latin typeface="Consolas"/>
                <a:ea typeface="Consolas"/>
                <a:cs typeface="Consolas"/>
                <a:sym typeface="Consolas"/>
              </a:rPr>
              <a:t>r1 = q1 + (q2 – q1)t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ct val="100000"/>
              <a:buNone/>
            </a:pPr>
            <a:r>
              <a:rPr lang="en-US" sz="1400">
                <a:latin typeface="Consolas"/>
                <a:ea typeface="Consolas"/>
                <a:cs typeface="Consolas"/>
                <a:sym typeface="Consolas"/>
              </a:rPr>
              <a:t>r2 = q2 + (q3 – q2)t</a:t>
            </a:r>
            <a:endParaRPr/>
          </a:p>
        </p:txBody>
      </p:sp>
      <p:sp>
        <p:nvSpPr>
          <p:cNvPr id="602" name="Google Shape;602;p70"/>
          <p:cNvSpPr txBox="1"/>
          <p:nvPr/>
        </p:nvSpPr>
        <p:spPr>
          <a:xfrm>
            <a:off x="2160125" y="1806719"/>
            <a:ext cx="9877800" cy="44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80"/>
              <a:buFont typeface="Garamond"/>
              <a:buNone/>
            </a:pP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 = </a:t>
            </a:r>
            <a:r>
              <a:rPr b="0" i="0" lang="en-US" sz="178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r1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+ (</a:t>
            </a:r>
            <a:r>
              <a:rPr b="0" i="0" lang="en-US" sz="1780" u="none" cap="none" strike="noStrike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r2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– </a:t>
            </a:r>
            <a:r>
              <a:rPr b="0" i="0" lang="en-US" sz="1780" u="none" cap="none" strike="noStrik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r1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)t</a:t>
            </a:r>
            <a:endParaRPr b="0" i="0" sz="15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480"/>
              <a:buFont typeface="Garamond"/>
              <a:buNone/>
            </a:pP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= </a:t>
            </a:r>
            <a:r>
              <a:rPr b="0" i="0" lang="en-US" sz="178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q1 + (q2 – q1)t 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 (</a:t>
            </a:r>
            <a:r>
              <a:rPr b="0" i="0" lang="en-US" sz="1780" u="none" cap="none" strike="noStrike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q2 + (q3 – q2)t 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b="0" i="0" lang="en-US" sz="1780" u="none" cap="none" strike="noStrik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q1 - (q2 – q1)t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)t</a:t>
            </a:r>
            <a:endParaRPr b="0" i="0" sz="15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480"/>
              <a:buFont typeface="Garamond"/>
              <a:buNone/>
            </a:pP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= q1 + tq2 – tq1 + (q2 + tq3 – tq2 – q1 – tq2 + tq1)t</a:t>
            </a:r>
            <a:endParaRPr b="0" i="0" sz="15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480"/>
              <a:buFont typeface="Garamond"/>
              <a:buNone/>
            </a:pP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= q1 + tq2 – tq1 + tq2 + t</a:t>
            </a:r>
            <a:r>
              <a:rPr b="0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q3 – t</a:t>
            </a:r>
            <a:r>
              <a:rPr b="0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q2 – tq1 – t</a:t>
            </a:r>
            <a:r>
              <a:rPr b="0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q2 + t</a:t>
            </a:r>
            <a:r>
              <a:rPr b="0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q1</a:t>
            </a:r>
            <a:endParaRPr b="0" i="0" sz="15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480"/>
              <a:buFont typeface="Garamond"/>
              <a:buNone/>
            </a:pP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= </a:t>
            </a:r>
            <a:r>
              <a:rPr b="0" i="0" lang="en-US" sz="178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q1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(1 – 2t + t</a:t>
            </a:r>
            <a:r>
              <a:rPr b="0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+ </a:t>
            </a:r>
            <a:r>
              <a:rPr b="0" i="0" lang="en-US" sz="1780" u="none" cap="none" strike="noStrike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q2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(2t – 2t</a:t>
            </a:r>
            <a:r>
              <a:rPr b="0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+ </a:t>
            </a:r>
            <a:r>
              <a:rPr b="0" i="0" lang="en-US" sz="1780" u="none" cap="none" strike="noStrik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q3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(t</a:t>
            </a:r>
            <a:r>
              <a:rPr b="0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5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480"/>
              <a:buFont typeface="Garamond"/>
              <a:buNone/>
            </a:pP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= </a:t>
            </a:r>
            <a:r>
              <a:rPr b="0" i="0" lang="en-US" sz="178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(p1 + (p2 – p1)t)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(1 – 2t + t</a:t>
            </a:r>
            <a:r>
              <a:rPr b="0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+ </a:t>
            </a:r>
            <a:r>
              <a:rPr b="0" i="0" lang="en-US" sz="1780" u="none" cap="none" strike="noStrike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(p2 + (p3 – p2)t)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(2t – 2t</a:t>
            </a:r>
            <a:r>
              <a:rPr b="0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+ </a:t>
            </a:r>
            <a:r>
              <a:rPr b="0" i="0" lang="en-US" sz="1780" u="none" cap="none" strike="noStrik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(p3 + (p4 –     p3)t)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(t</a:t>
            </a:r>
            <a:r>
              <a:rPr b="0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5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480"/>
              <a:buFont typeface="Garamond"/>
              <a:buNone/>
            </a:pP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= (p1 + tp2 – tp1)(1 – 2t + t</a:t>
            </a:r>
            <a:r>
              <a:rPr b="0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+ (p2 + tp3 – tp2)(2t – 2t</a:t>
            </a:r>
            <a:r>
              <a:rPr b="0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+ (p3 + tp4 – tp3)(t</a:t>
            </a:r>
            <a:r>
              <a:rPr b="0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5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480"/>
              <a:buFont typeface="Garamond"/>
              <a:buNone/>
            </a:pP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= (p1 – 2tp1 + t</a:t>
            </a:r>
            <a:r>
              <a:rPr b="0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p1 + tp2 – 2t</a:t>
            </a:r>
            <a:r>
              <a:rPr b="0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p2 + t</a:t>
            </a:r>
            <a:r>
              <a:rPr b="0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p2 – tp1 + 2t</a:t>
            </a:r>
            <a:r>
              <a:rPr b="0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p1 – t</a:t>
            </a:r>
            <a:r>
              <a:rPr b="0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p1) + (2tp2 – 2t</a:t>
            </a:r>
            <a:r>
              <a:rPr b="0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p2 + 2t</a:t>
            </a:r>
            <a:r>
              <a:rPr b="0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p3 – 2t</a:t>
            </a:r>
            <a:r>
              <a:rPr b="0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p3 – 2t</a:t>
            </a:r>
            <a:r>
              <a:rPr b="0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p2 + 2t</a:t>
            </a:r>
            <a:r>
              <a:rPr b="0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p2) + (t</a:t>
            </a:r>
            <a:r>
              <a:rPr b="0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p3 + t</a:t>
            </a:r>
            <a:r>
              <a:rPr b="0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p4 – t</a:t>
            </a:r>
            <a:r>
              <a:rPr b="0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p3)</a:t>
            </a:r>
            <a:endParaRPr b="0" i="0" sz="15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480"/>
              <a:buFont typeface="Garamond"/>
              <a:buNone/>
            </a:pPr>
            <a:r>
              <a:rPr b="1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= (1 – 3t + 3t</a:t>
            </a:r>
            <a:r>
              <a:rPr b="1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– t</a:t>
            </a:r>
            <a:r>
              <a:rPr b="1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1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)p1 + (3t – 6t</a:t>
            </a:r>
            <a:r>
              <a:rPr b="1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+ 3t</a:t>
            </a:r>
            <a:r>
              <a:rPr b="1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1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)p2 + (3t</a:t>
            </a:r>
            <a:r>
              <a:rPr b="1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– 3t</a:t>
            </a:r>
            <a:r>
              <a:rPr b="1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1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)p3 + t</a:t>
            </a:r>
            <a:r>
              <a:rPr b="1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1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p4</a:t>
            </a:r>
            <a:endParaRPr b="0" i="0" sz="15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480"/>
              <a:buFont typeface="Garamond"/>
              <a:buNone/>
            </a:pPr>
            <a:r>
              <a:rPr b="1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= (1 – t)</a:t>
            </a:r>
            <a:r>
              <a:rPr b="1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1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p1 + 3t(1 – t)</a:t>
            </a:r>
            <a:r>
              <a:rPr b="1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 </a:t>
            </a:r>
            <a:r>
              <a:rPr b="1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p2 + 3t</a:t>
            </a:r>
            <a:r>
              <a:rPr b="1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(1 – t) p3 + t</a:t>
            </a:r>
            <a:r>
              <a:rPr b="1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1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p4</a:t>
            </a:r>
            <a:endParaRPr b="0" i="0" sz="15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480"/>
              <a:buFont typeface="Garamond"/>
              <a:buNone/>
            </a:pPr>
            <a:r>
              <a:t/>
            </a:r>
            <a:endParaRPr b="0" i="0" sz="178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480"/>
              <a:buFont typeface="Garamond"/>
              <a:buNone/>
            </a:pPr>
            <a:r>
              <a:t/>
            </a:r>
            <a:endParaRPr b="0" i="0" sz="178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2220"/>
              <a:buFont typeface="Garamond"/>
              <a:buNone/>
            </a:pPr>
            <a:r>
              <a:t/>
            </a:r>
            <a:endParaRPr b="0" i="0" sz="252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03" name="Google Shape;603;p7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4" name="Google Shape;604;p70"/>
          <p:cNvSpPr txBox="1"/>
          <p:nvPr>
            <p:ph idx="1" type="body"/>
          </p:nvPr>
        </p:nvSpPr>
        <p:spPr>
          <a:xfrm>
            <a:off x="0" y="1806725"/>
            <a:ext cx="1859700" cy="365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85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ct val="100000"/>
              <a:buNone/>
            </a:pPr>
            <a:r>
              <a:rPr lang="en-US" sz="1400">
                <a:latin typeface="Consolas"/>
                <a:ea typeface="Consolas"/>
                <a:cs typeface="Consolas"/>
                <a:sym typeface="Consolas"/>
              </a:rPr>
              <a:t>s = r1 + (r2 – r2)t</a:t>
            </a:r>
            <a:endParaRPr/>
          </a:p>
        </p:txBody>
      </p:sp>
      <p:sp>
        <p:nvSpPr>
          <p:cNvPr id="605" name="Google Shape;605;p70"/>
          <p:cNvSpPr txBox="1"/>
          <p:nvPr>
            <p:ph idx="1" type="body"/>
          </p:nvPr>
        </p:nvSpPr>
        <p:spPr>
          <a:xfrm>
            <a:off x="0" y="3662029"/>
            <a:ext cx="1859700" cy="972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85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1400">
                <a:solidFill>
                  <a:srgbClr val="3F3F3F"/>
                </a:solidFill>
                <a:latin typeface="Consolas"/>
                <a:ea typeface="Consolas"/>
                <a:cs typeface="Consolas"/>
                <a:sym typeface="Consolas"/>
              </a:rPr>
              <a:t>q1 = p1 + (p2 – p1)t</a:t>
            </a:r>
            <a:endParaRPr>
              <a:solidFill>
                <a:srgbClr val="3F3F3F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ct val="100000"/>
              <a:buNone/>
            </a:pPr>
            <a:r>
              <a:rPr lang="en-US" sz="1400">
                <a:solidFill>
                  <a:srgbClr val="3F3F3F"/>
                </a:solidFill>
                <a:latin typeface="Consolas"/>
                <a:ea typeface="Consolas"/>
                <a:cs typeface="Consolas"/>
                <a:sym typeface="Consolas"/>
              </a:rPr>
              <a:t>q2 = p2 + (p3 – p2)t</a:t>
            </a:r>
            <a:endParaRPr>
              <a:solidFill>
                <a:srgbClr val="3F3F3F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ct val="100000"/>
              <a:buNone/>
            </a:pPr>
            <a:r>
              <a:rPr lang="en-US" sz="1400">
                <a:solidFill>
                  <a:srgbClr val="3F3F3F"/>
                </a:solidFill>
                <a:latin typeface="Consolas"/>
                <a:ea typeface="Consolas"/>
                <a:cs typeface="Consolas"/>
                <a:sym typeface="Consolas"/>
              </a:rPr>
              <a:t>q3 = p3 + (p4 – p3)t</a:t>
            </a:r>
            <a:endParaRPr>
              <a:solidFill>
                <a:srgbClr val="3F3F3F"/>
              </a:solidFill>
            </a:endParaRPr>
          </a:p>
        </p:txBody>
      </p:sp>
      <p:cxnSp>
        <p:nvCxnSpPr>
          <p:cNvPr id="606" name="Google Shape;606;p70"/>
          <p:cNvCxnSpPr>
            <a:stCxn id="604" idx="3"/>
          </p:cNvCxnSpPr>
          <p:nvPr/>
        </p:nvCxnSpPr>
        <p:spPr>
          <a:xfrm>
            <a:off x="1859700" y="1989275"/>
            <a:ext cx="331200" cy="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07" name="Google Shape;607;p70"/>
          <p:cNvCxnSpPr/>
          <p:nvPr/>
        </p:nvCxnSpPr>
        <p:spPr>
          <a:xfrm>
            <a:off x="1859675" y="2344700"/>
            <a:ext cx="629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08" name="Google Shape;608;p70"/>
          <p:cNvCxnSpPr/>
          <p:nvPr/>
        </p:nvCxnSpPr>
        <p:spPr>
          <a:xfrm>
            <a:off x="1859675" y="3792500"/>
            <a:ext cx="629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7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Matrix Eq</a:t>
            </a:r>
            <a:r>
              <a:rPr baseline="30000" lang="en-US"/>
              <a:t>n</a:t>
            </a:r>
            <a:r>
              <a:rPr lang="en-US"/>
              <a:t> of a Cubic Bézier Curve</a:t>
            </a:r>
            <a:endParaRPr/>
          </a:p>
        </p:txBody>
      </p:sp>
      <p:sp>
        <p:nvSpPr>
          <p:cNvPr id="614" name="Google Shape;614;p71"/>
          <p:cNvSpPr txBox="1"/>
          <p:nvPr>
            <p:ph idx="1" type="body"/>
          </p:nvPr>
        </p:nvSpPr>
        <p:spPr>
          <a:xfrm>
            <a:off x="1066800" y="2103120"/>
            <a:ext cx="7436100" cy="3849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-111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 </a:t>
            </a:r>
            <a:endParaRPr/>
          </a:p>
        </p:txBody>
      </p:sp>
      <p:sp>
        <p:nvSpPr>
          <p:cNvPr id="615" name="Google Shape;615;p71"/>
          <p:cNvSpPr txBox="1"/>
          <p:nvPr/>
        </p:nvSpPr>
        <p:spPr>
          <a:xfrm>
            <a:off x="9370243" y="1433772"/>
            <a:ext cx="2158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Dimensions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[1]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[1x4] [4x1]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[1x4][4x4][4x1]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71"/>
          <p:cNvSpPr txBox="1"/>
          <p:nvPr/>
        </p:nvSpPr>
        <p:spPr>
          <a:xfrm>
            <a:off x="6725869" y="5583412"/>
            <a:ext cx="4893600" cy="6462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5090" l="0" r="0" t="-472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7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7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The Bernstein Polynomials</a:t>
            </a:r>
            <a:endParaRPr/>
          </a:p>
        </p:txBody>
      </p:sp>
      <p:sp>
        <p:nvSpPr>
          <p:cNvPr id="623" name="Google Shape;623;p72"/>
          <p:cNvSpPr txBox="1"/>
          <p:nvPr>
            <p:ph idx="1" type="body"/>
          </p:nvPr>
        </p:nvSpPr>
        <p:spPr>
          <a:xfrm>
            <a:off x="1066800" y="2103120"/>
            <a:ext cx="4600500" cy="3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How much a point contributes to a certain position?</a:t>
            </a:r>
            <a:endParaRPr/>
          </a:p>
          <a:p>
            <a:pPr indent="-30479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Q(t) = </a:t>
            </a:r>
            <a:r>
              <a:rPr lang="en-US" sz="2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(1–3t+3t</a:t>
            </a:r>
            <a:r>
              <a:rPr baseline="30000" lang="en-US" sz="2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2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–t</a:t>
            </a:r>
            <a:r>
              <a:rPr baseline="30000" lang="en-US" sz="2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US" sz="2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p1 + </a:t>
            </a:r>
            <a:r>
              <a:rPr lang="en-US" sz="2400">
                <a:solidFill>
                  <a:srgbClr val="00863D"/>
                </a:solidFill>
                <a:latin typeface="Consolas"/>
                <a:ea typeface="Consolas"/>
                <a:cs typeface="Consolas"/>
                <a:sym typeface="Consolas"/>
              </a:rPr>
              <a:t>(3t–6t</a:t>
            </a:r>
            <a:r>
              <a:rPr baseline="30000" lang="en-US" sz="2400">
                <a:solidFill>
                  <a:srgbClr val="00863D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2400">
                <a:solidFill>
                  <a:srgbClr val="00863D"/>
                </a:solidFill>
                <a:latin typeface="Consolas"/>
                <a:ea typeface="Consolas"/>
                <a:cs typeface="Consolas"/>
                <a:sym typeface="Consolas"/>
              </a:rPr>
              <a:t>+3t</a:t>
            </a:r>
            <a:r>
              <a:rPr baseline="30000" lang="en-US" sz="2400">
                <a:solidFill>
                  <a:srgbClr val="00863D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US" sz="2400">
                <a:solidFill>
                  <a:srgbClr val="00863D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p2 + </a:t>
            </a:r>
            <a:r>
              <a:rPr lang="en-US" sz="2400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(3t</a:t>
            </a:r>
            <a:r>
              <a:rPr baseline="30000" lang="en-US" sz="2400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2400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–3t</a:t>
            </a:r>
            <a:r>
              <a:rPr baseline="30000" lang="en-US" sz="2400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US" sz="2400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p3 + </a:t>
            </a:r>
            <a:r>
              <a:rPr lang="en-US" sz="2400">
                <a:solidFill>
                  <a:srgbClr val="FF3399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baseline="30000" lang="en-US" sz="2400">
                <a:solidFill>
                  <a:srgbClr val="FF3399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p4</a:t>
            </a:r>
            <a:endParaRPr/>
          </a:p>
          <a:p>
            <a:pPr indent="-30479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624" name="Google Shape;624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51188" y="2180492"/>
            <a:ext cx="3863645" cy="3286248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7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7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The Bernstein Polynomials</a:t>
            </a:r>
            <a:endParaRPr/>
          </a:p>
        </p:txBody>
      </p:sp>
      <p:sp>
        <p:nvSpPr>
          <p:cNvPr id="631" name="Google Shape;631;p73"/>
          <p:cNvSpPr txBox="1"/>
          <p:nvPr>
            <p:ph idx="1" type="body"/>
          </p:nvPr>
        </p:nvSpPr>
        <p:spPr>
          <a:xfrm>
            <a:off x="1066800" y="2103120"/>
            <a:ext cx="4600500" cy="3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16002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Char char="◦"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Q(t) = </a:t>
            </a:r>
            <a:r>
              <a:rPr lang="en-US" sz="2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(1–3t+3t</a:t>
            </a:r>
            <a:r>
              <a:rPr baseline="30000" lang="en-US" sz="2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2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–t</a:t>
            </a:r>
            <a:r>
              <a:rPr baseline="30000" lang="en-US" sz="2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US" sz="2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p1 + </a:t>
            </a:r>
            <a:r>
              <a:rPr lang="en-US" sz="2400">
                <a:solidFill>
                  <a:srgbClr val="00863D"/>
                </a:solidFill>
                <a:latin typeface="Consolas"/>
                <a:ea typeface="Consolas"/>
                <a:cs typeface="Consolas"/>
                <a:sym typeface="Consolas"/>
              </a:rPr>
              <a:t>(3t–6t</a:t>
            </a:r>
            <a:r>
              <a:rPr baseline="30000" lang="en-US" sz="2400">
                <a:solidFill>
                  <a:srgbClr val="00863D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2400">
                <a:solidFill>
                  <a:srgbClr val="00863D"/>
                </a:solidFill>
                <a:latin typeface="Consolas"/>
                <a:ea typeface="Consolas"/>
                <a:cs typeface="Consolas"/>
                <a:sym typeface="Consolas"/>
              </a:rPr>
              <a:t>+3t</a:t>
            </a:r>
            <a:r>
              <a:rPr baseline="30000" lang="en-US" sz="2400">
                <a:solidFill>
                  <a:srgbClr val="00863D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US" sz="2400">
                <a:solidFill>
                  <a:srgbClr val="00863D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p2 + </a:t>
            </a:r>
            <a:r>
              <a:rPr lang="en-US" sz="2400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(3t</a:t>
            </a:r>
            <a:r>
              <a:rPr baseline="30000" lang="en-US" sz="2400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2400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–3t</a:t>
            </a:r>
            <a:r>
              <a:rPr baseline="30000" lang="en-US" sz="2400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US" sz="2400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p3 + </a:t>
            </a:r>
            <a:r>
              <a:rPr lang="en-US" sz="2400">
                <a:solidFill>
                  <a:srgbClr val="FF3399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baseline="30000" lang="en-US" sz="2400">
                <a:solidFill>
                  <a:srgbClr val="FF3399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p4</a:t>
            </a:r>
            <a:endParaRPr/>
          </a:p>
          <a:p>
            <a:pPr indent="-30479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ct val="85714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16002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ct val="100000"/>
              <a:buChar char="◦"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Sum of polynomials = 1</a:t>
            </a:r>
            <a:endParaRPr/>
          </a:p>
          <a:p>
            <a:pPr indent="-16002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ct val="116667"/>
              <a:buChar char="◦"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So, a point on the curve is a </a:t>
            </a:r>
            <a:r>
              <a:rPr b="1" i="1" lang="en-US">
                <a:latin typeface="Consolas"/>
                <a:ea typeface="Consolas"/>
                <a:cs typeface="Consolas"/>
                <a:sym typeface="Consolas"/>
              </a:rPr>
              <a:t>convex combination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of the control points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-30479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ct val="85714"/>
              <a:buNone/>
            </a:pPr>
            <a:r>
              <a:t/>
            </a:r>
            <a:endParaRPr/>
          </a:p>
        </p:txBody>
      </p:sp>
      <p:pic>
        <p:nvPicPr>
          <p:cNvPr id="632" name="Google Shape;632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51188" y="2180492"/>
            <a:ext cx="3863645" cy="3286248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7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7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The Bernstein Polynomials</a:t>
            </a:r>
            <a:endParaRPr/>
          </a:p>
        </p:txBody>
      </p:sp>
      <p:sp>
        <p:nvSpPr>
          <p:cNvPr id="639" name="Google Shape;639;p74"/>
          <p:cNvSpPr txBox="1"/>
          <p:nvPr>
            <p:ph idx="1" type="body"/>
          </p:nvPr>
        </p:nvSpPr>
        <p:spPr>
          <a:xfrm>
            <a:off x="1066800" y="2103120"/>
            <a:ext cx="100584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13716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85714"/>
              <a:buChar char="◦"/>
            </a:pPr>
            <a:r>
              <a:rPr lang="en-US"/>
              <a:t>Different Bernstein polynomial values for different values of t:</a:t>
            </a:r>
            <a:endParaRPr/>
          </a:p>
          <a:p>
            <a:pPr indent="-13716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ct val="85714"/>
              <a:buChar char="◦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https://editor.p5js.org/shonku/sketches/9dlzE16jW</a:t>
            </a:r>
            <a:endParaRPr/>
          </a:p>
          <a:p>
            <a:pPr indent="-30479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ct val="85714"/>
              <a:buNone/>
            </a:pPr>
            <a:r>
              <a:t/>
            </a:r>
            <a:endParaRPr/>
          </a:p>
        </p:txBody>
      </p:sp>
      <p:pic>
        <p:nvPicPr>
          <p:cNvPr id="640" name="Google Shape;640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48717" y="3451561"/>
            <a:ext cx="6294567" cy="276384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41" name="Google Shape;641;p7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7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Convex Hull Property</a:t>
            </a:r>
            <a:endParaRPr/>
          </a:p>
        </p:txBody>
      </p:sp>
      <p:sp>
        <p:nvSpPr>
          <p:cNvPr id="647" name="Google Shape;647;p7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910" r="0" t="-79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 </a:t>
            </a:r>
            <a:endParaRPr/>
          </a:p>
        </p:txBody>
      </p:sp>
      <p:sp>
        <p:nvSpPr>
          <p:cNvPr id="648" name="Google Shape;648;p75"/>
          <p:cNvSpPr txBox="1"/>
          <p:nvPr/>
        </p:nvSpPr>
        <p:spPr>
          <a:xfrm>
            <a:off x="1066800" y="5629578"/>
            <a:ext cx="100584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Not need for this course:</a:t>
            </a:r>
            <a:r>
              <a:rPr b="0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b="0" i="0" lang="en-US" sz="1800" u="sng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https://math.stackexchange.com/questions/229354/proof-that-the-convex-hull-of-a-finite-set-s-is-equal-to-all-convex-combinations</a:t>
            </a:r>
            <a:r>
              <a:rPr b="0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7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7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Convex Hull Property</a:t>
            </a:r>
            <a:endParaRPr/>
          </a:p>
        </p:txBody>
      </p:sp>
      <p:sp>
        <p:nvSpPr>
          <p:cNvPr id="655" name="Google Shape;655;p7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910" r="0" t="-79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 </a:t>
            </a:r>
            <a:endParaRPr/>
          </a:p>
        </p:txBody>
      </p:sp>
      <p:grpSp>
        <p:nvGrpSpPr>
          <p:cNvPr id="656" name="Google Shape;656;p76"/>
          <p:cNvGrpSpPr/>
          <p:nvPr/>
        </p:nvGrpSpPr>
        <p:grpSpPr>
          <a:xfrm>
            <a:off x="1138756" y="3429000"/>
            <a:ext cx="2696050" cy="2619020"/>
            <a:chOff x="1066800" y="3315957"/>
            <a:chExt cx="2696050" cy="2619020"/>
          </a:xfrm>
        </p:grpSpPr>
        <p:pic>
          <p:nvPicPr>
            <p:cNvPr id="657" name="Google Shape;657;p7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66800" y="3315957"/>
              <a:ext cx="2696050" cy="26190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8" name="Google Shape;658;p76"/>
            <p:cNvSpPr/>
            <p:nvPr/>
          </p:nvSpPr>
          <p:spPr>
            <a:xfrm>
              <a:off x="1341957" y="3466681"/>
              <a:ext cx="2245305" cy="2328148"/>
            </a:xfrm>
            <a:custGeom>
              <a:rect b="b" l="l" r="r" t="t"/>
              <a:pathLst>
                <a:path extrusionOk="0" h="2328148" w="2245305">
                  <a:moveTo>
                    <a:pt x="4522" y="2321170"/>
                  </a:moveTo>
                  <a:lnTo>
                    <a:pt x="2245305" y="954594"/>
                  </a:lnTo>
                  <a:lnTo>
                    <a:pt x="1260566" y="0"/>
                  </a:lnTo>
                  <a:lnTo>
                    <a:pt x="84909" y="813917"/>
                  </a:lnTo>
                  <a:cubicBezTo>
                    <a:pt x="41366" y="1259394"/>
                    <a:pt x="43543" y="1882671"/>
                    <a:pt x="0" y="2328148"/>
                  </a:cubicBezTo>
                </a:path>
              </a:pathLst>
            </a:custGeom>
            <a:noFill/>
            <a:ln cap="flat" cmpd="sng" w="12700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659" name="Google Shape;659;p76"/>
          <p:cNvGrpSpPr/>
          <p:nvPr/>
        </p:nvGrpSpPr>
        <p:grpSpPr>
          <a:xfrm>
            <a:off x="4660297" y="3429000"/>
            <a:ext cx="3084078" cy="2619019"/>
            <a:chOff x="4588341" y="3315957"/>
            <a:chExt cx="3084078" cy="2619019"/>
          </a:xfrm>
        </p:grpSpPr>
        <p:pic>
          <p:nvPicPr>
            <p:cNvPr id="660" name="Google Shape;660;p7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588341" y="3315957"/>
              <a:ext cx="3084078" cy="26190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1" name="Google Shape;661;p76"/>
            <p:cNvSpPr/>
            <p:nvPr/>
          </p:nvSpPr>
          <p:spPr>
            <a:xfrm>
              <a:off x="4815840" y="3759200"/>
              <a:ext cx="2672080" cy="1828800"/>
            </a:xfrm>
            <a:custGeom>
              <a:rect b="b" l="l" r="r" t="t"/>
              <a:pathLst>
                <a:path extrusionOk="0" h="1828800" w="2672080">
                  <a:moveTo>
                    <a:pt x="0" y="1828800"/>
                  </a:moveTo>
                  <a:lnTo>
                    <a:pt x="1930400" y="1727200"/>
                  </a:lnTo>
                  <a:lnTo>
                    <a:pt x="2672080" y="162560"/>
                  </a:lnTo>
                  <a:lnTo>
                    <a:pt x="101600" y="0"/>
                  </a:lnTo>
                  <a:lnTo>
                    <a:pt x="0" y="1828800"/>
                  </a:lnTo>
                  <a:close/>
                </a:path>
              </a:pathLst>
            </a:custGeom>
            <a:noFill/>
            <a:ln cap="flat" cmpd="sng" w="12700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662" name="Google Shape;662;p76"/>
          <p:cNvGrpSpPr/>
          <p:nvPr/>
        </p:nvGrpSpPr>
        <p:grpSpPr>
          <a:xfrm>
            <a:off x="8704310" y="3429000"/>
            <a:ext cx="2420890" cy="2540053"/>
            <a:chOff x="8632354" y="3315957"/>
            <a:chExt cx="2420890" cy="2540053"/>
          </a:xfrm>
        </p:grpSpPr>
        <p:pic>
          <p:nvPicPr>
            <p:cNvPr id="663" name="Google Shape;663;p7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632354" y="3315957"/>
              <a:ext cx="2420890" cy="254005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4" name="Google Shape;664;p76"/>
            <p:cNvSpPr/>
            <p:nvPr/>
          </p:nvSpPr>
          <p:spPr>
            <a:xfrm>
              <a:off x="9144000" y="3525520"/>
              <a:ext cx="1625600" cy="2092960"/>
            </a:xfrm>
            <a:custGeom>
              <a:rect b="b" l="l" r="r" t="t"/>
              <a:pathLst>
                <a:path extrusionOk="0" h="2092960" w="1625600">
                  <a:moveTo>
                    <a:pt x="106680" y="0"/>
                  </a:moveTo>
                  <a:lnTo>
                    <a:pt x="0" y="1859280"/>
                  </a:lnTo>
                  <a:lnTo>
                    <a:pt x="1625600" y="2092960"/>
                  </a:lnTo>
                  <a:lnTo>
                    <a:pt x="106680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665" name="Google Shape;665;p7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7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Derivatives</a:t>
            </a:r>
            <a:endParaRPr/>
          </a:p>
        </p:txBody>
      </p:sp>
      <p:sp>
        <p:nvSpPr>
          <p:cNvPr id="671" name="Google Shape;671;p77"/>
          <p:cNvSpPr txBox="1"/>
          <p:nvPr>
            <p:ph idx="1" type="body"/>
          </p:nvPr>
        </p:nvSpPr>
        <p:spPr>
          <a:xfrm>
            <a:off x="838200" y="1901825"/>
            <a:ext cx="10515600" cy="4351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20" l="-600" r="0" t="-63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 </a:t>
            </a:r>
            <a:endParaRPr/>
          </a:p>
        </p:txBody>
      </p:sp>
      <p:sp>
        <p:nvSpPr>
          <p:cNvPr id="672" name="Google Shape;672;p7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7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Derivatives</a:t>
            </a:r>
            <a:endParaRPr/>
          </a:p>
        </p:txBody>
      </p:sp>
      <p:sp>
        <p:nvSpPr>
          <p:cNvPr id="678" name="Google Shape;678;p7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600" r="0" t="-47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 </a:t>
            </a:r>
            <a:endParaRPr/>
          </a:p>
        </p:txBody>
      </p:sp>
      <p:sp>
        <p:nvSpPr>
          <p:cNvPr id="679" name="Google Shape;679;p7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7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Join Two Cubic Bézier Curve</a:t>
            </a:r>
            <a:endParaRPr/>
          </a:p>
        </p:txBody>
      </p:sp>
      <p:sp>
        <p:nvSpPr>
          <p:cNvPr id="685" name="Google Shape;685;p7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C(0) continuous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Not enough</a:t>
            </a:r>
            <a:endParaRPr/>
          </a:p>
        </p:txBody>
      </p:sp>
      <p:pic>
        <p:nvPicPr>
          <p:cNvPr id="686" name="Google Shape;686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40976" y="2278238"/>
            <a:ext cx="4237087" cy="3276884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p7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8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Join Two Cubic Bézier Curve</a:t>
            </a:r>
            <a:endParaRPr/>
          </a:p>
        </p:txBody>
      </p:sp>
      <p:sp>
        <p:nvSpPr>
          <p:cNvPr id="694" name="Google Shape;694;p80"/>
          <p:cNvSpPr txBox="1"/>
          <p:nvPr>
            <p:ph idx="1" type="body"/>
          </p:nvPr>
        </p:nvSpPr>
        <p:spPr>
          <a:xfrm>
            <a:off x="1066800" y="2103125"/>
            <a:ext cx="6501300" cy="44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How to ensure C(1)?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See the smoothness in action: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https://math.hws.edu/eck/cs424/notes2013/canvas/bezier.html</a:t>
            </a:r>
            <a:r>
              <a:rPr lang="en-US"/>
              <a:t> 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Coding Example: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https://editor.p5js.org/shonku/sketches/1wWKxEu0j</a:t>
            </a:r>
            <a:endParaRPr/>
          </a:p>
        </p:txBody>
      </p:sp>
      <p:pic>
        <p:nvPicPr>
          <p:cNvPr id="695" name="Google Shape;695;p8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68224" y="1973626"/>
            <a:ext cx="4350776" cy="3568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6" name="Google Shape;696;p80"/>
          <p:cNvCxnSpPr/>
          <p:nvPr/>
        </p:nvCxnSpPr>
        <p:spPr>
          <a:xfrm flipH="1" rot="10800000">
            <a:off x="7818120" y="3468257"/>
            <a:ext cx="2367300" cy="1574700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697" name="Google Shape;697;p8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8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Join Two Cubic Bézier Curve</a:t>
            </a:r>
            <a:endParaRPr/>
          </a:p>
        </p:txBody>
      </p:sp>
      <p:sp>
        <p:nvSpPr>
          <p:cNvPr id="704" name="Google Shape;704;p81"/>
          <p:cNvSpPr txBox="1"/>
          <p:nvPr>
            <p:ph idx="1" type="body"/>
          </p:nvPr>
        </p:nvSpPr>
        <p:spPr>
          <a:xfrm>
            <a:off x="1066800" y="2103120"/>
            <a:ext cx="4643100" cy="3849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970" r="0" t="-79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 </a:t>
            </a:r>
            <a:endParaRPr/>
          </a:p>
        </p:txBody>
      </p:sp>
      <p:grpSp>
        <p:nvGrpSpPr>
          <p:cNvPr id="705" name="Google Shape;705;p81"/>
          <p:cNvGrpSpPr/>
          <p:nvPr/>
        </p:nvGrpSpPr>
        <p:grpSpPr>
          <a:xfrm>
            <a:off x="6207543" y="1918454"/>
            <a:ext cx="4999153" cy="4195655"/>
            <a:chOff x="6207543" y="1918454"/>
            <a:chExt cx="4999153" cy="4195655"/>
          </a:xfrm>
        </p:grpSpPr>
        <p:pic>
          <p:nvPicPr>
            <p:cNvPr id="706" name="Google Shape;706;p8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207543" y="2014194"/>
              <a:ext cx="4999153" cy="40999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7" name="Google Shape;707;p81"/>
            <p:cNvSpPr txBox="1"/>
            <p:nvPr/>
          </p:nvSpPr>
          <p:spPr>
            <a:xfrm>
              <a:off x="7213600" y="3545840"/>
              <a:ext cx="5589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A(t)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81"/>
            <p:cNvSpPr txBox="1"/>
            <p:nvPr/>
          </p:nvSpPr>
          <p:spPr>
            <a:xfrm>
              <a:off x="8890000" y="4663440"/>
              <a:ext cx="5589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B(t)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81"/>
            <p:cNvSpPr txBox="1"/>
            <p:nvPr/>
          </p:nvSpPr>
          <p:spPr>
            <a:xfrm>
              <a:off x="6316980" y="4010811"/>
              <a:ext cx="327600" cy="3693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-1111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venir"/>
                  <a:ea typeface="Avenir"/>
                  <a:cs typeface="Avenir"/>
                  <a:sym typeface="Avenir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81"/>
            <p:cNvSpPr txBox="1"/>
            <p:nvPr/>
          </p:nvSpPr>
          <p:spPr>
            <a:xfrm>
              <a:off x="7608570" y="1918454"/>
              <a:ext cx="327600" cy="3693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-1670" l="0" r="-1296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venir"/>
                  <a:ea typeface="Avenir"/>
                  <a:cs typeface="Avenir"/>
                  <a:sym typeface="Avenir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81"/>
            <p:cNvSpPr txBox="1"/>
            <p:nvPr/>
          </p:nvSpPr>
          <p:spPr>
            <a:xfrm>
              <a:off x="6480810" y="5382411"/>
              <a:ext cx="327600" cy="3693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-1296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venir"/>
                  <a:ea typeface="Avenir"/>
                  <a:cs typeface="Avenir"/>
                  <a:sym typeface="Avenir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81"/>
            <p:cNvSpPr txBox="1"/>
            <p:nvPr/>
          </p:nvSpPr>
          <p:spPr>
            <a:xfrm>
              <a:off x="7772400" y="4645308"/>
              <a:ext cx="327600" cy="369300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-741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venir"/>
                  <a:ea typeface="Avenir"/>
                  <a:cs typeface="Avenir"/>
                  <a:sym typeface="Avenir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81"/>
            <p:cNvSpPr txBox="1"/>
            <p:nvPr/>
          </p:nvSpPr>
          <p:spPr>
            <a:xfrm>
              <a:off x="9005570" y="3397437"/>
              <a:ext cx="327600" cy="369300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-1640" l="0" r="-1296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venir"/>
                  <a:ea typeface="Avenir"/>
                  <a:cs typeface="Avenir"/>
                  <a:sym typeface="Avenir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81"/>
            <p:cNvSpPr txBox="1"/>
            <p:nvPr/>
          </p:nvSpPr>
          <p:spPr>
            <a:xfrm>
              <a:off x="9333230" y="5391314"/>
              <a:ext cx="327600" cy="369300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-1296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venir"/>
                  <a:ea typeface="Avenir"/>
                  <a:cs typeface="Avenir"/>
                  <a:sym typeface="Avenir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81"/>
            <p:cNvSpPr txBox="1"/>
            <p:nvPr/>
          </p:nvSpPr>
          <p:spPr>
            <a:xfrm>
              <a:off x="10686833" y="4195477"/>
              <a:ext cx="327600" cy="369300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-1296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venir"/>
                  <a:ea typeface="Avenir"/>
                  <a:cs typeface="Avenir"/>
                  <a:sym typeface="Avenir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6" name="Google Shape;716;p8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8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Join Two Cubic Bézier Curve</a:t>
            </a:r>
            <a:endParaRPr/>
          </a:p>
        </p:txBody>
      </p:sp>
      <p:sp>
        <p:nvSpPr>
          <p:cNvPr id="723" name="Google Shape;723;p82"/>
          <p:cNvSpPr txBox="1"/>
          <p:nvPr>
            <p:ph idx="1" type="body"/>
          </p:nvPr>
        </p:nvSpPr>
        <p:spPr>
          <a:xfrm>
            <a:off x="1066800" y="2103120"/>
            <a:ext cx="4643100" cy="3849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700" r="-236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 </a:t>
            </a:r>
            <a:endParaRPr/>
          </a:p>
        </p:txBody>
      </p:sp>
      <p:grpSp>
        <p:nvGrpSpPr>
          <p:cNvPr id="724" name="Google Shape;724;p82"/>
          <p:cNvGrpSpPr/>
          <p:nvPr/>
        </p:nvGrpSpPr>
        <p:grpSpPr>
          <a:xfrm>
            <a:off x="6207543" y="1918454"/>
            <a:ext cx="4999153" cy="4195655"/>
            <a:chOff x="6207543" y="1918454"/>
            <a:chExt cx="4999153" cy="4195655"/>
          </a:xfrm>
        </p:grpSpPr>
        <p:pic>
          <p:nvPicPr>
            <p:cNvPr id="725" name="Google Shape;725;p8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207543" y="2014194"/>
              <a:ext cx="4999153" cy="40999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6" name="Google Shape;726;p82"/>
            <p:cNvSpPr txBox="1"/>
            <p:nvPr/>
          </p:nvSpPr>
          <p:spPr>
            <a:xfrm>
              <a:off x="7213600" y="3545840"/>
              <a:ext cx="5589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A(t)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82"/>
            <p:cNvSpPr txBox="1"/>
            <p:nvPr/>
          </p:nvSpPr>
          <p:spPr>
            <a:xfrm>
              <a:off x="8890000" y="4663440"/>
              <a:ext cx="5589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B(t)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82"/>
            <p:cNvSpPr txBox="1"/>
            <p:nvPr/>
          </p:nvSpPr>
          <p:spPr>
            <a:xfrm>
              <a:off x="6316980" y="4010811"/>
              <a:ext cx="327600" cy="3693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-1111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venir"/>
                  <a:ea typeface="Avenir"/>
                  <a:cs typeface="Avenir"/>
                  <a:sym typeface="Avenir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82"/>
            <p:cNvSpPr txBox="1"/>
            <p:nvPr/>
          </p:nvSpPr>
          <p:spPr>
            <a:xfrm>
              <a:off x="7608570" y="1918454"/>
              <a:ext cx="327600" cy="3693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-1670" l="0" r="-1296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venir"/>
                  <a:ea typeface="Avenir"/>
                  <a:cs typeface="Avenir"/>
                  <a:sym typeface="Avenir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82"/>
            <p:cNvSpPr txBox="1"/>
            <p:nvPr/>
          </p:nvSpPr>
          <p:spPr>
            <a:xfrm>
              <a:off x="6480810" y="5382411"/>
              <a:ext cx="327600" cy="3693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-1296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venir"/>
                  <a:ea typeface="Avenir"/>
                  <a:cs typeface="Avenir"/>
                  <a:sym typeface="Avenir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82"/>
            <p:cNvSpPr txBox="1"/>
            <p:nvPr/>
          </p:nvSpPr>
          <p:spPr>
            <a:xfrm>
              <a:off x="7772400" y="4645308"/>
              <a:ext cx="327600" cy="369300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-741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venir"/>
                  <a:ea typeface="Avenir"/>
                  <a:cs typeface="Avenir"/>
                  <a:sym typeface="Avenir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82"/>
            <p:cNvSpPr txBox="1"/>
            <p:nvPr/>
          </p:nvSpPr>
          <p:spPr>
            <a:xfrm>
              <a:off x="9005570" y="3397437"/>
              <a:ext cx="327600" cy="369300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-1640" l="0" r="-1296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venir"/>
                  <a:ea typeface="Avenir"/>
                  <a:cs typeface="Avenir"/>
                  <a:sym typeface="Avenir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82"/>
            <p:cNvSpPr txBox="1"/>
            <p:nvPr/>
          </p:nvSpPr>
          <p:spPr>
            <a:xfrm>
              <a:off x="9333230" y="5391314"/>
              <a:ext cx="327600" cy="369300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-1296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venir"/>
                  <a:ea typeface="Avenir"/>
                  <a:cs typeface="Avenir"/>
                  <a:sym typeface="Avenir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82"/>
            <p:cNvSpPr txBox="1"/>
            <p:nvPr/>
          </p:nvSpPr>
          <p:spPr>
            <a:xfrm>
              <a:off x="10686833" y="4195477"/>
              <a:ext cx="327600" cy="369300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-1296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venir"/>
                  <a:ea typeface="Avenir"/>
                  <a:cs typeface="Avenir"/>
                  <a:sym typeface="Avenir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5" name="Google Shape;735;p8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8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Join Two Cubic Bézier Curve</a:t>
            </a:r>
            <a:endParaRPr/>
          </a:p>
        </p:txBody>
      </p:sp>
      <p:sp>
        <p:nvSpPr>
          <p:cNvPr id="742" name="Google Shape;742;p83"/>
          <p:cNvSpPr txBox="1"/>
          <p:nvPr>
            <p:ph idx="1" type="body"/>
          </p:nvPr>
        </p:nvSpPr>
        <p:spPr>
          <a:xfrm>
            <a:off x="1066800" y="2103120"/>
            <a:ext cx="88188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Difference of C and G continuity</a:t>
            </a:r>
            <a:endParaRPr/>
          </a:p>
        </p:txBody>
      </p:sp>
      <p:pic>
        <p:nvPicPr>
          <p:cNvPr id="743" name="Google Shape;743;p83"/>
          <p:cNvPicPr preferRelativeResize="0"/>
          <p:nvPr/>
        </p:nvPicPr>
        <p:blipFill rotWithShape="1">
          <a:blip r:embed="rId3">
            <a:alphaModFix/>
          </a:blip>
          <a:srcRect b="4297" l="0" r="0" t="0"/>
          <a:stretch/>
        </p:blipFill>
        <p:spPr>
          <a:xfrm>
            <a:off x="1066800" y="2761006"/>
            <a:ext cx="4249787" cy="2977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744" name="Google Shape;744;p8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76720" y="2761006"/>
            <a:ext cx="4551680" cy="2977857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83"/>
          <p:cNvSpPr txBox="1"/>
          <p:nvPr/>
        </p:nvSpPr>
        <p:spPr>
          <a:xfrm>
            <a:off x="2001520" y="4446006"/>
            <a:ext cx="914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C(1)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83"/>
          <p:cNvSpPr txBox="1"/>
          <p:nvPr/>
        </p:nvSpPr>
        <p:spPr>
          <a:xfrm>
            <a:off x="7802880" y="5126726"/>
            <a:ext cx="179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G(1), Not C(1)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8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84"/>
          <p:cNvSpPr txBox="1"/>
          <p:nvPr>
            <p:ph idx="1" type="body"/>
          </p:nvPr>
        </p:nvSpPr>
        <p:spPr>
          <a:xfrm>
            <a:off x="1066800" y="2784255"/>
            <a:ext cx="10058400" cy="16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4800"/>
              <a:t>That’s all</a:t>
            </a:r>
            <a:endParaRPr/>
          </a:p>
        </p:txBody>
      </p:sp>
      <p:sp>
        <p:nvSpPr>
          <p:cNvPr id="753" name="Google Shape;753;p8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8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Thanks to…</a:t>
            </a:r>
            <a:endParaRPr/>
          </a:p>
        </p:txBody>
      </p:sp>
      <p:sp>
        <p:nvSpPr>
          <p:cNvPr id="759" name="Google Shape;759;p8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Prof. Michael Gleicher for his CS599 course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https://pages.graphics.cs.wisc.edu/559-sp22/</a:t>
            </a:r>
            <a:r>
              <a:rPr lang="en-US"/>
              <a:t> </a:t>
            </a:r>
            <a:endParaRPr/>
          </a:p>
          <a:p>
            <a:pPr indent="-30479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u="sng">
              <a:solidFill>
                <a:schemeClr val="hlink"/>
              </a:solidFill>
              <a:hlinkClick r:id="rId4"/>
            </a:endParaRPr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 u="sng">
                <a:solidFill>
                  <a:schemeClr val="hlink"/>
                </a:solidFill>
                <a:hlinkClick r:id="rId5"/>
              </a:rPr>
              <a:t>https://www.cs.utexas.edu/users/fussell/courses/cs384g-fall2011/lectures/lecture17-Subdivision_curves.pdf</a:t>
            </a:r>
            <a:r>
              <a:rPr lang="en-US"/>
              <a:t> </a:t>
            </a:r>
            <a:endParaRPr/>
          </a:p>
        </p:txBody>
      </p:sp>
      <p:sp>
        <p:nvSpPr>
          <p:cNvPr id="760" name="Google Shape;760;p8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8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Thanks to…</a:t>
            </a:r>
            <a:endParaRPr/>
          </a:p>
        </p:txBody>
      </p:sp>
      <p:sp>
        <p:nvSpPr>
          <p:cNvPr id="766" name="Google Shape;766;p86"/>
          <p:cNvSpPr txBox="1"/>
          <p:nvPr>
            <p:ph idx="1" type="body"/>
          </p:nvPr>
        </p:nvSpPr>
        <p:spPr>
          <a:xfrm>
            <a:off x="1066800" y="2103120"/>
            <a:ext cx="5153100" cy="3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Freya Holmér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“The Beauty of Bézier Curves”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https://www.youtube.com/watch?v=aVwxzDHniEw</a:t>
            </a:r>
            <a:r>
              <a:rPr lang="en-US"/>
              <a:t> 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“The Continuity of Splines”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https://www.youtube.com/watch?v=jvPPXbo87ds</a:t>
            </a:r>
            <a:r>
              <a:rPr lang="en-US"/>
              <a:t> </a:t>
            </a:r>
            <a:endParaRPr/>
          </a:p>
        </p:txBody>
      </p:sp>
      <p:pic>
        <p:nvPicPr>
          <p:cNvPr id="767" name="Google Shape;767;p8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52537" y="1783170"/>
            <a:ext cx="2816554" cy="190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8" name="Google Shape;768;p8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52537" y="4138579"/>
            <a:ext cx="2817845" cy="2017907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8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