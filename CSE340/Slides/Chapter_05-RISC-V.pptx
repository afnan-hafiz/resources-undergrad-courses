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6858000" cx="9144000"/>
  <p:notesSz cx="7099300" cy="10234600"/>
  <p:embeddedFontLst>
    <p:embeddedFont>
      <p:font typeface="Arimo"/>
      <p:regular r:id="rId48"/>
      <p:bold r:id="rId49"/>
      <p:italic r:id="rId50"/>
      <p:boldItalic r:id="rId51"/>
    </p:embeddedFont>
    <p:embeddedFont>
      <p:font typeface="Corbel"/>
      <p:regular r:id="rId52"/>
      <p:bold r:id="rId53"/>
      <p:italic r:id="rId54"/>
      <p:boldItalic r:id="rId55"/>
    </p:embeddedFont>
    <p:embeddedFont>
      <p:font typeface="Arial Black"/>
      <p:regular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7" roundtripDataSignature="AMtx7mhgvy0I6HIwaufGRn5CTAPAgIB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123236-0E55-4775-9FB3-25CB43CF8C90}">
  <a:tblStyle styleId="{56123236-0E55-4775-9FB3-25CB43CF8C9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Arimo-regular.fntdata"/><Relationship Id="rId47" Type="http://schemas.openxmlformats.org/officeDocument/2006/relationships/slide" Target="slides/slide40.xml"/><Relationship Id="rId49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Arimo-boldItalic.fntdata"/><Relationship Id="rId50" Type="http://schemas.openxmlformats.org/officeDocument/2006/relationships/font" Target="fonts/Arimo-italic.fntdata"/><Relationship Id="rId53" Type="http://schemas.openxmlformats.org/officeDocument/2006/relationships/font" Target="fonts/Corbel-bold.fntdata"/><Relationship Id="rId52" Type="http://schemas.openxmlformats.org/officeDocument/2006/relationships/font" Target="fonts/Corbel-regular.fntdata"/><Relationship Id="rId11" Type="http://schemas.openxmlformats.org/officeDocument/2006/relationships/slide" Target="slides/slide4.xml"/><Relationship Id="rId55" Type="http://schemas.openxmlformats.org/officeDocument/2006/relationships/font" Target="fonts/Corbel-boldItalic.fntdata"/><Relationship Id="rId10" Type="http://schemas.openxmlformats.org/officeDocument/2006/relationships/slide" Target="slides/slide3.xml"/><Relationship Id="rId54" Type="http://schemas.openxmlformats.org/officeDocument/2006/relationships/font" Target="fonts/Corbel-italic.fntdata"/><Relationship Id="rId13" Type="http://schemas.openxmlformats.org/officeDocument/2006/relationships/slide" Target="slides/slide6.xml"/><Relationship Id="rId57" Type="http://customschemas.google.com/relationships/presentationmetadata" Target="metadata"/><Relationship Id="rId12" Type="http://schemas.openxmlformats.org/officeDocument/2006/relationships/slide" Target="slides/slide5.xml"/><Relationship Id="rId56" Type="http://schemas.openxmlformats.org/officeDocument/2006/relationships/font" Target="fonts/ArialBlack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3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3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6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6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7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7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7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7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7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7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7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7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7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7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7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7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7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7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7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7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7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7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7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7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8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8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8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78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8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78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9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79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79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79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79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79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0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0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0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0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0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80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1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1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1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1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1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81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2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 Kaufmann Publishers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82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2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5 — Large and Fast: Exploiting Memory Hierarchy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2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2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82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8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8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1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1"/>
          <p:cNvSpPr txBox="1"/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1"/>
          <p:cNvSpPr/>
          <p:nvPr>
            <p:ph idx="2" type="clipArt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11"/>
          <p:cNvSpPr txBox="1"/>
          <p:nvPr>
            <p:ph idx="1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4" name="Google Shape;44;p1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4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4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" name="Google Shape;53;p11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5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" name="Google Shape;57;p11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2" name="Google Shape;62;p11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66" name="Google Shape;66;p1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7" name="Google Shape;67;p11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1" name="Google Shape;71;p1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2" name="Google Shape;72;p1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3" name="Google Shape;73;p1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4" name="Google Shape;74;p11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9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8" name="Google Shape;78;p119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9" name="Google Shape;79;p11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3" name="Google Shape;83;p12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7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7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7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7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7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7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0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07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07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07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07"/>
          <p:cNvGrpSpPr/>
          <p:nvPr/>
        </p:nvGrpSpPr>
        <p:grpSpPr>
          <a:xfrm>
            <a:off x="7999412" y="93662"/>
            <a:ext cx="936625" cy="935037"/>
            <a:chOff x="7999413" y="93663"/>
            <a:chExt cx="936625" cy="935037"/>
          </a:xfrm>
        </p:grpSpPr>
        <p:sp>
          <p:nvSpPr>
            <p:cNvPr id="21" name="Google Shape;21;p107"/>
            <p:cNvSpPr/>
            <p:nvPr/>
          </p:nvSpPr>
          <p:spPr>
            <a:xfrm>
              <a:off x="7999413" y="93663"/>
              <a:ext cx="936625" cy="935037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07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07"/>
            <p:cNvSpPr txBox="1"/>
            <p:nvPr/>
          </p:nvSpPr>
          <p:spPr>
            <a:xfrm>
              <a:off x="8107363" y="493713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Edition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0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0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9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0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0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09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10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Chapter 5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2409825" y="2924175"/>
            <a:ext cx="5832475" cy="15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Large and Fast: Exploiting Memory Hierarchy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Principle of Locality</a:t>
            </a: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access a small proportion of their address space at any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accessed recently are likely to be accessed again soon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instructions in a loop, induction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Items near those accessed recently are likely to be accessed soon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sequential instruction access, array data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 rot="5400000">
            <a:off x="8008937" y="763587"/>
            <a:ext cx="190341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Taking Advantage of Locality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hierarchy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everything on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recently accessed (and nearby) items from disk to smaller DRAM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more recently accessed (and nearby) items from DRAM to smaller SRAM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 memory attached to CPU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2-P374493"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037" y="2224087"/>
            <a:ext cx="3216275" cy="3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Hierarchy Levels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678237" y="1125537"/>
            <a:ext cx="5276850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(aka line): unit of copying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multiple words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accessed data is present in upper level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Hit: access satisfied by upper level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ratio: hits/accesses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accessed data is absent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Miss: block copied from lower level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taken: miss penalty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ratio: misses/accesses</a:t>
            </a:r>
            <a:b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– hit ratio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accessed data supplied from upper level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Technology</a:t>
            </a:r>
            <a:endParaRPr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RAM (SRAM)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0.5ns – 2.5ns, $2000 – $5000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RAM (DRAM)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50ns – 70ns, $20 – $75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Magnetic disk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5ms – 20ms, $0.20 – $2 per GB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time of SRAM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 and cost/GB of disk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 rot="5400000">
            <a:off x="7491412" y="1281112"/>
            <a:ext cx="2938462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§5.2 Memory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4-P374493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0" y="3429000"/>
            <a:ext cx="37433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Memory</a:t>
            </a:r>
            <a:endParaRPr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84212" y="1125537"/>
            <a:ext cx="8270875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Cache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level of the memory hierarchy closest to the CPU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accesses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…,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n–1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="0" baseline="-2500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 rot="5400000">
            <a:off x="7492206" y="1280318"/>
            <a:ext cx="293687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§5.3 The Basics of Caches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148262" y="3789362"/>
            <a:ext cx="3811587" cy="2303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know if the data is present?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do we look?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05-P374493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2922587"/>
            <a:ext cx="4692650" cy="3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Direct Mapped Cache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684212" y="1125537"/>
            <a:ext cx="8270875" cy="1801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 determined by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mapped: only one choice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(Block address) modulo (#Blocks in cache)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084887" y="3789362"/>
            <a:ext cx="2803525" cy="251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#Blocks is a power of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low-order address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Tags and Valid Bits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know which particular block is stored in a cache location?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block address as well as the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Actually, only need the high-order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the tag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if there is no data in a location?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 bit: 1 = present, 0 = not present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Initially 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684212" y="1125537"/>
            <a:ext cx="8270875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8-blocks, 1 word/block, direct mapped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 state</a:t>
            </a:r>
            <a:endParaRPr/>
          </a:p>
        </p:txBody>
      </p:sp>
      <p:graphicFrame>
        <p:nvGraphicFramePr>
          <p:cNvPr id="190" name="Google Shape;190;p20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21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10 110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13" name="Google Shape;213;p22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" name="Google Shape;214;p22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25" name="Google Shape;225;p23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3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10 110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11 010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675" marB="4567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37" name="Google Shape;237;p24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Mem[10000]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Mem[11010]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Mem[00011]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" name="Google Shape;238;p24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00 011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Example</a:t>
            </a:r>
            <a:endParaRPr/>
          </a:p>
        </p:txBody>
      </p:sp>
      <p:graphicFrame>
        <p:nvGraphicFramePr>
          <p:cNvPr id="249" name="Google Shape;249;p25"/>
          <p:cNvGraphicFramePr/>
          <p:nvPr/>
        </p:nvGraphicFramePr>
        <p:xfrm>
          <a:off x="1547812" y="29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079500"/>
                <a:gridCol w="649275"/>
                <a:gridCol w="1150925"/>
                <a:gridCol w="3216275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Tag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Mem[10000]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Mem[10010]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Mem[00011]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Mem[10110]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25"/>
          <p:cNvGraphicFramePr/>
          <p:nvPr/>
        </p:nvGraphicFramePr>
        <p:xfrm>
          <a:off x="1547812" y="132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{56123236-0E55-4775-9FB3-25CB43CF8C90}</a:tableStyleId>
              </a:tblPr>
              <a:tblGrid>
                <a:gridCol w="1673225"/>
                <a:gridCol w="1649400"/>
                <a:gridCol w="1231900"/>
                <a:gridCol w="1517650"/>
              </a:tblGrid>
              <a:tr h="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Word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 addr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Hit/miss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 block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 Subdivision</a:t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087" y="1196975"/>
            <a:ext cx="5049837" cy="50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Larger Block Size</a:t>
            </a:r>
            <a:endParaRPr/>
          </a:p>
        </p:txBody>
      </p:sp>
      <p:sp>
        <p:nvSpPr>
          <p:cNvPr id="272" name="Google Shape;272;p27"/>
          <p:cNvSpPr txBox="1"/>
          <p:nvPr>
            <p:ph idx="1" type="body"/>
          </p:nvPr>
        </p:nvSpPr>
        <p:spPr>
          <a:xfrm>
            <a:off x="684212" y="1125537"/>
            <a:ext cx="8270875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 blocks, 16 bytes/block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what block number does address 1200 map?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address = </a:t>
            </a: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⎣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1200/16⎦ = 75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number = 75 modulo 64 = 11</a:t>
            </a:r>
            <a:endParaRPr/>
          </a:p>
        </p:txBody>
      </p:sp>
      <p:grpSp>
        <p:nvGrpSpPr>
          <p:cNvPr id="273" name="Google Shape;273;p27"/>
          <p:cNvGrpSpPr/>
          <p:nvPr/>
        </p:nvGrpSpPr>
        <p:grpSpPr>
          <a:xfrm>
            <a:off x="1616075" y="4221162"/>
            <a:ext cx="5229225" cy="1214438"/>
            <a:chOff x="1226" y="2755"/>
            <a:chExt cx="3294" cy="765"/>
          </a:xfrm>
        </p:grpSpPr>
        <p:sp>
          <p:nvSpPr>
            <p:cNvPr id="274" name="Google Shape;274;p27"/>
            <p:cNvSpPr txBox="1"/>
            <p:nvPr/>
          </p:nvSpPr>
          <p:spPr>
            <a:xfrm>
              <a:off x="1247" y="2976"/>
              <a:ext cx="1724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7"/>
            <p:cNvSpPr txBox="1"/>
            <p:nvPr/>
          </p:nvSpPr>
          <p:spPr>
            <a:xfrm>
              <a:off x="2971" y="2976"/>
              <a:ext cx="862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Index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7"/>
            <p:cNvSpPr txBox="1"/>
            <p:nvPr/>
          </p:nvSpPr>
          <p:spPr>
            <a:xfrm>
              <a:off x="3833" y="2976"/>
              <a:ext cx="635" cy="273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Offset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7"/>
            <p:cNvSpPr txBox="1"/>
            <p:nvPr/>
          </p:nvSpPr>
          <p:spPr>
            <a:xfrm>
              <a:off x="4324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7"/>
            <p:cNvSpPr txBox="1"/>
            <p:nvPr/>
          </p:nvSpPr>
          <p:spPr>
            <a:xfrm>
              <a:off x="3825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7"/>
            <p:cNvSpPr txBox="1"/>
            <p:nvPr/>
          </p:nvSpPr>
          <p:spPr>
            <a:xfrm>
              <a:off x="3602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7"/>
            <p:cNvSpPr txBox="1"/>
            <p:nvPr/>
          </p:nvSpPr>
          <p:spPr>
            <a:xfrm>
              <a:off x="2963" y="275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7"/>
            <p:cNvSpPr txBox="1"/>
            <p:nvPr/>
          </p:nvSpPr>
          <p:spPr>
            <a:xfrm>
              <a:off x="2740" y="2755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7"/>
            <p:cNvSpPr txBox="1"/>
            <p:nvPr/>
          </p:nvSpPr>
          <p:spPr>
            <a:xfrm>
              <a:off x="1226" y="2755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7"/>
            <p:cNvSpPr txBox="1"/>
            <p:nvPr/>
          </p:nvSpPr>
          <p:spPr>
            <a:xfrm>
              <a:off x="3919" y="3220"/>
              <a:ext cx="4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7"/>
            <p:cNvSpPr txBox="1"/>
            <p:nvPr/>
          </p:nvSpPr>
          <p:spPr>
            <a:xfrm>
              <a:off x="3162" y="3220"/>
              <a:ext cx="4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7"/>
            <p:cNvSpPr txBox="1"/>
            <p:nvPr/>
          </p:nvSpPr>
          <p:spPr>
            <a:xfrm>
              <a:off x="1851" y="322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52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Block Size Considerations</a:t>
            </a:r>
            <a:endParaRPr/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should reduce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spatial locality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in a fixed-sized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⇒ fewer of them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competition ⇒ increased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blocks ⇒ pollution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miss penalty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override benefit of reduced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restart and critical-word-first can help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Cache Misses</a:t>
            </a:r>
            <a:endParaRPr/>
          </a:p>
        </p:txBody>
      </p:sp>
      <p:sp>
        <p:nvSpPr>
          <p:cNvPr id="307" name="Google Shape;307;p2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cache hit, CPU proceeds normally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cache miss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Stall the CPU pipeline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Fetch block from next level of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cache miss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Restart instruction fetch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cache miss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data access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Write-Through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data-write hit, could just update the block in cache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then cache and memory would be inconsistent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through: also update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makes writes take longer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write buffer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Holds data waiting to be written to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continues immediately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stalls on write if write buffer is already full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Write-Back</a:t>
            </a:r>
            <a:endParaRPr/>
          </a:p>
        </p:txBody>
      </p:sp>
      <p:sp>
        <p:nvSpPr>
          <p:cNvPr id="329" name="Google Shape;329;p3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Alternative: On data-write hit, just update the block in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track of whether each block is dirty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 dirty block is replaced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it back to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use a write buffer to allow replacing block to be read first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Write Allocation</a:t>
            </a:r>
            <a:endParaRPr/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should happen on a write miss?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Alternatives for write-through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 on miss: fetch the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around: don’t fetch the block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programs often write a whole block before reading it (e.g., initialization)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write-back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Usually fetch the block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Access Time</a:t>
            </a:r>
            <a:endParaRPr/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time is also important for performance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memory access time (AMAT)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AMAT = Hit time + Miss rate × Miss penalty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with 1ns clock, hit time = 1 cycle, miss penalty = 20 cycles, I-cache miss rate = 5%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AMAT = 1 + 0.05 × 20 = 2ns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cycles per instruction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Performance Summary</a:t>
            </a:r>
            <a:endParaRPr/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CPU performance increased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 penalty becomes more significant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Decreasing base CPI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Greater proportion of time spent on memory stalls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Increasing clock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stalls account for more CPU cycles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Can’t neglect cache behavior when evaluating system performance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Multilevel Caches</a:t>
            </a:r>
            <a:endParaRPr/>
          </a:p>
        </p:txBody>
      </p:sp>
      <p:sp>
        <p:nvSpPr>
          <p:cNvPr id="373" name="Google Shape;373;p4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cache attached to 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Small, but fast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Level-2 cache services misses from primary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Larger, slower, but still faster than main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services L-2 cache misses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high-end systems include L-3 cache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1"/>
          <p:cNvSpPr txBox="1"/>
          <p:nvPr>
            <p:ph type="title"/>
          </p:nvPr>
        </p:nvSpPr>
        <p:spPr>
          <a:xfrm>
            <a:off x="684212" y="206375"/>
            <a:ext cx="82597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Multilevel Cache Considerations</a:t>
            </a:r>
            <a:endParaRPr/>
          </a:p>
        </p:txBody>
      </p:sp>
      <p:sp>
        <p:nvSpPr>
          <p:cNvPr id="384" name="Google Shape;384;p5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minimal hit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L-2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low miss rate to avoid main memory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Hit time has less overall impact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 cache usually smaller than a single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L-1 block size smaller than L-2 block size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Virtual Memory</a:t>
            </a:r>
            <a:endParaRPr/>
          </a:p>
        </p:txBody>
      </p:sp>
      <p:sp>
        <p:nvSpPr>
          <p:cNvPr id="395" name="Google Shape;395;p6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main memory as a “cache” for secondary (disk) storage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Managed jointly by CPU hardware and the operating system (OS)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share main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gets a private virtual address space holding its frequently used code and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Protected from other programs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 and OS translate virtual addresses to physical addresses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“block” is called a page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translation “miss” is called a page fault</a:t>
            </a:r>
            <a:endParaRPr/>
          </a:p>
        </p:txBody>
      </p:sp>
      <p:sp>
        <p:nvSpPr>
          <p:cNvPr id="396" name="Google Shape;396;p68"/>
          <p:cNvSpPr txBox="1"/>
          <p:nvPr/>
        </p:nvSpPr>
        <p:spPr>
          <a:xfrm rot="5400000">
            <a:off x="7838281" y="929481"/>
            <a:ext cx="2244725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§5.7 Virtual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Address Translation</a:t>
            </a:r>
            <a:endParaRPr/>
          </a:p>
        </p:txBody>
      </p:sp>
      <p:sp>
        <p:nvSpPr>
          <p:cNvPr id="407" name="Google Shape;407;p6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Fixed-size pages (e.g., 4K)</a:t>
            </a:r>
            <a:endParaRPr/>
          </a:p>
        </p:txBody>
      </p:sp>
      <p:pic>
        <p:nvPicPr>
          <p:cNvPr descr="f05-19-P374493" id="408" name="Google Shape;40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2282825"/>
            <a:ext cx="3448050" cy="234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051050"/>
            <a:ext cx="4032250" cy="2890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Fault Penalty</a:t>
            </a:r>
            <a:endParaRPr/>
          </a:p>
        </p:txBody>
      </p:sp>
      <p:sp>
        <p:nvSpPr>
          <p:cNvPr id="420" name="Google Shape;420;p7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page fault, the page must be fetched from disk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millions of clock cycles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Handled by OS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minimize page fault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associative 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replacement algorithms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Tables</a:t>
            </a:r>
            <a:endParaRPr/>
          </a:p>
        </p:txBody>
      </p:sp>
      <p:sp>
        <p:nvSpPr>
          <p:cNvPr id="431" name="Google Shape;431;p7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placement information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of page table entries, indexed by virtual page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table register in CPU points to page table in physical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present in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PTE stores the physical page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Plus other status bits (referenced, dirty, …)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not present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PTE can refer to location in swap space on disk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Translation Using a Page Table</a:t>
            </a:r>
            <a:endParaRPr/>
          </a:p>
        </p:txBody>
      </p:sp>
      <p:pic>
        <p:nvPicPr>
          <p:cNvPr id="442" name="Google Shape;442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2" y="1268412"/>
            <a:ext cx="5616575" cy="4935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 Pages to Storage</a:t>
            </a:r>
            <a:endParaRPr/>
          </a:p>
        </p:txBody>
      </p:sp>
      <p:pic>
        <p:nvPicPr>
          <p:cNvPr descr="f05-22-P374493" id="453" name="Google Shape;45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275" y="1557337"/>
            <a:ext cx="5334000" cy="40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Replacement and Writes</a:t>
            </a:r>
            <a:endParaRPr/>
          </a:p>
        </p:txBody>
      </p:sp>
      <p:sp>
        <p:nvSpPr>
          <p:cNvPr id="464" name="Google Shape;464;p7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reduce page fault rate, prefer least-recently used (LRU) replacement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 bit (aka use bit) in PTE set to 1 on access to page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Periodically cleared to 0 by OS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page with reference bit = 0 has not been used recently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Disk writes take millions of cycles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at once, not individual locations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through is impractical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write-back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Dirty bit in PTE set when page is written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7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 Translation Using a TLB</a:t>
            </a:r>
            <a:endParaRPr/>
          </a:p>
        </p:txBody>
      </p:sp>
      <p:sp>
        <p:nvSpPr>
          <p:cNvPr id="475" name="Google Shape;475;p7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translation would appear to require extra memory references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to access the PTE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actual memory 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access to page tables has good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use a fast cache of PTEs within the CPU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a Translation Look-aside Buffer (TLB)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Typical: 16–512 PTEs, 0.5–1 cycle for hit, 10–100 cycles for miss, 0.01%–1% miss rate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Misses could be handled by hardware or software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5-23-P374493" id="485" name="Google Shape;48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5" y="1268412"/>
            <a:ext cx="6535737" cy="46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7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 Translation Using a TLB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7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Misses</a:t>
            </a:r>
            <a:endParaRPr/>
          </a:p>
        </p:txBody>
      </p:sp>
      <p:sp>
        <p:nvSpPr>
          <p:cNvPr id="497" name="Google Shape;497;p7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in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the PTE from memory and retry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Could be handled in hardware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get complex for more complicated page table structures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in software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Raise a special exception, with optimized handler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is not in memory (page fault)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handles fetching the page and updating the page table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restart the faulting instruction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8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78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Miss Handler</a:t>
            </a:r>
            <a:endParaRPr/>
          </a:p>
        </p:txBody>
      </p:sp>
      <p:sp>
        <p:nvSpPr>
          <p:cNvPr id="508" name="Google Shape;508;p78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TLB miss indicates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present, but PTE not in TLB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not preset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recognize TLB miss before destination register overwritten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Raise exception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Handler copies PTE from memory to TLB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restarts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page not present, page fault will occur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9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79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Page Fault Handler</a:t>
            </a:r>
            <a:endParaRPr/>
          </a:p>
        </p:txBody>
      </p:sp>
      <p:sp>
        <p:nvSpPr>
          <p:cNvPr id="519" name="Google Shape;519;p79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faulting virtual address to find PTE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Locate page on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page to replace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dirty, write to disk first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page into memory and update page table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process runnable again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Restart from faulting instruction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0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0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TLB and Cache Interaction</a:t>
            </a:r>
            <a:endParaRPr/>
          </a:p>
        </p:txBody>
      </p:sp>
      <p:sp>
        <p:nvSpPr>
          <p:cNvPr id="530" name="Google Shape;530;p80"/>
          <p:cNvSpPr txBox="1"/>
          <p:nvPr>
            <p:ph idx="1" type="body"/>
          </p:nvPr>
        </p:nvSpPr>
        <p:spPr>
          <a:xfrm>
            <a:off x="5364162" y="1125537"/>
            <a:ext cx="359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cache tag uses physical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translate before cache lookup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Alternative: use virtual address tag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Complications due to aliasing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virtual addresses for shared physical address</a:t>
            </a:r>
            <a:endParaRPr/>
          </a:p>
        </p:txBody>
      </p:sp>
      <p:pic>
        <p:nvPicPr>
          <p:cNvPr descr="f05-24-P374493" id="531" name="Google Shape;53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268412"/>
            <a:ext cx="4956175" cy="508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1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1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Protection</a:t>
            </a:r>
            <a:endParaRPr/>
          </a:p>
        </p:txBody>
      </p:sp>
      <p:sp>
        <p:nvSpPr>
          <p:cNvPr id="542" name="Google Shape;542;p81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tasks can share parts of their virtual address spaces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need to protect against errant access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OS assistance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support for OS protection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Privileged supervisor mode (aka kernel mode)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Privileged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 tables and other state information only accessible in supervisor mode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call exception (e.g., ecall in RISC-V)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2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5 — Large and Fast: Exploiting Memory Hierarchy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2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Memory Hierarchy</a:t>
            </a:r>
            <a:endParaRPr/>
          </a:p>
        </p:txBody>
      </p:sp>
      <p:sp>
        <p:nvSpPr>
          <p:cNvPr id="553" name="Google Shape;553;p82"/>
          <p:cNvSpPr txBox="1"/>
          <p:nvPr>
            <p:ph idx="1" type="body"/>
          </p:nvPr>
        </p:nvSpPr>
        <p:spPr>
          <a:xfrm>
            <a:off x="684212" y="1844675"/>
            <a:ext cx="8271000" cy="43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principles apply at all levels of the memory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notions of caching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each level in the hierarchy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 a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Replacement on a miss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policy</a:t>
            </a:r>
            <a:endParaRPr/>
          </a:p>
        </p:txBody>
      </p:sp>
      <p:sp>
        <p:nvSpPr>
          <p:cNvPr id="554" name="Google Shape;554;p82"/>
          <p:cNvSpPr txBox="1"/>
          <p:nvPr/>
        </p:nvSpPr>
        <p:spPr>
          <a:xfrm rot="5400000">
            <a:off x="6220649" y="2556749"/>
            <a:ext cx="5480100" cy="3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§5.8 A Common Framework for Memory Hierarchies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82"/>
          <p:cNvSpPr txBox="1"/>
          <p:nvPr/>
        </p:nvSpPr>
        <p:spPr>
          <a:xfrm>
            <a:off x="684212" y="1258887"/>
            <a:ext cx="28257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2008-08-25T10:09:57Z</dcterms:created>
  <dc:creator>Peter Ashenden</dc:creator>
</cp:coreProperties>
</file>