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8B7247-4DC1-4A98-941A-B9A09E1BAD40}">
  <a:tblStyle styleId="{B38B7247-4DC1-4A98-941A-B9A09E1BAD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e061220c4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2e061220c4_2_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2e061220c4_0_305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2e061220c4_0_305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2e061220c4_0_305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2e061220c4_0_305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2e061220c4_0_305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2e061220c4_0_305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e061220c4_0_32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2e061220c4_0_32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2e061220c4_0_32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2e061220c4_0_32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2e061220c4_0_32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32e061220c4_0_32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e061220c4_0_46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2e061220c4_0_46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2e061220c4_0_46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2e061220c4_0_46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2e061220c4_0_46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g32e061220c4_0_46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e061220c4_0_56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2e061220c4_0_56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2e061220c4_0_56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2e061220c4_0_56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2e061220c4_0_56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32e061220c4_0_56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e061220c4_0_64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2e061220c4_0_64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2e061220c4_0_64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2e061220c4_0_64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2e061220c4_0_64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g32e061220c4_0_64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e061220c4_0_73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2e061220c4_0_73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2e061220c4_0_73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2e061220c4_0_73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2e061220c4_0_73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g32e061220c4_0_73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2e061220c4_0_74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2e061220c4_0_74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2e061220c4_0_74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2e061220c4_0_74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2e061220c4_0_74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g32e061220c4_0_74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2e061220c4_0_76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2e061220c4_0_76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2e061220c4_0_76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2e061220c4_0_76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2e061220c4_0_76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g32e061220c4_0_76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2e061220c4_0_779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2e061220c4_0_779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2e061220c4_0_779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2e061220c4_0_779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2e061220c4_0_779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g32e061220c4_0_779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2e061220c4_0_79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2e061220c4_0_79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2e061220c4_0_79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2e061220c4_0_79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2e061220c4_0_79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g32e061220c4_0_79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2e061220c4_0_82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2e061220c4_0_82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2e061220c4_0_82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2e061220c4_0_82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2e061220c4_0_82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g32e061220c4_0_82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2e061220c4_0_84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2e061220c4_0_84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2e061220c4_0_84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2e061220c4_0_84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2e061220c4_0_84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g32e061220c4_0_84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2e061220c4_0_85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2e061220c4_0_85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2e061220c4_0_85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2e061220c4_0_85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2e061220c4_0_85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g32e061220c4_0_85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28291c1c2e_0_28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28291c1c2e_0_28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28291c1c2e_0_28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28291c1c2e_0_28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28291c1c2e_0_28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g328291c1c2e_0_28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28291c1c2e_0_4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28291c1c2e_0_4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28291c1c2e_0_4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28291c1c2e_0_4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28291c1c2e_0_4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g328291c1c2e_0_4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28291c1c2e_0_200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28291c1c2e_0_200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28291c1c2e_0_200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28291c1c2e_0_200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28291c1c2e_0_200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g328291c1c2e_0_200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28291c1c2e_0_248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28291c1c2e_0_248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28291c1c2e_0_248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28291c1c2e_0_248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28291c1c2e_0_248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g328291c1c2e_0_248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28291c1c2e_0_26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28291c1c2e_0_26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28291c1c2e_0_26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28291c1c2e_0_26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28291c1c2e_0_26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g328291c1c2e_0_26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28291c1c2e_0_28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28291c1c2e_0_28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28291c1c2e_0_28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28291c1c2e_0_28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28291c1c2e_0_28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g328291c1c2e_0_28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28291c1c2e_0_300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28291c1c2e_0_300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28291c1c2e_0_300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28291c1c2e_0_300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28291c1c2e_0_300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g328291c1c2e_0_300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28291c1c2e_0_32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28291c1c2e_0_32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28291c1c2e_0_32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28291c1c2e_0_32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28291c1c2e_0_32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g328291c1c2e_0_32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28291c1c2e_0_41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28291c1c2e_0_41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28291c1c2e_0_41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28291c1c2e_0_41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28291c1c2e_0_41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g328291c1c2e_0_41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28291c1c2e_0_49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328291c1c2e_0_49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28291c1c2e_0_49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28291c1c2e_0_49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28291c1c2e_0_49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3" name="Google Shape;483;g328291c1c2e_0_49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28291c1c2e_0_57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28291c1c2e_0_57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28291c1c2e_0_57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28291c1c2e_0_57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28291c1c2e_0_57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g328291c1c2e_0_57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28291c1c2e_0_64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28291c1c2e_0_64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328291c1c2e_0_64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28291c1c2e_0_64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28291c1c2e_0_64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6" name="Google Shape;506;g328291c1c2e_0_64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28291c1c2e_0_72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328291c1c2e_0_72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328291c1c2e_0_72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28291c1c2e_0_72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28291c1c2e_0_72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7" name="Google Shape;517;g328291c1c2e_0_72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28291c1c2e_0_735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28291c1c2e_0_735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28291c1c2e_0_735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28291c1c2e_0_735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28291c1c2e_0_735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g328291c1c2e_0_735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28291c1c2e_0_816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28291c1c2e_0_816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28291c1c2e_0_816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28291c1c2e_0_816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28291c1c2e_0_816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3" name="Google Shape;543;g328291c1c2e_0_816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28291c1c2e_0_90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28291c1c2e_0_90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328291c1c2e_0_90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28291c1c2e_0_90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28291c1c2e_0_90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5" name="Google Shape;555;g328291c1c2e_0_90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8" name="Google Shape;98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3" name="Google Shape;123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4" name="Google Shape;12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4" name="Google Shape;134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7" name="Google Shape;13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5" name="Google Shape;15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Text" type="objAndTx">
  <p:cSld name="OBJECT_AND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684213" y="109538"/>
            <a:ext cx="8259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684213" y="844154"/>
            <a:ext cx="40593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2" type="body"/>
          </p:nvPr>
        </p:nvSpPr>
        <p:spPr>
          <a:xfrm>
            <a:off x="4895850" y="844154"/>
            <a:ext cx="40593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11" type="ftr"/>
          </p:nvPr>
        </p:nvSpPr>
        <p:spPr>
          <a:xfrm>
            <a:off x="1692275" y="4786313"/>
            <a:ext cx="7272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Relationship Id="rId4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ctrTitle"/>
          </p:nvPr>
        </p:nvSpPr>
        <p:spPr>
          <a:xfrm>
            <a:off x="668550" y="1070850"/>
            <a:ext cx="78069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CSE340: Computer Architecture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6"/>
          <p:cNvSpPr txBox="1"/>
          <p:nvPr>
            <p:ph idx="1" type="subTitle"/>
          </p:nvPr>
        </p:nvSpPr>
        <p:spPr>
          <a:xfrm>
            <a:off x="1143000" y="23120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Chapter - 1: Computer Abstractions and Technology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Performance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8" name="Google Shape;178;p27"/>
          <p:cNvGraphicFramePr/>
          <p:nvPr/>
        </p:nvGraphicFramePr>
        <p:xfrm>
          <a:off x="480950" y="102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{B38B7247-4DC1-4A98-941A-B9A09E1BAD40}</a:tableStyleId>
              </a:tblPr>
              <a:tblGrid>
                <a:gridCol w="2695725"/>
                <a:gridCol w="3745625"/>
                <a:gridCol w="1740750"/>
              </a:tblGrid>
              <a:tr h="32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Hardware or Software Component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</a:t>
                      </a: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this component affects performance?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Where to learn?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both the number of </a:t>
                      </a: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source-level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statements</a:t>
                      </a: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and the number of I/O operations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Covered in CSE221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Programming Language, Compiler and architecture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the number of computer instructions for each source-level statement.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2 &amp; 3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Processor and memory system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how fast instructions can be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4, 5 &amp; 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I/O system (Hardware and OS)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how fast I/O operations may be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4, 5 &amp; 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628650" y="205375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Seven Great Ideas in Computer Architecture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8" name="Google Shape;188;p28"/>
          <p:cNvGraphicFramePr/>
          <p:nvPr/>
        </p:nvGraphicFramePr>
        <p:xfrm>
          <a:off x="468975" y="93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{B38B7247-4DC1-4A98-941A-B9A09E1BAD40}</a:tableStyleId>
              </a:tblPr>
              <a:tblGrid>
                <a:gridCol w="2852850"/>
                <a:gridCol w="5353200"/>
              </a:tblGrid>
              <a:tr h="32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Ideas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Explanation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abstraction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to simplify design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Divide systems into layers to manage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complexity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 h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iding the lower level details.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Make the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common case fast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Optimizing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frequently performed operations.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parallelism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Running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tasks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simultaneously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to boost speed.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pipelining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way to achieve parallelism. More will be discussed in Chapter - 4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prediction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Anticipate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future data or values to avoid delays.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Hierarchy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of memories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Organizing memory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into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levels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(registers, cache, RAM, storage) based on speed and size.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Dependability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redundancy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Adding extra components ensures reliability by compensating for failures in critical hardware or data.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628650" y="205375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Below Your Program 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01-02-P374493" id="198" name="Google Shape;1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97" y="1474613"/>
            <a:ext cx="2194276" cy="219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3076187" y="1098178"/>
            <a:ext cx="58230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software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Written in high-level language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software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Compiler: translates HLL code to machine code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System: service code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input/output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Managing memory and storage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Scheduling tasks &amp; sharing resources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Processor, memory, I/O controllers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Levels of Program Code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30"/>
          <p:cNvSpPr txBox="1"/>
          <p:nvPr>
            <p:ph idx="1" type="body"/>
          </p:nvPr>
        </p:nvSpPr>
        <p:spPr>
          <a:xfrm>
            <a:off x="684202" y="844150"/>
            <a:ext cx="39801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2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High-level language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of abstraction closer to problem domain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for productivity and portability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Assembly language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Textual representation of instructions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representation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digits (bits)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Encoded instructions and data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" name="Google Shape;21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7600" y="844149"/>
            <a:ext cx="2572201" cy="402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of a Computer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31"/>
          <p:cNvSpPr txBox="1"/>
          <p:nvPr>
            <p:ph idx="1" type="body"/>
          </p:nvPr>
        </p:nvSpPr>
        <p:spPr>
          <a:xfrm>
            <a:off x="4477450" y="1288900"/>
            <a:ext cx="4146600" cy="30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The five classic components of a computer are: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Memory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Datapath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Control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177800" rtl="0" algn="l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Datapath and control are sometimes combined and called the processor.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50" y="937514"/>
            <a:ext cx="4146476" cy="323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 txBox="1"/>
          <p:nvPr>
            <p:ph idx="1" type="body"/>
          </p:nvPr>
        </p:nvSpPr>
        <p:spPr>
          <a:xfrm>
            <a:off x="448050" y="4353250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standard organization of a computer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the Box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2" name="Google Shape;23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00" y="1264797"/>
            <a:ext cx="3920849" cy="26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2"/>
          <p:cNvSpPr txBox="1"/>
          <p:nvPr>
            <p:ph idx="1" type="body"/>
          </p:nvPr>
        </p:nvSpPr>
        <p:spPr>
          <a:xfrm>
            <a:off x="-30425" y="4115125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Components of the Apple iPhone XS Max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8101" y="1264808"/>
            <a:ext cx="4125223" cy="271956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4648100" y="4115125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Logic board of the Apple iPhone XS Max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the Box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5" name="Google Shape;24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463" y="759475"/>
            <a:ext cx="4405080" cy="370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3"/>
          <p:cNvSpPr txBox="1"/>
          <p:nvPr>
            <p:ph idx="1" type="body"/>
          </p:nvPr>
        </p:nvSpPr>
        <p:spPr>
          <a:xfrm>
            <a:off x="1967100" y="4618775"/>
            <a:ext cx="56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processor integrated circuit inside the A12 package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for Building Processors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4"/>
          <p:cNvSpPr txBox="1"/>
          <p:nvPr>
            <p:ph idx="1" type="body"/>
          </p:nvPr>
        </p:nvSpPr>
        <p:spPr>
          <a:xfrm>
            <a:off x="1738500" y="4363175"/>
            <a:ext cx="56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Manufacturing process of an IC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01-18-P374493" id="259" name="Google Shape;25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726" y="823924"/>
            <a:ext cx="6211200" cy="33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 10th Gen. Wafer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5"/>
          <p:cNvSpPr txBox="1"/>
          <p:nvPr>
            <p:ph idx="1" type="body"/>
          </p:nvPr>
        </p:nvSpPr>
        <p:spPr>
          <a:xfrm>
            <a:off x="1015575" y="4363175"/>
            <a:ext cx="310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A 12-inch (300mm) wafer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1" name="Google Shape;2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325" y="911883"/>
            <a:ext cx="3642894" cy="329889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5"/>
          <p:cNvSpPr txBox="1"/>
          <p:nvPr>
            <p:ph idx="1" type="body"/>
          </p:nvPr>
        </p:nvSpPr>
        <p:spPr>
          <a:xfrm>
            <a:off x="4626300" y="911875"/>
            <a:ext cx="38889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This 10nm wafer contains 10th Gen Intel® Core™ processors, code-named “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Ice Lake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” (Courtesy Intel).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number of dies on this 300 mm (12 inch) wafer at 100% yield is 506.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Each die or chip size = 11.4mm by 10.7mm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35"/>
          <p:cNvSpPr txBox="1"/>
          <p:nvPr>
            <p:ph idx="1" type="body"/>
          </p:nvPr>
        </p:nvSpPr>
        <p:spPr>
          <a:xfrm>
            <a:off x="4497450" y="2988500"/>
            <a:ext cx="4146600" cy="18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Yield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percentage of good dies from the   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total number of dies on the wafer.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Die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individual rectangular sections that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are cut from a wafer, more informally 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known as 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chips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 Cost Calculation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125" y="1147323"/>
            <a:ext cx="4855600" cy="172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6"/>
          <p:cNvSpPr txBox="1"/>
          <p:nvPr/>
        </p:nvSpPr>
        <p:spPr>
          <a:xfrm>
            <a:off x="154375" y="3147850"/>
            <a:ext cx="6663000" cy="17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22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Nonlinear relation to area and defect rate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Wafer cost and area are fixed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Defect rate determined by manufacturing process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Die area determined by architecture and circuit design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36"/>
          <p:cNvSpPr txBox="1"/>
          <p:nvPr/>
        </p:nvSpPr>
        <p:spPr>
          <a:xfrm>
            <a:off x="6063375" y="1062914"/>
            <a:ext cx="2528400" cy="3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b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in the yield formula</a:t>
            </a: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is a model parameter that determines how defects and die size impact yield. It is typically derived from real-world data and can range between 1 and 2, though it may vary outside this range depending on the technology and defect behavior.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Defining Performance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3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7"/>
          <p:cNvSpPr txBox="1"/>
          <p:nvPr/>
        </p:nvSpPr>
        <p:spPr>
          <a:xfrm>
            <a:off x="628650" y="1201825"/>
            <a:ext cx="72702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Based on the table below which airplane has the best performance?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8" name="Google Shape;29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50" y="1552750"/>
            <a:ext cx="8996251" cy="223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7"/>
          <p:cNvSpPr txBox="1"/>
          <p:nvPr>
            <p:ph idx="1" type="body"/>
          </p:nvPr>
        </p:nvSpPr>
        <p:spPr>
          <a:xfrm>
            <a:off x="1065200" y="3789150"/>
            <a:ext cx="619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capacity, range, and speed for a number of commercial airplanes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 Time and Throughput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8"/>
          <p:cNvSpPr txBox="1"/>
          <p:nvPr/>
        </p:nvSpPr>
        <p:spPr>
          <a:xfrm>
            <a:off x="529400" y="983550"/>
            <a:ext cx="7270200" cy="4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Response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time between the start and completion of a task. Also  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known as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execution time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Throughput: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Total work done per unit time.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e.g., tasks/transactions/… per hour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We’ll focus on response time for now…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How are response time and throughput affected by,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Replacing the processor with a faster version?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Adding additional processors to a system that uses multiple processors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for separate tasks?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Relative Performance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2175" y="1748400"/>
            <a:ext cx="3916675" cy="76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9"/>
          <p:cNvSpPr txBox="1"/>
          <p:nvPr/>
        </p:nvSpPr>
        <p:spPr>
          <a:xfrm>
            <a:off x="529400" y="983550"/>
            <a:ext cx="7270200" cy="9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 maximize performance, we want to minimize the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response/execution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time for a task.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relation between performance and execution time for computer X: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39"/>
          <p:cNvSpPr txBox="1"/>
          <p:nvPr/>
        </p:nvSpPr>
        <p:spPr>
          <a:xfrm>
            <a:off x="529400" y="2735675"/>
            <a:ext cx="306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“X is </a:t>
            </a:r>
            <a:r>
              <a:rPr i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 faster than Y”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4" name="Google Shape;32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7754" y="2735679"/>
            <a:ext cx="3814823" cy="6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/>
          <p:nvPr/>
        </p:nvSpPr>
        <p:spPr>
          <a:xfrm>
            <a:off x="1111325" y="3418675"/>
            <a:ext cx="5448000" cy="13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258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time taken to run a program 10s on A, 15s on B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9560" lvl="1" marL="742950" rtl="0" algn="l">
              <a:spcBef>
                <a:spcPts val="56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 Time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Execution Time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15s / 10s = 1.5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9560" lvl="1" marL="742950" rtl="0" algn="l">
              <a:spcBef>
                <a:spcPts val="56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A is 1.5 times faster than B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Measuring Execution Time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0"/>
          <p:cNvSpPr txBox="1"/>
          <p:nvPr/>
        </p:nvSpPr>
        <p:spPr>
          <a:xfrm>
            <a:off x="701775" y="958425"/>
            <a:ext cx="7270200" cy="3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Elapsed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Total response time, including all aspects. E.g Processing, 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I/O, OS overhead, idle time etc.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Determines system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CPU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actual time the CPU spends computing for a specific task.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Discounts I/O time, other jobs’ shares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Comprises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user CPU time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system CPU time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Different programs are affected differently by CPU and system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Clocking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4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1"/>
          <p:cNvSpPr txBox="1"/>
          <p:nvPr/>
        </p:nvSpPr>
        <p:spPr>
          <a:xfrm>
            <a:off x="628650" y="838925"/>
            <a:ext cx="678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 of digital hardware governed by a constant-rate clock.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8" name="Google Shape;348;p41"/>
          <p:cNvCxnSpPr/>
          <p:nvPr/>
        </p:nvCxnSpPr>
        <p:spPr>
          <a:xfrm>
            <a:off x="2474912" y="1413272"/>
            <a:ext cx="172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349" name="Google Shape;349;p41"/>
          <p:cNvCxnSpPr/>
          <p:nvPr/>
        </p:nvCxnSpPr>
        <p:spPr>
          <a:xfrm>
            <a:off x="2474912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0" name="Google Shape;350;p41"/>
          <p:cNvCxnSpPr/>
          <p:nvPr/>
        </p:nvCxnSpPr>
        <p:spPr>
          <a:xfrm>
            <a:off x="4203700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1" name="Google Shape;351;p41"/>
          <p:cNvCxnSpPr/>
          <p:nvPr/>
        </p:nvCxnSpPr>
        <p:spPr>
          <a:xfrm>
            <a:off x="5930900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2" name="Google Shape;352;p41"/>
          <p:cNvCxnSpPr/>
          <p:nvPr/>
        </p:nvCxnSpPr>
        <p:spPr>
          <a:xfrm>
            <a:off x="7659687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3" name="Google Shape;353;p41"/>
          <p:cNvCxnSpPr/>
          <p:nvPr/>
        </p:nvCxnSpPr>
        <p:spPr>
          <a:xfrm>
            <a:off x="2474912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4" name="Google Shape;354;p41"/>
          <p:cNvCxnSpPr/>
          <p:nvPr/>
        </p:nvCxnSpPr>
        <p:spPr>
          <a:xfrm>
            <a:off x="2474912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5" name="Google Shape;355;p41"/>
          <p:cNvCxnSpPr/>
          <p:nvPr/>
        </p:nvCxnSpPr>
        <p:spPr>
          <a:xfrm>
            <a:off x="3338512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6" name="Google Shape;356;p41"/>
          <p:cNvCxnSpPr/>
          <p:nvPr/>
        </p:nvCxnSpPr>
        <p:spPr>
          <a:xfrm>
            <a:off x="3338512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7" name="Google Shape;357;p41"/>
          <p:cNvCxnSpPr/>
          <p:nvPr/>
        </p:nvCxnSpPr>
        <p:spPr>
          <a:xfrm>
            <a:off x="2187575" y="1790700"/>
            <a:ext cx="28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8" name="Google Shape;358;p41"/>
          <p:cNvCxnSpPr/>
          <p:nvPr/>
        </p:nvCxnSpPr>
        <p:spPr>
          <a:xfrm>
            <a:off x="4203700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9" name="Google Shape;359;p41"/>
          <p:cNvCxnSpPr/>
          <p:nvPr/>
        </p:nvCxnSpPr>
        <p:spPr>
          <a:xfrm>
            <a:off x="42037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0" name="Google Shape;360;p41"/>
          <p:cNvCxnSpPr/>
          <p:nvPr/>
        </p:nvCxnSpPr>
        <p:spPr>
          <a:xfrm>
            <a:off x="50673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1" name="Google Shape;361;p41"/>
          <p:cNvCxnSpPr/>
          <p:nvPr/>
        </p:nvCxnSpPr>
        <p:spPr>
          <a:xfrm>
            <a:off x="5067300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2" name="Google Shape;362;p41"/>
          <p:cNvCxnSpPr/>
          <p:nvPr/>
        </p:nvCxnSpPr>
        <p:spPr>
          <a:xfrm>
            <a:off x="5930900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3" name="Google Shape;363;p41"/>
          <p:cNvCxnSpPr/>
          <p:nvPr/>
        </p:nvCxnSpPr>
        <p:spPr>
          <a:xfrm>
            <a:off x="59309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4" name="Google Shape;364;p41"/>
          <p:cNvCxnSpPr/>
          <p:nvPr/>
        </p:nvCxnSpPr>
        <p:spPr>
          <a:xfrm>
            <a:off x="67945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5" name="Google Shape;365;p41"/>
          <p:cNvCxnSpPr/>
          <p:nvPr/>
        </p:nvCxnSpPr>
        <p:spPr>
          <a:xfrm>
            <a:off x="6794500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6" name="Google Shape;366;p41"/>
          <p:cNvCxnSpPr/>
          <p:nvPr/>
        </p:nvCxnSpPr>
        <p:spPr>
          <a:xfrm>
            <a:off x="7659687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7" name="Google Shape;367;p41"/>
          <p:cNvCxnSpPr/>
          <p:nvPr/>
        </p:nvCxnSpPr>
        <p:spPr>
          <a:xfrm>
            <a:off x="7659687" y="1575197"/>
            <a:ext cx="28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8" name="Google Shape;368;p41"/>
          <p:cNvSpPr/>
          <p:nvPr/>
        </p:nvSpPr>
        <p:spPr>
          <a:xfrm>
            <a:off x="4059237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1"/>
          <p:cNvSpPr/>
          <p:nvPr/>
        </p:nvSpPr>
        <p:spPr>
          <a:xfrm>
            <a:off x="5788025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1"/>
          <p:cNvSpPr/>
          <p:nvPr/>
        </p:nvSpPr>
        <p:spPr>
          <a:xfrm>
            <a:off x="7515225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41"/>
          <p:cNvCxnSpPr/>
          <p:nvPr/>
        </p:nvCxnSpPr>
        <p:spPr>
          <a:xfrm>
            <a:off x="2187575" y="2708672"/>
            <a:ext cx="590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2" name="Google Shape;372;p41"/>
          <p:cNvCxnSpPr/>
          <p:nvPr/>
        </p:nvCxnSpPr>
        <p:spPr>
          <a:xfrm rot="10800000">
            <a:off x="2187575" y="1466972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p41"/>
          <p:cNvSpPr txBox="1"/>
          <p:nvPr/>
        </p:nvSpPr>
        <p:spPr>
          <a:xfrm>
            <a:off x="684212" y="1502569"/>
            <a:ext cx="144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(cycles)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41"/>
          <p:cNvSpPr txBox="1"/>
          <p:nvPr/>
        </p:nvSpPr>
        <p:spPr>
          <a:xfrm>
            <a:off x="684212" y="1750219"/>
            <a:ext cx="168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transfer</a:t>
            </a:r>
            <a:b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computation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41"/>
          <p:cNvSpPr txBox="1"/>
          <p:nvPr/>
        </p:nvSpPr>
        <p:spPr>
          <a:xfrm>
            <a:off x="684212" y="2235994"/>
            <a:ext cx="133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state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41"/>
          <p:cNvSpPr txBox="1"/>
          <p:nvPr/>
        </p:nvSpPr>
        <p:spPr>
          <a:xfrm>
            <a:off x="2763837" y="1358503"/>
            <a:ext cx="1150800" cy="10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1"/>
          <p:cNvSpPr txBox="1"/>
          <p:nvPr/>
        </p:nvSpPr>
        <p:spPr>
          <a:xfrm>
            <a:off x="2526047" y="1253725"/>
            <a:ext cx="162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period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41"/>
          <p:cNvSpPr txBox="1"/>
          <p:nvPr/>
        </p:nvSpPr>
        <p:spPr>
          <a:xfrm>
            <a:off x="1030275" y="2870601"/>
            <a:ext cx="7772400" cy="19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Times New Roman"/>
              <a:buChar char="■"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period</a:t>
            </a:r>
            <a:r>
              <a:rPr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taken to complete a clock cycle</a:t>
            </a:r>
            <a:endParaRPr i="0" sz="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250ps = 0.25ns = 250×10</a:t>
            </a:r>
            <a:r>
              <a:rPr baseline="3000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–12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Times New Roman"/>
              <a:buChar char="■"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frequency (rate)</a:t>
            </a:r>
            <a:r>
              <a:rPr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c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ycles c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ompleted 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 second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4.0GHz = 4000MHz = 4.0×10</a:t>
            </a:r>
            <a:r>
              <a:rPr baseline="3000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Hz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41"/>
          <p:cNvSpPr/>
          <p:nvPr/>
        </p:nvSpPr>
        <p:spPr>
          <a:xfrm>
            <a:off x="4203700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1"/>
          <p:cNvSpPr/>
          <p:nvPr/>
        </p:nvSpPr>
        <p:spPr>
          <a:xfrm>
            <a:off x="2474912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1"/>
          <p:cNvSpPr/>
          <p:nvPr/>
        </p:nvSpPr>
        <p:spPr>
          <a:xfrm>
            <a:off x="5930900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Performance and Its Factors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4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2" name="Google Shape;39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550" y="1011075"/>
            <a:ext cx="4908876" cy="181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2"/>
          <p:cNvSpPr txBox="1"/>
          <p:nvPr/>
        </p:nvSpPr>
        <p:spPr>
          <a:xfrm>
            <a:off x="869838" y="3030025"/>
            <a:ext cx="74043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the formula mentioned above and determine how can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 the performance of a program?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Performance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3"/>
          <p:cNvSpPr txBox="1"/>
          <p:nvPr/>
        </p:nvSpPr>
        <p:spPr>
          <a:xfrm>
            <a:off x="830151" y="731325"/>
            <a:ext cx="8070900" cy="20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rogram runs in 10 seconds on computer A, which has a 2GHz clock. We are trying to help a computer designer build a computer, B, which will run this program in 6 seconds. The designer has determined that a substantial increase in the clock rate is possible, but this increase will affect the rest of the CPU design, causing computer B to require 1.2 times as many clock cycles as computer A for this program. What clock rate should we tell the designer to target?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5" name="Google Shape;40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100" y="2749475"/>
            <a:ext cx="3737651" cy="155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9625" y="2749475"/>
            <a:ext cx="4110781" cy="14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5663" y="4352250"/>
            <a:ext cx="5379872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and CPI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8" name="Google Shape;41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013" y="911878"/>
            <a:ext cx="5329974" cy="69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7025" y="1609550"/>
            <a:ext cx="4920324" cy="48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8177" y="2121225"/>
            <a:ext cx="3221376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4"/>
          <p:cNvSpPr txBox="1"/>
          <p:nvPr/>
        </p:nvSpPr>
        <p:spPr>
          <a:xfrm>
            <a:off x="1860000" y="2849550"/>
            <a:ext cx="54177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782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for a program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Determined by program, ISA and compiler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cycles per instruction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Determined by CPU hardware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different instructions have different CPI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spcBef>
                <a:spcPts val="40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CPI affected by instruction mix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&amp; CPI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4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5"/>
          <p:cNvSpPr txBox="1"/>
          <p:nvPr/>
        </p:nvSpPr>
        <p:spPr>
          <a:xfrm>
            <a:off x="1441050" y="1041800"/>
            <a:ext cx="6261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78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A: Cycle Time = 250ps, CPI = 2.0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B: Cycle Time = 500ps, CPI = 1.2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ISA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is faster, and by how much?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3" name="Google Shape;43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3450" y="2443004"/>
            <a:ext cx="4761873" cy="20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5"/>
          <p:cNvSpPr txBox="1"/>
          <p:nvPr/>
        </p:nvSpPr>
        <p:spPr>
          <a:xfrm>
            <a:off x="6598050" y="2272125"/>
            <a:ext cx="23427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 assumed that the instruction count is same in both cases?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45"/>
          <p:cNvSpPr txBox="1"/>
          <p:nvPr/>
        </p:nvSpPr>
        <p:spPr>
          <a:xfrm>
            <a:off x="1593450" y="4712400"/>
            <a:ext cx="234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A is 1.2 times faster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6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CPI with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4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6"/>
          <p:cNvSpPr txBox="1"/>
          <p:nvPr/>
        </p:nvSpPr>
        <p:spPr>
          <a:xfrm>
            <a:off x="1441050" y="965600"/>
            <a:ext cx="6261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different instruction classes take different numbers of cycles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7" name="Google Shape;44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2075" y="1295600"/>
            <a:ext cx="3436050" cy="5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6"/>
          <p:cNvSpPr txBox="1"/>
          <p:nvPr/>
        </p:nvSpPr>
        <p:spPr>
          <a:xfrm>
            <a:off x="1441050" y="1708350"/>
            <a:ext cx="6261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 average CPI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9" name="Google Shape;44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7906" y="2114550"/>
            <a:ext cx="3824400" cy="4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6"/>
          <p:cNvSpPr txBox="1"/>
          <p:nvPr/>
        </p:nvSpPr>
        <p:spPr>
          <a:xfrm>
            <a:off x="1601100" y="2495550"/>
            <a:ext cx="65514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Alternative compiled code sequences using instructions in classes A, B, 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1" name="Google Shape;45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2650" y="3063424"/>
            <a:ext cx="4074134" cy="21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Trends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47"/>
          <p:cNvSpPr txBox="1"/>
          <p:nvPr>
            <p:ph idx="1" type="body"/>
          </p:nvPr>
        </p:nvSpPr>
        <p:spPr>
          <a:xfrm>
            <a:off x="723912" y="3415144"/>
            <a:ext cx="82710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703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300"/>
              <a:buFont typeface="Times New Roman"/>
              <a:buChar char="■"/>
            </a:pPr>
            <a:r>
              <a:rPr i="0" lang="en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CMOS IC technology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2" name="Google Shape;46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1387" y="3900840"/>
            <a:ext cx="5311381" cy="377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9412" y="951309"/>
            <a:ext cx="5179219" cy="2221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8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Reducing Power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48"/>
          <p:cNvSpPr txBox="1"/>
          <p:nvPr>
            <p:ph idx="1" type="body"/>
          </p:nvPr>
        </p:nvSpPr>
        <p:spPr>
          <a:xfrm>
            <a:off x="760412" y="844153"/>
            <a:ext cx="8271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a new CPU has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85% of capacitive load of old CPU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15% voltage and 15% frequency reduction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4" name="Google Shape;47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775" y="2029869"/>
            <a:ext cx="56709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8"/>
          <p:cNvSpPr txBox="1"/>
          <p:nvPr/>
        </p:nvSpPr>
        <p:spPr>
          <a:xfrm>
            <a:off x="760400" y="2950375"/>
            <a:ext cx="41520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power wall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can’t reduce voltage further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can’t remove more heat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p48"/>
          <p:cNvSpPr txBox="1"/>
          <p:nvPr/>
        </p:nvSpPr>
        <p:spPr>
          <a:xfrm>
            <a:off x="5282000" y="2950375"/>
            <a:ext cx="30000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else can we improve performance?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9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Uniprocessor Performance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p49"/>
          <p:cNvSpPr/>
          <p:nvPr/>
        </p:nvSpPr>
        <p:spPr>
          <a:xfrm>
            <a:off x="1115999" y="4137425"/>
            <a:ext cx="5850300" cy="48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38214" y="27847"/>
                </a:moveTo>
                <a:lnTo>
                  <a:pt x="4562" y="26286"/>
                </a:lnTo>
              </a:path>
            </a:pathLst>
          </a:cu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onstrained by power, instruction-level parallelism, memory latency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7" name="Google Shape;48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636" y="759476"/>
            <a:ext cx="5129024" cy="2715374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9"/>
          <p:cNvSpPr txBox="1"/>
          <p:nvPr>
            <p:ph idx="4294967295" type="body"/>
          </p:nvPr>
        </p:nvSpPr>
        <p:spPr>
          <a:xfrm>
            <a:off x="1610650" y="3529088"/>
            <a:ext cx="499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Growth in processor performance since the mid-1980s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0"/>
          <p:cNvSpPr txBox="1"/>
          <p:nvPr/>
        </p:nvSpPr>
        <p:spPr>
          <a:xfrm>
            <a:off x="1692275" y="4786313"/>
            <a:ext cx="7272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Multiprocessors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50"/>
          <p:cNvSpPr txBox="1"/>
          <p:nvPr>
            <p:ph idx="1" type="body"/>
          </p:nvPr>
        </p:nvSpPr>
        <p:spPr>
          <a:xfrm>
            <a:off x="628650" y="1026930"/>
            <a:ext cx="7886700" cy="3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Multicore microprocessors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than one processor per chip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52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explicitly </a:t>
            </a:r>
            <a:r>
              <a:rPr i="0" lang="en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programming</a:t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with instruction level parallelism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executes multiple instructions at once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Hidden from the programmer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to do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for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balancing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Optimizing communication and synchronization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CPU Benchmark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51"/>
          <p:cNvSpPr txBox="1"/>
          <p:nvPr>
            <p:ph idx="1" type="body"/>
          </p:nvPr>
        </p:nvSpPr>
        <p:spPr>
          <a:xfrm>
            <a:off x="684212" y="844153"/>
            <a:ext cx="8271000" cy="29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What is Benchmark?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Programs used to measure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Performance Evaluation Corp (</a:t>
            </a:r>
            <a:r>
              <a:rPr b="1" i="0" lang="en" sz="25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Develops benchmarks for CPU, I/O, Web,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CPU2017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Elapsed time to execute a selection of programs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Negligible I/O, so focuses on CPU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Normalize relative to reference machine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Summarize as geometric mean of performance ratios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SPECspeed2017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(integer) and CFP2006 (floating-point)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0" name="Google Shape;51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5" y="3868340"/>
            <a:ext cx="2828923" cy="796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</a:t>
            </a: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Ratio &amp; Geometric Mean Calculation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0" name="Google Shape;52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216" y="1070648"/>
            <a:ext cx="6563175" cy="3512379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2"/>
          <p:cNvSpPr txBox="1"/>
          <p:nvPr/>
        </p:nvSpPr>
        <p:spPr>
          <a:xfrm>
            <a:off x="7525775" y="1462100"/>
            <a:ext cx="1575000" cy="22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time is supplied by SPEC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Amdahl’s Law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1" name="Google Shape;531;p53"/>
          <p:cNvSpPr txBox="1"/>
          <p:nvPr>
            <p:ph idx="1" type="body"/>
          </p:nvPr>
        </p:nvSpPr>
        <p:spPr>
          <a:xfrm>
            <a:off x="684212" y="844153"/>
            <a:ext cx="79914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Improving an aspect of a computer and expecting a proportional improvement in overall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2" name="Google Shape;53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6925" y="3165897"/>
            <a:ext cx="1296591" cy="59174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3"/>
          <p:cNvSpPr txBox="1"/>
          <p:nvPr/>
        </p:nvSpPr>
        <p:spPr>
          <a:xfrm>
            <a:off x="4520025" y="3245603"/>
            <a:ext cx="34560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623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Can’t be done!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4" name="Google Shape;534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6924" y="1507350"/>
            <a:ext cx="3965975" cy="629841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53"/>
          <p:cNvSpPr txBox="1"/>
          <p:nvPr/>
        </p:nvSpPr>
        <p:spPr>
          <a:xfrm>
            <a:off x="684225" y="2274753"/>
            <a:ext cx="79914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multiply accounts for 80s/100s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much improvement in multiply performance to get 5× overall?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p53"/>
          <p:cNvSpPr txBox="1"/>
          <p:nvPr/>
        </p:nvSpPr>
        <p:spPr>
          <a:xfrm>
            <a:off x="704853" y="3918350"/>
            <a:ext cx="57066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Corollary: make the common case fast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4"/>
          <p:cNvSpPr txBox="1"/>
          <p:nvPr>
            <p:ph type="title"/>
          </p:nvPr>
        </p:nvSpPr>
        <p:spPr>
          <a:xfrm>
            <a:off x="684212" y="200025"/>
            <a:ext cx="825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MIPS as a Performance Metric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6" name="Google Shape;546;p54"/>
          <p:cNvSpPr txBox="1"/>
          <p:nvPr>
            <p:ph idx="1" type="body"/>
          </p:nvPr>
        </p:nvSpPr>
        <p:spPr>
          <a:xfrm>
            <a:off x="684212" y="844153"/>
            <a:ext cx="8271000" cy="15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MIPS: Millions of Instructions Per Second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Doesn’t account for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Differences in ISAs between computers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Differences in complexity between instructions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7" name="Google Shape;54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1662" y="2409853"/>
            <a:ext cx="4917283" cy="1563291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54"/>
          <p:cNvSpPr txBox="1"/>
          <p:nvPr/>
        </p:nvSpPr>
        <p:spPr>
          <a:xfrm>
            <a:off x="684212" y="4192190"/>
            <a:ext cx="827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226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CPI varies between programs on a given CPU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Concluding Remarks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p55"/>
          <p:cNvSpPr txBox="1"/>
          <p:nvPr>
            <p:ph idx="1" type="body"/>
          </p:nvPr>
        </p:nvSpPr>
        <p:spPr>
          <a:xfrm>
            <a:off x="628650" y="1026930"/>
            <a:ext cx="78867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98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Cost/performance is improving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 to underlying technology development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layers of abstraction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both hardware and software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set architecture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hardware/software interface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 time: the best performance measure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is a limiting factor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parallelism to improve performance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