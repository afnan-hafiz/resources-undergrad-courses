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y="6858000" cx="9144000"/>
  <p:notesSz cx="7099300" cy="10234600"/>
  <p:embeddedFontLst>
    <p:embeddedFont>
      <p:font typeface="Corbel"/>
      <p:regular r:id="rId50"/>
      <p:bold r:id="rId51"/>
      <p:italic r:id="rId52"/>
      <p:boldItalic r:id="rId53"/>
    </p:embeddedFont>
    <p:embeddedFont>
      <p:font typeface="Oi"/>
      <p:regular r:id="rId54"/>
    </p:embeddedFont>
    <p:embeddedFont>
      <p:font typeface="Arial Black"/>
      <p:regular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CFE91C-58B2-42A1-94F0-9A68D94B5FB5}">
  <a:tblStyle styleId="{67CFE91C-58B2-42A1-94F0-9A68D94B5FB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Corbel-bold.fntdata"/><Relationship Id="rId50" Type="http://schemas.openxmlformats.org/officeDocument/2006/relationships/font" Target="fonts/Corbel-regular.fntdata"/><Relationship Id="rId53" Type="http://schemas.openxmlformats.org/officeDocument/2006/relationships/font" Target="fonts/Corbel-boldItalic.fntdata"/><Relationship Id="rId52" Type="http://schemas.openxmlformats.org/officeDocument/2006/relationships/font" Target="fonts/Corbel-italic.fntdata"/><Relationship Id="rId11" Type="http://schemas.openxmlformats.org/officeDocument/2006/relationships/slide" Target="slides/slide4.xml"/><Relationship Id="rId55" Type="http://schemas.openxmlformats.org/officeDocument/2006/relationships/font" Target="fonts/ArialBlack-regular.fntdata"/><Relationship Id="rId10" Type="http://schemas.openxmlformats.org/officeDocument/2006/relationships/slide" Target="slides/slide3.xml"/><Relationship Id="rId54" Type="http://schemas.openxmlformats.org/officeDocument/2006/relationships/font" Target="fonts/Oi-regular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1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1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p1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p1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1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1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1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p1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4" name="Google Shape;454;p1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p2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2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9" name="Google Shape;489;p2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1" name="Google Shape;501;p2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p2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p2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4" name="Google Shape;534;p2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5" name="Google Shape;545;p2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6" name="Google Shape;556;p2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9" name="Google Shape;569;p3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0" name="Google Shape;580;p3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2" name="Google Shape;592;p3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5" name="Google Shape;605;p3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6" name="Google Shape;616;p3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7" name="Google Shape;627;p3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8" name="Google Shape;638;p3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3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0" name="Google Shape;650;p3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3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2" name="Google Shape;662;p3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4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4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4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4" name="Google Shape;674;p4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4" name="Google Shape;704;p4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4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6" name="Google Shape;716;p4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1" name="Google Shape;731;p4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009725044c_1_0:notes"/>
          <p:cNvSpPr txBox="1"/>
          <p:nvPr/>
        </p:nvSpPr>
        <p:spPr>
          <a:xfrm>
            <a:off x="0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g3009725044c_1_0:notes"/>
          <p:cNvSpPr txBox="1"/>
          <p:nvPr/>
        </p:nvSpPr>
        <p:spPr>
          <a:xfrm>
            <a:off x="4022725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g3009725044c_1_0:notes"/>
          <p:cNvSpPr txBox="1"/>
          <p:nvPr/>
        </p:nvSpPr>
        <p:spPr>
          <a:xfrm>
            <a:off x="0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g3009725044c_1_0:notes"/>
          <p:cNvSpPr txBox="1"/>
          <p:nvPr/>
        </p:nvSpPr>
        <p:spPr>
          <a:xfrm>
            <a:off x="4022725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g3009725044c_1_0:notes"/>
          <p:cNvSpPr/>
          <p:nvPr>
            <p:ph idx="2" type="sldImg"/>
          </p:nvPr>
        </p:nvSpPr>
        <p:spPr>
          <a:xfrm>
            <a:off x="990600" y="768350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3" name="Google Shape;743;g3009725044c_1_0:notes"/>
          <p:cNvSpPr txBox="1"/>
          <p:nvPr>
            <p:ph idx="1" type="body"/>
          </p:nvPr>
        </p:nvSpPr>
        <p:spPr>
          <a:xfrm>
            <a:off x="946150" y="4862512"/>
            <a:ext cx="52071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" type="subTitle"/>
          </p:nvPr>
        </p:nvSpPr>
        <p:spPr>
          <a:xfrm>
            <a:off x="2409825" y="2924175"/>
            <a:ext cx="5832475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 rot="5400000">
            <a:off x="4876007" y="2158206"/>
            <a:ext cx="609123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 rot="5400000">
            <a:off x="664369" y="165894"/>
            <a:ext cx="6091238" cy="605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 rot="5400000">
            <a:off x="2263774" y="-454025"/>
            <a:ext cx="5111750" cy="827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6" name="Google Shape;66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7" name="Google Shape;67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8" name="Google Shape;68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3" name="Google Shape;73;p12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4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619250" y="1125537"/>
            <a:ext cx="28575" cy="57324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981200" y="19875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763712" y="2708275"/>
            <a:ext cx="7380287" cy="73025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0"/>
            <a:ext cx="9144000" cy="112553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1125537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1619250" y="549275"/>
            <a:ext cx="28575" cy="576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 (2).png"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0825" y="261937"/>
            <a:ext cx="115570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"/>
          <p:cNvGrpSpPr/>
          <p:nvPr/>
        </p:nvGrpSpPr>
        <p:grpSpPr>
          <a:xfrm>
            <a:off x="1774825" y="104775"/>
            <a:ext cx="6084887" cy="868362"/>
            <a:chOff x="1774113" y="104757"/>
            <a:chExt cx="6084936" cy="868541"/>
          </a:xfrm>
        </p:grpSpPr>
        <p:sp>
          <p:nvSpPr>
            <p:cNvPr id="18" name="Google Shape;18;p1"/>
            <p:cNvSpPr txBox="1"/>
            <p:nvPr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COMPUTER ORGANIZATION AND DESIGN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 txBox="1"/>
            <p:nvPr/>
          </p:nvSpPr>
          <p:spPr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Hardware/Software Interface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1"/>
          <p:cNvGrpSpPr/>
          <p:nvPr/>
        </p:nvGrpSpPr>
        <p:grpSpPr>
          <a:xfrm>
            <a:off x="8004175" y="82550"/>
            <a:ext cx="935037" cy="935037"/>
            <a:chOff x="8004175" y="82550"/>
            <a:chExt cx="935038" cy="935038"/>
          </a:xfrm>
        </p:grpSpPr>
        <p:sp>
          <p:nvSpPr>
            <p:cNvPr id="21" name="Google Shape;21;p1"/>
            <p:cNvSpPr/>
            <p:nvPr/>
          </p:nvSpPr>
          <p:spPr>
            <a:xfrm>
              <a:off x="8004175" y="82550"/>
              <a:ext cx="935038" cy="935038"/>
            </a:xfrm>
            <a:prstGeom prst="star32">
              <a:avLst>
                <a:gd fmla="val 37500" name="adj"/>
              </a:avLst>
            </a:pr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 txBox="1"/>
            <p:nvPr/>
          </p:nvSpPr>
          <p:spPr>
            <a:xfrm>
              <a:off x="8016875" y="293688"/>
              <a:ext cx="912813" cy="61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 Black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RISC-V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" name="Google Shape;23;p1"/>
            <p:cNvSpPr txBox="1"/>
            <p:nvPr/>
          </p:nvSpPr>
          <p:spPr>
            <a:xfrm>
              <a:off x="8112125" y="482600"/>
              <a:ext cx="731838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baseline="3000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nd</a:t>
              </a: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ed.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/>
        </p:nvSpPr>
        <p:spPr>
          <a:xfrm>
            <a:off x="468312" y="2603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3"/>
          <p:cNvSpPr txBox="1"/>
          <p:nvPr/>
        </p:nvSpPr>
        <p:spPr>
          <a:xfrm>
            <a:off x="250825" y="981075"/>
            <a:ext cx="8569325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.jpg" id="35" name="Google Shape;35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Chapter 4</a:t>
            </a:r>
            <a:endParaRPr/>
          </a:p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2409825" y="2924175"/>
            <a:ext cx="58324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The Processor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 performance factors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count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Determined by ISA and compiler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CPI and Cycle time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Determined by CPU hardware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examine two RISC-V implementations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simplified version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more realistic pipelined version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subset, shows most aspects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reference: </a:t>
            </a:r>
            <a:r>
              <a:rPr i="0" lang="en-US" sz="2400" u="none">
                <a:solidFill>
                  <a:schemeClr val="dk1"/>
                </a:solidFill>
              </a:rPr>
              <a:t>ld, sd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Arithmetic/logical:</a:t>
            </a:r>
            <a:r>
              <a:rPr i="0" lang="en-US" sz="2400" u="none">
                <a:solidFill>
                  <a:schemeClr val="dk1"/>
                </a:solidFill>
              </a:rPr>
              <a:t> add, sub, and, or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transfer: </a:t>
            </a:r>
            <a:r>
              <a:rPr i="0" lang="en-US" sz="2400" u="none">
                <a:solidFill>
                  <a:schemeClr val="dk1"/>
                </a:solidFill>
              </a:rPr>
              <a:t>beq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 rot="5400000">
            <a:off x="8017668" y="759618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§4.1 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Execution</a:t>
            </a:r>
            <a:endParaRPr/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 → instruction memory, fetch instruction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numbers → register file, read registers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Depending on instruction class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 to calculate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 result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address for load/store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 comparison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data memory for load/store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 ← target address or PC + 4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CPU Overview</a:t>
            </a:r>
            <a:endParaRPr/>
          </a:p>
        </p:txBody>
      </p:sp>
      <p:pic>
        <p:nvPicPr>
          <p:cNvPr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525587"/>
            <a:ext cx="8027987" cy="4351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6191250" y="2995612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3122612" y="1195387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Multiplexers</a:t>
            </a:r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 rot="10800000">
            <a:off x="3338512" y="1484312"/>
            <a:ext cx="576262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6" name="Google Shape;136;p18"/>
          <p:cNvSpPr/>
          <p:nvPr/>
        </p:nvSpPr>
        <p:spPr>
          <a:xfrm>
            <a:off x="3338512" y="1700212"/>
            <a:ext cx="287337" cy="2159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18"/>
          <p:cNvCxnSpPr/>
          <p:nvPr/>
        </p:nvCxnSpPr>
        <p:spPr>
          <a:xfrm rot="10800000">
            <a:off x="6372225" y="3284537"/>
            <a:ext cx="576262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8" name="Google Shape;138;p18"/>
          <p:cNvSpPr/>
          <p:nvPr/>
        </p:nvSpPr>
        <p:spPr>
          <a:xfrm>
            <a:off x="6372225" y="3500437"/>
            <a:ext cx="287337" cy="2159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5362575" y="4651375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18"/>
          <p:cNvCxnSpPr/>
          <p:nvPr/>
        </p:nvCxnSpPr>
        <p:spPr>
          <a:xfrm>
            <a:off x="5651500" y="4867275"/>
            <a:ext cx="358775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1" name="Google Shape;141;p18"/>
          <p:cNvSpPr/>
          <p:nvPr/>
        </p:nvSpPr>
        <p:spPr>
          <a:xfrm flipH="1">
            <a:off x="5899150" y="5083175"/>
            <a:ext cx="144462" cy="288925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5508625" y="1196975"/>
            <a:ext cx="35274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just join wires together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multiplexers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525587"/>
            <a:ext cx="8027987" cy="4351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endParaRPr/>
          </a:p>
        </p:txBody>
      </p:sp>
      <p:pic>
        <p:nvPicPr>
          <p:cNvPr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1177925"/>
            <a:ext cx="6916737" cy="520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Logic Design Basics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 rot="5400000">
            <a:off x="7287418" y="1489868"/>
            <a:ext cx="33464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§4.2 Logic Design Conventions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encoded in binary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voltage = 0, High voltage =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wire per bit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Multi-bit data encoded on multi-wire buses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element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Operate on data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is a function of input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(sequential) elements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information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Combinational Elements</a:t>
            </a:r>
            <a:endParaRPr/>
          </a:p>
        </p:txBody>
      </p:sp>
      <p:sp>
        <p:nvSpPr>
          <p:cNvPr id="177" name="Google Shape;177;p21"/>
          <p:cNvSpPr txBox="1"/>
          <p:nvPr>
            <p:ph idx="1" type="body"/>
          </p:nvPr>
        </p:nvSpPr>
        <p:spPr>
          <a:xfrm>
            <a:off x="684212" y="1412875"/>
            <a:ext cx="3101975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AND-gate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A &amp; B</a:t>
            </a:r>
            <a:endParaRPr/>
          </a:p>
        </p:txBody>
      </p:sp>
      <p:grpSp>
        <p:nvGrpSpPr>
          <p:cNvPr id="178" name="Google Shape;178;p21"/>
          <p:cNvGrpSpPr/>
          <p:nvPr/>
        </p:nvGrpSpPr>
        <p:grpSpPr>
          <a:xfrm>
            <a:off x="1258887" y="2641600"/>
            <a:ext cx="1560512" cy="655637"/>
            <a:chOff x="249" y="2299"/>
            <a:chExt cx="983" cy="413"/>
          </a:xfrm>
        </p:grpSpPr>
        <p:grpSp>
          <p:nvGrpSpPr>
            <p:cNvPr id="179" name="Google Shape;179;p21"/>
            <p:cNvGrpSpPr/>
            <p:nvPr/>
          </p:nvGrpSpPr>
          <p:grpSpPr>
            <a:xfrm>
              <a:off x="476" y="2387"/>
              <a:ext cx="544" cy="273"/>
              <a:chOff x="431" y="1888"/>
              <a:chExt cx="544" cy="273"/>
            </a:xfrm>
          </p:grpSpPr>
          <p:sp>
            <p:nvSpPr>
              <p:cNvPr id="180" name="Google Shape;180;p21"/>
              <p:cNvSpPr/>
              <p:nvPr/>
            </p:nvSpPr>
            <p:spPr>
              <a:xfrm>
                <a:off x="701" y="1889"/>
                <a:ext cx="139" cy="272"/>
              </a:xfrm>
              <a:custGeom>
                <a:rect b="b" l="l" r="r" t="t"/>
                <a:pathLst>
                  <a:path extrusionOk="0" fill="none" h="43200" w="22080">
                    <a:moveTo>
                      <a:pt x="479" y="0"/>
                    </a:moveTo>
                    <a:cubicBezTo>
                      <a:pt x="12409" y="0"/>
                      <a:pt x="22080" y="9670"/>
                      <a:pt x="22080" y="21600"/>
                    </a:cubicBezTo>
                    <a:cubicBezTo>
                      <a:pt x="22080" y="33529"/>
                      <a:pt x="12409" y="43200"/>
                      <a:pt x="480" y="43200"/>
                    </a:cubicBezTo>
                    <a:cubicBezTo>
                      <a:pt x="319" y="43200"/>
                      <a:pt x="159" y="43198"/>
                      <a:pt x="0" y="43194"/>
                    </a:cubicBezTo>
                  </a:path>
                  <a:path extrusionOk="0" h="43200" w="22080">
                    <a:moveTo>
                      <a:pt x="479" y="0"/>
                    </a:moveTo>
                    <a:cubicBezTo>
                      <a:pt x="12409" y="0"/>
                      <a:pt x="22080" y="9670"/>
                      <a:pt x="22080" y="21600"/>
                    </a:cubicBezTo>
                    <a:cubicBezTo>
                      <a:pt x="22080" y="33529"/>
                      <a:pt x="12409" y="43200"/>
                      <a:pt x="480" y="43200"/>
                    </a:cubicBezTo>
                    <a:cubicBezTo>
                      <a:pt x="319" y="43200"/>
                      <a:pt x="159" y="43198"/>
                      <a:pt x="0" y="43194"/>
                    </a:cubicBezTo>
                    <a:lnTo>
                      <a:pt x="480" y="21600"/>
                    </a:lnTo>
                    <a:lnTo>
                      <a:pt x="479" y="0"/>
                    </a:lnTo>
                    <a:close/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t/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1" name="Google Shape;181;p21"/>
              <p:cNvCxnSpPr/>
              <p:nvPr/>
            </p:nvCxnSpPr>
            <p:spPr>
              <a:xfrm>
                <a:off x="567" y="1888"/>
                <a:ext cx="136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2" name="Google Shape;182;p21"/>
              <p:cNvCxnSpPr/>
              <p:nvPr/>
            </p:nvCxnSpPr>
            <p:spPr>
              <a:xfrm>
                <a:off x="567" y="1888"/>
                <a:ext cx="0" cy="27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3" name="Google Shape;183;p21"/>
              <p:cNvCxnSpPr/>
              <p:nvPr/>
            </p:nvCxnSpPr>
            <p:spPr>
              <a:xfrm>
                <a:off x="567" y="2160"/>
                <a:ext cx="136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" name="Google Shape;184;p21"/>
              <p:cNvCxnSpPr/>
              <p:nvPr/>
            </p:nvCxnSpPr>
            <p:spPr>
              <a:xfrm>
                <a:off x="431" y="1933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21"/>
              <p:cNvCxnSpPr/>
              <p:nvPr/>
            </p:nvCxnSpPr>
            <p:spPr>
              <a:xfrm>
                <a:off x="431" y="2115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21"/>
              <p:cNvCxnSpPr/>
              <p:nvPr/>
            </p:nvCxnSpPr>
            <p:spPr>
              <a:xfrm>
                <a:off x="839" y="2024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87" name="Google Shape;187;p21"/>
            <p:cNvSpPr txBox="1"/>
            <p:nvPr/>
          </p:nvSpPr>
          <p:spPr>
            <a:xfrm>
              <a:off x="249" y="2299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1"/>
            <p:cNvSpPr txBox="1"/>
            <p:nvPr/>
          </p:nvSpPr>
          <p:spPr>
            <a:xfrm>
              <a:off x="249" y="2481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1"/>
            <p:cNvSpPr txBox="1"/>
            <p:nvPr/>
          </p:nvSpPr>
          <p:spPr>
            <a:xfrm>
              <a:off x="1020" y="2390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21"/>
          <p:cNvGrpSpPr/>
          <p:nvPr/>
        </p:nvGrpSpPr>
        <p:grpSpPr>
          <a:xfrm>
            <a:off x="1547812" y="4868862"/>
            <a:ext cx="1416050" cy="1308100"/>
            <a:chOff x="113" y="2840"/>
            <a:chExt cx="892" cy="824"/>
          </a:xfrm>
        </p:grpSpPr>
        <p:cxnSp>
          <p:nvCxnSpPr>
            <p:cNvPr id="191" name="Google Shape;191;p21"/>
            <p:cNvCxnSpPr/>
            <p:nvPr/>
          </p:nvCxnSpPr>
          <p:spPr>
            <a:xfrm>
              <a:off x="340" y="297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92" name="Google Shape;192;p21"/>
            <p:cNvCxnSpPr/>
            <p:nvPr/>
          </p:nvCxnSpPr>
          <p:spPr>
            <a:xfrm>
              <a:off x="340" y="315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93" name="Google Shape;193;p21"/>
            <p:cNvCxnSpPr/>
            <p:nvPr/>
          </p:nvCxnSpPr>
          <p:spPr>
            <a:xfrm>
              <a:off x="657" y="3067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94" name="Google Shape;194;p21"/>
            <p:cNvSpPr txBox="1"/>
            <p:nvPr/>
          </p:nvSpPr>
          <p:spPr>
            <a:xfrm>
              <a:off x="113" y="2843"/>
              <a:ext cx="2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1"/>
            <p:cNvSpPr txBox="1"/>
            <p:nvPr/>
          </p:nvSpPr>
          <p:spPr>
            <a:xfrm>
              <a:off x="113" y="3025"/>
              <a:ext cx="2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1"/>
            <p:cNvSpPr txBox="1"/>
            <p:nvPr/>
          </p:nvSpPr>
          <p:spPr>
            <a:xfrm>
              <a:off x="793" y="2934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" name="Google Shape;197;p21"/>
            <p:cNvCxnSpPr/>
            <p:nvPr/>
          </p:nvCxnSpPr>
          <p:spPr>
            <a:xfrm>
              <a:off x="476" y="2931"/>
              <a:ext cx="0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8" name="Google Shape;198;p21"/>
            <p:cNvSpPr/>
            <p:nvPr/>
          </p:nvSpPr>
          <p:spPr>
            <a:xfrm>
              <a:off x="567" y="2840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1"/>
            <p:cNvSpPr/>
            <p:nvPr/>
          </p:nvSpPr>
          <p:spPr>
            <a:xfrm flipH="1">
              <a:off x="476" y="2840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1"/>
            <p:cNvSpPr/>
            <p:nvPr/>
          </p:nvSpPr>
          <p:spPr>
            <a:xfrm flipH="1" rot="10800000">
              <a:off x="567" y="3203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1"/>
            <p:cNvSpPr/>
            <p:nvPr/>
          </p:nvSpPr>
          <p:spPr>
            <a:xfrm rot="10800000">
              <a:off x="476" y="3203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2" name="Google Shape;202;p21"/>
            <p:cNvCxnSpPr/>
            <p:nvPr/>
          </p:nvCxnSpPr>
          <p:spPr>
            <a:xfrm>
              <a:off x="657" y="2931"/>
              <a:ext cx="0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3" name="Google Shape;203;p21"/>
            <p:cNvSpPr txBox="1"/>
            <p:nvPr/>
          </p:nvSpPr>
          <p:spPr>
            <a:xfrm>
              <a:off x="476" y="2840"/>
              <a:ext cx="181" cy="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36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4" name="Google Shape;204;p21"/>
            <p:cNvCxnSpPr/>
            <p:nvPr/>
          </p:nvCxnSpPr>
          <p:spPr>
            <a:xfrm rot="10800000">
              <a:off x="567" y="3294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5" name="Google Shape;205;p21"/>
            <p:cNvSpPr txBox="1"/>
            <p:nvPr/>
          </p:nvSpPr>
          <p:spPr>
            <a:xfrm>
              <a:off x="461" y="343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" name="Google Shape;206;p21"/>
          <p:cNvSpPr txBox="1"/>
          <p:nvPr/>
        </p:nvSpPr>
        <p:spPr>
          <a:xfrm>
            <a:off x="684212" y="3644900"/>
            <a:ext cx="324008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Multiplexer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S ? I1 : I0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" name="Google Shape;207;p21"/>
          <p:cNvGrpSpPr/>
          <p:nvPr/>
        </p:nvGrpSpPr>
        <p:grpSpPr>
          <a:xfrm>
            <a:off x="7092950" y="1484312"/>
            <a:ext cx="1604962" cy="1012825"/>
            <a:chOff x="1111" y="2659"/>
            <a:chExt cx="1011" cy="638"/>
          </a:xfrm>
        </p:grpSpPr>
        <p:cxnSp>
          <p:nvCxnSpPr>
            <p:cNvPr id="208" name="Google Shape;208;p21"/>
            <p:cNvCxnSpPr/>
            <p:nvPr/>
          </p:nvCxnSpPr>
          <p:spPr>
            <a:xfrm>
              <a:off x="1338" y="2795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09" name="Google Shape;209;p21"/>
            <p:cNvCxnSpPr/>
            <p:nvPr/>
          </p:nvCxnSpPr>
          <p:spPr>
            <a:xfrm>
              <a:off x="1338" y="315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10" name="Google Shape;210;p21"/>
            <p:cNvCxnSpPr/>
            <p:nvPr/>
          </p:nvCxnSpPr>
          <p:spPr>
            <a:xfrm>
              <a:off x="1791" y="297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11" name="Google Shape;211;p21"/>
            <p:cNvSpPr txBox="1"/>
            <p:nvPr/>
          </p:nvSpPr>
          <p:spPr>
            <a:xfrm>
              <a:off x="1111" y="2662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1"/>
            <p:cNvSpPr txBox="1"/>
            <p:nvPr/>
          </p:nvSpPr>
          <p:spPr>
            <a:xfrm>
              <a:off x="1111" y="3066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1"/>
            <p:cNvSpPr txBox="1"/>
            <p:nvPr/>
          </p:nvSpPr>
          <p:spPr>
            <a:xfrm>
              <a:off x="1910" y="284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4" name="Google Shape;214;p21"/>
            <p:cNvCxnSpPr/>
            <p:nvPr/>
          </p:nvCxnSpPr>
          <p:spPr>
            <a:xfrm>
              <a:off x="1474" y="2659"/>
              <a:ext cx="0" cy="22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" name="Google Shape;215;p21"/>
            <p:cNvCxnSpPr/>
            <p:nvPr/>
          </p:nvCxnSpPr>
          <p:spPr>
            <a:xfrm>
              <a:off x="1474" y="3067"/>
              <a:ext cx="0" cy="22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21"/>
            <p:cNvCxnSpPr/>
            <p:nvPr/>
          </p:nvCxnSpPr>
          <p:spPr>
            <a:xfrm>
              <a:off x="1474" y="2886"/>
              <a:ext cx="91" cy="9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21"/>
            <p:cNvCxnSpPr/>
            <p:nvPr/>
          </p:nvCxnSpPr>
          <p:spPr>
            <a:xfrm flipH="1">
              <a:off x="1474" y="2976"/>
              <a:ext cx="91" cy="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" name="Google Shape;218;p21"/>
            <p:cNvCxnSpPr/>
            <p:nvPr/>
          </p:nvCxnSpPr>
          <p:spPr>
            <a:xfrm>
              <a:off x="1474" y="2659"/>
              <a:ext cx="317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" name="Google Shape;219;p21"/>
            <p:cNvCxnSpPr/>
            <p:nvPr/>
          </p:nvCxnSpPr>
          <p:spPr>
            <a:xfrm flipH="1" rot="10800000">
              <a:off x="1474" y="3113"/>
              <a:ext cx="317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" name="Google Shape;220;p21"/>
            <p:cNvCxnSpPr/>
            <p:nvPr/>
          </p:nvCxnSpPr>
          <p:spPr>
            <a:xfrm>
              <a:off x="1791" y="2840"/>
              <a:ext cx="0" cy="27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1" name="Google Shape;221;p21"/>
            <p:cNvSpPr txBox="1"/>
            <p:nvPr/>
          </p:nvSpPr>
          <p:spPr>
            <a:xfrm>
              <a:off x="1620" y="2889"/>
              <a:ext cx="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" name="Google Shape;222;p21"/>
          <p:cNvGrpSpPr/>
          <p:nvPr/>
        </p:nvGrpSpPr>
        <p:grpSpPr>
          <a:xfrm>
            <a:off x="5580062" y="4575175"/>
            <a:ext cx="1676400" cy="1595437"/>
            <a:chOff x="2699" y="2750"/>
            <a:chExt cx="1056" cy="1005"/>
          </a:xfrm>
        </p:grpSpPr>
        <p:cxnSp>
          <p:nvCxnSpPr>
            <p:cNvPr id="223" name="Google Shape;223;p21"/>
            <p:cNvCxnSpPr/>
            <p:nvPr/>
          </p:nvCxnSpPr>
          <p:spPr>
            <a:xfrm>
              <a:off x="2926" y="288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24" name="Google Shape;224;p21"/>
            <p:cNvCxnSpPr/>
            <p:nvPr/>
          </p:nvCxnSpPr>
          <p:spPr>
            <a:xfrm>
              <a:off x="2926" y="3339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25" name="Google Shape;225;p21"/>
            <p:cNvCxnSpPr/>
            <p:nvPr/>
          </p:nvCxnSpPr>
          <p:spPr>
            <a:xfrm>
              <a:off x="3424" y="3113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26" name="Google Shape;226;p21"/>
            <p:cNvSpPr txBox="1"/>
            <p:nvPr/>
          </p:nvSpPr>
          <p:spPr>
            <a:xfrm>
              <a:off x="2699" y="275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1"/>
            <p:cNvSpPr txBox="1"/>
            <p:nvPr/>
          </p:nvSpPr>
          <p:spPr>
            <a:xfrm>
              <a:off x="2699" y="3247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1"/>
            <p:cNvSpPr txBox="1"/>
            <p:nvPr/>
          </p:nvSpPr>
          <p:spPr>
            <a:xfrm>
              <a:off x="3543" y="2979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9" name="Google Shape;229;p21"/>
            <p:cNvCxnSpPr/>
            <p:nvPr/>
          </p:nvCxnSpPr>
          <p:spPr>
            <a:xfrm>
              <a:off x="3061" y="2750"/>
              <a:ext cx="1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" name="Google Shape;230;p21"/>
            <p:cNvCxnSpPr/>
            <p:nvPr/>
          </p:nvCxnSpPr>
          <p:spPr>
            <a:xfrm flipH="1">
              <a:off x="3061" y="3203"/>
              <a:ext cx="1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" name="Google Shape;231;p21"/>
            <p:cNvCxnSpPr/>
            <p:nvPr/>
          </p:nvCxnSpPr>
          <p:spPr>
            <a:xfrm>
              <a:off x="3062" y="3022"/>
              <a:ext cx="91" cy="9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" name="Google Shape;232;p21"/>
            <p:cNvCxnSpPr/>
            <p:nvPr/>
          </p:nvCxnSpPr>
          <p:spPr>
            <a:xfrm flipH="1">
              <a:off x="3062" y="3112"/>
              <a:ext cx="91" cy="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" name="Google Shape;233;p21"/>
            <p:cNvCxnSpPr/>
            <p:nvPr/>
          </p:nvCxnSpPr>
          <p:spPr>
            <a:xfrm>
              <a:off x="3061" y="2750"/>
              <a:ext cx="363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" name="Google Shape;234;p21"/>
            <p:cNvCxnSpPr/>
            <p:nvPr/>
          </p:nvCxnSpPr>
          <p:spPr>
            <a:xfrm flipH="1" rot="10800000">
              <a:off x="3061" y="3294"/>
              <a:ext cx="363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" name="Google Shape;235;p21"/>
            <p:cNvCxnSpPr/>
            <p:nvPr/>
          </p:nvCxnSpPr>
          <p:spPr>
            <a:xfrm>
              <a:off x="3424" y="2931"/>
              <a:ext cx="0" cy="36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6" name="Google Shape;236;p21"/>
            <p:cNvSpPr txBox="1"/>
            <p:nvPr/>
          </p:nvSpPr>
          <p:spPr>
            <a:xfrm>
              <a:off x="3152" y="3025"/>
              <a:ext cx="28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ALU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7" name="Google Shape;237;p21"/>
            <p:cNvCxnSpPr/>
            <p:nvPr/>
          </p:nvCxnSpPr>
          <p:spPr>
            <a:xfrm>
              <a:off x="3243" y="3385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8" name="Google Shape;238;p21"/>
            <p:cNvSpPr txBox="1"/>
            <p:nvPr/>
          </p:nvSpPr>
          <p:spPr>
            <a:xfrm>
              <a:off x="3152" y="3524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" name="Google Shape;239;p21"/>
          <p:cNvSpPr txBox="1"/>
          <p:nvPr/>
        </p:nvSpPr>
        <p:spPr>
          <a:xfrm>
            <a:off x="4211637" y="1412875"/>
            <a:ext cx="3101975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A +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211637" y="3284537"/>
            <a:ext cx="431958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Arithmetic/Logic Unit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F(A, 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Sequential Elements</a:t>
            </a:r>
            <a:endParaRPr/>
          </a:p>
        </p:txBody>
      </p:sp>
      <p:sp>
        <p:nvSpPr>
          <p:cNvPr id="251" name="Google Shape;251;p22"/>
          <p:cNvSpPr txBox="1"/>
          <p:nvPr>
            <p:ph idx="1" type="body"/>
          </p:nvPr>
        </p:nvSpPr>
        <p:spPr>
          <a:xfrm>
            <a:off x="684212" y="1125537"/>
            <a:ext cx="8270875" cy="276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Register: stores data in a circuit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a clock signal to determine when to update the stored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Edge-triggered: update when Clk changes from 0 to 1</a:t>
            </a:r>
            <a:endParaRPr/>
          </a:p>
        </p:txBody>
      </p:sp>
      <p:grpSp>
        <p:nvGrpSpPr>
          <p:cNvPr id="252" name="Google Shape;252;p22"/>
          <p:cNvGrpSpPr/>
          <p:nvPr/>
        </p:nvGrpSpPr>
        <p:grpSpPr>
          <a:xfrm>
            <a:off x="755650" y="4365625"/>
            <a:ext cx="2090737" cy="1223962"/>
            <a:chOff x="657" y="2296"/>
            <a:chExt cx="1317" cy="771"/>
          </a:xfrm>
        </p:grpSpPr>
        <p:sp>
          <p:nvSpPr>
            <p:cNvPr id="253" name="Google Shape;253;p22"/>
            <p:cNvSpPr txBox="1"/>
            <p:nvPr/>
          </p:nvSpPr>
          <p:spPr>
            <a:xfrm>
              <a:off x="1111" y="2296"/>
              <a:ext cx="499" cy="77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4" name="Google Shape;254;p22"/>
            <p:cNvCxnSpPr/>
            <p:nvPr/>
          </p:nvCxnSpPr>
          <p:spPr>
            <a:xfrm>
              <a:off x="975" y="247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5" name="Google Shape;255;p22"/>
            <p:cNvCxnSpPr/>
            <p:nvPr/>
          </p:nvCxnSpPr>
          <p:spPr>
            <a:xfrm>
              <a:off x="975" y="2886"/>
              <a:ext cx="1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6" name="Google Shape;256;p22"/>
            <p:cNvCxnSpPr/>
            <p:nvPr/>
          </p:nvCxnSpPr>
          <p:spPr>
            <a:xfrm>
              <a:off x="1610" y="247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57" name="Google Shape;257;p22"/>
            <p:cNvSpPr txBox="1"/>
            <p:nvPr/>
          </p:nvSpPr>
          <p:spPr>
            <a:xfrm>
              <a:off x="748" y="2345"/>
              <a:ext cx="22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2"/>
            <p:cNvSpPr txBox="1"/>
            <p:nvPr/>
          </p:nvSpPr>
          <p:spPr>
            <a:xfrm>
              <a:off x="657" y="2753"/>
              <a:ext cx="32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2"/>
            <p:cNvSpPr txBox="1"/>
            <p:nvPr/>
          </p:nvSpPr>
          <p:spPr>
            <a:xfrm>
              <a:off x="1746" y="2345"/>
              <a:ext cx="22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0" name="Google Shape;260;p22"/>
            <p:cNvCxnSpPr/>
            <p:nvPr/>
          </p:nvCxnSpPr>
          <p:spPr>
            <a:xfrm>
              <a:off x="1111" y="2840"/>
              <a:ext cx="91" cy="4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1" name="Google Shape;261;p22"/>
            <p:cNvCxnSpPr/>
            <p:nvPr/>
          </p:nvCxnSpPr>
          <p:spPr>
            <a:xfrm flipH="1" rot="10800000">
              <a:off x="1111" y="2886"/>
              <a:ext cx="91" cy="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62" name="Google Shape;262;p22"/>
          <p:cNvGrpSpPr/>
          <p:nvPr/>
        </p:nvGrpSpPr>
        <p:grpSpPr>
          <a:xfrm>
            <a:off x="3419475" y="4005262"/>
            <a:ext cx="4775200" cy="1800225"/>
            <a:chOff x="2154" y="2523"/>
            <a:chExt cx="3008" cy="1134"/>
          </a:xfrm>
        </p:grpSpPr>
        <p:cxnSp>
          <p:nvCxnSpPr>
            <p:cNvPr id="263" name="Google Shape;263;p22"/>
            <p:cNvCxnSpPr/>
            <p:nvPr/>
          </p:nvCxnSpPr>
          <p:spPr>
            <a:xfrm>
              <a:off x="2712" y="2614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" name="Google Shape;264;p22"/>
            <p:cNvCxnSpPr/>
            <p:nvPr/>
          </p:nvCxnSpPr>
          <p:spPr>
            <a:xfrm>
              <a:off x="2712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" name="Google Shape;265;p22"/>
            <p:cNvCxnSpPr/>
            <p:nvPr/>
          </p:nvCxnSpPr>
          <p:spPr>
            <a:xfrm>
              <a:off x="3256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" name="Google Shape;266;p22"/>
            <p:cNvCxnSpPr/>
            <p:nvPr/>
          </p:nvCxnSpPr>
          <p:spPr>
            <a:xfrm>
              <a:off x="3256" y="2795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" name="Google Shape;267;p22"/>
            <p:cNvCxnSpPr/>
            <p:nvPr/>
          </p:nvCxnSpPr>
          <p:spPr>
            <a:xfrm>
              <a:off x="2531" y="2795"/>
              <a:ext cx="18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" name="Google Shape;268;p22"/>
            <p:cNvCxnSpPr/>
            <p:nvPr/>
          </p:nvCxnSpPr>
          <p:spPr>
            <a:xfrm>
              <a:off x="3801" y="2614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" name="Google Shape;269;p22"/>
            <p:cNvCxnSpPr/>
            <p:nvPr/>
          </p:nvCxnSpPr>
          <p:spPr>
            <a:xfrm>
              <a:off x="3801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" name="Google Shape;270;p22"/>
            <p:cNvCxnSpPr/>
            <p:nvPr/>
          </p:nvCxnSpPr>
          <p:spPr>
            <a:xfrm>
              <a:off x="4345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" name="Google Shape;271;p22"/>
            <p:cNvCxnSpPr/>
            <p:nvPr/>
          </p:nvCxnSpPr>
          <p:spPr>
            <a:xfrm>
              <a:off x="4345" y="2795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" name="Google Shape;272;p22"/>
            <p:cNvCxnSpPr/>
            <p:nvPr/>
          </p:nvCxnSpPr>
          <p:spPr>
            <a:xfrm>
              <a:off x="4889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" name="Google Shape;273;p22"/>
            <p:cNvCxnSpPr/>
            <p:nvPr/>
          </p:nvCxnSpPr>
          <p:spPr>
            <a:xfrm flipH="1" rot="10800000">
              <a:off x="4890" y="2613"/>
              <a:ext cx="227" cy="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" name="Google Shape;274;p22"/>
            <p:cNvCxnSpPr/>
            <p:nvPr/>
          </p:nvCxnSpPr>
          <p:spPr>
            <a:xfrm>
              <a:off x="2531" y="3657"/>
              <a:ext cx="263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75" name="Google Shape;275;p22"/>
            <p:cNvCxnSpPr/>
            <p:nvPr/>
          </p:nvCxnSpPr>
          <p:spPr>
            <a:xfrm rot="10800000">
              <a:off x="2531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6" name="Google Shape;276;p22"/>
            <p:cNvSpPr txBox="1"/>
            <p:nvPr/>
          </p:nvSpPr>
          <p:spPr>
            <a:xfrm>
              <a:off x="2154" y="2617"/>
              <a:ext cx="3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2"/>
            <p:cNvSpPr txBox="1"/>
            <p:nvPr/>
          </p:nvSpPr>
          <p:spPr>
            <a:xfrm>
              <a:off x="2154" y="2949"/>
              <a:ext cx="20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2"/>
            <p:cNvSpPr txBox="1"/>
            <p:nvPr/>
          </p:nvSpPr>
          <p:spPr>
            <a:xfrm>
              <a:off x="2154" y="3297"/>
              <a:ext cx="21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2531" y="2976"/>
              <a:ext cx="635" cy="182"/>
            </a:xfrm>
            <a:custGeom>
              <a:rect b="b" l="l" r="r" t="t"/>
              <a:pathLst>
                <a:path extrusionOk="0" h="182" w="635">
                  <a:moveTo>
                    <a:pt x="0" y="0"/>
                  </a:moveTo>
                  <a:lnTo>
                    <a:pt x="590" y="0"/>
                  </a:lnTo>
                  <a:lnTo>
                    <a:pt x="635" y="91"/>
                  </a:lnTo>
                  <a:lnTo>
                    <a:pt x="590" y="182"/>
                  </a:lnTo>
                  <a:lnTo>
                    <a:pt x="0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3166" y="2976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3892" y="3339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2803" y="3339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2531" y="3340"/>
              <a:ext cx="272" cy="181"/>
            </a:xfrm>
            <a:custGeom>
              <a:rect b="b" l="l" r="r" t="t"/>
              <a:pathLst>
                <a:path extrusionOk="0" h="181" w="272">
                  <a:moveTo>
                    <a:pt x="0" y="0"/>
                  </a:moveTo>
                  <a:lnTo>
                    <a:pt x="227" y="0"/>
                  </a:lnTo>
                  <a:lnTo>
                    <a:pt x="272" y="90"/>
                  </a:lnTo>
                  <a:lnTo>
                    <a:pt x="227" y="181"/>
                  </a:lnTo>
                  <a:lnTo>
                    <a:pt x="0" y="181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2712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3801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4980" y="3339"/>
              <a:ext cx="136" cy="182"/>
            </a:xfrm>
            <a:custGeom>
              <a:rect b="b" l="l" r="r" t="t"/>
              <a:pathLst>
                <a:path extrusionOk="0" h="182" w="136">
                  <a:moveTo>
                    <a:pt x="136" y="0"/>
                  </a:moveTo>
                  <a:lnTo>
                    <a:pt x="45" y="0"/>
                  </a:lnTo>
                  <a:lnTo>
                    <a:pt x="0" y="91"/>
                  </a:lnTo>
                  <a:lnTo>
                    <a:pt x="45" y="182"/>
                  </a:lnTo>
                  <a:lnTo>
                    <a:pt x="136" y="182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4255" y="2976"/>
              <a:ext cx="862" cy="182"/>
            </a:xfrm>
            <a:custGeom>
              <a:rect b="b" l="l" r="r" t="t"/>
              <a:pathLst>
                <a:path extrusionOk="0" h="182" w="862">
                  <a:moveTo>
                    <a:pt x="862" y="0"/>
                  </a:moveTo>
                  <a:lnTo>
                    <a:pt x="46" y="0"/>
                  </a:lnTo>
                  <a:lnTo>
                    <a:pt x="0" y="91"/>
                  </a:lnTo>
                  <a:lnTo>
                    <a:pt x="46" y="182"/>
                  </a:lnTo>
                  <a:lnTo>
                    <a:pt x="862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4890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9" name="Google Shape;289;p22"/>
            <p:cNvCxnSpPr/>
            <p:nvPr/>
          </p:nvCxnSpPr>
          <p:spPr>
            <a:xfrm>
              <a:off x="2712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0" name="Google Shape;290;p22"/>
            <p:cNvCxnSpPr/>
            <p:nvPr/>
          </p:nvCxnSpPr>
          <p:spPr>
            <a:xfrm>
              <a:off x="3801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1" name="Google Shape;291;p22"/>
            <p:cNvCxnSpPr/>
            <p:nvPr/>
          </p:nvCxnSpPr>
          <p:spPr>
            <a:xfrm>
              <a:off x="4889" y="2523"/>
              <a:ext cx="1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Sequential Elements</a:t>
            </a:r>
            <a:endParaRPr/>
          </a:p>
        </p:txBody>
      </p:sp>
      <p:sp>
        <p:nvSpPr>
          <p:cNvPr id="302" name="Google Shape;302;p23"/>
          <p:cNvSpPr txBox="1"/>
          <p:nvPr>
            <p:ph idx="1" type="body"/>
          </p:nvPr>
        </p:nvSpPr>
        <p:spPr>
          <a:xfrm>
            <a:off x="684212" y="1125537"/>
            <a:ext cx="8270875" cy="2303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with write control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updates on clock edge when write control input is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when stored value is required later</a:t>
            </a:r>
            <a:endParaRPr/>
          </a:p>
        </p:txBody>
      </p:sp>
      <p:grpSp>
        <p:nvGrpSpPr>
          <p:cNvPr id="303" name="Google Shape;303;p23"/>
          <p:cNvGrpSpPr/>
          <p:nvPr/>
        </p:nvGrpSpPr>
        <p:grpSpPr>
          <a:xfrm>
            <a:off x="539750" y="4365625"/>
            <a:ext cx="2306637" cy="1223962"/>
            <a:chOff x="340" y="2750"/>
            <a:chExt cx="1453" cy="771"/>
          </a:xfrm>
        </p:grpSpPr>
        <p:sp>
          <p:nvSpPr>
            <p:cNvPr id="304" name="Google Shape;304;p23"/>
            <p:cNvSpPr txBox="1"/>
            <p:nvPr/>
          </p:nvSpPr>
          <p:spPr>
            <a:xfrm>
              <a:off x="930" y="2750"/>
              <a:ext cx="499" cy="77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5" name="Google Shape;305;p23"/>
            <p:cNvCxnSpPr/>
            <p:nvPr/>
          </p:nvCxnSpPr>
          <p:spPr>
            <a:xfrm>
              <a:off x="794" y="2932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6" name="Google Shape;306;p23"/>
            <p:cNvCxnSpPr/>
            <p:nvPr/>
          </p:nvCxnSpPr>
          <p:spPr>
            <a:xfrm>
              <a:off x="794" y="3340"/>
              <a:ext cx="1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" name="Google Shape;307;p23"/>
            <p:cNvCxnSpPr/>
            <p:nvPr/>
          </p:nvCxnSpPr>
          <p:spPr>
            <a:xfrm>
              <a:off x="1429" y="2932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08" name="Google Shape;308;p23"/>
            <p:cNvSpPr txBox="1"/>
            <p:nvPr/>
          </p:nvSpPr>
          <p:spPr>
            <a:xfrm>
              <a:off x="567" y="2799"/>
              <a:ext cx="22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3"/>
            <p:cNvSpPr txBox="1"/>
            <p:nvPr/>
          </p:nvSpPr>
          <p:spPr>
            <a:xfrm>
              <a:off x="476" y="3207"/>
              <a:ext cx="32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3"/>
            <p:cNvSpPr txBox="1"/>
            <p:nvPr/>
          </p:nvSpPr>
          <p:spPr>
            <a:xfrm>
              <a:off x="1565" y="2799"/>
              <a:ext cx="22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1" name="Google Shape;311;p23"/>
            <p:cNvCxnSpPr/>
            <p:nvPr/>
          </p:nvCxnSpPr>
          <p:spPr>
            <a:xfrm>
              <a:off x="930" y="3294"/>
              <a:ext cx="91" cy="4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2" name="Google Shape;312;p23"/>
            <p:cNvCxnSpPr/>
            <p:nvPr/>
          </p:nvCxnSpPr>
          <p:spPr>
            <a:xfrm flipH="1" rot="10800000">
              <a:off x="930" y="3340"/>
              <a:ext cx="91" cy="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" name="Google Shape;313;p23"/>
            <p:cNvCxnSpPr/>
            <p:nvPr/>
          </p:nvCxnSpPr>
          <p:spPr>
            <a:xfrm>
              <a:off x="793" y="3154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14" name="Google Shape;314;p23"/>
            <p:cNvSpPr txBox="1"/>
            <p:nvPr/>
          </p:nvSpPr>
          <p:spPr>
            <a:xfrm>
              <a:off x="340" y="3021"/>
              <a:ext cx="45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Write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5" name="Google Shape;315;p23"/>
          <p:cNvGrpSpPr/>
          <p:nvPr/>
        </p:nvGrpSpPr>
        <p:grpSpPr>
          <a:xfrm>
            <a:off x="3203575" y="3644900"/>
            <a:ext cx="4991100" cy="2376487"/>
            <a:chOff x="2004" y="2387"/>
            <a:chExt cx="3144" cy="1497"/>
          </a:xfrm>
        </p:grpSpPr>
        <p:cxnSp>
          <p:nvCxnSpPr>
            <p:cNvPr id="316" name="Google Shape;316;p23"/>
            <p:cNvCxnSpPr/>
            <p:nvPr/>
          </p:nvCxnSpPr>
          <p:spPr>
            <a:xfrm>
              <a:off x="2517" y="2840"/>
              <a:ext cx="817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7" name="Google Shape;317;p23"/>
            <p:cNvCxnSpPr/>
            <p:nvPr/>
          </p:nvCxnSpPr>
          <p:spPr>
            <a:xfrm>
              <a:off x="3334" y="2840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8" name="Google Shape;318;p23"/>
            <p:cNvCxnSpPr/>
            <p:nvPr/>
          </p:nvCxnSpPr>
          <p:spPr>
            <a:xfrm>
              <a:off x="3334" y="3022"/>
              <a:ext cx="122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9" name="Google Shape;319;p23"/>
            <p:cNvCxnSpPr/>
            <p:nvPr/>
          </p:nvCxnSpPr>
          <p:spPr>
            <a:xfrm>
              <a:off x="4558" y="2840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0" name="Google Shape;320;p23"/>
            <p:cNvCxnSpPr/>
            <p:nvPr/>
          </p:nvCxnSpPr>
          <p:spPr>
            <a:xfrm>
              <a:off x="4558" y="2840"/>
              <a:ext cx="545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" name="Google Shape;321;p23"/>
            <p:cNvCxnSpPr/>
            <p:nvPr/>
          </p:nvCxnSpPr>
          <p:spPr>
            <a:xfrm>
              <a:off x="2517" y="3884"/>
              <a:ext cx="263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2" name="Google Shape;322;p23"/>
            <p:cNvCxnSpPr/>
            <p:nvPr/>
          </p:nvCxnSpPr>
          <p:spPr>
            <a:xfrm rot="10800000">
              <a:off x="2503" y="2387"/>
              <a:ext cx="14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3" name="Google Shape;323;p23"/>
            <p:cNvSpPr txBox="1"/>
            <p:nvPr/>
          </p:nvSpPr>
          <p:spPr>
            <a:xfrm>
              <a:off x="2004" y="2844"/>
              <a:ext cx="415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Write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3"/>
            <p:cNvSpPr txBox="1"/>
            <p:nvPr/>
          </p:nvSpPr>
          <p:spPr>
            <a:xfrm>
              <a:off x="2140" y="3176"/>
              <a:ext cx="20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3"/>
            <p:cNvSpPr txBox="1"/>
            <p:nvPr/>
          </p:nvSpPr>
          <p:spPr>
            <a:xfrm>
              <a:off x="2140" y="3524"/>
              <a:ext cx="21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3"/>
            <p:cNvSpPr/>
            <p:nvPr/>
          </p:nvSpPr>
          <p:spPr>
            <a:xfrm>
              <a:off x="2517" y="3203"/>
              <a:ext cx="635" cy="182"/>
            </a:xfrm>
            <a:custGeom>
              <a:rect b="b" l="l" r="r" t="t"/>
              <a:pathLst>
                <a:path extrusionOk="0" h="182" w="635">
                  <a:moveTo>
                    <a:pt x="0" y="0"/>
                  </a:moveTo>
                  <a:lnTo>
                    <a:pt x="590" y="0"/>
                  </a:lnTo>
                  <a:lnTo>
                    <a:pt x="635" y="91"/>
                  </a:lnTo>
                  <a:lnTo>
                    <a:pt x="590" y="182"/>
                  </a:lnTo>
                  <a:lnTo>
                    <a:pt x="0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3"/>
            <p:cNvSpPr/>
            <p:nvPr/>
          </p:nvSpPr>
          <p:spPr>
            <a:xfrm>
              <a:off x="3152" y="3203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3"/>
            <p:cNvSpPr/>
            <p:nvPr/>
          </p:nvSpPr>
          <p:spPr>
            <a:xfrm>
              <a:off x="2517" y="3567"/>
              <a:ext cx="272" cy="181"/>
            </a:xfrm>
            <a:custGeom>
              <a:rect b="b" l="l" r="r" t="t"/>
              <a:pathLst>
                <a:path extrusionOk="0" h="181" w="272">
                  <a:moveTo>
                    <a:pt x="0" y="0"/>
                  </a:moveTo>
                  <a:lnTo>
                    <a:pt x="227" y="0"/>
                  </a:lnTo>
                  <a:lnTo>
                    <a:pt x="272" y="90"/>
                  </a:lnTo>
                  <a:lnTo>
                    <a:pt x="227" y="181"/>
                  </a:lnTo>
                  <a:lnTo>
                    <a:pt x="0" y="181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3"/>
            <p:cNvSpPr/>
            <p:nvPr/>
          </p:nvSpPr>
          <p:spPr>
            <a:xfrm>
              <a:off x="2698" y="3294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3"/>
            <p:cNvSpPr/>
            <p:nvPr/>
          </p:nvSpPr>
          <p:spPr>
            <a:xfrm>
              <a:off x="2699" y="2840"/>
              <a:ext cx="157" cy="688"/>
            </a:xfrm>
            <a:custGeom>
              <a:rect b="b" l="l" r="r" t="t"/>
              <a:pathLst>
                <a:path extrusionOk="0" h="688" w="157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8" y="75"/>
                    <a:pt x="137" y="158"/>
                  </a:cubicBezTo>
                  <a:cubicBezTo>
                    <a:pt x="156" y="241"/>
                    <a:pt x="153" y="578"/>
                    <a:pt x="157" y="688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3"/>
            <p:cNvSpPr/>
            <p:nvPr/>
          </p:nvSpPr>
          <p:spPr>
            <a:xfrm>
              <a:off x="4966" y="3566"/>
              <a:ext cx="136" cy="182"/>
            </a:xfrm>
            <a:custGeom>
              <a:rect b="b" l="l" r="r" t="t"/>
              <a:pathLst>
                <a:path extrusionOk="0" h="182" w="136">
                  <a:moveTo>
                    <a:pt x="136" y="0"/>
                  </a:moveTo>
                  <a:lnTo>
                    <a:pt x="45" y="0"/>
                  </a:lnTo>
                  <a:lnTo>
                    <a:pt x="0" y="91"/>
                  </a:lnTo>
                  <a:lnTo>
                    <a:pt x="45" y="182"/>
                  </a:lnTo>
                  <a:lnTo>
                    <a:pt x="136" y="182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3"/>
            <p:cNvSpPr/>
            <p:nvPr/>
          </p:nvSpPr>
          <p:spPr>
            <a:xfrm>
              <a:off x="4241" y="3203"/>
              <a:ext cx="862" cy="182"/>
            </a:xfrm>
            <a:custGeom>
              <a:rect b="b" l="l" r="r" t="t"/>
              <a:pathLst>
                <a:path extrusionOk="0" h="182" w="862">
                  <a:moveTo>
                    <a:pt x="862" y="0"/>
                  </a:moveTo>
                  <a:lnTo>
                    <a:pt x="46" y="0"/>
                  </a:lnTo>
                  <a:lnTo>
                    <a:pt x="0" y="91"/>
                  </a:lnTo>
                  <a:lnTo>
                    <a:pt x="46" y="182"/>
                  </a:lnTo>
                  <a:lnTo>
                    <a:pt x="862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3" name="Google Shape;333;p23"/>
            <p:cNvCxnSpPr/>
            <p:nvPr/>
          </p:nvCxnSpPr>
          <p:spPr>
            <a:xfrm>
              <a:off x="2698" y="2478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" name="Google Shape;334;p23"/>
            <p:cNvCxnSpPr/>
            <p:nvPr/>
          </p:nvCxnSpPr>
          <p:spPr>
            <a:xfrm>
              <a:off x="2698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5" name="Google Shape;335;p23"/>
            <p:cNvCxnSpPr/>
            <p:nvPr/>
          </p:nvCxnSpPr>
          <p:spPr>
            <a:xfrm>
              <a:off x="3242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" name="Google Shape;336;p23"/>
            <p:cNvCxnSpPr/>
            <p:nvPr/>
          </p:nvCxnSpPr>
          <p:spPr>
            <a:xfrm>
              <a:off x="3242" y="2659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7" name="Google Shape;337;p23"/>
            <p:cNvCxnSpPr/>
            <p:nvPr/>
          </p:nvCxnSpPr>
          <p:spPr>
            <a:xfrm>
              <a:off x="2517" y="2659"/>
              <a:ext cx="18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8" name="Google Shape;338;p23"/>
            <p:cNvCxnSpPr/>
            <p:nvPr/>
          </p:nvCxnSpPr>
          <p:spPr>
            <a:xfrm>
              <a:off x="3787" y="2478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9" name="Google Shape;339;p23"/>
            <p:cNvCxnSpPr/>
            <p:nvPr/>
          </p:nvCxnSpPr>
          <p:spPr>
            <a:xfrm>
              <a:off x="3787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0" name="Google Shape;340;p23"/>
            <p:cNvCxnSpPr/>
            <p:nvPr/>
          </p:nvCxnSpPr>
          <p:spPr>
            <a:xfrm>
              <a:off x="4331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1" name="Google Shape;341;p23"/>
            <p:cNvCxnSpPr/>
            <p:nvPr/>
          </p:nvCxnSpPr>
          <p:spPr>
            <a:xfrm>
              <a:off x="4331" y="2659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2" name="Google Shape;342;p23"/>
            <p:cNvCxnSpPr/>
            <p:nvPr/>
          </p:nvCxnSpPr>
          <p:spPr>
            <a:xfrm>
              <a:off x="4875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3" name="Google Shape;343;p23"/>
            <p:cNvCxnSpPr/>
            <p:nvPr/>
          </p:nvCxnSpPr>
          <p:spPr>
            <a:xfrm flipH="1" rot="10800000">
              <a:off x="4876" y="2477"/>
              <a:ext cx="227" cy="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4" name="Google Shape;344;p23"/>
            <p:cNvSpPr txBox="1"/>
            <p:nvPr/>
          </p:nvSpPr>
          <p:spPr>
            <a:xfrm>
              <a:off x="2140" y="2481"/>
              <a:ext cx="3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3"/>
            <p:cNvSpPr/>
            <p:nvPr/>
          </p:nvSpPr>
          <p:spPr>
            <a:xfrm>
              <a:off x="2789" y="3566"/>
              <a:ext cx="2178" cy="182"/>
            </a:xfrm>
            <a:custGeom>
              <a:rect b="b" l="l" r="r" t="t"/>
              <a:pathLst>
                <a:path extrusionOk="0" h="182" w="2178">
                  <a:moveTo>
                    <a:pt x="0" y="91"/>
                  </a:moveTo>
                  <a:lnTo>
                    <a:pt x="46" y="0"/>
                  </a:lnTo>
                  <a:lnTo>
                    <a:pt x="2132" y="0"/>
                  </a:lnTo>
                  <a:lnTo>
                    <a:pt x="2178" y="91"/>
                  </a:lnTo>
                  <a:lnTo>
                    <a:pt x="2132" y="182"/>
                  </a:lnTo>
                  <a:lnTo>
                    <a:pt x="46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3"/>
            <p:cNvSpPr/>
            <p:nvPr/>
          </p:nvSpPr>
          <p:spPr>
            <a:xfrm>
              <a:off x="4875" y="3294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3"/>
            <p:cNvSpPr/>
            <p:nvPr/>
          </p:nvSpPr>
          <p:spPr>
            <a:xfrm>
              <a:off x="4876" y="2840"/>
              <a:ext cx="157" cy="688"/>
            </a:xfrm>
            <a:custGeom>
              <a:rect b="b" l="l" r="r" t="t"/>
              <a:pathLst>
                <a:path extrusionOk="0" h="688" w="157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8" y="75"/>
                    <a:pt x="137" y="158"/>
                  </a:cubicBezTo>
                  <a:cubicBezTo>
                    <a:pt x="156" y="241"/>
                    <a:pt x="153" y="578"/>
                    <a:pt x="157" y="688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8" name="Google Shape;348;p23"/>
            <p:cNvCxnSpPr/>
            <p:nvPr/>
          </p:nvCxnSpPr>
          <p:spPr>
            <a:xfrm>
              <a:off x="2698" y="2387"/>
              <a:ext cx="0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9" name="Google Shape;349;p23"/>
            <p:cNvCxnSpPr/>
            <p:nvPr/>
          </p:nvCxnSpPr>
          <p:spPr>
            <a:xfrm>
              <a:off x="3787" y="2387"/>
              <a:ext cx="0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0" name="Google Shape;350;p23"/>
            <p:cNvCxnSpPr/>
            <p:nvPr/>
          </p:nvCxnSpPr>
          <p:spPr>
            <a:xfrm>
              <a:off x="4875" y="2387"/>
              <a:ext cx="1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Clocking Methodology</a:t>
            </a:r>
            <a:endParaRPr/>
          </a:p>
        </p:txBody>
      </p:sp>
      <p:sp>
        <p:nvSpPr>
          <p:cNvPr id="361" name="Google Shape;361;p24"/>
          <p:cNvSpPr txBox="1"/>
          <p:nvPr>
            <p:ph idx="1" type="body"/>
          </p:nvPr>
        </p:nvSpPr>
        <p:spPr>
          <a:xfrm>
            <a:off x="684212" y="1125537"/>
            <a:ext cx="8270875" cy="284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logic transforms data during clock cycles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Between clock edges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from state elements, output to state element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Longest delay determines clock period</a:t>
            </a:r>
            <a:endParaRPr/>
          </a:p>
        </p:txBody>
      </p:sp>
      <p:pic>
        <p:nvPicPr>
          <p:cNvPr descr="f04-04-P374493" id="362" name="Google Shape;3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625" y="4581525"/>
            <a:ext cx="2865437" cy="66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04-03-P374493" id="363" name="Google Shape;3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50" y="4437062"/>
            <a:ext cx="3851275" cy="113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a Datapath</a:t>
            </a:r>
            <a:endParaRPr/>
          </a:p>
        </p:txBody>
      </p:sp>
      <p:sp>
        <p:nvSpPr>
          <p:cNvPr id="374" name="Google Shape;374;p2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Datapath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Elements that process data and addresses</a:t>
            </a:r>
            <a:b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CPU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Registers, ALUs, mux’s, memories, …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build a RISC-V datapath incrementally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Refining the overview design</a:t>
            </a:r>
            <a:endParaRPr/>
          </a:p>
        </p:txBody>
      </p:sp>
      <p:sp>
        <p:nvSpPr>
          <p:cNvPr id="375" name="Google Shape;375;p25"/>
          <p:cNvSpPr txBox="1"/>
          <p:nvPr/>
        </p:nvSpPr>
        <p:spPr>
          <a:xfrm rot="5400000">
            <a:off x="7617618" y="1159668"/>
            <a:ext cx="26860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§4.3 Building a Datapath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Fetch</a:t>
            </a:r>
            <a:endParaRPr/>
          </a:p>
        </p:txBody>
      </p:sp>
      <p:sp>
        <p:nvSpPr>
          <p:cNvPr id="386" name="Google Shape;386;p26"/>
          <p:cNvSpPr/>
          <p:nvPr/>
        </p:nvSpPr>
        <p:spPr>
          <a:xfrm>
            <a:off x="611187" y="4437062"/>
            <a:ext cx="914400" cy="60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4320" y="44416"/>
                </a:moveTo>
                <a:lnTo>
                  <a:pt x="-46000" y="28080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64-bit register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7308850" y="3860800"/>
            <a:ext cx="1439862" cy="863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864" y="-14375"/>
                </a:moveTo>
                <a:lnTo>
                  <a:pt x="3431" y="-137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Increment by 4 for next instruction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06-P374493" id="388" name="Google Shape;38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4075" y="1628775"/>
            <a:ext cx="5143500" cy="40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07-P374493" id="398" name="Google Shape;39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912" y="3284537"/>
            <a:ext cx="6316662" cy="2573337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R-Format Instructions</a:t>
            </a:r>
            <a:endParaRPr/>
          </a:p>
        </p:txBody>
      </p:sp>
      <p:sp>
        <p:nvSpPr>
          <p:cNvPr id="400" name="Google Shape;400;p27"/>
          <p:cNvSpPr txBox="1"/>
          <p:nvPr>
            <p:ph idx="1" type="body"/>
          </p:nvPr>
        </p:nvSpPr>
        <p:spPr>
          <a:xfrm>
            <a:off x="684212" y="1125537"/>
            <a:ext cx="8270875" cy="192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two register operands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arithmetic/logical operation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register result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Load/Store Instructions</a:t>
            </a:r>
            <a:endParaRPr/>
          </a:p>
        </p:txBody>
      </p:sp>
      <p:sp>
        <p:nvSpPr>
          <p:cNvPr id="411" name="Google Shape;411;p28"/>
          <p:cNvSpPr txBox="1"/>
          <p:nvPr>
            <p:ph idx="1" type="body"/>
          </p:nvPr>
        </p:nvSpPr>
        <p:spPr>
          <a:xfrm>
            <a:off x="684212" y="1125537"/>
            <a:ext cx="8204200" cy="261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register operands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address using 12-bit offset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ALU, but sign-extend offset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Load: Read memory and update register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Store: Write register value to memory</a:t>
            </a:r>
            <a:endParaRPr/>
          </a:p>
        </p:txBody>
      </p:sp>
      <p:pic>
        <p:nvPicPr>
          <p:cNvPr id="412" name="Google Shape;41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5512" y="3563937"/>
            <a:ext cx="5113337" cy="266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 Instructions</a:t>
            </a:r>
            <a:endParaRPr/>
          </a:p>
        </p:txBody>
      </p:sp>
      <p:sp>
        <p:nvSpPr>
          <p:cNvPr id="423" name="Google Shape;423;p2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register operands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operands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ALU, subtract and check Zero output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target address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Sign-extend displacement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left 1 place (halfword displacement)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to PC value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 Instructions</a:t>
            </a:r>
            <a:endParaRPr/>
          </a:p>
        </p:txBody>
      </p:sp>
      <p:sp>
        <p:nvSpPr>
          <p:cNvPr id="434" name="Google Shape;434;p30"/>
          <p:cNvSpPr/>
          <p:nvPr/>
        </p:nvSpPr>
        <p:spPr>
          <a:xfrm>
            <a:off x="1187450" y="1557337"/>
            <a:ext cx="1079500" cy="86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7170" y="92093"/>
                </a:moveTo>
                <a:lnTo>
                  <a:pt x="3425" y="27750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Just</a:t>
            </a:r>
            <a:b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re-routes wires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0"/>
          <p:cNvSpPr/>
          <p:nvPr/>
        </p:nvSpPr>
        <p:spPr>
          <a:xfrm>
            <a:off x="5364162" y="5661025"/>
            <a:ext cx="1368425" cy="64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2224" y="-15456"/>
                </a:moveTo>
                <a:lnTo>
                  <a:pt x="4574" y="-1444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Sign-bit wire replicated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8262" y="1174750"/>
            <a:ext cx="6951662" cy="5062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Composing the Elements</a:t>
            </a:r>
            <a:endParaRPr/>
          </a:p>
        </p:txBody>
      </p:sp>
      <p:sp>
        <p:nvSpPr>
          <p:cNvPr id="447" name="Google Shape;447;p3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First-cut data path does an instruction in one clock cycle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datapath element can only do one function at a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Hence, we need separate instruction and data memories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multiplexers where alternate data sources are used for different instructions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R-Type/Load/Store Datapath</a:t>
            </a:r>
            <a:endParaRPr/>
          </a:p>
        </p:txBody>
      </p:sp>
      <p:pic>
        <p:nvPicPr>
          <p:cNvPr id="458" name="Google Shape;45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987" y="1557337"/>
            <a:ext cx="8121650" cy="395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Full Datapath</a:t>
            </a:r>
            <a:endParaRPr/>
          </a:p>
        </p:txBody>
      </p:sp>
      <p:pic>
        <p:nvPicPr>
          <p:cNvPr id="469" name="Google Shape;46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1268412"/>
            <a:ext cx="7632700" cy="5075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ALU Control</a:t>
            </a:r>
            <a:endParaRPr/>
          </a:p>
        </p:txBody>
      </p:sp>
      <p:sp>
        <p:nvSpPr>
          <p:cNvPr id="480" name="Google Shape;480;p34"/>
          <p:cNvSpPr txBox="1"/>
          <p:nvPr>
            <p:ph idx="1" type="body"/>
          </p:nvPr>
        </p:nvSpPr>
        <p:spPr>
          <a:xfrm>
            <a:off x="684212" y="1125537"/>
            <a:ext cx="8270875" cy="238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 used for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Load/Store: F = add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Branch: F = subtract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R-type: F depends on opcode</a:t>
            </a:r>
            <a:endParaRPr/>
          </a:p>
        </p:txBody>
      </p:sp>
      <p:sp>
        <p:nvSpPr>
          <p:cNvPr id="481" name="Google Shape;481;p34"/>
          <p:cNvSpPr txBox="1"/>
          <p:nvPr/>
        </p:nvSpPr>
        <p:spPr>
          <a:xfrm rot="5400000">
            <a:off x="6893718" y="1883568"/>
            <a:ext cx="41338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§4.4 A Simple Implementation Scheme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2" name="Google Shape;482;p34"/>
          <p:cNvGraphicFramePr/>
          <p:nvPr/>
        </p:nvGraphicFramePr>
        <p:xfrm>
          <a:off x="1187450" y="35004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{67CFE91C-58B2-42A1-94F0-9A68D94B5FB5}</a:tableStyleId>
              </a:tblPr>
              <a:tblGrid>
                <a:gridCol w="3048000"/>
                <a:gridCol w="304800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control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ALU Control</a:t>
            </a:r>
            <a:endParaRPr/>
          </a:p>
        </p:txBody>
      </p:sp>
      <p:sp>
        <p:nvSpPr>
          <p:cNvPr id="493" name="Google Shape;493;p35"/>
          <p:cNvSpPr txBox="1"/>
          <p:nvPr>
            <p:ph idx="1" type="body"/>
          </p:nvPr>
        </p:nvSpPr>
        <p:spPr>
          <a:xfrm>
            <a:off x="317512" y="1089062"/>
            <a:ext cx="82710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2-bit ALUOp derived from opcode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logic derives ALU control</a:t>
            </a:r>
            <a:endParaRPr/>
          </a:p>
        </p:txBody>
      </p:sp>
      <p:graphicFrame>
        <p:nvGraphicFramePr>
          <p:cNvPr id="494" name="Google Shape;494;p35"/>
          <p:cNvGraphicFramePr/>
          <p:nvPr/>
        </p:nvGraphicFramePr>
        <p:xfrm>
          <a:off x="1139850" y="2573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{67CFE91C-58B2-42A1-94F0-9A68D94B5FB5}</a:tableStyleId>
              </a:tblPr>
              <a:tblGrid>
                <a:gridCol w="1208075"/>
                <a:gridCol w="906450"/>
                <a:gridCol w="1733550"/>
                <a:gridCol w="1733550"/>
                <a:gridCol w="1282700"/>
              </a:tblGrid>
              <a:tr h="57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ALUOp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function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control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load register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store register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beq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branch on equal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R-type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5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Datapath With Control</a:t>
            </a:r>
            <a:endParaRPr/>
          </a:p>
        </p:txBody>
      </p:sp>
      <p:pic>
        <p:nvPicPr>
          <p:cNvPr id="505" name="Google Shape;50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R-Type Instruction</a:t>
            </a:r>
            <a:endParaRPr/>
          </a:p>
        </p:txBody>
      </p:sp>
      <p:pic>
        <p:nvPicPr>
          <p:cNvPr id="516" name="Google Shape;51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08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 Instruction</a:t>
            </a:r>
            <a:endParaRPr/>
          </a:p>
        </p:txBody>
      </p:sp>
      <p:pic>
        <p:nvPicPr>
          <p:cNvPr id="527" name="Google Shape;52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9"/>
          <p:cNvSpPr txBox="1"/>
          <p:nvPr>
            <p:ph type="title"/>
          </p:nvPr>
        </p:nvSpPr>
        <p:spPr>
          <a:xfrm>
            <a:off x="684212" y="138112"/>
            <a:ext cx="8259762" cy="769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Branch-on-Equal Instruction</a:t>
            </a:r>
            <a:endParaRPr/>
          </a:p>
        </p:txBody>
      </p:sp>
      <p:pic>
        <p:nvPicPr>
          <p:cNvPr id="538" name="Google Shape;53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Performance Issues</a:t>
            </a:r>
            <a:endParaRPr/>
          </a:p>
        </p:txBody>
      </p:sp>
      <p:sp>
        <p:nvSpPr>
          <p:cNvPr id="549" name="Google Shape;549;p4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Longest delay determines clock period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Critical path: load instruction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memory → register file → ALU → data memory → register file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feasible to vary period for different instructions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Violates design principle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Making the common case fast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improve performance by pipelining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25-P374493" id="559" name="Google Shape;55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2420937"/>
            <a:ext cx="4484687" cy="3579812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Pipelining Analogy</a:t>
            </a:r>
            <a:endParaRPr/>
          </a:p>
        </p:txBody>
      </p:sp>
      <p:sp>
        <p:nvSpPr>
          <p:cNvPr id="561" name="Google Shape;561;p41"/>
          <p:cNvSpPr txBox="1"/>
          <p:nvPr>
            <p:ph idx="1" type="body"/>
          </p:nvPr>
        </p:nvSpPr>
        <p:spPr>
          <a:xfrm>
            <a:off x="684212" y="1125537"/>
            <a:ext cx="8270875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Pipelined laundry: overlapping execution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Parallelism improves performance</a:t>
            </a:r>
            <a:endParaRPr/>
          </a:p>
        </p:txBody>
      </p:sp>
      <p:sp>
        <p:nvSpPr>
          <p:cNvPr id="562" name="Google Shape;562;p41"/>
          <p:cNvSpPr txBox="1"/>
          <p:nvPr/>
        </p:nvSpPr>
        <p:spPr>
          <a:xfrm rot="5400000">
            <a:off x="7312818" y="1464468"/>
            <a:ext cx="32956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§4.6 An Overview of Pipelining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Pipeline</a:t>
            </a:r>
            <a:endParaRPr/>
          </a:p>
        </p:txBody>
      </p:sp>
      <p:sp>
        <p:nvSpPr>
          <p:cNvPr id="573" name="Google Shape;573;p4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Five stages, one step per stage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IF: Instruction fetch from memory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ID: Instruction decode &amp; register read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EX: Execute operation or calculate address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MEM: Access memory operand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WB: Write result back to register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4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Performance</a:t>
            </a:r>
            <a:endParaRPr/>
          </a:p>
        </p:txBody>
      </p:sp>
      <p:sp>
        <p:nvSpPr>
          <p:cNvPr id="584" name="Google Shape;584;p43"/>
          <p:cNvSpPr txBox="1"/>
          <p:nvPr>
            <p:ph idx="1" type="body"/>
          </p:nvPr>
        </p:nvSpPr>
        <p:spPr>
          <a:xfrm>
            <a:off x="684212" y="1125537"/>
            <a:ext cx="8270875" cy="253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time for stages is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100ps for register read or write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200ps for other stages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pipelined datapath with single-cycle datapath</a:t>
            </a:r>
            <a:endParaRPr/>
          </a:p>
        </p:txBody>
      </p:sp>
      <p:graphicFrame>
        <p:nvGraphicFramePr>
          <p:cNvPr id="585" name="Google Shape;585;p43"/>
          <p:cNvGraphicFramePr/>
          <p:nvPr/>
        </p:nvGraphicFramePr>
        <p:xfrm>
          <a:off x="395287" y="3846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{67CFE91C-58B2-42A1-94F0-9A68D94B5FB5}</a:tableStyleId>
              </a:tblPr>
              <a:tblGrid>
                <a:gridCol w="1193800"/>
                <a:gridCol w="1192200"/>
                <a:gridCol w="1195375"/>
                <a:gridCol w="1190625"/>
                <a:gridCol w="1195375"/>
                <a:gridCol w="1192200"/>
                <a:gridCol w="1193800"/>
              </a:tblGrid>
              <a:tr h="6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 fetch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 read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op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 access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 write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time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R-format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beq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4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Performance</a:t>
            </a:r>
            <a:endParaRPr/>
          </a:p>
        </p:txBody>
      </p:sp>
      <p:sp>
        <p:nvSpPr>
          <p:cNvPr id="596" name="Google Shape;596;p44"/>
          <p:cNvSpPr txBox="1"/>
          <p:nvPr/>
        </p:nvSpPr>
        <p:spPr>
          <a:xfrm>
            <a:off x="3132137" y="1196975"/>
            <a:ext cx="267652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Single-cycle (T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800ps)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4"/>
          <p:cNvSpPr txBox="1"/>
          <p:nvPr/>
        </p:nvSpPr>
        <p:spPr>
          <a:xfrm>
            <a:off x="3276600" y="3644900"/>
            <a:ext cx="238442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Pipelined (T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200ps)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8" name="Google Shape;59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1628775"/>
            <a:ext cx="6624637" cy="4567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Pipelining and ISA Design</a:t>
            </a:r>
            <a:endParaRPr/>
          </a:p>
        </p:txBody>
      </p:sp>
      <p:sp>
        <p:nvSpPr>
          <p:cNvPr id="609" name="Google Shape;609;p4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ISA designed for pipelining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instructions are 32-bits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Easier to fetch and decode in one cycle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 x86: 1- to 17-byte instructions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 and regular instruction formats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decode and read registers in one step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 addressing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calculate address in 3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stage, access memory in 4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stage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Hazards</a:t>
            </a:r>
            <a:endParaRPr/>
          </a:p>
        </p:txBody>
      </p:sp>
      <p:sp>
        <p:nvSpPr>
          <p:cNvPr id="620" name="Google Shape;620;p4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Situations that prevent starting the next instruction in the next cycle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 hazards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required resource is busy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hazard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wait for previous instruction to complete its data read/write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hazard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Deciding on control action depends on previous instruction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4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Structural Hazards</a:t>
            </a:r>
            <a:endParaRPr/>
          </a:p>
        </p:txBody>
      </p:sp>
      <p:sp>
        <p:nvSpPr>
          <p:cNvPr id="631" name="Google Shape;631;p4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Conflict for use of a resource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RISC-V pipeline with a single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 requires data access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fetch would have to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that cycle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Would cause a pipeline “bubble”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Hence, pipelined datapaths require separate instruction/data memories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separate instruction/data caches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Hazards</a:t>
            </a:r>
            <a:endParaRPr/>
          </a:p>
        </p:txBody>
      </p:sp>
      <p:sp>
        <p:nvSpPr>
          <p:cNvPr id="642" name="Google Shape;642;p48"/>
          <p:cNvSpPr txBox="1"/>
          <p:nvPr>
            <p:ph idx="1" type="body"/>
          </p:nvPr>
        </p:nvSpPr>
        <p:spPr>
          <a:xfrm>
            <a:off x="684212" y="1125537"/>
            <a:ext cx="8270875" cy="2227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instruction depends on completion of data access by a previous instruction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add	</a:t>
            </a:r>
            <a:r>
              <a:rPr i="0" lang="en-US" sz="2800" u="none">
                <a:solidFill>
                  <a:srgbClr val="FF0000"/>
                </a:solidFill>
              </a:rPr>
              <a:t>x19</a:t>
            </a:r>
            <a:r>
              <a:rPr i="0" lang="en-US" sz="2800" u="none">
                <a:solidFill>
                  <a:schemeClr val="dk1"/>
                </a:solidFill>
              </a:rPr>
              <a:t>, x0, x1</a:t>
            </a:r>
            <a:br>
              <a:rPr i="0" lang="en-US" sz="2800" u="none">
                <a:solidFill>
                  <a:schemeClr val="dk1"/>
                </a:solidFill>
              </a:rPr>
            </a:br>
            <a:r>
              <a:rPr i="0" lang="en-US" sz="2800" u="none">
                <a:solidFill>
                  <a:schemeClr val="dk1"/>
                </a:solidFill>
              </a:rPr>
              <a:t>sub	x2, </a:t>
            </a:r>
            <a:r>
              <a:rPr i="0" lang="en-US" sz="2800" u="none">
                <a:solidFill>
                  <a:srgbClr val="FF0000"/>
                </a:solidFill>
              </a:rPr>
              <a:t>x19</a:t>
            </a:r>
            <a:r>
              <a:rPr i="0" lang="en-US" sz="2800" u="none">
                <a:solidFill>
                  <a:schemeClr val="dk1"/>
                </a:solidFill>
              </a:rPr>
              <a:t>, x3</a:t>
            </a:r>
            <a:endParaRPr/>
          </a:p>
        </p:txBody>
      </p:sp>
      <p:pic>
        <p:nvPicPr>
          <p:cNvPr id="643" name="Google Shape;64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3429000"/>
            <a:ext cx="7767637" cy="27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4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Forwarding (aka Bypassing)</a:t>
            </a:r>
            <a:endParaRPr/>
          </a:p>
        </p:txBody>
      </p:sp>
      <p:sp>
        <p:nvSpPr>
          <p:cNvPr id="654" name="Google Shape;654;p49"/>
          <p:cNvSpPr txBox="1"/>
          <p:nvPr>
            <p:ph idx="1" type="body"/>
          </p:nvPr>
        </p:nvSpPr>
        <p:spPr>
          <a:xfrm>
            <a:off x="684212" y="1125537"/>
            <a:ext cx="8270875" cy="176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result when it is computed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Don’t wait for it to be stored in a register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Requires extra connections in the datapath</a:t>
            </a:r>
            <a:endParaRPr/>
          </a:p>
        </p:txBody>
      </p:sp>
      <p:pic>
        <p:nvPicPr>
          <p:cNvPr id="655" name="Google Shape;65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3036887"/>
            <a:ext cx="7804150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5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Load-Use Data Hazard</a:t>
            </a:r>
            <a:endParaRPr/>
          </a:p>
        </p:txBody>
      </p:sp>
      <p:sp>
        <p:nvSpPr>
          <p:cNvPr id="666" name="Google Shape;666;p50"/>
          <p:cNvSpPr txBox="1"/>
          <p:nvPr>
            <p:ph idx="1" type="body"/>
          </p:nvPr>
        </p:nvSpPr>
        <p:spPr>
          <a:xfrm>
            <a:off x="684212" y="1125537"/>
            <a:ext cx="8270875" cy="184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always avoid stalls by forwarding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value not computed when needed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forward backward in time!</a:t>
            </a:r>
            <a:endParaRPr/>
          </a:p>
        </p:txBody>
      </p:sp>
      <p:pic>
        <p:nvPicPr>
          <p:cNvPr id="667" name="Google Shape;66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775" y="3041650"/>
            <a:ext cx="7178675" cy="283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5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Code Scheduling to Avoid Stalls</a:t>
            </a:r>
            <a:endParaRPr/>
          </a:p>
        </p:txBody>
      </p:sp>
      <p:sp>
        <p:nvSpPr>
          <p:cNvPr id="678" name="Google Shape;678;p51"/>
          <p:cNvSpPr txBox="1"/>
          <p:nvPr>
            <p:ph idx="1" type="body"/>
          </p:nvPr>
        </p:nvSpPr>
        <p:spPr>
          <a:xfrm>
            <a:off x="684212" y="1125537"/>
            <a:ext cx="8270875" cy="184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Reorder code to avoid use of load result in the next instruction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 for</a:t>
            </a:r>
            <a:r>
              <a:rPr i="0" lang="en-US" sz="3200" u="none">
                <a:solidFill>
                  <a:schemeClr val="dk1"/>
                </a:solidFill>
              </a:rPr>
              <a:t> a = b + e; c = b + f;</a:t>
            </a:r>
            <a:endParaRPr/>
          </a:p>
        </p:txBody>
      </p:sp>
      <p:sp>
        <p:nvSpPr>
          <p:cNvPr id="679" name="Google Shape;679;p51"/>
          <p:cNvSpPr txBox="1"/>
          <p:nvPr/>
        </p:nvSpPr>
        <p:spPr>
          <a:xfrm>
            <a:off x="1665287" y="3225800"/>
            <a:ext cx="2992500" cy="25551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x1, 0(x0)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8(x0)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x3, x1,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x3, 24(x0)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16(x0)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x5, x1,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x5, 32(x0)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51"/>
          <p:cNvSpPr/>
          <p:nvPr/>
        </p:nvSpPr>
        <p:spPr>
          <a:xfrm>
            <a:off x="296862" y="4078287"/>
            <a:ext cx="914400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6557" y="38340"/>
                </a:moveTo>
                <a:lnTo>
                  <a:pt x="7376" y="28080"/>
                </a:lnTo>
              </a:path>
            </a:pathLst>
          </a:cu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51"/>
          <p:cNvSpPr/>
          <p:nvPr/>
        </p:nvSpPr>
        <p:spPr>
          <a:xfrm>
            <a:off x="296862" y="5157787"/>
            <a:ext cx="914400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6557" y="38340"/>
                </a:moveTo>
                <a:lnTo>
                  <a:pt x="7376" y="28080"/>
                </a:lnTo>
              </a:path>
            </a:pathLst>
          </a:cu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1"/>
          <p:cNvSpPr txBox="1"/>
          <p:nvPr/>
        </p:nvSpPr>
        <p:spPr>
          <a:xfrm>
            <a:off x="5457825" y="3225800"/>
            <a:ext cx="3224100" cy="25551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x1, 0(x0)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8(x0)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16(x0)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x3, x1,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x3, 24(x0)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x5, x1,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x5, 32(x0)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3" name="Google Shape;683;p51"/>
          <p:cNvCxnSpPr/>
          <p:nvPr/>
        </p:nvCxnSpPr>
        <p:spPr>
          <a:xfrm flipH="1" rot="10800000">
            <a:off x="4859337" y="4221162"/>
            <a:ext cx="647700" cy="673100"/>
          </a:xfrm>
          <a:prstGeom prst="straightConnector1">
            <a:avLst/>
          </a:prstGeom>
          <a:noFill/>
          <a:ln cap="flat" cmpd="sng" w="28575">
            <a:solidFill>
              <a:schemeClr val="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84" name="Google Shape;684;p51"/>
          <p:cNvSpPr/>
          <p:nvPr/>
        </p:nvSpPr>
        <p:spPr>
          <a:xfrm>
            <a:off x="2506662" y="3594900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51"/>
          <p:cNvSpPr/>
          <p:nvPr/>
        </p:nvSpPr>
        <p:spPr>
          <a:xfrm>
            <a:off x="4067175" y="3933825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i="0" lang="en-US" sz="2000" u="none" cap="none" strike="noStrike">
                <a:solidFill>
                  <a:srgbClr val="FF0000"/>
                </a:solidFill>
                <a:latin typeface="Oi"/>
                <a:ea typeface="Oi"/>
                <a:cs typeface="Oi"/>
                <a:sym typeface="Oi"/>
              </a:rPr>
              <a:t>x2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686" name="Google Shape;686;p51"/>
          <p:cNvSpPr/>
          <p:nvPr/>
        </p:nvSpPr>
        <p:spPr>
          <a:xfrm>
            <a:off x="2487612" y="4652887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51"/>
          <p:cNvSpPr/>
          <p:nvPr/>
        </p:nvSpPr>
        <p:spPr>
          <a:xfrm>
            <a:off x="4068747" y="5013325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Oi"/>
                <a:ea typeface="Oi"/>
                <a:cs typeface="Oi"/>
                <a:sym typeface="Oi"/>
              </a:rPr>
              <a:t>x4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51"/>
          <p:cNvSpPr/>
          <p:nvPr/>
        </p:nvSpPr>
        <p:spPr>
          <a:xfrm>
            <a:off x="6300775" y="3573512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51"/>
          <p:cNvSpPr/>
          <p:nvPr/>
        </p:nvSpPr>
        <p:spPr>
          <a:xfrm>
            <a:off x="7885098" y="4292600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51"/>
          <p:cNvSpPr/>
          <p:nvPr/>
        </p:nvSpPr>
        <p:spPr>
          <a:xfrm>
            <a:off x="7885112" y="5013325"/>
            <a:ext cx="647700" cy="431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51"/>
          <p:cNvSpPr/>
          <p:nvPr/>
        </p:nvSpPr>
        <p:spPr>
          <a:xfrm>
            <a:off x="6372213" y="3933775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2" name="Google Shape;692;p51"/>
          <p:cNvCxnSpPr/>
          <p:nvPr/>
        </p:nvCxnSpPr>
        <p:spPr>
          <a:xfrm>
            <a:off x="3516312" y="3819525"/>
            <a:ext cx="550862" cy="258762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3" name="Google Shape;693;p51"/>
          <p:cNvCxnSpPr/>
          <p:nvPr/>
        </p:nvCxnSpPr>
        <p:spPr>
          <a:xfrm>
            <a:off x="3449637" y="4918075"/>
            <a:ext cx="619125" cy="31115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4" name="Google Shape;694;p51"/>
          <p:cNvCxnSpPr/>
          <p:nvPr/>
        </p:nvCxnSpPr>
        <p:spPr>
          <a:xfrm>
            <a:off x="7302500" y="3829050"/>
            <a:ext cx="654050" cy="49212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5" name="Google Shape;695;p51"/>
          <p:cNvCxnSpPr/>
          <p:nvPr/>
        </p:nvCxnSpPr>
        <p:spPr>
          <a:xfrm>
            <a:off x="7231062" y="4287837"/>
            <a:ext cx="796925" cy="725487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6" name="Google Shape;696;p51"/>
          <p:cNvSpPr txBox="1"/>
          <p:nvPr/>
        </p:nvSpPr>
        <p:spPr>
          <a:xfrm>
            <a:off x="6300787" y="5876925"/>
            <a:ext cx="114617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 cycles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51"/>
          <p:cNvSpPr txBox="1"/>
          <p:nvPr/>
        </p:nvSpPr>
        <p:spPr>
          <a:xfrm>
            <a:off x="2506662" y="5876925"/>
            <a:ext cx="114617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 cycles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5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Stall on Branch</a:t>
            </a:r>
            <a:endParaRPr/>
          </a:p>
        </p:txBody>
      </p:sp>
      <p:sp>
        <p:nvSpPr>
          <p:cNvPr id="708" name="Google Shape;708;p52"/>
          <p:cNvSpPr txBox="1"/>
          <p:nvPr>
            <p:ph idx="1" type="body"/>
          </p:nvPr>
        </p:nvSpPr>
        <p:spPr>
          <a:xfrm>
            <a:off x="684212" y="1125537"/>
            <a:ext cx="8270875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Wait until branch outcome determined before fetching next instruction</a:t>
            </a:r>
            <a:endParaRPr/>
          </a:p>
        </p:txBody>
      </p:sp>
      <p:pic>
        <p:nvPicPr>
          <p:cNvPr id="709" name="Google Shape;70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2576512"/>
            <a:ext cx="7653337" cy="294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5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Pipelined Datapath</a:t>
            </a:r>
            <a:endParaRPr/>
          </a:p>
        </p:txBody>
      </p:sp>
      <p:sp>
        <p:nvSpPr>
          <p:cNvPr id="720" name="Google Shape;720;p53"/>
          <p:cNvSpPr txBox="1"/>
          <p:nvPr/>
        </p:nvSpPr>
        <p:spPr>
          <a:xfrm rot="5400000">
            <a:off x="7009606" y="1748631"/>
            <a:ext cx="3902075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§4.7 Pipelined Datapath and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53"/>
          <p:cNvSpPr/>
          <p:nvPr/>
        </p:nvSpPr>
        <p:spPr>
          <a:xfrm>
            <a:off x="2124075" y="5157787"/>
            <a:ext cx="571500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30780" y="59544"/>
                </a:moveTo>
                <a:lnTo>
                  <a:pt x="8972" y="29376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53"/>
          <p:cNvSpPr/>
          <p:nvPr/>
        </p:nvSpPr>
        <p:spPr>
          <a:xfrm>
            <a:off x="395287" y="4292600"/>
            <a:ext cx="650875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7695" y="39766"/>
                </a:moveTo>
                <a:lnTo>
                  <a:pt x="8972" y="28955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53"/>
          <p:cNvSpPr txBox="1"/>
          <p:nvPr/>
        </p:nvSpPr>
        <p:spPr>
          <a:xfrm>
            <a:off x="179387" y="5013325"/>
            <a:ext cx="1512887" cy="92551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Right-to-left flow leads to hazards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237" y="1125537"/>
            <a:ext cx="7232650" cy="523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5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5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registers</a:t>
            </a:r>
            <a:endParaRPr/>
          </a:p>
        </p:txBody>
      </p:sp>
      <p:sp>
        <p:nvSpPr>
          <p:cNvPr id="735" name="Google Shape;735;p54"/>
          <p:cNvSpPr txBox="1"/>
          <p:nvPr>
            <p:ph idx="1" type="body"/>
          </p:nvPr>
        </p:nvSpPr>
        <p:spPr>
          <a:xfrm>
            <a:off x="684212" y="1125537"/>
            <a:ext cx="8351837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registers between stages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hold information produced in previous cycle</a:t>
            </a:r>
            <a:endParaRPr/>
          </a:p>
        </p:txBody>
      </p:sp>
      <p:pic>
        <p:nvPicPr>
          <p:cNvPr id="736" name="Google Shape;73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725" y="2492375"/>
            <a:ext cx="7986712" cy="368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5"/>
          <p:cNvSpPr txBox="1"/>
          <p:nvPr/>
        </p:nvSpPr>
        <p:spPr>
          <a:xfrm>
            <a:off x="1692275" y="6381750"/>
            <a:ext cx="7272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55"/>
          <p:cNvSpPr txBox="1"/>
          <p:nvPr>
            <p:ph type="title"/>
          </p:nvPr>
        </p:nvSpPr>
        <p:spPr>
          <a:xfrm>
            <a:off x="684212" y="146050"/>
            <a:ext cx="8259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Summary</a:t>
            </a:r>
            <a:endParaRPr/>
          </a:p>
        </p:txBody>
      </p:sp>
      <p:sp>
        <p:nvSpPr>
          <p:cNvPr id="747" name="Google Shape;747;p55"/>
          <p:cNvSpPr txBox="1"/>
          <p:nvPr>
            <p:ph idx="1" type="body"/>
          </p:nvPr>
        </p:nvSpPr>
        <p:spPr>
          <a:xfrm>
            <a:off x="684212" y="1844675"/>
            <a:ext cx="8271000" cy="43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Pipelining improves performance by increasing instruction throughput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Executes multiple instructions in parallel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instruction has the same latency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 to hazards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Structure, data, control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set design affects complexity of pipeline implementation</a:t>
            </a:r>
            <a:endParaRPr/>
          </a:p>
        </p:txBody>
      </p:sp>
      <p:sp>
        <p:nvSpPr>
          <p:cNvPr id="748" name="Google Shape;748;p55"/>
          <p:cNvSpPr txBox="1"/>
          <p:nvPr/>
        </p:nvSpPr>
        <p:spPr>
          <a:xfrm>
            <a:off x="684212" y="1258887"/>
            <a:ext cx="2825700" cy="83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Arial Black"/>
                <a:ea typeface="Arial Black"/>
                <a:cs typeface="Arial Black"/>
                <a:sym typeface="Arial Black"/>
              </a:rPr>
              <a:t>The BIG Picture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