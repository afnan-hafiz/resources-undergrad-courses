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Lexend"/>
      <p:regular r:id="rId16"/>
      <p:bold r:id="rId17"/>
    </p:embeddedFon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4a495b59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4a495b5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4a495b5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4a495b5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4a495b59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4a495b59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4a495b598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4a495b59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4a495b598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4a495b5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4a495b59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4a495b59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4a495b598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4a495b59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4a495b598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4a495b59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4a495b598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4a495b59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4a495b598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4a495b5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valerievozza/mvc-architecture?tab=readme-ov-fil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MVC Architecture</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MVC Architecture</a:t>
            </a:r>
            <a:endParaRPr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MVC goes for Model-View-Controller Pattern</a:t>
            </a:r>
            <a:endParaRPr/>
          </a:p>
          <a:p>
            <a:pPr indent="-406400" lvl="0" marL="457200" rtl="0" algn="l">
              <a:spcBef>
                <a:spcPts val="0"/>
              </a:spcBef>
              <a:spcAft>
                <a:spcPts val="0"/>
              </a:spcAft>
              <a:buSzPts val="2800"/>
              <a:buFont typeface="Calibri"/>
              <a:buChar char="•"/>
            </a:pPr>
            <a:r>
              <a:rPr lang="en-US"/>
              <a:t>Separates presentation and interaction from the data handling logic.</a:t>
            </a:r>
            <a:endParaRPr/>
          </a:p>
          <a:p>
            <a:pPr indent="-406400" lvl="0" marL="457200" rtl="0" algn="l">
              <a:spcBef>
                <a:spcPts val="0"/>
              </a:spcBef>
              <a:spcAft>
                <a:spcPts val="0"/>
              </a:spcAft>
              <a:buSzPts val="2800"/>
              <a:buFont typeface="Calibri"/>
              <a:buChar char="•"/>
            </a:pPr>
            <a:r>
              <a:rPr lang="en-US"/>
              <a:t>It provides an extensible separation of concern (SOC) from presentation view to data processing logic.</a:t>
            </a:r>
            <a:endParaRPr/>
          </a:p>
          <a:p>
            <a:pPr indent="0" lvl="0" marL="45720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descr="File:ModeleMVC.png - Wikimedia Commons" id="125" name="Google Shape;125;p14"/>
          <p:cNvPicPr preferRelativeResize="0"/>
          <p:nvPr/>
        </p:nvPicPr>
        <p:blipFill>
          <a:blip r:embed="rId3">
            <a:alphaModFix/>
          </a:blip>
          <a:stretch>
            <a:fillRect/>
          </a:stretch>
        </p:blipFill>
        <p:spPr>
          <a:xfrm>
            <a:off x="4270026" y="3604924"/>
            <a:ext cx="3651951" cy="3035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Controller</a:t>
            </a:r>
            <a:endParaRPr sz="3300">
              <a:latin typeface="Lexend"/>
              <a:ea typeface="Lexend"/>
              <a:cs typeface="Lexend"/>
              <a:sym typeface="Lexend"/>
            </a:endParaRPr>
          </a:p>
        </p:txBody>
      </p:sp>
      <p:sp>
        <p:nvSpPr>
          <p:cNvPr id="131" name="Google Shape;131;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Handles all the user inputs through url</a:t>
            </a:r>
            <a:endParaRPr sz="2600"/>
          </a:p>
          <a:p>
            <a:pPr indent="-393700" lvl="0" marL="457200" rtl="0" algn="l">
              <a:spcBef>
                <a:spcPts val="0"/>
              </a:spcBef>
              <a:spcAft>
                <a:spcPts val="0"/>
              </a:spcAft>
              <a:buSzPts val="2600"/>
              <a:buFont typeface="Calibri"/>
              <a:buChar char="●"/>
            </a:pPr>
            <a:r>
              <a:rPr lang="en-US" sz="2600"/>
              <a:t>The interaction to an application starts here by the user interactions – mouse click, key press etc</a:t>
            </a:r>
            <a:endParaRPr sz="2600"/>
          </a:p>
          <a:p>
            <a:pPr indent="-393700" lvl="0" marL="457200" rtl="0" algn="l">
              <a:spcBef>
                <a:spcPts val="0"/>
              </a:spcBef>
              <a:spcAft>
                <a:spcPts val="0"/>
              </a:spcAft>
              <a:buSzPts val="2600"/>
              <a:buFont typeface="Calibri"/>
              <a:buChar char="●"/>
            </a:pPr>
            <a:r>
              <a:rPr lang="en-US" sz="2600"/>
              <a:t>Process http url requests (GET, POST, PUT, DELETE)</a:t>
            </a:r>
            <a:endParaRPr sz="2600"/>
          </a:p>
          <a:p>
            <a:pPr indent="-381000" lvl="1" marL="914400" rtl="0" algn="l">
              <a:spcBef>
                <a:spcPts val="0"/>
              </a:spcBef>
              <a:spcAft>
                <a:spcPts val="0"/>
              </a:spcAft>
              <a:buSzPts val="2400"/>
              <a:buChar char="○"/>
            </a:pPr>
            <a:r>
              <a:rPr lang="en-US"/>
              <a:t>GET: for getting a data</a:t>
            </a:r>
            <a:endParaRPr/>
          </a:p>
          <a:p>
            <a:pPr indent="-381000" lvl="1" marL="914400" rtl="0" algn="l">
              <a:spcBef>
                <a:spcPts val="0"/>
              </a:spcBef>
              <a:spcAft>
                <a:spcPts val="0"/>
              </a:spcAft>
              <a:buSzPts val="2400"/>
              <a:buChar char="○"/>
            </a:pPr>
            <a:r>
              <a:rPr lang="en-US"/>
              <a:t>POST: for posting / inserting a data</a:t>
            </a:r>
            <a:endParaRPr/>
          </a:p>
          <a:p>
            <a:pPr indent="-381000" lvl="1" marL="914400" rtl="0" algn="l">
              <a:spcBef>
                <a:spcPts val="0"/>
              </a:spcBef>
              <a:spcAft>
                <a:spcPts val="0"/>
              </a:spcAft>
              <a:buSzPts val="2400"/>
              <a:buChar char="○"/>
            </a:pPr>
            <a:r>
              <a:rPr lang="en-US"/>
              <a:t>PUT: for updating a data</a:t>
            </a:r>
            <a:endParaRPr/>
          </a:p>
          <a:p>
            <a:pPr indent="-381000" lvl="1" marL="914400" rtl="0" algn="l">
              <a:spcBef>
                <a:spcPts val="0"/>
              </a:spcBef>
              <a:spcAft>
                <a:spcPts val="0"/>
              </a:spcAft>
              <a:buSzPts val="2400"/>
              <a:buChar char="○"/>
            </a:pPr>
            <a:r>
              <a:rPr lang="en-US"/>
              <a:t>DELETE: for removing a data</a:t>
            </a:r>
            <a:endParaRPr/>
          </a:p>
          <a:p>
            <a:pPr indent="-393700" lvl="0" marL="457200" rtl="0" algn="l">
              <a:spcBef>
                <a:spcPts val="0"/>
              </a:spcBef>
              <a:spcAft>
                <a:spcPts val="0"/>
              </a:spcAft>
              <a:buSzPts val="2600"/>
              <a:buFont typeface="Calibri"/>
              <a:buChar char="●"/>
            </a:pPr>
            <a:r>
              <a:rPr lang="en-US" sz="2600"/>
              <a:t>Communicates with both Model and View</a:t>
            </a:r>
            <a:endParaRPr sz="2600"/>
          </a:p>
          <a:p>
            <a:pPr indent="-393700" lvl="0" marL="457200" rtl="0" algn="l">
              <a:spcBef>
                <a:spcPts val="0"/>
              </a:spcBef>
              <a:spcAft>
                <a:spcPts val="0"/>
              </a:spcAft>
              <a:buSzPts val="2600"/>
              <a:buFont typeface="Calibri"/>
              <a:buChar char="●"/>
            </a:pPr>
            <a:r>
              <a:rPr lang="en-US" sz="2600"/>
              <a:t>Contains all server side logic</a:t>
            </a:r>
            <a:endParaRPr sz="2600"/>
          </a:p>
          <a:p>
            <a:pPr indent="-393700" lvl="0" marL="457200" rtl="0" algn="l">
              <a:spcBef>
                <a:spcPts val="0"/>
              </a:spcBef>
              <a:spcAft>
                <a:spcPts val="0"/>
              </a:spcAft>
              <a:buSzPts val="2600"/>
              <a:buFont typeface="Calibri"/>
              <a:buChar char="●"/>
            </a:pPr>
            <a:r>
              <a:rPr lang="en-US" sz="2600"/>
              <a:t>In the example – ProductController, UserController, AccountController etc.</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Model</a:t>
            </a:r>
            <a:endParaRPr sz="3300">
              <a:latin typeface="Lexend"/>
              <a:ea typeface="Lexend"/>
              <a:cs typeface="Lexend"/>
              <a:sym typeface="Lexend"/>
            </a:endParaRPr>
          </a:p>
        </p:txBody>
      </p:sp>
      <p:sp>
        <p:nvSpPr>
          <p:cNvPr id="137" name="Google Shape;137;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It refers to the Data Related Logic</a:t>
            </a:r>
            <a:endParaRPr sz="2600"/>
          </a:p>
          <a:p>
            <a:pPr indent="-393700" lvl="0" marL="457200" rtl="0" algn="l">
              <a:spcBef>
                <a:spcPts val="0"/>
              </a:spcBef>
              <a:spcAft>
                <a:spcPts val="0"/>
              </a:spcAft>
              <a:buSzPts val="2600"/>
              <a:buFont typeface="Calibri"/>
              <a:buChar char="•"/>
            </a:pPr>
            <a:r>
              <a:rPr lang="en-US" sz="2600"/>
              <a:t>Interaction with database (such as SELECT, INSERT, UPDATE, DELETE)</a:t>
            </a:r>
            <a:endParaRPr sz="2600"/>
          </a:p>
          <a:p>
            <a:pPr indent="-393700" lvl="0" marL="457200" rtl="0" algn="l">
              <a:spcBef>
                <a:spcPts val="0"/>
              </a:spcBef>
              <a:spcAft>
                <a:spcPts val="0"/>
              </a:spcAft>
              <a:buSzPts val="2600"/>
              <a:buFont typeface="Calibri"/>
              <a:buChar char="•"/>
            </a:pPr>
            <a:r>
              <a:rPr lang="en-US" sz="2600"/>
              <a:t>It communicates with the controllers</a:t>
            </a:r>
            <a:endParaRPr sz="2600"/>
          </a:p>
          <a:p>
            <a:pPr indent="-393700" lvl="0" marL="457200" rtl="0" algn="l">
              <a:spcBef>
                <a:spcPts val="0"/>
              </a:spcBef>
              <a:spcAft>
                <a:spcPts val="0"/>
              </a:spcAft>
              <a:buSzPts val="2600"/>
              <a:buFont typeface="Calibri"/>
              <a:buChar char="•"/>
            </a:pPr>
            <a:r>
              <a:rPr lang="en-US" sz="2600"/>
              <a:t>Can sometimes update or collaborate with the view (Depends on framework)</a:t>
            </a:r>
            <a:endParaRPr sz="2600"/>
          </a:p>
          <a:p>
            <a:pPr indent="-393700" lvl="0" marL="457200" rtl="0" algn="l">
              <a:spcBef>
                <a:spcPts val="0"/>
              </a:spcBef>
              <a:spcAft>
                <a:spcPts val="0"/>
              </a:spcAft>
              <a:buSzPts val="2600"/>
              <a:buFont typeface="Calibri"/>
              <a:buChar char="•"/>
            </a:pPr>
            <a:r>
              <a:rPr lang="en-US" sz="2600"/>
              <a:t>In the example – Product, User, Transaction, Cart etc are model classes.</a:t>
            </a:r>
            <a:endParaRPr sz="2600"/>
          </a:p>
          <a:p>
            <a:pPr indent="0" lvl="0" marL="457200" rtl="0" algn="l">
              <a:spcBef>
                <a:spcPts val="1000"/>
              </a:spcBef>
              <a:spcAft>
                <a:spcPts val="0"/>
              </a:spcAft>
              <a:buNone/>
            </a:pPr>
            <a:r>
              <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View</a:t>
            </a:r>
            <a:endParaRPr sz="3300">
              <a:latin typeface="Lexend"/>
              <a:ea typeface="Lexend"/>
              <a:cs typeface="Lexend"/>
              <a:sym typeface="Lexend"/>
            </a:endParaRPr>
          </a:p>
        </p:txBody>
      </p:sp>
      <p:sp>
        <p:nvSpPr>
          <p:cNvPr id="143" name="Google Shape;143;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What the end users see (UI)</a:t>
            </a:r>
            <a:endParaRPr sz="2600"/>
          </a:p>
          <a:p>
            <a:pPr indent="-393700" lvl="0" marL="457200" rtl="0" algn="l">
              <a:spcBef>
                <a:spcPts val="0"/>
              </a:spcBef>
              <a:spcAft>
                <a:spcPts val="0"/>
              </a:spcAft>
              <a:buSzPts val="2600"/>
              <a:buFont typeface="Calibri"/>
              <a:buChar char="•"/>
            </a:pPr>
            <a:r>
              <a:rPr lang="en-US" sz="2600"/>
              <a:t>Usually Consists of html/css</a:t>
            </a:r>
            <a:endParaRPr sz="2600"/>
          </a:p>
          <a:p>
            <a:pPr indent="-393700" lvl="0" marL="457200" rtl="0" algn="l">
              <a:spcBef>
                <a:spcPts val="0"/>
              </a:spcBef>
              <a:spcAft>
                <a:spcPts val="0"/>
              </a:spcAft>
              <a:buSzPts val="2600"/>
              <a:buFont typeface="Calibri"/>
              <a:buChar char="•"/>
            </a:pPr>
            <a:r>
              <a:rPr lang="en-US" sz="2600"/>
              <a:t>Communicates with the controller</a:t>
            </a:r>
            <a:endParaRPr sz="2600"/>
          </a:p>
          <a:p>
            <a:pPr indent="-393700" lvl="0" marL="457200" rtl="0" algn="l">
              <a:spcBef>
                <a:spcPts val="0"/>
              </a:spcBef>
              <a:spcAft>
                <a:spcPts val="0"/>
              </a:spcAft>
              <a:buSzPts val="2600"/>
              <a:buFont typeface="Calibri"/>
              <a:buChar char="•"/>
            </a:pPr>
            <a:r>
              <a:rPr lang="en-US" sz="2600"/>
              <a:t>While coding are passed as dynamic values from the controller</a:t>
            </a:r>
            <a:endParaRPr sz="2600"/>
          </a:p>
          <a:p>
            <a:pPr indent="-393700" lvl="0" marL="457200" rtl="0" algn="l">
              <a:spcBef>
                <a:spcPts val="0"/>
              </a:spcBef>
              <a:spcAft>
                <a:spcPts val="0"/>
              </a:spcAft>
              <a:buSzPts val="2600"/>
              <a:buFont typeface="Calibri"/>
              <a:buChar char="•"/>
            </a:pPr>
            <a:r>
              <a:rPr lang="en-US" sz="2600"/>
              <a:t>A controller can have multiple associated views.</a:t>
            </a:r>
            <a:endParaRPr sz="2600"/>
          </a:p>
          <a:p>
            <a:pPr indent="-393700" lvl="0" marL="457200" rtl="0" algn="l">
              <a:spcBef>
                <a:spcPts val="0"/>
              </a:spcBef>
              <a:spcAft>
                <a:spcPts val="0"/>
              </a:spcAft>
              <a:buSzPts val="2600"/>
              <a:buFont typeface="Calibri"/>
              <a:buChar char="•"/>
            </a:pPr>
            <a:r>
              <a:rPr lang="en-US" sz="2600"/>
              <a:t>In the example – product.html, user.html to view a html file</a:t>
            </a:r>
            <a:endParaRPr sz="2600"/>
          </a:p>
          <a:p>
            <a:pPr indent="0" lvl="0" marL="0" rtl="0" algn="l">
              <a:spcBef>
                <a:spcPts val="1000"/>
              </a:spcBef>
              <a:spcAft>
                <a:spcPts val="0"/>
              </a:spcAft>
              <a:buNone/>
            </a:pPr>
            <a:r>
              <a:t/>
            </a:r>
            <a:endParaRPr sz="2600"/>
          </a:p>
          <a:p>
            <a:pPr indent="0" lvl="0" marL="0" rtl="0" algn="l">
              <a:spcBef>
                <a:spcPts val="1000"/>
              </a:spcBef>
              <a:spcAft>
                <a:spcPts val="0"/>
              </a:spcAft>
              <a:buNone/>
            </a:pPr>
            <a:r>
              <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Steps</a:t>
            </a:r>
            <a:endParaRPr sz="3300">
              <a:latin typeface="Lexend"/>
              <a:ea typeface="Lexend"/>
              <a:cs typeface="Lexend"/>
              <a:sym typeface="Lexend"/>
            </a:endParaRPr>
          </a:p>
        </p:txBody>
      </p:sp>
      <p:pic>
        <p:nvPicPr>
          <p:cNvPr id="149" name="Google Shape;149;p18"/>
          <p:cNvPicPr preferRelativeResize="0"/>
          <p:nvPr>
            <p:ph idx="1" type="body"/>
          </p:nvPr>
        </p:nvPicPr>
        <p:blipFill rotWithShape="1">
          <a:blip r:embed="rId3">
            <a:alphaModFix/>
          </a:blip>
          <a:srcRect b="0" l="0" r="0" t="0"/>
          <a:stretch/>
        </p:blipFill>
        <p:spPr>
          <a:xfrm>
            <a:off x="1892713" y="4721100"/>
            <a:ext cx="1524000" cy="1485900"/>
          </a:xfrm>
          <a:prstGeom prst="rect">
            <a:avLst/>
          </a:prstGeom>
          <a:noFill/>
          <a:ln>
            <a:noFill/>
          </a:ln>
        </p:spPr>
      </p:pic>
      <p:sp>
        <p:nvSpPr>
          <p:cNvPr id="150" name="Google Shape;150;p18"/>
          <p:cNvSpPr/>
          <p:nvPr/>
        </p:nvSpPr>
        <p:spPr>
          <a:xfrm>
            <a:off x="6236113" y="4873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Controller</a:t>
            </a:r>
            <a:endParaRPr b="0" i="0" sz="1800" u="none" cap="none" strike="noStrike">
              <a:solidFill>
                <a:srgbClr val="000000"/>
              </a:solidFill>
              <a:latin typeface="Gill Sans"/>
              <a:ea typeface="Gill Sans"/>
              <a:cs typeface="Gill Sans"/>
              <a:sym typeface="Gill Sans"/>
            </a:endParaRPr>
          </a:p>
        </p:txBody>
      </p:sp>
      <p:sp>
        <p:nvSpPr>
          <p:cNvPr id="151" name="Google Shape;151;p18"/>
          <p:cNvSpPr/>
          <p:nvPr/>
        </p:nvSpPr>
        <p:spPr>
          <a:xfrm>
            <a:off x="3669582" y="1444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Model</a:t>
            </a:r>
            <a:endParaRPr b="0" i="0" sz="1800" u="none" cap="none" strike="noStrike">
              <a:solidFill>
                <a:srgbClr val="000000"/>
              </a:solidFill>
              <a:latin typeface="Gill Sans"/>
              <a:ea typeface="Gill Sans"/>
              <a:cs typeface="Gill Sans"/>
              <a:sym typeface="Gill Sans"/>
            </a:endParaRPr>
          </a:p>
        </p:txBody>
      </p:sp>
      <p:sp>
        <p:nvSpPr>
          <p:cNvPr id="152" name="Google Shape;152;p18"/>
          <p:cNvSpPr/>
          <p:nvPr/>
        </p:nvSpPr>
        <p:spPr>
          <a:xfrm>
            <a:off x="8313346" y="14319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View</a:t>
            </a:r>
            <a:endParaRPr b="0" i="0" sz="1800" u="none" cap="none" strike="noStrike">
              <a:solidFill>
                <a:srgbClr val="000000"/>
              </a:solidFill>
              <a:latin typeface="Gill Sans"/>
              <a:ea typeface="Gill Sans"/>
              <a:cs typeface="Gill Sans"/>
              <a:sym typeface="Gill Sans"/>
            </a:endParaRPr>
          </a:p>
        </p:txBody>
      </p:sp>
      <p:cxnSp>
        <p:nvCxnSpPr>
          <p:cNvPr id="153" name="Google Shape;153;p18"/>
          <p:cNvCxnSpPr/>
          <p:nvPr/>
        </p:nvCxnSpPr>
        <p:spPr>
          <a:xfrm>
            <a:off x="3492913" y="51783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54" name="Google Shape;154;p18"/>
          <p:cNvSpPr txBox="1"/>
          <p:nvPr/>
        </p:nvSpPr>
        <p:spPr>
          <a:xfrm>
            <a:off x="3437393" y="4656568"/>
            <a:ext cx="26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 Request: Get a product</a:t>
            </a:r>
            <a:endParaRPr b="0" i="0" sz="1800" u="none" cap="none" strike="noStrike">
              <a:solidFill>
                <a:srgbClr val="000000"/>
              </a:solidFill>
              <a:latin typeface="Gill Sans"/>
              <a:ea typeface="Gill Sans"/>
              <a:cs typeface="Gill Sans"/>
              <a:sym typeface="Gill Sans"/>
            </a:endParaRPr>
          </a:p>
        </p:txBody>
      </p:sp>
      <p:cxnSp>
        <p:nvCxnSpPr>
          <p:cNvPr id="155" name="Google Shape;155;p18"/>
          <p:cNvCxnSpPr/>
          <p:nvPr/>
        </p:nvCxnSpPr>
        <p:spPr>
          <a:xfrm rot="10800000">
            <a:off x="4818890" y="2624534"/>
            <a:ext cx="1976100" cy="2216700"/>
          </a:xfrm>
          <a:prstGeom prst="straightConnector1">
            <a:avLst/>
          </a:prstGeom>
          <a:noFill/>
          <a:ln cap="flat" cmpd="sng" w="44450">
            <a:solidFill>
              <a:srgbClr val="000000"/>
            </a:solidFill>
            <a:prstDash val="solid"/>
            <a:round/>
            <a:headEnd len="sm" w="sm" type="none"/>
            <a:tailEnd len="med" w="med" type="stealth"/>
          </a:ln>
        </p:spPr>
      </p:cxnSp>
      <p:sp>
        <p:nvSpPr>
          <p:cNvPr id="156" name="Google Shape;156;p18"/>
          <p:cNvSpPr txBox="1"/>
          <p:nvPr/>
        </p:nvSpPr>
        <p:spPr>
          <a:xfrm rot="2977198">
            <a:off x="5082685" y="3511891"/>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[2] Get the product data from DB</a:t>
            </a:r>
            <a:endParaRPr b="0" i="0" sz="1800" u="none" cap="none" strike="noStrike">
              <a:solidFill>
                <a:srgbClr val="000000"/>
              </a:solidFill>
              <a:latin typeface="Gill Sans"/>
              <a:ea typeface="Gill Sans"/>
              <a:cs typeface="Gill Sans"/>
              <a:sym typeface="Gill Sans"/>
            </a:endParaRPr>
          </a:p>
        </p:txBody>
      </p:sp>
      <p:cxnSp>
        <p:nvCxnSpPr>
          <p:cNvPr id="157" name="Google Shape;157;p18"/>
          <p:cNvCxnSpPr/>
          <p:nvPr/>
        </p:nvCxnSpPr>
        <p:spPr>
          <a:xfrm>
            <a:off x="4483513" y="2624559"/>
            <a:ext cx="1930500" cy="2248800"/>
          </a:xfrm>
          <a:prstGeom prst="straightConnector1">
            <a:avLst/>
          </a:prstGeom>
          <a:noFill/>
          <a:ln cap="flat" cmpd="sng" w="44450">
            <a:solidFill>
              <a:srgbClr val="000000"/>
            </a:solidFill>
            <a:prstDash val="solid"/>
            <a:round/>
            <a:headEnd len="sm" w="sm" type="none"/>
            <a:tailEnd len="med" w="med" type="stealth"/>
          </a:ln>
        </p:spPr>
      </p:cxnSp>
      <p:sp>
        <p:nvSpPr>
          <p:cNvPr id="158" name="Google Shape;158;p18"/>
          <p:cNvSpPr txBox="1"/>
          <p:nvPr/>
        </p:nvSpPr>
        <p:spPr>
          <a:xfrm rot="2977198">
            <a:off x="3743784" y="3664289"/>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[3] Fetch the data and return to controller</a:t>
            </a:r>
            <a:endParaRPr b="0" i="0" sz="1800" u="none" cap="none" strike="noStrike">
              <a:solidFill>
                <a:srgbClr val="000000"/>
              </a:solidFill>
              <a:latin typeface="Gill Sans"/>
              <a:ea typeface="Gill Sans"/>
              <a:cs typeface="Gill Sans"/>
              <a:sym typeface="Gill Sans"/>
            </a:endParaRPr>
          </a:p>
        </p:txBody>
      </p:sp>
      <p:cxnSp>
        <p:nvCxnSpPr>
          <p:cNvPr id="159" name="Google Shape;159;p18"/>
          <p:cNvCxnSpPr/>
          <p:nvPr/>
        </p:nvCxnSpPr>
        <p:spPr>
          <a:xfrm flipH="1" rot="10800000">
            <a:off x="7522683" y="2611484"/>
            <a:ext cx="1676400" cy="2216700"/>
          </a:xfrm>
          <a:prstGeom prst="straightConnector1">
            <a:avLst/>
          </a:prstGeom>
          <a:noFill/>
          <a:ln cap="flat" cmpd="sng" w="44450">
            <a:solidFill>
              <a:srgbClr val="000000"/>
            </a:solidFill>
            <a:prstDash val="solid"/>
            <a:round/>
            <a:headEnd len="sm" w="sm" type="none"/>
            <a:tailEnd len="med" w="med" type="stealth"/>
          </a:ln>
        </p:spPr>
      </p:cxnSp>
      <p:sp>
        <p:nvSpPr>
          <p:cNvPr id="160" name="Google Shape;160;p18"/>
          <p:cNvSpPr txBox="1"/>
          <p:nvPr/>
        </p:nvSpPr>
        <p:spPr>
          <a:xfrm rot="-3071781">
            <a:off x="6947178" y="3070932"/>
            <a:ext cx="2332869" cy="646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[4] Get Presentation of the product data</a:t>
            </a:r>
            <a:endParaRPr b="0" i="0" sz="1800" u="none" cap="none" strike="noStrike">
              <a:solidFill>
                <a:srgbClr val="000000"/>
              </a:solidFill>
              <a:latin typeface="Gill Sans"/>
              <a:ea typeface="Gill Sans"/>
              <a:cs typeface="Gill Sans"/>
              <a:sym typeface="Gill Sans"/>
            </a:endParaRPr>
          </a:p>
        </p:txBody>
      </p:sp>
      <p:sp>
        <p:nvSpPr>
          <p:cNvPr id="161" name="Google Shape;161;p18"/>
          <p:cNvSpPr txBox="1"/>
          <p:nvPr/>
        </p:nvSpPr>
        <p:spPr>
          <a:xfrm rot="-3189928">
            <a:off x="8063935" y="3413291"/>
            <a:ext cx="2332920" cy="923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[5] Returns the presentation with dynamic rendering</a:t>
            </a:r>
            <a:endParaRPr b="0" i="0" sz="1800" u="none" cap="none" strike="noStrike">
              <a:solidFill>
                <a:srgbClr val="000000"/>
              </a:solidFill>
              <a:latin typeface="Gill Sans"/>
              <a:ea typeface="Gill Sans"/>
              <a:cs typeface="Gill Sans"/>
              <a:sym typeface="Gill Sans"/>
            </a:endParaRPr>
          </a:p>
        </p:txBody>
      </p:sp>
      <p:sp>
        <p:nvSpPr>
          <p:cNvPr id="162" name="Google Shape;162;p18"/>
          <p:cNvSpPr txBox="1"/>
          <p:nvPr/>
        </p:nvSpPr>
        <p:spPr>
          <a:xfrm>
            <a:off x="3524257" y="5518405"/>
            <a:ext cx="2528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[6] Returns the response</a:t>
            </a:r>
            <a:endParaRPr b="0" i="0" sz="1800" u="none" cap="none" strike="noStrike">
              <a:solidFill>
                <a:srgbClr val="000000"/>
              </a:solidFill>
              <a:latin typeface="Gill Sans"/>
              <a:ea typeface="Gill Sans"/>
              <a:cs typeface="Gill Sans"/>
              <a:sym typeface="Gill Sans"/>
            </a:endParaRPr>
          </a:p>
        </p:txBody>
      </p:sp>
      <p:cxnSp>
        <p:nvCxnSpPr>
          <p:cNvPr id="163" name="Google Shape;163;p18"/>
          <p:cNvCxnSpPr>
            <a:stCxn id="150" idx="1"/>
          </p:cNvCxnSpPr>
          <p:nvPr/>
        </p:nvCxnSpPr>
        <p:spPr>
          <a:xfrm rot="10800000">
            <a:off x="3492913" y="54450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64" name="Google Shape;164;p18"/>
          <p:cNvSpPr/>
          <p:nvPr/>
        </p:nvSpPr>
        <p:spPr>
          <a:xfrm>
            <a:off x="9566353" y="4873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49849" scaled="0"/>
          </a:gradFill>
          <a:ln cap="flat" cmpd="sng" w="9525">
            <a:solidFill>
              <a:srgbClr val="9C85C0"/>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Routes</a:t>
            </a:r>
            <a:endParaRPr b="0" i="0" sz="1800" u="none" cap="none" strike="noStrike">
              <a:solidFill>
                <a:srgbClr val="000000"/>
              </a:solidFill>
              <a:latin typeface="Gill Sans"/>
              <a:ea typeface="Gill Sans"/>
              <a:cs typeface="Gill Sans"/>
              <a:sym typeface="Gill Sans"/>
            </a:endParaRPr>
          </a:p>
        </p:txBody>
      </p:sp>
      <p:cxnSp>
        <p:nvCxnSpPr>
          <p:cNvPr id="165" name="Google Shape;165;p18"/>
          <p:cNvCxnSpPr/>
          <p:nvPr/>
        </p:nvCxnSpPr>
        <p:spPr>
          <a:xfrm flipH="1">
            <a:off x="7836313" y="2624559"/>
            <a:ext cx="1676400" cy="2248800"/>
          </a:xfrm>
          <a:prstGeom prst="straightConnector1">
            <a:avLst/>
          </a:prstGeom>
          <a:noFill/>
          <a:ln cap="flat" cmpd="sng" w="44450">
            <a:solidFill>
              <a:srgbClr val="000000"/>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Routes</a:t>
            </a:r>
            <a:endParaRPr sz="3300">
              <a:latin typeface="Lexend"/>
              <a:ea typeface="Lexend"/>
              <a:cs typeface="Lexend"/>
              <a:sym typeface="Lexend"/>
            </a:endParaRPr>
          </a:p>
        </p:txBody>
      </p:sp>
      <p:sp>
        <p:nvSpPr>
          <p:cNvPr id="171" name="Google Shape;171;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Are urls to access a resource kept under App_Start folder</a:t>
            </a:r>
            <a:endParaRPr sz="2600"/>
          </a:p>
          <a:p>
            <a:pPr indent="-393700" lvl="0" marL="457200" rtl="0" algn="l">
              <a:spcBef>
                <a:spcPts val="0"/>
              </a:spcBef>
              <a:spcAft>
                <a:spcPts val="0"/>
              </a:spcAft>
              <a:buSzPts val="2600"/>
              <a:buFont typeface="Calibri"/>
              <a:buChar char="•"/>
            </a:pPr>
            <a:r>
              <a:rPr lang="en-US" sz="2600"/>
              <a:t>General structure - http://domainName/{controller}/{action}/{id}</a:t>
            </a:r>
            <a:endParaRPr sz="2600"/>
          </a:p>
          <a:p>
            <a:pPr indent="-393700" lvl="0" marL="457200" rtl="0" algn="l">
              <a:spcBef>
                <a:spcPts val="0"/>
              </a:spcBef>
              <a:spcAft>
                <a:spcPts val="0"/>
              </a:spcAft>
              <a:buSzPts val="2600"/>
              <a:buFont typeface="Calibri"/>
              <a:buChar char="•"/>
            </a:pPr>
            <a:r>
              <a:rPr lang="en-US" sz="2600"/>
              <a:t> http://YourApp.com/Users/Profile/25</a:t>
            </a:r>
            <a:endParaRPr sz="2600"/>
          </a:p>
          <a:p>
            <a:pPr indent="0" lvl="0" marL="0" rtl="0" algn="l">
              <a:spcBef>
                <a:spcPts val="1000"/>
              </a:spcBef>
              <a:spcAft>
                <a:spcPts val="0"/>
              </a:spcAft>
              <a:buNone/>
            </a:pPr>
            <a:r>
              <a:t/>
            </a:r>
            <a:endParaRPr sz="2600"/>
          </a:p>
        </p:txBody>
      </p:sp>
      <p:pic>
        <p:nvPicPr>
          <p:cNvPr id="172" name="Google Shape;172;p19"/>
          <p:cNvPicPr preferRelativeResize="0"/>
          <p:nvPr/>
        </p:nvPicPr>
        <p:blipFill rotWithShape="1">
          <a:blip r:embed="rId3">
            <a:alphaModFix/>
          </a:blip>
          <a:srcRect b="0" l="0" r="0" t="0"/>
          <a:stretch/>
        </p:blipFill>
        <p:spPr>
          <a:xfrm>
            <a:off x="2736950" y="3058975"/>
            <a:ext cx="6718100" cy="318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Folder Structure</a:t>
            </a:r>
            <a:endParaRPr sz="3300">
              <a:latin typeface="Lexend"/>
              <a:ea typeface="Lexend"/>
              <a:cs typeface="Lexend"/>
              <a:sym typeface="Lexend"/>
            </a:endParaRPr>
          </a:p>
        </p:txBody>
      </p:sp>
      <p:pic>
        <p:nvPicPr>
          <p:cNvPr id="178" name="Google Shape;178;p20"/>
          <p:cNvPicPr preferRelativeResize="0"/>
          <p:nvPr>
            <p:ph idx="1" type="body"/>
          </p:nvPr>
        </p:nvPicPr>
        <p:blipFill rotWithShape="1">
          <a:blip r:embed="rId3">
            <a:alphaModFix/>
          </a:blip>
          <a:srcRect b="0" l="0" r="0" t="0"/>
          <a:stretch/>
        </p:blipFill>
        <p:spPr>
          <a:xfrm>
            <a:off x="4114800" y="1296075"/>
            <a:ext cx="3962400" cy="515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Code Structure</a:t>
            </a:r>
            <a:endParaRPr sz="3300">
              <a:latin typeface="Lexend"/>
              <a:ea typeface="Lexend"/>
              <a:cs typeface="Lexend"/>
              <a:sym typeface="Lexend"/>
            </a:endParaRPr>
          </a:p>
        </p:txBody>
      </p:sp>
      <p:pic>
        <p:nvPicPr>
          <p:cNvPr id="184" name="Google Shape;184;p21"/>
          <p:cNvPicPr preferRelativeResize="0"/>
          <p:nvPr>
            <p:ph idx="1" type="body"/>
          </p:nvPr>
        </p:nvPicPr>
        <p:blipFill rotWithShape="1">
          <a:blip r:embed="rId3">
            <a:alphaModFix/>
          </a:blip>
          <a:srcRect b="0" l="0" r="0" t="0"/>
          <a:stretch/>
        </p:blipFill>
        <p:spPr>
          <a:xfrm>
            <a:off x="1905000" y="1690825"/>
            <a:ext cx="8382000" cy="471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When to use MVC</a:t>
            </a:r>
            <a:endParaRPr sz="3300">
              <a:latin typeface="Lexend"/>
              <a:ea typeface="Lexend"/>
              <a:cs typeface="Lexend"/>
              <a:sym typeface="Lexend"/>
            </a:endParaRPr>
          </a:p>
        </p:txBody>
      </p:sp>
      <p:sp>
        <p:nvSpPr>
          <p:cNvPr id="190" name="Google Shape;190;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Used when there are multiple ways to view and interact with data. Also used when the future requirements for interaction and presentation of data are unknown. </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Note: Your final project </a:t>
            </a:r>
            <a:r>
              <a:rPr b="1" lang="en-US" u="sng"/>
              <a:t>MUST</a:t>
            </a:r>
            <a:r>
              <a:rPr b="1" lang="en-US"/>
              <a:t> follow MVC Architecture</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Advantages-Disadvantages</a:t>
            </a:r>
            <a:endParaRPr sz="3300">
              <a:latin typeface="Lexend"/>
              <a:ea typeface="Lexend"/>
              <a:cs typeface="Lexend"/>
              <a:sym typeface="Lexend"/>
            </a:endParaRPr>
          </a:p>
        </p:txBody>
      </p:sp>
      <p:sp>
        <p:nvSpPr>
          <p:cNvPr id="196" name="Google Shape;196;p23"/>
          <p:cNvSpPr txBox="1"/>
          <p:nvPr>
            <p:ph idx="1" type="body"/>
          </p:nvPr>
        </p:nvSpPr>
        <p:spPr>
          <a:xfrm>
            <a:off x="838200" y="1513425"/>
            <a:ext cx="10515600" cy="5120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Advantages:</a:t>
            </a:r>
            <a:endParaRPr b="1"/>
          </a:p>
          <a:p>
            <a:pPr indent="0" lvl="0" marL="0" rtl="0" algn="l">
              <a:spcBef>
                <a:spcPts val="1000"/>
              </a:spcBef>
              <a:spcAft>
                <a:spcPts val="0"/>
              </a:spcAft>
              <a:buNone/>
            </a:pPr>
            <a:r>
              <a:rPr lang="en-US" sz="2500"/>
              <a:t>Allows the data to change independently of its representation and vice versa. Supports presentation of the same data in different ways with changes made in one representation shown in all of them. Other advantages are: parallel working, improved testability, code reusability</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b="1" lang="en-US" sz="2700"/>
              <a:t>Disadvantages</a:t>
            </a:r>
            <a:r>
              <a:rPr lang="en-US" sz="2500"/>
              <a:t>:</a:t>
            </a:r>
            <a:endParaRPr sz="2500"/>
          </a:p>
          <a:p>
            <a:pPr indent="0" lvl="0" marL="0" rtl="0" algn="l">
              <a:spcBef>
                <a:spcPts val="1000"/>
              </a:spcBef>
              <a:spcAft>
                <a:spcPts val="0"/>
              </a:spcAft>
              <a:buNone/>
            </a:pPr>
            <a:r>
              <a:rPr lang="en-US" sz="2500"/>
              <a:t>Can involve additional code and code complexity when the data model and interactions are simple. </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lang="en-US" sz="2500">
                <a:solidFill>
                  <a:schemeClr val="accent2"/>
                </a:solidFill>
              </a:rPr>
              <a:t>JavaScript-based MVC Web App: </a:t>
            </a:r>
            <a:r>
              <a:rPr lang="en-US" sz="2500" u="sng">
                <a:solidFill>
                  <a:schemeClr val="hlink"/>
                </a:solidFill>
                <a:hlinkClick r:id="rId3"/>
              </a:rPr>
              <a:t>Click here</a:t>
            </a:r>
            <a:endParaRPr sz="2500"/>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