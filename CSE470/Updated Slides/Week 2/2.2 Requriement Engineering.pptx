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Lexen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923218-EFBD-4D23-933B-CCCC2AF9A3DE}">
  <a:tblStyle styleId="{0C923218-EFBD-4D23-933B-CCCC2AF9A3D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xend-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e7cfc3e6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e7cfc3e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e7cfc3e6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e7cfc3e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e7cfc3e6b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e7cfc3e6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e7cfc3e6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e7cfc3e6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e7cfc3e6b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e7cfc3e6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e7cfc3e6b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e7cfc3e6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e7cfc3e6b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e7cfc3e6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e7cfc3e6b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8e7cfc3e6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e7cfc3e6b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e7cfc3e6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e7cfc3e6b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e7cfc3e6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500"/>
              <a:t>Requirement Engineering</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 Requirement?</a:t>
            </a:r>
            <a:endParaRPr b="1"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It may range from a </a:t>
            </a:r>
            <a:r>
              <a:rPr lang="en-US" u="sng"/>
              <a:t>high-level abstract statement of a service or of a system constraint</a:t>
            </a:r>
            <a:r>
              <a:rPr lang="en-US"/>
              <a:t> to a detailed mathematical functional specification.</a:t>
            </a:r>
            <a:endParaRPr/>
          </a:p>
          <a:p>
            <a:pPr indent="0" lvl="0" marL="0" rtl="0" algn="l">
              <a:spcBef>
                <a:spcPts val="1000"/>
              </a:spcBef>
              <a:spcAft>
                <a:spcPts val="0"/>
              </a:spcAft>
              <a:buNone/>
            </a:pPr>
            <a:r>
              <a:rPr lang="en-US"/>
              <a:t>This is inevitable as requirements may serve a dual function</a:t>
            </a:r>
            <a:endParaRPr/>
          </a:p>
          <a:p>
            <a:pPr indent="-406400" lvl="0" marL="457200" rtl="0" algn="l">
              <a:spcBef>
                <a:spcPts val="1000"/>
              </a:spcBef>
              <a:spcAft>
                <a:spcPts val="0"/>
              </a:spcAft>
              <a:buSzPts val="2800"/>
              <a:buFont typeface="Calibri"/>
              <a:buChar char="•"/>
            </a:pPr>
            <a:r>
              <a:rPr lang="en-US"/>
              <a:t>May be the basis for a bid for a contract – therefore must be open to interpretation;</a:t>
            </a:r>
            <a:endParaRPr/>
          </a:p>
          <a:p>
            <a:pPr indent="-406400" lvl="0" marL="457200" rtl="0" algn="l">
              <a:spcBef>
                <a:spcPts val="0"/>
              </a:spcBef>
              <a:spcAft>
                <a:spcPts val="0"/>
              </a:spcAft>
              <a:buSzPts val="2800"/>
              <a:buFont typeface="Calibri"/>
              <a:buChar char="•"/>
            </a:pPr>
            <a:r>
              <a:rPr lang="en-US"/>
              <a:t>May be the basis for the contract itself – therefore must be defined in detail;</a:t>
            </a:r>
            <a:endParaRPr/>
          </a:p>
          <a:p>
            <a:pPr indent="-406400" lvl="0" marL="457200" rtl="0" algn="l">
              <a:spcBef>
                <a:spcPts val="0"/>
              </a:spcBef>
              <a:spcAft>
                <a:spcPts val="0"/>
              </a:spcAft>
              <a:buSzPts val="2800"/>
              <a:buFont typeface="Calibri"/>
              <a:buChar char="•"/>
            </a:pPr>
            <a:r>
              <a:rPr lang="en-US"/>
              <a:t>Both these statements may be called requirements.</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Types of Requirement</a:t>
            </a:r>
            <a:endParaRPr b="1"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spcBef>
                <a:spcPts val="1000"/>
              </a:spcBef>
              <a:spcAft>
                <a:spcPts val="0"/>
              </a:spcAft>
              <a:buNone/>
            </a:pPr>
            <a:r>
              <a:rPr b="1" lang="en-US"/>
              <a:t>Functional requirements</a:t>
            </a:r>
            <a:endParaRPr b="1"/>
          </a:p>
          <a:p>
            <a:pPr indent="-387191" lvl="0" marL="457200" rtl="0" algn="l">
              <a:spcBef>
                <a:spcPts val="1000"/>
              </a:spcBef>
              <a:spcAft>
                <a:spcPts val="0"/>
              </a:spcAft>
              <a:buSzPct val="96429"/>
              <a:buFont typeface="Calibri"/>
              <a:buChar char="•"/>
            </a:pPr>
            <a:r>
              <a:rPr lang="en-US"/>
              <a:t>Statements of services the system should provide, how the system should react to particular inputs and how the system should behave in particular situations.</a:t>
            </a:r>
            <a:endParaRPr/>
          </a:p>
          <a:p>
            <a:pPr indent="-387191" lvl="0" marL="457200" rtl="0" algn="l">
              <a:spcBef>
                <a:spcPts val="0"/>
              </a:spcBef>
              <a:spcAft>
                <a:spcPts val="0"/>
              </a:spcAft>
              <a:buSzPct val="96429"/>
              <a:buFont typeface="Calibri"/>
              <a:buChar char="•"/>
            </a:pPr>
            <a:r>
              <a:rPr lang="en-US"/>
              <a:t>May state what the system should not do.</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Non-functional requirements</a:t>
            </a:r>
            <a:endParaRPr b="1"/>
          </a:p>
          <a:p>
            <a:pPr indent="-380841" lvl="0" marL="457200" rtl="0" algn="l">
              <a:spcBef>
                <a:spcPts val="1000"/>
              </a:spcBef>
              <a:spcAft>
                <a:spcPts val="0"/>
              </a:spcAft>
              <a:buSzPct val="92568"/>
              <a:buFont typeface="Calibri"/>
              <a:buChar char="•"/>
            </a:pPr>
            <a:r>
              <a:rPr lang="en-US"/>
              <a:t>Constraints on the services or functions offered by the system such as timing constraints, constraints on the development process, standards, etc.</a:t>
            </a:r>
            <a:endParaRPr/>
          </a:p>
          <a:p>
            <a:pPr indent="-380841" lvl="0" marL="457200" rtl="0" algn="l">
              <a:spcBef>
                <a:spcPts val="0"/>
              </a:spcBef>
              <a:spcAft>
                <a:spcPts val="0"/>
              </a:spcAft>
              <a:buSzPct val="92568"/>
              <a:buFont typeface="Calibri"/>
              <a:buChar char="•"/>
            </a:pPr>
            <a:r>
              <a:rPr lang="en-US"/>
              <a:t>Often apply to the system as a whole rather than individual features or services.</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Functional Requirements</a:t>
            </a:r>
            <a:endParaRPr b="1"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406400" lvl="0" marL="457200" rtl="0" algn="l">
              <a:spcBef>
                <a:spcPts val="1000"/>
              </a:spcBef>
              <a:spcAft>
                <a:spcPts val="0"/>
              </a:spcAft>
              <a:buSzPts val="2800"/>
              <a:buFont typeface="Calibri"/>
              <a:buChar char="•"/>
            </a:pPr>
            <a:r>
              <a:rPr lang="en-US"/>
              <a:t>Describe </a:t>
            </a:r>
            <a:r>
              <a:rPr lang="en-US" u="sng"/>
              <a:t>functionality or system services</a:t>
            </a:r>
            <a:r>
              <a:rPr lang="en-US"/>
              <a:t>.</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Depend on the type of software, expected users and the type of system where the software is used.</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Functional user requirements may be high-level statements of </a:t>
            </a:r>
            <a:r>
              <a:rPr lang="en-US" u="sng"/>
              <a:t>what the system should do.</a:t>
            </a:r>
            <a:endParaRPr u="sng"/>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Functional system requirements should describe the system services in detail.</a:t>
            </a:r>
            <a:endParaRPr/>
          </a:p>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Non-</a:t>
            </a:r>
            <a:r>
              <a:rPr b="1" lang="en-US" sz="3300">
                <a:latin typeface="Lexend"/>
                <a:ea typeface="Lexend"/>
                <a:cs typeface="Lexend"/>
                <a:sym typeface="Lexend"/>
              </a:rPr>
              <a:t>Functional Requirements</a:t>
            </a:r>
            <a:endParaRPr b="1" sz="3300">
              <a:latin typeface="Lexend"/>
              <a:ea typeface="Lexend"/>
              <a:cs typeface="Lexend"/>
              <a:sym typeface="Lexend"/>
            </a:endParaRPr>
          </a:p>
        </p:txBody>
      </p:sp>
      <p:sp>
        <p:nvSpPr>
          <p:cNvPr id="142" name="Google Shape;142;p1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406400" lvl="0" marL="457200" rtl="0" algn="l">
              <a:spcBef>
                <a:spcPts val="1000"/>
              </a:spcBef>
              <a:spcAft>
                <a:spcPts val="0"/>
              </a:spcAft>
              <a:buSzPts val="2800"/>
              <a:buFont typeface="Calibri"/>
              <a:buChar char="•"/>
            </a:pPr>
            <a:r>
              <a:rPr lang="en-US"/>
              <a:t>These define </a:t>
            </a:r>
            <a:r>
              <a:rPr lang="en-US" u="sng"/>
              <a:t>system properties and constraints</a:t>
            </a:r>
            <a:r>
              <a:rPr lang="en-US"/>
              <a:t> e.g. reliability, response time and storage requirements. Constraints are I/O device capability, system representations, etc.</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Process requirements may also be specified mandating a</a:t>
            </a:r>
            <a:r>
              <a:rPr lang="en-US" u="sng"/>
              <a:t> particular IDE, programming language or development method</a:t>
            </a:r>
            <a:r>
              <a:rPr lang="en-US"/>
              <a:t>.</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Non-functional requirements may be </a:t>
            </a:r>
            <a:r>
              <a:rPr lang="en-US" u="sng"/>
              <a:t>more critical than functional requirements. If these are not met, the system may be useless.</a:t>
            </a:r>
            <a:endParaRPr u="sng"/>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Non-Functional Classifications</a:t>
            </a:r>
            <a:endParaRPr b="1" sz="3300">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2300"/>
              <a:t>Product requirements</a:t>
            </a:r>
            <a:endParaRPr b="1" sz="2300"/>
          </a:p>
          <a:p>
            <a:pPr indent="-374650" lvl="0" marL="457200" rtl="0" algn="l">
              <a:spcBef>
                <a:spcPts val="1000"/>
              </a:spcBef>
              <a:spcAft>
                <a:spcPts val="0"/>
              </a:spcAft>
              <a:buSzPts val="2300"/>
              <a:buChar char="•"/>
            </a:pPr>
            <a:r>
              <a:rPr lang="en-US" sz="2300"/>
              <a:t>Requirements which specify that the delivered product must behave in a particular way e.g. execution speed, reliability, etc.</a:t>
            </a:r>
            <a:endParaRPr sz="2300"/>
          </a:p>
          <a:p>
            <a:pPr indent="0" lvl="0" marL="0" rtl="0" algn="l">
              <a:spcBef>
                <a:spcPts val="1000"/>
              </a:spcBef>
              <a:spcAft>
                <a:spcPts val="0"/>
              </a:spcAft>
              <a:buNone/>
            </a:pPr>
            <a:r>
              <a:rPr b="1" lang="en-US" sz="2300"/>
              <a:t>Organisational requirements</a:t>
            </a:r>
            <a:endParaRPr b="1" sz="2300"/>
          </a:p>
          <a:p>
            <a:pPr indent="-374650" lvl="0" marL="457200" rtl="0" algn="l">
              <a:spcBef>
                <a:spcPts val="1000"/>
              </a:spcBef>
              <a:spcAft>
                <a:spcPts val="0"/>
              </a:spcAft>
              <a:buSzPts val="2300"/>
              <a:buChar char="•"/>
            </a:pPr>
            <a:r>
              <a:rPr lang="en-US" sz="2300"/>
              <a:t>Requirements which are a consequence of organisational policies and procedures e.g. process standards used, implementation requirements, etc. (meeting budget limitations, company guidelines on data handling, recommended CASE tools)</a:t>
            </a:r>
            <a:endParaRPr sz="2300"/>
          </a:p>
          <a:p>
            <a:pPr indent="0" lvl="0" marL="0" rtl="0" algn="l">
              <a:spcBef>
                <a:spcPts val="1000"/>
              </a:spcBef>
              <a:spcAft>
                <a:spcPts val="0"/>
              </a:spcAft>
              <a:buNone/>
            </a:pPr>
            <a:r>
              <a:rPr b="1" lang="en-US" sz="2300"/>
              <a:t>External requirements</a:t>
            </a:r>
            <a:endParaRPr b="1" sz="2300"/>
          </a:p>
          <a:p>
            <a:pPr indent="-374650" lvl="0" marL="457200" rtl="0" algn="l">
              <a:spcBef>
                <a:spcPts val="1000"/>
              </a:spcBef>
              <a:spcAft>
                <a:spcPts val="0"/>
              </a:spcAft>
              <a:buSzPts val="2300"/>
              <a:buChar char="•"/>
            </a:pPr>
            <a:r>
              <a:rPr lang="en-US" sz="2300"/>
              <a:t>Requirements which arise from factors which are external to the system and its development process e.g. interoperability requirements, legislative requirements, etc.</a:t>
            </a:r>
            <a:endParaRPr sz="2300"/>
          </a:p>
          <a:p>
            <a:pPr indent="0" lvl="0" marL="0" rtl="0" algn="l">
              <a:spcBef>
                <a:spcPts val="1000"/>
              </a:spcBef>
              <a:spcAft>
                <a:spcPts val="0"/>
              </a:spcAft>
              <a:buNone/>
            </a:pPr>
            <a:r>
              <a:t/>
            </a:r>
            <a:endParaRPr sz="2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Functional VS </a:t>
            </a:r>
            <a:r>
              <a:rPr b="1" lang="en-US" sz="3300">
                <a:latin typeface="Lexend"/>
                <a:ea typeface="Lexend"/>
                <a:cs typeface="Lexend"/>
                <a:sym typeface="Lexend"/>
              </a:rPr>
              <a:t>Non-Functional Requirements</a:t>
            </a:r>
            <a:endParaRPr b="1" sz="3300">
              <a:latin typeface="Lexend"/>
              <a:ea typeface="Lexend"/>
              <a:cs typeface="Lexend"/>
              <a:sym typeface="Lexend"/>
            </a:endParaRPr>
          </a:p>
        </p:txBody>
      </p:sp>
      <p:graphicFrame>
        <p:nvGraphicFramePr>
          <p:cNvPr id="154" name="Google Shape;154;p19"/>
          <p:cNvGraphicFramePr/>
          <p:nvPr/>
        </p:nvGraphicFramePr>
        <p:xfrm>
          <a:off x="264788" y="1896450"/>
          <a:ext cx="3000000" cy="3000000"/>
        </p:xfrm>
        <a:graphic>
          <a:graphicData uri="http://schemas.openxmlformats.org/drawingml/2006/table">
            <a:tbl>
              <a:tblPr>
                <a:noFill/>
                <a:tableStyleId>{0C923218-EFBD-4D23-933B-CCCC2AF9A3DE}</a:tableStyleId>
              </a:tblPr>
              <a:tblGrid>
                <a:gridCol w="382850"/>
                <a:gridCol w="4605825"/>
                <a:gridCol w="6673750"/>
              </a:tblGrid>
              <a:tr h="361950">
                <a:tc>
                  <a:txBody>
                    <a:bodyPr/>
                    <a:lstStyle/>
                    <a:p>
                      <a:pPr indent="0" lvl="0" marL="0" rtl="0" algn="ctr">
                        <a:lnSpc>
                          <a:spcPct val="115000"/>
                        </a:lnSpc>
                        <a:spcBef>
                          <a:spcPts val="0"/>
                        </a:spcBef>
                        <a:spcAft>
                          <a:spcPts val="0"/>
                        </a:spcAft>
                        <a:buNone/>
                      </a:pPr>
                      <a:r>
                        <a:rPr b="1" lang="en-US" sz="1100"/>
                        <a:t>Sl. No</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t>Functional Requirement</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t>Non-functional Requirement</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Defines all the services or functions required by the customer that must be provided by the system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Defines system properties and constraints e.g. reliability, response time and storage requirements. Constraints are I/O device capability, system representations, etc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It describes what the software should do</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It does not describe what the software will do, but how the software will do it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business. For example: Calculation of order value by Sales Department or gross pay by the Payroll Department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improving the performance of the business. For example: checking the level of security. An operator should be allowed to view only my name and personal identification code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Functional requirements are easy to test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Non-functional requirements are difficult to test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the individual system features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the system as a whole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Failure to meet the individual functional requirement may degrade the system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Failure to meet a non-functional requirement may make the whole system unusable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Examples</a:t>
            </a:r>
            <a:endParaRPr b="1" sz="3300">
              <a:latin typeface="Lexend"/>
              <a:ea typeface="Lexend"/>
              <a:cs typeface="Lexend"/>
              <a:sym typeface="Lexend"/>
            </a:endParaRPr>
          </a:p>
        </p:txBody>
      </p:sp>
      <p:sp>
        <p:nvSpPr>
          <p:cNvPr id="160" name="Google Shape;160;p20"/>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900"/>
              <a:t>Functional requirement</a:t>
            </a:r>
            <a:endParaRPr b="1" sz="1900"/>
          </a:p>
          <a:p>
            <a:pPr indent="0" lvl="0" marL="0" rtl="0" algn="l">
              <a:spcBef>
                <a:spcPts val="0"/>
              </a:spcBef>
              <a:spcAft>
                <a:spcPts val="0"/>
              </a:spcAft>
              <a:buNone/>
            </a:pPr>
            <a:r>
              <a:rPr lang="en-US" sz="1900"/>
              <a:t>1. A user shall be able to search the appointments lists for all clinics.</a:t>
            </a:r>
            <a:endParaRPr sz="1900"/>
          </a:p>
          <a:p>
            <a:pPr indent="0" lvl="0" marL="0" rtl="0" algn="l">
              <a:spcBef>
                <a:spcPts val="0"/>
              </a:spcBef>
              <a:spcAft>
                <a:spcPts val="0"/>
              </a:spcAft>
              <a:buNone/>
            </a:pPr>
            <a:r>
              <a:rPr lang="en-US" sz="1900"/>
              <a:t>2. The system shall generate each day, for each clinic, a list of patients who are expected to attend appointments that day.</a:t>
            </a:r>
            <a:endParaRPr sz="1900"/>
          </a:p>
          <a:p>
            <a:pPr indent="0" lvl="0" marL="0" rtl="0" algn="l">
              <a:spcBef>
                <a:spcPts val="0"/>
              </a:spcBef>
              <a:spcAft>
                <a:spcPts val="0"/>
              </a:spcAft>
              <a:buNone/>
            </a:pPr>
            <a:r>
              <a:rPr lang="en-US" sz="1900"/>
              <a:t>3. Each staff member using the system shall be uniquely identified by his or her eight-digit employee number.</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Product requirement</a:t>
            </a:r>
            <a:endParaRPr b="1" sz="1900"/>
          </a:p>
          <a:p>
            <a:pPr indent="0" lvl="0" marL="0" rtl="0" algn="l">
              <a:spcBef>
                <a:spcPts val="0"/>
              </a:spcBef>
              <a:spcAft>
                <a:spcPts val="0"/>
              </a:spcAft>
              <a:buNone/>
            </a:pPr>
            <a:r>
              <a:rPr lang="en-US" sz="1900"/>
              <a:t>The MHC-PMS shall be available to all clinics during normal working hours (Mon–Fri, 0830–17.30). Downtime within normal working hours shall not exceed five seconds in any one day.</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Organizational requirement</a:t>
            </a:r>
            <a:endParaRPr b="1" sz="1900"/>
          </a:p>
          <a:p>
            <a:pPr indent="0" lvl="0" marL="0" rtl="0" algn="l">
              <a:spcBef>
                <a:spcPts val="0"/>
              </a:spcBef>
              <a:spcAft>
                <a:spcPts val="0"/>
              </a:spcAft>
              <a:buNone/>
            </a:pPr>
            <a:r>
              <a:rPr lang="en-US" sz="1900"/>
              <a:t>Users of the MHC-PMS system shall authenticate themselves using their health authority identity card.</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External requirement</a:t>
            </a:r>
            <a:endParaRPr b="1" sz="1900"/>
          </a:p>
          <a:p>
            <a:pPr indent="0" lvl="0" marL="0" rtl="0" algn="l">
              <a:spcBef>
                <a:spcPts val="0"/>
              </a:spcBef>
              <a:spcAft>
                <a:spcPts val="0"/>
              </a:spcAft>
              <a:buNone/>
            </a:pPr>
            <a:r>
              <a:rPr lang="en-US" sz="1900"/>
              <a:t>The system shall implement patient privacy provisions as set out in HStan-03-2006-priv. </a:t>
            </a:r>
            <a:endParaRPr sz="1900"/>
          </a:p>
          <a:p>
            <a:pPr indent="0" lvl="0" marL="0" rtl="0" algn="l">
              <a:spcBef>
                <a:spcPts val="0"/>
              </a:spcBef>
              <a:spcAft>
                <a:spcPts val="0"/>
              </a:spcAft>
              <a:buNone/>
            </a:pPr>
            <a:r>
              <a:t/>
            </a:r>
            <a:endParaRPr b="1"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 few things to note</a:t>
            </a:r>
            <a:endParaRPr b="1" sz="3300">
              <a:latin typeface="Lexend"/>
              <a:ea typeface="Lexend"/>
              <a:cs typeface="Lexend"/>
              <a:sym typeface="Lexend"/>
            </a:endParaRPr>
          </a:p>
        </p:txBody>
      </p:sp>
      <p:sp>
        <p:nvSpPr>
          <p:cNvPr id="166" name="Google Shape;166;p21"/>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You must write your requirements in full sentences</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US"/>
              <a:t>While writing functional requirements, it should start with: “User should be able to”, “System should allow user to” etc. </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US"/>
              <a:t>While writing your non functional requirements, you can use “The system should have”, </a:t>
            </a:r>
            <a:r>
              <a:rPr lang="en-US"/>
              <a:t>“System should be able to”</a:t>
            </a:r>
            <a:r>
              <a:rPr lang="en-US"/>
              <a:t>, “The system should implement”.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“user” means the specific user of that system like </a:t>
            </a:r>
            <a:r>
              <a:rPr lang="en-US"/>
              <a:t>students</a:t>
            </a:r>
            <a:r>
              <a:rPr lang="en-US"/>
              <a:t>, drivers etc.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a:t>
            </a:r>
            <a:endParaRPr b="1" sz="3300">
              <a:latin typeface="Lexend"/>
              <a:ea typeface="Lexend"/>
              <a:cs typeface="Lexend"/>
              <a:sym typeface="Lexend"/>
            </a:endParaRPr>
          </a:p>
        </p:txBody>
      </p:sp>
      <p:sp>
        <p:nvSpPr>
          <p:cNvPr id="172" name="Google Shape;172;p22"/>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900"/>
              <a:t>You have been hired to develop a smart parking management system for a multi-story shopping mall. The mall management wants to automate parking space allocation, payment, and security monitoring to improve customer experience and reduce manual work.</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The system should allow drivers to check space availability in real-time, reserve a spot before arriving, and make cashless payments. The system should also support security features like automatic license plate recognition and emergency alert buttons. The system should be able to handle large amounts of user load and ensure near perfect uptime. The system should also implement encryption mechanisms to safeguard user data.</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The mall wants to first launch a basic set of features as a pilot on a single floor, then gradually add advanced features like dynamic pricing, loyalty programs, and integration with shopping apps, depending on user feedback.</a:t>
            </a:r>
            <a:endParaRPr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Char char="•"/>
            </a:pPr>
            <a:r>
              <a:rPr b="1" lang="en-US" sz="1900"/>
              <a:t>Determine the Functional and Non-Functional Requirements</a:t>
            </a:r>
            <a:endParaRPr b="1"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 - Answer</a:t>
            </a:r>
            <a:endParaRPr b="1" sz="3300">
              <a:latin typeface="Lexend"/>
              <a:ea typeface="Lexend"/>
              <a:cs typeface="Lexend"/>
              <a:sym typeface="Lexend"/>
            </a:endParaRPr>
          </a:p>
        </p:txBody>
      </p:sp>
      <p:sp>
        <p:nvSpPr>
          <p:cNvPr id="178" name="Google Shape;178;p23"/>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900"/>
              <a:t>Functional Requirements</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US" sz="1900"/>
              <a:t>The system shall allow drivers to view real-time parking space availability on a mobile app and kiosk screens.</a:t>
            </a:r>
            <a:endParaRPr sz="1900"/>
          </a:p>
          <a:p>
            <a:pPr indent="-349250" lvl="0" marL="457200" rtl="0" algn="l">
              <a:spcBef>
                <a:spcPts val="0"/>
              </a:spcBef>
              <a:spcAft>
                <a:spcPts val="0"/>
              </a:spcAft>
              <a:buSzPts val="1900"/>
              <a:buAutoNum type="arabicPeriod"/>
            </a:pPr>
            <a:r>
              <a:rPr lang="en-US" sz="1900"/>
              <a:t>The system shall allow drivers to reserve a parking spot in advance using a mobile application.</a:t>
            </a:r>
            <a:endParaRPr sz="1900"/>
          </a:p>
          <a:p>
            <a:pPr indent="-349250" lvl="0" marL="457200" rtl="0" algn="l">
              <a:spcBef>
                <a:spcPts val="0"/>
              </a:spcBef>
              <a:spcAft>
                <a:spcPts val="0"/>
              </a:spcAft>
              <a:buSzPts val="1900"/>
              <a:buAutoNum type="arabicPeriod"/>
            </a:pPr>
            <a:r>
              <a:rPr lang="en-US" sz="1900"/>
              <a:t>The system shall enable drivers to make cashless payments (credit card, mobile wallet, etc.).</a:t>
            </a:r>
            <a:endParaRPr sz="1900"/>
          </a:p>
          <a:p>
            <a:pPr indent="-349250" lvl="0" marL="457200" rtl="0" algn="l">
              <a:spcBef>
                <a:spcPts val="0"/>
              </a:spcBef>
              <a:spcAft>
                <a:spcPts val="0"/>
              </a:spcAft>
              <a:buSzPts val="1900"/>
              <a:buAutoNum type="arabicPeriod"/>
            </a:pPr>
            <a:r>
              <a:rPr lang="en-US" sz="1900"/>
              <a:t>The system shall support automatic license plate recognition to verify entry and exit.</a:t>
            </a:r>
            <a:endParaRPr sz="1900"/>
          </a:p>
          <a:p>
            <a:pPr indent="-349250" lvl="0" marL="457200" rtl="0" algn="l">
              <a:spcBef>
                <a:spcPts val="0"/>
              </a:spcBef>
              <a:spcAft>
                <a:spcPts val="0"/>
              </a:spcAft>
              <a:buSzPts val="1900"/>
              <a:buAutoNum type="arabicPeriod"/>
            </a:pPr>
            <a:r>
              <a:rPr lang="en-US" sz="1900"/>
              <a:t>The system shall allow drivers to trigger an emergency alert from kiosks or mobile apps if they face security threats.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Non-Functional Requirements</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US" sz="1900"/>
              <a:t>The system shall be able to handle at least 500 simultaneous users without performance degradation.</a:t>
            </a:r>
            <a:endParaRPr sz="1900"/>
          </a:p>
          <a:p>
            <a:pPr indent="-349250" lvl="0" marL="457200" rtl="0" algn="l">
              <a:spcBef>
                <a:spcPts val="0"/>
              </a:spcBef>
              <a:spcAft>
                <a:spcPts val="0"/>
              </a:spcAft>
              <a:buSzPts val="1900"/>
              <a:buAutoNum type="arabicPeriod"/>
            </a:pPr>
            <a:r>
              <a:rPr lang="en-US" sz="1900"/>
              <a:t>The system shall have an availability of 99.9% uptime to ensure continuous service.</a:t>
            </a:r>
            <a:endParaRPr sz="1900"/>
          </a:p>
          <a:p>
            <a:pPr indent="-349250" lvl="0" marL="457200" rtl="0" algn="l">
              <a:spcBef>
                <a:spcPts val="0"/>
              </a:spcBef>
              <a:spcAft>
                <a:spcPts val="0"/>
              </a:spcAft>
              <a:buSzPts val="1900"/>
              <a:buAutoNum type="arabicPeriod"/>
            </a:pPr>
            <a:r>
              <a:rPr lang="en-US" sz="1900"/>
              <a:t>The system shall encrypt all user data to ensure user data privacy</a:t>
            </a:r>
            <a:endParaRPr sz="1900"/>
          </a:p>
          <a:p>
            <a:pPr indent="0" lvl="0" marL="0" rtl="0" algn="l">
              <a:spcBef>
                <a:spcPts val="0"/>
              </a:spcBef>
              <a:spcAft>
                <a:spcPts val="0"/>
              </a:spcAft>
              <a:buNone/>
            </a:pPr>
            <a:r>
              <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