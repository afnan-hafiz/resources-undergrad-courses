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E2F00-C2D0-483B-9669-0265CA79811F}">
  <a:tblStyle styleId="{27FE2F00-C2D0-483B-9669-0265CA7981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6C053D6-6349-45B3-BCD1-3CBF49BECD2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e793e3f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e793e3f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793e3fc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793e3f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e793e3fc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e793e3fc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793e3fc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793e3f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793e3fc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793e3fc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793e3fc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793e3fc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e793e3fcf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e793e3f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b255eeed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b255eee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e793e3fc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e793e3fc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e793e3fc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8e793e3fc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e793e3fcf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e793e3f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e793e3fcf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e793e3fc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e793e3fcf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e793e3fc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793e3fcf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793e3f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793e3fcf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793e3f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e793e3fcf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e793e3f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e793e3fcf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e793e3fc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793e3fc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e793e3fc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793e3fc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e793e3fc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e793e3fcf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e793e3fc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e793e3fcf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8e793e3fc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e793e3fcf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8e793e3fc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e793e3fcf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e793e3fc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qualitylogic.com/knowledge-center/10-reasons-to-use-agile-software-development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gilemanifesto.org/" TargetMode="External"/><Relationship Id="rId4" Type="http://schemas.openxmlformats.org/officeDocument/2006/relationships/hyperlink" Target="https://agilealliance.org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hyperlink" Target="https://trello.com/b/ZqN99gG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ountaingoatsoftware.com/agile/scrum/scrum-tools/release-burndow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crum.org/resources/what-is-a-sprint-retrospec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Agile Methodologies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Why we need Agile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441450"/>
            <a:ext cx="11027400" cy="494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1. Now a days, </a:t>
            </a:r>
            <a:r>
              <a:rPr b="1" lang="en-US"/>
              <a:t>the requirement of software changes frequently</a:t>
            </a:r>
            <a:r>
              <a:rPr lang="en-US"/>
              <a:t>, even it can change a number of times in a 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2. Agile software engineering represents a reasonable </a:t>
            </a:r>
            <a:r>
              <a:rPr b="1" lang="en-US"/>
              <a:t>alternative to conventional software engineering</a:t>
            </a:r>
            <a:r>
              <a:rPr lang="en-US"/>
              <a:t>. It has been demonstrated to deliver successful systems quickly.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3. For live systems, like Amazon, Facebook a few seconds of downtime can cause a lot. Changes in such cases needs to be smooth enough so that customers interaction do not interrupt.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Read to know more about Agile benefits: </a:t>
            </a:r>
            <a:r>
              <a:rPr lang="en-US" sz="1500" u="sng">
                <a:solidFill>
                  <a:srgbClr val="674E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500">
              <a:solidFill>
                <a:srgbClr val="674E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“Agility”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690825"/>
            <a:ext cx="10515600" cy="262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set of </a:t>
            </a:r>
            <a:r>
              <a:rPr b="1" lang="en-US"/>
              <a:t>principles and values</a:t>
            </a:r>
            <a:r>
              <a:rPr lang="en-US"/>
              <a:t>. It is a </a:t>
            </a:r>
            <a:r>
              <a:rPr b="1" lang="en-US"/>
              <a:t>practice </a:t>
            </a:r>
            <a:r>
              <a:rPr lang="en-US"/>
              <a:t>to be followed.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is a combination of Iterative and Incremental process models with focus on </a:t>
            </a:r>
            <a:r>
              <a:rPr b="1" lang="en-US"/>
              <a:t>process adaptability and customer satisfaction</a:t>
            </a:r>
            <a:r>
              <a:rPr lang="en-US"/>
              <a:t> by </a:t>
            </a:r>
            <a:r>
              <a:rPr b="1" lang="en-US"/>
              <a:t>rapid delivery of working software. </a:t>
            </a:r>
            <a:endParaRPr b="1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organizations tend to be </a:t>
            </a:r>
            <a:r>
              <a:rPr b="1" lang="en-US"/>
              <a:t>responsive rather than rigid</a:t>
            </a:r>
            <a:r>
              <a:rPr lang="en-US"/>
              <a:t>, which means they can better respond to change.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27646"/>
          <a:stretch/>
        </p:blipFill>
        <p:spPr>
          <a:xfrm>
            <a:off x="2711929" y="4583924"/>
            <a:ext cx="6768150" cy="20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Manifesto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838200" y="1607425"/>
            <a:ext cx="10515600" cy="515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uncovering better ways of developing software by doing it and helping others do 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</a:t>
            </a:r>
            <a:r>
              <a:rPr lang="en-US" sz="3000">
                <a:solidFill>
                  <a:srgbClr val="00B050"/>
                </a:solidFill>
              </a:rPr>
              <a:t>✔</a:t>
            </a:r>
            <a:r>
              <a:rPr lang="en-US"/>
              <a:t>												         ❌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Individuals and interactions        </a:t>
            </a:r>
            <a:r>
              <a:rPr i="1" lang="en-US" sz="2800"/>
              <a:t>over              </a:t>
            </a:r>
            <a:r>
              <a:rPr b="1" i="1" lang="en-US" sz="2800">
                <a:solidFill>
                  <a:srgbClr val="FF0000"/>
                </a:solidFill>
              </a:rPr>
              <a:t>processes and tools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Working software                         </a:t>
            </a:r>
            <a:r>
              <a:rPr i="1" lang="en-US"/>
              <a:t>over   </a:t>
            </a:r>
            <a:r>
              <a:rPr b="1" i="1" lang="en-US">
                <a:solidFill>
                  <a:srgbClr val="FF0000"/>
                </a:solidFill>
              </a:rPr>
              <a:t>comprehensive documentation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>
                <a:solidFill>
                  <a:srgbClr val="00B050"/>
                </a:solidFill>
              </a:rPr>
              <a:t>Customer collaboration               </a:t>
            </a:r>
            <a:r>
              <a:rPr i="1" lang="en-US"/>
              <a:t>over              </a:t>
            </a:r>
            <a:r>
              <a:rPr b="1" i="1" lang="en-US">
                <a:solidFill>
                  <a:srgbClr val="FF0000"/>
                </a:solidFill>
              </a:rPr>
              <a:t>contract negotiation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1" lang="en-US" sz="2800">
                <a:solidFill>
                  <a:srgbClr val="00B050"/>
                </a:solidFill>
              </a:rPr>
              <a:t>Responding to change                 </a:t>
            </a:r>
            <a:r>
              <a:rPr i="1" lang="en-US" sz="2800"/>
              <a:t>over                  </a:t>
            </a:r>
            <a:r>
              <a:rPr b="1" i="1" lang="en-US" sz="2800">
                <a:solidFill>
                  <a:srgbClr val="FF0000"/>
                </a:solidFill>
              </a:rPr>
              <a:t>following a plan </a:t>
            </a:r>
            <a:endParaRPr b="1"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Read more: </a:t>
            </a:r>
            <a:r>
              <a:rPr lang="en-US" sz="1900" u="sng">
                <a:solidFill>
                  <a:schemeClr val="hlink"/>
                </a:solidFill>
                <a:hlinkClick r:id="rId3"/>
              </a:rPr>
              <a:t>https://agilemanifesto.org/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At a glance: </a:t>
            </a:r>
            <a:r>
              <a:rPr lang="en-US" sz="1900" u="sng">
                <a:solidFill>
                  <a:schemeClr val="hlink"/>
                </a:solidFill>
                <a:hlinkClick r:id="rId4"/>
              </a:rPr>
              <a:t>https://agilealliance.org/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Agile Methodologies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Extreme Programming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Agile Unified Process </a:t>
            </a:r>
            <a:r>
              <a:rPr lang="en-US">
                <a:solidFill>
                  <a:srgbClr val="9A0000"/>
                </a:solidFill>
              </a:rPr>
              <a:t>(excluded from syllabus)</a:t>
            </a:r>
            <a:endParaRPr>
              <a:solidFill>
                <a:srgbClr val="9A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Scrum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Extreme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short also known as XP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XP is especially valuable for projects with unclear or dynamic needs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New versions may be built </a:t>
            </a:r>
            <a:r>
              <a:rPr b="1" lang="en-US"/>
              <a:t>several times per day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Increments are delivered to customers </a:t>
            </a:r>
            <a:r>
              <a:rPr b="1" lang="en-US"/>
              <a:t>every 2 weeks (approx.)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 tests must be run for every build and the build should be accepted by the client and if tests run successfully.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Workflow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199" cy="376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1106625" y="6125450"/>
            <a:ext cx="673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Reference: </a:t>
            </a:r>
            <a:r>
              <a:rPr lang="en-US"/>
              <a:t>Software-Engineering-9th-Edition-by-Ian-Sommerville (pdf page 82)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XP Principles or Practices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693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{27FE2F00-C2D0-483B-9669-0265CA79811F}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Incremental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Pair Programming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Releases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Collective Ownership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 Design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Integration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First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Sustainable</a:t>
                      </a: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Development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Refactoring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On-site Customer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Pair Programming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838200" y="1825625"/>
            <a:ext cx="9666000" cy="3521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Two people code in share, they switch roles from observer to navigator frequently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Observing code produces better code, so less business cost.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Support each other, better chance for learning.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 First Development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Writes unit test for each method to identify problems and resolve it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First Development (TFD) is used to ensure better code quality and less error. It refers to write test code first and after that write the development code.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Refactoring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838200" y="1825625"/>
            <a:ext cx="62685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It’s a technique for restructuring existing code by changing its internal structure without changing its external behaviour.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Refactoring includes reducing duplicate codes, breaking long classes/methods into small ones, appropriate variable naming and many more.</a:t>
            </a:r>
            <a:endParaRPr sz="2500"/>
          </a:p>
          <a:p>
            <a:pPr indent="0" lvl="0" marL="457200" rtl="0" algn="l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Calibri"/>
              <a:buChar char="•"/>
            </a:pPr>
            <a:r>
              <a:rPr lang="en-US" sz="2500"/>
              <a:t>It is done for requirement change, improving design and easy extensibility of software.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1776" y="1366550"/>
            <a:ext cx="3732025" cy="16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1775" y="3452800"/>
            <a:ext cx="3732024" cy="261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(</a:t>
            </a:r>
            <a:r>
              <a:rPr b="1" lang="en-US" sz="3300">
                <a:solidFill>
                  <a:srgbClr val="1155CC"/>
                </a:solidFill>
                <a:latin typeface="Lexend"/>
                <a:ea typeface="Lexend"/>
                <a:cs typeface="Lexend"/>
                <a:sym typeface="Lexend"/>
              </a:rPr>
              <a:t>Most popular Agile method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It is the most widely used Agile S/W development method for </a:t>
            </a:r>
            <a:r>
              <a:rPr b="1" lang="en-US" sz="2500">
                <a:solidFill>
                  <a:schemeClr val="accent1"/>
                </a:solidFill>
              </a:rPr>
              <a:t>project management</a:t>
            </a:r>
            <a:endParaRPr b="1" sz="2500">
              <a:solidFill>
                <a:schemeClr val="accen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 sz="2500"/>
              <a:t>The full software is delivered in 1-4 weeks iterations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   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7550" y="281348"/>
            <a:ext cx="8856900" cy="6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Framework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6"/>
          <p:cNvGraphicFramePr/>
          <p:nvPr/>
        </p:nvGraphicFramePr>
        <p:xfrm>
          <a:off x="1209300" y="266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{27FE2F00-C2D0-483B-9669-0265CA79811F}</a:tableStyleId>
              </a:tblPr>
              <a:tblGrid>
                <a:gridCol w="2507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Owner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2" name="Google Shape;202;p26"/>
          <p:cNvGraphicFramePr/>
          <p:nvPr/>
        </p:nvGraphicFramePr>
        <p:xfrm>
          <a:off x="41691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{27FE2F00-C2D0-483B-9669-0265CA79811F}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Ceremonies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(In Scrum, Ceremonies = Official Meetings)</a:t>
                      </a:r>
                      <a:endParaRPr sz="2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Planning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Review &amp; Retrospective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 Scrum Meeting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6"/>
          <p:cNvGraphicFramePr/>
          <p:nvPr/>
        </p:nvGraphicFramePr>
        <p:xfrm>
          <a:off x="7802325" y="268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{27FE2F00-C2D0-483B-9669-0265CA79811F}</a:tableStyleId>
              </a:tblPr>
              <a:tblGrid>
                <a:gridCol w="3180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Artifacts</a:t>
                      </a:r>
                      <a:endParaRPr b="1"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Backlog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Burndown charts</a:t>
                      </a:r>
                      <a:endParaRPr sz="2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Scrum Roles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7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Product Owner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Possibly a Product Manager or Project Sponsor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Decides features, release date, prioritization, $$$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Conveys a clear vision to the Scrum team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Replies to frequently asked queries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Scrum Master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Typically a Project Manager or Team Leader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Responsible for enacting Scrum values and practices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Remove impediments / politics, keeps everyone productive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Project Team</a:t>
            </a:r>
            <a:endParaRPr b="1" sz="20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5-10 members;  Teams are self-organizing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Cross-functional: QA, Programmers, UI Designers, etc.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Membership should change only between sprints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838200" y="1825625"/>
            <a:ext cx="68001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C78D8"/>
              </a:buClr>
              <a:buSzPts val="2600"/>
              <a:buChar char="•"/>
            </a:pPr>
            <a:r>
              <a:rPr b="1" lang="en-US" sz="2600">
                <a:solidFill>
                  <a:srgbClr val="3C78D8"/>
                </a:solidFill>
              </a:rPr>
              <a:t>The requirements</a:t>
            </a:r>
            <a:endParaRPr b="1" sz="2600">
              <a:solidFill>
                <a:srgbClr val="3C78D8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 list of all desired work on project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Ideally expressed as a list of user stories along with "story points", such that each item has value to users or customers of the product 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Prioritized by the product owner</a:t>
            </a:r>
            <a:endParaRPr sz="24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Reprioritized at start of each sprint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8195" y="1690831"/>
            <a:ext cx="3333852" cy="4029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Product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9"/>
          <p:cNvGraphicFramePr/>
          <p:nvPr/>
        </p:nvGraphicFramePr>
        <p:xfrm>
          <a:off x="2207561" y="1690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{16C053D6-6349-45B3-BCD1-3CBF49BECD29}</a:tableStyleId>
              </a:tblPr>
              <a:tblGrid>
                <a:gridCol w="1301100"/>
                <a:gridCol w="5177250"/>
                <a:gridCol w="1298525"/>
              </a:tblGrid>
              <a:tr h="73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item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Tahom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</a:t>
                      </a:r>
                      <a:endParaRPr b="1" sz="2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35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Allow a guest to make a reservation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(story points)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7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cancel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5900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guest, I want to change the dates of a reservation.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3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a hotel employee, I can run RevPAR reports (revenue-per-available-room)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275">
                <a:tc>
                  <a:txBody>
                    <a:bodyPr/>
                    <a:lstStyle/>
                    <a:p>
                      <a:pPr indent="0" lvl="0" marL="1143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exception handling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Backlog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838200" y="1825625"/>
            <a:ext cx="6009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>
                <a:solidFill>
                  <a:srgbClr val="1155CC"/>
                </a:solidFill>
              </a:rPr>
              <a:t>High priority features</a:t>
            </a:r>
            <a:r>
              <a:rPr lang="en-US" sz="2400"/>
              <a:t> are selected based on </a:t>
            </a:r>
            <a:r>
              <a:rPr b="1" lang="en-US" sz="2400"/>
              <a:t>points from product backlog</a:t>
            </a:r>
            <a:r>
              <a:rPr lang="en-US" sz="2400"/>
              <a:t>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These features will be covered within that </a:t>
            </a:r>
            <a:r>
              <a:rPr b="1" lang="en-US" sz="2400">
                <a:solidFill>
                  <a:srgbClr val="1155CC"/>
                </a:solidFill>
              </a:rPr>
              <a:t>1-4 weeks time slot </a:t>
            </a:r>
            <a:r>
              <a:rPr lang="en-US" sz="2400"/>
              <a:t>called as sprint.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Estimated </a:t>
            </a:r>
            <a:r>
              <a:rPr b="1" lang="en-US" sz="2400"/>
              <a:t>work remaining</a:t>
            </a:r>
            <a:r>
              <a:rPr lang="en-US" sz="2400"/>
              <a:t> is updated daily</a:t>
            </a:r>
            <a:endParaRPr sz="24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Any team member can not </a:t>
            </a:r>
            <a:r>
              <a:rPr b="1" lang="en-US" sz="2400">
                <a:solidFill>
                  <a:srgbClr val="980000"/>
                </a:solidFill>
              </a:rPr>
              <a:t>add, delete change sprint backlog</a:t>
            </a:r>
            <a:endParaRPr b="1"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357" y="2683563"/>
            <a:ext cx="3793440" cy="1490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Sprint Board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" name="Google Shape;2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763237"/>
            <a:ext cx="10515601" cy="333152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1"/>
          <p:cNvSpPr txBox="1"/>
          <p:nvPr/>
        </p:nvSpPr>
        <p:spPr>
          <a:xfrm>
            <a:off x="839125" y="5449100"/>
            <a:ext cx="596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Link: </a:t>
            </a:r>
            <a:r>
              <a:rPr b="1" lang="en-US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https://trello.com/b/ZqN99gGN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Daily Scrum Meeting (DSM)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838200" y="1825625"/>
            <a:ext cx="54708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Parameters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Daily, ~15 minutes, Stand-up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Anyone late pays a $1 fee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Not for problem solving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Whole world is invited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Only team members, Scrum Master, product owner, </a:t>
            </a:r>
            <a:r>
              <a:rPr b="1" lang="en-US" sz="2000">
                <a:solidFill>
                  <a:srgbClr val="38761D"/>
                </a:solidFill>
              </a:rPr>
              <a:t>can talk</a:t>
            </a:r>
            <a:endParaRPr b="1" sz="2000">
              <a:solidFill>
                <a:srgbClr val="38761D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Calibri"/>
              <a:buChar char="•"/>
            </a:pPr>
            <a:r>
              <a:rPr b="1" lang="en-US" sz="2000">
                <a:solidFill>
                  <a:srgbClr val="990000"/>
                </a:solidFill>
              </a:rPr>
              <a:t>Helps avoid other unnecessary meetings</a:t>
            </a:r>
            <a:endParaRPr b="1" sz="20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/>
              <a:t>Three questions answered by each team member: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did you do yesterday?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What will you do today?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b="1" lang="en-US" sz="2000"/>
              <a:t>What obstacles are in your way? </a:t>
            </a: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083" y="2367085"/>
            <a:ext cx="4499992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display of what work has been completed and what is left to complete </a:t>
            </a:r>
            <a:r>
              <a:rPr b="1" lang="en-US">
                <a:solidFill>
                  <a:srgbClr val="9A0000"/>
                </a:solidFill>
              </a:rPr>
              <a:t>(Remaining work vs time)</a:t>
            </a:r>
            <a:endParaRPr b="1">
              <a:solidFill>
                <a:srgbClr val="9A0000"/>
              </a:solidFill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one for each developer or work item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every day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(make best guess about </a:t>
            </a:r>
            <a:r>
              <a:rPr b="1" lang="en-US"/>
              <a:t>hours/points completed</a:t>
            </a:r>
            <a:r>
              <a:rPr lang="en-US"/>
              <a:t> each day)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Release burndown chart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shows overall progress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updated at end of each sprint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https://www.mountaingoatsoftware.com/agile/scrum/scrum-tools/release-burndown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Artifact - Burndown Chart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8200" y="1450050"/>
            <a:ext cx="7927800" cy="39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4"/>
          <p:cNvSpPr txBox="1"/>
          <p:nvPr/>
        </p:nvSpPr>
        <p:spPr>
          <a:xfrm>
            <a:off x="2100875" y="5481075"/>
            <a:ext cx="812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line goes down steadily → </a:t>
            </a:r>
            <a:r>
              <a:rPr b="1" lang="en-US" sz="24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Good progress</a:t>
            </a:r>
            <a:endParaRPr b="1" sz="2400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flat → </a:t>
            </a:r>
            <a:r>
              <a:rPr b="1" lang="en-US" sz="2400">
                <a:solidFill>
                  <a:srgbClr val="9A0000"/>
                </a:solidFill>
                <a:latin typeface="Calibri"/>
                <a:ea typeface="Calibri"/>
                <a:cs typeface="Calibri"/>
                <a:sym typeface="Calibri"/>
              </a:rPr>
              <a:t>Team not progressing</a:t>
            </a:r>
            <a:endParaRPr b="1" sz="2400">
              <a:solidFill>
                <a:srgbClr val="9A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goes up → </a:t>
            </a:r>
            <a:r>
              <a:rPr b="1"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New work added (not good in sprint)</a:t>
            </a:r>
            <a:endParaRPr b="1"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Review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Team presents </a:t>
            </a:r>
            <a:r>
              <a:rPr b="1" lang="en-US">
                <a:solidFill>
                  <a:srgbClr val="38761D"/>
                </a:solidFill>
              </a:rPr>
              <a:t>what it accomplished during the sprint</a:t>
            </a:r>
            <a:endParaRPr b="1">
              <a:solidFill>
                <a:srgbClr val="38761D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Demo of completed work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Informal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2-hour prep time rule</a:t>
            </a:r>
            <a:endParaRPr sz="2800"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No slides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Whole team participates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/>
              <a:t>Invite the world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8761D"/>
                </a:solidFill>
              </a:rPr>
              <a:t>“Show working product, not PowerPoint.”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Ceremony - Sprint Retrospective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838200" y="1825625"/>
            <a:ext cx="10515600" cy="41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Identify the </a:t>
            </a:r>
            <a:r>
              <a:rPr b="1" lang="en-US">
                <a:solidFill>
                  <a:srgbClr val="9A0000"/>
                </a:solidFill>
              </a:rPr>
              <a:t>scopes of improvement</a:t>
            </a:r>
            <a:r>
              <a:rPr lang="en-US"/>
              <a:t> for better result in next sprints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What </a:t>
            </a:r>
            <a:r>
              <a:rPr b="1" lang="en-US"/>
              <a:t>worked well</a:t>
            </a:r>
            <a:r>
              <a:rPr lang="en-US"/>
              <a:t>, what </a:t>
            </a:r>
            <a:r>
              <a:rPr b="1" lang="en-US"/>
              <a:t>went wrong</a:t>
            </a:r>
            <a:r>
              <a:rPr lang="en-US"/>
              <a:t> are also discussed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400"/>
              <a:t>2 min read: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https://www.scrum.org/resources/what-is-a-sprint-retrospective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