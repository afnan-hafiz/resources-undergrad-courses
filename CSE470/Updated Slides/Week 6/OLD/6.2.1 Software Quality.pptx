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embeddedFontLst>
    <p:embeddedFont>
      <p:font typeface="Gill Sans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g8jXKUmcX9zbN4ihH/cY4Fz/X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illSans-bold.fntdata"/><Relationship Id="rId12" Type="http://schemas.openxmlformats.org/officeDocument/2006/relationships/font" Target="fonts/Gill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8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8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8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11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11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2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14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14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1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15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1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15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6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1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1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1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18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/>
              <a:t>CSE 470 – Software Quality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67400"/>
            <a:ext cx="13716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3" name="Google Shape;1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381000" y="304800"/>
            <a:ext cx="6345237" cy="709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What is Software Quality?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457200" y="129540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274320" lvl="0" marL="27432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chemeClr val="dk1"/>
                </a:solidFill>
              </a:rPr>
              <a:t>Quality is an attribute of software that implies the software meets its specification</a:t>
            </a:r>
            <a:endParaRPr/>
          </a:p>
          <a:p>
            <a:pPr indent="-139192" lvl="0" marL="27432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274320" lvl="0" marL="27432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chemeClr val="dk1"/>
                </a:solidFill>
              </a:rPr>
              <a:t>The assessment of software quality is a subjective process where the quality management team has to use their judgment to decide if an acceptable level of quality has been achieved.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descr="brac.png" id="120" name="Google Shape;1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Software Quality Attributes</a:t>
            </a:r>
            <a:endParaRPr/>
          </a:p>
        </p:txBody>
      </p:sp>
      <p:sp>
        <p:nvSpPr>
          <p:cNvPr id="126" name="Google Shape;126;p3"/>
          <p:cNvSpPr txBox="1"/>
          <p:nvPr>
            <p:ph idx="1" type="body"/>
          </p:nvPr>
        </p:nvSpPr>
        <p:spPr>
          <a:xfrm>
            <a:off x="533400" y="2133600"/>
            <a:ext cx="3733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 fontScale="85000" lnSpcReduction="20000"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Safety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Security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Reliability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Resilience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Robustness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Understandability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Testability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Adaptability</a:t>
            </a:r>
            <a:endParaRPr/>
          </a:p>
        </p:txBody>
      </p:sp>
      <p:sp>
        <p:nvSpPr>
          <p:cNvPr id="127" name="Google Shape;127;p3"/>
          <p:cNvSpPr txBox="1"/>
          <p:nvPr>
            <p:ph idx="2" type="body"/>
          </p:nvPr>
        </p:nvSpPr>
        <p:spPr>
          <a:xfrm>
            <a:off x="4876800" y="2209800"/>
            <a:ext cx="2667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 fontScale="85000" lnSpcReduction="20000"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Modularity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Complexity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Portability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Usability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Reusability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Efficiency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Noto Sans Symbols"/>
              <a:buChar char="►"/>
            </a:pPr>
            <a:r>
              <a:rPr lang="en-US" sz="2800">
                <a:solidFill>
                  <a:schemeClr val="dk1"/>
                </a:solidFill>
              </a:rPr>
              <a:t>Learnability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533400" y="1295400"/>
            <a:ext cx="782955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software quality attributes are: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c.png" id="129" name="Google Shape;1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685800" y="228600"/>
            <a:ext cx="6345237" cy="709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Software Quality Assurance</a:t>
            </a:r>
            <a:endParaRPr/>
          </a:p>
        </p:txBody>
      </p:sp>
      <p:sp>
        <p:nvSpPr>
          <p:cNvPr id="135" name="Google Shape;135;p4"/>
          <p:cNvSpPr txBox="1"/>
          <p:nvPr>
            <p:ph idx="1" type="body"/>
          </p:nvPr>
        </p:nvSpPr>
        <p:spPr>
          <a:xfrm>
            <a:off x="533400" y="1295400"/>
            <a:ext cx="8280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 fontScale="925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chemeClr val="dk1"/>
                </a:solidFill>
              </a:rPr>
              <a:t>To ensure quality in a software product, an organization must have a three-prong approach to quality management:</a:t>
            </a:r>
            <a:endParaRPr/>
          </a:p>
          <a:p>
            <a:pPr indent="-27436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chemeClr val="dk1"/>
                </a:solidFill>
              </a:rPr>
              <a:t>Organization-wide policies, procedures and standards must be established.</a:t>
            </a:r>
            <a:endParaRPr/>
          </a:p>
          <a:p>
            <a:pPr indent="-27436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chemeClr val="dk1"/>
                </a:solidFill>
              </a:rPr>
              <a:t>Project-specific policies, procedures and standards must be tailored from the organization-wide templates.</a:t>
            </a:r>
            <a:endParaRPr/>
          </a:p>
          <a:p>
            <a:pPr indent="-27436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chemeClr val="dk1"/>
                </a:solidFill>
              </a:rPr>
              <a:t>Quality must be controlled; that is, the organization must ensure that the appropriate procedures are followed for each project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chemeClr val="dk1"/>
                </a:solidFill>
              </a:rPr>
              <a:t>Standards exist to help an organization draft an appropriate software quality assurance plan.</a:t>
            </a:r>
            <a:endParaRPr/>
          </a:p>
          <a:p>
            <a:pPr indent="-27436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chemeClr val="dk1"/>
                </a:solidFill>
              </a:rPr>
              <a:t>ISO 9000-3</a:t>
            </a:r>
            <a:endParaRPr/>
          </a:p>
          <a:p>
            <a:pPr indent="-27436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chemeClr val="dk1"/>
                </a:solidFill>
              </a:rPr>
              <a:t>ANSI/IEEE standards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chemeClr val="dk1"/>
                </a:solidFill>
              </a:rPr>
              <a:t>External entities can be contracted to verify that an organization is standard-compliant.</a:t>
            </a:r>
            <a:endParaRPr/>
          </a:p>
        </p:txBody>
      </p:sp>
      <p:pic>
        <p:nvPicPr>
          <p:cNvPr descr="brac.png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type="title"/>
          </p:nvPr>
        </p:nvSpPr>
        <p:spPr>
          <a:xfrm>
            <a:off x="865188" y="927100"/>
            <a:ext cx="6345237" cy="7096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id="142" name="Google Shape;14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651" r="1753" t="0"/>
          <a:stretch/>
        </p:blipFill>
        <p:spPr>
          <a:xfrm>
            <a:off x="152400" y="457200"/>
            <a:ext cx="8915400" cy="640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6158" y="5943600"/>
            <a:ext cx="13716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type="title"/>
          </p:nvPr>
        </p:nvSpPr>
        <p:spPr>
          <a:xfrm>
            <a:off x="533400" y="304800"/>
            <a:ext cx="6345237" cy="709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SQA Activities</a:t>
            </a:r>
            <a:endParaRPr/>
          </a:p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4572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Applying technical methods</a:t>
            </a:r>
            <a:endParaRPr/>
          </a:p>
          <a:p>
            <a:pPr indent="-283464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To help the analyst achieve a high quality specification and a high quality design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Testing Software</a:t>
            </a:r>
            <a:endParaRPr/>
          </a:p>
          <a:p>
            <a:pPr indent="-283464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A series of test case design methods that help ensure effective error detection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Enforcing standards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Measurement</a:t>
            </a:r>
            <a:endParaRPr sz="2000">
              <a:solidFill>
                <a:schemeClr val="dk1"/>
              </a:solidFill>
            </a:endParaRPr>
          </a:p>
          <a:p>
            <a:pPr indent="-283464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Track software quality and asses the ability of methodological and procedural changes to improve software quality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Record keeping and reporting</a:t>
            </a:r>
            <a:endParaRPr/>
          </a:p>
          <a:p>
            <a:pPr indent="-283464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►"/>
            </a:pPr>
            <a:r>
              <a:rPr lang="en-US" sz="2000">
                <a:solidFill>
                  <a:schemeClr val="dk1"/>
                </a:solidFill>
              </a:rPr>
              <a:t>Provide procedures for the collection and dissemination of SQA information</a:t>
            </a:r>
            <a:endParaRPr/>
          </a:p>
        </p:txBody>
      </p:sp>
      <p:pic>
        <p:nvPicPr>
          <p:cNvPr descr="brac.png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