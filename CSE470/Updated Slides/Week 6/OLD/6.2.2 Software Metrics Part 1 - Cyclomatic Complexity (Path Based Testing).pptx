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Tahoma"/>
      <p:regular r:id="rId27"/>
      <p:bold r:id="rId28"/>
    </p:embeddedFon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gIugixY9SEsj6SNUpszPfTs1Q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Tahoma-bold.fntdata"/><Relationship Id="rId27" Type="http://schemas.openxmlformats.org/officeDocument/2006/relationships/font" Target="fonts/Tahom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8" name="Google Shape;3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2" name="Google Shape;5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Dirichlet Principle: Given n boxes and m&gt;n objects, at least one box must contain more than one object.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Example: Lamar elevator: Given Lamar University Library building, if there are 8 people in the elevator at the ground floor, then there exists a floor where two people will get off. (knowing that the Lamar University Library building has 8 floors – including ground floor).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" name="Google Shape;25;p23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" name="Google Shape;26;p23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25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" name="Google Shape;41;p25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7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2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9" name="Google Shape;69;p2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6" name="Google Shape;76;p3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7" name="Google Shape;77;p30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8" name="Google Shape;78;p3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9" name="Google Shape;79;p30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83" name="Google Shape;83;p31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12"/>
              <a:buChar char="?"/>
              <a:defRPr sz="1200"/>
            </a:lvl2pPr>
            <a:lvl3pPr indent="-2768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760"/>
              <a:buChar char="?"/>
              <a:defRPr sz="1000"/>
            </a:lvl3pPr>
            <a:lvl4pPr indent="-268605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3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8" name="Google Shape;88;p3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31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2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3" name="Google Shape;93;p3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68"/>
              <a:buChar char="?"/>
              <a:defRPr/>
            </a:lvl1pPr>
            <a:lvl2pPr indent="-315468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2pPr>
            <a:lvl3pPr indent="-315467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  <a:defRPr/>
            </a:lvl3pPr>
            <a:lvl4pPr indent="-30861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6pPr>
            <a:lvl7pPr indent="-314325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7pPr>
            <a:lvl8pPr indent="-314325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8pPr>
            <a:lvl9pPr indent="-314325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?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3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2" name="Google Shape;102;p33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3" name="Google Shape;103;p33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4" name="Google Shape;104;p33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" name="Google Shape;15;p22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6" name="Google Shape;16;p2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" name="Google Shape;17;p22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ookman Old Style"/>
              <a:buNone/>
            </a:pPr>
            <a:r>
              <a:rPr lang="en-US"/>
              <a:t>CSE 470 –Control Flow Graph (Path Based Testing )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11" name="Google Shape;1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Control Flow Graph: Introduction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An abstract representation of a structured program/function/method.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Consists of two major components: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Node</a:t>
            </a:r>
            <a:r>
              <a:rPr lang="en-US" sz="2200"/>
              <a:t>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stretch of sequential code statements with no branches.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i="1" lang="en-US" sz="2200"/>
              <a:t>Directed Edge</a:t>
            </a:r>
            <a:r>
              <a:rPr lang="en-US" sz="2200"/>
              <a:t> (also called </a:t>
            </a:r>
            <a:r>
              <a:rPr i="1" lang="en-US" sz="2200"/>
              <a:t>arc</a:t>
            </a:r>
            <a:r>
              <a:rPr lang="en-US" sz="2200"/>
              <a:t>):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Represents a branch, alternative path in execution.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Path: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 collection of </a:t>
            </a:r>
            <a:r>
              <a:rPr i="1" lang="en-US" sz="2200"/>
              <a:t>Nodes </a:t>
            </a:r>
            <a:r>
              <a:rPr lang="en-US" sz="2200"/>
              <a:t>linked with </a:t>
            </a:r>
            <a:r>
              <a:rPr i="1" lang="en-US" sz="2200"/>
              <a:t>Directed Edges.</a:t>
            </a:r>
            <a:endParaRPr sz="2200"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Notation Guide for CFG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457200" y="1066800"/>
            <a:ext cx="86868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CFG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entry arc (known as a directed edge, too).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All nodes should have: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entry arc.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At least 1 exit arc.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b="1" lang="en-US" sz="2600"/>
              <a:t>A Logical Node </a:t>
            </a:r>
            <a:r>
              <a:rPr lang="en-US" sz="2600"/>
              <a:t>that does not represent any actual statements</a:t>
            </a:r>
            <a:r>
              <a:rPr b="1" lang="en-US" sz="2600"/>
              <a:t> </a:t>
            </a:r>
            <a:r>
              <a:rPr lang="en-US" sz="2600"/>
              <a:t>can be added as a joining point for several incoming edges.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Represents a logical closure.</a:t>
            </a:r>
            <a:endParaRPr/>
          </a:p>
          <a:p>
            <a:pPr indent="-274319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Example: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/>
              <a:t>Node 4 in the 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if-then-else</a:t>
            </a:r>
            <a:r>
              <a:rPr i="1" lang="en-US"/>
              <a:t> </a:t>
            </a:r>
            <a:r>
              <a:rPr lang="en-US"/>
              <a:t>example in next slides</a:t>
            </a:r>
            <a:endParaRPr/>
          </a:p>
        </p:txBody>
      </p:sp>
      <p:sp>
        <p:nvSpPr>
          <p:cNvPr id="129" name="Google Shape;129;p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Simple Examples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990600" y="1828800"/>
            <a:ext cx="2286000" cy="12033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276600" y="1981200"/>
            <a:ext cx="228600" cy="914400"/>
          </a:xfrm>
          <a:prstGeom prst="rightBrace">
            <a:avLst>
              <a:gd fmla="val 33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3505200" y="1905000"/>
            <a:ext cx="1905000" cy="10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represented as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 as there is no branch.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6172200" y="1676400"/>
            <a:ext cx="1755775" cy="1825625"/>
            <a:chOff x="6172200" y="1676400"/>
            <a:chExt cx="1755775" cy="1825625"/>
          </a:xfrm>
        </p:grpSpPr>
        <p:sp>
          <p:nvSpPr>
            <p:cNvPr id="141" name="Google Shape;141;p4"/>
            <p:cNvSpPr/>
            <p:nvPr/>
          </p:nvSpPr>
          <p:spPr>
            <a:xfrm>
              <a:off x="6172200" y="1676400"/>
              <a:ext cx="1755775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781800" y="2286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43" name="Google Shape;143;p4"/>
            <p:cNvCxnSpPr/>
            <p:nvPr/>
          </p:nvCxnSpPr>
          <p:spPr>
            <a:xfrm>
              <a:off x="7086600" y="18288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44" name="Google Shape;144;p4"/>
            <p:cNvCxnSpPr/>
            <p:nvPr/>
          </p:nvCxnSpPr>
          <p:spPr>
            <a:xfrm>
              <a:off x="7086600" y="2743200"/>
              <a:ext cx="3175" cy="4667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45" name="Google Shape;145;p4"/>
            <p:cNvSpPr txBox="1"/>
            <p:nvPr/>
          </p:nvSpPr>
          <p:spPr>
            <a:xfrm>
              <a:off x="61722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" name="Google Shape;146;p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147" name="Google Shape;14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762000" y="1828800"/>
            <a:ext cx="2667000" cy="1293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&gt; 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else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429000" y="1905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36576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3429000" y="2209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3657600" y="2209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429000" y="27432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3657600" y="2667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4648200" y="1600200"/>
            <a:ext cx="3810000" cy="1874838"/>
            <a:chOff x="4648200" y="1600200"/>
            <a:chExt cx="3810000" cy="1874838"/>
          </a:xfrm>
        </p:grpSpPr>
        <p:sp>
          <p:nvSpPr>
            <p:cNvPr id="162" name="Google Shape;162;p5"/>
            <p:cNvSpPr/>
            <p:nvPr/>
          </p:nvSpPr>
          <p:spPr>
            <a:xfrm>
              <a:off x="4648200" y="16002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5"/>
            <p:cNvCxnSpPr/>
            <p:nvPr/>
          </p:nvCxnSpPr>
          <p:spPr>
            <a:xfrm>
              <a:off x="4800600" y="23622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4" name="Google Shape;164;p5"/>
            <p:cNvSpPr txBox="1"/>
            <p:nvPr/>
          </p:nvSpPr>
          <p:spPr>
            <a:xfrm>
              <a:off x="4800600" y="32004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5181600" y="21336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6248400" y="1828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7" name="Google Shape;167;p5"/>
            <p:cNvCxnSpPr/>
            <p:nvPr/>
          </p:nvCxnSpPr>
          <p:spPr>
            <a:xfrm flipH="1" rot="10800000">
              <a:off x="5715000" y="2057400"/>
              <a:ext cx="533400" cy="15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68" name="Google Shape;168;p5"/>
            <p:cNvSpPr/>
            <p:nvPr/>
          </p:nvSpPr>
          <p:spPr>
            <a:xfrm>
              <a:off x="6324600" y="26670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9" name="Google Shape;169;p5"/>
            <p:cNvCxnSpPr/>
            <p:nvPr/>
          </p:nvCxnSpPr>
          <p:spPr>
            <a:xfrm>
              <a:off x="5715000" y="2514600"/>
              <a:ext cx="609600" cy="38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0" name="Google Shape;170;p5"/>
            <p:cNvCxnSpPr/>
            <p:nvPr/>
          </p:nvCxnSpPr>
          <p:spPr>
            <a:xfrm>
              <a:off x="6858000" y="1981200"/>
              <a:ext cx="457200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71" name="Google Shape;171;p5"/>
            <p:cNvCxnSpPr/>
            <p:nvPr/>
          </p:nvCxnSpPr>
          <p:spPr>
            <a:xfrm flipH="1" rot="10800000">
              <a:off x="6934200" y="2667000"/>
              <a:ext cx="4572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72" name="Google Shape;172;p5"/>
            <p:cNvSpPr txBox="1"/>
            <p:nvPr/>
          </p:nvSpPr>
          <p:spPr>
            <a:xfrm>
              <a:off x="5867400" y="1828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"/>
            <p:cNvSpPr txBox="1"/>
            <p:nvPr/>
          </p:nvSpPr>
          <p:spPr>
            <a:xfrm>
              <a:off x="5791200" y="28194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7239000" y="22098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75" name="Google Shape;175;p5"/>
            <p:cNvCxnSpPr/>
            <p:nvPr/>
          </p:nvCxnSpPr>
          <p:spPr>
            <a:xfrm>
              <a:off x="7848600" y="24384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cxnSp>
        <p:nvCxnSpPr>
          <p:cNvPr id="176" name="Google Shape;176;p5"/>
          <p:cNvCxnSpPr/>
          <p:nvPr/>
        </p:nvCxnSpPr>
        <p:spPr>
          <a:xfrm>
            <a:off x="685800" y="3733800"/>
            <a:ext cx="80772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5"/>
          <p:cNvSpPr txBox="1"/>
          <p:nvPr/>
        </p:nvSpPr>
        <p:spPr>
          <a:xfrm>
            <a:off x="304800" y="5650202"/>
            <a:ext cx="47244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Question: Why is there a node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both CFGs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Answer: A logical node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38200" y="4343400"/>
            <a:ext cx="2667000" cy="1126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X &lt; 10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X++; }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3505200" y="4495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3719513" y="441642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505200" y="4800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3733800" y="475297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505200" y="5105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3733800" y="5105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5"/>
          <p:cNvGrpSpPr/>
          <p:nvPr/>
        </p:nvGrpSpPr>
        <p:grpSpPr>
          <a:xfrm>
            <a:off x="4648200" y="4038600"/>
            <a:ext cx="3810000" cy="1874838"/>
            <a:chOff x="4648200" y="4038600"/>
            <a:chExt cx="3810000" cy="1874838"/>
          </a:xfrm>
        </p:grpSpPr>
        <p:sp>
          <p:nvSpPr>
            <p:cNvPr id="186" name="Google Shape;186;p5"/>
            <p:cNvSpPr/>
            <p:nvPr/>
          </p:nvSpPr>
          <p:spPr>
            <a:xfrm>
              <a:off x="4648200" y="4038600"/>
              <a:ext cx="3810000" cy="1825625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5"/>
            <p:cNvCxnSpPr/>
            <p:nvPr/>
          </p:nvCxnSpPr>
          <p:spPr>
            <a:xfrm>
              <a:off x="4876800" y="4419600"/>
              <a:ext cx="1524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88" name="Google Shape;188;p5"/>
            <p:cNvSpPr txBox="1"/>
            <p:nvPr/>
          </p:nvSpPr>
          <p:spPr>
            <a:xfrm>
              <a:off x="4800600" y="5638800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5"/>
            <p:cNvSpPr/>
            <p:nvPr/>
          </p:nvSpPr>
          <p:spPr>
            <a:xfrm>
              <a:off x="48768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59436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1" name="Google Shape;191;p5"/>
            <p:cNvCxnSpPr/>
            <p:nvPr/>
          </p:nvCxnSpPr>
          <p:spPr>
            <a:xfrm>
              <a:off x="5486400" y="4876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2" name="Google Shape;192;p5"/>
            <p:cNvSpPr/>
            <p:nvPr/>
          </p:nvSpPr>
          <p:spPr>
            <a:xfrm>
              <a:off x="6858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5486400" y="4876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 txBox="1"/>
            <p:nvPr/>
          </p:nvSpPr>
          <p:spPr>
            <a:xfrm>
              <a:off x="5105400" y="4114800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7620000" y="4648200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96" name="Google Shape;196;p5"/>
            <p:cNvCxnSpPr/>
            <p:nvPr/>
          </p:nvCxnSpPr>
          <p:spPr>
            <a:xfrm>
              <a:off x="7924800" y="5105400"/>
              <a:ext cx="304800" cy="228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97" name="Google Shape;197;p5"/>
            <p:cNvCxnSpPr/>
            <p:nvPr/>
          </p:nvCxnSpPr>
          <p:spPr>
            <a:xfrm>
              <a:off x="6553200" y="4876800"/>
              <a:ext cx="304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8" name="Google Shape;198;p5"/>
            <p:cNvSpPr/>
            <p:nvPr/>
          </p:nvSpPr>
          <p:spPr>
            <a:xfrm>
              <a:off x="5170488" y="4267200"/>
              <a:ext cx="2982912" cy="381000"/>
            </a:xfrm>
            <a:custGeom>
              <a:rect b="b" l="l" r="r" t="t"/>
              <a:pathLst>
                <a:path extrusionOk="0" h="240" w="1776">
                  <a:moveTo>
                    <a:pt x="55" y="240"/>
                  </a:moveTo>
                  <a:cubicBezTo>
                    <a:pt x="27" y="160"/>
                    <a:pt x="0" y="83"/>
                    <a:pt x="247" y="48"/>
                  </a:cubicBezTo>
                  <a:cubicBezTo>
                    <a:pt x="494" y="13"/>
                    <a:pt x="1304" y="0"/>
                    <a:pt x="1540" y="30"/>
                  </a:cubicBezTo>
                  <a:cubicBezTo>
                    <a:pt x="1776" y="60"/>
                    <a:pt x="1640" y="187"/>
                    <a:pt x="1666" y="228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4860925" y="5105400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01" name="Google Shape;2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More Examples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849582" y="1676400"/>
            <a:ext cx="4814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10 ; i++){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b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3172691" y="143437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6"/>
          <p:cNvCxnSpPr/>
          <p:nvPr/>
        </p:nvCxnSpPr>
        <p:spPr>
          <a:xfrm>
            <a:off x="2819400" y="2105891"/>
            <a:ext cx="1295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6"/>
          <p:cNvCxnSpPr/>
          <p:nvPr/>
        </p:nvCxnSpPr>
        <p:spPr>
          <a:xfrm>
            <a:off x="4419600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6"/>
          <p:cNvSpPr txBox="1"/>
          <p:nvPr/>
        </p:nvSpPr>
        <p:spPr>
          <a:xfrm>
            <a:off x="4552950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256810" y="2142528"/>
            <a:ext cx="228600" cy="905471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4533900" y="2411906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5702877" y="1437624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6"/>
          <p:cNvCxnSpPr/>
          <p:nvPr/>
        </p:nvCxnSpPr>
        <p:spPr>
          <a:xfrm>
            <a:off x="5569527" y="2105891"/>
            <a:ext cx="6477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6"/>
          <p:cNvSpPr txBox="1"/>
          <p:nvPr/>
        </p:nvSpPr>
        <p:spPr>
          <a:xfrm>
            <a:off x="4571999" y="337638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75498" y="3434399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6"/>
          <p:cNvGrpSpPr/>
          <p:nvPr/>
        </p:nvGrpSpPr>
        <p:grpSpPr>
          <a:xfrm>
            <a:off x="1904999" y="3962400"/>
            <a:ext cx="5715001" cy="2114550"/>
            <a:chOff x="1904999" y="3962400"/>
            <a:chExt cx="5715001" cy="2114550"/>
          </a:xfrm>
        </p:grpSpPr>
        <p:sp>
          <p:nvSpPr>
            <p:cNvPr id="219" name="Google Shape;219;p6"/>
            <p:cNvSpPr/>
            <p:nvPr/>
          </p:nvSpPr>
          <p:spPr>
            <a:xfrm>
              <a:off x="1904999" y="3962400"/>
              <a:ext cx="5715001" cy="2065337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0" name="Google Shape;220;p6"/>
            <p:cNvCxnSpPr/>
            <p:nvPr/>
          </p:nvCxnSpPr>
          <p:spPr>
            <a:xfrm>
              <a:off x="3810000" y="5040312"/>
              <a:ext cx="438150" cy="476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1" name="Google Shape;221;p6"/>
            <p:cNvSpPr txBox="1"/>
            <p:nvPr/>
          </p:nvSpPr>
          <p:spPr>
            <a:xfrm>
              <a:off x="2057400" y="5802312"/>
              <a:ext cx="6096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"/>
            <p:cNvSpPr/>
            <p:nvPr/>
          </p:nvSpPr>
          <p:spPr>
            <a:xfrm>
              <a:off x="21336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3200400" y="4811712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4" name="Google Shape;224;p6"/>
            <p:cNvCxnSpPr/>
            <p:nvPr/>
          </p:nvCxnSpPr>
          <p:spPr>
            <a:xfrm>
              <a:off x="2743200" y="5040312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5" name="Google Shape;225;p6"/>
            <p:cNvSpPr/>
            <p:nvPr/>
          </p:nvSpPr>
          <p:spPr>
            <a:xfrm>
              <a:off x="4248150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389798" y="419460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5264727" y="4795837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28" name="Google Shape;228;p6"/>
            <p:cNvCxnSpPr/>
            <p:nvPr/>
          </p:nvCxnSpPr>
          <p:spPr>
            <a:xfrm flipH="1" rot="10800000">
              <a:off x="4857749" y="5042692"/>
              <a:ext cx="406977" cy="238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3363190" y="5278437"/>
              <a:ext cx="2609850" cy="458788"/>
            </a:xfrm>
            <a:custGeom>
              <a:rect b="b" l="l" r="r" t="t"/>
              <a:pathLst>
                <a:path extrusionOk="0" h="289" w="1644">
                  <a:moveTo>
                    <a:pt x="1450" y="0"/>
                  </a:moveTo>
                  <a:cubicBezTo>
                    <a:pt x="1448" y="41"/>
                    <a:pt x="1644" y="209"/>
                    <a:pt x="1438" y="249"/>
                  </a:cubicBezTo>
                  <a:cubicBezTo>
                    <a:pt x="1232" y="289"/>
                    <a:pt x="428" y="281"/>
                    <a:pt x="214" y="240"/>
                  </a:cubicBezTo>
                  <a:cubicBezTo>
                    <a:pt x="0" y="199"/>
                    <a:pt x="166" y="50"/>
                    <a:pt x="154" y="0"/>
                  </a:cubicBezTo>
                </a:path>
              </a:pathLst>
            </a:cu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3821762" y="5102656"/>
              <a:ext cx="457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5779077" y="4032681"/>
              <a:ext cx="609600" cy="466725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32" name="Google Shape;232;p6"/>
            <p:cNvCxnSpPr/>
            <p:nvPr/>
          </p:nvCxnSpPr>
          <p:spPr>
            <a:xfrm flipH="1" rot="10800000">
              <a:off x="3544164" y="4347006"/>
              <a:ext cx="2234913" cy="46470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3" name="Google Shape;233;p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5" name="Google Shape;235;p6"/>
          <p:cNvCxnSpPr/>
          <p:nvPr/>
        </p:nvCxnSpPr>
        <p:spPr>
          <a:xfrm flipH="1" rot="10800000">
            <a:off x="6395199" y="4253774"/>
            <a:ext cx="4071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6"/>
          <p:cNvCxnSpPr>
            <a:endCxn id="222" idx="0"/>
          </p:cNvCxnSpPr>
          <p:nvPr/>
        </p:nvCxnSpPr>
        <p:spPr>
          <a:xfrm flipH="1">
            <a:off x="2438400" y="4491612"/>
            <a:ext cx="15000" cy="32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7"/>
          <p:cNvSpPr/>
          <p:nvPr/>
        </p:nvSpPr>
        <p:spPr>
          <a:xfrm>
            <a:off x="4904509" y="1908175"/>
            <a:ext cx="3810000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Combined Examples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1028700" y="1752600"/>
            <a:ext cx="2667000" cy="2036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7850" lIns="95700" spcFirstLastPara="1" rIns="95700" wrap="square" tIns="47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Statement2;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if x &lt; 10 then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Statement3;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Statement4;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3695700" y="1828800"/>
            <a:ext cx="228600" cy="457200"/>
          </a:xfrm>
          <a:prstGeom prst="rightBrace">
            <a:avLst>
              <a:gd fmla="val 1666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 txBox="1"/>
          <p:nvPr/>
        </p:nvSpPr>
        <p:spPr>
          <a:xfrm>
            <a:off x="4000500" y="1828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3695700" y="25908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4000500" y="2514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36957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4000500" y="2895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695700" y="34290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 txBox="1"/>
          <p:nvPr/>
        </p:nvSpPr>
        <p:spPr>
          <a:xfrm>
            <a:off x="4000500" y="3429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5209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5014047" y="2093913"/>
            <a:ext cx="3048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5" name="Google Shape;255;p7"/>
          <p:cNvCxnSpPr/>
          <p:nvPr/>
        </p:nvCxnSpPr>
        <p:spPr>
          <a:xfrm>
            <a:off x="5818909" y="25939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7"/>
          <p:cNvSpPr txBox="1"/>
          <p:nvPr/>
        </p:nvSpPr>
        <p:spPr>
          <a:xfrm>
            <a:off x="4980709" y="3432175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352309" y="23653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7495309" y="20605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 flipH="1" rot="10800000">
            <a:off x="6934200" y="23749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7"/>
          <p:cNvSpPr/>
          <p:nvPr/>
        </p:nvSpPr>
        <p:spPr>
          <a:xfrm>
            <a:off x="7495309" y="305117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6885709" y="2822575"/>
            <a:ext cx="6096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2" name="Google Shape;262;p7"/>
          <p:cNvCxnSpPr/>
          <p:nvPr/>
        </p:nvCxnSpPr>
        <p:spPr>
          <a:xfrm>
            <a:off x="7800109" y="2517775"/>
            <a:ext cx="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3" name="Google Shape;263;p7"/>
          <p:cNvCxnSpPr/>
          <p:nvPr/>
        </p:nvCxnSpPr>
        <p:spPr>
          <a:xfrm>
            <a:off x="8104909" y="3279775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4" name="Google Shape;264;p7"/>
          <p:cNvSpPr txBox="1"/>
          <p:nvPr/>
        </p:nvSpPr>
        <p:spPr>
          <a:xfrm>
            <a:off x="7038109" y="20605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6961909" y="3051175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67" name="Google Shape;2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Number of Paths through CFG</a:t>
            </a:r>
            <a:endParaRPr/>
          </a:p>
        </p:txBody>
      </p:sp>
      <p:sp>
        <p:nvSpPr>
          <p:cNvPr id="274" name="Google Shape;274;p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Given a program, how do we exercise all statements and branches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Translating the program into a CFG, an equivalent question is: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how do we cover all arcs and nodes at least once?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/>
              <a:t>Since a path is a trail of nodes linked by arcs, this is similar to ask: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48"/>
              <a:buChar char="?"/>
            </a:pPr>
            <a:r>
              <a:rPr lang="en-US"/>
              <a:t>Given a CFG, what is the set of paths that can cover all arcs and nodes?</a:t>
            </a:r>
            <a:endParaRPr/>
          </a:p>
        </p:txBody>
      </p:sp>
      <p:sp>
        <p:nvSpPr>
          <p:cNvPr id="275" name="Google Shape;275;p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7912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914400" y="1676400"/>
            <a:ext cx="1755775" cy="1825625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1524000" y="22860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>
            <a:off x="1828800" y="18288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" name="Google Shape;286;p9"/>
          <p:cNvCxnSpPr/>
          <p:nvPr/>
        </p:nvCxnSpPr>
        <p:spPr>
          <a:xfrm>
            <a:off x="1828800" y="2743200"/>
            <a:ext cx="3175" cy="466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" name="Google Shape;287;p9"/>
          <p:cNvSpPr txBox="1"/>
          <p:nvPr/>
        </p:nvSpPr>
        <p:spPr>
          <a:xfrm>
            <a:off x="914400" y="32004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8" name="Google Shape;288;p9"/>
          <p:cNvGrpSpPr/>
          <p:nvPr/>
        </p:nvGrpSpPr>
        <p:grpSpPr>
          <a:xfrm>
            <a:off x="4419600" y="1676400"/>
            <a:ext cx="3810000" cy="1825625"/>
            <a:chOff x="3072" y="2544"/>
            <a:chExt cx="2400" cy="1150"/>
          </a:xfrm>
        </p:grpSpPr>
        <p:sp>
          <p:nvSpPr>
            <p:cNvPr id="289" name="Google Shape;289;p9"/>
            <p:cNvSpPr/>
            <p:nvPr/>
          </p:nvSpPr>
          <p:spPr>
            <a:xfrm>
              <a:off x="3072" y="2544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326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1" name="Google Shape;291;p9"/>
            <p:cNvCxnSpPr/>
            <p:nvPr/>
          </p:nvCxnSpPr>
          <p:spPr>
            <a:xfrm>
              <a:off x="3141" y="2661"/>
              <a:ext cx="192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2" name="Google Shape;292;p9"/>
            <p:cNvCxnSpPr/>
            <p:nvPr/>
          </p:nvCxnSpPr>
          <p:spPr>
            <a:xfrm>
              <a:off x="3648" y="2976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3" name="Google Shape;293;p9"/>
            <p:cNvSpPr txBox="1"/>
            <p:nvPr/>
          </p:nvSpPr>
          <p:spPr>
            <a:xfrm>
              <a:off x="3120" y="3504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3984" y="283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4704" y="264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6" name="Google Shape;296;p9"/>
            <p:cNvCxnSpPr/>
            <p:nvPr/>
          </p:nvCxnSpPr>
          <p:spPr>
            <a:xfrm flipH="1" rot="10800000">
              <a:off x="4320" y="2784"/>
              <a:ext cx="384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7" name="Google Shape;297;p9"/>
            <p:cNvSpPr/>
            <p:nvPr/>
          </p:nvSpPr>
          <p:spPr>
            <a:xfrm>
              <a:off x="4704" y="326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298" name="Google Shape;298;p9"/>
            <p:cNvCxnSpPr/>
            <p:nvPr/>
          </p:nvCxnSpPr>
          <p:spPr>
            <a:xfrm>
              <a:off x="4320" y="3120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99" name="Google Shape;299;p9"/>
            <p:cNvCxnSpPr/>
            <p:nvPr/>
          </p:nvCxnSpPr>
          <p:spPr>
            <a:xfrm>
              <a:off x="4896" y="2928"/>
              <a:ext cx="0" cy="33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00" name="Google Shape;300;p9"/>
            <p:cNvCxnSpPr/>
            <p:nvPr/>
          </p:nvCxnSpPr>
          <p:spPr>
            <a:xfrm>
              <a:off x="5088" y="3408"/>
              <a:ext cx="33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1" name="Google Shape;301;p9"/>
            <p:cNvSpPr txBox="1"/>
            <p:nvPr/>
          </p:nvSpPr>
          <p:spPr>
            <a:xfrm>
              <a:off x="4416" y="2640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 txBox="1"/>
            <p:nvPr/>
          </p:nvSpPr>
          <p:spPr>
            <a:xfrm>
              <a:off x="4368" y="32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9"/>
          <p:cNvSpPr txBox="1"/>
          <p:nvPr>
            <p:ph idx="1" type="body"/>
          </p:nvPr>
        </p:nvSpPr>
        <p:spPr>
          <a:xfrm>
            <a:off x="762000" y="3581400"/>
            <a:ext cx="3276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44"/>
              <a:buChar char="?"/>
            </a:pPr>
            <a:r>
              <a:rPr lang="en-US" sz="1900"/>
              <a:t>Only </a:t>
            </a:r>
            <a:r>
              <a:rPr b="1" lang="en-US" sz="1900"/>
              <a:t>one </a:t>
            </a:r>
            <a:r>
              <a:rPr lang="en-US" sz="1900"/>
              <a:t>path is needed: </a:t>
            </a:r>
            <a:endParaRPr/>
          </a:p>
          <a:p>
            <a:pPr indent="-274319" lvl="1" marL="54864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292"/>
              <a:buChar char="?"/>
            </a:pPr>
            <a:r>
              <a:rPr b="1" lang="en-US" sz="1700"/>
              <a:t>[ 1 ]</a:t>
            </a:r>
            <a:endParaRPr sz="1700"/>
          </a:p>
        </p:txBody>
      </p:sp>
      <p:grpSp>
        <p:nvGrpSpPr>
          <p:cNvPr id="304" name="Google Shape;304;p9"/>
          <p:cNvGrpSpPr/>
          <p:nvPr/>
        </p:nvGrpSpPr>
        <p:grpSpPr>
          <a:xfrm>
            <a:off x="838200" y="4419600"/>
            <a:ext cx="3810000" cy="1676400"/>
            <a:chOff x="3120" y="2496"/>
            <a:chExt cx="2400" cy="1150"/>
          </a:xfrm>
        </p:grpSpPr>
        <p:sp>
          <p:nvSpPr>
            <p:cNvPr id="305" name="Google Shape;305;p9"/>
            <p:cNvSpPr/>
            <p:nvPr/>
          </p:nvSpPr>
          <p:spPr>
            <a:xfrm>
              <a:off x="3120" y="2496"/>
              <a:ext cx="2400" cy="1150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06" name="Google Shape;306;p9"/>
            <p:cNvCxnSpPr/>
            <p:nvPr/>
          </p:nvCxnSpPr>
          <p:spPr>
            <a:xfrm>
              <a:off x="3216" y="2928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07" name="Google Shape;307;p9"/>
            <p:cNvSpPr txBox="1"/>
            <p:nvPr/>
          </p:nvSpPr>
          <p:spPr>
            <a:xfrm>
              <a:off x="3216" y="3457"/>
              <a:ext cx="384" cy="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3456" y="2784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4128" y="2592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0" name="Google Shape;310;p9"/>
            <p:cNvCxnSpPr/>
            <p:nvPr/>
          </p:nvCxnSpPr>
          <p:spPr>
            <a:xfrm flipH="1" rot="10800000">
              <a:off x="3792" y="2736"/>
              <a:ext cx="336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1" name="Google Shape;311;p9"/>
            <p:cNvSpPr/>
            <p:nvPr/>
          </p:nvSpPr>
          <p:spPr>
            <a:xfrm>
              <a:off x="4176" y="3120"/>
              <a:ext cx="384" cy="294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2" name="Google Shape;312;p9"/>
            <p:cNvCxnSpPr/>
            <p:nvPr/>
          </p:nvCxnSpPr>
          <p:spPr>
            <a:xfrm>
              <a:off x="3792" y="3024"/>
              <a:ext cx="384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3" name="Google Shape;313;p9"/>
            <p:cNvCxnSpPr/>
            <p:nvPr/>
          </p:nvCxnSpPr>
          <p:spPr>
            <a:xfrm>
              <a:off x="4512" y="2688"/>
              <a:ext cx="288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4" name="Google Shape;314;p9"/>
            <p:cNvCxnSpPr/>
            <p:nvPr/>
          </p:nvCxnSpPr>
          <p:spPr>
            <a:xfrm flipH="1" rot="10800000">
              <a:off x="4560" y="3120"/>
              <a:ext cx="288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15" name="Google Shape;315;p9"/>
            <p:cNvSpPr txBox="1"/>
            <p:nvPr/>
          </p:nvSpPr>
          <p:spPr>
            <a:xfrm>
              <a:off x="3888" y="2592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 txBox="1"/>
            <p:nvPr/>
          </p:nvSpPr>
          <p:spPr>
            <a:xfrm>
              <a:off x="3840" y="3216"/>
              <a:ext cx="288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4752" y="2832"/>
              <a:ext cx="300" cy="300"/>
            </a:xfrm>
            <a:prstGeom prst="ellipse">
              <a:avLst/>
            </a:prstGeom>
            <a:solidFill>
              <a:srgbClr val="00FF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18" name="Google Shape;318;p9"/>
            <p:cNvCxnSpPr/>
            <p:nvPr/>
          </p:nvCxnSpPr>
          <p:spPr>
            <a:xfrm>
              <a:off x="5136" y="2976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19" name="Google Shape;319;p9"/>
          <p:cNvSpPr/>
          <p:nvPr/>
        </p:nvSpPr>
        <p:spPr>
          <a:xfrm>
            <a:off x="4800600" y="3505200"/>
            <a:ext cx="3429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724400" y="4953000"/>
            <a:ext cx="3048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35"/>
              <a:buFont typeface="Noto Sans Symbols"/>
              <a:buChar char="■"/>
            </a:pPr>
            <a:r>
              <a:rPr b="1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</a:t>
            </a:r>
            <a:r>
              <a:rPr b="0" i="0" lang="en-U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paths are needed: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2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5438" lvl="1" marL="669925" marR="0" rtl="0" algn="l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Clr>
                <a:schemeClr val="accent2"/>
              </a:buClr>
              <a:buSzPts val="1020"/>
              <a:buFont typeface="Noto Sans Symbols"/>
              <a:buChar char="❑"/>
            </a:pPr>
            <a:r>
              <a:rPr b="1" i="0" lang="en-US" sz="1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[ 1 – 3 – 4 ]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9"/>
          <p:cNvCxnSpPr/>
          <p:nvPr/>
        </p:nvCxnSpPr>
        <p:spPr>
          <a:xfrm>
            <a:off x="609600" y="4343400"/>
            <a:ext cx="8153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9"/>
          <p:cNvCxnSpPr/>
          <p:nvPr/>
        </p:nvCxnSpPr>
        <p:spPr>
          <a:xfrm>
            <a:off x="4114800" y="1524000"/>
            <a:ext cx="0" cy="2743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24" name="Google Shape;3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White Box Testing: Path Based</a:t>
            </a:r>
            <a:endParaRPr/>
          </a:p>
        </p:txBody>
      </p:sp>
      <p:sp>
        <p:nvSpPr>
          <p:cNvPr id="331" name="Google Shape;331;p10"/>
          <p:cNvSpPr txBox="1"/>
          <p:nvPr>
            <p:ph idx="1" type="body"/>
          </p:nvPr>
        </p:nvSpPr>
        <p:spPr>
          <a:xfrm>
            <a:off x="457200" y="1295400"/>
            <a:ext cx="84582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53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A generalized technique to find out the number of paths needed (known as </a:t>
            </a:r>
            <a:r>
              <a:rPr i="1" lang="en-US" sz="2600"/>
              <a:t>cyclomatic complexity</a:t>
            </a:r>
            <a:r>
              <a:rPr lang="en-US" sz="2600"/>
              <a:t>) to cover all arcs and nodes in CFG.</a:t>
            </a:r>
            <a:endParaRPr/>
          </a:p>
          <a:p>
            <a:pPr indent="-533400" lvl="0" marL="533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Steps: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Draw the CFG for the code fragment.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Compute the </a:t>
            </a:r>
            <a:r>
              <a:rPr i="1" lang="en-US" sz="2200"/>
              <a:t>cyclomatic complexity number </a:t>
            </a:r>
            <a:r>
              <a:rPr b="1" i="1" lang="en-US" sz="2200"/>
              <a:t>C</a:t>
            </a:r>
            <a:r>
              <a:rPr lang="en-US" sz="2200"/>
              <a:t>, for the CFG.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Find at most </a:t>
            </a:r>
            <a:r>
              <a:rPr b="1" i="1" lang="en-US" sz="2200"/>
              <a:t>C </a:t>
            </a:r>
            <a:r>
              <a:rPr lang="en-US" sz="2200"/>
              <a:t>paths that cover the nodes and arcs in a CFG, also known as </a:t>
            </a:r>
            <a:r>
              <a:rPr b="1" lang="en-US" sz="2200"/>
              <a:t>Basic Paths Set;</a:t>
            </a:r>
            <a:endParaRPr/>
          </a:p>
          <a:p>
            <a:pPr indent="-495300" lvl="1" marL="9525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72"/>
              <a:buFont typeface="Noto Sans Symbols"/>
              <a:buAutoNum type="arabicPeriod"/>
            </a:pPr>
            <a:r>
              <a:rPr lang="en-US" sz="2200"/>
              <a:t>Design test cases to force execution along paths in the </a:t>
            </a:r>
            <a:r>
              <a:rPr b="1" lang="en-US" sz="2200"/>
              <a:t>Basic Paths Set.</a:t>
            </a:r>
            <a:endParaRPr sz="2200"/>
          </a:p>
        </p:txBody>
      </p:sp>
      <p:sp>
        <p:nvSpPr>
          <p:cNvPr id="332" name="Google Shape;332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33" name="Google Shape;3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Based Testing: Step 1</a:t>
            </a:r>
            <a:endParaRPr/>
          </a:p>
        </p:txBody>
      </p:sp>
      <p:sp>
        <p:nvSpPr>
          <p:cNvPr id="340" name="Google Shape;340;p11"/>
          <p:cNvSpPr txBox="1"/>
          <p:nvPr/>
        </p:nvSpPr>
        <p:spPr>
          <a:xfrm>
            <a:off x="685800" y="2133600"/>
            <a:ext cx="3352800" cy="3121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	min = A[i];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 = i + 1;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0" i="0" sz="1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4038600" y="22860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 txBox="1"/>
          <p:nvPr/>
        </p:nvSpPr>
        <p:spPr>
          <a:xfrm>
            <a:off x="4267200" y="2362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4038600" y="3200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 txBox="1"/>
          <p:nvPr/>
        </p:nvSpPr>
        <p:spPr>
          <a:xfrm>
            <a:off x="4267200" y="3124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038600" y="35814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/>
        </p:nvSpPr>
        <p:spPr>
          <a:xfrm>
            <a:off x="42672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0386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42672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4038600" y="42672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 txBox="1"/>
          <p:nvPr/>
        </p:nvSpPr>
        <p:spPr>
          <a:xfrm>
            <a:off x="4267200" y="41910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4038600" y="48768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4267200" y="4800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4838700" y="1527625"/>
            <a:ext cx="3810000" cy="4568700"/>
          </a:xfrm>
          <a:prstGeom prst="rect">
            <a:avLst/>
          </a:prstGeom>
          <a:solidFill>
            <a:srgbClr val="CCFFCC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11"/>
          <p:cNvCxnSpPr/>
          <p:nvPr/>
        </p:nvCxnSpPr>
        <p:spPr>
          <a:xfrm>
            <a:off x="6400800" y="1600200"/>
            <a:ext cx="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5" name="Google Shape;355;p11"/>
          <p:cNvSpPr txBox="1"/>
          <p:nvPr/>
        </p:nvSpPr>
        <p:spPr>
          <a:xfrm>
            <a:off x="6553200" y="5715000"/>
            <a:ext cx="6096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CFG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096000" y="2057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096000" y="28194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8" name="Google Shape;358;p11"/>
          <p:cNvCxnSpPr/>
          <p:nvPr/>
        </p:nvCxnSpPr>
        <p:spPr>
          <a:xfrm>
            <a:off x="6400800" y="2514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" name="Google Shape;359;p11"/>
          <p:cNvSpPr/>
          <p:nvPr/>
        </p:nvSpPr>
        <p:spPr>
          <a:xfrm>
            <a:off x="6858000" y="35052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11"/>
          <p:cNvSpPr txBox="1"/>
          <p:nvPr/>
        </p:nvSpPr>
        <p:spPr>
          <a:xfrm>
            <a:off x="6858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715000" y="32004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620000" y="4221307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63" name="Google Shape;363;p11"/>
          <p:cNvCxnSpPr/>
          <p:nvPr/>
        </p:nvCxnSpPr>
        <p:spPr>
          <a:xfrm>
            <a:off x="6705600" y="3124200"/>
            <a:ext cx="338138" cy="3952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11"/>
          <p:cNvCxnSpPr/>
          <p:nvPr/>
        </p:nvCxnSpPr>
        <p:spPr>
          <a:xfrm flipH="1">
            <a:off x="6553200" y="3962400"/>
            <a:ext cx="45720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5" name="Google Shape;365;p11"/>
          <p:cNvSpPr/>
          <p:nvPr/>
        </p:nvSpPr>
        <p:spPr>
          <a:xfrm>
            <a:off x="6195796" y="4269365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5181600" y="4800600"/>
            <a:ext cx="609600" cy="466725"/>
          </a:xfrm>
          <a:prstGeom prst="ellipse">
            <a:avLst/>
          </a:prstGeom>
          <a:solidFill>
            <a:srgbClr val="00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850" lIns="95700" spcFirstLastPara="1" rIns="95700" wrap="square" tIns="47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endParaRPr b="0" i="0" sz="25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7391400" y="3886200"/>
            <a:ext cx="45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11"/>
          <p:cNvCxnSpPr/>
          <p:nvPr/>
        </p:nvCxnSpPr>
        <p:spPr>
          <a:xfrm>
            <a:off x="7315200" y="3962399"/>
            <a:ext cx="533400" cy="30696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11"/>
          <p:cNvSpPr txBox="1"/>
          <p:nvPr/>
        </p:nvSpPr>
        <p:spPr>
          <a:xfrm>
            <a:off x="6515096" y="3742038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11"/>
          <p:cNvCxnSpPr/>
          <p:nvPr/>
        </p:nvCxnSpPr>
        <p:spPr>
          <a:xfrm flipH="1">
            <a:off x="5486400" y="3200400"/>
            <a:ext cx="6858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11"/>
          <p:cNvCxnSpPr/>
          <p:nvPr/>
        </p:nvCxnSpPr>
        <p:spPr>
          <a:xfrm>
            <a:off x="5486400" y="52578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11"/>
          <p:cNvCxnSpPr/>
          <p:nvPr/>
        </p:nvCxnSpPr>
        <p:spPr>
          <a:xfrm rot="10800000">
            <a:off x="6805395" y="4495800"/>
            <a:ext cx="814603" cy="69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1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11"/>
          <p:cNvCxnSpPr>
            <a:stCxn id="365" idx="1"/>
            <a:endCxn id="357" idx="4"/>
          </p:cNvCxnSpPr>
          <p:nvPr/>
        </p:nvCxnSpPr>
        <p:spPr>
          <a:xfrm flipH="1" rot="10800000">
            <a:off x="6285070" y="3286215"/>
            <a:ext cx="115800" cy="1051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381" name="Google Shape;381;p12"/>
          <p:cNvSpPr txBox="1"/>
          <p:nvPr/>
        </p:nvSpPr>
        <p:spPr>
          <a:xfrm>
            <a:off x="609600" y="1219200"/>
            <a:ext cx="7747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 The complexity M is then defined as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R + 1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regions in the graph.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   The complexity M is then defined as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  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P + 1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where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predicate nodes in the graph.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3.   The complexity M is then defined as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24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			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M = E − N + 2P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,where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edges of the graph.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nodes of the graph.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520"/>
              <a:buFont typeface="Tahoma"/>
              <a:buChar char="🞂"/>
            </a:pPr>
            <a:r>
              <a:rPr b="0" i="1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= the number of connected components. </a:t>
            </a:r>
            <a:endParaRPr b="0" i="0" sz="1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48844" lvl="0" marL="27432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82" name="Google Shape;382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383" name="Google Shape;38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390" name="Google Shape;390;p13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391" name="Google Shape;391;p13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2" name="Google Shape;392;p13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3" name="Google Shape;393;p13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3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5" name="Google Shape;395;p13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396" name="Google Shape;396;p13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397" name="Google Shape;397;p13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398" name="Google Shape;398;p13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3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3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01" name="Google Shape;401;p13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2" name="Google Shape;402;p13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3" name="Google Shape;403;p13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4" name="Google Shape;404;p13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05" name="Google Shape;405;p13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6" name="Google Shape;406;p13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07" name="Google Shape;407;p13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8" name="Google Shape;408;p13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09" name="Google Shape;409;p13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0" name="Google Shape;410;p13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11" name="Google Shape;411;p13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12" name="Google Shape;412;p13"/>
          <p:cNvSpPr txBox="1"/>
          <p:nvPr>
            <p:ph idx="1" type="body"/>
          </p:nvPr>
        </p:nvSpPr>
        <p:spPr>
          <a:xfrm>
            <a:off x="4213325" y="2768150"/>
            <a:ext cx="5029200" cy="51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 sz="2400"/>
          </a:p>
          <a:p>
            <a:pPr indent="-339852" lvl="1" marL="54864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?"/>
            </a:pPr>
            <a:r>
              <a:rPr b="1" lang="en-US" sz="2400">
                <a:solidFill>
                  <a:srgbClr val="0070C0"/>
                </a:solidFill>
              </a:rPr>
              <a:t>M = R + 1</a:t>
            </a:r>
            <a:endParaRPr sz="2400">
              <a:solidFill>
                <a:schemeClr val="dk1"/>
              </a:solidFill>
            </a:endParaRPr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</a:t>
            </a:r>
            <a:endParaRPr/>
          </a:p>
        </p:txBody>
      </p:sp>
      <p:sp>
        <p:nvSpPr>
          <p:cNvPr id="413" name="Google Shape;413;p13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14" name="Google Shape;4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sp>
        <p:nvSpPr>
          <p:cNvPr id="421" name="Google Shape;421;p14"/>
          <p:cNvSpPr txBox="1"/>
          <p:nvPr>
            <p:ph idx="1" type="body"/>
          </p:nvPr>
        </p:nvSpPr>
        <p:spPr>
          <a:xfrm>
            <a:off x="4682836" y="26289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Cyclomatic complexity, M = 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‘regions’ in the graph( R )  + 1</a:t>
            </a:r>
            <a:endParaRPr/>
          </a:p>
          <a:p>
            <a:pPr indent="-274319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 = 2 +1 = 3</a:t>
            </a:r>
            <a:endParaRPr/>
          </a:p>
        </p:txBody>
      </p:sp>
      <p:grpSp>
        <p:nvGrpSpPr>
          <p:cNvPr id="422" name="Google Shape;422;p14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23" name="Google Shape;423;p14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4" name="Google Shape;424;p14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5" name="Google Shape;425;p14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4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28" name="Google Shape;428;p14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29" name="Google Shape;429;p14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0" name="Google Shape;430;p14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4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33" name="Google Shape;433;p14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34" name="Google Shape;434;p14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5" name="Google Shape;435;p14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37" name="Google Shape;437;p14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8" name="Google Shape;438;p14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39" name="Google Shape;439;p14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0" name="Google Shape;440;p14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1" name="Google Shape;441;p14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2" name="Google Shape;442;p14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43" name="Google Shape;443;p14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44" name="Google Shape;444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45" name="Google Shape;4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 txBox="1"/>
          <p:nvPr/>
        </p:nvSpPr>
        <p:spPr>
          <a:xfrm>
            <a:off x="2480550" y="3526475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R1</a:t>
            </a:r>
            <a:endParaRPr b="1" i="0" sz="17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3008300" y="4020300"/>
            <a:ext cx="525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R2</a:t>
            </a:r>
            <a:endParaRPr b="1" i="0" sz="1700" u="none" cap="none" strike="noStrike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54" name="Google Shape;454;p15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455" name="Google Shape;455;p15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6" name="Google Shape;456;p15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57" name="Google Shape;457;p15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5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59" name="Google Shape;459;p15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0" name="Google Shape;460;p15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1" name="Google Shape;461;p15"/>
            <p:cNvSpPr/>
            <p:nvPr/>
          </p:nvSpPr>
          <p:spPr>
            <a:xfrm>
              <a:off x="4416" y="2256"/>
              <a:ext cx="300" cy="300"/>
            </a:xfrm>
            <a:prstGeom prst="ellipse">
              <a:avLst/>
            </a:prstGeom>
            <a:solidFill>
              <a:srgbClr val="339966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2" name="Google Shape;462;p15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5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5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465" name="Google Shape;465;p15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66" name="Google Shape;466;p15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67" name="Google Shape;467;p15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69" name="Google Shape;469;p15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0" name="Google Shape;470;p15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71" name="Google Shape;471;p15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2" name="Google Shape;472;p15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3" name="Google Shape;473;p15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4" name="Google Shape;474;p15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475" name="Google Shape;475;p15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476" name="Google Shape;476;p15"/>
          <p:cNvSpPr txBox="1"/>
          <p:nvPr>
            <p:ph idx="1" type="body"/>
          </p:nvPr>
        </p:nvSpPr>
        <p:spPr>
          <a:xfrm>
            <a:off x="4800600" y="1752600"/>
            <a:ext cx="3962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M = Number of ‘predicate’ node (P) + 1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96"/>
              <a:buChar char="?"/>
            </a:pPr>
            <a:r>
              <a:rPr lang="en-US" sz="21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Predicates, P = 2 </a:t>
            </a:r>
            <a:endParaRPr/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Char char="?"/>
            </a:pPr>
            <a:r>
              <a:rPr lang="en-US" sz="1800"/>
              <a:t>(Node 2 and 3)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/>
              <a:t>Cyclomatic Complexity, M 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	= 2 + 1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Noto Sans Symbols"/>
              <a:buNone/>
            </a:pPr>
            <a:r>
              <a:rPr lang="en-US" sz="2000"/>
              <a:t>    = 3</a:t>
            </a:r>
            <a:endParaRPr sz="2200"/>
          </a:p>
        </p:txBody>
      </p:sp>
      <p:sp>
        <p:nvSpPr>
          <p:cNvPr id="477" name="Google Shape;477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pic>
        <p:nvPicPr>
          <p:cNvPr id="484" name="Google Shape;48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828800"/>
            <a:ext cx="6019800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16"/>
          <p:cNvSpPr txBox="1"/>
          <p:nvPr/>
        </p:nvSpPr>
        <p:spPr>
          <a:xfrm>
            <a:off x="2667000" y="1288473"/>
            <a:ext cx="3548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Connected Components in a Graph</a:t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6" name="Google Shape;486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487" name="Google Shape;4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2</a:t>
            </a:r>
            <a:endParaRPr/>
          </a:p>
        </p:txBody>
      </p:sp>
      <p:grpSp>
        <p:nvGrpSpPr>
          <p:cNvPr id="494" name="Google Shape;494;p17"/>
          <p:cNvGrpSpPr/>
          <p:nvPr/>
        </p:nvGrpSpPr>
        <p:grpSpPr>
          <a:xfrm>
            <a:off x="457200" y="1600200"/>
            <a:ext cx="3581400" cy="4416425"/>
            <a:chOff x="3072" y="1056"/>
            <a:chExt cx="2400" cy="2782"/>
          </a:xfrm>
        </p:grpSpPr>
        <p:sp>
          <p:nvSpPr>
            <p:cNvPr id="495" name="Google Shape;495;p17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6" name="Google Shape;496;p17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497" name="Google Shape;497;p17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7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499" name="Google Shape;499;p17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0" name="Google Shape;500;p17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1" name="Google Shape;501;p17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2" name="Google Shape;502;p17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05" name="Google Shape;505;p17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06" name="Google Shape;506;p17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07" name="Google Shape;507;p17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09" name="Google Shape;509;p17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0" name="Google Shape;510;p17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11" name="Google Shape;511;p17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12" name="Google Shape;512;p17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3" name="Google Shape;513;p17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4" name="Google Shape;514;p17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15" name="Google Shape;515;p17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16" name="Google Shape;516;p17"/>
          <p:cNvSpPr txBox="1"/>
          <p:nvPr>
            <p:ph idx="1" type="body"/>
          </p:nvPr>
        </p:nvSpPr>
        <p:spPr>
          <a:xfrm>
            <a:off x="4114800" y="2590800"/>
            <a:ext cx="50292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6000"/>
              <a:buChar char="?"/>
            </a:pPr>
            <a:r>
              <a:rPr lang="en-US" sz="2600"/>
              <a:t>Cyclomatic complexity, M = </a:t>
            </a:r>
            <a:r>
              <a:rPr b="1" lang="en-US" sz="2400">
                <a:solidFill>
                  <a:srgbClr val="0070C0"/>
                </a:solidFill>
              </a:rPr>
              <a:t>E − N + 2P</a:t>
            </a:r>
            <a:r>
              <a:rPr lang="en-US" sz="2400"/>
              <a:t>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E, edges = 7 (exclude: entry, exit arc)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N, nodes = 6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P, connected components = 1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7 – 6 + (2x1)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76000"/>
              <a:buChar char="?"/>
            </a:pPr>
            <a:r>
              <a:rPr lang="en-US" sz="2400"/>
              <a:t>= 3</a:t>
            </a:r>
            <a:endParaRPr/>
          </a:p>
        </p:txBody>
      </p:sp>
      <p:sp>
        <p:nvSpPr>
          <p:cNvPr id="517" name="Google Shape;517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18" name="Google Shape;5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sp>
        <p:nvSpPr>
          <p:cNvPr id="525" name="Google Shape;525;p18"/>
          <p:cNvSpPr txBox="1"/>
          <p:nvPr>
            <p:ph idx="1" type="body"/>
          </p:nvPr>
        </p:nvSpPr>
        <p:spPr>
          <a:xfrm>
            <a:off x="457200" y="1143000"/>
            <a:ext cx="8686800" cy="4987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Independent path: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An </a:t>
            </a:r>
            <a:r>
              <a:rPr b="1" lang="en-US" sz="2200"/>
              <a:t>executable </a:t>
            </a:r>
            <a:r>
              <a:rPr lang="en-US" sz="2200"/>
              <a:t>or</a:t>
            </a:r>
            <a:r>
              <a:rPr b="1" lang="en-US" sz="2200"/>
              <a:t> realizable path</a:t>
            </a:r>
            <a:r>
              <a:rPr lang="en-US" sz="2200"/>
              <a:t> through the graph from the start node to the end node that has not been traversed before.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b="1" lang="en-US" sz="2200"/>
              <a:t>Must </a:t>
            </a:r>
            <a:r>
              <a:rPr lang="en-US" sz="2200"/>
              <a:t>move along </a:t>
            </a:r>
            <a:r>
              <a:rPr b="1" lang="en-US" sz="2200"/>
              <a:t>at least one arc</a:t>
            </a:r>
            <a:r>
              <a:rPr lang="en-US" sz="2200"/>
              <a:t> that has not been yet traversed (an unvisited arc).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72"/>
              <a:buChar char="?"/>
            </a:pPr>
            <a:r>
              <a:rPr lang="en-US" sz="2200"/>
              <a:t>The objective is to cover all statements in a program by independent paths.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number of independent paths to discover &lt;= </a:t>
            </a:r>
            <a:r>
              <a:rPr lang="en-US"/>
              <a:t>C</a:t>
            </a:r>
            <a:r>
              <a:rPr lang="en-US" sz="2600"/>
              <a:t>yclomatic complexity number</a:t>
            </a:r>
            <a:r>
              <a:rPr lang="en-US"/>
              <a:t>, M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Char char="?"/>
            </a:pPr>
            <a:r>
              <a:rPr lang="en-US" sz="2600"/>
              <a:t>The set of Independent paths is called </a:t>
            </a:r>
            <a:r>
              <a:rPr b="1" lang="en-US" sz="2600"/>
              <a:t>Basic Path Set</a:t>
            </a:r>
            <a:endParaRPr/>
          </a:p>
          <a:p>
            <a:pPr indent="-148844" lvl="0" marL="27432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 sz="2600"/>
          </a:p>
        </p:txBody>
      </p:sp>
      <p:sp>
        <p:nvSpPr>
          <p:cNvPr id="526" name="Google Shape;526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27" name="Google Shape;5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9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33" name="Google Shape;533;p19"/>
          <p:cNvSpPr txBox="1"/>
          <p:nvPr>
            <p:ph idx="1" type="body"/>
          </p:nvPr>
        </p:nvSpPr>
        <p:spPr>
          <a:xfrm>
            <a:off x="381000" y="2590800"/>
            <a:ext cx="8763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M = Regions + 1 = 2 + 1 = 3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1-2-3-5 can be the first independent path; 1-2-4-5 is another; 1-2-3-5-2-4-5 is one more.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Alternatively, if we had identified 1-2-3-5-2-4-5 as the first independent path, there would be no more independent paths. 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The number of independent paths therefore can vary according to the order we identify them. </a:t>
            </a:r>
            <a:endParaRPr/>
          </a:p>
          <a:p>
            <a:pPr indent="-148844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19"/>
          <p:cNvPicPr preferRelativeResize="0"/>
          <p:nvPr/>
        </p:nvPicPr>
        <p:blipFill rotWithShape="1">
          <a:blip r:embed="rId3">
            <a:alphaModFix/>
          </a:blip>
          <a:srcRect b="21094" l="25999" r="34500" t="57031"/>
          <a:stretch/>
        </p:blipFill>
        <p:spPr>
          <a:xfrm>
            <a:off x="2895600" y="533400"/>
            <a:ext cx="60198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37" name="Google Shape;53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3</a:t>
            </a:r>
            <a:endParaRPr/>
          </a:p>
        </p:txBody>
      </p:sp>
      <p:grpSp>
        <p:nvGrpSpPr>
          <p:cNvPr id="544" name="Google Shape;544;p20"/>
          <p:cNvGrpSpPr/>
          <p:nvPr/>
        </p:nvGrpSpPr>
        <p:grpSpPr>
          <a:xfrm>
            <a:off x="838200" y="1676400"/>
            <a:ext cx="3810000" cy="4416425"/>
            <a:chOff x="3072" y="1056"/>
            <a:chExt cx="2400" cy="2782"/>
          </a:xfrm>
        </p:grpSpPr>
        <p:sp>
          <p:nvSpPr>
            <p:cNvPr id="545" name="Google Shape;545;p20"/>
            <p:cNvSpPr/>
            <p:nvPr/>
          </p:nvSpPr>
          <p:spPr>
            <a:xfrm>
              <a:off x="3072" y="1056"/>
              <a:ext cx="2400" cy="2782"/>
            </a:xfrm>
            <a:prstGeom prst="rect">
              <a:avLst/>
            </a:prstGeom>
            <a:solidFill>
              <a:srgbClr val="CC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6" name="Google Shape;546;p20"/>
            <p:cNvCxnSpPr/>
            <p:nvPr/>
          </p:nvCxnSpPr>
          <p:spPr>
            <a:xfrm>
              <a:off x="4080" y="1104"/>
              <a:ext cx="0" cy="2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47" name="Google Shape;547;p20"/>
            <p:cNvSpPr txBox="1"/>
            <p:nvPr/>
          </p:nvSpPr>
          <p:spPr>
            <a:xfrm>
              <a:off x="4176" y="3648"/>
              <a:ext cx="384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CFG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3888" y="134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3888" y="1824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0" name="Google Shape;550;p20"/>
            <p:cNvCxnSpPr/>
            <p:nvPr/>
          </p:nvCxnSpPr>
          <p:spPr>
            <a:xfrm>
              <a:off x="4080" y="1632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1" name="Google Shape;551;p20"/>
            <p:cNvSpPr/>
            <p:nvPr/>
          </p:nvSpPr>
          <p:spPr>
            <a:xfrm>
              <a:off x="4368" y="2256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3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2" name="Google Shape;552;p20"/>
            <p:cNvSpPr txBox="1"/>
            <p:nvPr/>
          </p:nvSpPr>
          <p:spPr>
            <a:xfrm>
              <a:off x="436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0"/>
            <p:cNvSpPr txBox="1"/>
            <p:nvPr/>
          </p:nvSpPr>
          <p:spPr>
            <a:xfrm>
              <a:off x="3648" y="2064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4752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4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555" name="Google Shape;555;p20"/>
            <p:cNvCxnSpPr/>
            <p:nvPr/>
          </p:nvCxnSpPr>
          <p:spPr>
            <a:xfrm>
              <a:off x="4272" y="2016"/>
              <a:ext cx="213" cy="24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56" name="Google Shape;556;p20"/>
            <p:cNvCxnSpPr/>
            <p:nvPr/>
          </p:nvCxnSpPr>
          <p:spPr>
            <a:xfrm flipH="1">
              <a:off x="4272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57" name="Google Shape;557;p20"/>
            <p:cNvSpPr/>
            <p:nvPr/>
          </p:nvSpPr>
          <p:spPr>
            <a:xfrm>
              <a:off x="4080" y="2688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8" name="Google Shape;558;p20"/>
            <p:cNvSpPr/>
            <p:nvPr/>
          </p:nvSpPr>
          <p:spPr>
            <a:xfrm>
              <a:off x="3312" y="3072"/>
              <a:ext cx="384" cy="294"/>
            </a:xfrm>
            <a:prstGeom prst="ellipse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7850" lIns="95700" spcFirstLastPara="1" rIns="95700" wrap="square" tIns="478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1" i="0" lang="en-US" sz="2500" u="none" cap="none" strike="noStrike">
                  <a:solidFill>
                    <a:schemeClr val="dk1"/>
                  </a:solidFill>
                  <a:latin typeface="Times"/>
                  <a:ea typeface="Times"/>
                  <a:cs typeface="Times"/>
                  <a:sym typeface="Times"/>
                </a:rPr>
                <a:t>6</a:t>
              </a:r>
              <a:endParaRPr b="0" i="0" sz="25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559" name="Google Shape;559;p20"/>
            <p:cNvSpPr txBox="1"/>
            <p:nvPr/>
          </p:nvSpPr>
          <p:spPr>
            <a:xfrm>
              <a:off x="4704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0" name="Google Shape;560;p20"/>
            <p:cNvCxnSpPr/>
            <p:nvPr/>
          </p:nvCxnSpPr>
          <p:spPr>
            <a:xfrm>
              <a:off x="4656" y="2544"/>
              <a:ext cx="192" cy="14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561" name="Google Shape;561;p20"/>
            <p:cNvSpPr txBox="1"/>
            <p:nvPr/>
          </p:nvSpPr>
          <p:spPr>
            <a:xfrm>
              <a:off x="4128" y="2496"/>
              <a:ext cx="288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2" name="Google Shape;562;p20"/>
            <p:cNvCxnSpPr/>
            <p:nvPr/>
          </p:nvCxnSpPr>
          <p:spPr>
            <a:xfrm flipH="1">
              <a:off x="3504" y="2064"/>
              <a:ext cx="432" cy="100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3" name="Google Shape;563;p20"/>
            <p:cNvCxnSpPr/>
            <p:nvPr/>
          </p:nvCxnSpPr>
          <p:spPr>
            <a:xfrm>
              <a:off x="3504" y="3360"/>
              <a:ext cx="0" cy="19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4" name="Google Shape;564;p20"/>
            <p:cNvCxnSpPr/>
            <p:nvPr/>
          </p:nvCxnSpPr>
          <p:spPr>
            <a:xfrm rot="10800000">
              <a:off x="4464" y="2880"/>
              <a:ext cx="2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565" name="Google Shape;565;p20"/>
            <p:cNvCxnSpPr/>
            <p:nvPr/>
          </p:nvCxnSpPr>
          <p:spPr>
            <a:xfrm rot="10800000">
              <a:off x="4080" y="2112"/>
              <a:ext cx="0" cy="6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566" name="Google Shape;566;p20"/>
          <p:cNvSpPr txBox="1"/>
          <p:nvPr>
            <p:ph idx="1" type="body"/>
          </p:nvPr>
        </p:nvSpPr>
        <p:spPr>
          <a:xfrm>
            <a:off x="4800600" y="1828800"/>
            <a:ext cx="43434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Cyclomatic complexity = 3.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Need at most </a:t>
            </a:r>
            <a:r>
              <a:rPr b="1" lang="en-US" sz="2400"/>
              <a:t>3 </a:t>
            </a:r>
            <a:r>
              <a:rPr lang="en-US" sz="2400"/>
              <a:t>independent paths to cover the CFG.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Char char="?"/>
            </a:pPr>
            <a:r>
              <a:rPr lang="en-US" sz="2400"/>
              <a:t>In this example: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FF3300"/>
                </a:solidFill>
              </a:rPr>
              <a:t>[ 1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9900"/>
                </a:solidFill>
              </a:rPr>
              <a:t>[ 1 – 2 – 3 – 5 – 2 – 6 ]</a:t>
            </a:r>
            <a:endParaRPr/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Char char="?"/>
            </a:pPr>
            <a:r>
              <a:rPr lang="en-US" sz="2000">
                <a:solidFill>
                  <a:srgbClr val="0033CC"/>
                </a:solidFill>
              </a:rPr>
              <a:t>[ 1 – 2 – 3 – 4 – 5 – 2 – 6]</a:t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1271588" y="1771650"/>
            <a:ext cx="1071562" cy="3986213"/>
          </a:xfrm>
          <a:custGeom>
            <a:rect b="b" l="l" r="r" t="t"/>
            <a:pathLst>
              <a:path extrusionOk="0" h="2511" w="675">
                <a:moveTo>
                  <a:pt x="639" y="0"/>
                </a:moveTo>
                <a:lnTo>
                  <a:pt x="675" y="747"/>
                </a:lnTo>
                <a:lnTo>
                  <a:pt x="34" y="2071"/>
                </a:lnTo>
                <a:lnTo>
                  <a:pt x="0" y="2511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1447800" y="1757363"/>
            <a:ext cx="1709738" cy="4033837"/>
          </a:xfrm>
          <a:custGeom>
            <a:rect b="b" l="l" r="r" t="t"/>
            <a:pathLst>
              <a:path extrusionOk="0" h="2541" w="1077">
                <a:moveTo>
                  <a:pt x="609" y="0"/>
                </a:moveTo>
                <a:lnTo>
                  <a:pt x="672" y="846"/>
                </a:lnTo>
                <a:lnTo>
                  <a:pt x="1077" y="1305"/>
                </a:lnTo>
                <a:lnTo>
                  <a:pt x="699" y="1584"/>
                </a:lnTo>
                <a:lnTo>
                  <a:pt x="690" y="1593"/>
                </a:lnTo>
                <a:lnTo>
                  <a:pt x="636" y="918"/>
                </a:lnTo>
                <a:lnTo>
                  <a:pt x="573" y="837"/>
                </a:lnTo>
                <a:lnTo>
                  <a:pt x="18" y="2161"/>
                </a:lnTo>
                <a:lnTo>
                  <a:pt x="0" y="2541"/>
                </a:lnTo>
              </a:path>
            </a:pathLst>
          </a:cu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1676400" y="1743075"/>
            <a:ext cx="2209800" cy="4043363"/>
          </a:xfrm>
          <a:custGeom>
            <a:rect b="b" l="l" r="r" t="t"/>
            <a:pathLst>
              <a:path extrusionOk="0" h="2547" w="1392">
                <a:moveTo>
                  <a:pt x="519" y="0"/>
                </a:moveTo>
                <a:lnTo>
                  <a:pt x="609" y="828"/>
                </a:lnTo>
                <a:lnTo>
                  <a:pt x="1068" y="1341"/>
                </a:lnTo>
                <a:lnTo>
                  <a:pt x="1392" y="1656"/>
                </a:lnTo>
                <a:lnTo>
                  <a:pt x="1356" y="1827"/>
                </a:lnTo>
                <a:lnTo>
                  <a:pt x="438" y="1800"/>
                </a:lnTo>
                <a:lnTo>
                  <a:pt x="438" y="1008"/>
                </a:lnTo>
                <a:lnTo>
                  <a:pt x="420" y="972"/>
                </a:lnTo>
                <a:lnTo>
                  <a:pt x="18" y="2167"/>
                </a:lnTo>
                <a:lnTo>
                  <a:pt x="0" y="2547"/>
                </a:lnTo>
              </a:path>
            </a:pathLst>
          </a:cu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71" name="Google Shape;5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1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Path Base Testing: Step 4</a:t>
            </a:r>
            <a:endParaRPr/>
          </a:p>
        </p:txBody>
      </p:sp>
      <p:sp>
        <p:nvSpPr>
          <p:cNvPr id="578" name="Google Shape;578;p21"/>
          <p:cNvSpPr txBox="1"/>
          <p:nvPr>
            <p:ph idx="1" type="body"/>
          </p:nvPr>
        </p:nvSpPr>
        <p:spPr>
          <a:xfrm>
            <a:off x="457200" y="1235075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76"/>
              <a:buFont typeface="Tahoma"/>
              <a:buChar char="?"/>
            </a:pPr>
            <a:r>
              <a:rPr lang="en-US" sz="2600">
                <a:latin typeface="Tahoma"/>
                <a:ea typeface="Tahoma"/>
                <a:cs typeface="Tahoma"/>
                <a:sym typeface="Tahoma"/>
              </a:rPr>
              <a:t>Prepare a test case for each independent path.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0" marL="27432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24"/>
              <a:buFont typeface="Tahoma"/>
              <a:buChar char="?"/>
            </a:pPr>
            <a:r>
              <a:rPr lang="en-US" sz="2400">
                <a:latin typeface="Tahoma"/>
                <a:ea typeface="Tahoma"/>
                <a:cs typeface="Tahoma"/>
                <a:sym typeface="Tahoma"/>
              </a:rPr>
              <a:t>In this example: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74320" lvl="1" marL="54864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20"/>
              <a:buFont typeface="Tahoma"/>
              <a:buChar char="?"/>
            </a:pPr>
            <a:r>
              <a:rPr lang="en-US" sz="2000">
                <a:latin typeface="Tahoma"/>
                <a:ea typeface="Tahoma"/>
                <a:cs typeface="Tahoma"/>
                <a:sym typeface="Tahoma"/>
              </a:rPr>
              <a:t>Path: [ 1 – 2 – 6 ]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Test Case:  A = { 5, …}, N = 1</a:t>
            </a:r>
            <a:endParaRPr>
              <a:latin typeface="Tahoma"/>
              <a:ea typeface="Tahoma"/>
              <a:cs typeface="Tahoma"/>
              <a:sym typeface="Tahoma"/>
            </a:endParaRPr>
          </a:p>
          <a:p>
            <a:pPr indent="-228600" lvl="2" marL="82296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68"/>
              <a:buFont typeface="Tahoma"/>
              <a:buChar char="?"/>
            </a:pPr>
            <a:r>
              <a:rPr lang="en-US" sz="1800">
                <a:latin typeface="Tahoma"/>
                <a:ea typeface="Tahoma"/>
                <a:cs typeface="Tahoma"/>
                <a:sym typeface="Tahoma"/>
              </a:rPr>
              <a:t>Expected Output: 5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79" name="Google Shape;579;p21"/>
          <p:cNvSpPr txBox="1"/>
          <p:nvPr/>
        </p:nvSpPr>
        <p:spPr>
          <a:xfrm>
            <a:off x="304800" y="6172200"/>
            <a:ext cx="7391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verify that the test cases actually force execution along a desired path.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 txBox="1"/>
          <p:nvPr/>
        </p:nvSpPr>
        <p:spPr>
          <a:xfrm>
            <a:off x="4724400" y="1850571"/>
            <a:ext cx="3352800" cy="31654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91425" lIns="95700" spcFirstLastPara="1" rIns="95700" wrap="square" tIns="9142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min = A[0];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I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while (I &lt; N)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 (A[I] &lt; min)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min = A[I];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 = I + 1;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print 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8077200" y="1981200"/>
            <a:ext cx="228600" cy="609600"/>
          </a:xfrm>
          <a:prstGeom prst="rightBrace">
            <a:avLst>
              <a:gd fmla="val 2222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 txBox="1"/>
          <p:nvPr/>
        </p:nvSpPr>
        <p:spPr>
          <a:xfrm>
            <a:off x="8305800" y="2057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8077200" y="2895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1"/>
          <p:cNvSpPr txBox="1"/>
          <p:nvPr/>
        </p:nvSpPr>
        <p:spPr>
          <a:xfrm>
            <a:off x="8305800" y="2819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8077200" y="3276600"/>
            <a:ext cx="228600" cy="304800"/>
          </a:xfrm>
          <a:prstGeom prst="rightBrace">
            <a:avLst>
              <a:gd fmla="val 11111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1"/>
          <p:cNvSpPr txBox="1"/>
          <p:nvPr/>
        </p:nvSpPr>
        <p:spPr>
          <a:xfrm>
            <a:off x="8305800" y="32766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8077200" y="36576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1"/>
          <p:cNvSpPr txBox="1"/>
          <p:nvPr/>
        </p:nvSpPr>
        <p:spPr>
          <a:xfrm>
            <a:off x="8305800" y="35814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8077200" y="39624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1"/>
          <p:cNvSpPr txBox="1"/>
          <p:nvPr/>
        </p:nvSpPr>
        <p:spPr>
          <a:xfrm>
            <a:off x="8305800" y="38862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8077200" y="4572000"/>
            <a:ext cx="228600" cy="228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1"/>
          <p:cNvSpPr txBox="1"/>
          <p:nvPr/>
        </p:nvSpPr>
        <p:spPr>
          <a:xfrm>
            <a:off x="8305800" y="4495800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brac.png" id="594" name="Google Shape;5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5829300"/>
            <a:ext cx="13716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