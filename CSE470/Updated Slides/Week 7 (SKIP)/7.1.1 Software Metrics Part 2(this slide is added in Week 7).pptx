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roxima Nova"/>
      <p:regular r:id="rId20"/>
      <p:bold r:id="rId21"/>
      <p:italic r:id="rId22"/>
      <p:boldItalic r:id="rId23"/>
    </p:embeddedFont>
    <p:embeddedFont>
      <p:font typeface="Alfa Slab One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gdvo5QYEImI/WXsraKrZSM4yxu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regular.fntdata"/><Relationship Id="rId22" Type="http://schemas.openxmlformats.org/officeDocument/2006/relationships/font" Target="fonts/ProximaNova-italic.fntdata"/><Relationship Id="rId21" Type="http://schemas.openxmlformats.org/officeDocument/2006/relationships/font" Target="fonts/ProximaNova-bold.fntdata"/><Relationship Id="rId24" Type="http://schemas.openxmlformats.org/officeDocument/2006/relationships/font" Target="fonts/AlfaSlabOne-regular.fntdata"/><Relationship Id="rId23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a49a9877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2a49a9877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a49a98778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2a49a98778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4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14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14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21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21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23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1000">
        <p:push dir="r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>
            <p:ph type="ctrTitle"/>
          </p:nvPr>
        </p:nvSpPr>
        <p:spPr>
          <a:xfrm>
            <a:off x="311700" y="69232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b="1" lang="en" sz="6000" u="sng"/>
              <a:t>CSE470:Software Engineering</a:t>
            </a:r>
            <a:endParaRPr/>
          </a:p>
        </p:txBody>
      </p:sp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2061025" y="2834125"/>
            <a:ext cx="62412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chemeClr val="dk1"/>
                </a:solidFill>
              </a:rPr>
              <a:t>video lecture series produced by: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chemeClr val="dk1"/>
                </a:solidFill>
              </a:rPr>
              <a:t>A.M.Esfar-E-Alam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chemeClr val="dk1"/>
                </a:solidFill>
              </a:rPr>
              <a:t>Afrina Khatun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chemeClr val="dk1"/>
                </a:solidFill>
              </a:rPr>
              <a:t>Dr.Muhammad Zavid Parvez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chemeClr val="dk1"/>
                </a:solidFill>
              </a:rPr>
              <a:t>Hossain Arif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3359400"/>
            <a:ext cx="2406350" cy="18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7650" y="0"/>
            <a:ext cx="2406350" cy="1770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Software measurement and metrics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5" name="Google Shape;65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100"/>
              <a:buChar char="➔"/>
            </a:pPr>
            <a:r>
              <a:rPr lang="en" sz="2100">
                <a:solidFill>
                  <a:srgbClr val="404040"/>
                </a:solidFill>
              </a:rPr>
              <a:t>Software measurement is concerned with deriving a numeric value for an attribute of a software product or process.</a:t>
            </a:r>
            <a:endParaRPr sz="2100">
              <a:solidFill>
                <a:srgbClr val="404040"/>
              </a:solidFill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Char char="➔"/>
            </a:pPr>
            <a:r>
              <a:rPr lang="en" sz="2100">
                <a:solidFill>
                  <a:srgbClr val="404040"/>
                </a:solidFill>
              </a:rPr>
              <a:t>This allows for objective comparisons between techniques and processes.</a:t>
            </a:r>
            <a:endParaRPr sz="2100">
              <a:solidFill>
                <a:srgbClr val="404040"/>
              </a:solidFill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Char char="➔"/>
            </a:pPr>
            <a:r>
              <a:rPr lang="en" sz="2100">
                <a:solidFill>
                  <a:srgbClr val="404040"/>
                </a:solidFill>
              </a:rPr>
              <a:t>Although some companies have introduced measurement programmes, most organisations still don’t make systematic use of software measurement.</a:t>
            </a:r>
            <a:endParaRPr sz="2100">
              <a:solidFill>
                <a:srgbClr val="404040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Char char="➔"/>
            </a:pPr>
            <a:r>
              <a:rPr lang="en" sz="2100">
                <a:solidFill>
                  <a:srgbClr val="404040"/>
                </a:solidFill>
              </a:rPr>
              <a:t>There are few established standards in this area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Software metric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1" name="Google Shape;71;p3"/>
          <p:cNvSpPr txBox="1"/>
          <p:nvPr>
            <p:ph idx="1" type="body"/>
          </p:nvPr>
        </p:nvSpPr>
        <p:spPr>
          <a:xfrm>
            <a:off x="311700" y="1152475"/>
            <a:ext cx="8520600" cy="3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lang="en" sz="1700">
                <a:solidFill>
                  <a:srgbClr val="404040"/>
                </a:solidFill>
              </a:rPr>
              <a:t>Any type of measurement which relates to a software system, process or related documentation</a:t>
            </a:r>
            <a:endParaRPr sz="1700">
              <a:solidFill>
                <a:srgbClr val="40404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b="1" lang="en" sz="1700">
                <a:solidFill>
                  <a:srgbClr val="404040"/>
                </a:solidFill>
              </a:rPr>
              <a:t>Lines of code in a program</a:t>
            </a:r>
            <a:r>
              <a:rPr lang="en" sz="1700">
                <a:solidFill>
                  <a:srgbClr val="404040"/>
                </a:solidFill>
              </a:rPr>
              <a:t>, the </a:t>
            </a:r>
            <a:r>
              <a:rPr b="1" lang="en" sz="1700">
                <a:solidFill>
                  <a:srgbClr val="404040"/>
                </a:solidFill>
              </a:rPr>
              <a:t>Fog index</a:t>
            </a:r>
            <a:r>
              <a:rPr lang="en" sz="1700">
                <a:solidFill>
                  <a:srgbClr val="404040"/>
                </a:solidFill>
              </a:rPr>
              <a:t>, </a:t>
            </a:r>
            <a:r>
              <a:rPr b="1" lang="en" sz="1700">
                <a:solidFill>
                  <a:srgbClr val="404040"/>
                </a:solidFill>
              </a:rPr>
              <a:t>number of person-days </a:t>
            </a:r>
            <a:r>
              <a:rPr lang="en" sz="1700">
                <a:solidFill>
                  <a:srgbClr val="404040"/>
                </a:solidFill>
              </a:rPr>
              <a:t>required to develop a component.</a:t>
            </a:r>
            <a:endParaRPr sz="1700">
              <a:solidFill>
                <a:srgbClr val="40404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lang="en" sz="1700">
                <a:solidFill>
                  <a:srgbClr val="404040"/>
                </a:solidFill>
              </a:rPr>
              <a:t>Allow the software and the software process to be quantified.</a:t>
            </a:r>
            <a:endParaRPr sz="1700">
              <a:solidFill>
                <a:srgbClr val="40404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lang="en" sz="1700">
                <a:solidFill>
                  <a:srgbClr val="404040"/>
                </a:solidFill>
              </a:rPr>
              <a:t>May be used to predict product attributes or to control the software process.</a:t>
            </a:r>
            <a:endParaRPr sz="1700">
              <a:solidFill>
                <a:srgbClr val="40404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lang="en" sz="1700">
                <a:solidFill>
                  <a:srgbClr val="404040"/>
                </a:solidFill>
              </a:rPr>
              <a:t>Product metrics can be used for general predictions or to identify anomalous components.</a:t>
            </a:r>
            <a:endParaRPr sz="1700">
              <a:solidFill>
                <a:srgbClr val="40404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311700" y="240250"/>
            <a:ext cx="85206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Relationships between internal and external software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7" name="Google Shape;77;p4"/>
          <p:cNvSpPr txBox="1"/>
          <p:nvPr>
            <p:ph idx="1" type="body"/>
          </p:nvPr>
        </p:nvSpPr>
        <p:spPr>
          <a:xfrm>
            <a:off x="311700" y="1505700"/>
            <a:ext cx="8520600" cy="30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375" y="1437975"/>
            <a:ext cx="8470924" cy="313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Product metrics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4" name="Google Shape;84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000"/>
              <a:buChar char="➔"/>
            </a:pPr>
            <a:r>
              <a:rPr lang="en" sz="2000">
                <a:solidFill>
                  <a:srgbClr val="404040"/>
                </a:solidFill>
              </a:rPr>
              <a:t>A quality metric should be a predictor of product quality. </a:t>
            </a:r>
            <a:endParaRPr sz="2000">
              <a:solidFill>
                <a:srgbClr val="40404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Char char="➔"/>
            </a:pPr>
            <a:r>
              <a:rPr lang="en" sz="2000">
                <a:solidFill>
                  <a:srgbClr val="404040"/>
                </a:solidFill>
              </a:rPr>
              <a:t>Classes of product metric</a:t>
            </a:r>
            <a:endParaRPr sz="2000"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➔"/>
            </a:pPr>
            <a:r>
              <a:rPr b="1" lang="en">
                <a:solidFill>
                  <a:srgbClr val="404040"/>
                </a:solidFill>
              </a:rPr>
              <a:t>Dynamic metrics </a:t>
            </a:r>
            <a:r>
              <a:rPr lang="en">
                <a:solidFill>
                  <a:srgbClr val="404040"/>
                </a:solidFill>
              </a:rPr>
              <a:t>which are collected by measurements made of a program in execution;</a:t>
            </a:r>
            <a:endParaRPr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➔"/>
            </a:pPr>
            <a:r>
              <a:rPr b="1" lang="en">
                <a:solidFill>
                  <a:srgbClr val="404040"/>
                </a:solidFill>
              </a:rPr>
              <a:t>Static metrics </a:t>
            </a:r>
            <a:r>
              <a:rPr lang="en">
                <a:solidFill>
                  <a:srgbClr val="404040"/>
                </a:solidFill>
              </a:rPr>
              <a:t>which are collected by measurements made of the system representations;</a:t>
            </a:r>
            <a:endParaRPr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➔"/>
            </a:pPr>
            <a:r>
              <a:rPr lang="en">
                <a:solidFill>
                  <a:srgbClr val="404040"/>
                </a:solidFill>
              </a:rPr>
              <a:t>Dynamic metrics help assess efficiency and reliability</a:t>
            </a:r>
            <a:endParaRPr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➔"/>
            </a:pPr>
            <a:r>
              <a:rPr lang="en">
                <a:solidFill>
                  <a:srgbClr val="404040"/>
                </a:solidFill>
              </a:rPr>
              <a:t>Static metrics help assess complexity, understandability and maintainability.</a:t>
            </a:r>
            <a:endParaRPr>
              <a:solidFill>
                <a:srgbClr val="40404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a49a98778b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90" name="Google Shape;90;g2a49a98778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3854"/>
            <a:ext cx="9144000" cy="4475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Fan-in/Fan-out, Length of code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6" name="Google Shape;96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lang="en" sz="1700">
                <a:solidFill>
                  <a:srgbClr val="404040"/>
                </a:solidFill>
              </a:rPr>
              <a:t>Fan-in/Fan-out</a:t>
            </a:r>
            <a:endParaRPr sz="1700">
              <a:solidFill>
                <a:srgbClr val="404040"/>
              </a:solidFill>
            </a:endParaRPr>
          </a:p>
          <a:p>
            <a:pPr indent="-3238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◆"/>
            </a:pPr>
            <a:r>
              <a:rPr lang="en" sz="1500">
                <a:solidFill>
                  <a:srgbClr val="404040"/>
                </a:solidFill>
              </a:rPr>
              <a:t>Fan-in is a measure of the number of functions or methods that call another function or method (say X). Fan-out is the number of functions that are called by function X. A high value for fan-in means that X is tightly coupled to the rest of the design and changes to X will have extensive knock-on effects. A high value for fan-out suggests that the overall complexity of X may be high because of the complexity of the control logic needed to coordinate the called components.</a:t>
            </a:r>
            <a:endParaRPr sz="1500">
              <a:solidFill>
                <a:srgbClr val="404040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lang="en" sz="1700">
                <a:solidFill>
                  <a:srgbClr val="404040"/>
                </a:solidFill>
              </a:rPr>
              <a:t>Length of code</a:t>
            </a:r>
            <a:endParaRPr sz="1700">
              <a:solidFill>
                <a:srgbClr val="404040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◆"/>
            </a:pPr>
            <a:r>
              <a:rPr lang="en" sz="1500">
                <a:solidFill>
                  <a:srgbClr val="404040"/>
                </a:solidFill>
              </a:rPr>
              <a:t>This is a measure of the size of a program. Generally, the larger the size of the code of a component, the more complex and error-prone that component is likely to be. Length of code has been shown to be one of the </a:t>
            </a:r>
            <a:r>
              <a:rPr b="1" lang="en" sz="1500">
                <a:solidFill>
                  <a:srgbClr val="404040"/>
                </a:solidFill>
              </a:rPr>
              <a:t>most reliable metrics</a:t>
            </a:r>
            <a:r>
              <a:rPr lang="en" sz="1500">
                <a:solidFill>
                  <a:srgbClr val="404040"/>
                </a:solidFill>
              </a:rPr>
              <a:t> for predicting error-proneness in components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a49a98778b_0_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200">
                <a:solidFill>
                  <a:srgbClr val="000000"/>
                </a:solidFill>
              </a:rPr>
              <a:t>Fan-in/Fan-out Example</a:t>
            </a:r>
            <a:endParaRPr/>
          </a:p>
        </p:txBody>
      </p:sp>
      <p:sp>
        <p:nvSpPr>
          <p:cNvPr id="102" name="Google Shape;102;g2a49a98778b_0_31"/>
          <p:cNvSpPr txBox="1"/>
          <p:nvPr>
            <p:ph idx="1" type="body"/>
          </p:nvPr>
        </p:nvSpPr>
        <p:spPr>
          <a:xfrm>
            <a:off x="311700" y="1152475"/>
            <a:ext cx="4473000" cy="13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def process_payment(payment_info):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    validate_payment(payment_info)        # Fan-out 1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    calculate_tax(payment_info)           # Fan-out 2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    check_fraud(payment_info)             # Fan-out 3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    send_confirmation_email(payment_info) # Fan-out 4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    update_transaction_record(payment_info) # Fan-out 5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    process_credit(payment_info)          # Fan-out 6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3" name="Google Shape;103;g2a49a98778b_0_31"/>
          <p:cNvSpPr txBox="1"/>
          <p:nvPr>
            <p:ph idx="1" type="body"/>
          </p:nvPr>
        </p:nvSpPr>
        <p:spPr>
          <a:xfrm>
            <a:off x="443825" y="3138950"/>
            <a:ext cx="33867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# Logging Utility Module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def log_error(error_message):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    # Logs the error message to a file or monitoring system.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latin typeface="Courier New"/>
                <a:ea typeface="Courier New"/>
                <a:cs typeface="Courier New"/>
                <a:sym typeface="Courier New"/>
              </a:rPr>
              <a:t>    pass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4" name="Google Shape;104;g2a49a98778b_0_31"/>
          <p:cNvSpPr txBox="1"/>
          <p:nvPr/>
        </p:nvSpPr>
        <p:spPr>
          <a:xfrm>
            <a:off x="4229825" y="2645625"/>
            <a:ext cx="4852500" cy="22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def process_payment(payment_info):</a:t>
            </a:r>
            <a:endParaRPr b="1" i="0" sz="10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   if not is_valid(payment_info):</a:t>
            </a:r>
            <a:endParaRPr b="1" i="0" sz="10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log_error("Invalid payment info")  # Fan-in 1</a:t>
            </a:r>
            <a:endParaRPr b="1" i="0" sz="10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return</a:t>
            </a:r>
            <a:endParaRPr b="1" i="0" sz="10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def process_order(order_info):</a:t>
            </a:r>
            <a:endParaRPr b="1" i="0" sz="10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   if not is_available(order_info):</a:t>
            </a:r>
            <a:endParaRPr b="1" i="0" sz="10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log_error("Out of stock")  # Fan-in 2</a:t>
            </a:r>
            <a:endParaRPr b="1" i="0" sz="10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return</a:t>
            </a:r>
            <a:endParaRPr b="1" i="0" sz="10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def user_login(username, password):</a:t>
            </a:r>
            <a:endParaRPr b="1" i="0" sz="10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   if not is_authenticated(username, password):</a:t>
            </a:r>
            <a:endParaRPr b="1" i="0" sz="10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log_error("Failed login attempt")  # Fan-in 3</a:t>
            </a:r>
            <a:endParaRPr b="1" i="0" sz="10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return</a:t>
            </a:r>
            <a:endParaRPr b="1" i="0" sz="10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CYCLOMATIC COMPLEXITY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311700" y="1152475"/>
            <a:ext cx="85206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254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➔"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Cyclomatic complexity is a source code complexity measurement that is being correlated to a number of coding errors. 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➔"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It is calculated by developing a Control Flow Graph of the code that measures the number of linearly-independent paths through a program module.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➔"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Lower the Program's cyclomatic complexity, lower the risk to modify and easier to understand. It can be represented using the below formula: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900">
                <a:solidFill>
                  <a:srgbClr val="000000"/>
                </a:solidFill>
              </a:rPr>
              <a:t>  </a:t>
            </a:r>
            <a:r>
              <a:rPr b="1" lang="en" sz="1900">
                <a:solidFill>
                  <a:srgbClr val="000000"/>
                </a:solidFill>
              </a:rPr>
              <a:t>M = E − N + 2P</a:t>
            </a:r>
            <a:r>
              <a:rPr lang="en" sz="1900">
                <a:solidFill>
                  <a:srgbClr val="000000"/>
                </a:solidFill>
              </a:rPr>
              <a:t>,where 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500">
                <a:solidFill>
                  <a:srgbClr val="000000"/>
                </a:solidFill>
              </a:rPr>
              <a:t>E </a:t>
            </a:r>
            <a:r>
              <a:rPr lang="en" sz="1500">
                <a:solidFill>
                  <a:srgbClr val="000000"/>
                </a:solidFill>
              </a:rPr>
              <a:t>= the number of edges of the graph. 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500">
                <a:solidFill>
                  <a:srgbClr val="000000"/>
                </a:solidFill>
              </a:rPr>
              <a:t>N </a:t>
            </a:r>
            <a:r>
              <a:rPr lang="en" sz="1500">
                <a:solidFill>
                  <a:srgbClr val="000000"/>
                </a:solidFill>
              </a:rPr>
              <a:t>= the number of nodes of the graph. 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500">
                <a:solidFill>
                  <a:srgbClr val="000000"/>
                </a:solidFill>
              </a:rPr>
              <a:t>P </a:t>
            </a:r>
            <a:r>
              <a:rPr lang="en" sz="1500">
                <a:solidFill>
                  <a:srgbClr val="000000"/>
                </a:solidFill>
              </a:rPr>
              <a:t>= the number of connected components. 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 txBox="1"/>
          <p:nvPr>
            <p:ph idx="1" type="body"/>
          </p:nvPr>
        </p:nvSpPr>
        <p:spPr>
          <a:xfrm>
            <a:off x="311700" y="1152475"/>
            <a:ext cx="8520600" cy="3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</a:rPr>
              <a:t>The complexity M is then defined as </a:t>
            </a:r>
            <a:endParaRPr sz="20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000000"/>
                </a:solidFill>
              </a:rPr>
              <a:t>                  M = R + 1</a:t>
            </a:r>
            <a:r>
              <a:rPr lang="en" sz="2400">
                <a:solidFill>
                  <a:srgbClr val="000000"/>
                </a:solidFill>
              </a:rPr>
              <a:t>,</a:t>
            </a:r>
            <a:endParaRPr sz="2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00000"/>
                </a:solidFill>
              </a:rPr>
              <a:t>where </a:t>
            </a:r>
            <a:r>
              <a:rPr i="1" lang="en" sz="2000">
                <a:solidFill>
                  <a:srgbClr val="000000"/>
                </a:solidFill>
              </a:rPr>
              <a:t>R </a:t>
            </a:r>
            <a:r>
              <a:rPr lang="en" sz="2000">
                <a:solidFill>
                  <a:srgbClr val="000000"/>
                </a:solidFill>
              </a:rPr>
              <a:t>= the number of regions in the graph.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</a:rPr>
              <a:t>The complexity M is then defined as </a:t>
            </a:r>
            <a:endParaRPr sz="20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000000"/>
                </a:solidFill>
              </a:rPr>
              <a:t>                  M = P + 1</a:t>
            </a:r>
            <a:r>
              <a:rPr lang="en" sz="2400">
                <a:solidFill>
                  <a:srgbClr val="000000"/>
                </a:solidFill>
              </a:rPr>
              <a:t>,</a:t>
            </a:r>
            <a:endParaRPr sz="2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000000"/>
                </a:solidFill>
              </a:rPr>
              <a:t>where </a:t>
            </a:r>
            <a:r>
              <a:rPr i="1" lang="en" sz="2000">
                <a:solidFill>
                  <a:srgbClr val="000000"/>
                </a:solidFill>
              </a:rPr>
              <a:t>P </a:t>
            </a:r>
            <a:r>
              <a:rPr lang="en" sz="2000">
                <a:solidFill>
                  <a:srgbClr val="000000"/>
                </a:solidFill>
              </a:rPr>
              <a:t>= the number of predicate nodes in the graph. </a:t>
            </a:r>
            <a:endParaRPr sz="20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two formulas are easy to use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>
            <p:ph type="title"/>
          </p:nvPr>
        </p:nvSpPr>
        <p:spPr>
          <a:xfrm>
            <a:off x="311700" y="168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000000"/>
                </a:solidFill>
              </a:rPr>
              <a:t>SPECIALIZATION INDEX (SIX)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2" name="Google Shape;122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Char char="➔"/>
            </a:pP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Specialization Index metric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measures the extent to which subclasses override their ancestors classes. This </a:t>
            </a:r>
            <a:r>
              <a:rPr b="1" lang="en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is the ratio between the number of overridden methods and total number of methods in a Class, weighted by the depth of inheritance for this class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➔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metric provides a percentage, where the class contains at least one operation. For a root class, the specialization indicator is zero. Nominal range is between 0 % and 120 %.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NMO – Number of Overridden Methods not Overloaded.</a:t>
            </a:r>
            <a:endParaRPr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23" name="Google Shape;12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650" y="2508675"/>
            <a:ext cx="7805599" cy="123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6650" y="4283025"/>
            <a:ext cx="2905050" cy="66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30" name="Google Shape;130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DIT(D) = 2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DIT(E) = 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31" name="Google Shape;1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8075" y="2097550"/>
            <a:ext cx="4238325" cy="244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37" name="Google Shape;137;p11"/>
          <p:cNvSpPr txBox="1"/>
          <p:nvPr>
            <p:ph idx="1" type="body"/>
          </p:nvPr>
        </p:nvSpPr>
        <p:spPr>
          <a:xfrm>
            <a:off x="311700" y="783225"/>
            <a:ext cx="8649600" cy="40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Class Person{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 void read();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 void display();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}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Class Student extends Person{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 void read();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void display();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Void getAverage();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}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Class GraduateStudent extends Student{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 void read();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void display();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Void workStatus();                                             						</a:t>
            </a:r>
            <a:r>
              <a:rPr lang="en" sz="2200">
                <a:solidFill>
                  <a:srgbClr val="404040"/>
                </a:solidFill>
              </a:rPr>
              <a:t>-&gt; 100% [(4/4)*100]</a:t>
            </a:r>
            <a:endParaRPr sz="22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04040"/>
                </a:solidFill>
              </a:rPr>
              <a:t>}</a:t>
            </a:r>
            <a:endParaRPr sz="10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"/>
          </a:p>
        </p:txBody>
      </p:sp>
      <p:pic>
        <p:nvPicPr>
          <p:cNvPr id="138" name="Google Shape;1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0975" y="2895600"/>
            <a:ext cx="3326125" cy="109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4525" y="527475"/>
            <a:ext cx="4986926" cy="7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1"/>
          <p:cNvSpPr txBox="1"/>
          <p:nvPr/>
        </p:nvSpPr>
        <p:spPr>
          <a:xfrm>
            <a:off x="5263950" y="1794800"/>
            <a:ext cx="28911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NMO X DIT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NMO+NMA+NMI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41" name="Google Shape;141;p11"/>
          <p:cNvCxnSpPr/>
          <p:nvPr/>
        </p:nvCxnSpPr>
        <p:spPr>
          <a:xfrm>
            <a:off x="5263950" y="2190050"/>
            <a:ext cx="1891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11"/>
          <p:cNvSpPr txBox="1"/>
          <p:nvPr/>
        </p:nvSpPr>
        <p:spPr>
          <a:xfrm>
            <a:off x="4704500" y="1951450"/>
            <a:ext cx="73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SIX =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DEFECT REMOVAL EFFICIENCY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8" name="Google Shape;148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500"/>
              <a:buChar char="➔"/>
            </a:pPr>
            <a:r>
              <a:rPr i="1" lang="en" sz="1500">
                <a:solidFill>
                  <a:srgbClr val="404040"/>
                </a:solidFill>
              </a:rPr>
              <a:t>A </a:t>
            </a:r>
            <a:r>
              <a:rPr b="1" i="1" lang="en" sz="1500">
                <a:solidFill>
                  <a:srgbClr val="404040"/>
                </a:solidFill>
              </a:rPr>
              <a:t>defect </a:t>
            </a:r>
            <a:r>
              <a:rPr i="1" lang="en" sz="1500">
                <a:solidFill>
                  <a:srgbClr val="404040"/>
                </a:solidFill>
              </a:rPr>
              <a:t>is found when the application does not conform to the requirement specification. </a:t>
            </a:r>
            <a:endParaRPr i="1" sz="1500">
              <a:solidFill>
                <a:srgbClr val="40404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➔"/>
            </a:pPr>
            <a:r>
              <a:rPr i="1" lang="en" sz="1500">
                <a:solidFill>
                  <a:srgbClr val="404040"/>
                </a:solidFill>
              </a:rPr>
              <a:t>A mistake in coding is called </a:t>
            </a:r>
            <a:r>
              <a:rPr b="1" i="1" lang="en" sz="1500">
                <a:solidFill>
                  <a:srgbClr val="404040"/>
                </a:solidFill>
              </a:rPr>
              <a:t>Error</a:t>
            </a:r>
            <a:endParaRPr b="1" i="1" sz="1500">
              <a:solidFill>
                <a:srgbClr val="40404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➔"/>
            </a:pPr>
            <a:r>
              <a:rPr lang="en" sz="1500">
                <a:solidFill>
                  <a:srgbClr val="404040"/>
                </a:solidFill>
              </a:rPr>
              <a:t>An average DRE score is usually around 85% across a full testing program.</a:t>
            </a:r>
            <a:endParaRPr sz="1500">
              <a:solidFill>
                <a:srgbClr val="40404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➔"/>
            </a:pPr>
            <a:r>
              <a:rPr i="1" lang="en" sz="1500">
                <a:solidFill>
                  <a:srgbClr val="404040"/>
                </a:solidFill>
              </a:rPr>
              <a:t>DRE = E / (E + D) where: </a:t>
            </a:r>
            <a:endParaRPr i="1" sz="1500">
              <a:solidFill>
                <a:srgbClr val="40404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Char char="➔"/>
            </a:pPr>
            <a:r>
              <a:rPr i="1" lang="en" sz="2000">
                <a:solidFill>
                  <a:srgbClr val="404040"/>
                </a:solidFill>
              </a:rPr>
              <a:t>E </a:t>
            </a:r>
            <a:r>
              <a:rPr lang="en" sz="2000">
                <a:solidFill>
                  <a:srgbClr val="404040"/>
                </a:solidFill>
              </a:rPr>
              <a:t>is the number of errors found before delivery of the software to the end-user </a:t>
            </a:r>
            <a:endParaRPr sz="2000">
              <a:solidFill>
                <a:srgbClr val="40404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Char char="➔"/>
            </a:pPr>
            <a:r>
              <a:rPr i="1" lang="en" sz="2000">
                <a:solidFill>
                  <a:srgbClr val="404040"/>
                </a:solidFill>
              </a:rPr>
              <a:t>D </a:t>
            </a:r>
            <a:r>
              <a:rPr lang="en" sz="2000">
                <a:solidFill>
                  <a:srgbClr val="404040"/>
                </a:solidFill>
              </a:rPr>
              <a:t>is the number of defects found after delivery. </a:t>
            </a:r>
            <a:endParaRPr sz="2000">
              <a:solidFill>
                <a:srgbClr val="40404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➔"/>
            </a:pPr>
            <a:r>
              <a:rPr lang="en" sz="1500">
                <a:solidFill>
                  <a:srgbClr val="404040"/>
                </a:solidFill>
              </a:rPr>
              <a:t>We found 100 defects during the testing phase and then later, say within 90 days after software release (in production), found five defects, </a:t>
            </a:r>
            <a:endParaRPr sz="1500">
              <a:solidFill>
                <a:srgbClr val="40404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➔"/>
            </a:pPr>
            <a:r>
              <a:rPr lang="en" sz="1500">
                <a:solidFill>
                  <a:srgbClr val="404040"/>
                </a:solidFill>
              </a:rPr>
              <a:t>  DRE = 100/(100+5) = 95.2%</a:t>
            </a:r>
            <a:endParaRPr sz="15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