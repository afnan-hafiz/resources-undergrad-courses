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6858000" cx="12188950"/>
  <p:notesSz cx="6858000" cy="9144000"/>
  <p:embeddedFontLst>
    <p:embeddedFont>
      <p:font typeface="Lato"/>
      <p:regular r:id="rId22"/>
      <p:bold r:id="rId23"/>
      <p:italic r:id="rId24"/>
      <p:boldItalic r:id="rId25"/>
    </p:embeddedFont>
    <p:embeddedFont>
      <p:font typeface="Ubuntu Mono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747775"/>
          </p15:clr>
        </p15:guide>
        <p15:guide id="2" pos="3839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39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Lato-regular.fntdata"/><Relationship Id="rId21" Type="http://schemas.openxmlformats.org/officeDocument/2006/relationships/slide" Target="slides/slide16.xml"/><Relationship Id="rId24" Type="http://schemas.openxmlformats.org/officeDocument/2006/relationships/font" Target="fonts/Lato-italic.fntdata"/><Relationship Id="rId23" Type="http://schemas.openxmlformats.org/officeDocument/2006/relationships/font" Target="fonts/Lato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UbuntuMono-regular.fntdata"/><Relationship Id="rId25" Type="http://schemas.openxmlformats.org/officeDocument/2006/relationships/font" Target="fonts/Lato-boldItalic.fntdata"/><Relationship Id="rId28" Type="http://schemas.openxmlformats.org/officeDocument/2006/relationships/font" Target="fonts/UbuntuMono-italic.fntdata"/><Relationship Id="rId27" Type="http://schemas.openxmlformats.org/officeDocument/2006/relationships/font" Target="fonts/UbuntuMono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UbuntuMono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2063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4052c762d3_0_2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g34052c762d3_0_235:notes"/>
          <p:cNvSpPr/>
          <p:nvPr>
            <p:ph idx="2" type="sldImg"/>
          </p:nvPr>
        </p:nvSpPr>
        <p:spPr>
          <a:xfrm>
            <a:off x="1143797" y="685800"/>
            <a:ext cx="45711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e0028e5c25_0_0:notes"/>
          <p:cNvSpPr/>
          <p:nvPr>
            <p:ph idx="2" type="sldImg"/>
          </p:nvPr>
        </p:nvSpPr>
        <p:spPr>
          <a:xfrm>
            <a:off x="382063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e0028e5c2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e0028e5c25_0_10:notes"/>
          <p:cNvSpPr/>
          <p:nvPr>
            <p:ph idx="2" type="sldImg"/>
          </p:nvPr>
        </p:nvSpPr>
        <p:spPr>
          <a:xfrm>
            <a:off x="382063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e0028e5c25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e0028e5c25_0_30:notes"/>
          <p:cNvSpPr/>
          <p:nvPr>
            <p:ph idx="2" type="sldImg"/>
          </p:nvPr>
        </p:nvSpPr>
        <p:spPr>
          <a:xfrm>
            <a:off x="382063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e0028e5c25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e0028e5c25_0_36:notes"/>
          <p:cNvSpPr/>
          <p:nvPr>
            <p:ph idx="2" type="sldImg"/>
          </p:nvPr>
        </p:nvSpPr>
        <p:spPr>
          <a:xfrm>
            <a:off x="382063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e0028e5c25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e0028e5c25_0_42:notes"/>
          <p:cNvSpPr/>
          <p:nvPr>
            <p:ph idx="2" type="sldImg"/>
          </p:nvPr>
        </p:nvSpPr>
        <p:spPr>
          <a:xfrm>
            <a:off x="382063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e0028e5c25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e0028e5c25_0_52:notes"/>
          <p:cNvSpPr/>
          <p:nvPr>
            <p:ph idx="2" type="sldImg"/>
          </p:nvPr>
        </p:nvSpPr>
        <p:spPr>
          <a:xfrm>
            <a:off x="382063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e0028e5c25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e0028e5c25_0_59:notes"/>
          <p:cNvSpPr/>
          <p:nvPr>
            <p:ph idx="2" type="sldImg"/>
          </p:nvPr>
        </p:nvSpPr>
        <p:spPr>
          <a:xfrm>
            <a:off x="382063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e0028e5c25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e0028e5c25_0_65:notes"/>
          <p:cNvSpPr/>
          <p:nvPr>
            <p:ph idx="2" type="sldImg"/>
          </p:nvPr>
        </p:nvSpPr>
        <p:spPr>
          <a:xfrm>
            <a:off x="382063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3e0028e5c25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e0028e5c25_0_71:notes"/>
          <p:cNvSpPr/>
          <p:nvPr>
            <p:ph idx="2" type="sldImg"/>
          </p:nvPr>
        </p:nvSpPr>
        <p:spPr>
          <a:xfrm>
            <a:off x="382063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3e0028e5c25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e0028e5c25_0_76:notes"/>
          <p:cNvSpPr/>
          <p:nvPr>
            <p:ph idx="2" type="sldImg"/>
          </p:nvPr>
        </p:nvSpPr>
        <p:spPr>
          <a:xfrm>
            <a:off x="382063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3e0028e5c25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e0028e5c25_0_83:notes"/>
          <p:cNvSpPr/>
          <p:nvPr>
            <p:ph idx="2" type="sldImg"/>
          </p:nvPr>
        </p:nvSpPr>
        <p:spPr>
          <a:xfrm>
            <a:off x="382063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3e0028e5c25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e0028e5c25_0_88:notes"/>
          <p:cNvSpPr/>
          <p:nvPr>
            <p:ph idx="2" type="sldImg"/>
          </p:nvPr>
        </p:nvSpPr>
        <p:spPr>
          <a:xfrm>
            <a:off x="382063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e0028e5c25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e0028e5c25_0_98:notes"/>
          <p:cNvSpPr/>
          <p:nvPr>
            <p:ph idx="2" type="sldImg"/>
          </p:nvPr>
        </p:nvSpPr>
        <p:spPr>
          <a:xfrm>
            <a:off x="382063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3e0028e5c25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e0028e5c25_0_103:notes"/>
          <p:cNvSpPr/>
          <p:nvPr>
            <p:ph idx="2" type="sldImg"/>
          </p:nvPr>
        </p:nvSpPr>
        <p:spPr>
          <a:xfrm>
            <a:off x="382063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3e0028e5c25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2e33bf0c4b9_1_342:notes"/>
          <p:cNvSpPr/>
          <p:nvPr>
            <p:ph idx="2" type="sldImg"/>
          </p:nvPr>
        </p:nvSpPr>
        <p:spPr>
          <a:xfrm>
            <a:off x="382063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4" name="Google Shape;214;g2e33bf0c4b9_1_3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ctrTitle"/>
          </p:nvPr>
        </p:nvSpPr>
        <p:spPr>
          <a:xfrm>
            <a:off x="1523619" y="1122363"/>
            <a:ext cx="91416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1523619" y="3602038"/>
            <a:ext cx="9141600" cy="16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2"/>
          <p:cNvSpPr txBox="1"/>
          <p:nvPr>
            <p:ph idx="10" type="dt"/>
          </p:nvPr>
        </p:nvSpPr>
        <p:spPr>
          <a:xfrm>
            <a:off x="837990" y="6356350"/>
            <a:ext cx="2742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1" type="ftr"/>
          </p:nvPr>
        </p:nvSpPr>
        <p:spPr>
          <a:xfrm>
            <a:off x="4037590" y="6356350"/>
            <a:ext cx="4113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608446" y="6356350"/>
            <a:ext cx="2742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7" name="Google Shape;17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59129" y="4128138"/>
            <a:ext cx="2932615" cy="274911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18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79" y="6014906"/>
            <a:ext cx="865792" cy="8628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9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37793" y="100668"/>
            <a:ext cx="902991" cy="8643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"/>
          <p:cNvSpPr txBox="1"/>
          <p:nvPr>
            <p:ph type="title"/>
          </p:nvPr>
        </p:nvSpPr>
        <p:spPr>
          <a:xfrm>
            <a:off x="837990" y="365125"/>
            <a:ext cx="105129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" type="body"/>
          </p:nvPr>
        </p:nvSpPr>
        <p:spPr>
          <a:xfrm>
            <a:off x="837990" y="1825625"/>
            <a:ext cx="105129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9250" lvl="0" marL="45720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1pPr>
            <a:lvl2pPr indent="-34925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2pPr>
            <a:lvl3pPr indent="-34925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3pPr>
            <a:lvl4pPr indent="-34925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4pPr>
            <a:lvl5pPr indent="-34925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5pPr>
            <a:lvl6pPr indent="-34925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indent="-34925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indent="-34925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indent="-349250" lvl="8" marL="4114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0" type="dt"/>
          </p:nvPr>
        </p:nvSpPr>
        <p:spPr>
          <a:xfrm>
            <a:off x="837990" y="6356350"/>
            <a:ext cx="2742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1" type="ftr"/>
          </p:nvPr>
        </p:nvSpPr>
        <p:spPr>
          <a:xfrm>
            <a:off x="4037590" y="6356350"/>
            <a:ext cx="4113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2" type="sldNum"/>
          </p:nvPr>
        </p:nvSpPr>
        <p:spPr>
          <a:xfrm>
            <a:off x="8608446" y="6356350"/>
            <a:ext cx="2742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6" name="Google Shape;26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59129" y="4128138"/>
            <a:ext cx="2932615" cy="274911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79" y="6014906"/>
            <a:ext cx="865792" cy="8628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37793" y="100668"/>
            <a:ext cx="902991" cy="8643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"/>
          <p:cNvSpPr txBox="1"/>
          <p:nvPr>
            <p:ph type="title"/>
          </p:nvPr>
        </p:nvSpPr>
        <p:spPr>
          <a:xfrm>
            <a:off x="831642" y="1709738"/>
            <a:ext cx="10512900" cy="285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0" type="dt"/>
          </p:nvPr>
        </p:nvSpPr>
        <p:spPr>
          <a:xfrm>
            <a:off x="837990" y="6356350"/>
            <a:ext cx="2742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32" name="Google Shape;32;p4"/>
          <p:cNvSpPr txBox="1"/>
          <p:nvPr>
            <p:ph idx="11" type="ftr"/>
          </p:nvPr>
        </p:nvSpPr>
        <p:spPr>
          <a:xfrm>
            <a:off x="4037590" y="6356350"/>
            <a:ext cx="4113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33" name="Google Shape;33;p4"/>
          <p:cNvSpPr txBox="1"/>
          <p:nvPr>
            <p:ph idx="12" type="sldNum"/>
          </p:nvPr>
        </p:nvSpPr>
        <p:spPr>
          <a:xfrm>
            <a:off x="8608446" y="6356350"/>
            <a:ext cx="2742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4" name="Google Shape;34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59129" y="4128138"/>
            <a:ext cx="2932615" cy="274911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" name="Google Shape;35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79" y="6014906"/>
            <a:ext cx="865792" cy="862817"/>
          </a:xfrm>
          <a:prstGeom prst="rect">
            <a:avLst/>
          </a:prstGeom>
          <a:noFill/>
          <a:ln>
            <a:noFill/>
          </a:ln>
        </p:spPr>
      </p:pic>
      <p:pic>
        <p:nvPicPr>
          <p:cNvPr id="36" name="Google Shape;36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37793" y="100668"/>
            <a:ext cx="902991" cy="8643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5"/>
          <p:cNvSpPr txBox="1"/>
          <p:nvPr>
            <p:ph type="title"/>
          </p:nvPr>
        </p:nvSpPr>
        <p:spPr>
          <a:xfrm>
            <a:off x="837990" y="365125"/>
            <a:ext cx="105129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" type="body"/>
          </p:nvPr>
        </p:nvSpPr>
        <p:spPr>
          <a:xfrm>
            <a:off x="837990" y="1825625"/>
            <a:ext cx="51804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9250" lvl="0" marL="4572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1pPr>
            <a:lvl2pPr indent="-34925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2pPr>
            <a:lvl3pPr indent="-34925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3pPr>
            <a:lvl4pPr indent="-34925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4pPr>
            <a:lvl5pPr indent="-34925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5pPr>
            <a:lvl6pPr indent="-34925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indent="-34925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indent="-34925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indent="-34925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2" type="body"/>
          </p:nvPr>
        </p:nvSpPr>
        <p:spPr>
          <a:xfrm>
            <a:off x="6170656" y="1825625"/>
            <a:ext cx="51804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9250" lvl="0" marL="4572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1pPr>
            <a:lvl2pPr indent="-34925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2pPr>
            <a:lvl3pPr indent="-34925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3pPr>
            <a:lvl4pPr indent="-34925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4pPr>
            <a:lvl5pPr indent="-34925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5pPr>
            <a:lvl6pPr indent="-34925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indent="-34925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indent="-34925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indent="-34925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10" type="dt"/>
          </p:nvPr>
        </p:nvSpPr>
        <p:spPr>
          <a:xfrm>
            <a:off x="837990" y="6356350"/>
            <a:ext cx="2742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11" type="ftr"/>
          </p:nvPr>
        </p:nvSpPr>
        <p:spPr>
          <a:xfrm>
            <a:off x="4037590" y="6356350"/>
            <a:ext cx="4113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idx="12" type="sldNum"/>
          </p:nvPr>
        </p:nvSpPr>
        <p:spPr>
          <a:xfrm>
            <a:off x="8608446" y="6356350"/>
            <a:ext cx="2742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44" name="Google Shape;44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59129" y="4128138"/>
            <a:ext cx="2932615" cy="274911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" name="Google Shape;45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79" y="6014906"/>
            <a:ext cx="865792" cy="862817"/>
          </a:xfrm>
          <a:prstGeom prst="rect">
            <a:avLst/>
          </a:prstGeom>
          <a:noFill/>
          <a:ln>
            <a:noFill/>
          </a:ln>
        </p:spPr>
      </p:pic>
      <p:pic>
        <p:nvPicPr>
          <p:cNvPr id="46" name="Google Shape;46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37793" y="100668"/>
            <a:ext cx="902991" cy="8643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6"/>
          <p:cNvSpPr txBox="1"/>
          <p:nvPr>
            <p:ph type="title"/>
          </p:nvPr>
        </p:nvSpPr>
        <p:spPr>
          <a:xfrm>
            <a:off x="839578" y="365125"/>
            <a:ext cx="105129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1" type="body"/>
          </p:nvPr>
        </p:nvSpPr>
        <p:spPr>
          <a:xfrm>
            <a:off x="839578" y="1681163"/>
            <a:ext cx="5156400" cy="82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b="1" sz="19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0" name="Google Shape;50;p6"/>
          <p:cNvSpPr txBox="1"/>
          <p:nvPr>
            <p:ph idx="2" type="body"/>
          </p:nvPr>
        </p:nvSpPr>
        <p:spPr>
          <a:xfrm>
            <a:off x="839578" y="2505075"/>
            <a:ext cx="5156400" cy="36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9250" lvl="0" marL="4572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1pPr>
            <a:lvl2pPr indent="-34925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2pPr>
            <a:lvl3pPr indent="-34925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3pPr>
            <a:lvl4pPr indent="-34925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4pPr>
            <a:lvl5pPr indent="-34925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5pPr>
            <a:lvl6pPr indent="-34925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indent="-34925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indent="-34925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indent="-34925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3" type="body"/>
          </p:nvPr>
        </p:nvSpPr>
        <p:spPr>
          <a:xfrm>
            <a:off x="6170656" y="1681163"/>
            <a:ext cx="5181900" cy="82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b="1" sz="19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2" name="Google Shape;52;p6"/>
          <p:cNvSpPr txBox="1"/>
          <p:nvPr>
            <p:ph idx="4" type="body"/>
          </p:nvPr>
        </p:nvSpPr>
        <p:spPr>
          <a:xfrm>
            <a:off x="6170656" y="2505075"/>
            <a:ext cx="5181900" cy="36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9250" lvl="0" marL="4572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1pPr>
            <a:lvl2pPr indent="-34925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2pPr>
            <a:lvl3pPr indent="-34925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3pPr>
            <a:lvl4pPr indent="-34925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4pPr>
            <a:lvl5pPr indent="-34925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5pPr>
            <a:lvl6pPr indent="-34925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indent="-34925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indent="-34925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indent="-34925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/>
        </p:txBody>
      </p:sp>
      <p:sp>
        <p:nvSpPr>
          <p:cNvPr id="53" name="Google Shape;53;p6"/>
          <p:cNvSpPr txBox="1"/>
          <p:nvPr>
            <p:ph idx="10" type="dt"/>
          </p:nvPr>
        </p:nvSpPr>
        <p:spPr>
          <a:xfrm>
            <a:off x="837990" y="6356350"/>
            <a:ext cx="2742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54" name="Google Shape;54;p6"/>
          <p:cNvSpPr txBox="1"/>
          <p:nvPr>
            <p:ph idx="11" type="ftr"/>
          </p:nvPr>
        </p:nvSpPr>
        <p:spPr>
          <a:xfrm>
            <a:off x="4037590" y="6356350"/>
            <a:ext cx="4113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55" name="Google Shape;55;p6"/>
          <p:cNvSpPr txBox="1"/>
          <p:nvPr>
            <p:ph idx="12" type="sldNum"/>
          </p:nvPr>
        </p:nvSpPr>
        <p:spPr>
          <a:xfrm>
            <a:off x="8608446" y="6356350"/>
            <a:ext cx="2742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56" name="Google Shape;56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59129" y="4128138"/>
            <a:ext cx="2932615" cy="274911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79" y="6014906"/>
            <a:ext cx="865792" cy="862817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37793" y="100668"/>
            <a:ext cx="902991" cy="8643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7"/>
          <p:cNvSpPr txBox="1"/>
          <p:nvPr>
            <p:ph type="title"/>
          </p:nvPr>
        </p:nvSpPr>
        <p:spPr>
          <a:xfrm>
            <a:off x="837990" y="365125"/>
            <a:ext cx="105129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61" name="Google Shape;61;p7"/>
          <p:cNvSpPr txBox="1"/>
          <p:nvPr>
            <p:ph idx="10" type="dt"/>
          </p:nvPr>
        </p:nvSpPr>
        <p:spPr>
          <a:xfrm>
            <a:off x="837990" y="6356350"/>
            <a:ext cx="2742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62" name="Google Shape;62;p7"/>
          <p:cNvSpPr txBox="1"/>
          <p:nvPr>
            <p:ph idx="11" type="ftr"/>
          </p:nvPr>
        </p:nvSpPr>
        <p:spPr>
          <a:xfrm>
            <a:off x="4037590" y="6356350"/>
            <a:ext cx="4113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63" name="Google Shape;63;p7"/>
          <p:cNvSpPr txBox="1"/>
          <p:nvPr>
            <p:ph idx="12" type="sldNum"/>
          </p:nvPr>
        </p:nvSpPr>
        <p:spPr>
          <a:xfrm>
            <a:off x="8608446" y="6356350"/>
            <a:ext cx="2742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4" name="Google Shape;64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59129" y="4128138"/>
            <a:ext cx="2932615" cy="274911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79" y="6014906"/>
            <a:ext cx="865792" cy="862817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37793" y="100668"/>
            <a:ext cx="902991" cy="8643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"/>
          <p:cNvSpPr txBox="1"/>
          <p:nvPr>
            <p:ph idx="10" type="dt"/>
          </p:nvPr>
        </p:nvSpPr>
        <p:spPr>
          <a:xfrm>
            <a:off x="837990" y="6356350"/>
            <a:ext cx="2742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69" name="Google Shape;69;p8"/>
          <p:cNvSpPr txBox="1"/>
          <p:nvPr>
            <p:ph idx="11" type="ftr"/>
          </p:nvPr>
        </p:nvSpPr>
        <p:spPr>
          <a:xfrm>
            <a:off x="4037590" y="6356350"/>
            <a:ext cx="4113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70" name="Google Shape;70;p8"/>
          <p:cNvSpPr txBox="1"/>
          <p:nvPr>
            <p:ph idx="12" type="sldNum"/>
          </p:nvPr>
        </p:nvSpPr>
        <p:spPr>
          <a:xfrm>
            <a:off x="8608446" y="6356350"/>
            <a:ext cx="2742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71" name="Google Shape;71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59129" y="4128138"/>
            <a:ext cx="2932615" cy="2749110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79" y="6014906"/>
            <a:ext cx="865792" cy="862817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37793" y="100668"/>
            <a:ext cx="902991" cy="8643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9"/>
          <p:cNvSpPr txBox="1"/>
          <p:nvPr>
            <p:ph type="title"/>
          </p:nvPr>
        </p:nvSpPr>
        <p:spPr>
          <a:xfrm>
            <a:off x="839578" y="457200"/>
            <a:ext cx="3931500" cy="1600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76" name="Google Shape;76;p9"/>
          <p:cNvSpPr txBox="1"/>
          <p:nvPr>
            <p:ph idx="1" type="body"/>
          </p:nvPr>
        </p:nvSpPr>
        <p:spPr>
          <a:xfrm>
            <a:off x="5181891" y="987425"/>
            <a:ext cx="6171000" cy="48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77" name="Google Shape;77;p9"/>
          <p:cNvSpPr txBox="1"/>
          <p:nvPr>
            <p:ph idx="2" type="body"/>
          </p:nvPr>
        </p:nvSpPr>
        <p:spPr>
          <a:xfrm>
            <a:off x="839578" y="2057400"/>
            <a:ext cx="3931500" cy="3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9pPr>
          </a:lstStyle>
          <a:p/>
        </p:txBody>
      </p:sp>
      <p:sp>
        <p:nvSpPr>
          <p:cNvPr id="78" name="Google Shape;78;p9"/>
          <p:cNvSpPr txBox="1"/>
          <p:nvPr>
            <p:ph idx="10" type="dt"/>
          </p:nvPr>
        </p:nvSpPr>
        <p:spPr>
          <a:xfrm>
            <a:off x="837990" y="6356350"/>
            <a:ext cx="2742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79" name="Google Shape;79;p9"/>
          <p:cNvSpPr txBox="1"/>
          <p:nvPr>
            <p:ph idx="11" type="ftr"/>
          </p:nvPr>
        </p:nvSpPr>
        <p:spPr>
          <a:xfrm>
            <a:off x="4037590" y="6356350"/>
            <a:ext cx="4113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80" name="Google Shape;80;p9"/>
          <p:cNvSpPr txBox="1"/>
          <p:nvPr>
            <p:ph idx="12" type="sldNum"/>
          </p:nvPr>
        </p:nvSpPr>
        <p:spPr>
          <a:xfrm>
            <a:off x="8608446" y="6356350"/>
            <a:ext cx="2742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81" name="Google Shape;81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59129" y="4128138"/>
            <a:ext cx="2932615" cy="2749110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79" y="6014906"/>
            <a:ext cx="865792" cy="862817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37793" y="100668"/>
            <a:ext cx="902991" cy="8643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0"/>
          <p:cNvSpPr txBox="1"/>
          <p:nvPr>
            <p:ph type="title"/>
          </p:nvPr>
        </p:nvSpPr>
        <p:spPr>
          <a:xfrm>
            <a:off x="839578" y="457200"/>
            <a:ext cx="3931500" cy="1600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86" name="Google Shape;86;p10"/>
          <p:cNvSpPr/>
          <p:nvPr>
            <p:ph idx="2" type="pic"/>
          </p:nvPr>
        </p:nvSpPr>
        <p:spPr>
          <a:xfrm>
            <a:off x="5181891" y="987425"/>
            <a:ext cx="61710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87" name="Google Shape;87;p10"/>
          <p:cNvSpPr txBox="1"/>
          <p:nvPr>
            <p:ph idx="1" type="body"/>
          </p:nvPr>
        </p:nvSpPr>
        <p:spPr>
          <a:xfrm>
            <a:off x="839578" y="2057400"/>
            <a:ext cx="3931500" cy="3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9pPr>
          </a:lstStyle>
          <a:p/>
        </p:txBody>
      </p:sp>
      <p:sp>
        <p:nvSpPr>
          <p:cNvPr id="88" name="Google Shape;88;p10"/>
          <p:cNvSpPr txBox="1"/>
          <p:nvPr>
            <p:ph idx="10" type="dt"/>
          </p:nvPr>
        </p:nvSpPr>
        <p:spPr>
          <a:xfrm>
            <a:off x="837990" y="6356350"/>
            <a:ext cx="2742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89" name="Google Shape;89;p10"/>
          <p:cNvSpPr txBox="1"/>
          <p:nvPr>
            <p:ph idx="11" type="ftr"/>
          </p:nvPr>
        </p:nvSpPr>
        <p:spPr>
          <a:xfrm>
            <a:off x="4037590" y="6356350"/>
            <a:ext cx="4113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90" name="Google Shape;90;p10"/>
          <p:cNvSpPr txBox="1"/>
          <p:nvPr>
            <p:ph idx="12" type="sldNum"/>
          </p:nvPr>
        </p:nvSpPr>
        <p:spPr>
          <a:xfrm>
            <a:off x="8608446" y="6356350"/>
            <a:ext cx="2742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1" name="Google Shape;91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59129" y="4128138"/>
            <a:ext cx="2932615" cy="274911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79" y="6014906"/>
            <a:ext cx="865792" cy="862817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37793" y="100668"/>
            <a:ext cx="902991" cy="8643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1"/>
          <p:cNvSpPr txBox="1"/>
          <p:nvPr>
            <p:ph type="title"/>
          </p:nvPr>
        </p:nvSpPr>
        <p:spPr>
          <a:xfrm>
            <a:off x="837990" y="365125"/>
            <a:ext cx="105129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96" name="Google Shape;96;p11"/>
          <p:cNvSpPr txBox="1"/>
          <p:nvPr>
            <p:ph idx="1" type="body"/>
          </p:nvPr>
        </p:nvSpPr>
        <p:spPr>
          <a:xfrm rot="5400000">
            <a:off x="3918910" y="-1255225"/>
            <a:ext cx="4351200" cy="105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9250" lvl="0" marL="4572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1pPr>
            <a:lvl2pPr indent="-34925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2pPr>
            <a:lvl3pPr indent="-34925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3pPr>
            <a:lvl4pPr indent="-34925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4pPr>
            <a:lvl5pPr indent="-34925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5pPr>
            <a:lvl6pPr indent="-34925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indent="-34925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indent="-34925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indent="-34925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/>
        </p:txBody>
      </p:sp>
      <p:sp>
        <p:nvSpPr>
          <p:cNvPr id="97" name="Google Shape;97;p11"/>
          <p:cNvSpPr txBox="1"/>
          <p:nvPr>
            <p:ph idx="10" type="dt"/>
          </p:nvPr>
        </p:nvSpPr>
        <p:spPr>
          <a:xfrm>
            <a:off x="837990" y="6356350"/>
            <a:ext cx="2742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98" name="Google Shape;98;p11"/>
          <p:cNvSpPr txBox="1"/>
          <p:nvPr>
            <p:ph idx="11" type="ftr"/>
          </p:nvPr>
        </p:nvSpPr>
        <p:spPr>
          <a:xfrm>
            <a:off x="4037590" y="6356350"/>
            <a:ext cx="4113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99" name="Google Shape;99;p11"/>
          <p:cNvSpPr txBox="1"/>
          <p:nvPr>
            <p:ph idx="12" type="sldNum"/>
          </p:nvPr>
        </p:nvSpPr>
        <p:spPr>
          <a:xfrm>
            <a:off x="8608446" y="6356350"/>
            <a:ext cx="2742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00" name="Google Shape;100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59129" y="4128138"/>
            <a:ext cx="2932615" cy="274911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79" y="6014906"/>
            <a:ext cx="865792" cy="8628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37793" y="100668"/>
            <a:ext cx="902991" cy="8643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2"/>
          <p:cNvSpPr txBox="1"/>
          <p:nvPr>
            <p:ph type="title"/>
          </p:nvPr>
        </p:nvSpPr>
        <p:spPr>
          <a:xfrm rot="5400000">
            <a:off x="7131010" y="1957075"/>
            <a:ext cx="5811900" cy="262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105" name="Google Shape;105;p12"/>
          <p:cNvSpPr txBox="1"/>
          <p:nvPr>
            <p:ph idx="1" type="body"/>
          </p:nvPr>
        </p:nvSpPr>
        <p:spPr>
          <a:xfrm rot="5400000">
            <a:off x="1798155" y="-595175"/>
            <a:ext cx="5811900" cy="773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9250" lvl="0" marL="4572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1pPr>
            <a:lvl2pPr indent="-34925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2pPr>
            <a:lvl3pPr indent="-34925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3pPr>
            <a:lvl4pPr indent="-34925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4pPr>
            <a:lvl5pPr indent="-34925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5pPr>
            <a:lvl6pPr indent="-34925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indent="-34925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indent="-34925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indent="-34925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/>
        </p:txBody>
      </p:sp>
      <p:sp>
        <p:nvSpPr>
          <p:cNvPr id="106" name="Google Shape;106;p12"/>
          <p:cNvSpPr txBox="1"/>
          <p:nvPr>
            <p:ph idx="10" type="dt"/>
          </p:nvPr>
        </p:nvSpPr>
        <p:spPr>
          <a:xfrm>
            <a:off x="837990" y="6356350"/>
            <a:ext cx="2742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107" name="Google Shape;107;p12"/>
          <p:cNvSpPr txBox="1"/>
          <p:nvPr>
            <p:ph idx="11" type="ftr"/>
          </p:nvPr>
        </p:nvSpPr>
        <p:spPr>
          <a:xfrm>
            <a:off x="4037590" y="6356350"/>
            <a:ext cx="4113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108" name="Google Shape;108;p12"/>
          <p:cNvSpPr txBox="1"/>
          <p:nvPr>
            <p:ph idx="12" type="sldNum"/>
          </p:nvPr>
        </p:nvSpPr>
        <p:spPr>
          <a:xfrm>
            <a:off x="8608446" y="6356350"/>
            <a:ext cx="2742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09" name="Google Shape;109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59129" y="4128138"/>
            <a:ext cx="2932615" cy="274911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79" y="6014906"/>
            <a:ext cx="865792" cy="8628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37793" y="100668"/>
            <a:ext cx="902991" cy="8643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3"/>
          <p:cNvSpPr/>
          <p:nvPr/>
        </p:nvSpPr>
        <p:spPr>
          <a:xfrm>
            <a:off x="0" y="0"/>
            <a:ext cx="12189000" cy="65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4" name="Google Shape;114;p13"/>
          <p:cNvGrpSpPr/>
          <p:nvPr/>
        </p:nvGrpSpPr>
        <p:grpSpPr>
          <a:xfrm>
            <a:off x="1486655" y="1006955"/>
            <a:ext cx="994103" cy="61102"/>
            <a:chOff x="4580561" y="2589004"/>
            <a:chExt cx="1064464" cy="25200"/>
          </a:xfrm>
        </p:grpSpPr>
        <p:sp>
          <p:nvSpPr>
            <p:cNvPr id="115" name="Google Shape;115;p1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21875" lIns="121875" spcFirstLastPara="1" rIns="121875" wrap="square" tIns="1218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" name="Google Shape;116;p1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21875" lIns="121875" spcFirstLastPara="1" rIns="121875" wrap="square" tIns="1218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7" name="Google Shape;117;p13"/>
          <p:cNvSpPr txBox="1"/>
          <p:nvPr>
            <p:ph type="title"/>
          </p:nvPr>
        </p:nvSpPr>
        <p:spPr>
          <a:xfrm>
            <a:off x="1486661" y="1176700"/>
            <a:ext cx="9215700" cy="713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875" lIns="121875" spcFirstLastPara="1" rIns="121875" wrap="square" tIns="1218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9pPr>
          </a:lstStyle>
          <a:p/>
        </p:txBody>
      </p:sp>
      <p:sp>
        <p:nvSpPr>
          <p:cNvPr id="118" name="Google Shape;118;p13"/>
          <p:cNvSpPr txBox="1"/>
          <p:nvPr>
            <p:ph idx="1" type="body"/>
          </p:nvPr>
        </p:nvSpPr>
        <p:spPr>
          <a:xfrm>
            <a:off x="1486661" y="2190333"/>
            <a:ext cx="9215700" cy="374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875" lIns="121875" spcFirstLastPara="1" rIns="121875" wrap="square" tIns="121875">
            <a:normAutofit/>
          </a:bodyPr>
          <a:lstStyle>
            <a:lvl1pPr indent="-355600" lvl="0" marL="457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1pPr>
            <a:lvl2pPr indent="-336550" lvl="1" marL="9144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Char char="○"/>
              <a:defRPr sz="1700"/>
            </a:lvl2pPr>
            <a:lvl3pPr indent="-336550" lvl="2" marL="13716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Char char="■"/>
              <a:defRPr sz="1700"/>
            </a:lvl3pPr>
            <a:lvl4pPr indent="-336550" lvl="3" marL="18288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  <a:defRPr sz="1700"/>
            </a:lvl4pPr>
            <a:lvl5pPr indent="-336550" lvl="4" marL="22860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Char char="○"/>
              <a:defRPr sz="1700"/>
            </a:lvl5pPr>
            <a:lvl6pPr indent="-336550" lvl="5" marL="2743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Char char="■"/>
              <a:defRPr sz="1700"/>
            </a:lvl6pPr>
            <a:lvl7pPr indent="-336550" lvl="6" marL="32004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  <a:defRPr sz="1700"/>
            </a:lvl7pPr>
            <a:lvl8pPr indent="-336550" lvl="7" marL="36576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Char char="○"/>
              <a:defRPr sz="1700"/>
            </a:lvl8pPr>
            <a:lvl9pPr indent="-336550" lvl="8" marL="41148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Char char="■"/>
              <a:defRPr sz="1700"/>
            </a:lvl9pPr>
          </a:lstStyle>
          <a:p/>
        </p:txBody>
      </p:sp>
      <p:sp>
        <p:nvSpPr>
          <p:cNvPr id="119" name="Google Shape;119;p13"/>
          <p:cNvSpPr txBox="1"/>
          <p:nvPr>
            <p:ph idx="12" type="sldNum"/>
          </p:nvPr>
        </p:nvSpPr>
        <p:spPr>
          <a:xfrm>
            <a:off x="11378889" y="6333135"/>
            <a:ext cx="7314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875" lIns="121875" spcFirstLastPara="1" rIns="121875" wrap="square" tIns="12187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837990" y="365125"/>
            <a:ext cx="105129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837990" y="1825625"/>
            <a:ext cx="105129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925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925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925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925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925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925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837990" y="6356350"/>
            <a:ext cx="2742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4037590" y="6356350"/>
            <a:ext cx="4113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8608446" y="6356350"/>
            <a:ext cx="2742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4"/>
          <p:cNvSpPr txBox="1"/>
          <p:nvPr/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700">
                <a:solidFill>
                  <a:srgbClr val="000000"/>
                </a:solidFill>
              </a:rPr>
              <a:t>CSE470: Software Engineering</a:t>
            </a:r>
            <a:endParaRPr sz="6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4"/>
          <p:cNvSpPr txBox="1"/>
          <p:nvPr/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>
                <a:latin typeface="Calibri"/>
                <a:ea typeface="Calibri"/>
                <a:cs typeface="Calibri"/>
                <a:sym typeface="Calibri"/>
              </a:rPr>
              <a:t>Factory </a:t>
            </a:r>
            <a:r>
              <a:rPr lang="en" sz="33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Pattern</a:t>
            </a:r>
            <a:endParaRPr sz="33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5"/>
          <p:cNvSpPr txBox="1"/>
          <p:nvPr>
            <p:ph type="title"/>
          </p:nvPr>
        </p:nvSpPr>
        <p:spPr>
          <a:xfrm>
            <a:off x="837990" y="365125"/>
            <a:ext cx="105129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Factory Method Pattern</a:t>
            </a:r>
            <a:endParaRPr/>
          </a:p>
        </p:txBody>
      </p:sp>
      <p:sp>
        <p:nvSpPr>
          <p:cNvPr id="131" name="Google Shape;131;p15"/>
          <p:cNvSpPr txBox="1"/>
          <p:nvPr>
            <p:ph idx="1" type="body"/>
          </p:nvPr>
        </p:nvSpPr>
        <p:spPr>
          <a:xfrm>
            <a:off x="837990" y="1825625"/>
            <a:ext cx="105129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9250" lvl="0" marL="457200" rtl="0" algn="l">
              <a:spcBef>
                <a:spcPts val="1100"/>
              </a:spcBef>
              <a:spcAft>
                <a:spcPts val="0"/>
              </a:spcAft>
              <a:buSzPts val="1900"/>
              <a:buChar char="•"/>
            </a:pPr>
            <a:r>
              <a:rPr lang="en"/>
              <a:t>Defines an interface for creating an object, but lets subclasses decide which class to instantiate.</a:t>
            </a:r>
            <a:endParaRPr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•"/>
            </a:pPr>
            <a:r>
              <a:rPr lang="en"/>
              <a:t>Factory Method lets a class defer instantiation to its subclasses.</a:t>
            </a:r>
            <a:endParaRPr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•"/>
            </a:pPr>
            <a:r>
              <a:rPr lang="en"/>
              <a:t>Also known as the Virtual Constructor.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6"/>
          <p:cNvSpPr txBox="1"/>
          <p:nvPr>
            <p:ph type="title"/>
          </p:nvPr>
        </p:nvSpPr>
        <p:spPr>
          <a:xfrm>
            <a:off x="837990" y="365125"/>
            <a:ext cx="105129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Factory Method Pattern - Example</a:t>
            </a:r>
            <a:endParaRPr/>
          </a:p>
        </p:txBody>
      </p:sp>
      <p:sp>
        <p:nvSpPr>
          <p:cNvPr id="137" name="Google Shape;137;p16"/>
          <p:cNvSpPr txBox="1"/>
          <p:nvPr>
            <p:ph idx="1" type="body"/>
          </p:nvPr>
        </p:nvSpPr>
        <p:spPr>
          <a:xfrm>
            <a:off x="838000" y="1825625"/>
            <a:ext cx="5256600" cy="3346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Ubuntu Mono"/>
                <a:ea typeface="Ubuntu Mono"/>
                <a:cs typeface="Ubuntu Mono"/>
                <a:sym typeface="Ubuntu Mono"/>
              </a:rPr>
              <a:t>public abstract class Document {</a:t>
            </a:r>
            <a:endParaRPr sz="16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Ubuntu Mono"/>
                <a:ea typeface="Ubuntu Mono"/>
                <a:cs typeface="Ubuntu Mono"/>
                <a:sym typeface="Ubuntu Mono"/>
              </a:rPr>
              <a:t>	public abstract void open();</a:t>
            </a:r>
            <a:endParaRPr sz="16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Ubuntu Mono"/>
                <a:ea typeface="Ubuntu Mono"/>
                <a:cs typeface="Ubuntu Mono"/>
                <a:sym typeface="Ubuntu Mono"/>
              </a:rPr>
              <a:t>}</a:t>
            </a:r>
            <a:endParaRPr sz="16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latin typeface="Ubuntu Mono"/>
                <a:ea typeface="Ubuntu Mono"/>
                <a:cs typeface="Ubuntu Mono"/>
                <a:sym typeface="Ubuntu Mono"/>
              </a:rPr>
              <a:t>public class DrawingDocument extends Document {</a:t>
            </a:r>
            <a:endParaRPr sz="16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latin typeface="Ubuntu Mono"/>
                <a:ea typeface="Ubuntu Mono"/>
                <a:cs typeface="Ubuntu Mono"/>
                <a:sym typeface="Ubuntu Mono"/>
              </a:rPr>
              <a:t>	public void open() {/* ... */}</a:t>
            </a:r>
            <a:endParaRPr sz="16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Ubuntu Mono"/>
                <a:ea typeface="Ubuntu Mono"/>
                <a:cs typeface="Ubuntu Mono"/>
                <a:sym typeface="Ubuntu Mono"/>
              </a:rPr>
              <a:t>}</a:t>
            </a:r>
            <a:endParaRPr sz="16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Ubuntu Mono"/>
                <a:ea typeface="Ubuntu Mono"/>
                <a:cs typeface="Ubuntu Mono"/>
                <a:sym typeface="Ubuntu Mono"/>
              </a:rPr>
              <a:t>public class TextDocument extends Document {</a:t>
            </a:r>
            <a:endParaRPr sz="16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Ubuntu Mono"/>
                <a:ea typeface="Ubuntu Mono"/>
                <a:cs typeface="Ubuntu Mono"/>
                <a:sym typeface="Ubuntu Mono"/>
              </a:rPr>
              <a:t>	public void open() {/* ... */}</a:t>
            </a:r>
            <a:endParaRPr sz="16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latin typeface="Ubuntu Mono"/>
                <a:ea typeface="Ubuntu Mono"/>
                <a:cs typeface="Ubuntu Mono"/>
                <a:sym typeface="Ubuntu Mono"/>
              </a:rPr>
              <a:t>}</a:t>
            </a:r>
            <a:endParaRPr sz="1600">
              <a:latin typeface="Ubuntu Mono"/>
              <a:ea typeface="Ubuntu Mono"/>
              <a:cs typeface="Ubuntu Mono"/>
              <a:sym typeface="Ubuntu Mono"/>
            </a:endParaRPr>
          </a:p>
        </p:txBody>
      </p:sp>
      <p:sp>
        <p:nvSpPr>
          <p:cNvPr id="138" name="Google Shape;138;p16"/>
          <p:cNvSpPr txBox="1"/>
          <p:nvPr>
            <p:ph idx="1" type="body"/>
          </p:nvPr>
        </p:nvSpPr>
        <p:spPr>
          <a:xfrm>
            <a:off x="6094600" y="1825625"/>
            <a:ext cx="5256600" cy="3346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Ubuntu Mono"/>
                <a:ea typeface="Ubuntu Mono"/>
                <a:cs typeface="Ubuntu Mono"/>
                <a:sym typeface="Ubuntu Mono"/>
              </a:rPr>
              <a:t>public class Application {</a:t>
            </a:r>
            <a:endParaRPr sz="1600">
              <a:latin typeface="Ubuntu Mono"/>
              <a:ea typeface="Ubuntu Mono"/>
              <a:cs typeface="Ubuntu Mono"/>
              <a:sym typeface="Ubuntu Mono"/>
            </a:endParaRPr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Ubuntu Mono"/>
                <a:ea typeface="Ubuntu Mono"/>
                <a:cs typeface="Ubuntu Mono"/>
                <a:sym typeface="Ubuntu Mono"/>
              </a:rPr>
              <a:t>public void newDocument() {</a:t>
            </a:r>
            <a:endParaRPr sz="1600">
              <a:latin typeface="Ubuntu Mono"/>
              <a:ea typeface="Ubuntu Mono"/>
              <a:cs typeface="Ubuntu Mono"/>
              <a:sym typeface="Ubuntu Mono"/>
            </a:endParaRPr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Ubuntu Mono"/>
                <a:ea typeface="Ubuntu Mono"/>
                <a:cs typeface="Ubuntu Mono"/>
                <a:sym typeface="Ubuntu Mono"/>
              </a:rPr>
              <a:t>// Document is abstract - cannot instantiate</a:t>
            </a:r>
            <a:endParaRPr sz="1600">
              <a:latin typeface="Ubuntu Mono"/>
              <a:ea typeface="Ubuntu Mono"/>
              <a:cs typeface="Ubuntu Mono"/>
              <a:sym typeface="Ubuntu Mono"/>
            </a:endParaRPr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Ubuntu Mono"/>
                <a:ea typeface="Ubuntu Mono"/>
                <a:cs typeface="Ubuntu Mono"/>
                <a:sym typeface="Ubuntu Mono"/>
              </a:rPr>
              <a:t>// Hard-coding a subclass locks us in.</a:t>
            </a:r>
            <a:endParaRPr sz="1600">
              <a:latin typeface="Ubuntu Mono"/>
              <a:ea typeface="Ubuntu Mono"/>
              <a:cs typeface="Ubuntu Mono"/>
              <a:sym typeface="Ubuntu Mono"/>
            </a:endParaRPr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Ubuntu Mono"/>
                <a:ea typeface="Ubuntu Mono"/>
                <a:cs typeface="Ubuntu Mono"/>
                <a:sym typeface="Ubuntu Mono"/>
              </a:rPr>
              <a:t>Document doc = new DrawingDocument();</a:t>
            </a:r>
            <a:endParaRPr sz="1600">
              <a:latin typeface="Ubuntu Mono"/>
              <a:ea typeface="Ubuntu Mono"/>
              <a:cs typeface="Ubuntu Mono"/>
              <a:sym typeface="Ubuntu Mono"/>
            </a:endParaRPr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Ubuntu Mono"/>
                <a:ea typeface="Ubuntu Mono"/>
                <a:cs typeface="Ubuntu Mono"/>
                <a:sym typeface="Ubuntu Mono"/>
              </a:rPr>
              <a:t>doc</a:t>
            </a:r>
            <a:r>
              <a:rPr lang="en" sz="1600">
                <a:latin typeface="Ubuntu Mono"/>
                <a:ea typeface="Ubuntu Mono"/>
                <a:cs typeface="Ubuntu Mono"/>
                <a:sym typeface="Ubuntu Mono"/>
              </a:rPr>
              <a:t>.open();</a:t>
            </a:r>
            <a:endParaRPr sz="16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Ubuntu Mono"/>
                <a:ea typeface="Ubuntu Mono"/>
                <a:cs typeface="Ubuntu Mono"/>
                <a:sym typeface="Ubuntu Mono"/>
              </a:rPr>
              <a:t>    }</a:t>
            </a:r>
            <a:endParaRPr sz="16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Ubuntu Mono"/>
                <a:ea typeface="Ubuntu Mono"/>
                <a:cs typeface="Ubuntu Mono"/>
                <a:sym typeface="Ubuntu Mono"/>
              </a:rPr>
              <a:t>}</a:t>
            </a:r>
            <a:endParaRPr sz="1600">
              <a:latin typeface="Ubuntu Mono"/>
              <a:ea typeface="Ubuntu Mono"/>
              <a:cs typeface="Ubuntu Mono"/>
              <a:sym typeface="Ubuntu Mono"/>
            </a:endParaRPr>
          </a:p>
        </p:txBody>
      </p:sp>
      <p:sp>
        <p:nvSpPr>
          <p:cNvPr id="139" name="Google Shape;139;p16"/>
          <p:cNvSpPr txBox="1"/>
          <p:nvPr>
            <p:ph idx="1" type="body"/>
          </p:nvPr>
        </p:nvSpPr>
        <p:spPr>
          <a:xfrm>
            <a:off x="838000" y="5172525"/>
            <a:ext cx="10512900" cy="1004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Application knows WHEN a document should be created, not WHAT KIND. Hard-coding the subclass is not a scalable solution.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7"/>
          <p:cNvSpPr txBox="1"/>
          <p:nvPr>
            <p:ph type="title"/>
          </p:nvPr>
        </p:nvSpPr>
        <p:spPr>
          <a:xfrm>
            <a:off x="837990" y="365125"/>
            <a:ext cx="105129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Factory Method Pattern</a:t>
            </a:r>
            <a:endParaRPr/>
          </a:p>
        </p:txBody>
      </p:sp>
      <p:sp>
        <p:nvSpPr>
          <p:cNvPr id="145" name="Google Shape;145;p17"/>
          <p:cNvSpPr txBox="1"/>
          <p:nvPr>
            <p:ph idx="1" type="body"/>
          </p:nvPr>
        </p:nvSpPr>
        <p:spPr>
          <a:xfrm>
            <a:off x="837990" y="1825625"/>
            <a:ext cx="105129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100"/>
              </a:spcBef>
              <a:spcAft>
                <a:spcPts val="0"/>
              </a:spcAft>
              <a:buNone/>
            </a:pPr>
            <a:r>
              <a:rPr b="1" lang="en"/>
              <a:t>Intent</a:t>
            </a:r>
            <a:r>
              <a:rPr lang="en"/>
              <a:t>: Define an interface for creating an object, but let subclasses decide which class to instantiate.</a:t>
            </a:r>
            <a:endParaRPr/>
          </a:p>
          <a:p>
            <a:pPr indent="0" lvl="0" marL="0" rtl="0" algn="l">
              <a:spcBef>
                <a:spcPts val="1100"/>
              </a:spcBef>
              <a:spcAft>
                <a:spcPts val="0"/>
              </a:spcAft>
              <a:buNone/>
            </a:pPr>
            <a:r>
              <a:rPr b="1" lang="en"/>
              <a:t>Motivation</a:t>
            </a:r>
            <a:r>
              <a:rPr lang="en"/>
              <a:t>:</a:t>
            </a:r>
            <a:endParaRPr/>
          </a:p>
          <a:p>
            <a:pPr indent="-349250" lvl="0" marL="457200" rtl="0" algn="l">
              <a:spcBef>
                <a:spcPts val="1100"/>
              </a:spcBef>
              <a:spcAft>
                <a:spcPts val="0"/>
              </a:spcAft>
              <a:buSzPts val="1900"/>
              <a:buChar char="•"/>
            </a:pPr>
            <a:r>
              <a:rPr lang="en"/>
              <a:t>A class cannot anticipate the class of objects it must create (e.g., a framework only knows abstract classes).</a:t>
            </a:r>
            <a:endParaRPr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•"/>
            </a:pPr>
            <a:r>
              <a:rPr lang="en"/>
              <a:t>A class wants its subclasses to specify the objects it creates.</a:t>
            </a:r>
            <a:endParaRPr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•"/>
            </a:pPr>
            <a:r>
              <a:rPr lang="en"/>
              <a:t>Classes delegate responsibility to one of several helper subclasses, and we want to localize the knowledge of which helper is the delegate.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8"/>
          <p:cNvSpPr txBox="1"/>
          <p:nvPr>
            <p:ph type="title"/>
          </p:nvPr>
        </p:nvSpPr>
        <p:spPr>
          <a:xfrm>
            <a:off x="837990" y="365125"/>
            <a:ext cx="105129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Factory Method Pattern</a:t>
            </a:r>
            <a:endParaRPr/>
          </a:p>
        </p:txBody>
      </p:sp>
      <p:sp>
        <p:nvSpPr>
          <p:cNvPr id="151" name="Google Shape;151;p18"/>
          <p:cNvSpPr txBox="1"/>
          <p:nvPr>
            <p:ph idx="1" type="body"/>
          </p:nvPr>
        </p:nvSpPr>
        <p:spPr>
          <a:xfrm>
            <a:off x="837990" y="1825625"/>
            <a:ext cx="105129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0" lvl="0" marL="0" rtl="0" algn="l">
              <a:spcBef>
                <a:spcPts val="1100"/>
              </a:spcBef>
              <a:spcAft>
                <a:spcPts val="0"/>
              </a:spcAft>
              <a:buNone/>
            </a:pPr>
            <a:r>
              <a:rPr b="1" lang="en"/>
              <a:t>Participants:</a:t>
            </a:r>
            <a:endParaRPr b="1"/>
          </a:p>
          <a:p>
            <a:pPr indent="0" lvl="0" marL="0" rtl="0" algn="l"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b="1" lang="en"/>
              <a:t>Product</a:t>
            </a:r>
            <a:r>
              <a:rPr lang="en"/>
              <a:t> (e.g., Document)</a:t>
            </a:r>
            <a:endParaRPr/>
          </a:p>
          <a:p>
            <a:pPr indent="0" lvl="0" marL="0" rtl="0" algn="l"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/>
              <a:t>    – Defines the interface of the objects the factory method creates.</a:t>
            </a:r>
            <a:endParaRPr/>
          </a:p>
          <a:p>
            <a:pPr indent="0" lvl="0" marL="0" rtl="0" algn="l"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b="1" lang="en"/>
              <a:t>ConcreteProduct</a:t>
            </a:r>
            <a:r>
              <a:rPr lang="en"/>
              <a:t> (e.g., MyDocument)</a:t>
            </a:r>
            <a:endParaRPr/>
          </a:p>
          <a:p>
            <a:pPr indent="0" lvl="0" marL="0" rtl="0" algn="l"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/>
              <a:t>    – Implements the Product interface.</a:t>
            </a:r>
            <a:endParaRPr/>
          </a:p>
          <a:p>
            <a:pPr indent="0" lvl="0" marL="0" rtl="0" algn="l"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b="1" lang="en"/>
              <a:t>Creator</a:t>
            </a:r>
            <a:r>
              <a:rPr lang="en"/>
              <a:t> (e.g., Application)</a:t>
            </a:r>
            <a:endParaRPr/>
          </a:p>
          <a:p>
            <a:pPr indent="0" lvl="0" marL="0" rtl="0" algn="l"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/>
              <a:t>    – Declares the factory method, which returns an object of type Product. May call the factory method to create a Product object.</a:t>
            </a:r>
            <a:endParaRPr/>
          </a:p>
          <a:p>
            <a:pPr indent="0" lvl="0" marL="0" rtl="0" algn="l"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b="1" lang="en"/>
              <a:t>ConcreteCreator</a:t>
            </a:r>
            <a:r>
              <a:rPr lang="en"/>
              <a:t> (e.g., MyApplication)</a:t>
            </a:r>
            <a:endParaRPr/>
          </a:p>
          <a:p>
            <a:pPr indent="0" lvl="0" marL="0" rtl="0" algn="l">
              <a:spcBef>
                <a:spcPts val="1100"/>
              </a:spcBef>
              <a:spcAft>
                <a:spcPts val="0"/>
              </a:spcAft>
              <a:buNone/>
            </a:pPr>
            <a:r>
              <a:rPr lang="en"/>
              <a:t>    – Overrides the factory method to return an instance of a ConcreteProduct.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9"/>
          <p:cNvSpPr txBox="1"/>
          <p:nvPr>
            <p:ph type="title"/>
          </p:nvPr>
        </p:nvSpPr>
        <p:spPr>
          <a:xfrm>
            <a:off x="837990" y="365125"/>
            <a:ext cx="105129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Factory Method Pattern - Structure</a:t>
            </a:r>
            <a:endParaRPr/>
          </a:p>
        </p:txBody>
      </p:sp>
      <p:pic>
        <p:nvPicPr>
          <p:cNvPr id="157" name="Google Shape;157;p19"/>
          <p:cNvPicPr preferRelativeResize="0"/>
          <p:nvPr/>
        </p:nvPicPr>
        <p:blipFill rotWithShape="1">
          <a:blip r:embed="rId3">
            <a:alphaModFix/>
          </a:blip>
          <a:srcRect b="0" l="0" r="15782" t="0"/>
          <a:stretch/>
        </p:blipFill>
        <p:spPr>
          <a:xfrm>
            <a:off x="2096075" y="2121400"/>
            <a:ext cx="7996800" cy="40012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0"/>
          <p:cNvSpPr txBox="1"/>
          <p:nvPr>
            <p:ph type="title"/>
          </p:nvPr>
        </p:nvSpPr>
        <p:spPr>
          <a:xfrm>
            <a:off x="837990" y="365125"/>
            <a:ext cx="105129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Factory Method Pattern - Structure (Python)</a:t>
            </a:r>
            <a:endParaRPr/>
          </a:p>
        </p:txBody>
      </p:sp>
      <p:sp>
        <p:nvSpPr>
          <p:cNvPr id="163" name="Google Shape;163;p20"/>
          <p:cNvSpPr txBox="1"/>
          <p:nvPr>
            <p:ph idx="1" type="body"/>
          </p:nvPr>
        </p:nvSpPr>
        <p:spPr>
          <a:xfrm>
            <a:off x="837990" y="1825625"/>
            <a:ext cx="105129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5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from abc import ABC, abstractmethod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t/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class Product(ABC):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    @abstractmethod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    def operation(self): pass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t/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class ConcreteProduct(Product):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    def operation(self):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        print("ConcreteProduct operation")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t/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class Creator(ABC):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    @abstractmethod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    def create_product(self): pass   # the factory method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t/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    def operation(self):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        product = self.create_product()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        product.operation()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t/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class ConcreteCreator(Creator):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    def create_product(self):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        return ConcreteProduct()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1"/>
          <p:cNvSpPr txBox="1"/>
          <p:nvPr>
            <p:ph type="title"/>
          </p:nvPr>
        </p:nvSpPr>
        <p:spPr>
          <a:xfrm>
            <a:off x="837990" y="365125"/>
            <a:ext cx="105129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Factory Method Pattern</a:t>
            </a:r>
            <a:r>
              <a:rPr lang="en"/>
              <a:t> - Structure (Python)</a:t>
            </a:r>
            <a:endParaRPr/>
          </a:p>
        </p:txBody>
      </p:sp>
      <p:sp>
        <p:nvSpPr>
          <p:cNvPr id="169" name="Google Shape;169;p21"/>
          <p:cNvSpPr txBox="1"/>
          <p:nvPr>
            <p:ph idx="1" type="body"/>
          </p:nvPr>
        </p:nvSpPr>
        <p:spPr>
          <a:xfrm>
            <a:off x="837990" y="1825625"/>
            <a:ext cx="105129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latin typeface="Ubuntu Mono"/>
                <a:ea typeface="Ubuntu Mono"/>
                <a:cs typeface="Ubuntu Mono"/>
                <a:sym typeface="Ubuntu Mono"/>
              </a:rPr>
              <a:t>if __name__ == "__main__":</a:t>
            </a:r>
            <a:endParaRPr sz="15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latin typeface="Ubuntu Mono"/>
                <a:ea typeface="Ubuntu Mono"/>
                <a:cs typeface="Ubuntu Mono"/>
                <a:sym typeface="Ubuntu Mono"/>
              </a:rPr>
              <a:t>    # Client code works through the Creator interface;</a:t>
            </a:r>
            <a:endParaRPr sz="15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latin typeface="Ubuntu Mono"/>
                <a:ea typeface="Ubuntu Mono"/>
                <a:cs typeface="Ubuntu Mono"/>
                <a:sym typeface="Ubuntu Mono"/>
              </a:rPr>
              <a:t>    # the concrete subclass decides which Product is built.</a:t>
            </a:r>
            <a:endParaRPr sz="15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latin typeface="Ubuntu Mono"/>
                <a:ea typeface="Ubuntu Mono"/>
                <a:cs typeface="Ubuntu Mono"/>
                <a:sym typeface="Ubuntu Mono"/>
              </a:rPr>
              <a:t>    creator = ConcreteCreator()</a:t>
            </a:r>
            <a:endParaRPr sz="15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untu Mono"/>
                <a:ea typeface="Ubuntu Mono"/>
                <a:cs typeface="Ubuntu Mono"/>
                <a:sym typeface="Ubuntu Mono"/>
              </a:rPr>
              <a:t>    creator.operation()</a:t>
            </a:r>
            <a:endParaRPr sz="1500">
              <a:latin typeface="Ubuntu Mono"/>
              <a:ea typeface="Ubuntu Mono"/>
              <a:cs typeface="Ubuntu Mono"/>
              <a:sym typeface="Ubuntu Mon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2"/>
          <p:cNvSpPr txBox="1"/>
          <p:nvPr>
            <p:ph type="title"/>
          </p:nvPr>
        </p:nvSpPr>
        <p:spPr>
          <a:xfrm>
            <a:off x="837990" y="365125"/>
            <a:ext cx="105129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Factory Method Pattern</a:t>
            </a:r>
            <a:r>
              <a:rPr lang="en"/>
              <a:t> - Structure (Python)</a:t>
            </a:r>
            <a:endParaRPr/>
          </a:p>
        </p:txBody>
      </p:sp>
      <p:sp>
        <p:nvSpPr>
          <p:cNvPr id="175" name="Google Shape;175;p22"/>
          <p:cNvSpPr txBox="1"/>
          <p:nvPr>
            <p:ph idx="1" type="body"/>
          </p:nvPr>
        </p:nvSpPr>
        <p:spPr>
          <a:xfrm>
            <a:off x="837990" y="1825625"/>
            <a:ext cx="105129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OUTPUT=&gt;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ConcreteProduct operation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3"/>
          <p:cNvSpPr txBox="1"/>
          <p:nvPr>
            <p:ph type="title"/>
          </p:nvPr>
        </p:nvSpPr>
        <p:spPr>
          <a:xfrm>
            <a:off x="837990" y="365125"/>
            <a:ext cx="105129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Factory Method Pattern</a:t>
            </a:r>
            <a:r>
              <a:rPr lang="en"/>
              <a:t> - Example (Python)</a:t>
            </a:r>
            <a:endParaRPr/>
          </a:p>
        </p:txBody>
      </p:sp>
      <p:sp>
        <p:nvSpPr>
          <p:cNvPr id="181" name="Google Shape;181;p23"/>
          <p:cNvSpPr txBox="1"/>
          <p:nvPr>
            <p:ph idx="1" type="body"/>
          </p:nvPr>
        </p:nvSpPr>
        <p:spPr>
          <a:xfrm>
            <a:off x="837990" y="1825625"/>
            <a:ext cx="105129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475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from abc import ABC, abstractmethod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t/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class Document(ABC):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    @abstractmethod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    def open(self): pass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t/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class DrawingDocument(Document):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    def open(self): print("Opening drawing document")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t/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class TextDocument(Document):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    def open(self): print("Opening text document")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t/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class Application(ABC):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    @abstractmethod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    def create_document(self): pass   # factory method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t/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    def new_document(self):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        doc = self.create_document()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        doc.open()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t/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class DrawingApplication(Application):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    def create_document(self):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        return DrawingDocument()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4"/>
          <p:cNvSpPr txBox="1"/>
          <p:nvPr>
            <p:ph type="title"/>
          </p:nvPr>
        </p:nvSpPr>
        <p:spPr>
          <a:xfrm>
            <a:off x="837990" y="365125"/>
            <a:ext cx="105129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Factory Method Pattern</a:t>
            </a:r>
            <a:r>
              <a:rPr lang="en"/>
              <a:t> - Example (Python)</a:t>
            </a:r>
            <a:endParaRPr/>
          </a:p>
        </p:txBody>
      </p:sp>
      <p:sp>
        <p:nvSpPr>
          <p:cNvPr id="187" name="Google Shape;187;p24"/>
          <p:cNvSpPr txBox="1"/>
          <p:nvPr>
            <p:ph idx="1" type="body"/>
          </p:nvPr>
        </p:nvSpPr>
        <p:spPr>
          <a:xfrm>
            <a:off x="837990" y="1825625"/>
            <a:ext cx="105129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latin typeface="Ubuntu Mono"/>
                <a:ea typeface="Ubuntu Mono"/>
                <a:cs typeface="Ubuntu Mono"/>
                <a:sym typeface="Ubuntu Mono"/>
              </a:rPr>
              <a:t>if __name__ == "__main__":</a:t>
            </a:r>
            <a:endParaRPr sz="15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latin typeface="Ubuntu Mono"/>
                <a:ea typeface="Ubuntu Mono"/>
                <a:cs typeface="Ubuntu Mono"/>
                <a:sym typeface="Ubuntu Mono"/>
              </a:rPr>
              <a:t>    app = DrawingApplication()</a:t>
            </a:r>
            <a:endParaRPr sz="15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latin typeface="Ubuntu Mono"/>
                <a:ea typeface="Ubuntu Mono"/>
                <a:cs typeface="Ubuntu Mono"/>
                <a:sym typeface="Ubuntu Mono"/>
              </a:rPr>
              <a:t>    app.new_document()</a:t>
            </a:r>
            <a:endParaRPr sz="15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5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latin typeface="Ubuntu Mono"/>
                <a:ea typeface="Ubuntu Mono"/>
                <a:cs typeface="Ubuntu Mono"/>
                <a:sym typeface="Ubuntu Mono"/>
              </a:rPr>
              <a:t>    # Application never referenced DrawingDocument directly.</a:t>
            </a:r>
            <a:endParaRPr sz="15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latin typeface="Ubuntu Mono"/>
                <a:ea typeface="Ubuntu Mono"/>
                <a:cs typeface="Ubuntu Mono"/>
                <a:sym typeface="Ubuntu Mono"/>
              </a:rPr>
              <a:t>    # Swapping to a TextApplication subclass would change the</a:t>
            </a:r>
            <a:endParaRPr sz="15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untu Mono"/>
                <a:ea typeface="Ubuntu Mono"/>
                <a:cs typeface="Ubuntu Mono"/>
                <a:sym typeface="Ubuntu Mono"/>
              </a:rPr>
              <a:t>    # product with no edits inside Application.new_document.</a:t>
            </a:r>
            <a:endParaRPr sz="1500">
              <a:latin typeface="Ubuntu Mono"/>
              <a:ea typeface="Ubuntu Mono"/>
              <a:cs typeface="Ubuntu Mono"/>
              <a:sym typeface="Ubuntu Mon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5"/>
          <p:cNvSpPr txBox="1"/>
          <p:nvPr>
            <p:ph type="title"/>
          </p:nvPr>
        </p:nvSpPr>
        <p:spPr>
          <a:xfrm>
            <a:off x="837990" y="365125"/>
            <a:ext cx="105129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Factory Method Pattern</a:t>
            </a:r>
            <a:r>
              <a:rPr lang="en"/>
              <a:t> - Structure (Java)</a:t>
            </a:r>
            <a:endParaRPr/>
          </a:p>
        </p:txBody>
      </p:sp>
      <p:sp>
        <p:nvSpPr>
          <p:cNvPr id="193" name="Google Shape;193;p25"/>
          <p:cNvSpPr txBox="1"/>
          <p:nvPr>
            <p:ph idx="1" type="body"/>
          </p:nvPr>
        </p:nvSpPr>
        <p:spPr>
          <a:xfrm>
            <a:off x="837990" y="1825625"/>
            <a:ext cx="105129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47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public abstract class Product {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    public abstract void operation();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}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t/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public class ConcreteProduct extends Product {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    public void operation() {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        System.out.println("ConcreteProduct operation");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    }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}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t/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public abstract class Creator {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    public abstract Product createProduct();   // factory method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t/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    public void operation() {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        Product p = createProduct();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        p.operation();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    }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}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t/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public class ConcreteCreator extends Creator {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    public Product createProduct() {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        return new ConcreteProduct();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    }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}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6"/>
          <p:cNvSpPr txBox="1"/>
          <p:nvPr>
            <p:ph type="title"/>
          </p:nvPr>
        </p:nvSpPr>
        <p:spPr>
          <a:xfrm>
            <a:off x="837990" y="365125"/>
            <a:ext cx="105129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Factory Method Pattern</a:t>
            </a:r>
            <a:r>
              <a:rPr lang="en"/>
              <a:t> - Structure (Java)</a:t>
            </a:r>
            <a:endParaRPr/>
          </a:p>
        </p:txBody>
      </p:sp>
      <p:sp>
        <p:nvSpPr>
          <p:cNvPr id="199" name="Google Shape;199;p26"/>
          <p:cNvSpPr txBox="1"/>
          <p:nvPr>
            <p:ph idx="1" type="body"/>
          </p:nvPr>
        </p:nvSpPr>
        <p:spPr>
          <a:xfrm>
            <a:off x="837990" y="1825625"/>
            <a:ext cx="105129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latin typeface="Ubuntu Mono"/>
                <a:ea typeface="Ubuntu Mono"/>
                <a:cs typeface="Ubuntu Mono"/>
                <a:sym typeface="Ubuntu Mono"/>
              </a:rPr>
              <a:t>Creator creator = new ConcreteCreator();</a:t>
            </a:r>
            <a:endParaRPr sz="15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untu Mono"/>
                <a:ea typeface="Ubuntu Mono"/>
                <a:cs typeface="Ubuntu Mono"/>
                <a:sym typeface="Ubuntu Mono"/>
              </a:rPr>
              <a:t>creator.operation();</a:t>
            </a:r>
            <a:endParaRPr sz="1500">
              <a:latin typeface="Ubuntu Mono"/>
              <a:ea typeface="Ubuntu Mono"/>
              <a:cs typeface="Ubuntu Mono"/>
              <a:sym typeface="Ubuntu Mon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7"/>
          <p:cNvSpPr txBox="1"/>
          <p:nvPr>
            <p:ph type="title"/>
          </p:nvPr>
        </p:nvSpPr>
        <p:spPr>
          <a:xfrm>
            <a:off x="837990" y="365125"/>
            <a:ext cx="105129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Factory Method Pattern</a:t>
            </a:r>
            <a:r>
              <a:rPr lang="en"/>
              <a:t> - Example (Java)</a:t>
            </a:r>
            <a:endParaRPr/>
          </a:p>
        </p:txBody>
      </p:sp>
      <p:sp>
        <p:nvSpPr>
          <p:cNvPr id="205" name="Google Shape;205;p27"/>
          <p:cNvSpPr txBox="1"/>
          <p:nvPr>
            <p:ph idx="1" type="body"/>
          </p:nvPr>
        </p:nvSpPr>
        <p:spPr>
          <a:xfrm>
            <a:off x="837990" y="1825625"/>
            <a:ext cx="105129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5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public abstract class Document {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    public abstract void open();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}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t/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public class DrawingDocument extends Document {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    public void open() { /* ... */ }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}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t/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public abstract class Application {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    public abstract Document createDocument(); // factory method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t/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    public void newDocument() {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        Document doc = createDocument();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        doc.open();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    }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}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t/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public class DrawingApplication extends Application {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    public Document createDocument() {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        return new DrawingDocument();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    }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}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8"/>
          <p:cNvSpPr txBox="1"/>
          <p:nvPr>
            <p:ph type="title"/>
          </p:nvPr>
        </p:nvSpPr>
        <p:spPr>
          <a:xfrm>
            <a:off x="837990" y="365125"/>
            <a:ext cx="105129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Factory Method Pattern</a:t>
            </a:r>
            <a:r>
              <a:rPr lang="en"/>
              <a:t> - Example (Java)</a:t>
            </a:r>
            <a:endParaRPr/>
          </a:p>
        </p:txBody>
      </p:sp>
      <p:sp>
        <p:nvSpPr>
          <p:cNvPr id="211" name="Google Shape;211;p28"/>
          <p:cNvSpPr txBox="1"/>
          <p:nvPr>
            <p:ph idx="1" type="body"/>
          </p:nvPr>
        </p:nvSpPr>
        <p:spPr>
          <a:xfrm>
            <a:off x="837990" y="1825625"/>
            <a:ext cx="105129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latin typeface="Ubuntu Mono"/>
                <a:ea typeface="Ubuntu Mono"/>
                <a:cs typeface="Ubuntu Mono"/>
                <a:sym typeface="Ubuntu Mono"/>
              </a:rPr>
              <a:t>public class Main {</a:t>
            </a:r>
            <a:endParaRPr sz="15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latin typeface="Ubuntu Mono"/>
                <a:ea typeface="Ubuntu Mono"/>
                <a:cs typeface="Ubuntu Mono"/>
                <a:sym typeface="Ubuntu Mono"/>
              </a:rPr>
              <a:t>    public static void main(String[] args) {</a:t>
            </a:r>
            <a:endParaRPr sz="15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latin typeface="Ubuntu Mono"/>
                <a:ea typeface="Ubuntu Mono"/>
                <a:cs typeface="Ubuntu Mono"/>
                <a:sym typeface="Ubuntu Mono"/>
              </a:rPr>
              <a:t>        Application app = new DrawingApplication();</a:t>
            </a:r>
            <a:endParaRPr sz="15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latin typeface="Ubuntu Mono"/>
                <a:ea typeface="Ubuntu Mono"/>
                <a:cs typeface="Ubuntu Mono"/>
                <a:sym typeface="Ubuntu Mono"/>
              </a:rPr>
              <a:t>        app.newDocument();</a:t>
            </a:r>
            <a:endParaRPr sz="15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latin typeface="Ubuntu Mono"/>
                <a:ea typeface="Ubuntu Mono"/>
                <a:cs typeface="Ubuntu Mono"/>
                <a:sym typeface="Ubuntu Mono"/>
              </a:rPr>
              <a:t>    }</a:t>
            </a:r>
            <a:endParaRPr sz="15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untu Mono"/>
                <a:ea typeface="Ubuntu Mono"/>
                <a:cs typeface="Ubuntu Mono"/>
                <a:sym typeface="Ubuntu Mono"/>
              </a:rPr>
              <a:t>}</a:t>
            </a:r>
            <a:endParaRPr sz="1500">
              <a:latin typeface="Ubuntu Mono"/>
              <a:ea typeface="Ubuntu Mono"/>
              <a:cs typeface="Ubuntu Mono"/>
              <a:sym typeface="Ubuntu Mono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9"/>
          <p:cNvSpPr txBox="1"/>
          <p:nvPr>
            <p:ph type="title"/>
          </p:nvPr>
        </p:nvSpPr>
        <p:spPr>
          <a:xfrm>
            <a:off x="831642" y="1709738"/>
            <a:ext cx="10512900" cy="285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875" lIns="121875" spcFirstLastPara="1" rIns="121875" wrap="square" tIns="12187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"/>
              <a:t>Thank You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