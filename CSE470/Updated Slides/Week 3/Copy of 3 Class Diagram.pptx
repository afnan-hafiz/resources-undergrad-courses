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Tahoma"/>
      <p:regular r:id="rId36"/>
      <p:bold r:id="rId37"/>
    </p:embeddedFont>
    <p:embeddedFont>
      <p:font typeface="Lexend"/>
      <p:regular r:id="rId38"/>
      <p:bold r:id="rId39"/>
    </p:embeddedFont>
    <p:embeddedFont>
      <p:font typeface="Roboto Mono"/>
      <p:regular r:id="rId40"/>
      <p:bold r:id="rId41"/>
      <p:italic r:id="rId42"/>
      <p:boldItalic r:id="rId43"/>
    </p:embeddedFont>
    <p:embeddedFont>
      <p:font typeface="Gill Sans"/>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C27C10-775D-4C65-8480-F46844FFB672}">
  <a:tblStyle styleId="{51C27C10-775D-4C65-8480-F46844FFB6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5.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7.xml"/><Relationship Id="rId44" Type="http://schemas.openxmlformats.org/officeDocument/2006/relationships/font" Target="fonts/GillSans-regular.fntdata"/><Relationship Id="rId21" Type="http://schemas.openxmlformats.org/officeDocument/2006/relationships/slide" Target="slides/slide16.xml"/><Relationship Id="rId43"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Lexend-bold.fntdata"/><Relationship Id="rId16" Type="http://schemas.openxmlformats.org/officeDocument/2006/relationships/slide" Target="slides/slide11.xml"/><Relationship Id="rId38" Type="http://schemas.openxmlformats.org/officeDocument/2006/relationships/font" Target="fonts/Lexen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aa8451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aa8451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aa8451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aa8451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aa84513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aa8451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eaa84513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eaa8451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aa84513d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aa8451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eaa84513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eaa84513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eaa84513d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eaa8451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aa84513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aa84513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eaa84513d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eaa84513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eaa84513d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eaa84513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eaa84513d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eaa84513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8eaa84513d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8eaa84513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8eaa84513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8eaa84513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eaa84513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eaa8451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eaa84513d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8eaa84513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eaa84513d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eaa84513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eaa84513d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8eaa84513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eaa84513d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eaa84513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aa84513d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eaa84513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eaa84513d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8eaa84513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9489c74b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9489c74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8eaa84513d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8eaa84513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eaa84513d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eaa84513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8eaa84513d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8eaa84513d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eaa84513d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8eaa84513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eaa84513d_0_3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8eaa84513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8eaa84513d_0_3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8eaa84513d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8eaa84513d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8eaa8451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eaa84513d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eaa84513d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US" sz="3500"/>
              <a:t>Class Diagram</a:t>
            </a:r>
            <a:endParaRPr b="1"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Class</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A general template that we use to create specific instances or objects in the application domain</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Represents a kind of person, place, or thing about which </a:t>
            </a:r>
            <a:r>
              <a:rPr lang="en-US" u="sng"/>
              <a:t>the system will need to capture and store information</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Abstractions that specify the attributes and behaviors of a set of objects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an Object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Entities that encapsulate state(attributes) and behavior(methods)</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Each object has an identity</a:t>
            </a:r>
            <a:endParaRPr/>
          </a:p>
          <a:p>
            <a:pPr indent="-406400" lvl="1" marL="914400" rtl="0" algn="l">
              <a:spcBef>
                <a:spcPts val="0"/>
              </a:spcBef>
              <a:spcAft>
                <a:spcPts val="0"/>
              </a:spcAft>
              <a:buSzPts val="2800"/>
              <a:buChar char="○"/>
            </a:pPr>
            <a:r>
              <a:rPr lang="en-US" sz="2800"/>
              <a:t>It can be referred individually </a:t>
            </a:r>
            <a:endParaRPr sz="2800"/>
          </a:p>
          <a:p>
            <a:pPr indent="-406400" lvl="1" marL="914400" rtl="0" algn="l">
              <a:spcBef>
                <a:spcPts val="0"/>
              </a:spcBef>
              <a:spcAft>
                <a:spcPts val="0"/>
              </a:spcAft>
              <a:buSzPts val="2800"/>
              <a:buChar char="○"/>
            </a:pPr>
            <a:r>
              <a:rPr lang="en-US" sz="2800"/>
              <a:t>It is distinguishable from other objects (separate memory location for each object)</a:t>
            </a:r>
            <a:endParaRPr sz="2800"/>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Font typeface="Calibri"/>
              <a:buChar char="•"/>
            </a:pPr>
            <a:r>
              <a:rPr lang="en-US" sz="1800"/>
              <a:t>External entities (e.g., other systems, devices, people) that produce or consume information to be used by a computer-based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Things (e.g., reports, displays, letters, signals) that are part of the information domain for the problem.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Occurrences or events (e.g., a property transfer or the completion of a series of robot movements) that occur within the context of system operation.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Roles (e.g., manager, engineer, salesperson) played by people who interact with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Organizational units (e.g., division, group, team) that are relevant to an application.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Places (e.g., manufacturing floor or loading dock) that establish the context of the problem and the overall function of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Structures (e.g., sensors, four-wheeled vehicles, or computers) that define a class of objects or related classes of objects.</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Classes during Analysis</a:t>
            </a:r>
            <a:endParaRPr b="1" sz="3300">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Concrete</a:t>
            </a:r>
            <a:endParaRPr b="1"/>
          </a:p>
          <a:p>
            <a:pPr indent="-342900" lvl="0" marL="457200" rtl="0" algn="l">
              <a:spcBef>
                <a:spcPts val="0"/>
              </a:spcBef>
              <a:spcAft>
                <a:spcPts val="0"/>
              </a:spcAft>
              <a:buSzPts val="1800"/>
              <a:buChar char="•"/>
            </a:pPr>
            <a:r>
              <a:rPr lang="en-US"/>
              <a:t>Class from application domain</a:t>
            </a:r>
            <a:endParaRPr/>
          </a:p>
          <a:p>
            <a:pPr indent="-342900" lvl="0" marL="457200" rtl="0" algn="l">
              <a:spcBef>
                <a:spcPts val="0"/>
              </a:spcBef>
              <a:spcAft>
                <a:spcPts val="0"/>
              </a:spcAft>
              <a:buSzPts val="1800"/>
              <a:buChar char="•"/>
            </a:pPr>
            <a:r>
              <a:rPr lang="en-US"/>
              <a:t>Example:  Customer class and Employee class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Abstract</a:t>
            </a:r>
            <a:endParaRPr b="1"/>
          </a:p>
          <a:p>
            <a:pPr indent="-342900" lvl="0" marL="457200" rtl="0" algn="l">
              <a:spcBef>
                <a:spcPts val="0"/>
              </a:spcBef>
              <a:spcAft>
                <a:spcPts val="0"/>
              </a:spcAft>
              <a:buSzPts val="1800"/>
              <a:buChar char="•"/>
            </a:pPr>
            <a:r>
              <a:rPr lang="en-US"/>
              <a:t>Useful abstractions</a:t>
            </a:r>
            <a:endParaRPr/>
          </a:p>
          <a:p>
            <a:pPr indent="-342900" lvl="0" marL="457200" rtl="0" algn="l">
              <a:spcBef>
                <a:spcPts val="0"/>
              </a:spcBef>
              <a:spcAft>
                <a:spcPts val="0"/>
              </a:spcAft>
              <a:buSzPts val="1800"/>
              <a:buChar char="•"/>
            </a:pPr>
            <a:r>
              <a:rPr lang="en-US"/>
              <a:t>Example:  Person class</a:t>
            </a:r>
            <a:endParaRPr/>
          </a:p>
          <a:p>
            <a:pPr indent="0" lvl="0" marL="0" rtl="0" algn="l">
              <a:spcBef>
                <a:spcPts val="0"/>
              </a:spcBef>
              <a:spcAft>
                <a:spcPts val="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Classes</a:t>
            </a:r>
            <a:endParaRPr b="1" sz="3300">
              <a:latin typeface="Lexend"/>
              <a:ea typeface="Lexend"/>
              <a:cs typeface="Lexend"/>
              <a:sym typeface="Lexend"/>
            </a:endParaRPr>
          </a:p>
        </p:txBody>
      </p:sp>
      <p:sp>
        <p:nvSpPr>
          <p:cNvPr id="148" name="Google Shape;148;p18"/>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class is a description of a set of </a:t>
            </a:r>
            <a:endParaRPr/>
          </a:p>
          <a:p>
            <a:pPr indent="0" lvl="0" marL="0" rtl="0" algn="l">
              <a:spcBef>
                <a:spcPts val="0"/>
              </a:spcBef>
              <a:spcAft>
                <a:spcPts val="0"/>
              </a:spcAft>
              <a:buNone/>
            </a:pPr>
            <a:r>
              <a:rPr lang="en-US"/>
              <a:t>objects that share the same attributes,</a:t>
            </a:r>
            <a:endParaRPr/>
          </a:p>
          <a:p>
            <a:pPr indent="0" lvl="0" marL="0" rtl="0" algn="l">
              <a:spcBef>
                <a:spcPts val="0"/>
              </a:spcBef>
              <a:spcAft>
                <a:spcPts val="0"/>
              </a:spcAft>
              <a:buNone/>
            </a:pPr>
            <a:r>
              <a:rPr lang="en-US"/>
              <a:t>operations, relationships, and semantics.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Graphically, a class is rendered as a </a:t>
            </a:r>
            <a:endParaRPr/>
          </a:p>
          <a:p>
            <a:pPr indent="0" lvl="0" marL="0" rtl="0" algn="l">
              <a:spcBef>
                <a:spcPts val="0"/>
              </a:spcBef>
              <a:spcAft>
                <a:spcPts val="0"/>
              </a:spcAft>
              <a:buNone/>
            </a:pPr>
            <a:r>
              <a:rPr lang="en-US"/>
              <a:t>rectangle, usually including its name,</a:t>
            </a:r>
            <a:endParaRPr/>
          </a:p>
          <a:p>
            <a:pPr indent="0" lvl="0" marL="0" rtl="0" algn="l">
              <a:spcBef>
                <a:spcPts val="0"/>
              </a:spcBef>
              <a:spcAft>
                <a:spcPts val="0"/>
              </a:spcAft>
              <a:buNone/>
            </a:pPr>
            <a:r>
              <a:rPr lang="en-US"/>
              <a:t>attributes, and operations in separate,</a:t>
            </a:r>
            <a:endParaRPr/>
          </a:p>
          <a:p>
            <a:pPr indent="0" lvl="0" marL="0" rtl="0" algn="l">
              <a:spcBef>
                <a:spcPts val="0"/>
              </a:spcBef>
              <a:spcAft>
                <a:spcPts val="0"/>
              </a:spcAft>
              <a:buNone/>
            </a:pPr>
            <a:r>
              <a:rPr lang="en-US"/>
              <a:t>designated compartments. </a:t>
            </a:r>
            <a:endParaRPr/>
          </a:p>
          <a:p>
            <a:pPr indent="0" lvl="0" marL="0" rtl="0" algn="l">
              <a:spcBef>
                <a:spcPts val="0"/>
              </a:spcBef>
              <a:spcAft>
                <a:spcPts val="0"/>
              </a:spcAft>
              <a:buNone/>
            </a:pPr>
            <a:r>
              <a:t/>
            </a:r>
            <a:endParaRPr b="1"/>
          </a:p>
        </p:txBody>
      </p:sp>
      <p:grpSp>
        <p:nvGrpSpPr>
          <p:cNvPr id="149" name="Google Shape;149;p18"/>
          <p:cNvGrpSpPr/>
          <p:nvPr/>
        </p:nvGrpSpPr>
        <p:grpSpPr>
          <a:xfrm>
            <a:off x="8243400" y="2238375"/>
            <a:ext cx="1905000" cy="2381250"/>
            <a:chOff x="576" y="1236"/>
            <a:chExt cx="1200" cy="1500"/>
          </a:xfrm>
        </p:grpSpPr>
        <p:sp>
          <p:nvSpPr>
            <p:cNvPr id="150" name="Google Shape;150;p18"/>
            <p:cNvSpPr/>
            <p:nvPr/>
          </p:nvSpPr>
          <p:spPr>
            <a:xfrm>
              <a:off x="576" y="1236"/>
              <a:ext cx="12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51" name="Google Shape;151;p18"/>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52" name="Google Shape;152;p18"/>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Name</a:t>
            </a:r>
            <a:endParaRPr b="1" sz="3300">
              <a:latin typeface="Lexend"/>
              <a:ea typeface="Lexend"/>
              <a:cs typeface="Lexend"/>
              <a:sym typeface="Lexend"/>
            </a:endParaRPr>
          </a:p>
        </p:txBody>
      </p:sp>
      <p:sp>
        <p:nvSpPr>
          <p:cNvPr id="158" name="Google Shape;158;p19"/>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name of the class is the only required tag in the graphical representation of a class.  It always appears in the top-most compartment.</a:t>
            </a:r>
            <a:endParaRPr/>
          </a:p>
          <a:p>
            <a:pPr indent="0" lvl="0" marL="0" rtl="0" algn="l">
              <a:spcBef>
                <a:spcPts val="0"/>
              </a:spcBef>
              <a:spcAft>
                <a:spcPts val="0"/>
              </a:spcAft>
              <a:buNone/>
            </a:pPr>
            <a:r>
              <a:t/>
            </a:r>
            <a:endParaRPr/>
          </a:p>
        </p:txBody>
      </p:sp>
      <p:grpSp>
        <p:nvGrpSpPr>
          <p:cNvPr id="159" name="Google Shape;159;p19"/>
          <p:cNvGrpSpPr/>
          <p:nvPr/>
        </p:nvGrpSpPr>
        <p:grpSpPr>
          <a:xfrm>
            <a:off x="8243400" y="2238375"/>
            <a:ext cx="1905000" cy="2381250"/>
            <a:chOff x="576" y="1236"/>
            <a:chExt cx="1200" cy="1500"/>
          </a:xfrm>
        </p:grpSpPr>
        <p:sp>
          <p:nvSpPr>
            <p:cNvPr id="160" name="Google Shape;160;p19"/>
            <p:cNvSpPr/>
            <p:nvPr/>
          </p:nvSpPr>
          <p:spPr>
            <a:xfrm>
              <a:off x="576" y="1236"/>
              <a:ext cx="1200" cy="3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61" name="Google Shape;161;p19"/>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62" name="Google Shape;162;p19"/>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Attributes in a Class</a:t>
            </a:r>
            <a:endParaRPr b="1" sz="3300">
              <a:latin typeface="Lexend"/>
              <a:ea typeface="Lexend"/>
              <a:cs typeface="Lexend"/>
              <a:sym typeface="Lexend"/>
            </a:endParaRPr>
          </a:p>
        </p:txBody>
      </p:sp>
      <p:sp>
        <p:nvSpPr>
          <p:cNvPr id="168" name="Google Shape;168;p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Properties of the class about which we want to capture information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Represents a piece of information that is relevant to the description of the class within the application domain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Only add attributes that are primitive or atomic types like Boolean, string, char, integer, float, double, date etc.</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Derived attribute</a:t>
            </a:r>
            <a:endParaRPr/>
          </a:p>
          <a:p>
            <a:pPr indent="-381000" lvl="1" marL="914400" rtl="0" algn="l">
              <a:spcBef>
                <a:spcPts val="0"/>
              </a:spcBef>
              <a:spcAft>
                <a:spcPts val="0"/>
              </a:spcAft>
              <a:buSzPts val="2400"/>
              <a:buFont typeface="Calibri"/>
              <a:buChar char="•"/>
            </a:pPr>
            <a:r>
              <a:rPr lang="en-US"/>
              <a:t>Attributes that are calculated or derived from other attributes</a:t>
            </a:r>
            <a:endParaRPr/>
          </a:p>
          <a:p>
            <a:pPr indent="-381000" lvl="1" marL="914400" rtl="0" algn="l">
              <a:spcBef>
                <a:spcPts val="0"/>
              </a:spcBef>
              <a:spcAft>
                <a:spcPts val="0"/>
              </a:spcAft>
              <a:buSzPts val="2400"/>
              <a:buFont typeface="Calibri"/>
              <a:buChar char="•"/>
            </a:pPr>
            <a:r>
              <a:rPr lang="en-US"/>
              <a:t>Denoted by placing slash (/) before name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74" name="Google Shape;174;p21"/>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attribute is a named property of a </a:t>
            </a:r>
            <a:endParaRPr/>
          </a:p>
          <a:p>
            <a:pPr indent="0" lvl="0" marL="0" rtl="0" algn="l">
              <a:spcBef>
                <a:spcPts val="0"/>
              </a:spcBef>
              <a:spcAft>
                <a:spcPts val="0"/>
              </a:spcAft>
              <a:buNone/>
            </a:pPr>
            <a:r>
              <a:rPr lang="en-US"/>
              <a:t>class that describes the object being modeled.</a:t>
            </a:r>
            <a:endParaRPr/>
          </a:p>
          <a:p>
            <a:pPr indent="0" lvl="0" marL="0" rtl="0" algn="l">
              <a:spcBef>
                <a:spcPts val="0"/>
              </a:spcBef>
              <a:spcAft>
                <a:spcPts val="0"/>
              </a:spcAft>
              <a:buNone/>
            </a:pPr>
            <a:r>
              <a:rPr lang="en-US"/>
              <a:t>In the class diagram, attributes appear in </a:t>
            </a:r>
            <a:endParaRPr/>
          </a:p>
          <a:p>
            <a:pPr indent="0" lvl="0" marL="0" rtl="0" algn="l">
              <a:spcBef>
                <a:spcPts val="0"/>
              </a:spcBef>
              <a:spcAft>
                <a:spcPts val="0"/>
              </a:spcAft>
              <a:buNone/>
            </a:pPr>
            <a:r>
              <a:rPr lang="en-US"/>
              <a:t>the second compartment just below the </a:t>
            </a:r>
            <a:endParaRPr/>
          </a:p>
          <a:p>
            <a:pPr indent="0" lvl="0" marL="0" rtl="0" algn="l">
              <a:spcBef>
                <a:spcPts val="0"/>
              </a:spcBef>
              <a:spcAft>
                <a:spcPts val="0"/>
              </a:spcAft>
              <a:buNone/>
            </a:pPr>
            <a:r>
              <a:rPr lang="en-US"/>
              <a:t>name-compartment.</a:t>
            </a:r>
            <a:endParaRPr/>
          </a:p>
          <a:p>
            <a:pPr indent="0" lvl="0" marL="0" rtl="0" algn="l">
              <a:spcBef>
                <a:spcPts val="0"/>
              </a:spcBef>
              <a:spcAft>
                <a:spcPts val="0"/>
              </a:spcAft>
              <a:buNone/>
            </a:pPr>
            <a:r>
              <a:t/>
            </a:r>
            <a:endParaRPr/>
          </a:p>
        </p:txBody>
      </p:sp>
      <p:grpSp>
        <p:nvGrpSpPr>
          <p:cNvPr id="175" name="Google Shape;175;p21"/>
          <p:cNvGrpSpPr/>
          <p:nvPr/>
        </p:nvGrpSpPr>
        <p:grpSpPr>
          <a:xfrm>
            <a:off x="8312348" y="1563398"/>
            <a:ext cx="2530078" cy="3386300"/>
            <a:chOff x="313" y="945"/>
            <a:chExt cx="1500" cy="2133"/>
          </a:xfrm>
        </p:grpSpPr>
        <p:sp>
          <p:nvSpPr>
            <p:cNvPr id="176" name="Google Shape;176;p21"/>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177" name="Google Shape;177;p21"/>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178" name="Google Shape;178;p21"/>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84" name="Google Shape;184;p22"/>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600"/>
              <a:t>Attributes are usually listed in the form:</a:t>
            </a:r>
            <a:endParaRPr sz="2600"/>
          </a:p>
          <a:p>
            <a:pPr indent="-393700" lvl="0" marL="457200" rtl="0" algn="l">
              <a:spcBef>
                <a:spcPts val="0"/>
              </a:spcBef>
              <a:spcAft>
                <a:spcPts val="0"/>
              </a:spcAft>
              <a:buSzPts val="2600"/>
              <a:buFont typeface="Calibri"/>
              <a:buChar char="•"/>
            </a:pPr>
            <a:r>
              <a:rPr lang="en-US" sz="2600"/>
              <a:t>attributeName : Type</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one that can be</a:t>
            </a:r>
            <a:endParaRPr sz="2600"/>
          </a:p>
          <a:p>
            <a:pPr indent="0" lvl="0" marL="0" rtl="0" algn="l">
              <a:spcBef>
                <a:spcPts val="0"/>
              </a:spcBef>
              <a:spcAft>
                <a:spcPts val="0"/>
              </a:spcAft>
              <a:buNone/>
            </a:pPr>
            <a:r>
              <a:rPr lang="en-US" sz="2600"/>
              <a:t>computed from other attributes, but</a:t>
            </a:r>
            <a:endParaRPr sz="2600"/>
          </a:p>
          <a:p>
            <a:pPr indent="0" lvl="0" marL="0" rtl="0" algn="l">
              <a:spcBef>
                <a:spcPts val="0"/>
              </a:spcBef>
              <a:spcAft>
                <a:spcPts val="0"/>
              </a:spcAft>
              <a:buNone/>
            </a:pPr>
            <a:r>
              <a:rPr lang="en-US" sz="2600"/>
              <a:t>doesn’t actually exist. For example,</a:t>
            </a:r>
            <a:endParaRPr sz="2600"/>
          </a:p>
          <a:p>
            <a:pPr indent="0" lvl="0" marL="0" rtl="0" algn="l">
              <a:spcBef>
                <a:spcPts val="0"/>
              </a:spcBef>
              <a:spcAft>
                <a:spcPts val="0"/>
              </a:spcAft>
              <a:buNone/>
            </a:pPr>
            <a:r>
              <a:rPr lang="en-US" sz="2600"/>
              <a:t>a Person’s age can be computed from </a:t>
            </a:r>
            <a:endParaRPr sz="2600"/>
          </a:p>
          <a:p>
            <a:pPr indent="0" lvl="0" marL="0" rtl="0" algn="l">
              <a:spcBef>
                <a:spcPts val="0"/>
              </a:spcBef>
              <a:spcAft>
                <a:spcPts val="0"/>
              </a:spcAft>
              <a:buNone/>
            </a:pPr>
            <a:r>
              <a:rPr lang="en-US" sz="2600"/>
              <a:t>his birth date.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designated by a preceding ‘/’ as in:</a:t>
            </a:r>
            <a:endParaRPr sz="2600"/>
          </a:p>
          <a:p>
            <a:pPr indent="-393700" lvl="0" marL="457200" rtl="0" algn="l">
              <a:spcBef>
                <a:spcPts val="0"/>
              </a:spcBef>
              <a:spcAft>
                <a:spcPts val="0"/>
              </a:spcAft>
              <a:buSzPts val="2600"/>
              <a:buFont typeface="Calibri"/>
              <a:buChar char="•"/>
            </a:pPr>
            <a:r>
              <a:rPr lang="en-US" sz="2600"/>
              <a:t>/ age : Date</a:t>
            </a:r>
            <a:endParaRPr sz="2600"/>
          </a:p>
          <a:p>
            <a:pPr indent="0" lvl="0" marL="0" rtl="0" algn="l">
              <a:spcBef>
                <a:spcPts val="0"/>
              </a:spcBef>
              <a:spcAft>
                <a:spcPts val="0"/>
              </a:spcAft>
              <a:buNone/>
            </a:pPr>
            <a:r>
              <a:t/>
            </a:r>
            <a:endParaRPr/>
          </a:p>
        </p:txBody>
      </p:sp>
      <p:grpSp>
        <p:nvGrpSpPr>
          <p:cNvPr id="185" name="Google Shape;185;p22"/>
          <p:cNvGrpSpPr/>
          <p:nvPr/>
        </p:nvGrpSpPr>
        <p:grpSpPr>
          <a:xfrm>
            <a:off x="8312348" y="1563398"/>
            <a:ext cx="2530078" cy="3386300"/>
            <a:chOff x="313" y="945"/>
            <a:chExt cx="1500" cy="2133"/>
          </a:xfrm>
        </p:grpSpPr>
        <p:sp>
          <p:nvSpPr>
            <p:cNvPr id="186" name="Google Shape;186;p22"/>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187" name="Google Shape;187;p22"/>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Address</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Id</a:t>
              </a:r>
              <a:endParaRPr i="0" sz="2000" u="none" cap="none" strike="noStrike">
                <a:solidFill>
                  <a:srgbClr val="000000"/>
                </a:solidFill>
                <a:latin typeface="Calibri"/>
                <a:ea typeface="Calibri"/>
                <a:cs typeface="Calibri"/>
                <a:sym typeface="Calibri"/>
              </a:endParaRPr>
            </a:p>
          </p:txBody>
        </p:sp>
        <p:sp>
          <p:nvSpPr>
            <p:cNvPr id="188" name="Google Shape;188;p22"/>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
            </a:r>
            <a:r>
              <a:rPr b="1" lang="en-US" sz="3300">
                <a:latin typeface="Lexend"/>
                <a:ea typeface="Lexend"/>
                <a:cs typeface="Lexend"/>
                <a:sym typeface="Lexend"/>
              </a:rPr>
              <a:t>Operations</a:t>
            </a:r>
            <a:endParaRPr b="1" sz="3300">
              <a:latin typeface="Lexend"/>
              <a:ea typeface="Lexend"/>
              <a:cs typeface="Lexend"/>
              <a:sym typeface="Lexend"/>
            </a:endParaRPr>
          </a:p>
        </p:txBody>
      </p:sp>
      <p:sp>
        <p:nvSpPr>
          <p:cNvPr id="194" name="Google Shape;194;p23"/>
          <p:cNvSpPr txBox="1"/>
          <p:nvPr>
            <p:ph idx="1" type="body"/>
          </p:nvPr>
        </p:nvSpPr>
        <p:spPr>
          <a:xfrm>
            <a:off x="838200" y="1825625"/>
            <a:ext cx="57735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Represents the actions or functions that a class can perform</a:t>
            </a:r>
            <a:endParaRPr/>
          </a:p>
          <a:p>
            <a:pPr indent="-406400" lvl="0" marL="457200" rtl="0" algn="l">
              <a:spcBef>
                <a:spcPts val="0"/>
              </a:spcBef>
              <a:spcAft>
                <a:spcPts val="0"/>
              </a:spcAft>
              <a:buSzPts val="2800"/>
              <a:buFont typeface="Calibri"/>
              <a:buChar char="•"/>
            </a:pPr>
            <a:r>
              <a:rPr lang="en-US"/>
              <a:t>Describes the actions to which the instances of the class will be capable of responding</a:t>
            </a:r>
            <a:endParaRPr/>
          </a:p>
          <a:p>
            <a:pPr indent="-406400" lvl="0" marL="457200" rtl="0" algn="l">
              <a:spcBef>
                <a:spcPts val="0"/>
              </a:spcBef>
              <a:spcAft>
                <a:spcPts val="0"/>
              </a:spcAft>
              <a:buSzPts val="2800"/>
              <a:buFont typeface="Calibri"/>
              <a:buChar char="•"/>
            </a:pPr>
            <a:r>
              <a:rPr lang="en-US"/>
              <a:t>Can be classified as a constructor, query, or update operation</a:t>
            </a:r>
            <a:endParaRPr/>
          </a:p>
          <a:p>
            <a:pPr indent="-406400" lvl="0" marL="457200" rtl="0" algn="l">
              <a:spcBef>
                <a:spcPts val="0"/>
              </a:spcBef>
              <a:spcAft>
                <a:spcPts val="0"/>
              </a:spcAft>
              <a:buSzPts val="2800"/>
              <a:buFont typeface="Calibri"/>
              <a:buChar char="•"/>
            </a:pPr>
            <a:r>
              <a:rPr lang="en-US"/>
              <a:t>Operations describe the class behavior and appear in the third compartment.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195" name="Google Shape;195;p23"/>
          <p:cNvGrpSpPr/>
          <p:nvPr/>
        </p:nvGrpSpPr>
        <p:grpSpPr>
          <a:xfrm>
            <a:off x="8312348" y="1563398"/>
            <a:ext cx="2530078" cy="3862554"/>
            <a:chOff x="313" y="945"/>
            <a:chExt cx="1500" cy="2433"/>
          </a:xfrm>
        </p:grpSpPr>
        <p:sp>
          <p:nvSpPr>
            <p:cNvPr id="196" name="Google Shape;196;p23"/>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197" name="Google Shape;197;p23"/>
            <p:cNvSpPr/>
            <p:nvPr/>
          </p:nvSpPr>
          <p:spPr>
            <a:xfrm>
              <a:off x="313" y="1545"/>
              <a:ext cx="1500" cy="1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Address</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Id</a:t>
              </a:r>
              <a:endParaRPr i="0" sz="2000" u="none" cap="none" strike="noStrike">
                <a:solidFill>
                  <a:srgbClr val="000000"/>
                </a:solidFill>
                <a:latin typeface="Calibri"/>
                <a:ea typeface="Calibri"/>
                <a:cs typeface="Calibri"/>
                <a:sym typeface="Calibri"/>
              </a:endParaRPr>
            </a:p>
          </p:txBody>
        </p:sp>
        <p:sp>
          <p:nvSpPr>
            <p:cNvPr id="198" name="Google Shape;198;p23"/>
            <p:cNvSpPr/>
            <p:nvPr/>
          </p:nvSpPr>
          <p:spPr>
            <a:xfrm>
              <a:off x="313" y="2778"/>
              <a:ext cx="1500" cy="600"/>
            </a:xfrm>
            <a:prstGeom prst="rect">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eat()</a:t>
              </a:r>
              <a:endParaRPr sz="18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sleep()</a:t>
              </a:r>
              <a:endParaRPr sz="1800">
                <a:latin typeface="Gill Sans"/>
                <a:ea typeface="Gill Sans"/>
                <a:cs typeface="Gill Sans"/>
                <a:sym typeface="Gill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Operations</a:t>
            </a:r>
            <a:endParaRPr b="1" sz="3300">
              <a:latin typeface="Lexend"/>
              <a:ea typeface="Lexend"/>
              <a:cs typeface="Lexend"/>
              <a:sym typeface="Lexend"/>
            </a:endParaRPr>
          </a:p>
        </p:txBody>
      </p:sp>
      <p:sp>
        <p:nvSpPr>
          <p:cNvPr id="204" name="Google Shape;204;p24"/>
          <p:cNvSpPr txBox="1"/>
          <p:nvPr>
            <p:ph idx="1" type="body"/>
          </p:nvPr>
        </p:nvSpPr>
        <p:spPr>
          <a:xfrm>
            <a:off x="838200" y="1825625"/>
            <a:ext cx="10515600" cy="210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pSp>
        <p:nvGrpSpPr>
          <p:cNvPr id="205" name="Google Shape;205;p24"/>
          <p:cNvGrpSpPr/>
          <p:nvPr/>
        </p:nvGrpSpPr>
        <p:grpSpPr>
          <a:xfrm>
            <a:off x="1990075" y="3587476"/>
            <a:ext cx="8211845" cy="1901937"/>
            <a:chOff x="288" y="1370"/>
            <a:chExt cx="4800" cy="1198"/>
          </a:xfrm>
        </p:grpSpPr>
        <p:sp>
          <p:nvSpPr>
            <p:cNvPr id="206" name="Google Shape;206;p24"/>
            <p:cNvSpPr/>
            <p:nvPr/>
          </p:nvSpPr>
          <p:spPr>
            <a:xfrm>
              <a:off x="288" y="13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PhoneBook</a:t>
              </a:r>
              <a:endParaRPr b="0" i="0" sz="1400" u="none" cap="none" strike="noStrike">
                <a:solidFill>
                  <a:srgbClr val="000000"/>
                </a:solidFill>
                <a:latin typeface="Arial"/>
                <a:ea typeface="Arial"/>
                <a:cs typeface="Arial"/>
                <a:sym typeface="Arial"/>
              </a:endParaRPr>
            </a:p>
          </p:txBody>
        </p:sp>
        <p:sp>
          <p:nvSpPr>
            <p:cNvPr id="207" name="Google Shape;207;p24"/>
            <p:cNvSpPr/>
            <p:nvPr/>
          </p:nvSpPr>
          <p:spPr>
            <a:xfrm>
              <a:off x="288" y="16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208" name="Google Shape;208;p24"/>
            <p:cNvSpPr/>
            <p:nvPr/>
          </p:nvSpPr>
          <p:spPr>
            <a:xfrm>
              <a:off x="288" y="1968"/>
              <a:ext cx="4800" cy="6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newEntry (n : Name, a : Address, p : PhoneNumber, d :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getPhone ( n : Name, a : Address) : PhoneNumber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Drawing Classes</a:t>
            </a:r>
            <a:endParaRPr b="1" sz="3300">
              <a:latin typeface="Lexend"/>
              <a:ea typeface="Lexend"/>
              <a:cs typeface="Lexend"/>
              <a:sym typeface="Lexend"/>
            </a:endParaRPr>
          </a:p>
        </p:txBody>
      </p:sp>
      <p:grpSp>
        <p:nvGrpSpPr>
          <p:cNvPr id="214" name="Google Shape;214;p25"/>
          <p:cNvGrpSpPr/>
          <p:nvPr/>
        </p:nvGrpSpPr>
        <p:grpSpPr>
          <a:xfrm>
            <a:off x="7565492" y="2929047"/>
            <a:ext cx="2081433" cy="2747900"/>
            <a:chOff x="3936" y="1296"/>
            <a:chExt cx="1500" cy="2400"/>
          </a:xfrm>
        </p:grpSpPr>
        <p:sp>
          <p:nvSpPr>
            <p:cNvPr id="215" name="Google Shape;215;p25"/>
            <p:cNvSpPr/>
            <p:nvPr/>
          </p:nvSpPr>
          <p:spPr>
            <a:xfrm>
              <a:off x="3936" y="1296"/>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16" name="Google Shape;216;p25"/>
            <p:cNvSpPr/>
            <p:nvPr/>
          </p:nvSpPr>
          <p:spPr>
            <a:xfrm>
              <a:off x="3936" y="1596"/>
              <a:ext cx="1500" cy="9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      : String</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 : Date</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ssn          : Id</a:t>
              </a:r>
              <a:endParaRPr b="0" i="0" sz="1224" u="none" cap="none" strike="noStrike">
                <a:solidFill>
                  <a:srgbClr val="000000"/>
                </a:solidFill>
                <a:latin typeface="Arial"/>
                <a:ea typeface="Arial"/>
                <a:cs typeface="Arial"/>
                <a:sym typeface="Arial"/>
              </a:endParaRPr>
            </a:p>
          </p:txBody>
        </p:sp>
        <p:sp>
          <p:nvSpPr>
            <p:cNvPr id="217" name="Google Shape;217;p25"/>
            <p:cNvSpPr/>
            <p:nvPr/>
          </p:nvSpPr>
          <p:spPr>
            <a:xfrm>
              <a:off x="3936" y="2496"/>
              <a:ext cx="1500" cy="12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sleep()</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work()</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a:t>
              </a:r>
              <a:endParaRPr b="0" i="0" sz="1224" u="none" cap="none" strike="noStrike">
                <a:solidFill>
                  <a:srgbClr val="000000"/>
                </a:solidFill>
                <a:latin typeface="Arial"/>
                <a:ea typeface="Arial"/>
                <a:cs typeface="Arial"/>
                <a:sym typeface="Arial"/>
              </a:endParaRPr>
            </a:p>
          </p:txBody>
        </p:sp>
      </p:grpSp>
      <p:sp>
        <p:nvSpPr>
          <p:cNvPr id="218" name="Google Shape;218;p25"/>
          <p:cNvSpPr/>
          <p:nvPr/>
        </p:nvSpPr>
        <p:spPr>
          <a:xfrm>
            <a:off x="2545075" y="2902048"/>
            <a:ext cx="2131500" cy="6660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grpSp>
        <p:nvGrpSpPr>
          <p:cNvPr id="219" name="Google Shape;219;p25"/>
          <p:cNvGrpSpPr/>
          <p:nvPr/>
        </p:nvGrpSpPr>
        <p:grpSpPr>
          <a:xfrm>
            <a:off x="2570052" y="3928129"/>
            <a:ext cx="2081433" cy="2081420"/>
            <a:chOff x="288" y="2400"/>
            <a:chExt cx="1500" cy="1500"/>
          </a:xfrm>
        </p:grpSpPr>
        <p:sp>
          <p:nvSpPr>
            <p:cNvPr id="220" name="Google Shape;220;p25"/>
            <p:cNvSpPr/>
            <p:nvPr/>
          </p:nvSpPr>
          <p:spPr>
            <a:xfrm>
              <a:off x="288" y="24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1" name="Google Shape;221;p25"/>
            <p:cNvSpPr/>
            <p:nvPr/>
          </p:nvSpPr>
          <p:spPr>
            <a:xfrm>
              <a:off x="288" y="30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address</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a:t>
              </a:r>
              <a:endParaRPr b="0" i="0" sz="1224" u="none" cap="none" strike="noStrike">
                <a:solidFill>
                  <a:srgbClr val="000000"/>
                </a:solidFill>
                <a:latin typeface="Arial"/>
                <a:ea typeface="Arial"/>
                <a:cs typeface="Arial"/>
                <a:sym typeface="Arial"/>
              </a:endParaRPr>
            </a:p>
          </p:txBody>
        </p:sp>
        <p:sp>
          <p:nvSpPr>
            <p:cNvPr id="222" name="Google Shape;222;p25"/>
            <p:cNvSpPr/>
            <p:nvPr/>
          </p:nvSpPr>
          <p:spPr>
            <a:xfrm>
              <a:off x="288" y="360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grpSp>
        <p:nvGrpSpPr>
          <p:cNvPr id="223" name="Google Shape;223;p25"/>
          <p:cNvGrpSpPr/>
          <p:nvPr/>
        </p:nvGrpSpPr>
        <p:grpSpPr>
          <a:xfrm>
            <a:off x="5101075" y="4660789"/>
            <a:ext cx="2081433" cy="1648485"/>
            <a:chOff x="2208" y="2592"/>
            <a:chExt cx="1500" cy="1188"/>
          </a:xfrm>
        </p:grpSpPr>
        <p:sp>
          <p:nvSpPr>
            <p:cNvPr id="224" name="Google Shape;224;p25"/>
            <p:cNvSpPr/>
            <p:nvPr/>
          </p:nvSpPr>
          <p:spPr>
            <a:xfrm>
              <a:off x="2208" y="259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5" name="Google Shape;225;p25"/>
            <p:cNvSpPr/>
            <p:nvPr/>
          </p:nvSpPr>
          <p:spPr>
            <a:xfrm>
              <a:off x="2208" y="288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26" name="Google Shape;226;p25"/>
            <p:cNvSpPr/>
            <p:nvPr/>
          </p:nvSpPr>
          <p:spPr>
            <a:xfrm>
              <a:off x="2208" y="318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 ()</a:t>
              </a:r>
              <a:endParaRPr b="0" i="0" sz="1573" u="none" cap="none" strike="noStrike">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 ()</a:t>
              </a:r>
              <a:endParaRPr b="0" i="0" sz="1573" u="none" cap="none" strike="noStrike">
                <a:solidFill>
                  <a:srgbClr val="000000"/>
                </a:solidFill>
                <a:latin typeface="Gill Sans"/>
                <a:ea typeface="Gill Sans"/>
                <a:cs typeface="Gill Sans"/>
                <a:sym typeface="Gill Sans"/>
              </a:endParaRPr>
            </a:p>
          </p:txBody>
        </p:sp>
      </p:grpSp>
      <p:grpSp>
        <p:nvGrpSpPr>
          <p:cNvPr id="227" name="Google Shape;227;p25"/>
          <p:cNvGrpSpPr/>
          <p:nvPr/>
        </p:nvGrpSpPr>
        <p:grpSpPr>
          <a:xfrm>
            <a:off x="5111466" y="2968161"/>
            <a:ext cx="2081444" cy="1258687"/>
            <a:chOff x="2160" y="1505"/>
            <a:chExt cx="1500" cy="907"/>
          </a:xfrm>
        </p:grpSpPr>
        <p:sp>
          <p:nvSpPr>
            <p:cNvPr id="228" name="Google Shape;228;p25"/>
            <p:cNvSpPr/>
            <p:nvPr/>
          </p:nvSpPr>
          <p:spPr>
            <a:xfrm>
              <a:off x="2160" y="1505"/>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9" name="Google Shape;229;p25"/>
            <p:cNvSpPr/>
            <p:nvPr/>
          </p:nvSpPr>
          <p:spPr>
            <a:xfrm>
              <a:off x="2160" y="1824"/>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0" name="Google Shape;230;p25"/>
            <p:cNvSpPr/>
            <p:nvPr/>
          </p:nvSpPr>
          <p:spPr>
            <a:xfrm>
              <a:off x="2160" y="211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sp>
        <p:nvSpPr>
          <p:cNvPr id="231" name="Google Shape;231;p25"/>
          <p:cNvSpPr txBox="1"/>
          <p:nvPr/>
        </p:nvSpPr>
        <p:spPr>
          <a:xfrm>
            <a:off x="838200" y="1690825"/>
            <a:ext cx="105156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When drawing a class, you need not show attributes and operation in every diagram.</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37" name="Google Shape;237;p26"/>
          <p:cNvSpPr txBox="1"/>
          <p:nvPr>
            <p:ph idx="1" type="body"/>
          </p:nvPr>
        </p:nvSpPr>
        <p:spPr>
          <a:xfrm>
            <a:off x="838200" y="1825625"/>
            <a:ext cx="10515600" cy="1199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aphicFrame>
        <p:nvGraphicFramePr>
          <p:cNvPr id="238" name="Google Shape;238;p26"/>
          <p:cNvGraphicFramePr/>
          <p:nvPr/>
        </p:nvGraphicFramePr>
        <p:xfrm>
          <a:off x="952500" y="3274625"/>
          <a:ext cx="3000000" cy="3000000"/>
        </p:xfrm>
        <a:graphic>
          <a:graphicData uri="http://schemas.openxmlformats.org/drawingml/2006/table">
            <a:tbl>
              <a:tblPr>
                <a:noFill/>
                <a:tableStyleId>{51C27C10-775D-4C65-8480-F46844FFB672}</a:tableStyleId>
              </a:tblPr>
              <a:tblGrid>
                <a:gridCol w="1625800"/>
                <a:gridCol w="1734225"/>
                <a:gridCol w="6926975"/>
              </a:tblGrid>
              <a:tr h="381000">
                <a:tc>
                  <a:txBody>
                    <a:bodyPr/>
                    <a:lstStyle/>
                    <a:p>
                      <a:pPr indent="0" lvl="0" marL="0" rtl="0" algn="ctr">
                        <a:spcBef>
                          <a:spcPts val="0"/>
                        </a:spcBef>
                        <a:spcAft>
                          <a:spcPts val="0"/>
                        </a:spcAft>
                        <a:buNone/>
                      </a:pPr>
                      <a:r>
                        <a:rPr b="1" lang="en-US" sz="2100"/>
                        <a:t>Visibility</a:t>
                      </a:r>
                      <a:endParaRPr b="1" sz="2100"/>
                    </a:p>
                  </a:txBody>
                  <a:tcPr marT="91425" marB="91425" marR="91425" marL="91425"/>
                </a:tc>
                <a:tc>
                  <a:txBody>
                    <a:bodyPr/>
                    <a:lstStyle/>
                    <a:p>
                      <a:pPr indent="0" lvl="0" marL="0" rtl="0" algn="ctr">
                        <a:spcBef>
                          <a:spcPts val="0"/>
                        </a:spcBef>
                        <a:spcAft>
                          <a:spcPts val="0"/>
                        </a:spcAft>
                        <a:buNone/>
                      </a:pPr>
                      <a:r>
                        <a:rPr b="1" lang="en-US" sz="2100"/>
                        <a:t>Symbol</a:t>
                      </a:r>
                      <a:endParaRPr b="1" sz="2100"/>
                    </a:p>
                  </a:txBody>
                  <a:tcPr marT="91425" marB="91425" marR="91425" marL="91425"/>
                </a:tc>
                <a:tc>
                  <a:txBody>
                    <a:bodyPr/>
                    <a:lstStyle/>
                    <a:p>
                      <a:pPr indent="0" lvl="0" marL="0" rtl="0" algn="ctr">
                        <a:spcBef>
                          <a:spcPts val="0"/>
                        </a:spcBef>
                        <a:spcAft>
                          <a:spcPts val="0"/>
                        </a:spcAft>
                        <a:buNone/>
                      </a:pPr>
                      <a:r>
                        <a:rPr b="1" lang="en-US" sz="2100"/>
                        <a:t>Accessible to</a:t>
                      </a:r>
                      <a:endParaRPr b="1" sz="2100"/>
                    </a:p>
                  </a:txBody>
                  <a:tcPr marT="91425" marB="91425" marR="91425" marL="91425"/>
                </a:tc>
              </a:tr>
              <a:tr h="381000">
                <a:tc>
                  <a:txBody>
                    <a:bodyPr/>
                    <a:lstStyle/>
                    <a:p>
                      <a:pPr indent="0" lvl="0" marL="0" rtl="0" algn="l">
                        <a:spcBef>
                          <a:spcPts val="0"/>
                        </a:spcBef>
                        <a:spcAft>
                          <a:spcPts val="0"/>
                        </a:spcAft>
                        <a:buNone/>
                      </a:pPr>
                      <a:r>
                        <a:rPr lang="en-US" sz="2300"/>
                        <a:t>Public</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All objects within your system</a:t>
                      </a:r>
                      <a:endParaRPr sz="2000"/>
                    </a:p>
                  </a:txBody>
                  <a:tcPr marT="91425" marB="91425" marR="91425" marL="91425"/>
                </a:tc>
              </a:tr>
              <a:tr h="381000">
                <a:tc>
                  <a:txBody>
                    <a:bodyPr/>
                    <a:lstStyle/>
                    <a:p>
                      <a:pPr indent="0" lvl="0" marL="0" rtl="0" algn="l">
                        <a:spcBef>
                          <a:spcPts val="0"/>
                        </a:spcBef>
                        <a:spcAft>
                          <a:spcPts val="0"/>
                        </a:spcAft>
                        <a:buNone/>
                      </a:pPr>
                      <a:r>
                        <a:rPr lang="en-US" sz="2300"/>
                        <a:t>Protected</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implementing class and its subclasses</a:t>
                      </a:r>
                      <a:endParaRPr sz="2000"/>
                    </a:p>
                  </a:txBody>
                  <a:tcPr marT="91425" marB="91425" marR="91425" marL="91425"/>
                </a:tc>
              </a:tr>
              <a:tr h="381000">
                <a:tc>
                  <a:txBody>
                    <a:bodyPr/>
                    <a:lstStyle/>
                    <a:p>
                      <a:pPr indent="0" lvl="0" marL="0" rtl="0" algn="l">
                        <a:spcBef>
                          <a:spcPts val="0"/>
                        </a:spcBef>
                        <a:spcAft>
                          <a:spcPts val="0"/>
                        </a:spcAft>
                        <a:buNone/>
                      </a:pPr>
                      <a:r>
                        <a:rPr lang="en-US" sz="2300"/>
                        <a:t>Private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a:t>
                      </a:r>
                      <a:r>
                        <a:rPr lang="en-US" sz="2000"/>
                        <a:t>implementing</a:t>
                      </a:r>
                      <a:r>
                        <a:rPr lang="en-US" sz="2000"/>
                        <a:t> class</a:t>
                      </a:r>
                      <a:endParaRPr sz="2000"/>
                    </a:p>
                  </a:txBody>
                  <a:tcPr marT="91425" marB="91425" marR="91425" marL="91425"/>
                </a:tc>
              </a:tr>
              <a:tr h="381000">
                <a:tc>
                  <a:txBody>
                    <a:bodyPr/>
                    <a:lstStyle/>
                    <a:p>
                      <a:pPr indent="0" lvl="0" marL="0" rtl="0" algn="l">
                        <a:spcBef>
                          <a:spcPts val="0"/>
                        </a:spcBef>
                        <a:spcAft>
                          <a:spcPts val="0"/>
                        </a:spcAft>
                        <a:buNone/>
                      </a:pPr>
                      <a:r>
                        <a:rPr lang="en-US" sz="2300"/>
                        <a:t>Package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within the same package</a:t>
                      </a:r>
                      <a:endParaRPr sz="2000"/>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44" name="Google Shape;244;p27"/>
          <p:cNvSpPr/>
          <p:nvPr/>
        </p:nvSpPr>
        <p:spPr>
          <a:xfrm>
            <a:off x="4528650" y="1690825"/>
            <a:ext cx="2590800" cy="762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45" name="Google Shape;245;p27"/>
          <p:cNvSpPr/>
          <p:nvPr/>
        </p:nvSpPr>
        <p:spPr>
          <a:xfrm>
            <a:off x="4528650" y="2452825"/>
            <a:ext cx="2590800" cy="2286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ssn           : Id</a:t>
            </a:r>
            <a:endParaRPr b="0" i="0" sz="1400" u="none" cap="none" strike="noStrike">
              <a:solidFill>
                <a:srgbClr val="000000"/>
              </a:solidFill>
              <a:latin typeface="Arial"/>
              <a:ea typeface="Arial"/>
              <a:cs typeface="Arial"/>
              <a:sym typeface="Arial"/>
            </a:endParaRPr>
          </a:p>
        </p:txBody>
      </p:sp>
      <p:sp>
        <p:nvSpPr>
          <p:cNvPr id="246" name="Google Shape;246;p27"/>
          <p:cNvSpPr/>
          <p:nvPr/>
        </p:nvSpPr>
        <p:spPr>
          <a:xfrm>
            <a:off x="4528650" y="4738825"/>
            <a:ext cx="2590800" cy="609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eat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sleep ()</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Relationships among Classes</a:t>
            </a:r>
            <a:endParaRPr b="1" sz="3300">
              <a:latin typeface="Lexend"/>
              <a:ea typeface="Lexend"/>
              <a:cs typeface="Lexend"/>
              <a:sym typeface="Lexend"/>
            </a:endParaRPr>
          </a:p>
        </p:txBody>
      </p:sp>
      <p:sp>
        <p:nvSpPr>
          <p:cNvPr id="252" name="Google Shape;252;p28"/>
          <p:cNvSpPr txBox="1"/>
          <p:nvPr>
            <p:ph idx="1" type="body"/>
          </p:nvPr>
        </p:nvSpPr>
        <p:spPr>
          <a:xfrm>
            <a:off x="838200" y="1825625"/>
            <a:ext cx="10515600" cy="447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Represents a connection between multiple classes or a class and itself</a:t>
            </a:r>
            <a:endParaRPr/>
          </a:p>
          <a:p>
            <a:pPr indent="0" lvl="0" marL="0" rtl="0" algn="l">
              <a:spcBef>
                <a:spcPts val="0"/>
              </a:spcBef>
              <a:spcAft>
                <a:spcPts val="0"/>
              </a:spcAft>
              <a:buNone/>
            </a:pPr>
            <a:r>
              <a:rPr lang="en-US"/>
              <a:t>2 basic categories:</a:t>
            </a:r>
            <a:endParaRPr/>
          </a:p>
          <a:p>
            <a:pPr indent="-342900" lvl="0" marL="457200" rtl="0" algn="l">
              <a:spcBef>
                <a:spcPts val="0"/>
              </a:spcBef>
              <a:spcAft>
                <a:spcPts val="0"/>
              </a:spcAft>
              <a:buSzPts val="1800"/>
              <a:buFont typeface="Calibri"/>
              <a:buChar char="●"/>
            </a:pPr>
            <a:r>
              <a:rPr lang="en-US"/>
              <a:t>Association relationships</a:t>
            </a:r>
            <a:endParaRPr/>
          </a:p>
          <a:p>
            <a:pPr indent="-342900" lvl="1" marL="914400" rtl="0" algn="l">
              <a:spcBef>
                <a:spcPts val="0"/>
              </a:spcBef>
              <a:spcAft>
                <a:spcPts val="0"/>
              </a:spcAft>
              <a:buSzPts val="1800"/>
              <a:buFont typeface="Calibri"/>
              <a:buChar char="○"/>
            </a:pPr>
            <a:r>
              <a:rPr lang="en-US"/>
              <a:t>Aggregation</a:t>
            </a:r>
            <a:endParaRPr/>
          </a:p>
          <a:p>
            <a:pPr indent="-342900" lvl="1" marL="914400" rtl="0" algn="l">
              <a:spcBef>
                <a:spcPts val="0"/>
              </a:spcBef>
              <a:spcAft>
                <a:spcPts val="0"/>
              </a:spcAft>
              <a:buSzPts val="1800"/>
              <a:buFont typeface="Calibri"/>
              <a:buChar char="○"/>
            </a:pPr>
            <a:r>
              <a:rPr lang="en-US"/>
              <a:t>Composition</a:t>
            </a:r>
            <a:endParaRPr/>
          </a:p>
          <a:p>
            <a:pPr indent="-342900" lvl="1" marL="914400" rtl="0" algn="l">
              <a:spcBef>
                <a:spcPts val="0"/>
              </a:spcBef>
              <a:spcAft>
                <a:spcPts val="0"/>
              </a:spcAft>
              <a:buSzPts val="1800"/>
              <a:buFont typeface="Calibri"/>
              <a:buChar char="○"/>
            </a:pPr>
            <a:r>
              <a:rPr lang="en-US"/>
              <a:t>Reflexive</a:t>
            </a:r>
            <a:endParaRPr/>
          </a:p>
          <a:p>
            <a:pPr indent="-342900" lvl="1" marL="914400" rtl="0" algn="l">
              <a:spcBef>
                <a:spcPts val="0"/>
              </a:spcBef>
              <a:spcAft>
                <a:spcPts val="0"/>
              </a:spcAft>
              <a:buSzPts val="1800"/>
              <a:buFont typeface="Calibri"/>
              <a:buChar char="○"/>
            </a:pPr>
            <a:r>
              <a:rPr lang="en-US"/>
              <a:t>Dependency</a:t>
            </a:r>
            <a:endParaRPr/>
          </a:p>
          <a:p>
            <a:pPr indent="-342900" lvl="0" marL="457200" rtl="0" algn="l">
              <a:spcBef>
                <a:spcPts val="0"/>
              </a:spcBef>
              <a:spcAft>
                <a:spcPts val="0"/>
              </a:spcAft>
              <a:buSzPts val="1800"/>
              <a:buFont typeface="Calibri"/>
              <a:buChar char="●"/>
            </a:pPr>
            <a:r>
              <a:rPr lang="en-US"/>
              <a:t>Generalization relationships</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Association Relationship</a:t>
            </a:r>
            <a:endParaRPr b="1" sz="3300">
              <a:latin typeface="Lexend"/>
              <a:ea typeface="Lexend"/>
              <a:cs typeface="Lexend"/>
              <a:sym typeface="Lexend"/>
            </a:endParaRPr>
          </a:p>
        </p:txBody>
      </p:sp>
      <p:sp>
        <p:nvSpPr>
          <p:cNvPr id="258" name="Google Shape;258;p29"/>
          <p:cNvSpPr txBox="1"/>
          <p:nvPr>
            <p:ph idx="1" type="body"/>
          </p:nvPr>
        </p:nvSpPr>
        <p:spPr>
          <a:xfrm>
            <a:off x="838200" y="1825625"/>
            <a:ext cx="10515600" cy="380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If two classes in a model need to communicate with each other, there must be link between them. An association denotes that link.</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b="1" lang="en-US" sz="2300"/>
              <a:t>Name of relationship type shown by:</a:t>
            </a:r>
            <a:endParaRPr b="1" sz="2300"/>
          </a:p>
          <a:p>
            <a:pPr indent="-374650" lvl="0" marL="457200" rtl="0" algn="l">
              <a:spcBef>
                <a:spcPts val="0"/>
              </a:spcBef>
              <a:spcAft>
                <a:spcPts val="0"/>
              </a:spcAft>
              <a:buSzPts val="2300"/>
              <a:buFont typeface="Calibri"/>
              <a:buChar char="•"/>
            </a:pPr>
            <a:r>
              <a:rPr lang="en-US" sz="2300"/>
              <a:t>drawing line between classes</a:t>
            </a:r>
            <a:endParaRPr sz="2300"/>
          </a:p>
          <a:p>
            <a:pPr indent="-374650" lvl="0" marL="457200" rtl="0" algn="l">
              <a:spcBef>
                <a:spcPts val="0"/>
              </a:spcBef>
              <a:spcAft>
                <a:spcPts val="0"/>
              </a:spcAft>
              <a:buSzPts val="2300"/>
              <a:buFont typeface="Calibri"/>
              <a:buChar char="•"/>
            </a:pPr>
            <a:r>
              <a:rPr lang="en-US" sz="2300"/>
              <a:t>labeling with the name of the relationship</a:t>
            </a:r>
            <a:endParaRPr sz="2300"/>
          </a:p>
          <a:p>
            <a:pPr indent="-374650" lvl="0" marL="457200" rtl="0" algn="l">
              <a:spcBef>
                <a:spcPts val="0"/>
              </a:spcBef>
              <a:spcAft>
                <a:spcPts val="0"/>
              </a:spcAft>
              <a:buSzPts val="2300"/>
              <a:buFont typeface="Calibri"/>
              <a:buChar char="•"/>
            </a:pPr>
            <a:r>
              <a:rPr lang="en-US" sz="2300"/>
              <a:t>indicating with a small solid triangle beside the name of the relationship the direction of the association</a:t>
            </a:r>
            <a:endParaRPr sz="2300"/>
          </a:p>
          <a:p>
            <a:pPr indent="0" lvl="0" marL="0" rtl="0" algn="l">
              <a:spcBef>
                <a:spcPts val="0"/>
              </a:spcBef>
              <a:spcAft>
                <a:spcPts val="0"/>
              </a:spcAft>
              <a:buNone/>
            </a:pPr>
            <a:r>
              <a:t/>
            </a:r>
            <a:endParaRPr/>
          </a:p>
        </p:txBody>
      </p:sp>
      <p:sp>
        <p:nvSpPr>
          <p:cNvPr id="259" name="Google Shape;259;p29"/>
          <p:cNvSpPr/>
          <p:nvPr/>
        </p:nvSpPr>
        <p:spPr>
          <a:xfrm>
            <a:off x="2409450" y="5348425"/>
            <a:ext cx="17526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300">
                <a:latin typeface="Calibri"/>
                <a:ea typeface="Calibri"/>
                <a:cs typeface="Calibri"/>
                <a:sym typeface="Calibri"/>
              </a:rPr>
              <a:t>Patient</a:t>
            </a:r>
            <a:endParaRPr i="0" sz="2300" u="none" cap="none" strike="noStrike">
              <a:solidFill>
                <a:srgbClr val="000000"/>
              </a:solidFill>
              <a:latin typeface="Calibri"/>
              <a:ea typeface="Calibri"/>
              <a:cs typeface="Calibri"/>
              <a:sym typeface="Calibri"/>
            </a:endParaRPr>
          </a:p>
        </p:txBody>
      </p:sp>
      <p:sp>
        <p:nvSpPr>
          <p:cNvPr id="260" name="Google Shape;260;p29"/>
          <p:cNvSpPr/>
          <p:nvPr/>
        </p:nvSpPr>
        <p:spPr>
          <a:xfrm>
            <a:off x="7438650" y="5348425"/>
            <a:ext cx="23439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rPr lang="en-US" sz="2300">
                <a:solidFill>
                  <a:schemeClr val="dk1"/>
                </a:solidFill>
                <a:latin typeface="Calibri"/>
                <a:ea typeface="Calibri"/>
                <a:cs typeface="Calibri"/>
                <a:sym typeface="Calibri"/>
              </a:rPr>
              <a:t>Medical History</a:t>
            </a:r>
            <a:endParaRPr sz="2300">
              <a:latin typeface="Calibri"/>
              <a:ea typeface="Calibri"/>
              <a:cs typeface="Calibri"/>
              <a:sym typeface="Calibri"/>
            </a:endParaRPr>
          </a:p>
        </p:txBody>
      </p:sp>
      <p:cxnSp>
        <p:nvCxnSpPr>
          <p:cNvPr id="261" name="Google Shape;261;p29"/>
          <p:cNvCxnSpPr/>
          <p:nvPr/>
        </p:nvCxnSpPr>
        <p:spPr>
          <a:xfrm>
            <a:off x="4162050" y="5653225"/>
            <a:ext cx="3276600" cy="0"/>
          </a:xfrm>
          <a:prstGeom prst="straightConnector1">
            <a:avLst/>
          </a:prstGeom>
          <a:noFill/>
          <a:ln cap="flat" cmpd="sng" w="9525">
            <a:solidFill>
              <a:srgbClr val="000000"/>
            </a:solidFill>
            <a:prstDash val="solid"/>
            <a:round/>
            <a:headEnd len="sm" w="sm" type="none"/>
            <a:tailEnd len="sm" w="sm" type="none"/>
          </a:ln>
        </p:spPr>
      </p:cxnSp>
      <p:sp>
        <p:nvSpPr>
          <p:cNvPr id="262" name="Google Shape;262;p29"/>
          <p:cNvSpPr txBox="1"/>
          <p:nvPr/>
        </p:nvSpPr>
        <p:spPr>
          <a:xfrm>
            <a:off x="4695450" y="5272225"/>
            <a:ext cx="228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000" u="none" cap="none" strike="noStrike">
                <a:solidFill>
                  <a:srgbClr val="000000"/>
                </a:solidFill>
                <a:latin typeface="Calibri"/>
                <a:ea typeface="Calibri"/>
                <a:cs typeface="Calibri"/>
                <a:sym typeface="Calibri"/>
              </a:rPr>
              <a:t>Provides </a:t>
            </a:r>
            <a:endParaRPr i="0" sz="2000" u="none" cap="none" strike="noStrike">
              <a:solidFill>
                <a:srgbClr val="000000"/>
              </a:solidFill>
              <a:latin typeface="Calibri"/>
              <a:ea typeface="Calibri"/>
              <a:cs typeface="Calibri"/>
              <a:sym typeface="Calibri"/>
            </a:endParaRPr>
          </a:p>
        </p:txBody>
      </p:sp>
      <p:cxnSp>
        <p:nvCxnSpPr>
          <p:cNvPr id="263" name="Google Shape;263;p29"/>
          <p:cNvCxnSpPr>
            <a:endCxn id="262" idx="3"/>
          </p:cNvCxnSpPr>
          <p:nvPr/>
        </p:nvCxnSpPr>
        <p:spPr>
          <a:xfrm flipH="1" rot="10800000">
            <a:off x="6295650" y="5472325"/>
            <a:ext cx="685800" cy="285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69" name="Google Shape;269;p30"/>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374650" lvl="0" marL="457200" rtl="0" algn="l">
              <a:spcBef>
                <a:spcPts val="0"/>
              </a:spcBef>
              <a:spcAft>
                <a:spcPts val="0"/>
              </a:spcAft>
              <a:buSzPts val="2300"/>
              <a:buChar char="•"/>
            </a:pPr>
            <a:r>
              <a:rPr lang="en-US" sz="2300"/>
              <a:t>Specialized form of association in which a whole is related to its part(s)</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t>
            </a:r>
            <a:r>
              <a:rPr lang="en-US" sz="2300" u="sng"/>
              <a:t>a-part-of</a:t>
            </a:r>
            <a:r>
              <a:rPr lang="en-US" sz="2300"/>
              <a:t> relationship</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Specifies a whole-part relationship between an aggregate (a whole) and a constituent part, where the part can exist </a:t>
            </a:r>
            <a:r>
              <a:rPr lang="en-US" sz="2300" u="sng"/>
              <a:t>independently </a:t>
            </a:r>
            <a:r>
              <a:rPr lang="en-US" sz="2300"/>
              <a:t>from the aggregate.</a:t>
            </a:r>
            <a:endParaRPr sz="2300"/>
          </a:p>
          <a:p>
            <a:pPr indent="-374650" lvl="0" marL="457200" rtl="0" algn="l">
              <a:spcBef>
                <a:spcPts val="0"/>
              </a:spcBef>
              <a:spcAft>
                <a:spcPts val="0"/>
              </a:spcAft>
              <a:buSzPts val="2300"/>
              <a:buChar char="•"/>
            </a:pPr>
            <a:r>
              <a:rPr lang="en-US" sz="2300"/>
              <a:t>Denoted </a:t>
            </a:r>
            <a:r>
              <a:rPr lang="en-US" sz="2300"/>
              <a:t>by a hollow diamond on the association</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grpSp>
        <p:nvGrpSpPr>
          <p:cNvPr id="270" name="Google Shape;270;p30"/>
          <p:cNvGrpSpPr/>
          <p:nvPr/>
        </p:nvGrpSpPr>
        <p:grpSpPr>
          <a:xfrm>
            <a:off x="3565012" y="4802575"/>
            <a:ext cx="952500" cy="476250"/>
            <a:chOff x="4253" y="96"/>
            <a:chExt cx="600" cy="300"/>
          </a:xfrm>
        </p:grpSpPr>
        <p:sp>
          <p:nvSpPr>
            <p:cNvPr id="271" name="Google Shape;271;p30"/>
            <p:cNvSpPr txBox="1"/>
            <p:nvPr/>
          </p:nvSpPr>
          <p:spPr>
            <a:xfrm>
              <a:off x="4253" y="96"/>
              <a:ext cx="600" cy="3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Car</a:t>
              </a:r>
              <a:endParaRPr b="0" i="0" sz="1400" u="none" cap="none" strike="noStrike">
                <a:solidFill>
                  <a:srgbClr val="000000"/>
                </a:solidFill>
                <a:latin typeface="Arial"/>
                <a:ea typeface="Arial"/>
                <a:cs typeface="Arial"/>
                <a:sym typeface="Arial"/>
              </a:endParaRPr>
            </a:p>
          </p:txBody>
        </p:sp>
        <p:cxnSp>
          <p:nvCxnSpPr>
            <p:cNvPr id="272" name="Google Shape;272;p30"/>
            <p:cNvCxnSpPr/>
            <p:nvPr/>
          </p:nvCxnSpPr>
          <p:spPr>
            <a:xfrm>
              <a:off x="4253" y="393"/>
              <a:ext cx="600" cy="0"/>
            </a:xfrm>
            <a:prstGeom prst="straightConnector1">
              <a:avLst/>
            </a:prstGeom>
            <a:noFill/>
            <a:ln cap="flat" cmpd="sng" w="19050">
              <a:solidFill>
                <a:srgbClr val="000000"/>
              </a:solidFill>
              <a:prstDash val="solid"/>
              <a:miter lim="800000"/>
              <a:headEnd len="sm" w="sm" type="none"/>
              <a:tailEnd len="sm" w="sm" type="none"/>
            </a:ln>
          </p:spPr>
        </p:cxnSp>
      </p:grpSp>
      <p:grpSp>
        <p:nvGrpSpPr>
          <p:cNvPr id="273" name="Google Shape;273;p30"/>
          <p:cNvGrpSpPr/>
          <p:nvPr/>
        </p:nvGrpSpPr>
        <p:grpSpPr>
          <a:xfrm>
            <a:off x="4517512" y="4906761"/>
            <a:ext cx="3135312" cy="267890"/>
            <a:chOff x="3840" y="1826"/>
            <a:chExt cx="2400" cy="300"/>
          </a:xfrm>
        </p:grpSpPr>
        <p:cxnSp>
          <p:nvCxnSpPr>
            <p:cNvPr id="274" name="Google Shape;274;p30"/>
            <p:cNvCxnSpPr>
              <a:stCxn id="275" idx="3"/>
              <a:endCxn id="276" idx="1"/>
            </p:cNvCxnSpPr>
            <p:nvPr/>
          </p:nvCxnSpPr>
          <p:spPr>
            <a:xfrm>
              <a:off x="4140" y="1976"/>
              <a:ext cx="2100" cy="0"/>
            </a:xfrm>
            <a:prstGeom prst="straightConnector1">
              <a:avLst/>
            </a:prstGeom>
            <a:noFill/>
            <a:ln cap="flat" cmpd="sng" w="19050">
              <a:solidFill>
                <a:srgbClr val="000000"/>
              </a:solidFill>
              <a:prstDash val="solid"/>
              <a:miter lim="800000"/>
              <a:headEnd len="sm" w="sm" type="none"/>
              <a:tailEnd len="sm" w="sm" type="none"/>
            </a:ln>
          </p:spPr>
        </p:cxnSp>
        <p:sp>
          <p:nvSpPr>
            <p:cNvPr id="275" name="Google Shape;275;p30"/>
            <p:cNvSpPr/>
            <p:nvPr/>
          </p:nvSpPr>
          <p:spPr>
            <a:xfrm>
              <a:off x="3840" y="1826"/>
              <a:ext cx="300" cy="300"/>
            </a:xfrm>
            <a:prstGeom prst="diamond">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ahoma"/>
                <a:ea typeface="Tahoma"/>
                <a:cs typeface="Tahoma"/>
                <a:sym typeface="Tahoma"/>
              </a:endParaRPr>
            </a:p>
          </p:txBody>
        </p:sp>
      </p:grpSp>
      <p:sp>
        <p:nvSpPr>
          <p:cNvPr id="276" name="Google Shape;276;p30"/>
          <p:cNvSpPr txBox="1"/>
          <p:nvPr/>
        </p:nvSpPr>
        <p:spPr>
          <a:xfrm>
            <a:off x="7674499" y="4802576"/>
            <a:ext cx="952500" cy="47625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Engine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Relationship</a:t>
            </a:r>
            <a:endParaRPr b="1" sz="3300">
              <a:latin typeface="Lexend"/>
              <a:ea typeface="Lexend"/>
              <a:cs typeface="Lexend"/>
              <a:sym typeface="Lexend"/>
            </a:endParaRPr>
          </a:p>
        </p:txBody>
      </p:sp>
      <p:pic>
        <p:nvPicPr>
          <p:cNvPr id="282" name="Google Shape;282;p31"/>
          <p:cNvPicPr preferRelativeResize="0"/>
          <p:nvPr/>
        </p:nvPicPr>
        <p:blipFill rotWithShape="1">
          <a:blip r:embed="rId3">
            <a:alphaModFix/>
          </a:blip>
          <a:srcRect b="0" l="0" r="0" t="0"/>
          <a:stretch/>
        </p:blipFill>
        <p:spPr>
          <a:xfrm>
            <a:off x="1032500" y="1690829"/>
            <a:ext cx="9144002" cy="45038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88" name="Google Shape;288;p32"/>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A composition indicates a strong ownership and coincident lifetime of parts by the whole. </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 </a:t>
            </a:r>
            <a:r>
              <a:rPr lang="en-US" sz="2300"/>
              <a:t>"is entirely made of" relationship</a:t>
            </a:r>
            <a:endParaRPr sz="2300"/>
          </a:p>
          <a:p>
            <a:pPr indent="-374650" lvl="0" marL="457200" rtl="0" algn="l">
              <a:spcBef>
                <a:spcPts val="0"/>
              </a:spcBef>
              <a:spcAft>
                <a:spcPts val="0"/>
              </a:spcAft>
              <a:buSzPts val="2300"/>
              <a:buChar char="•"/>
            </a:pPr>
            <a:r>
              <a:rPr lang="en-US" sz="2300"/>
              <a:t>stronger version of aggregation</a:t>
            </a:r>
            <a:endParaRPr sz="2300"/>
          </a:p>
          <a:p>
            <a:pPr indent="-374650" lvl="0" marL="457200" rtl="0" algn="l">
              <a:spcBef>
                <a:spcPts val="0"/>
              </a:spcBef>
              <a:spcAft>
                <a:spcPts val="0"/>
              </a:spcAft>
              <a:buSzPts val="2300"/>
              <a:buChar char="•"/>
            </a:pPr>
            <a:r>
              <a:rPr lang="en-US" sz="2300"/>
              <a:t>the parts live and die with the whole</a:t>
            </a:r>
            <a:endParaRPr sz="2300"/>
          </a:p>
          <a:p>
            <a:pPr indent="-374650" lvl="0" marL="457200" rtl="0" algn="l">
              <a:spcBef>
                <a:spcPts val="0"/>
              </a:spcBef>
              <a:spcAft>
                <a:spcPts val="0"/>
              </a:spcAft>
              <a:buSzPts val="2300"/>
              <a:buChar char="•"/>
            </a:pPr>
            <a:r>
              <a:rPr lang="en-US" sz="2300"/>
              <a:t>symbolized by a black diamond</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sp>
        <p:nvSpPr>
          <p:cNvPr id="289" name="Google Shape;289;p32"/>
          <p:cNvSpPr/>
          <p:nvPr/>
        </p:nvSpPr>
        <p:spPr>
          <a:xfrm>
            <a:off x="3145225" y="4331875"/>
            <a:ext cx="1137900" cy="2362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Window</a:t>
            </a:r>
            <a:endParaRPr b="0" i="0" sz="1400" u="none" cap="none" strike="noStrike">
              <a:solidFill>
                <a:srgbClr val="000000"/>
              </a:solidFill>
              <a:latin typeface="Arial"/>
              <a:ea typeface="Arial"/>
              <a:cs typeface="Arial"/>
              <a:sym typeface="Arial"/>
            </a:endParaRPr>
          </a:p>
        </p:txBody>
      </p:sp>
      <p:grpSp>
        <p:nvGrpSpPr>
          <p:cNvPr id="290" name="Google Shape;290;p32"/>
          <p:cNvGrpSpPr/>
          <p:nvPr/>
        </p:nvGrpSpPr>
        <p:grpSpPr>
          <a:xfrm>
            <a:off x="4339175" y="4217250"/>
            <a:ext cx="4707601" cy="476250"/>
            <a:chOff x="1824" y="2760"/>
            <a:chExt cx="3528" cy="300"/>
          </a:xfrm>
        </p:grpSpPr>
        <p:grpSp>
          <p:nvGrpSpPr>
            <p:cNvPr id="291" name="Google Shape;291;p32"/>
            <p:cNvGrpSpPr/>
            <p:nvPr/>
          </p:nvGrpSpPr>
          <p:grpSpPr>
            <a:xfrm>
              <a:off x="1824" y="2930"/>
              <a:ext cx="1875" cy="110"/>
              <a:chOff x="1920" y="2736"/>
              <a:chExt cx="1692" cy="96"/>
            </a:xfrm>
          </p:grpSpPr>
          <p:cxnSp>
            <p:nvCxnSpPr>
              <p:cNvPr id="292" name="Google Shape;292;p32"/>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293" name="Google Shape;293;p32"/>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294" name="Google Shape;294;p32"/>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Scrollbar</a:t>
              </a:r>
              <a:endParaRPr b="0" i="0" sz="1400" u="none" cap="none" strike="noStrike">
                <a:solidFill>
                  <a:srgbClr val="000000"/>
                </a:solidFill>
                <a:latin typeface="Arial"/>
                <a:ea typeface="Arial"/>
                <a:cs typeface="Arial"/>
                <a:sym typeface="Arial"/>
              </a:endParaRPr>
            </a:p>
          </p:txBody>
        </p:sp>
      </p:grpSp>
      <p:grpSp>
        <p:nvGrpSpPr>
          <p:cNvPr id="295" name="Google Shape;295;p32"/>
          <p:cNvGrpSpPr/>
          <p:nvPr/>
        </p:nvGrpSpPr>
        <p:grpSpPr>
          <a:xfrm>
            <a:off x="4339175" y="5055450"/>
            <a:ext cx="4707601" cy="476250"/>
            <a:chOff x="1824" y="2760"/>
            <a:chExt cx="3528" cy="300"/>
          </a:xfrm>
        </p:grpSpPr>
        <p:grpSp>
          <p:nvGrpSpPr>
            <p:cNvPr id="296" name="Google Shape;296;p32"/>
            <p:cNvGrpSpPr/>
            <p:nvPr/>
          </p:nvGrpSpPr>
          <p:grpSpPr>
            <a:xfrm>
              <a:off x="1824" y="2930"/>
              <a:ext cx="1875" cy="110"/>
              <a:chOff x="1920" y="2736"/>
              <a:chExt cx="1692" cy="96"/>
            </a:xfrm>
          </p:grpSpPr>
          <p:cxnSp>
            <p:nvCxnSpPr>
              <p:cNvPr id="297" name="Google Shape;297;p32"/>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298" name="Google Shape;298;p32"/>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299" name="Google Shape;299;p32"/>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Titlebar</a:t>
              </a:r>
              <a:endParaRPr b="0" i="0" sz="1400" u="none" cap="none" strike="noStrike">
                <a:solidFill>
                  <a:srgbClr val="000000"/>
                </a:solidFill>
                <a:latin typeface="Arial"/>
                <a:ea typeface="Arial"/>
                <a:cs typeface="Arial"/>
                <a:sym typeface="Arial"/>
              </a:endParaRPr>
            </a:p>
          </p:txBody>
        </p:sp>
      </p:grpSp>
      <p:grpSp>
        <p:nvGrpSpPr>
          <p:cNvPr id="300" name="Google Shape;300;p32"/>
          <p:cNvGrpSpPr/>
          <p:nvPr/>
        </p:nvGrpSpPr>
        <p:grpSpPr>
          <a:xfrm>
            <a:off x="4339175" y="5893650"/>
            <a:ext cx="4707601" cy="476250"/>
            <a:chOff x="1824" y="2760"/>
            <a:chExt cx="3528" cy="300"/>
          </a:xfrm>
        </p:grpSpPr>
        <p:grpSp>
          <p:nvGrpSpPr>
            <p:cNvPr id="301" name="Google Shape;301;p32"/>
            <p:cNvGrpSpPr/>
            <p:nvPr/>
          </p:nvGrpSpPr>
          <p:grpSpPr>
            <a:xfrm>
              <a:off x="1824" y="2930"/>
              <a:ext cx="1875" cy="110"/>
              <a:chOff x="1920" y="2736"/>
              <a:chExt cx="1692" cy="96"/>
            </a:xfrm>
          </p:grpSpPr>
          <p:cxnSp>
            <p:nvCxnSpPr>
              <p:cNvPr id="302" name="Google Shape;302;p32"/>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3" name="Google Shape;303;p32"/>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4" name="Google Shape;304;p32"/>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Menu</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Relationship</a:t>
            </a:r>
            <a:endParaRPr b="1" sz="3300">
              <a:latin typeface="Lexend"/>
              <a:ea typeface="Lexend"/>
              <a:cs typeface="Lexend"/>
              <a:sym typeface="Lexend"/>
            </a:endParaRPr>
          </a:p>
        </p:txBody>
      </p:sp>
      <p:pic>
        <p:nvPicPr>
          <p:cNvPr id="310" name="Google Shape;310;p33"/>
          <p:cNvPicPr preferRelativeResize="0"/>
          <p:nvPr/>
        </p:nvPicPr>
        <p:blipFill rotWithShape="1">
          <a:blip r:embed="rId3">
            <a:alphaModFix/>
          </a:blip>
          <a:srcRect b="0" l="0" r="0" t="0"/>
          <a:stretch/>
        </p:blipFill>
        <p:spPr>
          <a:xfrm>
            <a:off x="838200" y="1690825"/>
            <a:ext cx="9143999" cy="44795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nvSpPr>
        <p:spPr>
          <a:xfrm>
            <a:off x="274325" y="845850"/>
            <a:ext cx="11281500" cy="563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1. Association (The "Interacts With" Relationship)</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this as a casual relationship. Two independent things need to talk to each other to get something done, but neither "owns" the other. They both have their own separate lives.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Campus Example:</a:t>
            </a:r>
            <a:r>
              <a:rPr lang="en-US" sz="1100">
                <a:solidFill>
                  <a:schemeClr val="dk1"/>
                </a:solidFill>
              </a:rPr>
              <a:t> A </a:t>
            </a:r>
            <a:r>
              <a:rPr lang="en-US" sz="1100">
                <a:solidFill>
                  <a:srgbClr val="188038"/>
                </a:solidFill>
                <a:latin typeface="Roboto Mono"/>
                <a:ea typeface="Roboto Mono"/>
                <a:cs typeface="Roboto Mono"/>
                <a:sym typeface="Roboto Mono"/>
              </a:rPr>
              <a:t>Student</a:t>
            </a:r>
            <a:r>
              <a:rPr lang="en-US" sz="1100">
                <a:solidFill>
                  <a:schemeClr val="dk1"/>
                </a:solidFill>
              </a:rPr>
              <a:t> and a </a:t>
            </a:r>
            <a:r>
              <a:rPr lang="en-US" sz="1100">
                <a:solidFill>
                  <a:srgbClr val="188038"/>
                </a:solidFill>
                <a:latin typeface="Roboto Mono"/>
                <a:ea typeface="Roboto Mono"/>
                <a:cs typeface="Roboto Mono"/>
                <a:sym typeface="Roboto Mono"/>
              </a:rPr>
              <a:t>Professor</a:t>
            </a:r>
            <a:r>
              <a:rPr lang="en-US" sz="1100">
                <a:solidFill>
                  <a:schemeClr val="dk1"/>
                </a:solidFill>
              </a:rPr>
              <a:t>. A student asks the professor a question during office hours. They interact, but they are completely independent people.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Video Game Example:</a:t>
            </a:r>
            <a:r>
              <a:rPr lang="en-US" sz="1100">
                <a:solidFill>
                  <a:schemeClr val="dk1"/>
                </a:solidFill>
              </a:rPr>
              <a:t> A </a:t>
            </a:r>
            <a:r>
              <a:rPr lang="en-US" sz="1100">
                <a:solidFill>
                  <a:srgbClr val="188038"/>
                </a:solidFill>
                <a:latin typeface="Roboto Mono"/>
                <a:ea typeface="Roboto Mono"/>
                <a:cs typeface="Roboto Mono"/>
                <a:sym typeface="Roboto Mono"/>
              </a:rPr>
              <a:t>Trainer</a:t>
            </a:r>
            <a:r>
              <a:rPr lang="en-US" sz="1100">
                <a:solidFill>
                  <a:schemeClr val="dk1"/>
                </a:solidFill>
              </a:rPr>
              <a:t> and a </a:t>
            </a:r>
            <a:r>
              <a:rPr lang="en-US" sz="1100">
                <a:solidFill>
                  <a:srgbClr val="188038"/>
                </a:solidFill>
                <a:latin typeface="Roboto Mono"/>
                <a:ea typeface="Roboto Mono"/>
                <a:cs typeface="Roboto Mono"/>
                <a:sym typeface="Roboto Mono"/>
              </a:rPr>
              <a:t>Shop Clerk</a:t>
            </a:r>
            <a:r>
              <a:rPr lang="en-US" sz="1100">
                <a:solidFill>
                  <a:schemeClr val="dk1"/>
                </a:solidFill>
              </a:rPr>
              <a:t>. You walk up to the clerk to buy potions. You interact to complete a transaction, and then you both go your separate ways.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US" sz="1100">
                <a:solidFill>
                  <a:schemeClr val="dk1"/>
                </a:solidFill>
              </a:rPr>
              <a:t>UML Rule:</a:t>
            </a:r>
            <a:r>
              <a:rPr lang="en-US" sz="1100">
                <a:solidFill>
                  <a:schemeClr val="dk1"/>
                </a:solidFill>
              </a:rPr>
              <a:t> They just use a simple line to connect.</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2. Aggregation (The "Has-A" Relationship, Independent)</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this as a container and its contents. One thing "owns" or contains another, but if the container is destroyed, the contents inside will perfectly survive on their own.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Campus Example:</a:t>
            </a:r>
            <a:r>
              <a:rPr lang="en-US" sz="1100">
                <a:solidFill>
                  <a:schemeClr val="dk1"/>
                </a:solidFill>
              </a:rPr>
              <a:t> A </a:t>
            </a:r>
            <a:r>
              <a:rPr lang="en-US" sz="1100">
                <a:solidFill>
                  <a:srgbClr val="188038"/>
                </a:solidFill>
                <a:latin typeface="Roboto Mono"/>
                <a:ea typeface="Roboto Mono"/>
                <a:cs typeface="Roboto Mono"/>
                <a:sym typeface="Roboto Mono"/>
              </a:rPr>
              <a:t>Backpack</a:t>
            </a:r>
            <a:r>
              <a:rPr lang="en-US" sz="1100">
                <a:solidFill>
                  <a:schemeClr val="dk1"/>
                </a:solidFill>
              </a:rPr>
              <a:t> and a </a:t>
            </a:r>
            <a:r>
              <a:rPr lang="en-US" sz="1100">
                <a:solidFill>
                  <a:srgbClr val="188038"/>
                </a:solidFill>
                <a:latin typeface="Roboto Mono"/>
                <a:ea typeface="Roboto Mono"/>
                <a:cs typeface="Roboto Mono"/>
                <a:sym typeface="Roboto Mono"/>
              </a:rPr>
              <a:t>Textbook</a:t>
            </a:r>
            <a:r>
              <a:rPr lang="en-US" sz="1100">
                <a:solidFill>
                  <a:schemeClr val="dk1"/>
                </a:solidFill>
              </a:rPr>
              <a:t>. A backpack contains textbooks. But if the backpack rips and you throw it in the trash, the textbooks don't magically disappear. You just take them out and put them on your desk. They have an independent lifecycle.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Video Game Example:</a:t>
            </a:r>
            <a:r>
              <a:rPr lang="en-US" sz="1100">
                <a:solidFill>
                  <a:schemeClr val="dk1"/>
                </a:solidFill>
              </a:rPr>
              <a:t> A </a:t>
            </a:r>
            <a:r>
              <a:rPr lang="en-US" sz="1100">
                <a:solidFill>
                  <a:srgbClr val="188038"/>
                </a:solidFill>
                <a:latin typeface="Roboto Mono"/>
                <a:ea typeface="Roboto Mono"/>
                <a:cs typeface="Roboto Mono"/>
                <a:sym typeface="Roboto Mono"/>
              </a:rPr>
              <a:t>Trainer</a:t>
            </a:r>
            <a:r>
              <a:rPr lang="en-US" sz="1100">
                <a:solidFill>
                  <a:schemeClr val="dk1"/>
                </a:solidFill>
              </a:rPr>
              <a:t> and a </a:t>
            </a:r>
            <a:r>
              <a:rPr lang="en-US" sz="1100">
                <a:solidFill>
                  <a:srgbClr val="188038"/>
                </a:solidFill>
                <a:latin typeface="Roboto Mono"/>
                <a:ea typeface="Roboto Mono"/>
                <a:cs typeface="Roboto Mono"/>
                <a:sym typeface="Roboto Mono"/>
              </a:rPr>
              <a:t>Pokémon</a:t>
            </a:r>
            <a:r>
              <a:rPr lang="en-US" sz="1100">
                <a:solidFill>
                  <a:schemeClr val="dk1"/>
                </a:solidFill>
              </a:rPr>
              <a:t>. A trainer "has a" Charizard in their party. But if the trainer decides to retire (or is deleted from the game's story), the Charizard isn't destroyed—it can be released back into the wild or traded to someone else.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US" sz="1100">
                <a:solidFill>
                  <a:schemeClr val="dk1"/>
                </a:solidFill>
              </a:rPr>
              <a:t>UML Rule:</a:t>
            </a:r>
            <a:r>
              <a:rPr lang="en-US" sz="1100">
                <a:solidFill>
                  <a:schemeClr val="dk1"/>
                </a:solidFill>
              </a:rPr>
              <a:t> Denoted by a hollow (empty) diamond.</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3. Composition (The "Made-Of" Relationship, Coincident)</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Think of this as strict anatomy. One thing is entirely made up of another, and the parts </a:t>
            </a:r>
            <a:r>
              <a:rPr b="1" lang="en-US" sz="1100">
                <a:solidFill>
                  <a:schemeClr val="dk1"/>
                </a:solidFill>
              </a:rPr>
              <a:t>cannot</a:t>
            </a:r>
            <a:r>
              <a:rPr lang="en-US" sz="1100">
                <a:solidFill>
                  <a:schemeClr val="dk1"/>
                </a:solidFill>
              </a:rPr>
              <a:t> exist without the whole. If the main object dies, the parts die with it.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Campus Example:</a:t>
            </a:r>
            <a:r>
              <a:rPr lang="en-US" sz="1100">
                <a:solidFill>
                  <a:schemeClr val="dk1"/>
                </a:solidFill>
              </a:rPr>
              <a:t> A </a:t>
            </a:r>
            <a:r>
              <a:rPr lang="en-US" sz="1100">
                <a:solidFill>
                  <a:srgbClr val="188038"/>
                </a:solidFill>
                <a:latin typeface="Roboto Mono"/>
                <a:ea typeface="Roboto Mono"/>
                <a:cs typeface="Roboto Mono"/>
                <a:sym typeface="Roboto Mono"/>
              </a:rPr>
              <a:t>Textbook</a:t>
            </a:r>
            <a:r>
              <a:rPr lang="en-US" sz="1100">
                <a:solidFill>
                  <a:schemeClr val="dk1"/>
                </a:solidFill>
              </a:rPr>
              <a:t> and a </a:t>
            </a:r>
            <a:r>
              <a:rPr lang="en-US" sz="1100">
                <a:solidFill>
                  <a:srgbClr val="188038"/>
                </a:solidFill>
                <a:latin typeface="Roboto Mono"/>
                <a:ea typeface="Roboto Mono"/>
                <a:cs typeface="Roboto Mono"/>
                <a:sym typeface="Roboto Mono"/>
              </a:rPr>
              <a:t>Page</a:t>
            </a:r>
            <a:r>
              <a:rPr lang="en-US" sz="1100">
                <a:solidFill>
                  <a:schemeClr val="dk1"/>
                </a:solidFill>
              </a:rPr>
              <a:t>. A textbook is composed of pages. If you drop the textbook into a fire and it burns to ashes, the pages are destroyed right along with it. A "page 42" cannot logically exist floating in the void without the book it belongs to.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Video Game Example:</a:t>
            </a:r>
            <a:r>
              <a:rPr lang="en-US" sz="1100">
                <a:solidFill>
                  <a:schemeClr val="dk1"/>
                </a:solidFill>
              </a:rPr>
              <a:t> A </a:t>
            </a:r>
            <a:r>
              <a:rPr lang="en-US" sz="1100">
                <a:solidFill>
                  <a:srgbClr val="188038"/>
                </a:solidFill>
                <a:latin typeface="Roboto Mono"/>
                <a:ea typeface="Roboto Mono"/>
                <a:cs typeface="Roboto Mono"/>
                <a:sym typeface="Roboto Mono"/>
              </a:rPr>
              <a:t>Pokémon</a:t>
            </a:r>
            <a:r>
              <a:rPr lang="en-US" sz="1100">
                <a:solidFill>
                  <a:schemeClr val="dk1"/>
                </a:solidFill>
              </a:rPr>
              <a:t> and its </a:t>
            </a:r>
            <a:r>
              <a:rPr lang="en-US" sz="1100">
                <a:solidFill>
                  <a:srgbClr val="188038"/>
                </a:solidFill>
                <a:latin typeface="Roboto Mono"/>
                <a:ea typeface="Roboto Mono"/>
                <a:cs typeface="Roboto Mono"/>
                <a:sym typeface="Roboto Mono"/>
              </a:rPr>
              <a:t>Health Bar</a:t>
            </a:r>
            <a:r>
              <a:rPr lang="en-US" sz="1100">
                <a:solidFill>
                  <a:schemeClr val="dk1"/>
                </a:solidFill>
              </a:rPr>
              <a:t>. A Charizard is composed of its specific stats and health bar. If that specific Charizard faints and is permanently deleted from your save file, its health bar is deleted from the game's memory too. The health bar cannot exist without the character it belongs to.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US" sz="1100">
                <a:solidFill>
                  <a:schemeClr val="dk1"/>
                </a:solidFill>
              </a:rPr>
              <a:t>UML Rule:</a:t>
            </a:r>
            <a:r>
              <a:rPr lang="en-US" sz="1100">
                <a:solidFill>
                  <a:schemeClr val="dk1"/>
                </a:solidFill>
              </a:rPr>
              <a:t> Symbolized by a black (filled) diamond.</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321" name="Google Shape;321;p35"/>
          <p:cNvSpPr txBox="1"/>
          <p:nvPr>
            <p:ph idx="1" type="body"/>
          </p:nvPr>
        </p:nvSpPr>
        <p:spPr>
          <a:xfrm>
            <a:off x="838200" y="1825625"/>
            <a:ext cx="10515600" cy="248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generalization connects a subclass to its superclass. It denotes an </a:t>
            </a:r>
            <a:endParaRPr/>
          </a:p>
          <a:p>
            <a:pPr indent="0" lvl="0" marL="0" rtl="0" algn="l">
              <a:spcBef>
                <a:spcPts val="0"/>
              </a:spcBef>
              <a:spcAft>
                <a:spcPts val="0"/>
              </a:spcAft>
              <a:buNone/>
            </a:pPr>
            <a:r>
              <a:rPr lang="en-US"/>
              <a:t>inheritance of attributes and behavior from the superclass to the subclass and indicates a specialization in the subclass</a:t>
            </a:r>
            <a:endParaRPr/>
          </a:p>
          <a:p>
            <a:pPr indent="0" lvl="0" marL="0" rtl="0" algn="l">
              <a:spcBef>
                <a:spcPts val="0"/>
              </a:spcBef>
              <a:spcAft>
                <a:spcPts val="0"/>
              </a:spcAft>
              <a:buNone/>
            </a:pPr>
            <a:r>
              <a:rPr lang="en-US"/>
              <a:t>of the more general superclass.</a:t>
            </a:r>
            <a:endParaRPr/>
          </a:p>
          <a:p>
            <a:pPr indent="-406400" lvl="0" marL="457200" rtl="0" algn="l">
              <a:spcBef>
                <a:spcPts val="0"/>
              </a:spcBef>
              <a:spcAft>
                <a:spcPts val="0"/>
              </a:spcAft>
              <a:buSzPts val="2800"/>
              <a:buChar char="•"/>
            </a:pPr>
            <a:r>
              <a:rPr lang="en-US"/>
              <a:t>Represented by a-kind-of relationship</a:t>
            </a:r>
            <a:endParaRPr/>
          </a:p>
          <a:p>
            <a:pPr indent="-406400" lvl="0" marL="457200" rtl="0" algn="l">
              <a:spcBef>
                <a:spcPts val="0"/>
              </a:spcBef>
              <a:spcAft>
                <a:spcPts val="0"/>
              </a:spcAft>
              <a:buSzPts val="2800"/>
              <a:buChar char="•"/>
            </a:pPr>
            <a:r>
              <a:rPr lang="en-US"/>
              <a:t>Dog is a kind of Animal</a:t>
            </a:r>
            <a:endParaRPr/>
          </a:p>
          <a:p>
            <a:pPr indent="0" lvl="0" marL="0" rtl="0" algn="l">
              <a:spcBef>
                <a:spcPts val="0"/>
              </a:spcBef>
              <a:spcAft>
                <a:spcPts val="0"/>
              </a:spcAft>
              <a:buNone/>
            </a:pPr>
            <a:r>
              <a:t/>
            </a:r>
            <a:endParaRPr sz="2300"/>
          </a:p>
        </p:txBody>
      </p:sp>
      <p:sp>
        <p:nvSpPr>
          <p:cNvPr id="322" name="Google Shape;322;p35"/>
          <p:cNvSpPr/>
          <p:nvPr/>
        </p:nvSpPr>
        <p:spPr>
          <a:xfrm>
            <a:off x="1888350"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Animal</a:t>
            </a:r>
            <a:endParaRPr i="0" sz="2100" u="none" cap="none" strike="noStrike">
              <a:solidFill>
                <a:srgbClr val="000000"/>
              </a:solidFill>
              <a:latin typeface="Calibri"/>
              <a:ea typeface="Calibri"/>
              <a:cs typeface="Calibri"/>
              <a:sym typeface="Calibri"/>
            </a:endParaRPr>
          </a:p>
        </p:txBody>
      </p:sp>
      <p:sp>
        <p:nvSpPr>
          <p:cNvPr id="323" name="Google Shape;323;p35"/>
          <p:cNvSpPr/>
          <p:nvPr/>
        </p:nvSpPr>
        <p:spPr>
          <a:xfrm>
            <a:off x="7865225"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Dog</a:t>
            </a:r>
            <a:endParaRPr i="0" sz="2100" u="none" cap="none" strike="noStrike">
              <a:solidFill>
                <a:srgbClr val="000000"/>
              </a:solidFill>
              <a:latin typeface="Calibri"/>
              <a:ea typeface="Calibri"/>
              <a:cs typeface="Calibri"/>
              <a:sym typeface="Calibri"/>
            </a:endParaRPr>
          </a:p>
        </p:txBody>
      </p:sp>
      <p:sp>
        <p:nvSpPr>
          <p:cNvPr id="324" name="Google Shape;324;p35"/>
          <p:cNvSpPr/>
          <p:nvPr/>
        </p:nvSpPr>
        <p:spPr>
          <a:xfrm rot="-5400000">
            <a:off x="4307898" y="5169348"/>
            <a:ext cx="418719" cy="381000"/>
          </a:xfrm>
          <a:custGeom>
            <a:rect b="b" l="l" r="r" t="t"/>
            <a:pathLst>
              <a:path extrusionOk="0" h="240" w="336">
                <a:moveTo>
                  <a:pt x="144" y="0"/>
                </a:moveTo>
                <a:lnTo>
                  <a:pt x="0" y="240"/>
                </a:lnTo>
                <a:lnTo>
                  <a:pt x="336" y="240"/>
                </a:lnTo>
                <a:lnTo>
                  <a:pt x="144"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25" name="Google Shape;325;p35"/>
          <p:cNvCxnSpPr>
            <a:endCxn id="323" idx="1"/>
          </p:cNvCxnSpPr>
          <p:nvPr/>
        </p:nvCxnSpPr>
        <p:spPr>
          <a:xfrm>
            <a:off x="4706225" y="5360400"/>
            <a:ext cx="3159000" cy="3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31" name="Google Shape;331;p36"/>
          <p:cNvSpPr txBox="1"/>
          <p:nvPr>
            <p:ph idx="1" type="body"/>
          </p:nvPr>
        </p:nvSpPr>
        <p:spPr>
          <a:xfrm>
            <a:off x="838200" y="1825625"/>
            <a:ext cx="10515600" cy="125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UML permits a class to inherit from multiple superclasses, although some programming languages (e.g., Java) do not permit multiple inheritance. </a:t>
            </a:r>
            <a:endParaRPr/>
          </a:p>
          <a:p>
            <a:pPr indent="0" lvl="0" marL="0" rtl="0" algn="l">
              <a:spcBef>
                <a:spcPts val="0"/>
              </a:spcBef>
              <a:spcAft>
                <a:spcPts val="0"/>
              </a:spcAft>
              <a:buNone/>
            </a:pPr>
            <a:r>
              <a:t/>
            </a:r>
            <a:endParaRPr/>
          </a:p>
        </p:txBody>
      </p:sp>
      <p:sp>
        <p:nvSpPr>
          <p:cNvPr id="332" name="Google Shape;332;p36"/>
          <p:cNvSpPr/>
          <p:nvPr/>
        </p:nvSpPr>
        <p:spPr>
          <a:xfrm>
            <a:off x="940675" y="341735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23" u="none" cap="none" strike="noStrike">
                <a:solidFill>
                  <a:srgbClr val="000000"/>
                </a:solidFill>
                <a:latin typeface="Calibri"/>
                <a:ea typeface="Calibri"/>
                <a:cs typeface="Calibri"/>
                <a:sym typeface="Calibri"/>
              </a:rPr>
              <a:t>Student</a:t>
            </a:r>
            <a:endParaRPr i="0" sz="1929" u="none" cap="none" strike="noStrike">
              <a:solidFill>
                <a:srgbClr val="000000"/>
              </a:solidFill>
              <a:latin typeface="Calibri"/>
              <a:ea typeface="Calibri"/>
              <a:cs typeface="Calibri"/>
              <a:sym typeface="Calibri"/>
            </a:endParaRPr>
          </a:p>
        </p:txBody>
      </p:sp>
      <p:sp>
        <p:nvSpPr>
          <p:cNvPr id="333" name="Google Shape;333;p36"/>
          <p:cNvSpPr/>
          <p:nvPr/>
        </p:nvSpPr>
        <p:spPr>
          <a:xfrm>
            <a:off x="1990439" y="5329903"/>
            <a:ext cx="22395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Teaching Assistant</a:t>
            </a:r>
            <a:endParaRPr i="0" sz="2200" u="none" cap="none" strike="noStrike">
              <a:solidFill>
                <a:srgbClr val="000000"/>
              </a:solidFill>
              <a:latin typeface="Calibri"/>
              <a:ea typeface="Calibri"/>
              <a:cs typeface="Calibri"/>
              <a:sym typeface="Calibri"/>
            </a:endParaRPr>
          </a:p>
        </p:txBody>
      </p:sp>
      <p:sp>
        <p:nvSpPr>
          <p:cNvPr id="334" name="Google Shape;334;p36"/>
          <p:cNvSpPr/>
          <p:nvPr/>
        </p:nvSpPr>
        <p:spPr>
          <a:xfrm>
            <a:off x="3460222" y="341734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Employee</a:t>
            </a:r>
            <a:endParaRPr i="0" sz="2200" u="none" cap="none" strike="noStrike">
              <a:solidFill>
                <a:srgbClr val="000000"/>
              </a:solidFill>
              <a:latin typeface="Calibri"/>
              <a:ea typeface="Calibri"/>
              <a:cs typeface="Calibri"/>
              <a:sym typeface="Calibri"/>
            </a:endParaRPr>
          </a:p>
        </p:txBody>
      </p:sp>
      <p:sp>
        <p:nvSpPr>
          <p:cNvPr id="335" name="Google Shape;335;p36"/>
          <p:cNvSpPr/>
          <p:nvPr/>
        </p:nvSpPr>
        <p:spPr>
          <a:xfrm>
            <a:off x="40761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6" name="Google Shape;336;p36"/>
          <p:cNvSpPr/>
          <p:nvPr/>
        </p:nvSpPr>
        <p:spPr>
          <a:xfrm>
            <a:off x="16825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7" name="Google Shape;337;p36"/>
          <p:cNvSpPr/>
          <p:nvPr/>
        </p:nvSpPr>
        <p:spPr>
          <a:xfrm>
            <a:off x="1826525" y="4252500"/>
            <a:ext cx="2440025" cy="457450"/>
          </a:xfrm>
          <a:custGeom>
            <a:rect b="b" l="l" r="r" t="t"/>
            <a:pathLst>
              <a:path extrusionOk="0" h="18298" w="97601">
                <a:moveTo>
                  <a:pt x="0" y="0"/>
                </a:moveTo>
                <a:lnTo>
                  <a:pt x="0" y="18288"/>
                </a:lnTo>
                <a:lnTo>
                  <a:pt x="97601" y="18298"/>
                </a:lnTo>
                <a:lnTo>
                  <a:pt x="97207" y="174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38" name="Google Shape;338;p36"/>
          <p:cNvCxnSpPr>
            <a:stCxn id="333" idx="0"/>
          </p:cNvCxnSpPr>
          <p:nvPr/>
        </p:nvCxnSpPr>
        <p:spPr>
          <a:xfrm rot="10800000">
            <a:off x="3093989" y="4719703"/>
            <a:ext cx="16200" cy="610200"/>
          </a:xfrm>
          <a:prstGeom prst="straightConnector1">
            <a:avLst/>
          </a:prstGeom>
          <a:noFill/>
          <a:ln cap="flat" cmpd="sng" w="9525">
            <a:solidFill>
              <a:schemeClr val="dk2"/>
            </a:solidFill>
            <a:prstDash val="solid"/>
            <a:round/>
            <a:headEnd len="med" w="med" type="none"/>
            <a:tailEnd len="med" w="med" type="none"/>
          </a:ln>
        </p:spPr>
      </p:cxnSp>
      <p:sp>
        <p:nvSpPr>
          <p:cNvPr id="339" name="Google Shape;339;p36"/>
          <p:cNvSpPr/>
          <p:nvPr/>
        </p:nvSpPr>
        <p:spPr>
          <a:xfrm>
            <a:off x="7665614" y="3417350"/>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340" name="Google Shape;340;p36"/>
          <p:cNvSpPr/>
          <p:nvPr/>
        </p:nvSpPr>
        <p:spPr>
          <a:xfrm>
            <a:off x="6669527"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Employee</a:t>
            </a:r>
            <a:endParaRPr b="0" i="0" sz="2200" u="none" cap="none" strike="noStrike">
              <a:solidFill>
                <a:srgbClr val="000000"/>
              </a:solidFill>
              <a:latin typeface="Gill Sans"/>
              <a:ea typeface="Gill Sans"/>
              <a:cs typeface="Gill Sans"/>
              <a:sym typeface="Gill Sans"/>
            </a:endParaRPr>
          </a:p>
        </p:txBody>
      </p:sp>
      <p:sp>
        <p:nvSpPr>
          <p:cNvPr id="341" name="Google Shape;341;p36"/>
          <p:cNvSpPr/>
          <p:nvPr/>
        </p:nvSpPr>
        <p:spPr>
          <a:xfrm>
            <a:off x="8827716"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Customer</a:t>
            </a:r>
            <a:endParaRPr b="0" i="0" sz="2200" u="none" cap="none" strike="noStrike">
              <a:solidFill>
                <a:srgbClr val="000000"/>
              </a:solidFill>
              <a:latin typeface="Gill Sans"/>
              <a:ea typeface="Gill Sans"/>
              <a:cs typeface="Gill Sans"/>
              <a:sym typeface="Gill Sans"/>
            </a:endParaRPr>
          </a:p>
        </p:txBody>
      </p:sp>
      <p:sp>
        <p:nvSpPr>
          <p:cNvPr id="342" name="Google Shape;342;p36"/>
          <p:cNvSpPr/>
          <p:nvPr/>
        </p:nvSpPr>
        <p:spPr>
          <a:xfrm>
            <a:off x="5931125"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743"/>
              <a:buFont typeface="Arial"/>
              <a:buNone/>
            </a:pPr>
            <a:r>
              <a:rPr lang="en-US" sz="2200">
                <a:latin typeface="Calibri"/>
                <a:ea typeface="Calibri"/>
                <a:cs typeface="Calibri"/>
                <a:sym typeface="Calibri"/>
              </a:rPr>
              <a:t>Manager</a:t>
            </a:r>
            <a:endParaRPr i="0" sz="2200" u="none" cap="none" strike="noStrike">
              <a:solidFill>
                <a:srgbClr val="000000"/>
              </a:solidFill>
              <a:latin typeface="Calibri"/>
              <a:ea typeface="Calibri"/>
              <a:cs typeface="Calibri"/>
              <a:sym typeface="Calibri"/>
            </a:endParaRPr>
          </a:p>
        </p:txBody>
      </p:sp>
      <p:sp>
        <p:nvSpPr>
          <p:cNvPr id="343" name="Google Shape;343;p36"/>
          <p:cNvSpPr/>
          <p:nvPr/>
        </p:nvSpPr>
        <p:spPr>
          <a:xfrm>
            <a:off x="7914619"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Engineer</a:t>
            </a:r>
            <a:endParaRPr b="0" i="0" sz="2200" u="none" cap="none" strike="noStrike">
              <a:solidFill>
                <a:srgbClr val="000000"/>
              </a:solidFill>
              <a:latin typeface="Gill Sans"/>
              <a:ea typeface="Gill Sans"/>
              <a:cs typeface="Gill Sans"/>
              <a:sym typeface="Gill Sans"/>
            </a:endParaRPr>
          </a:p>
        </p:txBody>
      </p:sp>
      <p:cxnSp>
        <p:nvCxnSpPr>
          <p:cNvPr id="344" name="Google Shape;344;p36"/>
          <p:cNvCxnSpPr/>
          <p:nvPr/>
        </p:nvCxnSpPr>
        <p:spPr>
          <a:xfrm>
            <a:off x="7409800" y="4256700"/>
            <a:ext cx="2286000" cy="9900"/>
          </a:xfrm>
          <a:prstGeom prst="straightConnector1">
            <a:avLst/>
          </a:prstGeom>
          <a:noFill/>
          <a:ln cap="flat" cmpd="sng" w="9525">
            <a:solidFill>
              <a:srgbClr val="000000"/>
            </a:solidFill>
            <a:prstDash val="solid"/>
            <a:round/>
            <a:headEnd len="sm" w="sm" type="none"/>
            <a:tailEnd len="sm" w="sm" type="none"/>
          </a:ln>
        </p:spPr>
      </p:cxnSp>
      <p:cxnSp>
        <p:nvCxnSpPr>
          <p:cNvPr id="345" name="Google Shape;345;p36"/>
          <p:cNvCxnSpPr>
            <a:stCxn id="340" idx="0"/>
          </p:cNvCxnSpPr>
          <p:nvPr/>
        </p:nvCxnSpPr>
        <p:spPr>
          <a:xfrm rot="10800000">
            <a:off x="7518227" y="4246676"/>
            <a:ext cx="9000" cy="3051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36"/>
          <p:cNvCxnSpPr>
            <a:stCxn id="341" idx="0"/>
          </p:cNvCxnSpPr>
          <p:nvPr/>
        </p:nvCxnSpPr>
        <p:spPr>
          <a:xfrm rot="10800000">
            <a:off x="9666216" y="4266476"/>
            <a:ext cx="19200" cy="2853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6"/>
          <p:cNvCxnSpPr/>
          <p:nvPr/>
        </p:nvCxnSpPr>
        <p:spPr>
          <a:xfrm flipH="1" rot="10800000">
            <a:off x="6532825" y="5468625"/>
            <a:ext cx="1990500" cy="9900"/>
          </a:xfrm>
          <a:prstGeom prst="straightConnector1">
            <a:avLst/>
          </a:prstGeom>
          <a:noFill/>
          <a:ln cap="flat" cmpd="sng" w="9525">
            <a:solidFill>
              <a:srgbClr val="000000"/>
            </a:solidFill>
            <a:prstDash val="solid"/>
            <a:round/>
            <a:headEnd len="sm" w="sm" type="none"/>
            <a:tailEnd len="sm" w="sm" type="none"/>
          </a:ln>
        </p:spPr>
      </p:cxnSp>
      <p:cxnSp>
        <p:nvCxnSpPr>
          <p:cNvPr id="348" name="Google Shape;348;p36"/>
          <p:cNvCxnSpPr>
            <a:stCxn id="342" idx="0"/>
          </p:cNvCxnSpPr>
          <p:nvPr/>
        </p:nvCxnSpPr>
        <p:spPr>
          <a:xfrm rot="10800000">
            <a:off x="6532925" y="5438993"/>
            <a:ext cx="6900" cy="2472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36"/>
          <p:cNvCxnSpPr>
            <a:stCxn id="343" idx="0"/>
          </p:cNvCxnSpPr>
          <p:nvPr/>
        </p:nvCxnSpPr>
        <p:spPr>
          <a:xfrm rot="10800000">
            <a:off x="8513719" y="5458793"/>
            <a:ext cx="9600" cy="2274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6"/>
          <p:cNvCxnSpPr>
            <a:endCxn id="339" idx="2"/>
          </p:cNvCxnSpPr>
          <p:nvPr/>
        </p:nvCxnSpPr>
        <p:spPr>
          <a:xfrm rot="10800000">
            <a:off x="8523314" y="3970850"/>
            <a:ext cx="9900" cy="335100"/>
          </a:xfrm>
          <a:prstGeom prst="straightConnector1">
            <a:avLst/>
          </a:prstGeom>
          <a:noFill/>
          <a:ln cap="flat" cmpd="sng" w="9525">
            <a:solidFill>
              <a:schemeClr val="dk2"/>
            </a:solidFill>
            <a:prstDash val="solid"/>
            <a:round/>
            <a:headEnd len="med" w="med" type="none"/>
            <a:tailEnd len="med" w="med" type="triangle"/>
          </a:ln>
        </p:spPr>
      </p:cxnSp>
      <p:cxnSp>
        <p:nvCxnSpPr>
          <p:cNvPr id="351" name="Google Shape;351;p36"/>
          <p:cNvCxnSpPr>
            <a:endCxn id="340" idx="2"/>
          </p:cNvCxnSpPr>
          <p:nvPr/>
        </p:nvCxnSpPr>
        <p:spPr>
          <a:xfrm rot="10800000">
            <a:off x="7527227" y="5105276"/>
            <a:ext cx="900" cy="38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57" name="Google Shape;357;p37"/>
          <p:cNvSpPr/>
          <p:nvPr/>
        </p:nvSpPr>
        <p:spPr>
          <a:xfrm>
            <a:off x="3429000" y="15240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58" name="Google Shape;358;p37"/>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Employee</a:t>
            </a:r>
            <a:endParaRPr i="0" sz="1400" u="none" cap="none" strike="noStrike">
              <a:solidFill>
                <a:srgbClr val="000000"/>
              </a:solidFill>
              <a:latin typeface="Calibri"/>
              <a:ea typeface="Calibri"/>
              <a:cs typeface="Calibri"/>
              <a:sym typeface="Calibri"/>
            </a:endParaRPr>
          </a:p>
        </p:txBody>
      </p:sp>
      <p:sp>
        <p:nvSpPr>
          <p:cNvPr id="359" name="Google Shape;359;p37"/>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hireDate: Date</a:t>
            </a:r>
            <a:endParaRPr i="0" sz="2400" u="none" cap="none" strike="noStrike">
              <a:solidFill>
                <a:srgbClr val="000000"/>
              </a:solidFill>
              <a:latin typeface="Calibri"/>
              <a:ea typeface="Calibri"/>
              <a:cs typeface="Calibri"/>
              <a:sym typeface="Calibri"/>
            </a:endParaRPr>
          </a:p>
        </p:txBody>
      </p:sp>
      <p:sp>
        <p:nvSpPr>
          <p:cNvPr id="360" name="Google Shape;360;p37"/>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receivePay()</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performWork()</a:t>
            </a:r>
            <a:endParaRPr i="0" sz="2000" u="none" cap="none" strike="noStrike">
              <a:solidFill>
                <a:srgbClr val="000000"/>
              </a:solidFill>
              <a:latin typeface="Calibri"/>
              <a:ea typeface="Calibri"/>
              <a:cs typeface="Calibri"/>
              <a:sym typeface="Calibri"/>
            </a:endParaRPr>
          </a:p>
        </p:txBody>
      </p:sp>
      <p:cxnSp>
        <p:nvCxnSpPr>
          <p:cNvPr id="361" name="Google Shape;361;p37"/>
          <p:cNvCxnSpPr/>
          <p:nvPr/>
        </p:nvCxnSpPr>
        <p:spPr>
          <a:xfrm>
            <a:off x="3429000" y="27432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62" name="Google Shape;362;p37"/>
          <p:cNvCxnSpPr/>
          <p:nvPr/>
        </p:nvCxnSpPr>
        <p:spPr>
          <a:xfrm>
            <a:off x="3429000" y="1981200"/>
            <a:ext cx="2438400" cy="0"/>
          </a:xfrm>
          <a:prstGeom prst="straightConnector1">
            <a:avLst/>
          </a:prstGeom>
          <a:noFill/>
          <a:ln cap="flat" cmpd="sng" w="9525">
            <a:solidFill>
              <a:srgbClr val="000000"/>
            </a:solidFill>
            <a:prstDash val="solid"/>
            <a:round/>
            <a:headEnd len="sm" w="sm" type="none"/>
            <a:tailEnd len="sm" w="sm" type="none"/>
          </a:ln>
        </p:spPr>
      </p:cxnSp>
      <p:sp>
        <p:nvSpPr>
          <p:cNvPr id="363" name="Google Shape;363;p37"/>
          <p:cNvSpPr/>
          <p:nvPr/>
        </p:nvSpPr>
        <p:spPr>
          <a:xfrm>
            <a:off x="14478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4" name="Google Shape;364;p37"/>
          <p:cNvSpPr/>
          <p:nvPr/>
        </p:nvSpPr>
        <p:spPr>
          <a:xfrm>
            <a:off x="53340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5" name="Google Shape;365;p37"/>
          <p:cNvSpPr txBox="1"/>
          <p:nvPr/>
        </p:nvSpPr>
        <p:spPr>
          <a:xfrm>
            <a:off x="1524000" y="4419600"/>
            <a:ext cx="220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Manager</a:t>
            </a:r>
            <a:endParaRPr i="0" sz="1400" u="none" cap="none" strike="noStrike">
              <a:solidFill>
                <a:srgbClr val="000000"/>
              </a:solidFill>
              <a:latin typeface="Calibri"/>
              <a:ea typeface="Calibri"/>
              <a:cs typeface="Calibri"/>
              <a:sym typeface="Calibri"/>
            </a:endParaRPr>
          </a:p>
        </p:txBody>
      </p:sp>
      <p:sp>
        <p:nvSpPr>
          <p:cNvPr id="366" name="Google Shape;366;p37"/>
          <p:cNvSpPr txBox="1"/>
          <p:nvPr/>
        </p:nvSpPr>
        <p:spPr>
          <a:xfrm>
            <a:off x="1270500" y="48657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department: String</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bonus: Float</a:t>
            </a:r>
            <a:endParaRPr i="0" sz="2000" u="none" cap="none" strike="noStrike">
              <a:solidFill>
                <a:srgbClr val="000000"/>
              </a:solidFill>
              <a:latin typeface="Calibri"/>
              <a:ea typeface="Calibri"/>
              <a:cs typeface="Calibri"/>
              <a:sym typeface="Calibri"/>
            </a:endParaRPr>
          </a:p>
        </p:txBody>
      </p:sp>
      <p:sp>
        <p:nvSpPr>
          <p:cNvPr id="367" name="Google Shape;367;p37"/>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hireEmployee()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promoteEmployee()</a:t>
            </a:r>
            <a:endParaRPr i="0" sz="2000" u="none" cap="none" strike="noStrike">
              <a:solidFill>
                <a:srgbClr val="000000"/>
              </a:solidFill>
              <a:latin typeface="Calibri"/>
              <a:ea typeface="Calibri"/>
              <a:cs typeface="Calibri"/>
              <a:sym typeface="Calibri"/>
            </a:endParaRPr>
          </a:p>
        </p:txBody>
      </p:sp>
      <p:cxnSp>
        <p:nvCxnSpPr>
          <p:cNvPr id="368" name="Google Shape;368;p37"/>
          <p:cNvCxnSpPr/>
          <p:nvPr/>
        </p:nvCxnSpPr>
        <p:spPr>
          <a:xfrm>
            <a:off x="14478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69" name="Google Shape;369;p37"/>
          <p:cNvCxnSpPr/>
          <p:nvPr/>
        </p:nvCxnSpPr>
        <p:spPr>
          <a:xfrm>
            <a:off x="1447800" y="5638800"/>
            <a:ext cx="2438400" cy="0"/>
          </a:xfrm>
          <a:prstGeom prst="straightConnector1">
            <a:avLst/>
          </a:prstGeom>
          <a:noFill/>
          <a:ln cap="flat" cmpd="sng" w="9525">
            <a:solidFill>
              <a:srgbClr val="000000"/>
            </a:solidFill>
            <a:prstDash val="solid"/>
            <a:round/>
            <a:headEnd len="sm" w="sm" type="none"/>
            <a:tailEnd len="sm" w="sm" type="none"/>
          </a:ln>
        </p:spPr>
      </p:cxnSp>
      <p:sp>
        <p:nvSpPr>
          <p:cNvPr id="370" name="Google Shape;370;p37"/>
          <p:cNvSpPr txBox="1"/>
          <p:nvPr/>
        </p:nvSpPr>
        <p:spPr>
          <a:xfrm>
            <a:off x="5486400" y="44196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Engineer</a:t>
            </a:r>
            <a:endParaRPr i="0" sz="1400" u="none" cap="none" strike="noStrike">
              <a:solidFill>
                <a:srgbClr val="000000"/>
              </a:solidFill>
              <a:latin typeface="Calibri"/>
              <a:ea typeface="Calibri"/>
              <a:cs typeface="Calibri"/>
              <a:sym typeface="Calibri"/>
            </a:endParaRPr>
          </a:p>
        </p:txBody>
      </p:sp>
      <p:sp>
        <p:nvSpPr>
          <p:cNvPr id="371" name="Google Shape;371;p37"/>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certifications: String</a:t>
            </a:r>
            <a:endParaRPr i="0" sz="2400" u="none" cap="none" strike="noStrike">
              <a:solidFill>
                <a:srgbClr val="000000"/>
              </a:solidFill>
              <a:latin typeface="Calibri"/>
              <a:ea typeface="Calibri"/>
              <a:cs typeface="Calibri"/>
              <a:sym typeface="Calibri"/>
            </a:endParaRPr>
          </a:p>
        </p:txBody>
      </p:sp>
      <p:sp>
        <p:nvSpPr>
          <p:cNvPr id="372" name="Google Shape;372;p37"/>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analyze()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design()</a:t>
            </a:r>
            <a:endParaRPr i="0" sz="2000" u="none" cap="none" strike="noStrike">
              <a:solidFill>
                <a:srgbClr val="000000"/>
              </a:solidFill>
              <a:latin typeface="Calibri"/>
              <a:ea typeface="Calibri"/>
              <a:cs typeface="Calibri"/>
              <a:sym typeface="Calibri"/>
            </a:endParaRPr>
          </a:p>
        </p:txBody>
      </p:sp>
      <p:cxnSp>
        <p:nvCxnSpPr>
          <p:cNvPr id="373" name="Google Shape;373;p37"/>
          <p:cNvCxnSpPr/>
          <p:nvPr/>
        </p:nvCxnSpPr>
        <p:spPr>
          <a:xfrm>
            <a:off x="53340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4" name="Google Shape;374;p37"/>
          <p:cNvCxnSpPr/>
          <p:nvPr/>
        </p:nvCxnSpPr>
        <p:spPr>
          <a:xfrm>
            <a:off x="5334000" y="56388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p37"/>
          <p:cNvCxnSpPr/>
          <p:nvPr/>
        </p:nvCxnSpPr>
        <p:spPr>
          <a:xfrm rot="10800000">
            <a:off x="1905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6" name="Google Shape;376;p37"/>
          <p:cNvCxnSpPr/>
          <p:nvPr/>
        </p:nvCxnSpPr>
        <p:spPr>
          <a:xfrm>
            <a:off x="4495800" y="4876800"/>
            <a:ext cx="0" cy="0"/>
          </a:xfrm>
          <a:prstGeom prst="straightConnector1">
            <a:avLst/>
          </a:prstGeom>
          <a:noFill/>
          <a:ln cap="flat" cmpd="sng" w="9525">
            <a:solidFill>
              <a:srgbClr val="000000"/>
            </a:solidFill>
            <a:prstDash val="solid"/>
            <a:round/>
            <a:headEnd len="sm" w="sm" type="none"/>
            <a:tailEnd len="sm" w="sm" type="none"/>
          </a:ln>
        </p:spPr>
      </p:cxnSp>
      <p:cxnSp>
        <p:nvCxnSpPr>
          <p:cNvPr id="377" name="Google Shape;377;p37"/>
          <p:cNvCxnSpPr/>
          <p:nvPr/>
        </p:nvCxnSpPr>
        <p:spPr>
          <a:xfrm rot="10800000">
            <a:off x="7239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8" name="Google Shape;378;p37"/>
          <p:cNvCxnSpPr/>
          <p:nvPr/>
        </p:nvCxnSpPr>
        <p:spPr>
          <a:xfrm>
            <a:off x="1905000" y="4191000"/>
            <a:ext cx="5334000" cy="0"/>
          </a:xfrm>
          <a:prstGeom prst="straightConnector1">
            <a:avLst/>
          </a:prstGeom>
          <a:noFill/>
          <a:ln cap="flat" cmpd="sng" w="9525">
            <a:solidFill>
              <a:srgbClr val="000000"/>
            </a:solidFill>
            <a:prstDash val="solid"/>
            <a:round/>
            <a:headEnd len="sm" w="sm" type="none"/>
            <a:tailEnd len="sm" w="sm" type="none"/>
          </a:ln>
        </p:spPr>
      </p:cxnSp>
      <p:cxnSp>
        <p:nvCxnSpPr>
          <p:cNvPr id="379" name="Google Shape;379;p37"/>
          <p:cNvCxnSpPr/>
          <p:nvPr/>
        </p:nvCxnSpPr>
        <p:spPr>
          <a:xfrm rot="10800000">
            <a:off x="4648200" y="3810000"/>
            <a:ext cx="0" cy="3810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85" name="Google Shape;385;p38"/>
          <p:cNvSpPr txBox="1"/>
          <p:nvPr>
            <p:ph idx="1" type="body"/>
          </p:nvPr>
        </p:nvSpPr>
        <p:spPr>
          <a:xfrm>
            <a:off x="838200" y="1825625"/>
            <a:ext cx="10515600" cy="240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The multiplicity of a property is an indication of how many objects may fill the property. The most common multiplicities you will see are:</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b="1" lang="en-US" sz="2300"/>
              <a:t>1 </a:t>
            </a:r>
            <a:r>
              <a:rPr lang="en-US" sz="2000"/>
              <a:t>(An order must have exactly one customer.)</a:t>
            </a:r>
            <a:endParaRPr sz="2000"/>
          </a:p>
          <a:p>
            <a:pPr indent="-374650" lvl="0" marL="457200" rtl="0" algn="l">
              <a:spcBef>
                <a:spcPts val="0"/>
              </a:spcBef>
              <a:spcAft>
                <a:spcPts val="0"/>
              </a:spcAft>
              <a:buSzPts val="2300"/>
              <a:buChar char="•"/>
            </a:pPr>
            <a:r>
              <a:rPr b="1" lang="en-US" sz="2300"/>
              <a:t>0..1</a:t>
            </a:r>
            <a:r>
              <a:rPr lang="en-US" sz="2300"/>
              <a:t> </a:t>
            </a:r>
            <a:r>
              <a:rPr lang="en-US" sz="2000"/>
              <a:t>(A corporate customer may or may not have a single sales rep.)</a:t>
            </a:r>
            <a:endParaRPr sz="2000"/>
          </a:p>
          <a:p>
            <a:pPr indent="-374650" lvl="0" marL="457200" rtl="0" algn="l">
              <a:spcBef>
                <a:spcPts val="0"/>
              </a:spcBef>
              <a:spcAft>
                <a:spcPts val="0"/>
              </a:spcAft>
              <a:buSzPts val="2300"/>
              <a:buChar char="•"/>
            </a:pPr>
            <a:r>
              <a:rPr b="1" lang="en-US" sz="2300"/>
              <a:t>*</a:t>
            </a:r>
            <a:r>
              <a:rPr lang="en-US" sz="2300"/>
              <a:t> </a:t>
            </a:r>
            <a:r>
              <a:rPr lang="en-US" sz="2000"/>
              <a:t>(A customer need not place an Order and there is no upper limit to the number of Orders a Customer may place—zero or more orders.)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91" name="Google Shape;391;p39"/>
          <p:cNvSpPr txBox="1"/>
          <p:nvPr>
            <p:ph idx="1" type="body"/>
          </p:nvPr>
        </p:nvSpPr>
        <p:spPr>
          <a:xfrm>
            <a:off x="838200" y="1825625"/>
            <a:ext cx="10515600" cy="1376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We can indicate the multiplicity of an association by adding multiplicity adornments to the line denoting the association.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The example indicates that a Student has one or more Instructors:</a:t>
            </a:r>
            <a:endParaRPr sz="2300"/>
          </a:p>
          <a:p>
            <a:pPr indent="0" lvl="0" marL="0" rtl="0" algn="l">
              <a:spcBef>
                <a:spcPts val="0"/>
              </a:spcBef>
              <a:spcAft>
                <a:spcPts val="0"/>
              </a:spcAft>
              <a:buNone/>
            </a:pPr>
            <a:r>
              <a:t/>
            </a:r>
            <a:endParaRPr sz="2300"/>
          </a:p>
        </p:txBody>
      </p:sp>
      <p:cxnSp>
        <p:nvCxnSpPr>
          <p:cNvPr id="392" name="Google Shape;392;p39"/>
          <p:cNvCxnSpPr/>
          <p:nvPr/>
        </p:nvCxnSpPr>
        <p:spPr>
          <a:xfrm>
            <a:off x="4305300" y="3603825"/>
            <a:ext cx="3657600" cy="0"/>
          </a:xfrm>
          <a:prstGeom prst="straightConnector1">
            <a:avLst/>
          </a:prstGeom>
          <a:noFill/>
          <a:ln cap="flat" cmpd="sng" w="28575">
            <a:solidFill>
              <a:srgbClr val="000000"/>
            </a:solidFill>
            <a:prstDash val="solid"/>
            <a:round/>
            <a:headEnd len="sm" w="sm" type="none"/>
            <a:tailEnd len="sm" w="sm" type="none"/>
          </a:ln>
        </p:spPr>
      </p:cxnSp>
      <p:sp>
        <p:nvSpPr>
          <p:cNvPr id="393" name="Google Shape;393;p39"/>
          <p:cNvSpPr/>
          <p:nvPr/>
        </p:nvSpPr>
        <p:spPr>
          <a:xfrm>
            <a:off x="7886700" y="33752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4" name="Google Shape;394;p39"/>
          <p:cNvSpPr/>
          <p:nvPr/>
        </p:nvSpPr>
        <p:spPr>
          <a:xfrm>
            <a:off x="2247900" y="33371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395" name="Google Shape;395;p39"/>
          <p:cNvSpPr txBox="1"/>
          <p:nvPr/>
        </p:nvSpPr>
        <p:spPr>
          <a:xfrm>
            <a:off x="7200900" y="3603825"/>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
        <p:nvSpPr>
          <p:cNvPr id="396" name="Google Shape;396;p39"/>
          <p:cNvSpPr txBox="1"/>
          <p:nvPr/>
        </p:nvSpPr>
        <p:spPr>
          <a:xfrm>
            <a:off x="985350" y="4345375"/>
            <a:ext cx="10368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The example indicates that every Instructor has one or more Students: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cxnSp>
        <p:nvCxnSpPr>
          <p:cNvPr id="397" name="Google Shape;397;p39"/>
          <p:cNvCxnSpPr/>
          <p:nvPr/>
        </p:nvCxnSpPr>
        <p:spPr>
          <a:xfrm>
            <a:off x="4305300" y="5319550"/>
            <a:ext cx="3657600" cy="0"/>
          </a:xfrm>
          <a:prstGeom prst="straightConnector1">
            <a:avLst/>
          </a:prstGeom>
          <a:noFill/>
          <a:ln cap="flat" cmpd="sng" w="28575">
            <a:solidFill>
              <a:srgbClr val="000000"/>
            </a:solidFill>
            <a:prstDash val="solid"/>
            <a:round/>
            <a:headEnd len="sm" w="sm" type="none"/>
            <a:tailEnd len="sm" w="sm" type="none"/>
          </a:ln>
        </p:spPr>
      </p:cxnSp>
      <p:sp>
        <p:nvSpPr>
          <p:cNvPr id="398" name="Google Shape;398;p39"/>
          <p:cNvSpPr/>
          <p:nvPr/>
        </p:nvSpPr>
        <p:spPr>
          <a:xfrm>
            <a:off x="7886700" y="50909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9" name="Google Shape;399;p39"/>
          <p:cNvSpPr/>
          <p:nvPr/>
        </p:nvSpPr>
        <p:spPr>
          <a:xfrm>
            <a:off x="2247900" y="50528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400" name="Google Shape;400;p39"/>
          <p:cNvSpPr txBox="1"/>
          <p:nvPr/>
        </p:nvSpPr>
        <p:spPr>
          <a:xfrm>
            <a:off x="4305300" y="5319550"/>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406" name="Google Shape;406;p40"/>
          <p:cNvSpPr txBox="1"/>
          <p:nvPr>
            <p:ph idx="1" type="body"/>
          </p:nvPr>
        </p:nvSpPr>
        <p:spPr>
          <a:xfrm>
            <a:off x="838200" y="1825625"/>
            <a:ext cx="10515600" cy="3652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following d</a:t>
            </a:r>
            <a:r>
              <a:rPr lang="en-US"/>
              <a:t>enotes the minimum number.. maximum number of instances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Exactly one					1</a:t>
            </a:r>
            <a:endParaRPr/>
          </a:p>
          <a:p>
            <a:pPr indent="-406400" lvl="0" marL="457200" rtl="0" algn="l">
              <a:spcBef>
                <a:spcPts val="0"/>
              </a:spcBef>
              <a:spcAft>
                <a:spcPts val="0"/>
              </a:spcAft>
              <a:buSzPts val="2800"/>
              <a:buFont typeface="Calibri"/>
              <a:buChar char="•"/>
            </a:pPr>
            <a:r>
              <a:rPr lang="en-US"/>
              <a:t>Zero or more				0..*     or	0..m</a:t>
            </a:r>
            <a:endParaRPr/>
          </a:p>
          <a:p>
            <a:pPr indent="-406400" lvl="0" marL="457200" rtl="0" algn="l">
              <a:spcBef>
                <a:spcPts val="0"/>
              </a:spcBef>
              <a:spcAft>
                <a:spcPts val="0"/>
              </a:spcAft>
              <a:buSzPts val="2800"/>
              <a:buFont typeface="Calibri"/>
              <a:buChar char="•"/>
            </a:pPr>
            <a:r>
              <a:rPr lang="en-US"/>
              <a:t>One or more				1..*	 or	1..m</a:t>
            </a:r>
            <a:endParaRPr/>
          </a:p>
          <a:p>
            <a:pPr indent="-406400" lvl="0" marL="457200" rtl="0" algn="l">
              <a:spcBef>
                <a:spcPts val="0"/>
              </a:spcBef>
              <a:spcAft>
                <a:spcPts val="0"/>
              </a:spcAft>
              <a:buSzPts val="2800"/>
              <a:buFont typeface="Calibri"/>
              <a:buChar char="•"/>
            </a:pPr>
            <a:r>
              <a:rPr lang="en-US"/>
              <a:t>Zero or one					0..1</a:t>
            </a:r>
            <a:endParaRPr/>
          </a:p>
          <a:p>
            <a:pPr indent="-406400" lvl="0" marL="457200" rtl="0" algn="l">
              <a:spcBef>
                <a:spcPts val="0"/>
              </a:spcBef>
              <a:spcAft>
                <a:spcPts val="0"/>
              </a:spcAft>
              <a:buSzPts val="2800"/>
              <a:buFont typeface="Calibri"/>
              <a:buChar char="•"/>
            </a:pPr>
            <a:r>
              <a:rPr lang="en-US"/>
              <a:t>Specified range				2..4</a:t>
            </a:r>
            <a:endParaRPr/>
          </a:p>
          <a:p>
            <a:pPr indent="-406400" lvl="0" marL="457200" rtl="0" algn="l">
              <a:spcBef>
                <a:spcPts val="0"/>
              </a:spcBef>
              <a:spcAft>
                <a:spcPts val="0"/>
              </a:spcAft>
              <a:buSzPts val="2800"/>
              <a:buFont typeface="Calibri"/>
              <a:buChar char="•"/>
            </a:pPr>
            <a:r>
              <a:rPr lang="en-US"/>
              <a:t>Multiple, disjoint ranges	1..3, 5</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412" name="Google Shape;412;p41"/>
          <p:cNvSpPr txBox="1"/>
          <p:nvPr>
            <p:ph idx="1" type="body"/>
          </p:nvPr>
        </p:nvSpPr>
        <p:spPr>
          <a:xfrm>
            <a:off x="838200" y="1825625"/>
            <a:ext cx="10515600" cy="4434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You've been assigned the development of a Library Management System. The library system is composed of multiple branches, each housing a collection of books and multimedia resources. The library has 3 types of items: Books, DVDs, and Journals. Each library item is identified by a distinct code, contains information about its acquisition date and a specific author or creator.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Library patrons can engage in activities such as borrowing items, returning them, and checking the availability of resources. In addition to the general library items, special features are implemented for different types of items. For instance, books can be reserved, DVDs have a return date, and Journals provide access to specific articles.</a:t>
            </a:r>
            <a:endParaRPr sz="1600"/>
          </a:p>
          <a:p>
            <a:pPr indent="0" lvl="0" marL="0" rtl="0" algn="l">
              <a:spcBef>
                <a:spcPts val="0"/>
              </a:spcBef>
              <a:spcAft>
                <a:spcPts val="0"/>
              </a:spcAft>
              <a:buNone/>
            </a:pPr>
            <a:r>
              <a:rPr lang="en-US" sz="1600"/>
              <a:t>Library patrons are allowed to have multiple borrowed items, but each item is uniquely associated with one patron. The library is managed by a team of employees, each having a unique ID, name, hiring date, and expertise level indicating their experience in the library system.</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The library staff is divided into two categories: Librarians and Assistants. Both roles have distinct attributes and methods tailored to their specific responsibilities within the library system. It is essential to ensure that the attributes and methods are appropriately configured for Librarians and Assistants to efficiently manage the library resources and provide quality service to patrons.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Create a class diagram based on the given scenario. </a:t>
            </a:r>
            <a:endParaRPr sz="1600"/>
          </a:p>
          <a:p>
            <a:pPr indent="0" lvl="0" marL="0" rtl="0" algn="l">
              <a:spcBef>
                <a:spcPts val="0"/>
              </a:spcBef>
              <a:spcAft>
                <a:spcPts val="0"/>
              </a:spcAft>
              <a:buNone/>
            </a:pPr>
            <a:r>
              <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Solve</a:t>
            </a:r>
            <a:endParaRPr b="1" sz="3300">
              <a:latin typeface="Lexend"/>
              <a:ea typeface="Lexend"/>
              <a:cs typeface="Lexend"/>
              <a:sym typeface="Lexend"/>
            </a:endParaRPr>
          </a:p>
        </p:txBody>
      </p:sp>
      <p:pic>
        <p:nvPicPr>
          <p:cNvPr id="418" name="Google Shape;418;p42"/>
          <p:cNvPicPr preferRelativeResize="0"/>
          <p:nvPr/>
        </p:nvPicPr>
        <p:blipFill>
          <a:blip r:embed="rId3">
            <a:alphaModFix/>
          </a:blip>
          <a:stretch>
            <a:fillRect/>
          </a:stretch>
        </p:blipFill>
        <p:spPr>
          <a:xfrm>
            <a:off x="2270200" y="1690825"/>
            <a:ext cx="7651612" cy="4765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