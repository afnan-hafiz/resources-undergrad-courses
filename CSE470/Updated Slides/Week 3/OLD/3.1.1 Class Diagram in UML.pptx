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9144000"/>
  <p:notesSz cx="6858000" cy="9144000"/>
  <p:embeddedFontLst>
    <p:embeddedFont>
      <p:font typeface="Gill Sans"/>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9" roundtripDataSignature="AMtx7mgn9cXAFMZNYGRCwr7ModLi/cXf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GillSans-bold.fntdata"/><Relationship Id="rId47" Type="http://schemas.openxmlformats.org/officeDocument/2006/relationships/font" Target="fonts/GillSans-regular.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20" name="Google Shape;120;p2: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2: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90000"/>
              </a:lnSpc>
              <a:spcBef>
                <a:spcPts val="0"/>
              </a:spcBef>
              <a:spcAft>
                <a:spcPts val="0"/>
              </a:spcAft>
              <a:buSzPts val="1400"/>
              <a:buNone/>
            </a:pPr>
            <a:r>
              <a:rPr lang="en-US" sz="1400">
                <a:latin typeface="Arial"/>
                <a:ea typeface="Arial"/>
                <a:cs typeface="Arial"/>
                <a:sym typeface="Arial"/>
              </a:rPr>
              <a:t>Class</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A description of a group of objects with common properties (attributes), common behavior (operations), common relationships to other objects, and common semantics</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Each object is an instance of some class, and objects cannot be instances of more than one class</a:t>
            </a:r>
            <a:endParaRPr/>
          </a:p>
          <a:p>
            <a:pPr indent="-225011" lvl="0" marL="225011"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All objects of a given class are identical in structure (attributes) and behavior (methods) but contain different data in their attributes</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A good class captures one and only one abstraction – it should have one major theme</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Should be named using the vocabulary of the domain application</a:t>
            </a:r>
            <a:endParaRPr/>
          </a:p>
          <a:p>
            <a:pPr indent="-225011" lvl="0" marL="225011"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Name:  singular noun that best characterizes the abstraction</a:t>
            </a:r>
            <a:endParaRPr/>
          </a:p>
          <a:p>
            <a:pPr indent="-225011" lvl="0" marL="225011" rtl="0" algn="l">
              <a:lnSpc>
                <a:spcPct val="9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90000"/>
              </a:lnSpc>
              <a:spcBef>
                <a:spcPts val="0"/>
              </a:spcBef>
              <a:spcAft>
                <a:spcPts val="0"/>
              </a:spcAft>
              <a:buSzPts val="1400"/>
              <a:buNone/>
            </a:pPr>
            <a:r>
              <a:rPr lang="en-US" sz="1400">
                <a:latin typeface="Arial"/>
                <a:ea typeface="Arial"/>
                <a:cs typeface="Arial"/>
                <a:sym typeface="Arial"/>
              </a:rPr>
              <a:t>An object or a class?  Subjective; may work on an object and then begin to realize that it really needs to be a class (so you can create multiple objects)</a:t>
            </a:r>
            <a:endParaRPr/>
          </a:p>
          <a:p>
            <a:pPr indent="-225011" lvl="0" marL="225011" rtl="0" algn="l">
              <a:lnSpc>
                <a:spcPct val="9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9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9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9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9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9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90000"/>
              </a:lnSpc>
              <a:spcBef>
                <a:spcPts val="0"/>
              </a:spcBef>
              <a:spcAft>
                <a:spcPts val="0"/>
              </a:spcAft>
              <a:buSzPts val="1400"/>
              <a:buNone/>
            </a:pPr>
            <a:r>
              <a:t/>
            </a:r>
            <a:endParaRPr sz="140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28" name="Google Shape;128;p3: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3: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b="1" lang="en-US" sz="1400">
                <a:latin typeface="Arial"/>
                <a:ea typeface="Arial"/>
                <a:cs typeface="Arial"/>
                <a:sym typeface="Arial"/>
              </a:rPr>
              <a:t>An object or a class?  Subjective; may work on an object and then begin to realize that it really needs to be a class (so you can create multiple objects)</a:t>
            </a:r>
            <a:endParaRPr/>
          </a:p>
          <a:p>
            <a:pPr indent="-225011" lvl="0" marL="225011" rtl="0" algn="l">
              <a:lnSpc>
                <a:spcPct val="100000"/>
              </a:lnSpc>
              <a:spcBef>
                <a:spcPts val="0"/>
              </a:spcBef>
              <a:spcAft>
                <a:spcPts val="0"/>
              </a:spcAft>
              <a:buSzPts val="1400"/>
              <a:buNone/>
            </a:pPr>
            <a:r>
              <a:t/>
            </a:r>
            <a:endParaRPr b="1" sz="1400">
              <a:latin typeface="Arial"/>
              <a:ea typeface="Arial"/>
              <a:cs typeface="Arial"/>
              <a:sym typeface="Arial"/>
            </a:endParaRPr>
          </a:p>
          <a:p>
            <a:pPr indent="-225011" lvl="0" marL="225011" rtl="0" algn="l">
              <a:lnSpc>
                <a:spcPct val="100000"/>
              </a:lnSpc>
              <a:spcBef>
                <a:spcPts val="0"/>
              </a:spcBef>
              <a:spcAft>
                <a:spcPts val="0"/>
              </a:spcAft>
              <a:buSzPts val="1400"/>
              <a:buNone/>
            </a:pPr>
            <a:r>
              <a:t/>
            </a:r>
            <a:endParaRPr b="1" sz="1400">
              <a:latin typeface="Arial"/>
              <a:ea typeface="Arial"/>
              <a:cs typeface="Arial"/>
              <a:sym typeface="Arial"/>
            </a:endParaRPr>
          </a:p>
          <a:p>
            <a:pPr indent="-225011" lvl="0" marL="225011" rtl="0" algn="l">
              <a:lnSpc>
                <a:spcPct val="10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10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10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10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100000"/>
              </a:lnSpc>
              <a:spcBef>
                <a:spcPts val="0"/>
              </a:spcBef>
              <a:spcAft>
                <a:spcPts val="0"/>
              </a:spcAft>
              <a:buSzPts val="1400"/>
              <a:buNone/>
            </a:pPr>
            <a:r>
              <a:t/>
            </a:r>
            <a:endParaRPr sz="140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36" name="Google Shape;13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4: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lang="en-US" sz="1400">
                <a:latin typeface="Arial"/>
                <a:ea typeface="Arial"/>
                <a:cs typeface="Arial"/>
                <a:sym typeface="Arial"/>
              </a:rPr>
              <a:t>Class diagram</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Name typed in top compartment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51" name="Google Shape;151;p6: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6: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lang="en-US" sz="1400">
                <a:latin typeface="Arial"/>
                <a:ea typeface="Arial"/>
                <a:cs typeface="Arial"/>
                <a:sym typeface="Arial"/>
              </a:rPr>
              <a:t>Concrete</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Used to create objects</a:t>
            </a:r>
            <a:endParaRPr/>
          </a:p>
          <a:p>
            <a:pPr indent="-225011" lvl="0" marL="225011" rtl="0" algn="l">
              <a:lnSpc>
                <a:spcPct val="10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100000"/>
              </a:lnSpc>
              <a:spcBef>
                <a:spcPts val="0"/>
              </a:spcBef>
              <a:spcAft>
                <a:spcPts val="0"/>
              </a:spcAft>
              <a:buSzPts val="1400"/>
              <a:buNone/>
            </a:pPr>
            <a:r>
              <a:rPr lang="en-US" sz="1400">
                <a:latin typeface="Arial"/>
                <a:ea typeface="Arial"/>
                <a:cs typeface="Arial"/>
                <a:sym typeface="Arial"/>
              </a:rPr>
              <a:t>Abstract</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Person class is really a generalization from Customer class and Employee class</a:t>
            </a:r>
            <a:endParaRPr/>
          </a:p>
          <a:p>
            <a:pPr indent="-225011" lvl="1" marL="675033"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Attributes and methods common to both Customer class and Employee class</a:t>
            </a:r>
            <a:endParaRPr/>
          </a:p>
          <a:p>
            <a:pPr indent="-225011" lvl="1" marL="675033"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Examples of common attributes:  name, address, birthdate, phone number, email address</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Generally do not create objects from Person class but rather create and use employee and customer objects</a:t>
            </a:r>
            <a:endParaRPr/>
          </a:p>
          <a:p>
            <a:pPr indent="-225011" lvl="0" marL="225011" rtl="0" algn="l">
              <a:lnSpc>
                <a:spcPct val="10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100000"/>
              </a:lnSpc>
              <a:spcBef>
                <a:spcPts val="0"/>
              </a:spcBef>
              <a:spcAft>
                <a:spcPts val="0"/>
              </a:spcAft>
              <a:buSzPts val="1400"/>
              <a:buNone/>
            </a:pPr>
            <a:r>
              <a:rPr b="1" lang="en-US" sz="1400">
                <a:latin typeface="Arial"/>
                <a:ea typeface="Arial"/>
                <a:cs typeface="Arial"/>
                <a:sym typeface="Arial"/>
              </a:rPr>
              <a:t>Later in the design and implementation phases, we will also identify other classes such as user interface classes, data structure classes, document classes, file structure classes, operating environment classes, and various types of multimedia classes.</a:t>
            </a:r>
            <a:endParaRPr/>
          </a:p>
          <a:p>
            <a:pPr indent="-225011" lvl="0" marL="225011" rtl="0" algn="l">
              <a:lnSpc>
                <a:spcPct val="100000"/>
              </a:lnSpc>
              <a:spcBef>
                <a:spcPts val="0"/>
              </a:spcBef>
              <a:spcAft>
                <a:spcPts val="0"/>
              </a:spcAft>
              <a:buSzPts val="1400"/>
              <a:buNone/>
            </a:pPr>
            <a:r>
              <a:t/>
            </a:r>
            <a:endParaRPr sz="1400">
              <a:latin typeface="Arial"/>
              <a:ea typeface="Arial"/>
              <a:cs typeface="Arial"/>
              <a:sym typeface="Arial"/>
            </a:endParaRPr>
          </a:p>
          <a:p>
            <a:pPr indent="-225011" lvl="0" marL="225011" rtl="0" algn="l">
              <a:lnSpc>
                <a:spcPct val="100000"/>
              </a:lnSpc>
              <a:spcBef>
                <a:spcPts val="0"/>
              </a:spcBef>
              <a:spcAft>
                <a:spcPts val="0"/>
              </a:spcAft>
              <a:buSzPts val="1400"/>
              <a:buNone/>
            </a:pPr>
            <a:r>
              <a:t/>
            </a:r>
            <a:endParaRPr sz="14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83" name="Google Shape;183;p9: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9: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Attributes in a Class</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Contains information that the </a:t>
            </a:r>
            <a:r>
              <a:rPr lang="en-US" sz="1400" u="sng">
                <a:latin typeface="Arial"/>
                <a:ea typeface="Arial"/>
                <a:cs typeface="Arial"/>
                <a:sym typeface="Arial"/>
              </a:rPr>
              <a:t>analyst or user</a:t>
            </a:r>
            <a:r>
              <a:rPr lang="en-US" sz="1400">
                <a:latin typeface="Arial"/>
                <a:ea typeface="Arial"/>
                <a:cs typeface="Arial"/>
                <a:sym typeface="Arial"/>
              </a:rPr>
              <a:t> feels that the system should store</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Represents properties that describe the state of the object</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Only attributes important to the task should be included in the class</a:t>
            </a:r>
            <a:endParaRPr/>
          </a:p>
          <a:p>
            <a:pPr indent="-88900" lvl="1" marL="45720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For example, for employee, employee name is a good attribute; employee hair color is not (not relevant in the business application)</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Primitive or atomic types</a:t>
            </a:r>
            <a:endParaRPr/>
          </a:p>
          <a:p>
            <a:pPr indent="-88900" lvl="1" marL="45720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Such as integer, string, double, date, time, boolean, …</a:t>
            </a:r>
            <a:endParaRPr/>
          </a:p>
          <a:p>
            <a:pPr indent="-88900" lvl="1" marL="45720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Generally complex or compound attributes are really placeholders for relationships between classes </a:t>
            </a:r>
            <a:endParaRPr/>
          </a:p>
          <a:p>
            <a:pPr indent="0" lvl="0" marL="0" rtl="0" algn="l">
              <a:lnSpc>
                <a:spcPct val="100000"/>
              </a:lnSpc>
              <a:spcBef>
                <a:spcPts val="0"/>
              </a:spcBef>
              <a:spcAft>
                <a:spcPts val="0"/>
              </a:spcAft>
              <a:buSzPts val="1400"/>
              <a:buNone/>
            </a:pPr>
            <a:r>
              <a:t/>
            </a:r>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191" name="Google Shape;19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0: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lang="en-US" sz="1400">
                <a:latin typeface="Arial"/>
                <a:ea typeface="Arial"/>
                <a:cs typeface="Arial"/>
                <a:sym typeface="Arial"/>
              </a:rPr>
              <a:t>Attributes in a class diagram</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Typed in middle compartment</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Derived attributes</a:t>
            </a:r>
            <a:endParaRPr/>
          </a:p>
          <a:p>
            <a:pPr indent="-225010" lvl="2" marL="1125055"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Examples: age (subtracting birthdate from current date), GPA (calculated from grades and credit hours)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22" name="Google Shape;222;p13: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3: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90000"/>
              </a:lnSpc>
              <a:spcBef>
                <a:spcPts val="0"/>
              </a:spcBef>
              <a:spcAft>
                <a:spcPts val="0"/>
              </a:spcAft>
              <a:buSzPts val="1400"/>
              <a:buNone/>
            </a:pPr>
            <a:r>
              <a:rPr lang="en-US" sz="1190">
                <a:latin typeface="Arial"/>
                <a:ea typeface="Arial"/>
                <a:cs typeface="Arial"/>
                <a:sym typeface="Arial"/>
              </a:rPr>
              <a:t>Operations in a Class</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Represents the actions or functions that a class can perform</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In later phases, the operations are converted to methods (functions in C++)</a:t>
            </a:r>
            <a:endParaRPr/>
          </a:p>
          <a:p>
            <a:pPr indent="-225011" lvl="0" marL="225011" rtl="0" algn="l">
              <a:lnSpc>
                <a:spcPct val="90000"/>
              </a:lnSpc>
              <a:spcBef>
                <a:spcPts val="0"/>
              </a:spcBef>
              <a:spcAft>
                <a:spcPts val="0"/>
              </a:spcAft>
              <a:buClr>
                <a:schemeClr val="dk1"/>
              </a:buClr>
              <a:buSzPts val="1190"/>
              <a:buFont typeface="Arial"/>
              <a:buChar char="•"/>
            </a:pPr>
            <a:r>
              <a:rPr b="1" lang="en-US" sz="1190">
                <a:latin typeface="Arial"/>
                <a:ea typeface="Arial"/>
                <a:cs typeface="Arial"/>
                <a:sym typeface="Arial"/>
              </a:rPr>
              <a:t>Only problem domain-specific operations</a:t>
            </a:r>
            <a:r>
              <a:rPr lang="en-US" sz="1190">
                <a:latin typeface="Arial"/>
                <a:ea typeface="Arial"/>
                <a:cs typeface="Arial"/>
                <a:sym typeface="Arial"/>
              </a:rPr>
              <a:t> that are relevant to the problem should be considered</a:t>
            </a:r>
            <a:endParaRPr/>
          </a:p>
          <a:p>
            <a:pPr indent="-225011" lvl="1" marL="675033"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Classes normally are required to provide the means to create instances, delete instances, access individual attribute values, set individual attribute values, and other basic types of operations</a:t>
            </a:r>
            <a:endParaRPr/>
          </a:p>
          <a:p>
            <a:pPr indent="-225011" lvl="1" marL="675033"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At this point in development, </a:t>
            </a:r>
            <a:r>
              <a:rPr lang="en-US" sz="1190" u="sng">
                <a:latin typeface="Arial"/>
                <a:ea typeface="Arial"/>
                <a:cs typeface="Arial"/>
                <a:sym typeface="Arial"/>
              </a:rPr>
              <a:t>don’t clutter</a:t>
            </a:r>
            <a:r>
              <a:rPr lang="en-US" sz="1190">
                <a:latin typeface="Arial"/>
                <a:ea typeface="Arial"/>
                <a:cs typeface="Arial"/>
                <a:sym typeface="Arial"/>
              </a:rPr>
              <a:t> up the definition of the class </a:t>
            </a:r>
            <a:r>
              <a:rPr lang="en-US" sz="1190" u="sng">
                <a:latin typeface="Arial"/>
                <a:ea typeface="Arial"/>
                <a:cs typeface="Arial"/>
                <a:sym typeface="Arial"/>
              </a:rPr>
              <a:t>with these basic types</a:t>
            </a:r>
            <a:r>
              <a:rPr lang="en-US" sz="1190">
                <a:latin typeface="Arial"/>
                <a:ea typeface="Arial"/>
                <a:cs typeface="Arial"/>
                <a:sym typeface="Arial"/>
              </a:rPr>
              <a:t> of operations</a:t>
            </a:r>
            <a:endParaRPr/>
          </a:p>
          <a:p>
            <a:pPr indent="-225011" lvl="1" marL="675033" rtl="0" algn="l">
              <a:lnSpc>
                <a:spcPct val="90000"/>
              </a:lnSpc>
              <a:spcBef>
                <a:spcPts val="0"/>
              </a:spcBef>
              <a:spcAft>
                <a:spcPts val="0"/>
              </a:spcAft>
              <a:buClr>
                <a:schemeClr val="dk1"/>
              </a:buClr>
              <a:buSzPts val="1190"/>
              <a:buFont typeface="Arial"/>
              <a:buChar char="•"/>
            </a:pPr>
            <a:r>
              <a:rPr lang="en-US" sz="1190" u="sng">
                <a:latin typeface="Arial"/>
                <a:ea typeface="Arial"/>
                <a:cs typeface="Arial"/>
                <a:sym typeface="Arial"/>
              </a:rPr>
              <a:t>Focus only</a:t>
            </a:r>
            <a:r>
              <a:rPr lang="en-US" sz="1190">
                <a:latin typeface="Arial"/>
                <a:ea typeface="Arial"/>
                <a:cs typeface="Arial"/>
                <a:sym typeface="Arial"/>
              </a:rPr>
              <a:t> on relevant problem domain-specific operations</a:t>
            </a:r>
            <a:endParaRPr/>
          </a:p>
          <a:p>
            <a:pPr indent="-225011" lvl="0" marL="225011" rtl="0" algn="l">
              <a:lnSpc>
                <a:spcPct val="90000"/>
              </a:lnSpc>
              <a:spcBef>
                <a:spcPts val="0"/>
              </a:spcBef>
              <a:spcAft>
                <a:spcPts val="0"/>
              </a:spcAft>
              <a:buSzPts val="1400"/>
              <a:buNone/>
            </a:pPr>
            <a:r>
              <a:rPr lang="en-US" sz="1190">
                <a:latin typeface="Arial"/>
                <a:ea typeface="Arial"/>
                <a:cs typeface="Arial"/>
                <a:sym typeface="Arial"/>
              </a:rPr>
              <a:t>1)Constructor operation</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Creates a new instance of a class</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Since creation is normally available to all classes, typically will not see constructor methods at this point in the development of the class diagram</a:t>
            </a:r>
            <a:endParaRPr/>
          </a:p>
          <a:p>
            <a:pPr indent="-225011" lvl="0" marL="225011" rtl="0" algn="l">
              <a:lnSpc>
                <a:spcPct val="90000"/>
              </a:lnSpc>
              <a:spcBef>
                <a:spcPts val="0"/>
              </a:spcBef>
              <a:spcAft>
                <a:spcPts val="0"/>
              </a:spcAft>
              <a:buSzPts val="1400"/>
              <a:buNone/>
            </a:pPr>
            <a:r>
              <a:rPr lang="en-US" sz="1190">
                <a:latin typeface="Arial"/>
                <a:ea typeface="Arial"/>
                <a:cs typeface="Arial"/>
                <a:sym typeface="Arial"/>
              </a:rPr>
              <a:t>2)Query operation</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Makes information about the state of an object available to other objects but will not alter the object in any way</a:t>
            </a:r>
            <a:endParaRPr/>
          </a:p>
          <a:p>
            <a:pPr indent="-225011" lvl="0" marL="225011" rtl="0" algn="l">
              <a:lnSpc>
                <a:spcPct val="90000"/>
              </a:lnSpc>
              <a:spcBef>
                <a:spcPts val="0"/>
              </a:spcBef>
              <a:spcAft>
                <a:spcPts val="0"/>
              </a:spcAft>
              <a:buSzPts val="1400"/>
              <a:buNone/>
            </a:pPr>
            <a:r>
              <a:rPr lang="en-US" sz="1190">
                <a:latin typeface="Arial"/>
                <a:ea typeface="Arial"/>
                <a:cs typeface="Arial"/>
                <a:sym typeface="Arial"/>
              </a:rPr>
              <a:t>3)Update operation</a:t>
            </a:r>
            <a:endParaRPr/>
          </a:p>
          <a:p>
            <a:pPr indent="-225011" lvl="0" marL="225011" rtl="0" algn="l">
              <a:lnSpc>
                <a:spcPct val="90000"/>
              </a:lnSpc>
              <a:spcBef>
                <a:spcPts val="0"/>
              </a:spcBef>
              <a:spcAft>
                <a:spcPts val="0"/>
              </a:spcAft>
              <a:buClr>
                <a:schemeClr val="dk1"/>
              </a:buClr>
              <a:buSzPts val="1190"/>
              <a:buFont typeface="Arial"/>
              <a:buChar char="•"/>
            </a:pPr>
            <a:r>
              <a:rPr lang="en-US" sz="1190">
                <a:latin typeface="Arial"/>
                <a:ea typeface="Arial"/>
                <a:cs typeface="Arial"/>
                <a:sym typeface="Arial"/>
              </a:rPr>
              <a:t>Changes the value of some or all of the object’s attributes which may result in a change in the object’s state</a:t>
            </a:r>
            <a:endParaRPr/>
          </a:p>
          <a:p>
            <a:pPr indent="-225011" lvl="0" marL="225011" rtl="0" algn="l">
              <a:lnSpc>
                <a:spcPct val="90000"/>
              </a:lnSpc>
              <a:spcBef>
                <a:spcPts val="0"/>
              </a:spcBef>
              <a:spcAft>
                <a:spcPts val="0"/>
              </a:spcAft>
              <a:buSzPts val="1400"/>
              <a:buNone/>
            </a:pPr>
            <a:r>
              <a:t/>
            </a:r>
            <a:endParaRPr sz="1190">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79" name="Google Shape;279;p17: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17: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Class representation</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Compartmentalized rectangles</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Top compartment:  name of class</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Middle compartment:  structure of the class (attributes)</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Bottom compartment:  behavior of the class (operations)</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92" name="Google Shape;29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8: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lang="en-US" sz="1400">
                <a:latin typeface="Arial"/>
                <a:ea typeface="Arial"/>
                <a:cs typeface="Arial"/>
                <a:sym typeface="Arial"/>
              </a:rPr>
              <a:t>Visibility in a class diagram</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Shown on attributes and methods</a:t>
            </a:r>
            <a:endParaRPr/>
          </a:p>
          <a:p>
            <a:pPr indent="-225011" lvl="0" marL="225011" rtl="0" algn="l">
              <a:lnSpc>
                <a:spcPct val="100000"/>
              </a:lnSpc>
              <a:spcBef>
                <a:spcPts val="0"/>
              </a:spcBef>
              <a:spcAft>
                <a:spcPts val="0"/>
              </a:spcAft>
              <a:buClr>
                <a:schemeClr val="dk1"/>
              </a:buClr>
              <a:buSzPts val="1400"/>
              <a:buFont typeface="Arial"/>
              <a:buAutoNum type="arabicParenR"/>
            </a:pPr>
            <a:r>
              <a:rPr lang="en-US" sz="1400">
                <a:latin typeface="Arial"/>
                <a:ea typeface="Arial"/>
                <a:cs typeface="Arial"/>
                <a:sym typeface="Arial"/>
              </a:rPr>
              <a:t> Public</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One that is not hidden from any other object</a:t>
            </a:r>
            <a:endParaRPr/>
          </a:p>
          <a:p>
            <a:pPr indent="-225011" lvl="0" marL="225011" rtl="0" algn="l">
              <a:lnSpc>
                <a:spcPct val="100000"/>
              </a:lnSpc>
              <a:spcBef>
                <a:spcPts val="0"/>
              </a:spcBef>
              <a:spcAft>
                <a:spcPts val="0"/>
              </a:spcAft>
              <a:buClr>
                <a:schemeClr val="dk1"/>
              </a:buClr>
              <a:buSzPts val="1400"/>
              <a:buFont typeface="Arial"/>
              <a:buChar char="•"/>
            </a:pPr>
            <a:r>
              <a:rPr b="1" lang="en-US" sz="1400">
                <a:latin typeface="Arial"/>
                <a:ea typeface="Arial"/>
                <a:cs typeface="Arial"/>
                <a:sym typeface="Arial"/>
              </a:rPr>
              <a:t>Default visibility for an method</a:t>
            </a:r>
            <a:endParaRPr sz="1400">
              <a:latin typeface="Arial"/>
              <a:ea typeface="Arial"/>
              <a:cs typeface="Arial"/>
              <a:sym typeface="Arial"/>
            </a:endParaRPr>
          </a:p>
          <a:p>
            <a:pPr indent="-225011" lvl="0" marL="225011" rtl="0" algn="l">
              <a:lnSpc>
                <a:spcPct val="100000"/>
              </a:lnSpc>
              <a:spcBef>
                <a:spcPts val="0"/>
              </a:spcBef>
              <a:spcAft>
                <a:spcPts val="0"/>
              </a:spcAft>
              <a:buSzPts val="1400"/>
              <a:buNone/>
            </a:pPr>
            <a:r>
              <a:rPr lang="en-US" sz="1400">
                <a:latin typeface="Arial"/>
                <a:ea typeface="Arial"/>
                <a:cs typeface="Arial"/>
                <a:sym typeface="Arial"/>
              </a:rPr>
              <a:t>2) Protected</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One that is hidden from all other classes except its </a:t>
            </a:r>
            <a:r>
              <a:rPr lang="en-US" sz="1400" u="sng">
                <a:latin typeface="Arial"/>
                <a:ea typeface="Arial"/>
                <a:cs typeface="Arial"/>
                <a:sym typeface="Arial"/>
              </a:rPr>
              <a:t>immediate</a:t>
            </a:r>
            <a:r>
              <a:rPr lang="en-US" sz="1400">
                <a:latin typeface="Arial"/>
                <a:ea typeface="Arial"/>
                <a:cs typeface="Arial"/>
                <a:sym typeface="Arial"/>
              </a:rPr>
              <a:t> subclasses</a:t>
            </a:r>
            <a:endParaRPr/>
          </a:p>
          <a:p>
            <a:pPr indent="-225011" lvl="0" marL="225011" rtl="0" algn="l">
              <a:lnSpc>
                <a:spcPct val="100000"/>
              </a:lnSpc>
              <a:spcBef>
                <a:spcPts val="0"/>
              </a:spcBef>
              <a:spcAft>
                <a:spcPts val="0"/>
              </a:spcAft>
              <a:buSzPts val="1400"/>
              <a:buNone/>
            </a:pPr>
            <a:r>
              <a:rPr lang="en-US" sz="1400">
                <a:latin typeface="Arial"/>
                <a:ea typeface="Arial"/>
                <a:cs typeface="Arial"/>
                <a:sym typeface="Arial"/>
              </a:rPr>
              <a:t>3) Private</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One that is hidden from all other classes</a:t>
            </a:r>
            <a:endParaRPr/>
          </a:p>
          <a:p>
            <a:pPr indent="-225011" lvl="0" marL="225011" rtl="0" algn="l">
              <a:lnSpc>
                <a:spcPct val="100000"/>
              </a:lnSpc>
              <a:spcBef>
                <a:spcPts val="0"/>
              </a:spcBef>
              <a:spcAft>
                <a:spcPts val="0"/>
              </a:spcAft>
              <a:buClr>
                <a:schemeClr val="dk1"/>
              </a:buClr>
              <a:buSzPts val="1400"/>
              <a:buFont typeface="Arial"/>
              <a:buChar char="•"/>
            </a:pPr>
            <a:r>
              <a:rPr b="1" lang="en-US" sz="1400">
                <a:latin typeface="Arial"/>
                <a:ea typeface="Arial"/>
                <a:cs typeface="Arial"/>
                <a:sym typeface="Arial"/>
              </a:rPr>
              <a:t>Default visibility for an attribute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00" name="Google Shape;300;p19: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9: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lang="en-US" sz="1400">
                <a:latin typeface="Arial"/>
                <a:ea typeface="Arial"/>
                <a:cs typeface="Arial"/>
                <a:sym typeface="Arial"/>
              </a:rPr>
              <a:t>Operations in a Class</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Also can be shown on attributes</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Put in front of the name of the attribute or operation on the class diagram</a:t>
            </a:r>
            <a:endParaRPr/>
          </a:p>
          <a:p>
            <a:pPr indent="-225011" lvl="0" marL="225011" rtl="0" algn="l">
              <a:lnSpc>
                <a:spcPct val="100000"/>
              </a:lnSpc>
              <a:spcBef>
                <a:spcPts val="0"/>
              </a:spcBef>
              <a:spcAft>
                <a:spcPts val="0"/>
              </a:spcAft>
              <a:buClr>
                <a:schemeClr val="dk1"/>
              </a:buClr>
              <a:buSzPts val="1400"/>
              <a:buFont typeface="Arial"/>
              <a:buChar char="•"/>
            </a:pPr>
            <a:r>
              <a:rPr b="1" lang="en-US" sz="1400">
                <a:latin typeface="Arial"/>
                <a:ea typeface="Arial"/>
                <a:cs typeface="Arial"/>
                <a:sym typeface="Arial"/>
              </a:rPr>
              <a:t>Visibility</a:t>
            </a:r>
            <a:r>
              <a:rPr lang="en-US" sz="1400">
                <a:latin typeface="Arial"/>
                <a:ea typeface="Arial"/>
                <a:cs typeface="Arial"/>
                <a:sym typeface="Arial"/>
              </a:rPr>
              <a:t> of the attribute/operation in the system</a:t>
            </a:r>
            <a:endParaRPr/>
          </a:p>
          <a:p>
            <a:pPr indent="-225010" lvl="2" marL="1125055"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Public – not hidden from any object</a:t>
            </a:r>
            <a:endParaRPr/>
          </a:p>
          <a:p>
            <a:pPr indent="-225010" lvl="2" marL="1125055"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Protected – hidden from all other classes except its immediate subclasses</a:t>
            </a:r>
            <a:endParaRPr/>
          </a:p>
          <a:p>
            <a:pPr indent="-225010" lvl="2" marL="1125055"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Private – default; hidden from all other classes</a:t>
            </a:r>
            <a:endParaRPr/>
          </a:p>
          <a:p>
            <a:pPr indent="-225011" lvl="0" marL="225011" rtl="0" algn="l">
              <a:lnSpc>
                <a:spcPct val="100000"/>
              </a:lnSpc>
              <a:spcBef>
                <a:spcPts val="0"/>
              </a:spcBef>
              <a:spcAft>
                <a:spcPts val="0"/>
              </a:spcAft>
              <a:buSzPts val="1400"/>
              <a:buNone/>
            </a:pPr>
            <a:r>
              <a:t/>
            </a:r>
            <a:endParaRPr sz="14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45" name="Google Shape;345;p21: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21: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Relationships between Classes</a:t>
            </a:r>
            <a:endParaRPr/>
          </a:p>
          <a:p>
            <a:pPr indent="0" lvl="0" marL="0" rtl="0" algn="l">
              <a:lnSpc>
                <a:spcPct val="100000"/>
              </a:lnSpc>
              <a:spcBef>
                <a:spcPts val="0"/>
              </a:spcBef>
              <a:spcAft>
                <a:spcPts val="0"/>
              </a:spcAft>
              <a:buClr>
                <a:schemeClr val="dk1"/>
              </a:buClr>
              <a:buSzPts val="1400"/>
              <a:buFont typeface="Arial"/>
              <a:buChar char="•"/>
            </a:pPr>
            <a:r>
              <a:rPr b="1" lang="en-US" sz="1400">
                <a:latin typeface="Arial"/>
                <a:ea typeface="Arial"/>
                <a:cs typeface="Arial"/>
                <a:sym typeface="Arial"/>
              </a:rPr>
              <a:t>One of primary purposes of a class diagram is to show the relationships that classes have with other another</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All systems are made up of many classes/objects; system behavior is achieved through the collaborations of the objects of the system</a:t>
            </a:r>
            <a:endParaRPr/>
          </a:p>
          <a:p>
            <a:pPr indent="0" lvl="0" marL="0" rtl="0" algn="l">
              <a:lnSpc>
                <a:spcPct val="100000"/>
              </a:lnSpc>
              <a:spcBef>
                <a:spcPts val="0"/>
              </a:spcBef>
              <a:spcAft>
                <a:spcPts val="0"/>
              </a:spcAft>
              <a:buSzPts val="1400"/>
              <a:buNone/>
            </a:pPr>
            <a:r>
              <a:t/>
            </a:r>
            <a:endParaRPr sz="14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53" name="Google Shape;353;p22: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22: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sz="1400">
                <a:latin typeface="Arial"/>
                <a:ea typeface="Arial"/>
                <a:cs typeface="Arial"/>
                <a:sym typeface="Arial"/>
              </a:rPr>
              <a:t>Association Relationship</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An association between classes means there is a link between the objects in the associated classes</a:t>
            </a:r>
            <a:endParaRPr/>
          </a:p>
          <a:p>
            <a:pPr indent="0" lvl="0" marL="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Not a data flow (though data may flow in either direction across the association)</a:t>
            </a:r>
            <a:endParaRPr/>
          </a:p>
          <a:p>
            <a:pPr indent="0" lvl="0" marL="0" rtl="0" algn="l">
              <a:lnSpc>
                <a:spcPct val="100000"/>
              </a:lnSpc>
              <a:spcBef>
                <a:spcPts val="0"/>
              </a:spcBef>
              <a:spcAft>
                <a:spcPts val="0"/>
              </a:spcAft>
              <a:buClr>
                <a:schemeClr val="dk1"/>
              </a:buClr>
              <a:buSzPts val="1400"/>
              <a:buFont typeface="Calibri"/>
              <a:buNone/>
            </a:pPr>
            <a:r>
              <a:t/>
            </a:r>
            <a:endParaRPr sz="1400">
              <a:latin typeface="Arial"/>
              <a:ea typeface="Arial"/>
              <a:cs typeface="Arial"/>
              <a:sym typeface="Arial"/>
            </a:endParaRPr>
          </a:p>
          <a:p>
            <a:pPr indent="0" lvl="0" marL="0" rtl="0" algn="l">
              <a:lnSpc>
                <a:spcPct val="100000"/>
              </a:lnSpc>
              <a:spcBef>
                <a:spcPts val="0"/>
              </a:spcBef>
              <a:spcAft>
                <a:spcPts val="0"/>
              </a:spcAft>
              <a:buSzPts val="1400"/>
              <a:buNone/>
            </a:pPr>
            <a:r>
              <a:t/>
            </a:r>
            <a:endParaRPr b="1" sz="1400">
              <a:latin typeface="Arial"/>
              <a:ea typeface="Arial"/>
              <a:cs typeface="Arial"/>
              <a:sym typeface="Arial"/>
            </a:endParaRPr>
          </a:p>
          <a:p>
            <a:pPr indent="0" lvl="0" marL="0" rtl="0" algn="l">
              <a:lnSpc>
                <a:spcPct val="100000"/>
              </a:lnSpc>
              <a:spcBef>
                <a:spcPts val="0"/>
              </a:spcBef>
              <a:spcAft>
                <a:spcPts val="0"/>
              </a:spcAft>
              <a:buSzPts val="1400"/>
              <a:buNone/>
            </a:pPr>
            <a:r>
              <a:t/>
            </a:r>
            <a:endParaRPr sz="1400">
              <a:latin typeface="Arial"/>
              <a:ea typeface="Arial"/>
              <a:cs typeface="Arial"/>
              <a:sym typeface="Arial"/>
            </a:endParaRPr>
          </a:p>
          <a:p>
            <a:pPr indent="0" lvl="0" marL="0" rtl="0" algn="l">
              <a:lnSpc>
                <a:spcPct val="100000"/>
              </a:lnSpc>
              <a:spcBef>
                <a:spcPts val="0"/>
              </a:spcBef>
              <a:spcAft>
                <a:spcPts val="0"/>
              </a:spcAft>
              <a:buSzPts val="1400"/>
              <a:buNone/>
            </a:pPr>
            <a:r>
              <a:t/>
            </a:r>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61" name="Google Shape;36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23: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lang="en-US" sz="1400">
                <a:latin typeface="Arial"/>
                <a:ea typeface="Arial"/>
                <a:cs typeface="Arial"/>
                <a:sym typeface="Arial"/>
              </a:rPr>
              <a:t>Relationships in a class diagram</a:t>
            </a:r>
            <a:endParaRPr/>
          </a:p>
          <a:p>
            <a:pPr indent="-225011" lvl="0" marL="225011" rtl="0" algn="l">
              <a:lnSpc>
                <a:spcPct val="100000"/>
              </a:lnSpc>
              <a:spcBef>
                <a:spcPts val="0"/>
              </a:spcBef>
              <a:spcAft>
                <a:spcPts val="0"/>
              </a:spcAft>
              <a:buClr>
                <a:schemeClr val="dk1"/>
              </a:buClr>
              <a:buSzPts val="1400"/>
              <a:buFont typeface="Arial"/>
              <a:buChar char="•"/>
            </a:pPr>
            <a:r>
              <a:rPr b="1" lang="en-US" sz="1400">
                <a:latin typeface="Arial"/>
                <a:ea typeface="Arial"/>
                <a:cs typeface="Arial"/>
                <a:sym typeface="Arial"/>
              </a:rPr>
              <a:t>Primary purpose of the class diagram is to show the relationships or associations that classes have with one another</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Shown by drawing lines between classes</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Triangle</a:t>
            </a:r>
            <a:endParaRPr/>
          </a:p>
          <a:p>
            <a:pPr indent="-225010" lvl="2" marL="1125055"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Increases the readability of the diagram</a:t>
            </a:r>
            <a:endParaRPr/>
          </a:p>
          <a:p>
            <a:pPr indent="-225010" lvl="2" marL="1125055"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Is read as “The patients provides medical history”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11" name="Google Shape;41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27: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lang="en-US" sz="1400">
                <a:latin typeface="Arial"/>
                <a:ea typeface="Arial"/>
                <a:cs typeface="Arial"/>
                <a:sym typeface="Arial"/>
              </a:rPr>
              <a:t>Relationships in a class diagram</a:t>
            </a:r>
            <a:endParaRPr/>
          </a:p>
          <a:p>
            <a:pPr indent="-225011" lvl="0" marL="225011" rtl="0" algn="l">
              <a:lnSpc>
                <a:spcPct val="100000"/>
              </a:lnSpc>
              <a:spcBef>
                <a:spcPts val="0"/>
              </a:spcBef>
              <a:spcAft>
                <a:spcPts val="0"/>
              </a:spcAft>
              <a:buClr>
                <a:schemeClr val="dk1"/>
              </a:buClr>
              <a:buSzPts val="1400"/>
              <a:buFont typeface="Arial"/>
              <a:buChar char="•"/>
            </a:pPr>
            <a:r>
              <a:rPr b="1" lang="en-US" sz="1400">
                <a:latin typeface="Arial"/>
                <a:ea typeface="Arial"/>
                <a:cs typeface="Arial"/>
                <a:sym typeface="Arial"/>
              </a:rPr>
              <a:t>Notice no triangle needed on a role</a:t>
            </a:r>
            <a:endParaRPr sz="1400">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74ebd9367a_0_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26" name="Google Shape;426;g274ebd9367a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g274ebd9367a_0_9:notes"/>
          <p:cNvSpPr txBox="1"/>
          <p:nvPr>
            <p:ph idx="1" type="body"/>
          </p:nvPr>
        </p:nvSpPr>
        <p:spPr>
          <a:xfrm>
            <a:off x="914920" y="4343400"/>
            <a:ext cx="5028300" cy="4114800"/>
          </a:xfrm>
          <a:prstGeom prst="rect">
            <a:avLst/>
          </a:prstGeom>
          <a:noFill/>
          <a:ln>
            <a:noFill/>
          </a:ln>
        </p:spPr>
        <p:txBody>
          <a:bodyPr anchorCtr="0" anchor="t" bIns="45700" lIns="91425" spcFirstLastPara="1" rIns="91425" wrap="square" tIns="45700">
            <a:noAutofit/>
          </a:bodyPr>
          <a:lstStyle/>
          <a:p>
            <a:pPr indent="-225010" lvl="0" marL="225010" rtl="0" algn="l">
              <a:lnSpc>
                <a:spcPct val="100000"/>
              </a:lnSpc>
              <a:spcBef>
                <a:spcPts val="0"/>
              </a:spcBef>
              <a:spcAft>
                <a:spcPts val="0"/>
              </a:spcAft>
              <a:buSzPts val="1400"/>
              <a:buNone/>
            </a:pPr>
            <a:r>
              <a:rPr lang="en-US" sz="1400">
                <a:latin typeface="Arial"/>
                <a:ea typeface="Arial"/>
                <a:cs typeface="Arial"/>
                <a:sym typeface="Arial"/>
              </a:rPr>
              <a:t>Relationships in a class diagram</a:t>
            </a:r>
            <a:endParaRPr/>
          </a:p>
          <a:p>
            <a:pPr indent="-225010" lvl="0" marL="225010" rtl="0" algn="l">
              <a:lnSpc>
                <a:spcPct val="100000"/>
              </a:lnSpc>
              <a:spcBef>
                <a:spcPts val="0"/>
              </a:spcBef>
              <a:spcAft>
                <a:spcPts val="0"/>
              </a:spcAft>
              <a:buClr>
                <a:schemeClr val="dk1"/>
              </a:buClr>
              <a:buSzPts val="1400"/>
              <a:buFont typeface="Arial"/>
              <a:buChar char="•"/>
            </a:pPr>
            <a:r>
              <a:rPr b="1" lang="en-US" sz="1400">
                <a:latin typeface="Arial"/>
                <a:ea typeface="Arial"/>
                <a:cs typeface="Arial"/>
                <a:sym typeface="Arial"/>
              </a:rPr>
              <a:t>Notice no triangle needed on a role</a:t>
            </a:r>
            <a:endParaRPr sz="1400">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44" name="Google Shape;444;p28: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28: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400"/>
              <a:buNone/>
            </a:pPr>
            <a:r>
              <a:rPr lang="en-US" sz="1400">
                <a:latin typeface="Arial"/>
                <a:ea typeface="Arial"/>
                <a:cs typeface="Arial"/>
                <a:sym typeface="Arial"/>
              </a:rPr>
              <a:t>Aggregation Relationship</a:t>
            </a:r>
            <a:endParaRPr/>
          </a:p>
          <a:p>
            <a:pPr indent="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You can identify these kinds of associations when you need to use words like “is a part of” or “is made up of” to describe a relationship between classes</a:t>
            </a:r>
            <a:endParaRPr/>
          </a:p>
          <a:p>
            <a:pPr indent="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When classes actually comprise other classes</a:t>
            </a:r>
            <a:endParaRPr/>
          </a:p>
          <a:p>
            <a:pPr indent="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For example, CourseOffering class is </a:t>
            </a:r>
            <a:r>
              <a:rPr i="1" lang="en-US" sz="1400">
                <a:latin typeface="Arial"/>
                <a:ea typeface="Arial"/>
                <a:cs typeface="Arial"/>
                <a:sym typeface="Arial"/>
              </a:rPr>
              <a:t>a-part-of</a:t>
            </a:r>
            <a:r>
              <a:rPr lang="en-US" sz="1400">
                <a:latin typeface="Arial"/>
                <a:ea typeface="Arial"/>
                <a:cs typeface="Arial"/>
                <a:sym typeface="Arial"/>
              </a:rPr>
              <a:t> the Course class</a:t>
            </a:r>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One way to recognize:  are some operations on the whole automatically applied to its parts? For example, deleting a course will also delete all of its course offerings</a:t>
            </a:r>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One way to recognize:  is there an intrinsic asymmetry to the relationship where one class is subordinate to the other?</a:t>
            </a:r>
            <a:endParaRPr/>
          </a:p>
          <a:p>
            <a:pPr indent="0" lvl="2" marL="914400" rtl="0" algn="l">
              <a:lnSpc>
                <a:spcPct val="90000"/>
              </a:lnSpc>
              <a:spcBef>
                <a:spcPts val="0"/>
              </a:spcBef>
              <a:spcAft>
                <a:spcPts val="0"/>
              </a:spcAft>
              <a:buSzPts val="1400"/>
              <a:buNone/>
            </a:pPr>
            <a:r>
              <a:t/>
            </a:r>
            <a:endParaRPr sz="1400">
              <a:latin typeface="Arial"/>
              <a:ea typeface="Arial"/>
              <a:cs typeface="Arial"/>
              <a:sym typeface="Arial"/>
            </a:endParaRPr>
          </a:p>
          <a:p>
            <a:pPr indent="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UML notation for an aggregation relationship is an association with a diamond next to the class denoting the aggregate</a:t>
            </a:r>
            <a:endParaRPr/>
          </a:p>
          <a:p>
            <a:pPr indent="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Aggregations are denoted by a hollow-diamond adornment</a:t>
            </a:r>
            <a:endParaRPr/>
          </a:p>
          <a:p>
            <a:pPr indent="0" lvl="0" marL="0" rtl="0" algn="l">
              <a:lnSpc>
                <a:spcPct val="90000"/>
              </a:lnSpc>
              <a:spcBef>
                <a:spcPts val="0"/>
              </a:spcBef>
              <a:spcAft>
                <a:spcPts val="0"/>
              </a:spcAft>
              <a:buSzPts val="1400"/>
              <a:buNone/>
            </a:pPr>
            <a:r>
              <a:t/>
            </a:r>
            <a:endParaRPr sz="1400">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52" name="Google Shape;45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29: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lang="en-US" sz="1400">
                <a:latin typeface="Arial"/>
                <a:ea typeface="Arial"/>
                <a:cs typeface="Arial"/>
                <a:sym typeface="Arial"/>
              </a:rPr>
              <a:t>Relationships in a class diagram</a:t>
            </a:r>
            <a:endParaRPr/>
          </a:p>
          <a:p>
            <a:pPr indent="-225011" lvl="0" marL="225011" rtl="0" algn="l">
              <a:lnSpc>
                <a:spcPct val="100000"/>
              </a:lnSpc>
              <a:spcBef>
                <a:spcPts val="0"/>
              </a:spcBef>
              <a:spcAft>
                <a:spcPts val="0"/>
              </a:spcAft>
              <a:buClr>
                <a:schemeClr val="dk1"/>
              </a:buClr>
              <a:buSzPts val="1400"/>
              <a:buFont typeface="Arial"/>
              <a:buChar char="•"/>
            </a:pPr>
            <a:r>
              <a:rPr b="1" lang="en-US" sz="1400">
                <a:latin typeface="Arial"/>
                <a:ea typeface="Arial"/>
                <a:cs typeface="Arial"/>
                <a:sym typeface="Arial"/>
              </a:rPr>
              <a:t>Engine and Transmission are “part of” the Car; it can exist without the patient</a:t>
            </a:r>
            <a:endParaRPr sz="1400">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latin typeface="Arial"/>
                <a:ea typeface="Arial"/>
                <a:cs typeface="Arial"/>
                <a:sym typeface="Arial"/>
              </a:rPr>
              <a:t>Without the Window rest of them has no existence</a:t>
            </a:r>
            <a:endParaRPr>
              <a:latin typeface="Arial"/>
              <a:ea typeface="Arial"/>
              <a:cs typeface="Arial"/>
              <a:sym typeface="Arial"/>
            </a:endParaRPr>
          </a:p>
        </p:txBody>
      </p:sp>
      <p:sp>
        <p:nvSpPr>
          <p:cNvPr id="475" name="Google Shape;475;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3b9789916b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g33b9789916b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g33b9789916b_0_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3b9789916b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g33b9789916b_0_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g33b9789916b_0_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515" name="Google Shape;515;p31: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31: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SzPts val="1400"/>
              <a:buNone/>
            </a:pPr>
            <a:r>
              <a:rPr lang="en-US" sz="1190">
                <a:latin typeface="Arial"/>
                <a:ea typeface="Arial"/>
                <a:cs typeface="Arial"/>
                <a:sym typeface="Arial"/>
              </a:rPr>
              <a:t>Generalization Relationship</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The analyst creates a </a:t>
            </a:r>
            <a:r>
              <a:rPr b="1" lang="en-US" sz="1190">
                <a:latin typeface="Arial"/>
                <a:ea typeface="Arial"/>
                <a:cs typeface="Arial"/>
                <a:sym typeface="Arial"/>
              </a:rPr>
              <a:t>superclass</a:t>
            </a:r>
            <a:r>
              <a:rPr lang="en-US" sz="1190">
                <a:latin typeface="Arial"/>
                <a:ea typeface="Arial"/>
                <a:cs typeface="Arial"/>
                <a:sym typeface="Arial"/>
              </a:rPr>
              <a:t> that contains the basic attributes and operations that will be used in several </a:t>
            </a:r>
            <a:r>
              <a:rPr b="1" lang="en-US" sz="1190">
                <a:latin typeface="Arial"/>
                <a:ea typeface="Arial"/>
                <a:cs typeface="Arial"/>
                <a:sym typeface="Arial"/>
              </a:rPr>
              <a:t>subclasses</a:t>
            </a:r>
            <a:r>
              <a:rPr lang="en-US" sz="1190">
                <a:latin typeface="Arial"/>
                <a:ea typeface="Arial"/>
                <a:cs typeface="Arial"/>
                <a:sym typeface="Arial"/>
              </a:rPr>
              <a:t>.</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Subclasses inherit the attributes and operations of their superclass and can also contain attributes and operations that are unique just to them</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For example, a customer class and an employee class can be generalized into a person class by extracting the attributes and operations they have in common and placing them into a new superclass, Person</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Subclasses (with no children) must be concrete classes</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Superclasses may be abstract or concrete</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Encourages analyst to </a:t>
            </a:r>
            <a:r>
              <a:rPr b="1" lang="en-US" sz="1190">
                <a:latin typeface="Arial"/>
                <a:ea typeface="Arial"/>
                <a:cs typeface="Arial"/>
                <a:sym typeface="Arial"/>
              </a:rPr>
              <a:t>focus on the properties that make each class unique</a:t>
            </a:r>
            <a:r>
              <a:rPr lang="en-US" sz="1190">
                <a:latin typeface="Arial"/>
                <a:ea typeface="Arial"/>
                <a:cs typeface="Arial"/>
                <a:sym typeface="Arial"/>
              </a:rPr>
              <a:t> by allowing the similarities to be factored into superclasses</a:t>
            </a:r>
            <a:endParaRPr sz="1190">
              <a:latin typeface="Arial"/>
              <a:ea typeface="Arial"/>
              <a:cs typeface="Arial"/>
              <a:sym typeface="Arial"/>
            </a:endParaRPr>
          </a:p>
          <a:p>
            <a:pPr indent="-75565" lvl="0" marL="0" rtl="0" algn="l">
              <a:lnSpc>
                <a:spcPct val="80000"/>
              </a:lnSpc>
              <a:spcBef>
                <a:spcPts val="0"/>
              </a:spcBef>
              <a:spcAft>
                <a:spcPts val="0"/>
              </a:spcAft>
              <a:buClr>
                <a:schemeClr val="dk1"/>
              </a:buClr>
              <a:buSzPts val="1190"/>
              <a:buFont typeface="Arial"/>
              <a:buChar char="•"/>
            </a:pPr>
            <a:r>
              <a:rPr b="1" lang="en-US" sz="1190">
                <a:latin typeface="Arial"/>
                <a:ea typeface="Arial"/>
                <a:cs typeface="Arial"/>
                <a:sym typeface="Arial"/>
              </a:rPr>
              <a:t>Advantage: reduces redundancy in the class definitions</a:t>
            </a:r>
            <a:endParaRPr/>
          </a:p>
          <a:p>
            <a:pPr indent="0" lvl="0" marL="0" rtl="0" algn="l">
              <a:lnSpc>
                <a:spcPct val="80000"/>
              </a:lnSpc>
              <a:spcBef>
                <a:spcPts val="0"/>
              </a:spcBef>
              <a:spcAft>
                <a:spcPts val="0"/>
              </a:spcAft>
              <a:buSzPts val="1400"/>
              <a:buNone/>
            </a:pPr>
            <a:r>
              <a:t/>
            </a:r>
            <a:endParaRPr sz="1190">
              <a:latin typeface="Arial"/>
              <a:ea typeface="Arial"/>
              <a:cs typeface="Arial"/>
              <a:sym typeface="Arial"/>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Is represented with the </a:t>
            </a:r>
            <a:r>
              <a:rPr i="1" lang="en-US" sz="1190">
                <a:latin typeface="Arial"/>
                <a:ea typeface="Arial"/>
                <a:cs typeface="Arial"/>
                <a:sym typeface="Arial"/>
              </a:rPr>
              <a:t>a-kind-of</a:t>
            </a:r>
            <a:r>
              <a:rPr lang="en-US" sz="1190">
                <a:latin typeface="Arial"/>
                <a:ea typeface="Arial"/>
                <a:cs typeface="Arial"/>
                <a:sym typeface="Arial"/>
              </a:rPr>
              <a:t> relationship</a:t>
            </a:r>
            <a:endParaRPr/>
          </a:p>
          <a:p>
            <a:pPr indent="-75564" lvl="3" marL="137160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Employee is a-kind-of person</a:t>
            </a:r>
            <a:endParaRPr/>
          </a:p>
          <a:p>
            <a:pPr indent="0" lvl="0" marL="0" rtl="0" algn="l">
              <a:lnSpc>
                <a:spcPct val="80000"/>
              </a:lnSpc>
              <a:spcBef>
                <a:spcPts val="0"/>
              </a:spcBef>
              <a:spcAft>
                <a:spcPts val="0"/>
              </a:spcAft>
              <a:buSzPts val="1400"/>
              <a:buNone/>
            </a:pPr>
            <a:r>
              <a:t/>
            </a:r>
            <a:endParaRPr sz="1190">
              <a:latin typeface="Arial"/>
              <a:ea typeface="Arial"/>
              <a:cs typeface="Arial"/>
              <a:sym typeface="Arial"/>
            </a:endParaRPr>
          </a:p>
          <a:p>
            <a:pPr indent="0" lvl="0" marL="0" rtl="0" algn="l">
              <a:lnSpc>
                <a:spcPct val="80000"/>
              </a:lnSpc>
              <a:spcBef>
                <a:spcPts val="0"/>
              </a:spcBef>
              <a:spcAft>
                <a:spcPts val="0"/>
              </a:spcAft>
              <a:buSzPts val="1400"/>
              <a:buNone/>
            </a:pPr>
            <a:r>
              <a:rPr lang="en-US" sz="1190">
                <a:latin typeface="Arial"/>
                <a:ea typeface="Arial"/>
                <a:cs typeface="Arial"/>
                <a:sym typeface="Arial"/>
              </a:rPr>
              <a:t>Specialization relationship</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Flip side of generalization relationship</a:t>
            </a:r>
            <a:endParaRPr/>
          </a:p>
          <a:p>
            <a:pPr indent="-75565" lvl="0" marL="0" rtl="0" algn="l">
              <a:lnSpc>
                <a:spcPct val="80000"/>
              </a:lnSpc>
              <a:spcBef>
                <a:spcPts val="0"/>
              </a:spcBef>
              <a:spcAft>
                <a:spcPts val="0"/>
              </a:spcAft>
              <a:buClr>
                <a:schemeClr val="dk1"/>
              </a:buClr>
              <a:buSzPts val="1190"/>
              <a:buFont typeface="Arial"/>
              <a:buChar char="•"/>
            </a:pPr>
            <a:r>
              <a:rPr lang="en-US" sz="1190">
                <a:latin typeface="Arial"/>
                <a:ea typeface="Arial"/>
                <a:cs typeface="Arial"/>
                <a:sym typeface="Arial"/>
              </a:rPr>
              <a:t>For example, an employee class can be specialized into a manager class and an engineer class</a:t>
            </a:r>
            <a:endParaRPr/>
          </a:p>
          <a:p>
            <a:pPr indent="0" lvl="0" marL="0" rtl="0" algn="l">
              <a:lnSpc>
                <a:spcPct val="80000"/>
              </a:lnSpc>
              <a:spcBef>
                <a:spcPts val="0"/>
              </a:spcBef>
              <a:spcAft>
                <a:spcPts val="0"/>
              </a:spcAft>
              <a:buSzPts val="1400"/>
              <a:buNone/>
            </a:pPr>
            <a:r>
              <a:t/>
            </a:r>
            <a:endParaRPr sz="1190">
              <a:latin typeface="Arial"/>
              <a:ea typeface="Arial"/>
              <a:cs typeface="Arial"/>
              <a:sym typeface="Arial"/>
            </a:endParaRPr>
          </a:p>
          <a:p>
            <a:pPr indent="0" lvl="0" marL="0" rtl="0" algn="l">
              <a:lnSpc>
                <a:spcPct val="80000"/>
              </a:lnSpc>
              <a:spcBef>
                <a:spcPts val="0"/>
              </a:spcBef>
              <a:spcAft>
                <a:spcPts val="0"/>
              </a:spcAft>
              <a:buSzPts val="1400"/>
              <a:buNone/>
            </a:pPr>
            <a:r>
              <a:t/>
            </a:r>
            <a:endParaRPr sz="1190">
              <a:latin typeface="Arial"/>
              <a:ea typeface="Arial"/>
              <a:cs typeface="Arial"/>
              <a:sym typeface="Arial"/>
            </a:endParaRPr>
          </a:p>
          <a:p>
            <a:pPr indent="0" lvl="0" marL="0" rtl="0" algn="l">
              <a:lnSpc>
                <a:spcPct val="80000"/>
              </a:lnSpc>
              <a:spcBef>
                <a:spcPts val="0"/>
              </a:spcBef>
              <a:spcAft>
                <a:spcPts val="0"/>
              </a:spcAft>
              <a:buSzPts val="1400"/>
              <a:buNone/>
            </a:pPr>
            <a:r>
              <a:t/>
            </a:r>
            <a:endParaRPr sz="1190">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3" name="Google Shape;52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7" name="Google Shape;53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552" name="Google Shape;552;p34:notes"/>
          <p:cNvSpPr/>
          <p:nvPr>
            <p:ph idx="2" type="sldImg"/>
          </p:nvPr>
        </p:nvSpPr>
        <p:spPr>
          <a:xfrm>
            <a:off x="1144588"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34: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SzPts val="1400"/>
              <a:buNone/>
            </a:pPr>
            <a:r>
              <a:rPr b="1" lang="en-US" sz="1295">
                <a:latin typeface="Arial"/>
                <a:ea typeface="Arial"/>
                <a:cs typeface="Arial"/>
                <a:sym typeface="Arial"/>
              </a:rPr>
              <a:t>UML notation is the arrowhead line with the arrowhead being toward the superclass</a:t>
            </a:r>
            <a:endParaRPr b="1" sz="1295">
              <a:latin typeface="Arial"/>
              <a:ea typeface="Arial"/>
              <a:cs typeface="Arial"/>
              <a:sym typeface="Arial"/>
            </a:endParaRPr>
          </a:p>
          <a:p>
            <a:pPr indent="0" lvl="0" marL="0" rtl="0" algn="l">
              <a:lnSpc>
                <a:spcPct val="80000"/>
              </a:lnSpc>
              <a:spcBef>
                <a:spcPts val="0"/>
              </a:spcBef>
              <a:spcAft>
                <a:spcPts val="0"/>
              </a:spcAft>
              <a:buSzPts val="1400"/>
              <a:buNone/>
            </a:pPr>
            <a:r>
              <a:t/>
            </a:r>
            <a:endParaRPr sz="1295">
              <a:latin typeface="Arial"/>
              <a:ea typeface="Arial"/>
              <a:cs typeface="Arial"/>
              <a:sym typeface="Arial"/>
            </a:endParaRPr>
          </a:p>
          <a:p>
            <a:pPr indent="0" lvl="0" marL="0" rtl="0" algn="l">
              <a:lnSpc>
                <a:spcPct val="80000"/>
              </a:lnSpc>
              <a:spcBef>
                <a:spcPts val="0"/>
              </a:spcBef>
              <a:spcAft>
                <a:spcPts val="0"/>
              </a:spcAft>
              <a:buSzPts val="1400"/>
              <a:buNone/>
            </a:pPr>
            <a:r>
              <a:rPr lang="en-US" sz="1295">
                <a:latin typeface="Arial"/>
                <a:ea typeface="Arial"/>
                <a:cs typeface="Arial"/>
                <a:sym typeface="Arial"/>
              </a:rPr>
              <a:t>Generalization relationships form generalization hierarchies between classes</a:t>
            </a:r>
            <a:endParaRPr/>
          </a:p>
          <a:p>
            <a:pPr indent="0" lvl="0" marL="0" rtl="0" algn="l">
              <a:lnSpc>
                <a:spcPct val="80000"/>
              </a:lnSpc>
              <a:spcBef>
                <a:spcPts val="0"/>
              </a:spcBef>
              <a:spcAft>
                <a:spcPts val="0"/>
              </a:spcAft>
              <a:buSzPts val="1400"/>
              <a:buNone/>
            </a:pPr>
            <a:r>
              <a:t/>
            </a:r>
            <a:endParaRPr sz="1295">
              <a:latin typeface="Arial"/>
              <a:ea typeface="Arial"/>
              <a:cs typeface="Arial"/>
              <a:sym typeface="Arial"/>
            </a:endParaRPr>
          </a:p>
          <a:p>
            <a:pPr indent="0" lvl="0" marL="0" rtl="0" algn="l">
              <a:lnSpc>
                <a:spcPct val="80000"/>
              </a:lnSpc>
              <a:spcBef>
                <a:spcPts val="0"/>
              </a:spcBef>
              <a:spcAft>
                <a:spcPts val="0"/>
              </a:spcAft>
              <a:buSzPts val="1400"/>
              <a:buNone/>
            </a:pPr>
            <a:r>
              <a:rPr lang="en-US" sz="1295">
                <a:latin typeface="Arial"/>
                <a:ea typeface="Arial"/>
                <a:cs typeface="Arial"/>
                <a:sym typeface="Arial"/>
              </a:rPr>
              <a:t>Inheritance</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A relationship between classes where one class is the parent class of another</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The child class inherits all of the parent’s attributes and operations</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Supports idea of reusable code</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New data types can be defined as extensions of previously defined types (rather than having to be defined from scratch)</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Example: student and undergraduate student, graduate student</a:t>
            </a:r>
            <a:endParaRPr/>
          </a:p>
          <a:p>
            <a:pPr indent="0" lvl="0" marL="0" rtl="0" algn="l">
              <a:lnSpc>
                <a:spcPct val="80000"/>
              </a:lnSpc>
              <a:spcBef>
                <a:spcPts val="0"/>
              </a:spcBef>
              <a:spcAft>
                <a:spcPts val="0"/>
              </a:spcAft>
              <a:buSzPts val="1400"/>
              <a:buNone/>
            </a:pPr>
            <a:r>
              <a:t/>
            </a:r>
            <a:endParaRPr sz="1295">
              <a:latin typeface="Arial"/>
              <a:ea typeface="Arial"/>
              <a:cs typeface="Arial"/>
              <a:sym typeface="Arial"/>
            </a:endParaRPr>
          </a:p>
          <a:p>
            <a:pPr indent="0" lvl="0" marL="0" rtl="0" algn="l">
              <a:lnSpc>
                <a:spcPct val="80000"/>
              </a:lnSpc>
              <a:spcBef>
                <a:spcPts val="0"/>
              </a:spcBef>
              <a:spcAft>
                <a:spcPts val="0"/>
              </a:spcAft>
              <a:buSzPts val="1400"/>
              <a:buNone/>
            </a:pPr>
            <a:r>
              <a:rPr lang="en-US" sz="1295">
                <a:latin typeface="Arial"/>
                <a:ea typeface="Arial"/>
                <a:cs typeface="Arial"/>
                <a:sym typeface="Arial"/>
              </a:rPr>
              <a:t>Traversal of hierarchy</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Traversal goes </a:t>
            </a:r>
            <a:r>
              <a:rPr lang="en-US" sz="1295" u="sng">
                <a:latin typeface="Arial"/>
                <a:ea typeface="Arial"/>
                <a:cs typeface="Arial"/>
                <a:sym typeface="Arial"/>
              </a:rPr>
              <a:t>up</a:t>
            </a:r>
            <a:r>
              <a:rPr lang="en-US" sz="1295">
                <a:latin typeface="Arial"/>
                <a:ea typeface="Arial"/>
                <a:cs typeface="Arial"/>
                <a:sym typeface="Arial"/>
              </a:rPr>
              <a:t> the hierarchy to find a match</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Executes the </a:t>
            </a:r>
            <a:r>
              <a:rPr lang="en-US" sz="1295" u="sng">
                <a:latin typeface="Arial"/>
                <a:ea typeface="Arial"/>
                <a:cs typeface="Arial"/>
                <a:sym typeface="Arial"/>
              </a:rPr>
              <a:t>first</a:t>
            </a:r>
            <a:r>
              <a:rPr lang="en-US" sz="1295">
                <a:latin typeface="Arial"/>
                <a:ea typeface="Arial"/>
                <a:cs typeface="Arial"/>
                <a:sym typeface="Arial"/>
              </a:rPr>
              <a:t> match that it finds</a:t>
            </a:r>
            <a:endParaRPr/>
          </a:p>
          <a:p>
            <a:pPr indent="-82232" lvl="0" marL="0" rtl="0" algn="l">
              <a:lnSpc>
                <a:spcPct val="80000"/>
              </a:lnSpc>
              <a:spcBef>
                <a:spcPts val="0"/>
              </a:spcBef>
              <a:spcAft>
                <a:spcPts val="0"/>
              </a:spcAft>
              <a:buClr>
                <a:schemeClr val="dk1"/>
              </a:buClr>
              <a:buSzPts val="1295"/>
              <a:buFont typeface="Arial"/>
              <a:buChar char="•"/>
            </a:pPr>
            <a:r>
              <a:rPr lang="en-US" sz="1295">
                <a:latin typeface="Arial"/>
                <a:ea typeface="Arial"/>
                <a:cs typeface="Arial"/>
                <a:sym typeface="Arial"/>
              </a:rPr>
              <a:t>For example, if the attribute </a:t>
            </a:r>
            <a:r>
              <a:rPr b="1" lang="en-US" sz="1295">
                <a:latin typeface="Arial"/>
                <a:ea typeface="Arial"/>
                <a:cs typeface="Arial"/>
                <a:sym typeface="Arial"/>
              </a:rPr>
              <a:t>name </a:t>
            </a:r>
            <a:r>
              <a:rPr lang="en-US" sz="1295">
                <a:latin typeface="Arial"/>
                <a:ea typeface="Arial"/>
                <a:cs typeface="Arial"/>
                <a:sym typeface="Arial"/>
              </a:rPr>
              <a:t>was used in the </a:t>
            </a:r>
            <a:r>
              <a:rPr b="1" lang="en-US" sz="1295">
                <a:latin typeface="Arial"/>
                <a:ea typeface="Arial"/>
                <a:cs typeface="Arial"/>
                <a:sym typeface="Arial"/>
              </a:rPr>
              <a:t>Engineer</a:t>
            </a:r>
            <a:r>
              <a:rPr lang="en-US" sz="1295">
                <a:latin typeface="Arial"/>
                <a:ea typeface="Arial"/>
                <a:cs typeface="Arial"/>
                <a:sym typeface="Arial"/>
              </a:rPr>
              <a:t> class but was not defined in that class, the object will traverse its hierarchy until it finds the matching attribute; same for an operation</a:t>
            </a:r>
            <a:endParaRPr b="1" sz="1295">
              <a:latin typeface="Arial"/>
              <a:ea typeface="Arial"/>
              <a:cs typeface="Arial"/>
              <a:sym typeface="Arial"/>
            </a:endParaRPr>
          </a:p>
          <a:p>
            <a:pPr indent="0" lvl="0" marL="0" rtl="0" algn="l">
              <a:lnSpc>
                <a:spcPct val="80000"/>
              </a:lnSpc>
              <a:spcBef>
                <a:spcPts val="0"/>
              </a:spcBef>
              <a:spcAft>
                <a:spcPts val="0"/>
              </a:spcAft>
              <a:buSzPts val="1400"/>
              <a:buNone/>
            </a:pPr>
            <a:r>
              <a:t/>
            </a:r>
            <a:endParaRPr sz="1295">
              <a:latin typeface="Arial"/>
              <a:ea typeface="Arial"/>
              <a:cs typeface="Arial"/>
              <a:sym typeface="Arial"/>
            </a:endParaRPr>
          </a:p>
          <a:p>
            <a:pPr indent="0" lvl="0" marL="0" rtl="0" algn="l">
              <a:lnSpc>
                <a:spcPct val="80000"/>
              </a:lnSpc>
              <a:spcBef>
                <a:spcPts val="0"/>
              </a:spcBef>
              <a:spcAft>
                <a:spcPts val="0"/>
              </a:spcAft>
              <a:buSzPts val="1400"/>
              <a:buNone/>
            </a:pPr>
            <a:r>
              <a:t/>
            </a:r>
            <a:endParaRPr sz="1295">
              <a:latin typeface="Arial"/>
              <a:ea typeface="Arial"/>
              <a:cs typeface="Arial"/>
              <a:sym typeface="Arial"/>
            </a:endParaRPr>
          </a:p>
          <a:p>
            <a:pPr indent="0" lvl="0" marL="0" rtl="0" algn="l">
              <a:lnSpc>
                <a:spcPct val="80000"/>
              </a:lnSpc>
              <a:spcBef>
                <a:spcPts val="0"/>
              </a:spcBef>
              <a:spcAft>
                <a:spcPts val="0"/>
              </a:spcAft>
              <a:buSzPts val="1400"/>
              <a:buNone/>
            </a:pPr>
            <a:r>
              <a:t/>
            </a:r>
            <a:endParaRPr sz="1295">
              <a:latin typeface="Arial"/>
              <a:ea typeface="Arial"/>
              <a:cs typeface="Arial"/>
              <a:sym typeface="Arial"/>
            </a:endParaRPr>
          </a:p>
          <a:p>
            <a:pPr indent="0" lvl="0" marL="0" rtl="0" algn="l">
              <a:lnSpc>
                <a:spcPct val="80000"/>
              </a:lnSpc>
              <a:spcBef>
                <a:spcPts val="0"/>
              </a:spcBef>
              <a:spcAft>
                <a:spcPts val="0"/>
              </a:spcAft>
              <a:buSzPts val="1400"/>
              <a:buNone/>
            </a:pPr>
            <a:r>
              <a:t/>
            </a:r>
            <a:endParaRPr sz="1295">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577" name="Google Shape;57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8" name="Google Shape;578;p35: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400"/>
              <a:buNone/>
            </a:pPr>
            <a:r>
              <a:rPr lang="en-US" sz="1400">
                <a:latin typeface="Arial"/>
                <a:ea typeface="Arial"/>
                <a:cs typeface="Arial"/>
                <a:sym typeface="Arial"/>
              </a:rPr>
              <a:t>Point out:</a:t>
            </a:r>
            <a:endParaRPr/>
          </a:p>
          <a:p>
            <a:pPr indent="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Attributes and operations/behavior of each class</a:t>
            </a:r>
            <a:endParaRPr/>
          </a:p>
          <a:p>
            <a:pPr indent="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Superclass</a:t>
            </a:r>
            <a:endParaRPr b="1" sz="1400">
              <a:latin typeface="Arial"/>
              <a:ea typeface="Arial"/>
              <a:cs typeface="Arial"/>
              <a:sym typeface="Arial"/>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Employee class</a:t>
            </a:r>
            <a:endParaRPr/>
          </a:p>
          <a:p>
            <a:pPr indent="-88900" lvl="2" marL="914400" rtl="0" algn="l">
              <a:lnSpc>
                <a:spcPct val="90000"/>
              </a:lnSpc>
              <a:spcBef>
                <a:spcPts val="0"/>
              </a:spcBef>
              <a:spcAft>
                <a:spcPts val="0"/>
              </a:spcAft>
              <a:buClr>
                <a:schemeClr val="dk1"/>
              </a:buClr>
              <a:buSzPts val="1400"/>
              <a:buFont typeface="Arial"/>
              <a:buChar char="•"/>
            </a:pPr>
            <a:r>
              <a:rPr lang="en-US" sz="1400" u="sng">
                <a:latin typeface="Arial"/>
                <a:ea typeface="Arial"/>
                <a:cs typeface="Arial"/>
                <a:sym typeface="Arial"/>
              </a:rPr>
              <a:t>Generalization</a:t>
            </a:r>
            <a:r>
              <a:rPr lang="en-US" sz="1400">
                <a:latin typeface="Arial"/>
                <a:ea typeface="Arial"/>
                <a:cs typeface="Arial"/>
                <a:sym typeface="Arial"/>
              </a:rPr>
              <a:t> that contains attributes and operations common to all subclasses</a:t>
            </a:r>
            <a:endParaRPr/>
          </a:p>
          <a:p>
            <a:pPr indent="0" lvl="0" marL="0" rtl="0" algn="l">
              <a:lnSpc>
                <a:spcPct val="90000"/>
              </a:lnSpc>
              <a:spcBef>
                <a:spcPts val="0"/>
              </a:spcBef>
              <a:spcAft>
                <a:spcPts val="0"/>
              </a:spcAft>
              <a:buClr>
                <a:schemeClr val="dk1"/>
              </a:buClr>
              <a:buSzPts val="1400"/>
              <a:buFont typeface="Arial"/>
              <a:buChar char="•"/>
            </a:pPr>
            <a:r>
              <a:rPr b="1" lang="en-US" sz="1400">
                <a:latin typeface="Arial"/>
                <a:ea typeface="Arial"/>
                <a:cs typeface="Arial"/>
                <a:sym typeface="Arial"/>
              </a:rPr>
              <a:t>Subclass</a:t>
            </a:r>
            <a:endParaRPr/>
          </a:p>
          <a:p>
            <a:pPr indent="-88900" lvl="2" marL="91440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Manger and Engineer classes</a:t>
            </a:r>
            <a:endParaRPr/>
          </a:p>
          <a:p>
            <a:pPr indent="-88900" lvl="2" marL="914400" rtl="0" algn="l">
              <a:lnSpc>
                <a:spcPct val="90000"/>
              </a:lnSpc>
              <a:spcBef>
                <a:spcPts val="0"/>
              </a:spcBef>
              <a:spcAft>
                <a:spcPts val="0"/>
              </a:spcAft>
              <a:buClr>
                <a:schemeClr val="dk1"/>
              </a:buClr>
              <a:buSzPts val="1400"/>
              <a:buFont typeface="Arial"/>
              <a:buChar char="•"/>
            </a:pPr>
            <a:r>
              <a:rPr lang="en-US" sz="1400" u="sng">
                <a:latin typeface="Arial"/>
                <a:ea typeface="Arial"/>
                <a:cs typeface="Arial"/>
                <a:sym typeface="Arial"/>
              </a:rPr>
              <a:t>Specialization</a:t>
            </a:r>
            <a:r>
              <a:rPr lang="en-US" sz="1400">
                <a:latin typeface="Arial"/>
                <a:ea typeface="Arial"/>
                <a:cs typeface="Arial"/>
                <a:sym typeface="Arial"/>
              </a:rPr>
              <a:t>s of a superclass</a:t>
            </a:r>
            <a:endParaRPr sz="1400">
              <a:latin typeface="Arial"/>
              <a:ea typeface="Arial"/>
              <a:cs typeface="Arial"/>
              <a:sym typeface="Arial"/>
            </a:endParaRPr>
          </a:p>
          <a:p>
            <a:pPr indent="0" lvl="0" marL="0" rtl="0" algn="l">
              <a:lnSpc>
                <a:spcPct val="90000"/>
              </a:lnSpc>
              <a:spcBef>
                <a:spcPts val="0"/>
              </a:spcBef>
              <a:spcAft>
                <a:spcPts val="0"/>
              </a:spcAft>
              <a:buSzPts val="1400"/>
              <a:buNone/>
            </a:pPr>
            <a:r>
              <a:t/>
            </a:r>
            <a:endParaRPr sz="1400">
              <a:latin typeface="Arial"/>
              <a:ea typeface="Arial"/>
              <a:cs typeface="Arial"/>
              <a:sym typeface="Arial"/>
            </a:endParaRPr>
          </a:p>
          <a:p>
            <a:pPr indent="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hireDate, receivePay and performWork are also part of Manager and Engineer</a:t>
            </a:r>
            <a:endParaRPr/>
          </a:p>
          <a:p>
            <a:pPr indent="0" lvl="0" marL="0" rtl="0" algn="l">
              <a:lnSpc>
                <a:spcPct val="90000"/>
              </a:lnSpc>
              <a:spcBef>
                <a:spcPts val="0"/>
              </a:spcBef>
              <a:spcAft>
                <a:spcPts val="0"/>
              </a:spcAft>
              <a:buSzPts val="1400"/>
              <a:buNone/>
            </a:pPr>
            <a:r>
              <a:t/>
            </a:r>
            <a:endParaRPr sz="1400">
              <a:latin typeface="Arial"/>
              <a:ea typeface="Arial"/>
              <a:cs typeface="Arial"/>
              <a:sym typeface="Arial"/>
            </a:endParaRPr>
          </a:p>
          <a:p>
            <a:pPr indent="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In addition to having hireDate, receivePay and performWork the class Manager also has department, bonus, hireEmployee, promoteEmployee</a:t>
            </a:r>
            <a:endParaRPr sz="1400">
              <a:latin typeface="Arial"/>
              <a:ea typeface="Arial"/>
              <a:cs typeface="Arial"/>
              <a:sym typeface="Arial"/>
            </a:endParaRPr>
          </a:p>
          <a:p>
            <a:pPr indent="0" lvl="0" marL="0" rtl="0" algn="l">
              <a:lnSpc>
                <a:spcPct val="90000"/>
              </a:lnSpc>
              <a:spcBef>
                <a:spcPts val="0"/>
              </a:spcBef>
              <a:spcAft>
                <a:spcPts val="0"/>
              </a:spcAft>
              <a:buClr>
                <a:schemeClr val="dk1"/>
              </a:buClr>
              <a:buSzPts val="1400"/>
              <a:buFont typeface="Arial"/>
              <a:buChar char="•"/>
            </a:pPr>
            <a:r>
              <a:rPr lang="en-US" sz="1400">
                <a:latin typeface="Arial"/>
                <a:ea typeface="Arial"/>
                <a:cs typeface="Arial"/>
                <a:sym typeface="Arial"/>
              </a:rPr>
              <a:t>In addition to having hireDate, receivePay and performWork the class Engineer also has certifications, analyze, and design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607" name="Google Shape;60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8" name="Google Shape;608;p36: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lang="en-US" sz="1400">
                <a:latin typeface="Arial"/>
                <a:ea typeface="Arial"/>
                <a:cs typeface="Arial"/>
                <a:sym typeface="Arial"/>
              </a:rPr>
              <a:t>Relationships in a class diagram</a:t>
            </a:r>
            <a:endParaRPr/>
          </a:p>
          <a:p>
            <a:pPr indent="-225011" lvl="0" marL="225011" rtl="0" algn="l">
              <a:lnSpc>
                <a:spcPct val="100000"/>
              </a:lnSpc>
              <a:spcBef>
                <a:spcPts val="0"/>
              </a:spcBef>
              <a:spcAft>
                <a:spcPts val="0"/>
              </a:spcAft>
              <a:buClr>
                <a:schemeClr val="dk1"/>
              </a:buClr>
              <a:buSzPts val="1400"/>
              <a:buFont typeface="Arial"/>
              <a:buChar char="•"/>
            </a:pPr>
            <a:r>
              <a:rPr b="1" lang="en-US" sz="1400">
                <a:latin typeface="Arial"/>
                <a:ea typeface="Arial"/>
                <a:cs typeface="Arial"/>
                <a:sym typeface="Arial"/>
              </a:rPr>
              <a:t>Example is read “</a:t>
            </a:r>
            <a:r>
              <a:rPr b="1" lang="en-US" sz="1400" u="sng">
                <a:latin typeface="Arial"/>
                <a:ea typeface="Arial"/>
                <a:cs typeface="Arial"/>
                <a:sym typeface="Arial"/>
              </a:rPr>
              <a:t>Exactly one</a:t>
            </a:r>
            <a:r>
              <a:rPr b="1" lang="en-US" sz="1400">
                <a:latin typeface="Arial"/>
                <a:ea typeface="Arial"/>
                <a:cs typeface="Arial"/>
                <a:sym typeface="Arial"/>
              </a:rPr>
              <a:t> patient provides </a:t>
            </a:r>
            <a:r>
              <a:rPr b="1" lang="en-US" sz="1400" u="sng">
                <a:latin typeface="Arial"/>
                <a:ea typeface="Arial"/>
                <a:cs typeface="Arial"/>
                <a:sym typeface="Arial"/>
              </a:rPr>
              <a:t>zero or one</a:t>
            </a:r>
            <a:r>
              <a:rPr b="1" lang="en-US" sz="1400">
                <a:latin typeface="Arial"/>
                <a:ea typeface="Arial"/>
                <a:cs typeface="Arial"/>
                <a:sym typeface="Arial"/>
              </a:rPr>
              <a:t> medical histories”</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Used because you may want to restrict the number of instances a class may have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625" name="Google Shape;62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 name="Google Shape;626;p37:notes"/>
          <p:cNvSpPr txBox="1"/>
          <p:nvPr>
            <p:ph idx="1" type="body"/>
          </p:nvPr>
        </p:nvSpPr>
        <p:spPr>
          <a:xfrm>
            <a:off x="914920" y="4343400"/>
            <a:ext cx="5028161" cy="4114800"/>
          </a:xfrm>
          <a:prstGeom prst="rect">
            <a:avLst/>
          </a:prstGeom>
          <a:noFill/>
          <a:ln>
            <a:noFill/>
          </a:ln>
        </p:spPr>
        <p:txBody>
          <a:bodyPr anchorCtr="0" anchor="t" bIns="45700" lIns="91425" spcFirstLastPara="1" rIns="91425" wrap="square" tIns="45700">
            <a:normAutofit/>
          </a:bodyPr>
          <a:lstStyle/>
          <a:p>
            <a:pPr indent="-225011" lvl="0" marL="225011" rtl="0" algn="l">
              <a:lnSpc>
                <a:spcPct val="100000"/>
              </a:lnSpc>
              <a:spcBef>
                <a:spcPts val="0"/>
              </a:spcBef>
              <a:spcAft>
                <a:spcPts val="0"/>
              </a:spcAft>
              <a:buSzPts val="1400"/>
              <a:buNone/>
            </a:pPr>
            <a:r>
              <a:rPr lang="en-US" sz="1400">
                <a:latin typeface="Arial"/>
                <a:ea typeface="Arial"/>
                <a:cs typeface="Arial"/>
                <a:sym typeface="Arial"/>
              </a:rPr>
              <a:t>Relationships in a class diagram</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Used because you may want to restrict the number of instances a class may have</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Zero/one or more use </a:t>
            </a:r>
            <a:r>
              <a:rPr b="1" lang="en-US" sz="1400">
                <a:latin typeface="Arial"/>
                <a:ea typeface="Arial"/>
                <a:cs typeface="Arial"/>
                <a:sym typeface="Arial"/>
              </a:rPr>
              <a:t>m</a:t>
            </a:r>
            <a:r>
              <a:rPr lang="en-US" sz="1400">
                <a:latin typeface="Arial"/>
                <a:ea typeface="Arial"/>
                <a:cs typeface="Arial"/>
                <a:sym typeface="Arial"/>
              </a:rPr>
              <a:t> or </a:t>
            </a:r>
            <a:r>
              <a:rPr lang="en-US" sz="1400" u="sng">
                <a:latin typeface="Arial"/>
                <a:ea typeface="Arial"/>
                <a:cs typeface="Arial"/>
                <a:sym typeface="Arial"/>
              </a:rPr>
              <a:t>some other variable name</a:t>
            </a:r>
            <a:r>
              <a:rPr lang="en-US" sz="1400">
                <a:latin typeface="Arial"/>
                <a:ea typeface="Arial"/>
                <a:cs typeface="Arial"/>
                <a:sym typeface="Arial"/>
              </a:rPr>
              <a:t> when there is a </a:t>
            </a:r>
            <a:r>
              <a:rPr b="1" lang="en-US" sz="1400">
                <a:latin typeface="Arial"/>
                <a:ea typeface="Arial"/>
                <a:cs typeface="Arial"/>
                <a:sym typeface="Arial"/>
              </a:rPr>
              <a:t>specific number</a:t>
            </a:r>
            <a:r>
              <a:rPr lang="en-US" sz="1400">
                <a:latin typeface="Arial"/>
                <a:ea typeface="Arial"/>
                <a:cs typeface="Arial"/>
                <a:sym typeface="Arial"/>
              </a:rPr>
              <a:t> in the problem</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Specified range 2 to 4 instances</a:t>
            </a:r>
            <a:endParaRPr/>
          </a:p>
          <a:p>
            <a:pPr indent="-225011" lvl="0" marL="225011"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Multiple, disjoint ranges 1..3, 5 == 1 to 3 or 5 instances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3b9789916b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633" name="Google Shape;633;g33b9789916b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g33b9789916b_0_0:notes"/>
          <p:cNvSpPr txBox="1"/>
          <p:nvPr>
            <p:ph idx="1" type="body"/>
          </p:nvPr>
        </p:nvSpPr>
        <p:spPr>
          <a:xfrm>
            <a:off x="914920" y="4343400"/>
            <a:ext cx="5028300" cy="4114800"/>
          </a:xfrm>
          <a:prstGeom prst="rect">
            <a:avLst/>
          </a:prstGeom>
          <a:noFill/>
          <a:ln>
            <a:noFill/>
          </a:ln>
        </p:spPr>
        <p:txBody>
          <a:bodyPr anchorCtr="0" anchor="t" bIns="45700" lIns="91425" spcFirstLastPara="1" rIns="91425" wrap="square" tIns="45700">
            <a:noAutofit/>
          </a:bodyPr>
          <a:lstStyle/>
          <a:p>
            <a:pPr indent="-225010" lvl="0" marL="225010" rtl="0" algn="l">
              <a:lnSpc>
                <a:spcPct val="100000"/>
              </a:lnSpc>
              <a:spcBef>
                <a:spcPts val="0"/>
              </a:spcBef>
              <a:spcAft>
                <a:spcPts val="0"/>
              </a:spcAft>
              <a:buSzPts val="1400"/>
              <a:buNone/>
            </a:pPr>
            <a:r>
              <a:rPr lang="en-US" sz="1400">
                <a:latin typeface="Arial"/>
                <a:ea typeface="Arial"/>
                <a:cs typeface="Arial"/>
                <a:sym typeface="Arial"/>
              </a:rPr>
              <a:t>Relationships in a class diagram</a:t>
            </a:r>
            <a:endParaRPr/>
          </a:p>
          <a:p>
            <a:pPr indent="-225010" lvl="0" marL="22501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Used because you may want to restrict the number of instances a class may have</a:t>
            </a:r>
            <a:endParaRPr/>
          </a:p>
          <a:p>
            <a:pPr indent="-225010" lvl="0" marL="22501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Zero/one or more use </a:t>
            </a:r>
            <a:r>
              <a:rPr b="1" lang="en-US" sz="1400">
                <a:latin typeface="Arial"/>
                <a:ea typeface="Arial"/>
                <a:cs typeface="Arial"/>
                <a:sym typeface="Arial"/>
              </a:rPr>
              <a:t>m</a:t>
            </a:r>
            <a:r>
              <a:rPr lang="en-US" sz="1400">
                <a:latin typeface="Arial"/>
                <a:ea typeface="Arial"/>
                <a:cs typeface="Arial"/>
                <a:sym typeface="Arial"/>
              </a:rPr>
              <a:t> or </a:t>
            </a:r>
            <a:r>
              <a:rPr lang="en-US" sz="1400" u="sng">
                <a:latin typeface="Arial"/>
                <a:ea typeface="Arial"/>
                <a:cs typeface="Arial"/>
                <a:sym typeface="Arial"/>
              </a:rPr>
              <a:t>some other variable name</a:t>
            </a:r>
            <a:r>
              <a:rPr lang="en-US" sz="1400">
                <a:latin typeface="Arial"/>
                <a:ea typeface="Arial"/>
                <a:cs typeface="Arial"/>
                <a:sym typeface="Arial"/>
              </a:rPr>
              <a:t> when there is a </a:t>
            </a:r>
            <a:r>
              <a:rPr b="1" lang="en-US" sz="1400">
                <a:latin typeface="Arial"/>
                <a:ea typeface="Arial"/>
                <a:cs typeface="Arial"/>
                <a:sym typeface="Arial"/>
              </a:rPr>
              <a:t>specific number</a:t>
            </a:r>
            <a:r>
              <a:rPr lang="en-US" sz="1400">
                <a:latin typeface="Arial"/>
                <a:ea typeface="Arial"/>
                <a:cs typeface="Arial"/>
                <a:sym typeface="Arial"/>
              </a:rPr>
              <a:t> in the problem</a:t>
            </a:r>
            <a:endParaRPr/>
          </a:p>
          <a:p>
            <a:pPr indent="-225010" lvl="0" marL="22501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Specified range 2 to 4 instances</a:t>
            </a:r>
            <a:endParaRPr/>
          </a:p>
          <a:p>
            <a:pPr indent="-225010" lvl="0" marL="225010" rtl="0" algn="l">
              <a:lnSpc>
                <a:spcPct val="100000"/>
              </a:lnSpc>
              <a:spcBef>
                <a:spcPts val="0"/>
              </a:spcBef>
              <a:spcAft>
                <a:spcPts val="0"/>
              </a:spcAft>
              <a:buClr>
                <a:schemeClr val="dk1"/>
              </a:buClr>
              <a:buSzPts val="1400"/>
              <a:buFont typeface="Arial"/>
              <a:buChar char="•"/>
            </a:pPr>
            <a:r>
              <a:rPr lang="en-US" sz="1400">
                <a:latin typeface="Arial"/>
                <a:ea typeface="Arial"/>
                <a:cs typeface="Arial"/>
                <a:sym typeface="Arial"/>
              </a:rPr>
              <a:t>Multiple, disjoint ranges 1..3, 5 == 1 to 3 or 5 instances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39"/>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9"/>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p:txBody>
      </p:sp>
      <p:sp>
        <p:nvSpPr>
          <p:cNvPr id="21" name="Google Shape;21;p39"/>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9"/>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9"/>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24" name="Google Shape;24;p39"/>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 name="Google Shape;25;p39"/>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 name="Google Shape;26;p39"/>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7" name="Google Shape;27;p39"/>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4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33" name="Google Shape;33;p4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Text" type="objAndTx">
  <p:cSld name="OBJECT_AND_TEXT">
    <p:spTree>
      <p:nvGrpSpPr>
        <p:cNvPr id="34" name="Shape 34"/>
        <p:cNvGrpSpPr/>
        <p:nvPr/>
      </p:nvGrpSpPr>
      <p:grpSpPr>
        <a:xfrm>
          <a:off x="0" y="0"/>
          <a:ext cx="0" cy="0"/>
          <a:chOff x="0" y="0"/>
          <a:chExt cx="0" cy="0"/>
        </a:xfrm>
      </p:grpSpPr>
      <p:sp>
        <p:nvSpPr>
          <p:cNvPr id="35" name="Google Shape;35;p41"/>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1"/>
          <p:cNvSpPr txBox="1"/>
          <p:nvPr>
            <p:ph idx="1" type="body"/>
          </p:nvPr>
        </p:nvSpPr>
        <p:spPr>
          <a:xfrm>
            <a:off x="685800" y="1066800"/>
            <a:ext cx="3848100" cy="48768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37" name="Google Shape;37;p41"/>
          <p:cNvSpPr txBox="1"/>
          <p:nvPr>
            <p:ph idx="2" type="body"/>
          </p:nvPr>
        </p:nvSpPr>
        <p:spPr>
          <a:xfrm>
            <a:off x="4686300" y="1066800"/>
            <a:ext cx="3848100" cy="48768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38" name="Google Shape;38;p41"/>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42"/>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44" name="Google Shape;44;p42"/>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43"/>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2"/>
              </a:buClr>
              <a:buSzPts val="3200"/>
              <a:buFont typeface="Bookman Old Style"/>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3"/>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600"/>
              </a:spcBef>
              <a:spcAft>
                <a:spcPts val="0"/>
              </a:spcAft>
              <a:buSzPts val="1520"/>
              <a:buNone/>
              <a:defRPr sz="2000">
                <a:solidFill>
                  <a:srgbClr val="888888"/>
                </a:solidFill>
              </a:defRPr>
            </a:lvl1pPr>
            <a:lvl2pPr indent="-228600" lvl="1" marL="914400" algn="l">
              <a:lnSpc>
                <a:spcPct val="100000"/>
              </a:lnSpc>
              <a:spcBef>
                <a:spcPts val="500"/>
              </a:spcBef>
              <a:spcAft>
                <a:spcPts val="0"/>
              </a:spcAft>
              <a:buSzPts val="1368"/>
              <a:buNone/>
              <a:defRPr sz="1800">
                <a:solidFill>
                  <a:srgbClr val="888888"/>
                </a:solidFill>
              </a:defRPr>
            </a:lvl2pPr>
            <a:lvl3pPr indent="-228600" lvl="2" marL="1371600" algn="l">
              <a:lnSpc>
                <a:spcPct val="100000"/>
              </a:lnSpc>
              <a:spcBef>
                <a:spcPts val="500"/>
              </a:spcBef>
              <a:spcAft>
                <a:spcPts val="0"/>
              </a:spcAft>
              <a:buSzPts val="1216"/>
              <a:buNone/>
              <a:defRPr sz="1600">
                <a:solidFill>
                  <a:srgbClr val="888888"/>
                </a:solidFill>
              </a:defRPr>
            </a:lvl3pPr>
            <a:lvl4pPr indent="-228600" lvl="3" marL="1828800" algn="l">
              <a:lnSpc>
                <a:spcPct val="100000"/>
              </a:lnSpc>
              <a:spcBef>
                <a:spcPts val="400"/>
              </a:spcBef>
              <a:spcAft>
                <a:spcPts val="0"/>
              </a:spcAft>
              <a:buSzPts val="980"/>
              <a:buNone/>
              <a:defRPr sz="1400">
                <a:solidFill>
                  <a:srgbClr val="888888"/>
                </a:solidFill>
              </a:defRPr>
            </a:lvl4pPr>
            <a:lvl5pPr indent="-228600" lvl="4" marL="2286000" algn="l">
              <a:lnSpc>
                <a:spcPct val="100000"/>
              </a:lnSpc>
              <a:spcBef>
                <a:spcPts val="300"/>
              </a:spcBef>
              <a:spcAft>
                <a:spcPts val="0"/>
              </a:spcAft>
              <a:buSzPts val="980"/>
              <a:buNone/>
              <a:defRPr sz="1400">
                <a:solidFill>
                  <a:srgbClr val="888888"/>
                </a:solidFill>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48" name="Google Shape;48;p4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3"/>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3"/>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51" name="Google Shape;51;p43"/>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52" name="Google Shape;52;p43"/>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4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58" name="Google Shape;58;p44"/>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9" name="Google Shape;59;p44"/>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45"/>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2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5"/>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63" name="Google Shape;63;p45"/>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64" name="Google Shape;64;p4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67" name="Google Shape;67;p45"/>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68" name="Google Shape;68;p45"/>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4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73" name="Google Shape;73;p46"/>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74" name="Google Shape;74;p4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47"/>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7"/>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lnSpc>
                <a:spcPct val="100000"/>
              </a:lnSpc>
              <a:spcBef>
                <a:spcPts val="1000"/>
              </a:spcBef>
              <a:spcAft>
                <a:spcPts val="0"/>
              </a:spcAft>
              <a:buSzPts val="912"/>
              <a:buNone/>
              <a:defRPr sz="1200"/>
            </a:lvl2pPr>
            <a:lvl3pPr indent="-228600" lvl="2" marL="1371600" algn="l">
              <a:lnSpc>
                <a:spcPct val="100000"/>
              </a:lnSpc>
              <a:spcBef>
                <a:spcPts val="500"/>
              </a:spcBef>
              <a:spcAft>
                <a:spcPts val="0"/>
              </a:spcAft>
              <a:buSzPts val="760"/>
              <a:buNone/>
              <a:defRPr sz="1000"/>
            </a:lvl3pPr>
            <a:lvl4pPr indent="-228600" lvl="3" marL="1828800" algn="l">
              <a:lnSpc>
                <a:spcPct val="100000"/>
              </a:lnSpc>
              <a:spcBef>
                <a:spcPts val="400"/>
              </a:spcBef>
              <a:spcAft>
                <a:spcPts val="0"/>
              </a:spcAft>
              <a:buSzPts val="630"/>
              <a:buNone/>
              <a:defRPr sz="900"/>
            </a:lvl4pPr>
            <a:lvl5pPr indent="-228600" lvl="4" marL="2286000" algn="l">
              <a:lnSpc>
                <a:spcPct val="100000"/>
              </a:lnSpc>
              <a:spcBef>
                <a:spcPts val="300"/>
              </a:spcBef>
              <a:spcAft>
                <a:spcPts val="0"/>
              </a:spcAft>
              <a:buSzPts val="630"/>
              <a:buNone/>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78" name="Google Shape;78;p4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81" name="Google Shape;81;p4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82" name="Google Shape;82;p47"/>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83" name="Google Shape;83;p4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84" name="Google Shape;84;p47"/>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48"/>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lnSpc>
                <a:spcPct val="100000"/>
              </a:lnSpc>
              <a:spcBef>
                <a:spcPts val="0"/>
              </a:spcBef>
              <a:spcAft>
                <a:spcPts val="0"/>
              </a:spcAft>
              <a:buClr>
                <a:schemeClr val="dk1"/>
              </a:buClr>
              <a:buSzPts val="2000"/>
              <a:buFont typeface="Bookman Old Style"/>
              <a:buNone/>
              <a:defRPr b="0" sz="2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48"/>
          <p:cNvSpPr/>
          <p:nvPr>
            <p:ph idx="2" type="pic"/>
          </p:nvPr>
        </p:nvSpPr>
        <p:spPr>
          <a:xfrm>
            <a:off x="457200" y="1905000"/>
            <a:ext cx="8229600" cy="4270248"/>
          </a:xfrm>
          <a:prstGeom prst="rect">
            <a:avLst/>
          </a:prstGeom>
          <a:solidFill>
            <a:schemeClr val="dk1"/>
          </a:solidFill>
          <a:ln>
            <a:noFill/>
          </a:ln>
        </p:spPr>
      </p:sp>
      <p:sp>
        <p:nvSpPr>
          <p:cNvPr id="88" name="Google Shape;88;p48"/>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600"/>
              </a:spcBef>
              <a:spcAft>
                <a:spcPts val="0"/>
              </a:spcAft>
              <a:buSzPts val="1064"/>
              <a:buFont typeface="Gill Sans"/>
              <a:buNone/>
              <a:defRPr sz="1400"/>
            </a:lvl1pPr>
            <a:lvl2pPr indent="-286512" lvl="1" marL="914400" algn="l">
              <a:lnSpc>
                <a:spcPct val="100000"/>
              </a:lnSpc>
              <a:spcBef>
                <a:spcPts val="500"/>
              </a:spcBef>
              <a:spcAft>
                <a:spcPts val="0"/>
              </a:spcAft>
              <a:buSzPts val="912"/>
              <a:buChar char="?"/>
              <a:defRPr sz="1200"/>
            </a:lvl2pPr>
            <a:lvl3pPr indent="-276860" lvl="2" marL="1371600" algn="l">
              <a:lnSpc>
                <a:spcPct val="100000"/>
              </a:lnSpc>
              <a:spcBef>
                <a:spcPts val="500"/>
              </a:spcBef>
              <a:spcAft>
                <a:spcPts val="0"/>
              </a:spcAft>
              <a:buSzPts val="760"/>
              <a:buChar char="?"/>
              <a:defRPr sz="1000"/>
            </a:lvl3pPr>
            <a:lvl4pPr indent="-268605" lvl="3" marL="1828800" algn="l">
              <a:lnSpc>
                <a:spcPct val="100000"/>
              </a:lnSpc>
              <a:spcBef>
                <a:spcPts val="400"/>
              </a:spcBef>
              <a:spcAft>
                <a:spcPts val="0"/>
              </a:spcAft>
              <a:buSzPts val="630"/>
              <a:buChar char="◻"/>
              <a:defRPr sz="900"/>
            </a:lvl4pPr>
            <a:lvl5pPr indent="-268604" lvl="4" marL="2286000" algn="l">
              <a:lnSpc>
                <a:spcPct val="100000"/>
              </a:lnSpc>
              <a:spcBef>
                <a:spcPts val="300"/>
              </a:spcBef>
              <a:spcAft>
                <a:spcPts val="0"/>
              </a:spcAft>
              <a:buSzPts val="630"/>
              <a:buChar char="◻"/>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89" name="Google Shape;89;p4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4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92" name="Google Shape;92;p4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93" name="Google Shape;93;p4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94" name="Google Shape;94;p48"/>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4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49"/>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98" name="Google Shape;98;p4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4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4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1" name="Shape 101"/>
        <p:cNvGrpSpPr/>
        <p:nvPr/>
      </p:nvGrpSpPr>
      <p:grpSpPr>
        <a:xfrm>
          <a:off x="0" y="0"/>
          <a:ext cx="0" cy="0"/>
          <a:chOff x="0" y="0"/>
          <a:chExt cx="0" cy="0"/>
        </a:xfrm>
      </p:grpSpPr>
      <p:sp>
        <p:nvSpPr>
          <p:cNvPr id="102" name="Google Shape;102;p50"/>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104" name="Google Shape;104;p5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5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5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07" name="Google Shape;107;p5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8" name="Google Shape;108;p5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cxnSp>
        <p:nvCxnSpPr>
          <p:cNvPr id="109" name="Google Shape;109;p50"/>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8"/>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lnSpc>
                <a:spcPct val="100000"/>
              </a:lnSpc>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lnSpc>
                <a:spcPct val="100000"/>
              </a:lnSpc>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lnSpc>
                <a:spcPct val="100000"/>
              </a:lnSpc>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lnSpc>
                <a:spcPct val="100000"/>
              </a:lnSpc>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lnSpc>
                <a:spcPct val="100000"/>
              </a:lnSpc>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lnSpc>
                <a:spcPct val="100000"/>
              </a:lnSpc>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lnSpc>
                <a:spcPct val="100000"/>
              </a:lnSpc>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lnSpc>
                <a:spcPct val="100000"/>
              </a:lnSpc>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lnSpc>
                <a:spcPct val="100000"/>
              </a:lnSpc>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3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3" name="Google Shape;13;p3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4" name="Google Shape;14;p3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5" name="Google Shape;15;p3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38"/>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3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fontScale="90000"/>
          </a:bodyPr>
          <a:lstStyle/>
          <a:p>
            <a:pPr indent="0" lvl="0" marL="0" rtl="0" algn="r">
              <a:lnSpc>
                <a:spcPct val="100000"/>
              </a:lnSpc>
              <a:spcBef>
                <a:spcPts val="0"/>
              </a:spcBef>
              <a:spcAft>
                <a:spcPts val="0"/>
              </a:spcAft>
              <a:buClr>
                <a:schemeClr val="dk1"/>
              </a:buClr>
              <a:buSzPct val="100000"/>
              <a:buFont typeface="Bookman Old Style"/>
              <a:buNone/>
            </a:pPr>
            <a:r>
              <a:rPr lang="en-US"/>
              <a:t>CSE 470 – Class Diagram in UML</a:t>
            </a:r>
            <a:endParaRPr/>
          </a:p>
        </p:txBody>
      </p:sp>
      <p:sp>
        <p:nvSpPr>
          <p:cNvPr id="115" name="Google Shape;115;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520"/>
              <a:buNone/>
            </a:pPr>
            <a:r>
              <a:rPr lang="en-US"/>
              <a:t>BRAC University</a:t>
            </a:r>
            <a:endParaRPr/>
          </a:p>
        </p:txBody>
      </p:sp>
      <p:pic>
        <p:nvPicPr>
          <p:cNvPr descr="software-engineering-5b4daa8bab12ae7f4848c482.jpg" id="116" name="Google Shape;116;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17" name="Google Shape;117;p1"/>
          <p:cNvPicPr preferRelativeResize="0"/>
          <p:nvPr/>
        </p:nvPicPr>
        <p:blipFill rotWithShape="1">
          <a:blip r:embed="rId4">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What is a Class?</a:t>
            </a:r>
            <a:endParaRPr/>
          </a:p>
        </p:txBody>
      </p:sp>
      <p:sp>
        <p:nvSpPr>
          <p:cNvPr id="124" name="Google Shape;124;p2"/>
          <p:cNvSpPr txBox="1"/>
          <p:nvPr>
            <p:ph idx="1" type="body"/>
          </p:nvPr>
        </p:nvSpPr>
        <p:spPr>
          <a:xfrm>
            <a:off x="381000" y="1676400"/>
            <a:ext cx="8382000" cy="4953000"/>
          </a:xfrm>
          <a:prstGeom prst="rect">
            <a:avLst/>
          </a:prstGeom>
          <a:noFill/>
          <a:ln>
            <a:noFill/>
          </a:ln>
        </p:spPr>
        <p:txBody>
          <a:bodyPr anchorCtr="0" anchor="t" bIns="45700" lIns="91425" spcFirstLastPara="1" rIns="91425" wrap="square" tIns="45700">
            <a:normAutofit/>
          </a:bodyPr>
          <a:lstStyle/>
          <a:p>
            <a:pPr indent="-465138" lvl="0" marL="465138" rtl="0" algn="l">
              <a:lnSpc>
                <a:spcPct val="100000"/>
              </a:lnSpc>
              <a:spcBef>
                <a:spcPts val="0"/>
              </a:spcBef>
              <a:spcAft>
                <a:spcPts val="0"/>
              </a:spcAft>
              <a:buSzPts val="2736"/>
              <a:buChar char="?"/>
            </a:pPr>
            <a:r>
              <a:rPr lang="en-US" sz="3600"/>
              <a:t>A general template that we use to create specific instances or objects in the application domain</a:t>
            </a:r>
            <a:endParaRPr/>
          </a:p>
          <a:p>
            <a:pPr indent="-465138" lvl="0" marL="465138" rtl="0" algn="l">
              <a:lnSpc>
                <a:spcPct val="100000"/>
              </a:lnSpc>
              <a:spcBef>
                <a:spcPts val="600"/>
              </a:spcBef>
              <a:spcAft>
                <a:spcPts val="0"/>
              </a:spcAft>
              <a:buSzPts val="2736"/>
              <a:buChar char="?"/>
            </a:pPr>
            <a:r>
              <a:rPr lang="en-US" sz="3600"/>
              <a:t>Represents a kind of person, place, or thing about which</a:t>
            </a:r>
            <a:r>
              <a:rPr lang="en-US" sz="3600">
                <a:solidFill>
                  <a:srgbClr val="0000FF"/>
                </a:solidFill>
              </a:rPr>
              <a:t> the system will need to capture and store information</a:t>
            </a:r>
            <a:endParaRPr>
              <a:solidFill>
                <a:srgbClr val="0000FF"/>
              </a:solidFill>
            </a:endParaRPr>
          </a:p>
          <a:p>
            <a:pPr indent="-465138" lvl="0" marL="465138" rtl="0" algn="l">
              <a:lnSpc>
                <a:spcPct val="100000"/>
              </a:lnSpc>
              <a:spcBef>
                <a:spcPts val="600"/>
              </a:spcBef>
              <a:spcAft>
                <a:spcPts val="0"/>
              </a:spcAft>
              <a:buSzPts val="2736"/>
              <a:buChar char="?"/>
            </a:pPr>
            <a:r>
              <a:rPr lang="en-US" sz="3600"/>
              <a:t>Abstractions that specify the attributes and behaviors of a set of objects</a:t>
            </a:r>
            <a:endParaRPr/>
          </a:p>
        </p:txBody>
      </p:sp>
      <p:pic>
        <p:nvPicPr>
          <p:cNvPr descr="brac.png" id="125" name="Google Shape;125;p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What is an Object?</a:t>
            </a:r>
            <a:endParaRPr/>
          </a:p>
        </p:txBody>
      </p:sp>
      <p:sp>
        <p:nvSpPr>
          <p:cNvPr id="132" name="Google Shape;132;p3"/>
          <p:cNvSpPr txBox="1"/>
          <p:nvPr>
            <p:ph idx="1" type="body"/>
          </p:nvPr>
        </p:nvSpPr>
        <p:spPr>
          <a:xfrm>
            <a:off x="381000" y="1752600"/>
            <a:ext cx="8382000" cy="4114800"/>
          </a:xfrm>
          <a:prstGeom prst="rect">
            <a:avLst/>
          </a:prstGeom>
          <a:noFill/>
          <a:ln>
            <a:noFill/>
          </a:ln>
        </p:spPr>
        <p:txBody>
          <a:bodyPr anchorCtr="0" anchor="t" bIns="45700" lIns="91425" spcFirstLastPara="1" rIns="91425" wrap="square" tIns="45700">
            <a:normAutofit/>
          </a:bodyPr>
          <a:lstStyle/>
          <a:p>
            <a:pPr indent="-465138" lvl="0" marL="465138" rtl="0" algn="l">
              <a:lnSpc>
                <a:spcPct val="100000"/>
              </a:lnSpc>
              <a:spcBef>
                <a:spcPts val="0"/>
              </a:spcBef>
              <a:spcAft>
                <a:spcPts val="0"/>
              </a:spcAft>
              <a:buSzPts val="2736"/>
              <a:buChar char="?"/>
            </a:pPr>
            <a:r>
              <a:rPr lang="en-US" sz="3600"/>
              <a:t>Entities that encapsulate state(</a:t>
            </a:r>
            <a:r>
              <a:rPr lang="en-US" sz="3600">
                <a:solidFill>
                  <a:srgbClr val="0000FF"/>
                </a:solidFill>
              </a:rPr>
              <a:t>attributes</a:t>
            </a:r>
            <a:r>
              <a:rPr lang="en-US" sz="3600"/>
              <a:t>) and behavior(</a:t>
            </a:r>
            <a:r>
              <a:rPr lang="en-US" sz="3600">
                <a:solidFill>
                  <a:srgbClr val="0000FF"/>
                </a:solidFill>
              </a:rPr>
              <a:t>methods</a:t>
            </a:r>
            <a:r>
              <a:rPr lang="en-US" sz="3600"/>
              <a:t>)</a:t>
            </a:r>
            <a:endParaRPr/>
          </a:p>
          <a:p>
            <a:pPr indent="-465138" lvl="0" marL="465138" rtl="0" algn="l">
              <a:lnSpc>
                <a:spcPct val="100000"/>
              </a:lnSpc>
              <a:spcBef>
                <a:spcPts val="600"/>
              </a:spcBef>
              <a:spcAft>
                <a:spcPts val="0"/>
              </a:spcAft>
              <a:buSzPts val="2736"/>
              <a:buChar char="?"/>
            </a:pPr>
            <a:r>
              <a:rPr lang="en-US" sz="3600"/>
              <a:t>Each object has an identity</a:t>
            </a:r>
            <a:endParaRPr/>
          </a:p>
          <a:p>
            <a:pPr indent="-455613" lvl="1" marL="1035050" rtl="0" algn="l">
              <a:lnSpc>
                <a:spcPct val="100000"/>
              </a:lnSpc>
              <a:spcBef>
                <a:spcPts val="500"/>
              </a:spcBef>
              <a:spcAft>
                <a:spcPts val="0"/>
              </a:spcAft>
              <a:buSzPts val="2432"/>
              <a:buChar char="?"/>
            </a:pPr>
            <a:r>
              <a:rPr lang="en-US" sz="3200"/>
              <a:t>It can be referred individually </a:t>
            </a:r>
            <a:endParaRPr/>
          </a:p>
          <a:p>
            <a:pPr indent="-455613" lvl="1" marL="1035050" rtl="0" algn="l">
              <a:lnSpc>
                <a:spcPct val="100000"/>
              </a:lnSpc>
              <a:spcBef>
                <a:spcPts val="500"/>
              </a:spcBef>
              <a:spcAft>
                <a:spcPts val="0"/>
              </a:spcAft>
              <a:buSzPts val="2432"/>
              <a:buChar char="?"/>
            </a:pPr>
            <a:r>
              <a:rPr lang="en-US" sz="3200"/>
              <a:t>It is distinguishable from other objects (</a:t>
            </a:r>
            <a:r>
              <a:rPr lang="en-US" sz="3200">
                <a:solidFill>
                  <a:srgbClr val="0000FF"/>
                </a:solidFill>
              </a:rPr>
              <a:t>separate memory location for each object</a:t>
            </a:r>
            <a:r>
              <a:rPr lang="en-US" sz="3200"/>
              <a:t>)</a:t>
            </a:r>
            <a:endParaRPr/>
          </a:p>
        </p:txBody>
      </p:sp>
      <p:pic>
        <p:nvPicPr>
          <p:cNvPr descr="brac.png" id="133" name="Google Shape;133;p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type="title"/>
          </p:nvPr>
        </p:nvSpPr>
        <p:spPr>
          <a:xfrm>
            <a:off x="457200" y="274638"/>
            <a:ext cx="8382000" cy="8683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Types of Classes</a:t>
            </a:r>
            <a:endParaRPr sz="4000"/>
          </a:p>
        </p:txBody>
      </p:sp>
      <p:sp>
        <p:nvSpPr>
          <p:cNvPr id="140" name="Google Shape;140;p4"/>
          <p:cNvSpPr txBox="1"/>
          <p:nvPr>
            <p:ph idx="1" type="body"/>
          </p:nvPr>
        </p:nvSpPr>
        <p:spPr>
          <a:xfrm>
            <a:off x="457200" y="1371600"/>
            <a:ext cx="8382000" cy="434340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736"/>
              <a:buChar char="?"/>
            </a:pPr>
            <a:r>
              <a:rPr lang="en-US" sz="3600"/>
              <a:t>Ones found during analysis:</a:t>
            </a:r>
            <a:endParaRPr/>
          </a:p>
          <a:p>
            <a:pPr indent="-274319" lvl="1" marL="548640" rtl="0" algn="l">
              <a:lnSpc>
                <a:spcPct val="100000"/>
              </a:lnSpc>
              <a:spcBef>
                <a:spcPts val="500"/>
              </a:spcBef>
              <a:spcAft>
                <a:spcPts val="0"/>
              </a:spcAft>
              <a:buSzPts val="2432"/>
              <a:buChar char="?"/>
            </a:pPr>
            <a:r>
              <a:rPr lang="en-US" sz="3200"/>
              <a:t>people, places, events, and things about which the system will capture information</a:t>
            </a:r>
            <a:endParaRPr/>
          </a:p>
          <a:p>
            <a:pPr indent="-274319" lvl="1" marL="548640" rtl="0" algn="l">
              <a:lnSpc>
                <a:spcPct val="100000"/>
              </a:lnSpc>
              <a:spcBef>
                <a:spcPts val="500"/>
              </a:spcBef>
              <a:spcAft>
                <a:spcPts val="0"/>
              </a:spcAft>
              <a:buSzPts val="2432"/>
              <a:buChar char="?"/>
            </a:pPr>
            <a:r>
              <a:rPr lang="en-US" sz="3200"/>
              <a:t>ones found in application domain (Software usage in reality)</a:t>
            </a:r>
            <a:endParaRPr/>
          </a:p>
          <a:p>
            <a:pPr indent="-274320" lvl="0" marL="274320" rtl="0" algn="l">
              <a:lnSpc>
                <a:spcPct val="100000"/>
              </a:lnSpc>
              <a:spcBef>
                <a:spcPts val="600"/>
              </a:spcBef>
              <a:spcAft>
                <a:spcPts val="0"/>
              </a:spcAft>
              <a:buSzPts val="2736"/>
              <a:buChar char="?"/>
            </a:pPr>
            <a:r>
              <a:rPr lang="en-US" sz="3600"/>
              <a:t>Ones found during design</a:t>
            </a:r>
            <a:endParaRPr/>
          </a:p>
          <a:p>
            <a:pPr indent="-274319" lvl="1" marL="548640" rtl="0" algn="l">
              <a:lnSpc>
                <a:spcPct val="100000"/>
              </a:lnSpc>
              <a:spcBef>
                <a:spcPts val="500"/>
              </a:spcBef>
              <a:spcAft>
                <a:spcPts val="0"/>
              </a:spcAft>
              <a:buSzPts val="2432"/>
              <a:buChar char="?"/>
            </a:pPr>
            <a:r>
              <a:rPr lang="en-US" sz="3200"/>
              <a:t>specific objects like windows and forms that are used to build the system</a:t>
            </a:r>
            <a:endParaRPr/>
          </a:p>
        </p:txBody>
      </p:sp>
      <p:pic>
        <p:nvPicPr>
          <p:cNvPr descr="brac.png" id="141" name="Google Shape;141;p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ph type="title"/>
          </p:nvPr>
        </p:nvSpPr>
        <p:spPr>
          <a:xfrm>
            <a:off x="457200" y="274638"/>
            <a:ext cx="8229600" cy="8683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Potential Classes</a:t>
            </a:r>
            <a:endParaRPr/>
          </a:p>
        </p:txBody>
      </p:sp>
      <p:sp>
        <p:nvSpPr>
          <p:cNvPr id="147" name="Google Shape;147;p5"/>
          <p:cNvSpPr txBox="1"/>
          <p:nvPr>
            <p:ph idx="1" type="body"/>
          </p:nvPr>
        </p:nvSpPr>
        <p:spPr>
          <a:xfrm>
            <a:off x="457200" y="1143000"/>
            <a:ext cx="8229600" cy="5440363"/>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596"/>
              <a:buChar char="?"/>
            </a:pPr>
            <a:r>
              <a:rPr i="1" lang="en-US" sz="2100"/>
              <a:t>External entities </a:t>
            </a:r>
            <a:r>
              <a:rPr lang="en-US" sz="2100"/>
              <a:t>(e.g., other systems, devices, people) that produce or consume information to be used by a computer-based system.</a:t>
            </a:r>
            <a:endParaRPr/>
          </a:p>
          <a:p>
            <a:pPr indent="-274320" lvl="0" marL="274320" rtl="0" algn="l">
              <a:lnSpc>
                <a:spcPct val="100000"/>
              </a:lnSpc>
              <a:spcBef>
                <a:spcPts val="600"/>
              </a:spcBef>
              <a:spcAft>
                <a:spcPts val="0"/>
              </a:spcAft>
              <a:buSzPts val="1596"/>
              <a:buChar char="?"/>
            </a:pPr>
            <a:r>
              <a:rPr i="1" lang="en-US" sz="2100"/>
              <a:t>Things </a:t>
            </a:r>
            <a:r>
              <a:rPr lang="en-US" sz="2100"/>
              <a:t>(e.g., reports, displays, letters, signals) that are part of the information domain for the problem.</a:t>
            </a:r>
            <a:endParaRPr/>
          </a:p>
          <a:p>
            <a:pPr indent="-274320" lvl="0" marL="274320" rtl="0" algn="l">
              <a:lnSpc>
                <a:spcPct val="100000"/>
              </a:lnSpc>
              <a:spcBef>
                <a:spcPts val="600"/>
              </a:spcBef>
              <a:spcAft>
                <a:spcPts val="0"/>
              </a:spcAft>
              <a:buSzPts val="1596"/>
              <a:buChar char="?"/>
            </a:pPr>
            <a:r>
              <a:rPr i="1" lang="en-US" sz="2100"/>
              <a:t>Occurrences or events </a:t>
            </a:r>
            <a:r>
              <a:rPr lang="en-US" sz="2100"/>
              <a:t>(e.g., a property transfer or the completion of a series of robot movements) that occur within the context of system operation.</a:t>
            </a:r>
            <a:endParaRPr/>
          </a:p>
          <a:p>
            <a:pPr indent="-274320" lvl="0" marL="274320" rtl="0" algn="l">
              <a:lnSpc>
                <a:spcPct val="100000"/>
              </a:lnSpc>
              <a:spcBef>
                <a:spcPts val="600"/>
              </a:spcBef>
              <a:spcAft>
                <a:spcPts val="0"/>
              </a:spcAft>
              <a:buSzPts val="1596"/>
              <a:buChar char="?"/>
            </a:pPr>
            <a:r>
              <a:rPr i="1" lang="en-US" sz="2100"/>
              <a:t>Roles </a:t>
            </a:r>
            <a:r>
              <a:rPr lang="en-US" sz="2100"/>
              <a:t>(e.g., manager, engineer, salesperson) played by people who interact with the system.</a:t>
            </a:r>
            <a:endParaRPr/>
          </a:p>
          <a:p>
            <a:pPr indent="-274320" lvl="0" marL="274320" rtl="0" algn="l">
              <a:lnSpc>
                <a:spcPct val="100000"/>
              </a:lnSpc>
              <a:spcBef>
                <a:spcPts val="600"/>
              </a:spcBef>
              <a:spcAft>
                <a:spcPts val="0"/>
              </a:spcAft>
              <a:buSzPts val="1596"/>
              <a:buChar char="?"/>
            </a:pPr>
            <a:r>
              <a:rPr i="1" lang="en-US" sz="2100"/>
              <a:t>Organizational units </a:t>
            </a:r>
            <a:r>
              <a:rPr lang="en-US" sz="2100"/>
              <a:t>(e.g., division, group, team) that are relevant to an application.</a:t>
            </a:r>
            <a:endParaRPr/>
          </a:p>
          <a:p>
            <a:pPr indent="-274320" lvl="0" marL="274320" rtl="0" algn="l">
              <a:lnSpc>
                <a:spcPct val="100000"/>
              </a:lnSpc>
              <a:spcBef>
                <a:spcPts val="600"/>
              </a:spcBef>
              <a:spcAft>
                <a:spcPts val="0"/>
              </a:spcAft>
              <a:buSzPts val="1596"/>
              <a:buChar char="?"/>
            </a:pPr>
            <a:r>
              <a:rPr i="1" lang="en-US" sz="2100"/>
              <a:t>Places </a:t>
            </a:r>
            <a:r>
              <a:rPr lang="en-US" sz="2100"/>
              <a:t>(e.g., manufacturing floor or loading dock) that establish the context of the problem and the overall function of the system.</a:t>
            </a:r>
            <a:endParaRPr/>
          </a:p>
          <a:p>
            <a:pPr indent="-274320" lvl="0" marL="274320" rtl="0" algn="l">
              <a:lnSpc>
                <a:spcPct val="100000"/>
              </a:lnSpc>
              <a:spcBef>
                <a:spcPts val="600"/>
              </a:spcBef>
              <a:spcAft>
                <a:spcPts val="0"/>
              </a:spcAft>
              <a:buSzPts val="1596"/>
              <a:buChar char="?"/>
            </a:pPr>
            <a:r>
              <a:rPr i="1" lang="en-US" sz="2100"/>
              <a:t>Structures </a:t>
            </a:r>
            <a:r>
              <a:rPr lang="en-US" sz="2100"/>
              <a:t>(e.g., sensors, four-wheeled vehicles, or computers) that define a class of objects or related classes of objects.</a:t>
            </a:r>
            <a:endParaRPr sz="2100"/>
          </a:p>
        </p:txBody>
      </p:sp>
      <p:pic>
        <p:nvPicPr>
          <p:cNvPr descr="brac.png" id="148" name="Google Shape;148;p5"/>
          <p:cNvPicPr preferRelativeResize="0"/>
          <p:nvPr/>
        </p:nvPicPr>
        <p:blipFill rotWithShape="1">
          <a:blip r:embed="rId3">
            <a:alphaModFix/>
          </a:blip>
          <a:srcRect b="0" l="0" r="0" t="0"/>
          <a:stretch/>
        </p:blipFill>
        <p:spPr>
          <a:xfrm>
            <a:off x="8171521" y="5989650"/>
            <a:ext cx="972479" cy="868350"/>
          </a:xfrm>
          <a:prstGeom prst="rect">
            <a:avLst/>
          </a:prstGeom>
          <a:noFill/>
          <a:ln>
            <a:noFill/>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152400" y="152400"/>
            <a:ext cx="8991600" cy="914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2 Kinds of Classes during Analysis</a:t>
            </a:r>
            <a:endParaRPr sz="4000"/>
          </a:p>
        </p:txBody>
      </p:sp>
      <p:sp>
        <p:nvSpPr>
          <p:cNvPr id="155" name="Google Shape;155;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465138" lvl="0" marL="465138" rtl="0" algn="l">
              <a:lnSpc>
                <a:spcPct val="100000"/>
              </a:lnSpc>
              <a:spcBef>
                <a:spcPts val="0"/>
              </a:spcBef>
              <a:spcAft>
                <a:spcPts val="0"/>
              </a:spcAft>
              <a:buSzPts val="2736"/>
              <a:buChar char="?"/>
            </a:pPr>
            <a:r>
              <a:rPr lang="en-US" sz="3600"/>
              <a:t>Concrete</a:t>
            </a:r>
            <a:endParaRPr/>
          </a:p>
          <a:p>
            <a:pPr indent="-455613" lvl="1" marL="1035050" rtl="0" algn="l">
              <a:lnSpc>
                <a:spcPct val="100000"/>
              </a:lnSpc>
              <a:spcBef>
                <a:spcPts val="500"/>
              </a:spcBef>
              <a:spcAft>
                <a:spcPts val="0"/>
              </a:spcAft>
              <a:buSzPts val="2432"/>
              <a:buChar char="?"/>
            </a:pPr>
            <a:r>
              <a:rPr lang="en-US" sz="3200"/>
              <a:t>Class from application domain</a:t>
            </a:r>
            <a:endParaRPr/>
          </a:p>
          <a:p>
            <a:pPr indent="-455613" lvl="1" marL="1035050" rtl="0" algn="l">
              <a:lnSpc>
                <a:spcPct val="100000"/>
              </a:lnSpc>
              <a:spcBef>
                <a:spcPts val="500"/>
              </a:spcBef>
              <a:spcAft>
                <a:spcPts val="0"/>
              </a:spcAft>
              <a:buSzPts val="2432"/>
              <a:buChar char="?"/>
            </a:pPr>
            <a:r>
              <a:rPr lang="en-US" sz="3200"/>
              <a:t>Example:  Customer class and Employee class</a:t>
            </a:r>
            <a:endParaRPr/>
          </a:p>
          <a:p>
            <a:pPr indent="-465138" lvl="0" marL="465138" rtl="0" algn="l">
              <a:lnSpc>
                <a:spcPct val="100000"/>
              </a:lnSpc>
              <a:spcBef>
                <a:spcPts val="600"/>
              </a:spcBef>
              <a:spcAft>
                <a:spcPts val="0"/>
              </a:spcAft>
              <a:buSzPts val="2736"/>
              <a:buChar char="?"/>
            </a:pPr>
            <a:r>
              <a:rPr lang="en-US" sz="3600"/>
              <a:t>Abstract</a:t>
            </a:r>
            <a:endParaRPr/>
          </a:p>
          <a:p>
            <a:pPr indent="-455613" lvl="1" marL="1035050" rtl="0" algn="l">
              <a:lnSpc>
                <a:spcPct val="100000"/>
              </a:lnSpc>
              <a:spcBef>
                <a:spcPts val="500"/>
              </a:spcBef>
              <a:spcAft>
                <a:spcPts val="0"/>
              </a:spcAft>
              <a:buSzPts val="2432"/>
              <a:buChar char="?"/>
            </a:pPr>
            <a:r>
              <a:rPr lang="en-US" sz="3200"/>
              <a:t>Useful abstractions</a:t>
            </a:r>
            <a:endParaRPr/>
          </a:p>
          <a:p>
            <a:pPr indent="-455613" lvl="1" marL="1035050" rtl="0" algn="l">
              <a:lnSpc>
                <a:spcPct val="100000"/>
              </a:lnSpc>
              <a:spcBef>
                <a:spcPts val="500"/>
              </a:spcBef>
              <a:spcAft>
                <a:spcPts val="0"/>
              </a:spcAft>
              <a:buSzPts val="2432"/>
              <a:buChar char="?"/>
            </a:pPr>
            <a:r>
              <a:rPr lang="en-US" sz="3200"/>
              <a:t>Example:  Person class</a:t>
            </a:r>
            <a:endParaRPr/>
          </a:p>
        </p:txBody>
      </p:sp>
      <p:pic>
        <p:nvPicPr>
          <p:cNvPr descr="brac.png" id="156" name="Google Shape;156;p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162" name="Google Shape;162;p7"/>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Classes</a:t>
            </a:r>
            <a:endParaRPr/>
          </a:p>
        </p:txBody>
      </p:sp>
      <p:grpSp>
        <p:nvGrpSpPr>
          <p:cNvPr id="163" name="Google Shape;163;p7"/>
          <p:cNvGrpSpPr/>
          <p:nvPr/>
        </p:nvGrpSpPr>
        <p:grpSpPr>
          <a:xfrm>
            <a:off x="685800" y="1676400"/>
            <a:ext cx="2057400" cy="2571750"/>
            <a:chOff x="576" y="1056"/>
            <a:chExt cx="1296" cy="1620"/>
          </a:xfrm>
        </p:grpSpPr>
        <p:sp>
          <p:nvSpPr>
            <p:cNvPr id="164" name="Google Shape;164;p7"/>
            <p:cNvSpPr/>
            <p:nvPr/>
          </p:nvSpPr>
          <p:spPr>
            <a:xfrm>
              <a:off x="576" y="1056"/>
              <a:ext cx="1296" cy="48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ClassName</a:t>
              </a:r>
              <a:endParaRPr b="0" i="0" sz="1400" u="none" cap="none" strike="noStrike">
                <a:solidFill>
                  <a:srgbClr val="000000"/>
                </a:solidFill>
                <a:latin typeface="Arial"/>
                <a:ea typeface="Arial"/>
                <a:cs typeface="Arial"/>
                <a:sym typeface="Arial"/>
              </a:endParaRPr>
            </a:p>
          </p:txBody>
        </p:sp>
        <p:sp>
          <p:nvSpPr>
            <p:cNvPr id="165" name="Google Shape;165;p7"/>
            <p:cNvSpPr/>
            <p:nvPr/>
          </p:nvSpPr>
          <p:spPr>
            <a:xfrm>
              <a:off x="576" y="1536"/>
              <a:ext cx="1296" cy="54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attributes</a:t>
              </a:r>
              <a:endParaRPr b="0" i="0" sz="1400" u="none" cap="none" strike="noStrike">
                <a:solidFill>
                  <a:srgbClr val="000000"/>
                </a:solidFill>
                <a:latin typeface="Arial"/>
                <a:ea typeface="Arial"/>
                <a:cs typeface="Arial"/>
                <a:sym typeface="Arial"/>
              </a:endParaRPr>
            </a:p>
          </p:txBody>
        </p:sp>
        <p:sp>
          <p:nvSpPr>
            <p:cNvPr id="166" name="Google Shape;166;p7"/>
            <p:cNvSpPr/>
            <p:nvPr/>
          </p:nvSpPr>
          <p:spPr>
            <a:xfrm>
              <a:off x="576" y="2076"/>
              <a:ext cx="1296" cy="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operations</a:t>
              </a:r>
              <a:endParaRPr b="0" i="0" sz="1400" u="none" cap="none" strike="noStrike">
                <a:solidFill>
                  <a:srgbClr val="000000"/>
                </a:solidFill>
                <a:latin typeface="Arial"/>
                <a:ea typeface="Arial"/>
                <a:cs typeface="Arial"/>
                <a:sym typeface="Arial"/>
              </a:endParaRPr>
            </a:p>
          </p:txBody>
        </p:sp>
      </p:grpSp>
      <p:sp>
        <p:nvSpPr>
          <p:cNvPr id="167" name="Google Shape;167;p7"/>
          <p:cNvSpPr txBox="1"/>
          <p:nvPr/>
        </p:nvSpPr>
        <p:spPr>
          <a:xfrm>
            <a:off x="3352800" y="1412875"/>
            <a:ext cx="5546725"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A </a:t>
            </a:r>
            <a:r>
              <a:rPr b="0" i="1" lang="en-US" sz="2400" u="none" cap="none" strike="noStrike">
                <a:solidFill>
                  <a:schemeClr val="dk1"/>
                </a:solidFill>
                <a:latin typeface="Gill Sans"/>
                <a:ea typeface="Gill Sans"/>
                <a:cs typeface="Gill Sans"/>
                <a:sym typeface="Gill Sans"/>
              </a:rPr>
              <a:t>class</a:t>
            </a:r>
            <a:r>
              <a:rPr b="0" i="0" lang="en-US" sz="2400" u="none" cap="none" strike="noStrike">
                <a:solidFill>
                  <a:schemeClr val="dk1"/>
                </a:solidFill>
                <a:latin typeface="Gill Sans"/>
                <a:ea typeface="Gill Sans"/>
                <a:cs typeface="Gill Sans"/>
                <a:sym typeface="Gill Sans"/>
              </a:rPr>
              <a:t> is a description of a set of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objects that share the same attributes,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operations, relationships, and semantics.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Graphically, a class is rendered as 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rectangle, usually including its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attributes, and operations in separate,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designated compartments. </a:t>
            </a:r>
            <a:endParaRPr b="0" i="0" sz="1400" u="none" cap="none" strike="noStrike">
              <a:solidFill>
                <a:srgbClr val="000000"/>
              </a:solidFill>
              <a:latin typeface="Arial"/>
              <a:ea typeface="Arial"/>
              <a:cs typeface="Arial"/>
              <a:sym typeface="Arial"/>
            </a:endParaRPr>
          </a:p>
        </p:txBody>
      </p:sp>
      <p:pic>
        <p:nvPicPr>
          <p:cNvPr descr="brac.png" id="168" name="Google Shape;168;p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8"/>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174" name="Google Shape;174;p8"/>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Class Names</a:t>
            </a:r>
            <a:endParaRPr/>
          </a:p>
        </p:txBody>
      </p:sp>
      <p:grpSp>
        <p:nvGrpSpPr>
          <p:cNvPr id="175" name="Google Shape;175;p8"/>
          <p:cNvGrpSpPr/>
          <p:nvPr/>
        </p:nvGrpSpPr>
        <p:grpSpPr>
          <a:xfrm>
            <a:off x="685800" y="1676400"/>
            <a:ext cx="2057400" cy="2571750"/>
            <a:chOff x="576" y="1056"/>
            <a:chExt cx="1296" cy="1620"/>
          </a:xfrm>
        </p:grpSpPr>
        <p:sp>
          <p:nvSpPr>
            <p:cNvPr id="176" name="Google Shape;176;p8"/>
            <p:cNvSpPr/>
            <p:nvPr/>
          </p:nvSpPr>
          <p:spPr>
            <a:xfrm>
              <a:off x="576" y="1056"/>
              <a:ext cx="1296" cy="48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ClassName</a:t>
              </a:r>
              <a:endParaRPr b="0" i="0" sz="1400" u="none" cap="none" strike="noStrike">
                <a:solidFill>
                  <a:srgbClr val="000000"/>
                </a:solidFill>
                <a:latin typeface="Arial"/>
                <a:ea typeface="Arial"/>
                <a:cs typeface="Arial"/>
                <a:sym typeface="Arial"/>
              </a:endParaRPr>
            </a:p>
          </p:txBody>
        </p:sp>
        <p:sp>
          <p:nvSpPr>
            <p:cNvPr id="177" name="Google Shape;177;p8"/>
            <p:cNvSpPr/>
            <p:nvPr/>
          </p:nvSpPr>
          <p:spPr>
            <a:xfrm>
              <a:off x="576" y="1536"/>
              <a:ext cx="1296" cy="54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attributes</a:t>
              </a:r>
              <a:endParaRPr b="0" i="0" sz="1400" u="none" cap="none" strike="noStrike">
                <a:solidFill>
                  <a:srgbClr val="000000"/>
                </a:solidFill>
                <a:latin typeface="Arial"/>
                <a:ea typeface="Arial"/>
                <a:cs typeface="Arial"/>
                <a:sym typeface="Arial"/>
              </a:endParaRPr>
            </a:p>
          </p:txBody>
        </p:sp>
        <p:sp>
          <p:nvSpPr>
            <p:cNvPr id="178" name="Google Shape;178;p8"/>
            <p:cNvSpPr/>
            <p:nvPr/>
          </p:nvSpPr>
          <p:spPr>
            <a:xfrm>
              <a:off x="576" y="2076"/>
              <a:ext cx="1296" cy="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operations</a:t>
              </a:r>
              <a:endParaRPr b="0" i="0" sz="1400" u="none" cap="none" strike="noStrike">
                <a:solidFill>
                  <a:srgbClr val="000000"/>
                </a:solidFill>
                <a:latin typeface="Arial"/>
                <a:ea typeface="Arial"/>
                <a:cs typeface="Arial"/>
                <a:sym typeface="Arial"/>
              </a:endParaRPr>
            </a:p>
          </p:txBody>
        </p:sp>
      </p:grpSp>
      <p:sp>
        <p:nvSpPr>
          <p:cNvPr id="179" name="Google Shape;179;p8"/>
          <p:cNvSpPr txBox="1"/>
          <p:nvPr/>
        </p:nvSpPr>
        <p:spPr>
          <a:xfrm>
            <a:off x="3352800" y="1600200"/>
            <a:ext cx="5486400"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The name of the class is the only required tag in the graphical representation of a class.  It always appears in the top-most compartment.</a:t>
            </a:r>
            <a:endParaRPr b="0" i="0" sz="1400" u="none" cap="none" strike="noStrike">
              <a:solidFill>
                <a:srgbClr val="000000"/>
              </a:solidFill>
              <a:latin typeface="Arial"/>
              <a:ea typeface="Arial"/>
              <a:cs typeface="Arial"/>
              <a:sym typeface="Arial"/>
            </a:endParaRPr>
          </a:p>
        </p:txBody>
      </p:sp>
      <p:pic>
        <p:nvPicPr>
          <p:cNvPr descr="brac.png" id="180" name="Google Shape;180;p8"/>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Attributes in a Class</a:t>
            </a:r>
            <a:endParaRPr/>
          </a:p>
        </p:txBody>
      </p:sp>
      <p:sp>
        <p:nvSpPr>
          <p:cNvPr id="187" name="Google Shape;187;p9"/>
          <p:cNvSpPr txBox="1"/>
          <p:nvPr>
            <p:ph idx="1" type="body"/>
          </p:nvPr>
        </p:nvSpPr>
        <p:spPr>
          <a:xfrm>
            <a:off x="457200" y="1600200"/>
            <a:ext cx="8305800" cy="3810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Properties of the class about which we want to capture information</a:t>
            </a:r>
            <a:endParaRPr/>
          </a:p>
          <a:p>
            <a:pPr indent="-274320" lvl="0" marL="274320" rtl="0" algn="l">
              <a:lnSpc>
                <a:spcPct val="100000"/>
              </a:lnSpc>
              <a:spcBef>
                <a:spcPts val="600"/>
              </a:spcBef>
              <a:spcAft>
                <a:spcPts val="0"/>
              </a:spcAft>
              <a:buSzPts val="2736"/>
              <a:buChar char="?"/>
            </a:pPr>
            <a:r>
              <a:rPr lang="en-US" sz="3600"/>
              <a:t>Represents a piece of information that is relevant to the description of the class within the application domain</a:t>
            </a:r>
            <a:endParaRPr/>
          </a:p>
        </p:txBody>
      </p:sp>
      <p:pic>
        <p:nvPicPr>
          <p:cNvPr descr="brac.png" id="188" name="Google Shape;188;p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txBox="1"/>
          <p:nvPr>
            <p:ph type="title"/>
          </p:nvPr>
        </p:nvSpPr>
        <p:spPr>
          <a:xfrm>
            <a:off x="457200" y="274638"/>
            <a:ext cx="8229600" cy="8683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Attributes in a Class</a:t>
            </a:r>
            <a:endParaRPr/>
          </a:p>
        </p:txBody>
      </p:sp>
      <p:sp>
        <p:nvSpPr>
          <p:cNvPr id="195" name="Google Shape;195;p10"/>
          <p:cNvSpPr txBox="1"/>
          <p:nvPr>
            <p:ph idx="1" type="body"/>
          </p:nvPr>
        </p:nvSpPr>
        <p:spPr>
          <a:xfrm>
            <a:off x="381000" y="1447800"/>
            <a:ext cx="8458200" cy="4572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Only add attributes that are primitive or atomic types like Boolean, string, char, integer, float, double, date etc.</a:t>
            </a:r>
            <a:endParaRPr/>
          </a:p>
          <a:p>
            <a:pPr indent="-274320" lvl="0" marL="274320" rtl="0" algn="l">
              <a:lnSpc>
                <a:spcPct val="100000"/>
              </a:lnSpc>
              <a:spcBef>
                <a:spcPts val="600"/>
              </a:spcBef>
              <a:spcAft>
                <a:spcPts val="0"/>
              </a:spcAft>
              <a:buSzPts val="2736"/>
              <a:buChar char="?"/>
            </a:pPr>
            <a:r>
              <a:rPr lang="en-US" sz="3600"/>
              <a:t>Derived attribute</a:t>
            </a:r>
            <a:endParaRPr/>
          </a:p>
          <a:p>
            <a:pPr indent="-274319" lvl="1" marL="548640" rtl="0" algn="l">
              <a:lnSpc>
                <a:spcPct val="100000"/>
              </a:lnSpc>
              <a:spcBef>
                <a:spcPts val="500"/>
              </a:spcBef>
              <a:spcAft>
                <a:spcPts val="0"/>
              </a:spcAft>
              <a:buSzPts val="2432"/>
              <a:buChar char="?"/>
            </a:pPr>
            <a:r>
              <a:rPr lang="en-US" sz="3200"/>
              <a:t>attributes that are calculated or derived from other attributes</a:t>
            </a:r>
            <a:endParaRPr/>
          </a:p>
          <a:p>
            <a:pPr indent="-274319" lvl="1" marL="548640" rtl="0" algn="l">
              <a:lnSpc>
                <a:spcPct val="100000"/>
              </a:lnSpc>
              <a:spcBef>
                <a:spcPts val="500"/>
              </a:spcBef>
              <a:spcAft>
                <a:spcPts val="0"/>
              </a:spcAft>
              <a:buSzPts val="2432"/>
              <a:buChar char="?"/>
            </a:pPr>
            <a:r>
              <a:rPr lang="en-US" sz="3200"/>
              <a:t>denoted by placing slash (/) before</a:t>
            </a:r>
            <a:r>
              <a:rPr lang="en-US" sz="3600"/>
              <a:t> name</a:t>
            </a:r>
            <a:endParaRPr/>
          </a:p>
        </p:txBody>
      </p:sp>
      <p:pic>
        <p:nvPicPr>
          <p:cNvPr descr="brac.png" id="196" name="Google Shape;196;p10"/>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202" name="Google Shape;202;p11"/>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Class Attributes</a:t>
            </a:r>
            <a:endParaRPr/>
          </a:p>
        </p:txBody>
      </p:sp>
      <p:grpSp>
        <p:nvGrpSpPr>
          <p:cNvPr id="203" name="Google Shape;203;p11"/>
          <p:cNvGrpSpPr/>
          <p:nvPr/>
        </p:nvGrpSpPr>
        <p:grpSpPr>
          <a:xfrm>
            <a:off x="685800" y="1676400"/>
            <a:ext cx="2590800" cy="3048000"/>
            <a:chOff x="336" y="1056"/>
            <a:chExt cx="1536" cy="1920"/>
          </a:xfrm>
        </p:grpSpPr>
        <p:sp>
          <p:nvSpPr>
            <p:cNvPr id="204" name="Google Shape;204;p11"/>
            <p:cNvSpPr/>
            <p:nvPr/>
          </p:nvSpPr>
          <p:spPr>
            <a:xfrm>
              <a:off x="336" y="1056"/>
              <a:ext cx="1536" cy="48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05" name="Google Shape;205;p11"/>
            <p:cNvSpPr/>
            <p:nvPr/>
          </p:nvSpPr>
          <p:spPr>
            <a:xfrm>
              <a:off x="336" y="1536"/>
              <a:ext cx="1536" cy="105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address   :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ssn          : Id</a:t>
              </a:r>
              <a:endParaRPr b="0" i="0" sz="1400" u="none" cap="none" strike="noStrike">
                <a:solidFill>
                  <a:srgbClr val="000000"/>
                </a:solidFill>
                <a:latin typeface="Arial"/>
                <a:ea typeface="Arial"/>
                <a:cs typeface="Arial"/>
                <a:sym typeface="Arial"/>
              </a:endParaRPr>
            </a:p>
          </p:txBody>
        </p:sp>
        <p:sp>
          <p:nvSpPr>
            <p:cNvPr id="206" name="Google Shape;206;p11"/>
            <p:cNvSpPr/>
            <p:nvPr/>
          </p:nvSpPr>
          <p:spPr>
            <a:xfrm>
              <a:off x="336" y="2592"/>
              <a:ext cx="1536" cy="38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sp>
        <p:nvSpPr>
          <p:cNvPr id="207" name="Google Shape;207;p11"/>
          <p:cNvSpPr txBox="1"/>
          <p:nvPr/>
        </p:nvSpPr>
        <p:spPr>
          <a:xfrm>
            <a:off x="3406775" y="2057400"/>
            <a:ext cx="5508625"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An </a:t>
            </a:r>
            <a:r>
              <a:rPr b="0" i="1" lang="en-US" sz="2400" u="none" cap="none" strike="noStrike">
                <a:solidFill>
                  <a:schemeClr val="dk1"/>
                </a:solidFill>
                <a:latin typeface="Gill Sans"/>
                <a:ea typeface="Gill Sans"/>
                <a:cs typeface="Gill Sans"/>
                <a:sym typeface="Gill Sans"/>
              </a:rPr>
              <a:t>attribute</a:t>
            </a:r>
            <a:r>
              <a:rPr b="0" i="0" lang="en-US" sz="2400" u="none" cap="none" strike="noStrike">
                <a:solidFill>
                  <a:schemeClr val="dk1"/>
                </a:solidFill>
                <a:latin typeface="Gill Sans"/>
                <a:ea typeface="Gill Sans"/>
                <a:cs typeface="Gill Sans"/>
                <a:sym typeface="Gill Sans"/>
              </a:rPr>
              <a:t> is a named property of 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class that describes the object being modeled.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In the class diagram, attributes appear in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the second compartment just below the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name-compartment.</a:t>
            </a:r>
            <a:endParaRPr b="0" i="0" sz="1400" u="none" cap="none" strike="noStrike">
              <a:solidFill>
                <a:srgbClr val="000000"/>
              </a:solidFill>
              <a:latin typeface="Arial"/>
              <a:ea typeface="Arial"/>
              <a:cs typeface="Arial"/>
              <a:sym typeface="Arial"/>
            </a:endParaRPr>
          </a:p>
        </p:txBody>
      </p:sp>
      <p:pic>
        <p:nvPicPr>
          <p:cNvPr descr="brac.png" id="208" name="Google Shape;208;p11"/>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214" name="Google Shape;214;p12"/>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Class Attributes (Cont’d)</a:t>
            </a:r>
            <a:endParaRPr/>
          </a:p>
        </p:txBody>
      </p:sp>
      <p:sp>
        <p:nvSpPr>
          <p:cNvPr id="215" name="Google Shape;215;p12"/>
          <p:cNvSpPr/>
          <p:nvPr/>
        </p:nvSpPr>
        <p:spPr>
          <a:xfrm>
            <a:off x="685800" y="1676400"/>
            <a:ext cx="2590800" cy="762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16" name="Google Shape;216;p12"/>
          <p:cNvSpPr/>
          <p:nvPr/>
        </p:nvSpPr>
        <p:spPr>
          <a:xfrm>
            <a:off x="685800" y="2438400"/>
            <a:ext cx="25908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address   :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age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ssn          : Id</a:t>
            </a:r>
            <a:endParaRPr b="0" i="0" sz="1400" u="none" cap="none" strike="noStrike">
              <a:solidFill>
                <a:srgbClr val="000000"/>
              </a:solidFill>
              <a:latin typeface="Arial"/>
              <a:ea typeface="Arial"/>
              <a:cs typeface="Arial"/>
              <a:sym typeface="Arial"/>
            </a:endParaRPr>
          </a:p>
        </p:txBody>
      </p:sp>
      <p:sp>
        <p:nvSpPr>
          <p:cNvPr id="217" name="Google Shape;217;p12"/>
          <p:cNvSpPr/>
          <p:nvPr/>
        </p:nvSpPr>
        <p:spPr>
          <a:xfrm>
            <a:off x="685800" y="4724400"/>
            <a:ext cx="2590800" cy="60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18" name="Google Shape;218;p12"/>
          <p:cNvSpPr txBox="1"/>
          <p:nvPr/>
        </p:nvSpPr>
        <p:spPr>
          <a:xfrm>
            <a:off x="3657600" y="1219200"/>
            <a:ext cx="5052900" cy="447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Attributes are usually listed in the form: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attributeName : Type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 </a:t>
            </a:r>
            <a:r>
              <a:rPr b="0" i="1" lang="en-US" sz="1800" u="none" cap="none" strike="noStrike">
                <a:solidFill>
                  <a:schemeClr val="dk1"/>
                </a:solidFill>
                <a:latin typeface="Gill Sans"/>
                <a:ea typeface="Gill Sans"/>
                <a:cs typeface="Gill Sans"/>
                <a:sym typeface="Gill Sans"/>
              </a:rPr>
              <a:t>derived</a:t>
            </a:r>
            <a:r>
              <a:rPr b="0" i="0" lang="en-US" sz="1800" u="none" cap="none" strike="noStrike">
                <a:solidFill>
                  <a:schemeClr val="dk1"/>
                </a:solidFill>
                <a:latin typeface="Gill Sans"/>
                <a:ea typeface="Gill Sans"/>
                <a:cs typeface="Gill Sans"/>
                <a:sym typeface="Gill Sans"/>
              </a:rPr>
              <a:t> attribute is one that can be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computed from other attributes, but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doesn’t actually exist. For 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 Person’s age can be computed from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his birth date. A derived attribute is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designated by a preceding ‘/’ as 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 age : Date</a:t>
            </a:r>
            <a:endParaRPr b="0" i="0" sz="1400" u="none" cap="none" strike="noStrike">
              <a:solidFill>
                <a:srgbClr val="000000"/>
              </a:solidFill>
              <a:latin typeface="Arial"/>
              <a:ea typeface="Arial"/>
              <a:cs typeface="Arial"/>
              <a:sym typeface="Arial"/>
            </a:endParaRPr>
          </a:p>
        </p:txBody>
      </p:sp>
      <p:pic>
        <p:nvPicPr>
          <p:cNvPr descr="brac.png" id="219" name="Google Shape;219;p1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Operations in a Class</a:t>
            </a:r>
            <a:endParaRPr/>
          </a:p>
        </p:txBody>
      </p:sp>
      <p:sp>
        <p:nvSpPr>
          <p:cNvPr id="226" name="Google Shape;226;p13"/>
          <p:cNvSpPr txBox="1"/>
          <p:nvPr>
            <p:ph idx="1" type="body"/>
          </p:nvPr>
        </p:nvSpPr>
        <p:spPr>
          <a:xfrm>
            <a:off x="381000" y="1371600"/>
            <a:ext cx="8382000" cy="51816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Represents the actions or functions that a class can perform</a:t>
            </a:r>
            <a:endParaRPr/>
          </a:p>
          <a:p>
            <a:pPr indent="-274320" lvl="0" marL="274320" rtl="0" algn="l">
              <a:lnSpc>
                <a:spcPct val="100000"/>
              </a:lnSpc>
              <a:spcBef>
                <a:spcPts val="600"/>
              </a:spcBef>
              <a:spcAft>
                <a:spcPts val="0"/>
              </a:spcAft>
              <a:buSzPts val="2736"/>
              <a:buChar char="?"/>
            </a:pPr>
            <a:r>
              <a:rPr lang="en-US" sz="3600"/>
              <a:t>Describes the actions to which the instances of the class will be capable of responding</a:t>
            </a:r>
            <a:endParaRPr/>
          </a:p>
          <a:p>
            <a:pPr indent="-274320" lvl="0" marL="274320" rtl="0" algn="l">
              <a:lnSpc>
                <a:spcPct val="100000"/>
              </a:lnSpc>
              <a:spcBef>
                <a:spcPts val="600"/>
              </a:spcBef>
              <a:spcAft>
                <a:spcPts val="0"/>
              </a:spcAft>
              <a:buSzPts val="2736"/>
              <a:buChar char="?"/>
            </a:pPr>
            <a:r>
              <a:rPr lang="en-US" sz="3600"/>
              <a:t>Can be classified as a constructor, query, or update operation</a:t>
            </a:r>
            <a:endParaRPr/>
          </a:p>
        </p:txBody>
      </p:sp>
      <p:pic>
        <p:nvPicPr>
          <p:cNvPr descr="brac.png" id="227" name="Google Shape;227;p1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4"/>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233" name="Google Shape;233;p14"/>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Class Operations</a:t>
            </a:r>
            <a:endParaRPr/>
          </a:p>
        </p:txBody>
      </p:sp>
      <p:grpSp>
        <p:nvGrpSpPr>
          <p:cNvPr id="234" name="Google Shape;234;p14"/>
          <p:cNvGrpSpPr/>
          <p:nvPr/>
        </p:nvGrpSpPr>
        <p:grpSpPr>
          <a:xfrm>
            <a:off x="685800" y="1676400"/>
            <a:ext cx="2438400" cy="4114800"/>
            <a:chOff x="336" y="1056"/>
            <a:chExt cx="1536" cy="2592"/>
          </a:xfrm>
        </p:grpSpPr>
        <p:sp>
          <p:nvSpPr>
            <p:cNvPr id="235" name="Google Shape;235;p14"/>
            <p:cNvSpPr/>
            <p:nvPr/>
          </p:nvSpPr>
          <p:spPr>
            <a:xfrm>
              <a:off x="336" y="1056"/>
              <a:ext cx="1536" cy="48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36" name="Google Shape;236;p14"/>
            <p:cNvSpPr/>
            <p:nvPr/>
          </p:nvSpPr>
          <p:spPr>
            <a:xfrm>
              <a:off x="336" y="1536"/>
              <a:ext cx="1536" cy="10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address   :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ssn          : Id</a:t>
              </a:r>
              <a:endParaRPr b="0" i="0" sz="1400" u="none" cap="none" strike="noStrike">
                <a:solidFill>
                  <a:srgbClr val="000000"/>
                </a:solidFill>
                <a:latin typeface="Arial"/>
                <a:ea typeface="Arial"/>
                <a:cs typeface="Arial"/>
                <a:sym typeface="Arial"/>
              </a:endParaRPr>
            </a:p>
          </p:txBody>
        </p:sp>
        <p:sp>
          <p:nvSpPr>
            <p:cNvPr id="237" name="Google Shape;237;p14"/>
            <p:cNvSpPr/>
            <p:nvPr/>
          </p:nvSpPr>
          <p:spPr>
            <a:xfrm>
              <a:off x="336" y="2592"/>
              <a:ext cx="1536" cy="105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eat ()</a:t>
              </a:r>
              <a:endParaRPr b="0" i="0" sz="1800" u="none" cap="none" strike="noStrike">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sleep ()</a:t>
              </a:r>
              <a:endParaRPr b="0" i="0" sz="1800" u="none" cap="none" strike="noStrike">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work ()</a:t>
              </a:r>
              <a:endParaRPr b="0" i="0" sz="1800" u="none" cap="none" strike="noStrike">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play ()</a:t>
              </a:r>
              <a:endParaRPr b="0" i="0" sz="1800" u="none" cap="none" strike="noStrike">
                <a:solidFill>
                  <a:schemeClr val="dk1"/>
                </a:solidFill>
                <a:latin typeface="Gill Sans"/>
                <a:ea typeface="Gill Sans"/>
                <a:cs typeface="Gill Sans"/>
                <a:sym typeface="Gill Sans"/>
              </a:endParaRPr>
            </a:p>
          </p:txBody>
        </p:sp>
      </p:grpSp>
      <p:sp>
        <p:nvSpPr>
          <p:cNvPr id="238" name="Google Shape;238;p14"/>
          <p:cNvSpPr txBox="1"/>
          <p:nvPr/>
        </p:nvSpPr>
        <p:spPr>
          <a:xfrm>
            <a:off x="3352800" y="4114800"/>
            <a:ext cx="4979988"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Gill Sans"/>
                <a:ea typeface="Gill Sans"/>
                <a:cs typeface="Gill Sans"/>
                <a:sym typeface="Gill Sans"/>
              </a:rPr>
              <a:t>Operations </a:t>
            </a:r>
            <a:r>
              <a:rPr b="0" i="0" lang="en-US" sz="1800" u="none" cap="none" strike="noStrike">
                <a:solidFill>
                  <a:schemeClr val="dk1"/>
                </a:solidFill>
                <a:latin typeface="Gill Sans"/>
                <a:ea typeface="Gill Sans"/>
                <a:cs typeface="Gill Sans"/>
                <a:sym typeface="Gill Sans"/>
              </a:rPr>
              <a:t>describe the class behavior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and appear in the third compartment. </a:t>
            </a:r>
            <a:endParaRPr b="0" i="0" sz="1400" u="none" cap="none" strike="noStrike">
              <a:solidFill>
                <a:srgbClr val="000000"/>
              </a:solidFill>
              <a:latin typeface="Arial"/>
              <a:ea typeface="Arial"/>
              <a:cs typeface="Arial"/>
              <a:sym typeface="Arial"/>
            </a:endParaRPr>
          </a:p>
        </p:txBody>
      </p:sp>
      <p:pic>
        <p:nvPicPr>
          <p:cNvPr descr="brac.png" id="239" name="Google Shape;239;p1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5"/>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245" name="Google Shape;245;p15"/>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Class Operations (Cont’d)</a:t>
            </a:r>
            <a:endParaRPr/>
          </a:p>
        </p:txBody>
      </p:sp>
      <p:grpSp>
        <p:nvGrpSpPr>
          <p:cNvPr id="246" name="Google Shape;246;p15"/>
          <p:cNvGrpSpPr/>
          <p:nvPr/>
        </p:nvGrpSpPr>
        <p:grpSpPr>
          <a:xfrm>
            <a:off x="304800" y="1676400"/>
            <a:ext cx="8458200" cy="1922463"/>
            <a:chOff x="288" y="1333"/>
            <a:chExt cx="4944" cy="1211"/>
          </a:xfrm>
        </p:grpSpPr>
        <p:sp>
          <p:nvSpPr>
            <p:cNvPr id="247" name="Google Shape;247;p15"/>
            <p:cNvSpPr/>
            <p:nvPr/>
          </p:nvSpPr>
          <p:spPr>
            <a:xfrm>
              <a:off x="288" y="1333"/>
              <a:ext cx="4944" cy="39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PhoneBook</a:t>
              </a:r>
              <a:endParaRPr b="0" i="0" sz="1400" u="none" cap="none" strike="noStrike">
                <a:solidFill>
                  <a:srgbClr val="000000"/>
                </a:solidFill>
                <a:latin typeface="Arial"/>
                <a:ea typeface="Arial"/>
                <a:cs typeface="Arial"/>
                <a:sym typeface="Arial"/>
              </a:endParaRPr>
            </a:p>
          </p:txBody>
        </p:sp>
        <p:sp>
          <p:nvSpPr>
            <p:cNvPr id="248" name="Google Shape;248;p15"/>
            <p:cNvSpPr/>
            <p:nvPr/>
          </p:nvSpPr>
          <p:spPr>
            <a:xfrm>
              <a:off x="288" y="1728"/>
              <a:ext cx="4944" cy="29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49" name="Google Shape;249;p15"/>
            <p:cNvSpPr/>
            <p:nvPr/>
          </p:nvSpPr>
          <p:spPr>
            <a:xfrm>
              <a:off x="288" y="1968"/>
              <a:ext cx="4944" cy="57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newEntry (n : Name, a : Address, p : PhoneNumber, d : Description)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getPhone ( n : Name, a : Address) : PhoneNumber</a:t>
              </a:r>
              <a:endParaRPr b="0" i="0" sz="1400" u="none" cap="none" strike="noStrike">
                <a:solidFill>
                  <a:srgbClr val="000000"/>
                </a:solidFill>
                <a:latin typeface="Arial"/>
                <a:ea typeface="Arial"/>
                <a:cs typeface="Arial"/>
                <a:sym typeface="Arial"/>
              </a:endParaRPr>
            </a:p>
          </p:txBody>
        </p:sp>
      </p:grpSp>
      <p:sp>
        <p:nvSpPr>
          <p:cNvPr id="250" name="Google Shape;250;p15"/>
          <p:cNvSpPr txBox="1"/>
          <p:nvPr/>
        </p:nvSpPr>
        <p:spPr>
          <a:xfrm>
            <a:off x="304800" y="4343400"/>
            <a:ext cx="83820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You can specify an operation by stating its signature: listing the name, type, and default value of all parameters, and, in the case of functions, a return type. </a:t>
            </a:r>
            <a:endParaRPr b="0" i="0" sz="1400" u="none" cap="none" strike="noStrike">
              <a:solidFill>
                <a:srgbClr val="000000"/>
              </a:solidFill>
              <a:latin typeface="Arial"/>
              <a:ea typeface="Arial"/>
              <a:cs typeface="Arial"/>
              <a:sym typeface="Arial"/>
            </a:endParaRPr>
          </a:p>
        </p:txBody>
      </p:sp>
      <p:pic>
        <p:nvPicPr>
          <p:cNvPr descr="brac.png" id="251" name="Google Shape;251;p1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6"/>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257" name="Google Shape;257;p16"/>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Depicting Classes</a:t>
            </a:r>
            <a:endParaRPr/>
          </a:p>
        </p:txBody>
      </p:sp>
      <p:grpSp>
        <p:nvGrpSpPr>
          <p:cNvPr id="258" name="Google Shape;258;p16"/>
          <p:cNvGrpSpPr/>
          <p:nvPr/>
        </p:nvGrpSpPr>
        <p:grpSpPr>
          <a:xfrm>
            <a:off x="6248400" y="2133600"/>
            <a:ext cx="2438400" cy="3581400"/>
            <a:chOff x="3936" y="1296"/>
            <a:chExt cx="1536" cy="2256"/>
          </a:xfrm>
        </p:grpSpPr>
        <p:sp>
          <p:nvSpPr>
            <p:cNvPr id="259" name="Google Shape;259;p16"/>
            <p:cNvSpPr/>
            <p:nvPr/>
          </p:nvSpPr>
          <p:spPr>
            <a:xfrm>
              <a:off x="3936" y="1296"/>
              <a:ext cx="1536" cy="38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60" name="Google Shape;260;p16"/>
            <p:cNvSpPr/>
            <p:nvPr/>
          </p:nvSpPr>
          <p:spPr>
            <a:xfrm>
              <a:off x="3936" y="1680"/>
              <a:ext cx="1536" cy="76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ssn          : Id</a:t>
              </a:r>
              <a:endParaRPr b="0" i="0" sz="1400" u="none" cap="none" strike="noStrike">
                <a:solidFill>
                  <a:srgbClr val="000000"/>
                </a:solidFill>
                <a:latin typeface="Arial"/>
                <a:ea typeface="Arial"/>
                <a:cs typeface="Arial"/>
                <a:sym typeface="Arial"/>
              </a:endParaRPr>
            </a:p>
          </p:txBody>
        </p:sp>
        <p:sp>
          <p:nvSpPr>
            <p:cNvPr id="261" name="Google Shape;261;p16"/>
            <p:cNvSpPr/>
            <p:nvPr/>
          </p:nvSpPr>
          <p:spPr>
            <a:xfrm>
              <a:off x="3936" y="2448"/>
              <a:ext cx="1536" cy="110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eat()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sleep()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play()</a:t>
              </a:r>
              <a:endParaRPr b="0" i="0" sz="1400" u="none" cap="none" strike="noStrike">
                <a:solidFill>
                  <a:srgbClr val="000000"/>
                </a:solidFill>
                <a:latin typeface="Arial"/>
                <a:ea typeface="Arial"/>
                <a:cs typeface="Arial"/>
                <a:sym typeface="Arial"/>
              </a:endParaRPr>
            </a:p>
          </p:txBody>
        </p:sp>
      </p:grpSp>
      <p:sp>
        <p:nvSpPr>
          <p:cNvPr id="262" name="Google Shape;262;p16"/>
          <p:cNvSpPr txBox="1"/>
          <p:nvPr/>
        </p:nvSpPr>
        <p:spPr>
          <a:xfrm>
            <a:off x="381000" y="1219200"/>
            <a:ext cx="83486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When drawing a class, you need not show attributes and operation in every diagram.</a:t>
            </a:r>
            <a:endParaRPr b="0" i="0" sz="1400" u="none" cap="none" strike="noStrike">
              <a:solidFill>
                <a:srgbClr val="000000"/>
              </a:solidFill>
              <a:latin typeface="Arial"/>
              <a:ea typeface="Arial"/>
              <a:cs typeface="Arial"/>
              <a:sym typeface="Arial"/>
            </a:endParaRPr>
          </a:p>
        </p:txBody>
      </p:sp>
      <p:sp>
        <p:nvSpPr>
          <p:cNvPr id="263" name="Google Shape;263;p16"/>
          <p:cNvSpPr/>
          <p:nvPr/>
        </p:nvSpPr>
        <p:spPr>
          <a:xfrm>
            <a:off x="457200" y="21336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grpSp>
        <p:nvGrpSpPr>
          <p:cNvPr id="264" name="Google Shape;264;p16"/>
          <p:cNvGrpSpPr/>
          <p:nvPr/>
        </p:nvGrpSpPr>
        <p:grpSpPr>
          <a:xfrm>
            <a:off x="533400" y="3276600"/>
            <a:ext cx="2438400" cy="2438400"/>
            <a:chOff x="288" y="2400"/>
            <a:chExt cx="1536" cy="1536"/>
          </a:xfrm>
        </p:grpSpPr>
        <p:sp>
          <p:nvSpPr>
            <p:cNvPr id="265" name="Google Shape;265;p16"/>
            <p:cNvSpPr/>
            <p:nvPr/>
          </p:nvSpPr>
          <p:spPr>
            <a:xfrm>
              <a:off x="288" y="2400"/>
              <a:ext cx="1536" cy="48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66" name="Google Shape;266;p16"/>
            <p:cNvSpPr/>
            <p:nvPr/>
          </p:nvSpPr>
          <p:spPr>
            <a:xfrm>
              <a:off x="288" y="2880"/>
              <a:ext cx="1536" cy="76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name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address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birthdate</a:t>
              </a:r>
              <a:endParaRPr b="0" i="0" sz="1400" u="none" cap="none" strike="noStrike">
                <a:solidFill>
                  <a:srgbClr val="000000"/>
                </a:solidFill>
                <a:latin typeface="Arial"/>
                <a:ea typeface="Arial"/>
                <a:cs typeface="Arial"/>
                <a:sym typeface="Arial"/>
              </a:endParaRPr>
            </a:p>
          </p:txBody>
        </p:sp>
        <p:sp>
          <p:nvSpPr>
            <p:cNvPr id="267" name="Google Shape;267;p16"/>
            <p:cNvSpPr/>
            <p:nvPr/>
          </p:nvSpPr>
          <p:spPr>
            <a:xfrm>
              <a:off x="288" y="3648"/>
              <a:ext cx="1536" cy="28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grpSp>
        <p:nvGrpSpPr>
          <p:cNvPr id="268" name="Google Shape;268;p16"/>
          <p:cNvGrpSpPr/>
          <p:nvPr/>
        </p:nvGrpSpPr>
        <p:grpSpPr>
          <a:xfrm>
            <a:off x="3429000" y="4114800"/>
            <a:ext cx="2438400" cy="1600200"/>
            <a:chOff x="2208" y="2592"/>
            <a:chExt cx="1536" cy="1008"/>
          </a:xfrm>
        </p:grpSpPr>
        <p:sp>
          <p:nvSpPr>
            <p:cNvPr id="269" name="Google Shape;269;p16"/>
            <p:cNvSpPr/>
            <p:nvPr/>
          </p:nvSpPr>
          <p:spPr>
            <a:xfrm>
              <a:off x="2208" y="2592"/>
              <a:ext cx="1536" cy="30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70" name="Google Shape;270;p16"/>
            <p:cNvSpPr/>
            <p:nvPr/>
          </p:nvSpPr>
          <p:spPr>
            <a:xfrm>
              <a:off x="2208" y="2880"/>
              <a:ext cx="1536" cy="19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71" name="Google Shape;271;p16"/>
            <p:cNvSpPr/>
            <p:nvPr/>
          </p:nvSpPr>
          <p:spPr>
            <a:xfrm>
              <a:off x="2208" y="3072"/>
              <a:ext cx="1536" cy="52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eat ()</a:t>
              </a:r>
              <a:endParaRPr b="0" i="0" sz="1800" u="none" cap="none" strike="noStrike">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play ()</a:t>
              </a:r>
              <a:endParaRPr b="0" i="0" sz="1800" u="none" cap="none" strike="noStrike">
                <a:solidFill>
                  <a:schemeClr val="dk1"/>
                </a:solidFill>
                <a:latin typeface="Gill Sans"/>
                <a:ea typeface="Gill Sans"/>
                <a:cs typeface="Gill Sans"/>
                <a:sym typeface="Gill Sans"/>
              </a:endParaRPr>
            </a:p>
          </p:txBody>
        </p:sp>
      </p:grpSp>
      <p:grpSp>
        <p:nvGrpSpPr>
          <p:cNvPr id="272" name="Google Shape;272;p16"/>
          <p:cNvGrpSpPr/>
          <p:nvPr/>
        </p:nvGrpSpPr>
        <p:grpSpPr>
          <a:xfrm>
            <a:off x="3429000" y="2133600"/>
            <a:ext cx="2438400" cy="1143000"/>
            <a:chOff x="2160" y="1488"/>
            <a:chExt cx="1536" cy="720"/>
          </a:xfrm>
        </p:grpSpPr>
        <p:sp>
          <p:nvSpPr>
            <p:cNvPr id="273" name="Google Shape;273;p16"/>
            <p:cNvSpPr/>
            <p:nvPr/>
          </p:nvSpPr>
          <p:spPr>
            <a:xfrm>
              <a:off x="2160" y="1488"/>
              <a:ext cx="1536" cy="33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74" name="Google Shape;274;p16"/>
            <p:cNvSpPr/>
            <p:nvPr/>
          </p:nvSpPr>
          <p:spPr>
            <a:xfrm>
              <a:off x="2160" y="1824"/>
              <a:ext cx="1536" cy="19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275" name="Google Shape;275;p16"/>
            <p:cNvSpPr/>
            <p:nvPr/>
          </p:nvSpPr>
          <p:spPr>
            <a:xfrm>
              <a:off x="2160" y="2016"/>
              <a:ext cx="1536" cy="19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pic>
        <p:nvPicPr>
          <p:cNvPr descr="brac.png" id="276" name="Google Shape;276;p1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UML Representation of Class</a:t>
            </a:r>
            <a:endParaRPr/>
          </a:p>
        </p:txBody>
      </p:sp>
      <p:sp>
        <p:nvSpPr>
          <p:cNvPr id="283" name="Google Shape;283;p17"/>
          <p:cNvSpPr/>
          <p:nvPr/>
        </p:nvSpPr>
        <p:spPr>
          <a:xfrm>
            <a:off x="2133600" y="1905000"/>
            <a:ext cx="4648200" cy="4038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cxnSp>
        <p:nvCxnSpPr>
          <p:cNvPr id="284" name="Google Shape;284;p17"/>
          <p:cNvCxnSpPr/>
          <p:nvPr/>
        </p:nvCxnSpPr>
        <p:spPr>
          <a:xfrm>
            <a:off x="2133600" y="2895600"/>
            <a:ext cx="4648200" cy="0"/>
          </a:xfrm>
          <a:prstGeom prst="straightConnector1">
            <a:avLst/>
          </a:prstGeom>
          <a:noFill/>
          <a:ln cap="flat" cmpd="sng" w="9525">
            <a:solidFill>
              <a:schemeClr val="dk1"/>
            </a:solidFill>
            <a:prstDash val="solid"/>
            <a:round/>
            <a:headEnd len="sm" w="sm" type="none"/>
            <a:tailEnd len="sm" w="sm" type="none"/>
          </a:ln>
        </p:spPr>
      </p:cxnSp>
      <p:cxnSp>
        <p:nvCxnSpPr>
          <p:cNvPr id="285" name="Google Shape;285;p17"/>
          <p:cNvCxnSpPr/>
          <p:nvPr/>
        </p:nvCxnSpPr>
        <p:spPr>
          <a:xfrm>
            <a:off x="2133600" y="4191000"/>
            <a:ext cx="4724400" cy="0"/>
          </a:xfrm>
          <a:prstGeom prst="straightConnector1">
            <a:avLst/>
          </a:prstGeom>
          <a:noFill/>
          <a:ln cap="flat" cmpd="sng" w="9525">
            <a:solidFill>
              <a:schemeClr val="dk1"/>
            </a:solidFill>
            <a:prstDash val="solid"/>
            <a:round/>
            <a:headEnd len="sm" w="sm" type="none"/>
            <a:tailEnd len="sm" w="sm" type="none"/>
          </a:ln>
        </p:spPr>
      </p:cxnSp>
      <p:sp>
        <p:nvSpPr>
          <p:cNvPr id="286" name="Google Shape;286;p17"/>
          <p:cNvSpPr txBox="1"/>
          <p:nvPr/>
        </p:nvSpPr>
        <p:spPr>
          <a:xfrm>
            <a:off x="2438400" y="2057400"/>
            <a:ext cx="3276600"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Class Name</a:t>
            </a:r>
            <a:endParaRPr b="0" i="0" sz="1400" u="none" cap="none" strike="noStrike">
              <a:solidFill>
                <a:srgbClr val="000000"/>
              </a:solidFill>
              <a:latin typeface="Arial"/>
              <a:ea typeface="Arial"/>
              <a:cs typeface="Arial"/>
              <a:sym typeface="Arial"/>
            </a:endParaRPr>
          </a:p>
        </p:txBody>
      </p:sp>
      <p:sp>
        <p:nvSpPr>
          <p:cNvPr id="287" name="Google Shape;287;p17"/>
          <p:cNvSpPr txBox="1"/>
          <p:nvPr/>
        </p:nvSpPr>
        <p:spPr>
          <a:xfrm>
            <a:off x="2590800" y="3200400"/>
            <a:ext cx="3657600"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Attributes of Class</a:t>
            </a:r>
            <a:endParaRPr b="0" i="0" sz="1400" u="none" cap="none" strike="noStrike">
              <a:solidFill>
                <a:srgbClr val="000000"/>
              </a:solidFill>
              <a:latin typeface="Arial"/>
              <a:ea typeface="Arial"/>
              <a:cs typeface="Arial"/>
              <a:sym typeface="Arial"/>
            </a:endParaRPr>
          </a:p>
        </p:txBody>
      </p:sp>
      <p:sp>
        <p:nvSpPr>
          <p:cNvPr id="288" name="Google Shape;288;p17"/>
          <p:cNvSpPr txBox="1"/>
          <p:nvPr/>
        </p:nvSpPr>
        <p:spPr>
          <a:xfrm>
            <a:off x="2667000" y="4572000"/>
            <a:ext cx="3886200" cy="106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Operations/methods of Class</a:t>
            </a:r>
            <a:endParaRPr b="0" i="0" sz="1400" u="none" cap="none" strike="noStrike">
              <a:solidFill>
                <a:srgbClr val="000000"/>
              </a:solidFill>
              <a:latin typeface="Arial"/>
              <a:ea typeface="Arial"/>
              <a:cs typeface="Arial"/>
              <a:sym typeface="Arial"/>
            </a:endParaRPr>
          </a:p>
        </p:txBody>
      </p:sp>
      <p:pic>
        <p:nvPicPr>
          <p:cNvPr descr="brac.png" id="289" name="Google Shape;289;p1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8"/>
          <p:cNvSpPr txBox="1"/>
          <p:nvPr>
            <p:ph type="title"/>
          </p:nvPr>
        </p:nvSpPr>
        <p:spPr>
          <a:xfrm>
            <a:off x="457200" y="274638"/>
            <a:ext cx="8305800" cy="14779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Visibility </a:t>
            </a:r>
            <a:br>
              <a:rPr lang="en-US"/>
            </a:br>
            <a:r>
              <a:rPr lang="en-US"/>
              <a:t>of Attributes and Operations</a:t>
            </a:r>
            <a:endParaRPr/>
          </a:p>
        </p:txBody>
      </p:sp>
      <p:sp>
        <p:nvSpPr>
          <p:cNvPr id="296" name="Google Shape;296;p18"/>
          <p:cNvSpPr txBox="1"/>
          <p:nvPr>
            <p:ph idx="1" type="body"/>
          </p:nvPr>
        </p:nvSpPr>
        <p:spPr>
          <a:xfrm>
            <a:off x="457200" y="1981200"/>
            <a:ext cx="8229600" cy="342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Relates to the level of information hiding to be enforced</a:t>
            </a:r>
            <a:endParaRPr/>
          </a:p>
        </p:txBody>
      </p:sp>
      <p:pic>
        <p:nvPicPr>
          <p:cNvPr descr="brac.png" id="297" name="Google Shape;297;p18"/>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9"/>
          <p:cNvSpPr txBox="1"/>
          <p:nvPr>
            <p:ph type="title"/>
          </p:nvPr>
        </p:nvSpPr>
        <p:spPr>
          <a:xfrm>
            <a:off x="381000" y="152400"/>
            <a:ext cx="8305800" cy="140176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Visibility </a:t>
            </a:r>
            <a:br>
              <a:rPr lang="en-US"/>
            </a:br>
            <a:r>
              <a:rPr lang="en-US"/>
              <a:t>of Attributes and Operations</a:t>
            </a:r>
            <a:endParaRPr/>
          </a:p>
        </p:txBody>
      </p:sp>
      <p:grpSp>
        <p:nvGrpSpPr>
          <p:cNvPr id="304" name="Google Shape;304;p19"/>
          <p:cNvGrpSpPr/>
          <p:nvPr/>
        </p:nvGrpSpPr>
        <p:grpSpPr>
          <a:xfrm>
            <a:off x="533400" y="1828800"/>
            <a:ext cx="8229600" cy="4011613"/>
            <a:chOff x="288" y="1008"/>
            <a:chExt cx="5184" cy="2527"/>
          </a:xfrm>
        </p:grpSpPr>
        <p:sp>
          <p:nvSpPr>
            <p:cNvPr id="305" name="Google Shape;305;p19"/>
            <p:cNvSpPr/>
            <p:nvPr/>
          </p:nvSpPr>
          <p:spPr>
            <a:xfrm>
              <a:off x="1998" y="3305"/>
              <a:ext cx="3474" cy="23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Instances within the same package.</a:t>
              </a:r>
              <a:endParaRPr b="0" i="0" sz="1800" u="none" cap="none" strike="noStrike">
                <a:solidFill>
                  <a:schemeClr val="dk1"/>
                </a:solidFill>
                <a:latin typeface="Gill Sans"/>
                <a:ea typeface="Gill Sans"/>
                <a:cs typeface="Gill Sans"/>
                <a:sym typeface="Gill Sans"/>
              </a:endParaRPr>
            </a:p>
          </p:txBody>
        </p:sp>
        <p:sp>
          <p:nvSpPr>
            <p:cNvPr id="306" name="Google Shape;306;p19"/>
            <p:cNvSpPr/>
            <p:nvPr/>
          </p:nvSpPr>
          <p:spPr>
            <a:xfrm>
              <a:off x="1170" y="3305"/>
              <a:ext cx="828" cy="23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t>
              </a:r>
              <a:endParaRPr b="0" i="0" sz="1800" u="none" cap="none" strike="noStrike">
                <a:solidFill>
                  <a:schemeClr val="dk1"/>
                </a:solidFill>
                <a:latin typeface="Gill Sans"/>
                <a:ea typeface="Gill Sans"/>
                <a:cs typeface="Gill Sans"/>
                <a:sym typeface="Gill Sans"/>
              </a:endParaRPr>
            </a:p>
          </p:txBody>
        </p:sp>
        <p:sp>
          <p:nvSpPr>
            <p:cNvPr id="307" name="Google Shape;307;p19"/>
            <p:cNvSpPr/>
            <p:nvPr/>
          </p:nvSpPr>
          <p:spPr>
            <a:xfrm>
              <a:off x="288" y="3305"/>
              <a:ext cx="882" cy="23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Package</a:t>
              </a:r>
              <a:endParaRPr b="0" i="0" sz="1800" u="none" cap="none" strike="noStrike">
                <a:solidFill>
                  <a:schemeClr val="dk1"/>
                </a:solidFill>
                <a:latin typeface="Gill Sans"/>
                <a:ea typeface="Gill Sans"/>
                <a:cs typeface="Gill Sans"/>
                <a:sym typeface="Gill Sans"/>
              </a:endParaRPr>
            </a:p>
          </p:txBody>
        </p:sp>
        <p:sp>
          <p:nvSpPr>
            <p:cNvPr id="308" name="Google Shape;308;p19"/>
            <p:cNvSpPr/>
            <p:nvPr/>
          </p:nvSpPr>
          <p:spPr>
            <a:xfrm>
              <a:off x="1998" y="2757"/>
              <a:ext cx="3474" cy="54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Instances of the implementing class.</a:t>
              </a:r>
              <a:endParaRPr b="0" i="0" sz="1400" u="none" cap="none" strike="noStrike">
                <a:solidFill>
                  <a:srgbClr val="000000"/>
                </a:solidFill>
                <a:latin typeface="Arial"/>
                <a:ea typeface="Arial"/>
                <a:cs typeface="Arial"/>
                <a:sym typeface="Arial"/>
              </a:endParaRPr>
            </a:p>
          </p:txBody>
        </p:sp>
        <p:sp>
          <p:nvSpPr>
            <p:cNvPr id="309" name="Google Shape;309;p19"/>
            <p:cNvSpPr/>
            <p:nvPr/>
          </p:nvSpPr>
          <p:spPr>
            <a:xfrm>
              <a:off x="1170" y="2757"/>
              <a:ext cx="828" cy="54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t>
              </a:r>
              <a:endParaRPr b="0" i="0" sz="1400" u="none" cap="none" strike="noStrike">
                <a:solidFill>
                  <a:srgbClr val="000000"/>
                </a:solidFill>
                <a:latin typeface="Arial"/>
                <a:ea typeface="Arial"/>
                <a:cs typeface="Arial"/>
                <a:sym typeface="Arial"/>
              </a:endParaRPr>
            </a:p>
          </p:txBody>
        </p:sp>
        <p:sp>
          <p:nvSpPr>
            <p:cNvPr id="310" name="Google Shape;310;p19"/>
            <p:cNvSpPr/>
            <p:nvPr/>
          </p:nvSpPr>
          <p:spPr>
            <a:xfrm>
              <a:off x="288" y="2757"/>
              <a:ext cx="882" cy="54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Private</a:t>
              </a:r>
              <a:endParaRPr b="0" i="0" sz="1400" u="none" cap="none" strike="noStrike">
                <a:solidFill>
                  <a:srgbClr val="000000"/>
                </a:solidFill>
                <a:latin typeface="Arial"/>
                <a:ea typeface="Arial"/>
                <a:cs typeface="Arial"/>
                <a:sym typeface="Arial"/>
              </a:endParaRPr>
            </a:p>
          </p:txBody>
        </p:sp>
        <p:sp>
          <p:nvSpPr>
            <p:cNvPr id="311" name="Google Shape;311;p19"/>
            <p:cNvSpPr/>
            <p:nvPr/>
          </p:nvSpPr>
          <p:spPr>
            <a:xfrm>
              <a:off x="1998" y="1797"/>
              <a:ext cx="3474" cy="96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Instances of the implementing class and its subclasses.</a:t>
              </a:r>
              <a:endParaRPr b="0" i="0" sz="1400" u="none" cap="none" strike="noStrike">
                <a:solidFill>
                  <a:srgbClr val="000000"/>
                </a:solidFill>
                <a:latin typeface="Arial"/>
                <a:ea typeface="Arial"/>
                <a:cs typeface="Arial"/>
                <a:sym typeface="Arial"/>
              </a:endParaRPr>
            </a:p>
          </p:txBody>
        </p:sp>
        <p:sp>
          <p:nvSpPr>
            <p:cNvPr id="312" name="Google Shape;312;p19"/>
            <p:cNvSpPr/>
            <p:nvPr/>
          </p:nvSpPr>
          <p:spPr>
            <a:xfrm>
              <a:off x="1170" y="1797"/>
              <a:ext cx="828" cy="96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t>
              </a:r>
              <a:endParaRPr b="0" i="0" sz="1400" u="none" cap="none" strike="noStrike">
                <a:solidFill>
                  <a:srgbClr val="000000"/>
                </a:solidFill>
                <a:latin typeface="Arial"/>
                <a:ea typeface="Arial"/>
                <a:cs typeface="Arial"/>
                <a:sym typeface="Arial"/>
              </a:endParaRPr>
            </a:p>
          </p:txBody>
        </p:sp>
        <p:sp>
          <p:nvSpPr>
            <p:cNvPr id="313" name="Google Shape;313;p19"/>
            <p:cNvSpPr/>
            <p:nvPr/>
          </p:nvSpPr>
          <p:spPr>
            <a:xfrm>
              <a:off x="288" y="1797"/>
              <a:ext cx="882" cy="96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Protected</a:t>
              </a:r>
              <a:endParaRPr b="0" i="0" sz="1400" u="none" cap="none" strike="noStrike">
                <a:solidFill>
                  <a:srgbClr val="000000"/>
                </a:solidFill>
                <a:latin typeface="Arial"/>
                <a:ea typeface="Arial"/>
                <a:cs typeface="Arial"/>
                <a:sym typeface="Arial"/>
              </a:endParaRPr>
            </a:p>
          </p:txBody>
        </p:sp>
        <p:sp>
          <p:nvSpPr>
            <p:cNvPr id="314" name="Google Shape;314;p19"/>
            <p:cNvSpPr/>
            <p:nvPr/>
          </p:nvSpPr>
          <p:spPr>
            <a:xfrm>
              <a:off x="1998" y="1248"/>
              <a:ext cx="3474" cy="549"/>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All objects within your system.</a:t>
              </a:r>
              <a:endParaRPr b="0" i="0" sz="1400" u="none" cap="none" strike="noStrike">
                <a:solidFill>
                  <a:srgbClr val="000000"/>
                </a:solidFill>
                <a:latin typeface="Arial"/>
                <a:ea typeface="Arial"/>
                <a:cs typeface="Arial"/>
                <a:sym typeface="Arial"/>
              </a:endParaRPr>
            </a:p>
          </p:txBody>
        </p:sp>
        <p:sp>
          <p:nvSpPr>
            <p:cNvPr id="315" name="Google Shape;315;p19"/>
            <p:cNvSpPr/>
            <p:nvPr/>
          </p:nvSpPr>
          <p:spPr>
            <a:xfrm>
              <a:off x="1170" y="1248"/>
              <a:ext cx="828" cy="549"/>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t>
              </a:r>
              <a:endParaRPr b="0" i="0" sz="1400" u="none" cap="none" strike="noStrike">
                <a:solidFill>
                  <a:srgbClr val="000000"/>
                </a:solidFill>
                <a:latin typeface="Arial"/>
                <a:ea typeface="Arial"/>
                <a:cs typeface="Arial"/>
                <a:sym typeface="Arial"/>
              </a:endParaRPr>
            </a:p>
          </p:txBody>
        </p:sp>
        <p:sp>
          <p:nvSpPr>
            <p:cNvPr id="316" name="Google Shape;316;p19"/>
            <p:cNvSpPr/>
            <p:nvPr/>
          </p:nvSpPr>
          <p:spPr>
            <a:xfrm>
              <a:off x="288" y="1248"/>
              <a:ext cx="882" cy="549"/>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Public</a:t>
              </a:r>
              <a:endParaRPr b="0" i="0" sz="1400" u="none" cap="none" strike="noStrike">
                <a:solidFill>
                  <a:srgbClr val="000000"/>
                </a:solidFill>
                <a:latin typeface="Arial"/>
                <a:ea typeface="Arial"/>
                <a:cs typeface="Arial"/>
                <a:sym typeface="Arial"/>
              </a:endParaRPr>
            </a:p>
          </p:txBody>
        </p:sp>
        <p:sp>
          <p:nvSpPr>
            <p:cNvPr id="317" name="Google Shape;317;p19"/>
            <p:cNvSpPr/>
            <p:nvPr/>
          </p:nvSpPr>
          <p:spPr>
            <a:xfrm>
              <a:off x="1998" y="1008"/>
              <a:ext cx="3474" cy="2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Gill Sans"/>
                  <a:ea typeface="Gill Sans"/>
                  <a:cs typeface="Gill Sans"/>
                  <a:sym typeface="Gill Sans"/>
                </a:rPr>
                <a:t>Accessible To </a:t>
              </a:r>
              <a:endParaRPr b="0" i="0" sz="1800" u="none" cap="none" strike="noStrike">
                <a:solidFill>
                  <a:schemeClr val="dk1"/>
                </a:solidFill>
                <a:latin typeface="Gill Sans"/>
                <a:ea typeface="Gill Sans"/>
                <a:cs typeface="Gill Sans"/>
                <a:sym typeface="Gill Sans"/>
              </a:endParaRPr>
            </a:p>
          </p:txBody>
        </p:sp>
        <p:sp>
          <p:nvSpPr>
            <p:cNvPr id="318" name="Google Shape;318;p19"/>
            <p:cNvSpPr/>
            <p:nvPr/>
          </p:nvSpPr>
          <p:spPr>
            <a:xfrm>
              <a:off x="1170" y="1008"/>
              <a:ext cx="828" cy="2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Gill Sans"/>
                  <a:ea typeface="Gill Sans"/>
                  <a:cs typeface="Gill Sans"/>
                  <a:sym typeface="Gill Sans"/>
                </a:rPr>
                <a:t>Symbol </a:t>
              </a:r>
              <a:endParaRPr b="0" i="0" sz="1800" u="none" cap="none" strike="noStrike">
                <a:solidFill>
                  <a:schemeClr val="dk1"/>
                </a:solidFill>
                <a:latin typeface="Gill Sans"/>
                <a:ea typeface="Gill Sans"/>
                <a:cs typeface="Gill Sans"/>
                <a:sym typeface="Gill Sans"/>
              </a:endParaRPr>
            </a:p>
          </p:txBody>
        </p:sp>
        <p:sp>
          <p:nvSpPr>
            <p:cNvPr id="319" name="Google Shape;319;p19"/>
            <p:cNvSpPr/>
            <p:nvPr/>
          </p:nvSpPr>
          <p:spPr>
            <a:xfrm>
              <a:off x="288" y="1008"/>
              <a:ext cx="882" cy="2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Gill Sans"/>
                  <a:ea typeface="Gill Sans"/>
                  <a:cs typeface="Gill Sans"/>
                  <a:sym typeface="Gill Sans"/>
                </a:rPr>
                <a:t>Visibility </a:t>
              </a:r>
              <a:endParaRPr b="0" i="0" sz="1800" u="none" cap="none" strike="noStrike">
                <a:solidFill>
                  <a:schemeClr val="dk1"/>
                </a:solidFill>
                <a:latin typeface="Gill Sans"/>
                <a:ea typeface="Gill Sans"/>
                <a:cs typeface="Gill Sans"/>
                <a:sym typeface="Gill Sans"/>
              </a:endParaRPr>
            </a:p>
          </p:txBody>
        </p:sp>
        <p:cxnSp>
          <p:nvCxnSpPr>
            <p:cNvPr id="320" name="Google Shape;320;p19"/>
            <p:cNvCxnSpPr/>
            <p:nvPr/>
          </p:nvCxnSpPr>
          <p:spPr>
            <a:xfrm>
              <a:off x="288" y="1008"/>
              <a:ext cx="5184" cy="0"/>
            </a:xfrm>
            <a:prstGeom prst="straightConnector1">
              <a:avLst/>
            </a:prstGeom>
            <a:noFill/>
            <a:ln cap="rnd" cmpd="sng" w="12700">
              <a:solidFill>
                <a:srgbClr val="000000"/>
              </a:solidFill>
              <a:prstDash val="solid"/>
              <a:round/>
              <a:headEnd len="sm" w="sm" type="none"/>
              <a:tailEnd len="sm" w="sm" type="none"/>
            </a:ln>
          </p:spPr>
        </p:cxnSp>
        <p:cxnSp>
          <p:nvCxnSpPr>
            <p:cNvPr id="321" name="Google Shape;321;p19"/>
            <p:cNvCxnSpPr/>
            <p:nvPr/>
          </p:nvCxnSpPr>
          <p:spPr>
            <a:xfrm>
              <a:off x="288" y="3535"/>
              <a:ext cx="5184" cy="0"/>
            </a:xfrm>
            <a:prstGeom prst="straightConnector1">
              <a:avLst/>
            </a:prstGeom>
            <a:noFill/>
            <a:ln cap="rnd" cmpd="sng" w="12700">
              <a:solidFill>
                <a:srgbClr val="000000"/>
              </a:solidFill>
              <a:prstDash val="solid"/>
              <a:round/>
              <a:headEnd len="sm" w="sm" type="none"/>
              <a:tailEnd len="sm" w="sm" type="none"/>
            </a:ln>
          </p:spPr>
        </p:cxnSp>
        <p:cxnSp>
          <p:nvCxnSpPr>
            <p:cNvPr id="322" name="Google Shape;322;p19"/>
            <p:cNvCxnSpPr/>
            <p:nvPr/>
          </p:nvCxnSpPr>
          <p:spPr>
            <a:xfrm>
              <a:off x="288" y="1008"/>
              <a:ext cx="0" cy="2527"/>
            </a:xfrm>
            <a:prstGeom prst="straightConnector1">
              <a:avLst/>
            </a:prstGeom>
            <a:noFill/>
            <a:ln cap="rnd" cmpd="sng" w="12700">
              <a:solidFill>
                <a:srgbClr val="000000"/>
              </a:solidFill>
              <a:prstDash val="solid"/>
              <a:round/>
              <a:headEnd len="sm" w="sm" type="none"/>
              <a:tailEnd len="sm" w="sm" type="none"/>
            </a:ln>
          </p:spPr>
        </p:cxnSp>
        <p:cxnSp>
          <p:nvCxnSpPr>
            <p:cNvPr id="323" name="Google Shape;323;p19"/>
            <p:cNvCxnSpPr/>
            <p:nvPr/>
          </p:nvCxnSpPr>
          <p:spPr>
            <a:xfrm>
              <a:off x="5472" y="1008"/>
              <a:ext cx="0" cy="2527"/>
            </a:xfrm>
            <a:prstGeom prst="straightConnector1">
              <a:avLst/>
            </a:prstGeom>
            <a:noFill/>
            <a:ln cap="rnd" cmpd="sng" w="12700">
              <a:solidFill>
                <a:srgbClr val="000000"/>
              </a:solidFill>
              <a:prstDash val="solid"/>
              <a:round/>
              <a:headEnd len="sm" w="sm" type="none"/>
              <a:tailEnd len="sm" w="sm" type="none"/>
            </a:ln>
          </p:spPr>
        </p:cxnSp>
        <p:cxnSp>
          <p:nvCxnSpPr>
            <p:cNvPr id="324" name="Google Shape;324;p19"/>
            <p:cNvCxnSpPr/>
            <p:nvPr/>
          </p:nvCxnSpPr>
          <p:spPr>
            <a:xfrm>
              <a:off x="288" y="1248"/>
              <a:ext cx="5184" cy="0"/>
            </a:xfrm>
            <a:prstGeom prst="straightConnector1">
              <a:avLst/>
            </a:prstGeom>
            <a:noFill/>
            <a:ln cap="rnd" cmpd="sng" w="12700">
              <a:solidFill>
                <a:srgbClr val="010000"/>
              </a:solidFill>
              <a:prstDash val="solid"/>
              <a:round/>
              <a:headEnd len="sm" w="sm" type="none"/>
              <a:tailEnd len="sm" w="sm" type="none"/>
            </a:ln>
          </p:spPr>
        </p:cxnSp>
        <p:cxnSp>
          <p:nvCxnSpPr>
            <p:cNvPr id="325" name="Google Shape;325;p19"/>
            <p:cNvCxnSpPr/>
            <p:nvPr/>
          </p:nvCxnSpPr>
          <p:spPr>
            <a:xfrm>
              <a:off x="1170" y="1008"/>
              <a:ext cx="0" cy="2527"/>
            </a:xfrm>
            <a:prstGeom prst="straightConnector1">
              <a:avLst/>
            </a:prstGeom>
            <a:noFill/>
            <a:ln cap="rnd" cmpd="sng" w="12700">
              <a:solidFill>
                <a:srgbClr val="010000"/>
              </a:solidFill>
              <a:prstDash val="solid"/>
              <a:round/>
              <a:headEnd len="sm" w="sm" type="none"/>
              <a:tailEnd len="sm" w="sm" type="none"/>
            </a:ln>
          </p:spPr>
        </p:cxnSp>
        <p:cxnSp>
          <p:nvCxnSpPr>
            <p:cNvPr id="326" name="Google Shape;326;p19"/>
            <p:cNvCxnSpPr/>
            <p:nvPr/>
          </p:nvCxnSpPr>
          <p:spPr>
            <a:xfrm>
              <a:off x="1998" y="1008"/>
              <a:ext cx="0" cy="2527"/>
            </a:xfrm>
            <a:prstGeom prst="straightConnector1">
              <a:avLst/>
            </a:prstGeom>
            <a:noFill/>
            <a:ln cap="rnd" cmpd="sng" w="12700">
              <a:solidFill>
                <a:srgbClr val="010000"/>
              </a:solidFill>
              <a:prstDash val="solid"/>
              <a:round/>
              <a:headEnd len="sm" w="sm" type="none"/>
              <a:tailEnd len="sm" w="sm" type="none"/>
            </a:ln>
          </p:spPr>
        </p:cxnSp>
        <p:cxnSp>
          <p:nvCxnSpPr>
            <p:cNvPr id="327" name="Google Shape;327;p19"/>
            <p:cNvCxnSpPr/>
            <p:nvPr/>
          </p:nvCxnSpPr>
          <p:spPr>
            <a:xfrm>
              <a:off x="288" y="1797"/>
              <a:ext cx="5184" cy="0"/>
            </a:xfrm>
            <a:prstGeom prst="straightConnector1">
              <a:avLst/>
            </a:prstGeom>
            <a:noFill/>
            <a:ln cap="rnd" cmpd="sng" w="12700">
              <a:solidFill>
                <a:srgbClr val="010000"/>
              </a:solidFill>
              <a:prstDash val="solid"/>
              <a:round/>
              <a:headEnd len="sm" w="sm" type="none"/>
              <a:tailEnd len="sm" w="sm" type="none"/>
            </a:ln>
          </p:spPr>
        </p:cxnSp>
        <p:cxnSp>
          <p:nvCxnSpPr>
            <p:cNvPr id="328" name="Google Shape;328;p19"/>
            <p:cNvCxnSpPr/>
            <p:nvPr/>
          </p:nvCxnSpPr>
          <p:spPr>
            <a:xfrm>
              <a:off x="288" y="2757"/>
              <a:ext cx="5184" cy="0"/>
            </a:xfrm>
            <a:prstGeom prst="straightConnector1">
              <a:avLst/>
            </a:prstGeom>
            <a:noFill/>
            <a:ln cap="rnd" cmpd="sng" w="12700">
              <a:solidFill>
                <a:srgbClr val="010000"/>
              </a:solidFill>
              <a:prstDash val="solid"/>
              <a:round/>
              <a:headEnd len="sm" w="sm" type="none"/>
              <a:tailEnd len="sm" w="sm" type="none"/>
            </a:ln>
          </p:spPr>
        </p:cxnSp>
        <p:cxnSp>
          <p:nvCxnSpPr>
            <p:cNvPr id="329" name="Google Shape;329;p19"/>
            <p:cNvCxnSpPr/>
            <p:nvPr/>
          </p:nvCxnSpPr>
          <p:spPr>
            <a:xfrm>
              <a:off x="288" y="3305"/>
              <a:ext cx="5184" cy="0"/>
            </a:xfrm>
            <a:prstGeom prst="straightConnector1">
              <a:avLst/>
            </a:prstGeom>
            <a:noFill/>
            <a:ln cap="rnd" cmpd="sng" w="12700">
              <a:solidFill>
                <a:srgbClr val="010000"/>
              </a:solidFill>
              <a:prstDash val="solid"/>
              <a:round/>
              <a:headEnd len="sm" w="sm" type="none"/>
              <a:tailEnd len="sm" w="sm" type="none"/>
            </a:ln>
          </p:spPr>
        </p:cxnSp>
      </p:grpSp>
      <p:sp>
        <p:nvSpPr>
          <p:cNvPr id="330" name="Google Shape;330;p19"/>
          <p:cNvSpPr/>
          <p:nvPr/>
        </p:nvSpPr>
        <p:spPr>
          <a:xfrm>
            <a:off x="1560513" y="4892675"/>
            <a:ext cx="311150" cy="366713"/>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pic>
        <p:nvPicPr>
          <p:cNvPr descr="brac.png" id="331" name="Google Shape;331;p1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0"/>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337" name="Google Shape;337;p20"/>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Visibility (Cont’d)</a:t>
            </a:r>
            <a:endParaRPr/>
          </a:p>
        </p:txBody>
      </p:sp>
      <p:sp>
        <p:nvSpPr>
          <p:cNvPr id="338" name="Google Shape;338;p20"/>
          <p:cNvSpPr/>
          <p:nvPr/>
        </p:nvSpPr>
        <p:spPr>
          <a:xfrm>
            <a:off x="685800" y="1676400"/>
            <a:ext cx="2590800" cy="762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339" name="Google Shape;339;p20"/>
          <p:cNvSpPr/>
          <p:nvPr/>
        </p:nvSpPr>
        <p:spPr>
          <a:xfrm>
            <a:off x="685800" y="2438400"/>
            <a:ext cx="25908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address   :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age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ssn           : Id</a:t>
            </a:r>
            <a:endParaRPr b="0" i="0" sz="1400" u="none" cap="none" strike="noStrike">
              <a:solidFill>
                <a:srgbClr val="000000"/>
              </a:solidFill>
              <a:latin typeface="Arial"/>
              <a:ea typeface="Arial"/>
              <a:cs typeface="Arial"/>
              <a:sym typeface="Arial"/>
            </a:endParaRPr>
          </a:p>
        </p:txBody>
      </p:sp>
      <p:sp>
        <p:nvSpPr>
          <p:cNvPr id="340" name="Google Shape;340;p20"/>
          <p:cNvSpPr/>
          <p:nvPr/>
        </p:nvSpPr>
        <p:spPr>
          <a:xfrm>
            <a:off x="685800" y="4724400"/>
            <a:ext cx="2590800" cy="609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eat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sleep ()</a:t>
            </a:r>
            <a:endParaRPr b="0" i="0" sz="1800" u="none" cap="none" strike="noStrike">
              <a:solidFill>
                <a:schemeClr val="dk1"/>
              </a:solidFill>
              <a:latin typeface="Gill Sans"/>
              <a:ea typeface="Gill Sans"/>
              <a:cs typeface="Gill Sans"/>
              <a:sym typeface="Gill Sans"/>
            </a:endParaRPr>
          </a:p>
        </p:txBody>
      </p:sp>
      <p:sp>
        <p:nvSpPr>
          <p:cNvPr id="341" name="Google Shape;341;p20"/>
          <p:cNvSpPr txBox="1"/>
          <p:nvPr/>
        </p:nvSpPr>
        <p:spPr>
          <a:xfrm>
            <a:off x="3657600" y="2438400"/>
            <a:ext cx="2459038" cy="191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Attributes can be: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 public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 protected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 private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	/ derived</a:t>
            </a:r>
            <a:endParaRPr b="0" i="0" sz="1400" u="none" cap="none" strike="noStrike">
              <a:solidFill>
                <a:srgbClr val="000000"/>
              </a:solidFill>
              <a:latin typeface="Arial"/>
              <a:ea typeface="Arial"/>
              <a:cs typeface="Arial"/>
              <a:sym typeface="Arial"/>
            </a:endParaRPr>
          </a:p>
        </p:txBody>
      </p:sp>
      <p:pic>
        <p:nvPicPr>
          <p:cNvPr descr="brac.png" id="342" name="Google Shape;342;p20"/>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Relationships among Classes</a:t>
            </a:r>
            <a:endParaRPr/>
          </a:p>
        </p:txBody>
      </p:sp>
      <p:sp>
        <p:nvSpPr>
          <p:cNvPr id="349" name="Google Shape;349;p2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Represents a connection between multiple classes or a class and itself</a:t>
            </a:r>
            <a:endParaRPr/>
          </a:p>
          <a:p>
            <a:pPr indent="-274320" lvl="0" marL="274320" rtl="0" algn="l">
              <a:lnSpc>
                <a:spcPct val="100000"/>
              </a:lnSpc>
              <a:spcBef>
                <a:spcPts val="600"/>
              </a:spcBef>
              <a:spcAft>
                <a:spcPts val="0"/>
              </a:spcAft>
              <a:buSzPts val="2736"/>
              <a:buChar char="?"/>
            </a:pPr>
            <a:r>
              <a:rPr lang="en-US" sz="3600"/>
              <a:t>2 basic categories:</a:t>
            </a:r>
            <a:endParaRPr/>
          </a:p>
          <a:p>
            <a:pPr indent="-274319" lvl="1" marL="548640" rtl="0" algn="l">
              <a:lnSpc>
                <a:spcPct val="100000"/>
              </a:lnSpc>
              <a:spcBef>
                <a:spcPts val="500"/>
              </a:spcBef>
              <a:spcAft>
                <a:spcPts val="0"/>
              </a:spcAft>
              <a:buSzPts val="2432"/>
              <a:buChar char="?"/>
            </a:pPr>
            <a:r>
              <a:rPr lang="en-US" sz="3200"/>
              <a:t>association relationships</a:t>
            </a:r>
            <a:endParaRPr/>
          </a:p>
          <a:p>
            <a:pPr indent="-228600" lvl="2" marL="822960" rtl="0" algn="l">
              <a:lnSpc>
                <a:spcPct val="100000"/>
              </a:lnSpc>
              <a:spcBef>
                <a:spcPts val="500"/>
              </a:spcBef>
              <a:spcAft>
                <a:spcPts val="0"/>
              </a:spcAft>
              <a:buSzPts val="1520"/>
              <a:buChar char="?"/>
            </a:pPr>
            <a:r>
              <a:rPr lang="en-US"/>
              <a:t>Aggregation</a:t>
            </a:r>
            <a:endParaRPr/>
          </a:p>
          <a:p>
            <a:pPr indent="-228600" lvl="2" marL="822960" rtl="0" algn="l">
              <a:lnSpc>
                <a:spcPct val="100000"/>
              </a:lnSpc>
              <a:spcBef>
                <a:spcPts val="500"/>
              </a:spcBef>
              <a:spcAft>
                <a:spcPts val="0"/>
              </a:spcAft>
              <a:buSzPts val="1520"/>
              <a:buChar char="?"/>
            </a:pPr>
            <a:r>
              <a:rPr lang="en-US"/>
              <a:t>Composition</a:t>
            </a:r>
            <a:endParaRPr/>
          </a:p>
          <a:p>
            <a:pPr indent="-218948" lvl="2" marL="822960" rtl="0" algn="l">
              <a:lnSpc>
                <a:spcPct val="100000"/>
              </a:lnSpc>
              <a:spcBef>
                <a:spcPts val="500"/>
              </a:spcBef>
              <a:spcAft>
                <a:spcPts val="0"/>
              </a:spcAft>
              <a:buSzPts val="1368"/>
              <a:buChar char="?"/>
            </a:pPr>
            <a:r>
              <a:rPr lang="en-US"/>
              <a:t>Reflexive</a:t>
            </a:r>
            <a:endParaRPr/>
          </a:p>
          <a:p>
            <a:pPr indent="-218948" lvl="2" marL="822960" rtl="0" algn="l">
              <a:lnSpc>
                <a:spcPct val="100000"/>
              </a:lnSpc>
              <a:spcBef>
                <a:spcPts val="500"/>
              </a:spcBef>
              <a:spcAft>
                <a:spcPts val="0"/>
              </a:spcAft>
              <a:buSzPts val="1368"/>
              <a:buChar char="?"/>
            </a:pPr>
            <a:r>
              <a:rPr lang="en-US"/>
              <a:t>Dependency</a:t>
            </a:r>
            <a:endParaRPr/>
          </a:p>
          <a:p>
            <a:pPr indent="-274319" lvl="1" marL="548640" rtl="0" algn="l">
              <a:lnSpc>
                <a:spcPct val="100000"/>
              </a:lnSpc>
              <a:spcBef>
                <a:spcPts val="500"/>
              </a:spcBef>
              <a:spcAft>
                <a:spcPts val="0"/>
              </a:spcAft>
              <a:buSzPts val="2432"/>
              <a:buChar char="?"/>
            </a:pPr>
            <a:r>
              <a:rPr lang="en-US" sz="3200"/>
              <a:t>generalization relationships</a:t>
            </a:r>
            <a:endParaRPr/>
          </a:p>
        </p:txBody>
      </p:sp>
      <p:pic>
        <p:nvPicPr>
          <p:cNvPr descr="brac.png" id="350" name="Google Shape;350;p21"/>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Association Relationship</a:t>
            </a:r>
            <a:endParaRPr/>
          </a:p>
        </p:txBody>
      </p:sp>
      <p:sp>
        <p:nvSpPr>
          <p:cNvPr id="357" name="Google Shape;357;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A bidirectional semantic connection between classes</a:t>
            </a:r>
            <a:endParaRPr/>
          </a:p>
          <a:p>
            <a:pPr indent="-274320" lvl="0" marL="274320" rtl="0" algn="l">
              <a:lnSpc>
                <a:spcPct val="100000"/>
              </a:lnSpc>
              <a:spcBef>
                <a:spcPts val="600"/>
              </a:spcBef>
              <a:spcAft>
                <a:spcPts val="0"/>
              </a:spcAft>
              <a:buSzPts val="2736"/>
              <a:buChar char="?"/>
            </a:pPr>
            <a:r>
              <a:rPr lang="en-US" sz="3600"/>
              <a:t>Type:</a:t>
            </a:r>
            <a:endParaRPr/>
          </a:p>
          <a:p>
            <a:pPr indent="-274319" lvl="1" marL="548640" rtl="0" algn="l">
              <a:lnSpc>
                <a:spcPct val="100000"/>
              </a:lnSpc>
              <a:spcBef>
                <a:spcPts val="500"/>
              </a:spcBef>
              <a:spcAft>
                <a:spcPts val="0"/>
              </a:spcAft>
              <a:buSzPts val="2432"/>
              <a:buChar char="?"/>
            </a:pPr>
            <a:r>
              <a:rPr lang="en-US" sz="3200"/>
              <a:t>name of relationship</a:t>
            </a:r>
            <a:endParaRPr/>
          </a:p>
          <a:p>
            <a:pPr indent="-274319" lvl="1" marL="548640" rtl="0" algn="l">
              <a:lnSpc>
                <a:spcPct val="100000"/>
              </a:lnSpc>
              <a:spcBef>
                <a:spcPts val="500"/>
              </a:spcBef>
              <a:spcAft>
                <a:spcPts val="0"/>
              </a:spcAft>
              <a:buSzPts val="2432"/>
              <a:buChar char="?"/>
            </a:pPr>
            <a:r>
              <a:rPr lang="en-US" sz="3200"/>
              <a:t>role that classes play in the relationship</a:t>
            </a:r>
            <a:endParaRPr/>
          </a:p>
        </p:txBody>
      </p:sp>
      <p:pic>
        <p:nvPicPr>
          <p:cNvPr descr="brac.png" id="358" name="Google Shape;358;p2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Association Relationship</a:t>
            </a:r>
            <a:endParaRPr/>
          </a:p>
        </p:txBody>
      </p:sp>
      <p:sp>
        <p:nvSpPr>
          <p:cNvPr id="365" name="Google Shape;365;p23"/>
          <p:cNvSpPr txBox="1"/>
          <p:nvPr>
            <p:ph idx="1" type="body"/>
          </p:nvPr>
        </p:nvSpPr>
        <p:spPr>
          <a:xfrm>
            <a:off x="457200" y="1600200"/>
            <a:ext cx="8382000" cy="33447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Name of relationship type shown by:</a:t>
            </a:r>
            <a:endParaRPr/>
          </a:p>
          <a:p>
            <a:pPr indent="-274319" lvl="1" marL="548640" rtl="0" algn="l">
              <a:lnSpc>
                <a:spcPct val="100000"/>
              </a:lnSpc>
              <a:spcBef>
                <a:spcPts val="500"/>
              </a:spcBef>
              <a:spcAft>
                <a:spcPts val="0"/>
              </a:spcAft>
              <a:buSzPts val="2432"/>
              <a:buChar char="?"/>
            </a:pPr>
            <a:r>
              <a:rPr lang="en-US" sz="3200"/>
              <a:t>drawing line between classes</a:t>
            </a:r>
            <a:endParaRPr/>
          </a:p>
          <a:p>
            <a:pPr indent="-274319" lvl="1" marL="548640" rtl="0" algn="l">
              <a:lnSpc>
                <a:spcPct val="100000"/>
              </a:lnSpc>
              <a:spcBef>
                <a:spcPts val="500"/>
              </a:spcBef>
              <a:spcAft>
                <a:spcPts val="0"/>
              </a:spcAft>
              <a:buSzPts val="2432"/>
              <a:buChar char="?"/>
            </a:pPr>
            <a:r>
              <a:rPr lang="en-US" sz="3200"/>
              <a:t>labeling with the name of the relationship</a:t>
            </a:r>
            <a:endParaRPr/>
          </a:p>
          <a:p>
            <a:pPr indent="-274319" lvl="1" marL="548640" rtl="0" algn="l">
              <a:lnSpc>
                <a:spcPct val="100000"/>
              </a:lnSpc>
              <a:spcBef>
                <a:spcPts val="500"/>
              </a:spcBef>
              <a:spcAft>
                <a:spcPts val="0"/>
              </a:spcAft>
              <a:buSzPts val="2432"/>
              <a:buChar char="?"/>
            </a:pPr>
            <a:r>
              <a:rPr lang="en-US" sz="3200"/>
              <a:t>indicating with a small solid triangle beside the name of the relationship the direction of the association</a:t>
            </a:r>
            <a:endParaRPr/>
          </a:p>
        </p:txBody>
      </p:sp>
      <p:sp>
        <p:nvSpPr>
          <p:cNvPr id="366" name="Google Shape;366;p23"/>
          <p:cNvSpPr/>
          <p:nvPr/>
        </p:nvSpPr>
        <p:spPr>
          <a:xfrm>
            <a:off x="990600" y="5486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367" name="Google Shape;367;p23"/>
          <p:cNvSpPr/>
          <p:nvPr/>
        </p:nvSpPr>
        <p:spPr>
          <a:xfrm>
            <a:off x="6019800" y="54864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cxnSp>
        <p:nvCxnSpPr>
          <p:cNvPr id="368" name="Google Shape;368;p23"/>
          <p:cNvCxnSpPr/>
          <p:nvPr/>
        </p:nvCxnSpPr>
        <p:spPr>
          <a:xfrm>
            <a:off x="2743200" y="5791200"/>
            <a:ext cx="3276600" cy="0"/>
          </a:xfrm>
          <a:prstGeom prst="straightConnector1">
            <a:avLst/>
          </a:prstGeom>
          <a:noFill/>
          <a:ln cap="flat" cmpd="sng" w="9525">
            <a:solidFill>
              <a:schemeClr val="dk1"/>
            </a:solidFill>
            <a:prstDash val="solid"/>
            <a:round/>
            <a:headEnd len="sm" w="sm" type="none"/>
            <a:tailEnd len="sm" w="sm" type="none"/>
          </a:ln>
        </p:spPr>
      </p:cxnSp>
      <p:sp>
        <p:nvSpPr>
          <p:cNvPr id="369" name="Google Shape;369;p23"/>
          <p:cNvSpPr txBox="1"/>
          <p:nvPr/>
        </p:nvSpPr>
        <p:spPr>
          <a:xfrm>
            <a:off x="3276600" y="5410200"/>
            <a:ext cx="2286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Provides </a:t>
            </a:r>
            <a:endParaRPr b="0" i="0" sz="1400" u="none" cap="none" strike="noStrike">
              <a:solidFill>
                <a:srgbClr val="000000"/>
              </a:solidFill>
              <a:latin typeface="Arial"/>
              <a:ea typeface="Arial"/>
              <a:cs typeface="Arial"/>
              <a:sym typeface="Arial"/>
            </a:endParaRPr>
          </a:p>
        </p:txBody>
      </p:sp>
      <p:sp>
        <p:nvSpPr>
          <p:cNvPr id="370" name="Google Shape;370;p23"/>
          <p:cNvSpPr txBox="1"/>
          <p:nvPr/>
        </p:nvSpPr>
        <p:spPr>
          <a:xfrm>
            <a:off x="1066800" y="5562600"/>
            <a:ext cx="15240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Patient</a:t>
            </a:r>
            <a:endParaRPr b="0" i="0" sz="1400" u="none" cap="none" strike="noStrike">
              <a:solidFill>
                <a:srgbClr val="000000"/>
              </a:solidFill>
              <a:latin typeface="Arial"/>
              <a:ea typeface="Arial"/>
              <a:cs typeface="Arial"/>
              <a:sym typeface="Arial"/>
            </a:endParaRPr>
          </a:p>
        </p:txBody>
      </p:sp>
      <p:sp>
        <p:nvSpPr>
          <p:cNvPr id="371" name="Google Shape;371;p23"/>
          <p:cNvSpPr txBox="1"/>
          <p:nvPr/>
        </p:nvSpPr>
        <p:spPr>
          <a:xfrm>
            <a:off x="6019800" y="5562600"/>
            <a:ext cx="2438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Medical History</a:t>
            </a:r>
            <a:endParaRPr b="0" i="0" sz="1400" u="none" cap="none" strike="noStrike">
              <a:solidFill>
                <a:srgbClr val="000000"/>
              </a:solidFill>
              <a:latin typeface="Arial"/>
              <a:ea typeface="Arial"/>
              <a:cs typeface="Arial"/>
              <a:sym typeface="Arial"/>
            </a:endParaRPr>
          </a:p>
        </p:txBody>
      </p:sp>
      <p:cxnSp>
        <p:nvCxnSpPr>
          <p:cNvPr id="372" name="Google Shape;372;p23"/>
          <p:cNvCxnSpPr/>
          <p:nvPr/>
        </p:nvCxnSpPr>
        <p:spPr>
          <a:xfrm>
            <a:off x="4876800" y="5638800"/>
            <a:ext cx="76200" cy="0"/>
          </a:xfrm>
          <a:prstGeom prst="straightConnector1">
            <a:avLst/>
          </a:prstGeom>
          <a:noFill/>
          <a:ln cap="flat" cmpd="sng" w="9525">
            <a:solidFill>
              <a:schemeClr val="dk1"/>
            </a:solidFill>
            <a:prstDash val="solid"/>
            <a:round/>
            <a:headEnd len="sm" w="sm" type="none"/>
            <a:tailEnd len="med" w="med" type="triangle"/>
          </a:ln>
        </p:spPr>
      </p:cxnSp>
      <p:pic>
        <p:nvPicPr>
          <p:cNvPr descr="brac.png" id="373" name="Google Shape;373;p23"/>
          <p:cNvPicPr preferRelativeResize="0"/>
          <p:nvPr/>
        </p:nvPicPr>
        <p:blipFill rotWithShape="1">
          <a:blip r:embed="rId3">
            <a:alphaModFix/>
          </a:blip>
          <a:srcRect b="0" l="0" r="0" t="0"/>
          <a:stretch/>
        </p:blipFill>
        <p:spPr>
          <a:xfrm>
            <a:off x="7884368" y="0"/>
            <a:ext cx="1259632" cy="1124744"/>
          </a:xfrm>
          <a:prstGeom prst="rect">
            <a:avLst/>
          </a:prstGeom>
          <a:noFill/>
          <a:ln>
            <a:noFill/>
          </a:ln>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4"/>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379" name="Google Shape;379;p24"/>
          <p:cNvSpPr txBox="1"/>
          <p:nvPr>
            <p:ph type="title"/>
          </p:nvPr>
        </p:nvSpPr>
        <p:spPr>
          <a:xfrm>
            <a:off x="6096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Association Relationships</a:t>
            </a:r>
            <a:endParaRPr/>
          </a:p>
        </p:txBody>
      </p:sp>
      <p:sp>
        <p:nvSpPr>
          <p:cNvPr id="380" name="Google Shape;380;p24"/>
          <p:cNvSpPr txBox="1"/>
          <p:nvPr/>
        </p:nvSpPr>
        <p:spPr>
          <a:xfrm>
            <a:off x="609600" y="1371600"/>
            <a:ext cx="8108950" cy="1552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If two classes in a model need to communicate with each other, there must be link between them.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An </a:t>
            </a:r>
            <a:r>
              <a:rPr b="0" i="1" lang="en-US" sz="1800" u="none" cap="none" strike="noStrike">
                <a:solidFill>
                  <a:schemeClr val="dk1"/>
                </a:solidFill>
                <a:latin typeface="Gill Sans"/>
                <a:ea typeface="Gill Sans"/>
                <a:cs typeface="Gill Sans"/>
                <a:sym typeface="Gill Sans"/>
              </a:rPr>
              <a:t>association</a:t>
            </a:r>
            <a:r>
              <a:rPr b="0" i="0" lang="en-US" sz="1800" u="none" cap="none" strike="noStrike">
                <a:solidFill>
                  <a:schemeClr val="dk1"/>
                </a:solidFill>
                <a:latin typeface="Gill Sans"/>
                <a:ea typeface="Gill Sans"/>
                <a:cs typeface="Gill Sans"/>
                <a:sym typeface="Gill Sans"/>
              </a:rPr>
              <a:t> denotes that link. </a:t>
            </a:r>
            <a:endParaRPr b="0" i="0" sz="1400" u="none" cap="none" strike="noStrike">
              <a:solidFill>
                <a:srgbClr val="000000"/>
              </a:solidFill>
              <a:latin typeface="Arial"/>
              <a:ea typeface="Arial"/>
              <a:cs typeface="Arial"/>
              <a:sym typeface="Arial"/>
            </a:endParaRPr>
          </a:p>
        </p:txBody>
      </p:sp>
      <p:cxnSp>
        <p:nvCxnSpPr>
          <p:cNvPr id="381" name="Google Shape;381;p24"/>
          <p:cNvCxnSpPr/>
          <p:nvPr/>
        </p:nvCxnSpPr>
        <p:spPr>
          <a:xfrm>
            <a:off x="2743200" y="4038600"/>
            <a:ext cx="3657600" cy="0"/>
          </a:xfrm>
          <a:prstGeom prst="straightConnector1">
            <a:avLst/>
          </a:prstGeom>
          <a:noFill/>
          <a:ln cap="flat" cmpd="sng" w="28575">
            <a:solidFill>
              <a:schemeClr val="dk1"/>
            </a:solidFill>
            <a:prstDash val="solid"/>
            <a:round/>
            <a:headEnd len="sm" w="sm" type="none"/>
            <a:tailEnd len="sm" w="sm" type="none"/>
          </a:ln>
        </p:spPr>
      </p:cxnSp>
      <p:sp>
        <p:nvSpPr>
          <p:cNvPr id="382" name="Google Shape;382;p24"/>
          <p:cNvSpPr/>
          <p:nvPr/>
        </p:nvSpPr>
        <p:spPr>
          <a:xfrm>
            <a:off x="6324600" y="38100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383" name="Google Shape;383;p24"/>
          <p:cNvSpPr/>
          <p:nvPr/>
        </p:nvSpPr>
        <p:spPr>
          <a:xfrm>
            <a:off x="685800" y="37719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pic>
        <p:nvPicPr>
          <p:cNvPr descr="brac.png" id="384" name="Google Shape;384;p2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5"/>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390" name="Google Shape;390;p25"/>
          <p:cNvSpPr txBox="1"/>
          <p:nvPr>
            <p:ph type="title"/>
          </p:nvPr>
        </p:nvSpPr>
        <p:spPr>
          <a:xfrm>
            <a:off x="609600" y="381000"/>
            <a:ext cx="81534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Association Relationships (Cont’d)</a:t>
            </a:r>
            <a:endParaRPr/>
          </a:p>
        </p:txBody>
      </p:sp>
      <p:sp>
        <p:nvSpPr>
          <p:cNvPr id="391" name="Google Shape;391;p25"/>
          <p:cNvSpPr txBox="1"/>
          <p:nvPr/>
        </p:nvSpPr>
        <p:spPr>
          <a:xfrm>
            <a:off x="609600" y="1371600"/>
            <a:ext cx="8108950" cy="191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We can indicate the </a:t>
            </a:r>
            <a:r>
              <a:rPr b="0" i="1" lang="en-US" sz="1800" u="none" cap="none" strike="noStrike">
                <a:solidFill>
                  <a:schemeClr val="dk1"/>
                </a:solidFill>
                <a:latin typeface="Gill Sans"/>
                <a:ea typeface="Gill Sans"/>
                <a:cs typeface="Gill Sans"/>
                <a:sym typeface="Gill Sans"/>
              </a:rPr>
              <a:t>multiplicity</a:t>
            </a:r>
            <a:r>
              <a:rPr b="0" i="0" lang="en-US" sz="1800" u="none" cap="none" strike="noStrike">
                <a:solidFill>
                  <a:schemeClr val="dk1"/>
                </a:solidFill>
                <a:latin typeface="Gill Sans"/>
                <a:ea typeface="Gill Sans"/>
                <a:cs typeface="Gill Sans"/>
                <a:sym typeface="Gill Sans"/>
              </a:rPr>
              <a:t> of an association by adding </a:t>
            </a:r>
            <a:r>
              <a:rPr b="0" i="1" lang="en-US" sz="1800" u="none" cap="none" strike="noStrike">
                <a:solidFill>
                  <a:schemeClr val="dk1"/>
                </a:solidFill>
                <a:latin typeface="Gill Sans"/>
                <a:ea typeface="Gill Sans"/>
                <a:cs typeface="Gill Sans"/>
                <a:sym typeface="Gill Sans"/>
              </a:rPr>
              <a:t>multiplicity adornments</a:t>
            </a:r>
            <a:r>
              <a:rPr b="0" i="0" lang="en-US" sz="1800" u="none" cap="none" strike="noStrike">
                <a:solidFill>
                  <a:schemeClr val="dk1"/>
                </a:solidFill>
                <a:latin typeface="Gill Sans"/>
                <a:ea typeface="Gill Sans"/>
                <a:cs typeface="Gill Sans"/>
                <a:sym typeface="Gill Sans"/>
              </a:rPr>
              <a:t> to the line denoting the association.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The example indicates that a </a:t>
            </a:r>
            <a:r>
              <a:rPr b="0" i="1" lang="en-US" sz="1800" u="none" cap="none" strike="noStrike">
                <a:solidFill>
                  <a:schemeClr val="dk1"/>
                </a:solidFill>
                <a:latin typeface="Gill Sans"/>
                <a:ea typeface="Gill Sans"/>
                <a:cs typeface="Gill Sans"/>
                <a:sym typeface="Gill Sans"/>
              </a:rPr>
              <a:t>Student</a:t>
            </a:r>
            <a:r>
              <a:rPr b="0" i="0" lang="en-US" sz="1800" u="none" cap="none" strike="noStrike">
                <a:solidFill>
                  <a:schemeClr val="dk1"/>
                </a:solidFill>
                <a:latin typeface="Gill Sans"/>
                <a:ea typeface="Gill Sans"/>
                <a:cs typeface="Gill Sans"/>
                <a:sym typeface="Gill Sans"/>
              </a:rPr>
              <a:t> has one or more </a:t>
            </a:r>
            <a:r>
              <a:rPr b="0" i="1" lang="en-US" sz="1800" u="none" cap="none" strike="noStrike">
                <a:solidFill>
                  <a:schemeClr val="dk1"/>
                </a:solidFill>
                <a:latin typeface="Gill Sans"/>
                <a:ea typeface="Gill Sans"/>
                <a:cs typeface="Gill Sans"/>
                <a:sym typeface="Gill Sans"/>
              </a:rPr>
              <a:t>Instructors</a:t>
            </a:r>
            <a:r>
              <a:rPr b="0" i="0" lang="en-US" sz="1800" u="none" cap="none" strike="noStrike">
                <a:solidFill>
                  <a:schemeClr val="dk1"/>
                </a:solidFill>
                <a:latin typeface="Gill Sans"/>
                <a:ea typeface="Gill Sans"/>
                <a:cs typeface="Gill Sans"/>
                <a:sym typeface="Gill Sans"/>
              </a:rPr>
              <a:t>:</a:t>
            </a:r>
            <a:endParaRPr b="0" i="0" sz="1400" u="none" cap="none" strike="noStrike">
              <a:solidFill>
                <a:srgbClr val="000000"/>
              </a:solidFill>
              <a:latin typeface="Arial"/>
              <a:ea typeface="Arial"/>
              <a:cs typeface="Arial"/>
              <a:sym typeface="Arial"/>
            </a:endParaRPr>
          </a:p>
        </p:txBody>
      </p:sp>
      <p:cxnSp>
        <p:nvCxnSpPr>
          <p:cNvPr id="392" name="Google Shape;392;p25"/>
          <p:cNvCxnSpPr/>
          <p:nvPr/>
        </p:nvCxnSpPr>
        <p:spPr>
          <a:xfrm>
            <a:off x="2743200" y="4038600"/>
            <a:ext cx="3657600" cy="0"/>
          </a:xfrm>
          <a:prstGeom prst="straightConnector1">
            <a:avLst/>
          </a:prstGeom>
          <a:noFill/>
          <a:ln cap="flat" cmpd="sng" w="28575">
            <a:solidFill>
              <a:schemeClr val="dk1"/>
            </a:solidFill>
            <a:prstDash val="solid"/>
            <a:round/>
            <a:headEnd len="sm" w="sm" type="none"/>
            <a:tailEnd len="sm" w="sm" type="none"/>
          </a:ln>
        </p:spPr>
      </p:cxnSp>
      <p:sp>
        <p:nvSpPr>
          <p:cNvPr id="393" name="Google Shape;393;p25"/>
          <p:cNvSpPr/>
          <p:nvPr/>
        </p:nvSpPr>
        <p:spPr>
          <a:xfrm>
            <a:off x="6324600" y="38100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394" name="Google Shape;394;p25"/>
          <p:cNvSpPr/>
          <p:nvPr/>
        </p:nvSpPr>
        <p:spPr>
          <a:xfrm>
            <a:off x="685800" y="37719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395" name="Google Shape;395;p25"/>
          <p:cNvSpPr txBox="1"/>
          <p:nvPr/>
        </p:nvSpPr>
        <p:spPr>
          <a:xfrm>
            <a:off x="5638800" y="4038600"/>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pic>
        <p:nvPicPr>
          <p:cNvPr descr="brac.png" id="396" name="Google Shape;396;p2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6"/>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402" name="Google Shape;402;p26"/>
          <p:cNvSpPr txBox="1"/>
          <p:nvPr>
            <p:ph type="title"/>
          </p:nvPr>
        </p:nvSpPr>
        <p:spPr>
          <a:xfrm>
            <a:off x="609600" y="381000"/>
            <a:ext cx="8229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Association Relationships (Cont’d)</a:t>
            </a:r>
            <a:endParaRPr/>
          </a:p>
        </p:txBody>
      </p:sp>
      <p:sp>
        <p:nvSpPr>
          <p:cNvPr id="403" name="Google Shape;403;p26"/>
          <p:cNvSpPr txBox="1"/>
          <p:nvPr/>
        </p:nvSpPr>
        <p:spPr>
          <a:xfrm>
            <a:off x="609600" y="1981200"/>
            <a:ext cx="810895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The example indicates that every </a:t>
            </a:r>
            <a:r>
              <a:rPr b="0" i="1" lang="en-US" sz="1800" u="none" cap="none" strike="noStrike">
                <a:solidFill>
                  <a:schemeClr val="dk1"/>
                </a:solidFill>
                <a:latin typeface="Gill Sans"/>
                <a:ea typeface="Gill Sans"/>
                <a:cs typeface="Gill Sans"/>
                <a:sym typeface="Gill Sans"/>
              </a:rPr>
              <a:t>Instructor</a:t>
            </a:r>
            <a:r>
              <a:rPr b="0" i="0" lang="en-US" sz="1800" u="none" cap="none" strike="noStrike">
                <a:solidFill>
                  <a:schemeClr val="dk1"/>
                </a:solidFill>
                <a:latin typeface="Gill Sans"/>
                <a:ea typeface="Gill Sans"/>
                <a:cs typeface="Gill Sans"/>
                <a:sym typeface="Gill Sans"/>
              </a:rPr>
              <a:t> has one or more </a:t>
            </a:r>
            <a:r>
              <a:rPr b="0" i="1" lang="en-US" sz="1800" u="none" cap="none" strike="noStrike">
                <a:solidFill>
                  <a:schemeClr val="dk1"/>
                </a:solidFill>
                <a:latin typeface="Gill Sans"/>
                <a:ea typeface="Gill Sans"/>
                <a:cs typeface="Gill Sans"/>
                <a:sym typeface="Gill Sans"/>
              </a:rPr>
              <a:t>Students</a:t>
            </a:r>
            <a:r>
              <a:rPr b="0" i="0" lang="en-US" sz="1800" u="none" cap="none" strike="noStrike">
                <a:solidFill>
                  <a:schemeClr val="dk1"/>
                </a:solidFill>
                <a:latin typeface="Gill Sans"/>
                <a:ea typeface="Gill Sans"/>
                <a:cs typeface="Gill Sans"/>
                <a:sym typeface="Gill Sans"/>
              </a:rPr>
              <a:t>:</a:t>
            </a:r>
            <a:endParaRPr b="0" i="0" sz="1400" u="none" cap="none" strike="noStrike">
              <a:solidFill>
                <a:srgbClr val="000000"/>
              </a:solidFill>
              <a:latin typeface="Arial"/>
              <a:ea typeface="Arial"/>
              <a:cs typeface="Arial"/>
              <a:sym typeface="Arial"/>
            </a:endParaRPr>
          </a:p>
        </p:txBody>
      </p:sp>
      <p:cxnSp>
        <p:nvCxnSpPr>
          <p:cNvPr id="404" name="Google Shape;404;p26"/>
          <p:cNvCxnSpPr/>
          <p:nvPr/>
        </p:nvCxnSpPr>
        <p:spPr>
          <a:xfrm>
            <a:off x="2743200" y="4038600"/>
            <a:ext cx="3657600" cy="0"/>
          </a:xfrm>
          <a:prstGeom prst="straightConnector1">
            <a:avLst/>
          </a:prstGeom>
          <a:noFill/>
          <a:ln cap="flat" cmpd="sng" w="28575">
            <a:solidFill>
              <a:schemeClr val="dk1"/>
            </a:solidFill>
            <a:prstDash val="solid"/>
            <a:round/>
            <a:headEnd len="sm" w="sm" type="none"/>
            <a:tailEnd len="sm" w="sm" type="none"/>
          </a:ln>
        </p:spPr>
      </p:cxnSp>
      <p:sp>
        <p:nvSpPr>
          <p:cNvPr id="405" name="Google Shape;405;p26"/>
          <p:cNvSpPr/>
          <p:nvPr/>
        </p:nvSpPr>
        <p:spPr>
          <a:xfrm>
            <a:off x="6324600" y="38100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406" name="Google Shape;406;p26"/>
          <p:cNvSpPr/>
          <p:nvPr/>
        </p:nvSpPr>
        <p:spPr>
          <a:xfrm>
            <a:off x="685800" y="3771900"/>
            <a:ext cx="20574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407" name="Google Shape;407;p26"/>
          <p:cNvSpPr txBox="1"/>
          <p:nvPr/>
        </p:nvSpPr>
        <p:spPr>
          <a:xfrm>
            <a:off x="2743200" y="4038600"/>
            <a:ext cx="68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pic>
        <p:nvPicPr>
          <p:cNvPr descr="brac.png" id="408" name="Google Shape;408;p2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Association Relationship</a:t>
            </a:r>
            <a:endParaRPr/>
          </a:p>
        </p:txBody>
      </p:sp>
      <p:sp>
        <p:nvSpPr>
          <p:cNvPr id="415" name="Google Shape;415;p2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Reflexive Association</a:t>
            </a:r>
            <a:endParaRPr/>
          </a:p>
          <a:p>
            <a:pPr indent="-274319" lvl="1" marL="548640" rtl="0" algn="l">
              <a:lnSpc>
                <a:spcPct val="100000"/>
              </a:lnSpc>
              <a:spcBef>
                <a:spcPts val="500"/>
              </a:spcBef>
              <a:spcAft>
                <a:spcPts val="0"/>
              </a:spcAft>
              <a:buSzPts val="2432"/>
              <a:buChar char="?"/>
            </a:pPr>
            <a:r>
              <a:rPr lang="en-US" sz="3200"/>
              <a:t>drawing line between classes</a:t>
            </a:r>
            <a:endParaRPr/>
          </a:p>
          <a:p>
            <a:pPr indent="-274319" lvl="1" marL="548640" rtl="0" algn="l">
              <a:lnSpc>
                <a:spcPct val="100000"/>
              </a:lnSpc>
              <a:spcBef>
                <a:spcPts val="500"/>
              </a:spcBef>
              <a:spcAft>
                <a:spcPts val="0"/>
              </a:spcAft>
              <a:buSzPts val="2432"/>
              <a:buChar char="?"/>
            </a:pPr>
            <a:r>
              <a:rPr lang="en-US" sz="3200"/>
              <a:t>indicating with a plus sign before the role name</a:t>
            </a:r>
            <a:endParaRPr/>
          </a:p>
        </p:txBody>
      </p:sp>
      <p:sp>
        <p:nvSpPr>
          <p:cNvPr id="416" name="Google Shape;416;p27"/>
          <p:cNvSpPr/>
          <p:nvPr/>
        </p:nvSpPr>
        <p:spPr>
          <a:xfrm>
            <a:off x="990600" y="3962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417" name="Google Shape;417;p27"/>
          <p:cNvSpPr txBox="1"/>
          <p:nvPr/>
        </p:nvSpPr>
        <p:spPr>
          <a:xfrm>
            <a:off x="1066800" y="4038600"/>
            <a:ext cx="15240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Patient</a:t>
            </a:r>
            <a:endParaRPr b="0" i="0" sz="1400" u="none" cap="none" strike="noStrike">
              <a:solidFill>
                <a:srgbClr val="000000"/>
              </a:solidFill>
              <a:latin typeface="Arial"/>
              <a:ea typeface="Arial"/>
              <a:cs typeface="Arial"/>
              <a:sym typeface="Arial"/>
            </a:endParaRPr>
          </a:p>
        </p:txBody>
      </p:sp>
      <p:cxnSp>
        <p:nvCxnSpPr>
          <p:cNvPr id="418" name="Google Shape;418;p27"/>
          <p:cNvCxnSpPr/>
          <p:nvPr/>
        </p:nvCxnSpPr>
        <p:spPr>
          <a:xfrm>
            <a:off x="2743200" y="4267200"/>
            <a:ext cx="1371600" cy="0"/>
          </a:xfrm>
          <a:prstGeom prst="straightConnector1">
            <a:avLst/>
          </a:prstGeom>
          <a:noFill/>
          <a:ln cap="flat" cmpd="sng" w="9525">
            <a:solidFill>
              <a:schemeClr val="dk1"/>
            </a:solidFill>
            <a:prstDash val="solid"/>
            <a:round/>
            <a:headEnd len="sm" w="sm" type="none"/>
            <a:tailEnd len="sm" w="sm" type="none"/>
          </a:ln>
        </p:spPr>
      </p:cxnSp>
      <p:cxnSp>
        <p:nvCxnSpPr>
          <p:cNvPr id="419" name="Google Shape;419;p27"/>
          <p:cNvCxnSpPr/>
          <p:nvPr/>
        </p:nvCxnSpPr>
        <p:spPr>
          <a:xfrm>
            <a:off x="4114800" y="4267200"/>
            <a:ext cx="0" cy="1447800"/>
          </a:xfrm>
          <a:prstGeom prst="straightConnector1">
            <a:avLst/>
          </a:prstGeom>
          <a:noFill/>
          <a:ln cap="flat" cmpd="sng" w="9525">
            <a:solidFill>
              <a:schemeClr val="dk1"/>
            </a:solidFill>
            <a:prstDash val="solid"/>
            <a:round/>
            <a:headEnd len="sm" w="sm" type="none"/>
            <a:tailEnd len="sm" w="sm" type="none"/>
          </a:ln>
        </p:spPr>
      </p:cxnSp>
      <p:cxnSp>
        <p:nvCxnSpPr>
          <p:cNvPr id="420" name="Google Shape;420;p27"/>
          <p:cNvCxnSpPr/>
          <p:nvPr/>
        </p:nvCxnSpPr>
        <p:spPr>
          <a:xfrm rot="10800000">
            <a:off x="2133600" y="5715000"/>
            <a:ext cx="1981200" cy="0"/>
          </a:xfrm>
          <a:prstGeom prst="straightConnector1">
            <a:avLst/>
          </a:prstGeom>
          <a:noFill/>
          <a:ln cap="flat" cmpd="sng" w="9525">
            <a:solidFill>
              <a:schemeClr val="dk1"/>
            </a:solidFill>
            <a:prstDash val="solid"/>
            <a:round/>
            <a:headEnd len="sm" w="sm" type="none"/>
            <a:tailEnd len="sm" w="sm" type="none"/>
          </a:ln>
        </p:spPr>
      </p:cxnSp>
      <p:cxnSp>
        <p:nvCxnSpPr>
          <p:cNvPr id="421" name="Google Shape;421;p27"/>
          <p:cNvCxnSpPr/>
          <p:nvPr/>
        </p:nvCxnSpPr>
        <p:spPr>
          <a:xfrm rot="10800000">
            <a:off x="2133600" y="4495800"/>
            <a:ext cx="0" cy="1219200"/>
          </a:xfrm>
          <a:prstGeom prst="straightConnector1">
            <a:avLst/>
          </a:prstGeom>
          <a:noFill/>
          <a:ln cap="flat" cmpd="sng" w="9525">
            <a:solidFill>
              <a:schemeClr val="dk1"/>
            </a:solidFill>
            <a:prstDash val="solid"/>
            <a:round/>
            <a:headEnd len="sm" w="sm" type="none"/>
            <a:tailEnd len="sm" w="sm" type="none"/>
          </a:ln>
        </p:spPr>
      </p:cxnSp>
      <p:sp>
        <p:nvSpPr>
          <p:cNvPr id="422" name="Google Shape;422;p27"/>
          <p:cNvSpPr txBox="1"/>
          <p:nvPr/>
        </p:nvSpPr>
        <p:spPr>
          <a:xfrm>
            <a:off x="4191000" y="4724400"/>
            <a:ext cx="31242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primary insurance carrier</a:t>
            </a:r>
            <a:endParaRPr b="0" i="0" sz="1400" u="none" cap="none" strike="noStrike">
              <a:solidFill>
                <a:srgbClr val="000000"/>
              </a:solidFill>
              <a:latin typeface="Arial"/>
              <a:ea typeface="Arial"/>
              <a:cs typeface="Arial"/>
              <a:sym typeface="Arial"/>
            </a:endParaRPr>
          </a:p>
        </p:txBody>
      </p:sp>
      <p:pic>
        <p:nvPicPr>
          <p:cNvPr descr="brac.png" id="423" name="Google Shape;423;p2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274ebd9367a_0_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Association Relationship</a:t>
            </a:r>
            <a:endParaRPr/>
          </a:p>
        </p:txBody>
      </p:sp>
      <p:sp>
        <p:nvSpPr>
          <p:cNvPr id="430" name="Google Shape;430;g274ebd9367a_0_9"/>
          <p:cNvSpPr txBox="1"/>
          <p:nvPr>
            <p:ph idx="1" type="body"/>
          </p:nvPr>
        </p:nvSpPr>
        <p:spPr>
          <a:xfrm>
            <a:off x="457200" y="1600200"/>
            <a:ext cx="8229600" cy="4710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Reflexive Association</a:t>
            </a:r>
            <a:endParaRPr/>
          </a:p>
        </p:txBody>
      </p:sp>
      <p:sp>
        <p:nvSpPr>
          <p:cNvPr id="431" name="Google Shape;431;g274ebd9367a_0_9"/>
          <p:cNvSpPr/>
          <p:nvPr/>
        </p:nvSpPr>
        <p:spPr>
          <a:xfrm>
            <a:off x="990600" y="3962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432" name="Google Shape;432;g274ebd9367a_0_9"/>
          <p:cNvSpPr txBox="1"/>
          <p:nvPr/>
        </p:nvSpPr>
        <p:spPr>
          <a:xfrm>
            <a:off x="955050" y="3998250"/>
            <a:ext cx="1823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Airline Staff</a:t>
            </a:r>
            <a:endParaRPr b="0" i="0" sz="1400" u="none" cap="none" strike="noStrike">
              <a:solidFill>
                <a:srgbClr val="000000"/>
              </a:solidFill>
              <a:latin typeface="Arial"/>
              <a:ea typeface="Arial"/>
              <a:cs typeface="Arial"/>
              <a:sym typeface="Arial"/>
            </a:endParaRPr>
          </a:p>
        </p:txBody>
      </p:sp>
      <p:cxnSp>
        <p:nvCxnSpPr>
          <p:cNvPr id="433" name="Google Shape;433;g274ebd9367a_0_9"/>
          <p:cNvCxnSpPr/>
          <p:nvPr/>
        </p:nvCxnSpPr>
        <p:spPr>
          <a:xfrm>
            <a:off x="2743200" y="4267200"/>
            <a:ext cx="1371600" cy="0"/>
          </a:xfrm>
          <a:prstGeom prst="straightConnector1">
            <a:avLst/>
          </a:prstGeom>
          <a:noFill/>
          <a:ln cap="flat" cmpd="sng" w="9525">
            <a:solidFill>
              <a:schemeClr val="dk1"/>
            </a:solidFill>
            <a:prstDash val="solid"/>
            <a:round/>
            <a:headEnd len="sm" w="sm" type="none"/>
            <a:tailEnd len="sm" w="sm" type="none"/>
          </a:ln>
        </p:spPr>
      </p:cxnSp>
      <p:cxnSp>
        <p:nvCxnSpPr>
          <p:cNvPr id="434" name="Google Shape;434;g274ebd9367a_0_9"/>
          <p:cNvCxnSpPr/>
          <p:nvPr/>
        </p:nvCxnSpPr>
        <p:spPr>
          <a:xfrm>
            <a:off x="4114800" y="4267200"/>
            <a:ext cx="0" cy="1447800"/>
          </a:xfrm>
          <a:prstGeom prst="straightConnector1">
            <a:avLst/>
          </a:prstGeom>
          <a:noFill/>
          <a:ln cap="flat" cmpd="sng" w="9525">
            <a:solidFill>
              <a:schemeClr val="dk1"/>
            </a:solidFill>
            <a:prstDash val="solid"/>
            <a:round/>
            <a:headEnd len="sm" w="sm" type="none"/>
            <a:tailEnd len="sm" w="sm" type="none"/>
          </a:ln>
        </p:spPr>
      </p:cxnSp>
      <p:cxnSp>
        <p:nvCxnSpPr>
          <p:cNvPr id="435" name="Google Shape;435;g274ebd9367a_0_9"/>
          <p:cNvCxnSpPr/>
          <p:nvPr/>
        </p:nvCxnSpPr>
        <p:spPr>
          <a:xfrm rot="10800000">
            <a:off x="2133600" y="5715000"/>
            <a:ext cx="1981200" cy="0"/>
          </a:xfrm>
          <a:prstGeom prst="straightConnector1">
            <a:avLst/>
          </a:prstGeom>
          <a:noFill/>
          <a:ln cap="flat" cmpd="sng" w="9525">
            <a:solidFill>
              <a:schemeClr val="dk1"/>
            </a:solidFill>
            <a:prstDash val="solid"/>
            <a:round/>
            <a:headEnd len="sm" w="sm" type="none"/>
            <a:tailEnd len="sm" w="sm" type="none"/>
          </a:ln>
        </p:spPr>
      </p:cxnSp>
      <p:cxnSp>
        <p:nvCxnSpPr>
          <p:cNvPr id="436" name="Google Shape;436;g274ebd9367a_0_9"/>
          <p:cNvCxnSpPr/>
          <p:nvPr/>
        </p:nvCxnSpPr>
        <p:spPr>
          <a:xfrm rot="10800000">
            <a:off x="2133600" y="4495800"/>
            <a:ext cx="0" cy="1219200"/>
          </a:xfrm>
          <a:prstGeom prst="straightConnector1">
            <a:avLst/>
          </a:prstGeom>
          <a:noFill/>
          <a:ln cap="flat" cmpd="sng" w="9525">
            <a:solidFill>
              <a:schemeClr val="dk1"/>
            </a:solidFill>
            <a:prstDash val="solid"/>
            <a:round/>
            <a:headEnd len="sm" w="sm" type="none"/>
            <a:tailEnd len="sm" w="sm" type="none"/>
          </a:ln>
        </p:spPr>
      </p:cxnSp>
      <p:sp>
        <p:nvSpPr>
          <p:cNvPr id="437" name="Google Shape;437;g274ebd9367a_0_9"/>
          <p:cNvSpPr txBox="1"/>
          <p:nvPr/>
        </p:nvSpPr>
        <p:spPr>
          <a:xfrm>
            <a:off x="1253225" y="4665575"/>
            <a:ext cx="786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pic>
        <p:nvPicPr>
          <p:cNvPr descr="brac.png" id="438" name="Google Shape;438;g274ebd9367a_0_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
        <p:nvSpPr>
          <p:cNvPr id="439" name="Google Shape;439;g274ebd9367a_0_9"/>
          <p:cNvSpPr txBox="1"/>
          <p:nvPr/>
        </p:nvSpPr>
        <p:spPr>
          <a:xfrm>
            <a:off x="4182825" y="4760250"/>
            <a:ext cx="2193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managed by</a:t>
            </a:r>
            <a:endParaRPr b="0" i="0" sz="1400" u="none" cap="none" strike="noStrike">
              <a:solidFill>
                <a:srgbClr val="000000"/>
              </a:solidFill>
              <a:latin typeface="Arial"/>
              <a:ea typeface="Arial"/>
              <a:cs typeface="Arial"/>
              <a:sym typeface="Arial"/>
            </a:endParaRPr>
          </a:p>
        </p:txBody>
      </p:sp>
      <p:sp>
        <p:nvSpPr>
          <p:cNvPr id="440" name="Google Shape;440;g274ebd9367a_0_9"/>
          <p:cNvSpPr txBox="1"/>
          <p:nvPr/>
        </p:nvSpPr>
        <p:spPr>
          <a:xfrm>
            <a:off x="2879250" y="3742175"/>
            <a:ext cx="786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41" name="Google Shape;441;g274ebd9367a_0_9"/>
          <p:cNvSpPr txBox="1"/>
          <p:nvPr/>
        </p:nvSpPr>
        <p:spPr>
          <a:xfrm>
            <a:off x="955050" y="6426900"/>
            <a:ext cx="54411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500"/>
              </a:spcBef>
              <a:spcAft>
                <a:spcPts val="0"/>
              </a:spcAft>
              <a:buClr>
                <a:srgbClr val="000000"/>
              </a:buClr>
              <a:buSzPts val="1600"/>
              <a:buFont typeface="Arial"/>
              <a:buNone/>
            </a:pPr>
            <a:r>
              <a:rPr b="0" i="0" lang="en-US" sz="1600" u="none" cap="none" strike="noStrike">
                <a:solidFill>
                  <a:schemeClr val="dk2"/>
                </a:solidFill>
                <a:latin typeface="Gill Sans"/>
                <a:ea typeface="Gill Sans"/>
                <a:cs typeface="Gill Sans"/>
                <a:sym typeface="Gill Sans"/>
              </a:rPr>
              <a:t>https://creately.com/guides/class-diagram-relationships/</a:t>
            </a:r>
            <a:endParaRPr b="0" i="0" sz="1000" u="none" cap="none" strike="noStrike">
              <a:solidFill>
                <a:schemeClr val="dk1"/>
              </a:solidFill>
              <a:latin typeface="Gill Sans"/>
              <a:ea typeface="Gill Sans"/>
              <a:cs typeface="Gill Sans"/>
              <a:sym typeface="Gill Sans"/>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Aggregation Relationship</a:t>
            </a:r>
            <a:endParaRPr/>
          </a:p>
        </p:txBody>
      </p:sp>
      <p:sp>
        <p:nvSpPr>
          <p:cNvPr id="448" name="Google Shape;448;p2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Specialized form of association in which a whole is related to its part(s)</a:t>
            </a:r>
            <a:endParaRPr/>
          </a:p>
          <a:p>
            <a:pPr indent="-274320" lvl="0" marL="274320" rtl="0" algn="l">
              <a:lnSpc>
                <a:spcPct val="100000"/>
              </a:lnSpc>
              <a:spcBef>
                <a:spcPts val="600"/>
              </a:spcBef>
              <a:spcAft>
                <a:spcPts val="0"/>
              </a:spcAft>
              <a:buSzPts val="2736"/>
              <a:buChar char="?"/>
            </a:pPr>
            <a:r>
              <a:rPr lang="en-US" sz="3600"/>
              <a:t>Represented by </a:t>
            </a:r>
            <a:r>
              <a:rPr lang="en-US" sz="3600">
                <a:solidFill>
                  <a:srgbClr val="0000FF"/>
                </a:solidFill>
              </a:rPr>
              <a:t>a-part-of</a:t>
            </a:r>
            <a:r>
              <a:rPr lang="en-US" sz="3600"/>
              <a:t> relationship</a:t>
            </a:r>
            <a:endParaRPr/>
          </a:p>
          <a:p>
            <a:pPr indent="-274320" lvl="0" marL="274320" rtl="0" algn="l">
              <a:lnSpc>
                <a:spcPct val="100000"/>
              </a:lnSpc>
              <a:spcBef>
                <a:spcPts val="600"/>
              </a:spcBef>
              <a:spcAft>
                <a:spcPts val="0"/>
              </a:spcAft>
              <a:buSzPts val="2736"/>
              <a:buChar char="?"/>
            </a:pPr>
            <a:r>
              <a:rPr lang="en-US" sz="3600"/>
              <a:t>Specifies a whole-part relationship between an aggregate (a whole) and a constituent part, where the part can exist </a:t>
            </a:r>
            <a:r>
              <a:rPr lang="en-US" sz="3600">
                <a:solidFill>
                  <a:srgbClr val="0000FF"/>
                </a:solidFill>
              </a:rPr>
              <a:t>independently </a:t>
            </a:r>
            <a:r>
              <a:rPr lang="en-US" sz="3600"/>
              <a:t>from the aggregate.</a:t>
            </a:r>
            <a:endParaRPr sz="3600"/>
          </a:p>
        </p:txBody>
      </p:sp>
      <p:pic>
        <p:nvPicPr>
          <p:cNvPr descr="brac.png" id="449" name="Google Shape;449;p28"/>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Aggregation Relationship</a:t>
            </a:r>
            <a:endParaRPr/>
          </a:p>
        </p:txBody>
      </p:sp>
      <p:sp>
        <p:nvSpPr>
          <p:cNvPr id="456" name="Google Shape;456;p29"/>
          <p:cNvSpPr txBox="1"/>
          <p:nvPr>
            <p:ph idx="1" type="body"/>
          </p:nvPr>
        </p:nvSpPr>
        <p:spPr>
          <a:xfrm>
            <a:off x="457200" y="1279900"/>
            <a:ext cx="8229600" cy="168420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736"/>
              <a:buChar char="?"/>
            </a:pPr>
            <a:r>
              <a:rPr lang="en-US" sz="3600"/>
              <a:t>Aggregations are denoted by a hollow-diamond adornment on the association.</a:t>
            </a:r>
            <a:endParaRPr sz="3600"/>
          </a:p>
        </p:txBody>
      </p:sp>
      <p:pic>
        <p:nvPicPr>
          <p:cNvPr descr="brac.png" id="457" name="Google Shape;457;p29"/>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grpSp>
        <p:nvGrpSpPr>
          <p:cNvPr id="458" name="Google Shape;458;p29"/>
          <p:cNvGrpSpPr/>
          <p:nvPr/>
        </p:nvGrpSpPr>
        <p:grpSpPr>
          <a:xfrm>
            <a:off x="850075" y="3101000"/>
            <a:ext cx="5664075" cy="2677675"/>
            <a:chOff x="576" y="2496"/>
            <a:chExt cx="4428" cy="900"/>
          </a:xfrm>
        </p:grpSpPr>
        <p:sp>
          <p:nvSpPr>
            <p:cNvPr id="459" name="Google Shape;459;p29"/>
            <p:cNvSpPr/>
            <p:nvPr/>
          </p:nvSpPr>
          <p:spPr>
            <a:xfrm>
              <a:off x="576" y="2496"/>
              <a:ext cx="1200" cy="9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Addressbook</a:t>
              </a:r>
              <a:endParaRPr b="0" i="0" sz="1400" u="none" cap="none" strike="noStrike">
                <a:solidFill>
                  <a:srgbClr val="000000"/>
                </a:solidFill>
                <a:latin typeface="Arial"/>
                <a:ea typeface="Arial"/>
                <a:cs typeface="Arial"/>
                <a:sym typeface="Arial"/>
              </a:endParaRPr>
            </a:p>
          </p:txBody>
        </p:sp>
        <p:grpSp>
          <p:nvGrpSpPr>
            <p:cNvPr id="460" name="Google Shape;460;p29"/>
            <p:cNvGrpSpPr/>
            <p:nvPr/>
          </p:nvGrpSpPr>
          <p:grpSpPr>
            <a:xfrm>
              <a:off x="1794" y="2544"/>
              <a:ext cx="3210" cy="300"/>
              <a:chOff x="1794" y="2544"/>
              <a:chExt cx="3210" cy="300"/>
            </a:xfrm>
          </p:grpSpPr>
          <p:sp>
            <p:nvSpPr>
              <p:cNvPr id="461" name="Google Shape;461;p29"/>
              <p:cNvSpPr/>
              <p:nvPr/>
            </p:nvSpPr>
            <p:spPr>
              <a:xfrm>
                <a:off x="3504" y="2544"/>
                <a:ext cx="1500" cy="3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ContactGroup</a:t>
                </a:r>
                <a:endParaRPr b="0" i="0" sz="1400" u="none" cap="none" strike="noStrike">
                  <a:solidFill>
                    <a:srgbClr val="000000"/>
                  </a:solidFill>
                  <a:latin typeface="Arial"/>
                  <a:ea typeface="Arial"/>
                  <a:cs typeface="Arial"/>
                  <a:sym typeface="Arial"/>
                </a:endParaRPr>
              </a:p>
            </p:txBody>
          </p:sp>
          <p:grpSp>
            <p:nvGrpSpPr>
              <p:cNvPr id="462" name="Google Shape;462;p29"/>
              <p:cNvGrpSpPr/>
              <p:nvPr/>
            </p:nvGrpSpPr>
            <p:grpSpPr>
              <a:xfrm>
                <a:off x="1794" y="2646"/>
                <a:ext cx="1710" cy="96"/>
                <a:chOff x="1890" y="2550"/>
                <a:chExt cx="1710" cy="96"/>
              </a:xfrm>
            </p:grpSpPr>
            <p:cxnSp>
              <p:nvCxnSpPr>
                <p:cNvPr id="463" name="Google Shape;463;p29"/>
                <p:cNvCxnSpPr>
                  <a:endCxn id="461" idx="1"/>
                </p:cNvCxnSpPr>
                <p:nvPr/>
              </p:nvCxnSpPr>
              <p:spPr>
                <a:xfrm>
                  <a:off x="2100" y="2598"/>
                  <a:ext cx="1500" cy="0"/>
                </a:xfrm>
                <a:prstGeom prst="straightConnector1">
                  <a:avLst/>
                </a:prstGeom>
                <a:noFill/>
                <a:ln cap="flat" cmpd="sng" w="28575">
                  <a:solidFill>
                    <a:schemeClr val="dk1"/>
                  </a:solidFill>
                  <a:prstDash val="solid"/>
                  <a:round/>
                  <a:headEnd len="sm" w="sm" type="none"/>
                  <a:tailEnd len="sm" w="sm" type="none"/>
                </a:ln>
              </p:spPr>
            </p:cxnSp>
            <p:sp>
              <p:nvSpPr>
                <p:cNvPr id="464" name="Google Shape;464;p29"/>
                <p:cNvSpPr/>
                <p:nvPr/>
              </p:nvSpPr>
              <p:spPr>
                <a:xfrm>
                  <a:off x="1890" y="2550"/>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grpSp>
        <p:grpSp>
          <p:nvGrpSpPr>
            <p:cNvPr id="465" name="Google Shape;465;p29"/>
            <p:cNvGrpSpPr/>
            <p:nvPr/>
          </p:nvGrpSpPr>
          <p:grpSpPr>
            <a:xfrm>
              <a:off x="3504" y="2844"/>
              <a:ext cx="1500" cy="528"/>
              <a:chOff x="3504" y="2844"/>
              <a:chExt cx="1500" cy="528"/>
            </a:xfrm>
          </p:grpSpPr>
          <p:cxnSp>
            <p:nvCxnSpPr>
              <p:cNvPr id="466" name="Google Shape;466;p29"/>
              <p:cNvCxnSpPr>
                <a:endCxn id="467" idx="0"/>
              </p:cNvCxnSpPr>
              <p:nvPr/>
            </p:nvCxnSpPr>
            <p:spPr>
              <a:xfrm>
                <a:off x="4254" y="3072"/>
                <a:ext cx="0" cy="0"/>
              </a:xfrm>
              <a:prstGeom prst="straightConnector1">
                <a:avLst/>
              </a:prstGeom>
              <a:noFill/>
              <a:ln cap="flat" cmpd="sng" w="28575">
                <a:solidFill>
                  <a:schemeClr val="dk1"/>
                </a:solidFill>
                <a:prstDash val="solid"/>
                <a:round/>
                <a:headEnd len="sm" w="sm" type="none"/>
                <a:tailEnd len="sm" w="sm" type="none"/>
              </a:ln>
            </p:spPr>
          </p:cxnSp>
          <p:sp>
            <p:nvSpPr>
              <p:cNvPr id="468" name="Google Shape;468;p29"/>
              <p:cNvSpPr/>
              <p:nvPr/>
            </p:nvSpPr>
            <p:spPr>
              <a:xfrm>
                <a:off x="4158" y="2844"/>
                <a:ext cx="192" cy="96"/>
              </a:xfrm>
              <a:custGeom>
                <a:rect b="b" l="l" r="r" t="t"/>
                <a:pathLst>
                  <a:path extrusionOk="0" h="96" w="192">
                    <a:moveTo>
                      <a:pt x="0" y="48"/>
                    </a:moveTo>
                    <a:lnTo>
                      <a:pt x="96" y="0"/>
                    </a:lnTo>
                    <a:lnTo>
                      <a:pt x="192" y="48"/>
                    </a:lnTo>
                    <a:lnTo>
                      <a:pt x="96" y="96"/>
                    </a:lnTo>
                    <a:lnTo>
                      <a:pt x="0" y="48"/>
                    </a:lnTo>
                    <a:close/>
                  </a:path>
                </a:pathLst>
              </a:cu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467" name="Google Shape;467;p29"/>
              <p:cNvSpPr/>
              <p:nvPr/>
            </p:nvSpPr>
            <p:spPr>
              <a:xfrm>
                <a:off x="3504" y="3072"/>
                <a:ext cx="1500" cy="3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Contact</a:t>
                </a:r>
                <a:endParaRPr b="0" i="0" sz="1400" u="none" cap="none" strike="noStrike">
                  <a:solidFill>
                    <a:srgbClr val="000000"/>
                  </a:solidFill>
                  <a:latin typeface="Arial"/>
                  <a:ea typeface="Arial"/>
                  <a:cs typeface="Arial"/>
                  <a:sym typeface="Arial"/>
                </a:endParaRPr>
              </a:p>
            </p:txBody>
          </p:sp>
        </p:grpSp>
      </p:grpSp>
      <p:cxnSp>
        <p:nvCxnSpPr>
          <p:cNvPr id="469" name="Google Shape;469;p29"/>
          <p:cNvCxnSpPr>
            <a:stCxn id="467" idx="0"/>
          </p:cNvCxnSpPr>
          <p:nvPr/>
        </p:nvCxnSpPr>
        <p:spPr>
          <a:xfrm rot="10800000">
            <a:off x="5549388" y="4403412"/>
            <a:ext cx="5400" cy="411300"/>
          </a:xfrm>
          <a:prstGeom prst="straightConnector1">
            <a:avLst/>
          </a:prstGeom>
          <a:noFill/>
          <a:ln cap="flat" cmpd="sng" w="28575">
            <a:solidFill>
              <a:schemeClr val="dk1"/>
            </a:solidFill>
            <a:prstDash val="solid"/>
            <a:round/>
            <a:headEnd len="sm" w="sm" type="none"/>
            <a:tailEnd len="sm" w="sm" type="none"/>
          </a:ln>
        </p:spPr>
      </p:cxnSp>
      <p:sp>
        <p:nvSpPr>
          <p:cNvPr id="470" name="Google Shape;470;p29"/>
          <p:cNvSpPr/>
          <p:nvPr/>
        </p:nvSpPr>
        <p:spPr>
          <a:xfrm>
            <a:off x="2388558" y="5151529"/>
            <a:ext cx="245597" cy="285619"/>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cxnSp>
        <p:nvCxnSpPr>
          <p:cNvPr id="471" name="Google Shape;471;p29"/>
          <p:cNvCxnSpPr/>
          <p:nvPr/>
        </p:nvCxnSpPr>
        <p:spPr>
          <a:xfrm>
            <a:off x="2646501" y="5294343"/>
            <a:ext cx="1918800" cy="0"/>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Composition Relationship</a:t>
            </a:r>
            <a:endParaRPr/>
          </a:p>
        </p:txBody>
      </p:sp>
      <p:sp>
        <p:nvSpPr>
          <p:cNvPr id="478" name="Google Shape;478;p3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28"/>
              <a:buChar char="?"/>
            </a:pPr>
            <a:r>
              <a:rPr lang="en-US" sz="2800"/>
              <a:t>A </a:t>
            </a:r>
            <a:r>
              <a:rPr i="1" lang="en-US" sz="2800"/>
              <a:t>composition </a:t>
            </a:r>
            <a:r>
              <a:rPr lang="en-US" sz="2800"/>
              <a:t>indicates a strong ownership and coincident lifetime of parts by the whole (</a:t>
            </a:r>
            <a:r>
              <a:rPr i="1" lang="en-US" sz="2800"/>
              <a:t>i.e.,</a:t>
            </a:r>
            <a:r>
              <a:rPr lang="en-US" sz="2800"/>
              <a:t> </a:t>
            </a:r>
            <a:r>
              <a:rPr lang="en-US" sz="2800">
                <a:solidFill>
                  <a:srgbClr val="0000FF"/>
                </a:solidFill>
              </a:rPr>
              <a:t>they live and die as a whole</a:t>
            </a:r>
            <a:r>
              <a:rPr lang="en-US" sz="2800"/>
              <a:t>). Compositions are denoted by a filled-diamond adornment on the association</a:t>
            </a:r>
            <a:endParaRPr/>
          </a:p>
          <a:p>
            <a:pPr indent="-148844" lvl="0" marL="274320" rtl="0" algn="l">
              <a:lnSpc>
                <a:spcPct val="100000"/>
              </a:lnSpc>
              <a:spcBef>
                <a:spcPts val="600"/>
              </a:spcBef>
              <a:spcAft>
                <a:spcPts val="0"/>
              </a:spcAft>
              <a:buSzPts val="1976"/>
              <a:buNone/>
            </a:pPr>
            <a:r>
              <a:t/>
            </a:r>
            <a:endParaRPr/>
          </a:p>
        </p:txBody>
      </p:sp>
      <p:sp>
        <p:nvSpPr>
          <p:cNvPr id="479" name="Google Shape;479;p30"/>
          <p:cNvSpPr/>
          <p:nvPr/>
        </p:nvSpPr>
        <p:spPr>
          <a:xfrm>
            <a:off x="2664875" y="3878600"/>
            <a:ext cx="1137900" cy="23622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Window</a:t>
            </a:r>
            <a:endParaRPr b="0" i="0" sz="1400" u="none" cap="none" strike="noStrike">
              <a:solidFill>
                <a:srgbClr val="000000"/>
              </a:solidFill>
              <a:latin typeface="Arial"/>
              <a:ea typeface="Arial"/>
              <a:cs typeface="Arial"/>
              <a:sym typeface="Arial"/>
            </a:endParaRPr>
          </a:p>
        </p:txBody>
      </p:sp>
      <p:grpSp>
        <p:nvGrpSpPr>
          <p:cNvPr id="480" name="Google Shape;480;p30"/>
          <p:cNvGrpSpPr/>
          <p:nvPr/>
        </p:nvGrpSpPr>
        <p:grpSpPr>
          <a:xfrm>
            <a:off x="3858708" y="3763975"/>
            <a:ext cx="4675692" cy="685800"/>
            <a:chOff x="1824" y="2760"/>
            <a:chExt cx="3504" cy="432"/>
          </a:xfrm>
        </p:grpSpPr>
        <p:grpSp>
          <p:nvGrpSpPr>
            <p:cNvPr id="481" name="Google Shape;481;p30"/>
            <p:cNvGrpSpPr/>
            <p:nvPr/>
          </p:nvGrpSpPr>
          <p:grpSpPr>
            <a:xfrm>
              <a:off x="1824" y="2930"/>
              <a:ext cx="1755" cy="110"/>
              <a:chOff x="1920" y="2736"/>
              <a:chExt cx="1584" cy="96"/>
            </a:xfrm>
          </p:grpSpPr>
          <p:cxnSp>
            <p:nvCxnSpPr>
              <p:cNvPr id="482" name="Google Shape;482;p30"/>
              <p:cNvCxnSpPr/>
              <p:nvPr/>
            </p:nvCxnSpPr>
            <p:spPr>
              <a:xfrm>
                <a:off x="2112" y="2784"/>
                <a:ext cx="1392" cy="0"/>
              </a:xfrm>
              <a:prstGeom prst="straightConnector1">
                <a:avLst/>
              </a:prstGeom>
              <a:noFill/>
              <a:ln cap="flat" cmpd="sng" w="28575">
                <a:solidFill>
                  <a:schemeClr val="dk1"/>
                </a:solidFill>
                <a:prstDash val="solid"/>
                <a:round/>
                <a:headEnd len="sm" w="sm" type="none"/>
                <a:tailEnd len="sm" w="sm" type="none"/>
              </a:ln>
            </p:spPr>
          </p:cxnSp>
          <p:sp>
            <p:nvSpPr>
              <p:cNvPr id="483" name="Google Shape;483;p30"/>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sp>
          <p:nvSpPr>
            <p:cNvPr id="484" name="Google Shape;484;p30"/>
            <p:cNvSpPr/>
            <p:nvPr/>
          </p:nvSpPr>
          <p:spPr>
            <a:xfrm>
              <a:off x="3552" y="2760"/>
              <a:ext cx="1776" cy="43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Scrollbar</a:t>
              </a:r>
              <a:endParaRPr b="0" i="0" sz="1400" u="none" cap="none" strike="noStrike">
                <a:solidFill>
                  <a:srgbClr val="000000"/>
                </a:solidFill>
                <a:latin typeface="Arial"/>
                <a:ea typeface="Arial"/>
                <a:cs typeface="Arial"/>
                <a:sym typeface="Arial"/>
              </a:endParaRPr>
            </a:p>
          </p:txBody>
        </p:sp>
      </p:grpSp>
      <p:grpSp>
        <p:nvGrpSpPr>
          <p:cNvPr id="485" name="Google Shape;485;p30"/>
          <p:cNvGrpSpPr/>
          <p:nvPr/>
        </p:nvGrpSpPr>
        <p:grpSpPr>
          <a:xfrm>
            <a:off x="3858708" y="4602175"/>
            <a:ext cx="4675692" cy="685800"/>
            <a:chOff x="1824" y="2760"/>
            <a:chExt cx="3504" cy="432"/>
          </a:xfrm>
        </p:grpSpPr>
        <p:grpSp>
          <p:nvGrpSpPr>
            <p:cNvPr id="486" name="Google Shape;486;p30"/>
            <p:cNvGrpSpPr/>
            <p:nvPr/>
          </p:nvGrpSpPr>
          <p:grpSpPr>
            <a:xfrm>
              <a:off x="1824" y="2930"/>
              <a:ext cx="1755" cy="110"/>
              <a:chOff x="1920" y="2736"/>
              <a:chExt cx="1584" cy="96"/>
            </a:xfrm>
          </p:grpSpPr>
          <p:cxnSp>
            <p:nvCxnSpPr>
              <p:cNvPr id="487" name="Google Shape;487;p30"/>
              <p:cNvCxnSpPr/>
              <p:nvPr/>
            </p:nvCxnSpPr>
            <p:spPr>
              <a:xfrm>
                <a:off x="2112" y="2784"/>
                <a:ext cx="1392" cy="0"/>
              </a:xfrm>
              <a:prstGeom prst="straightConnector1">
                <a:avLst/>
              </a:prstGeom>
              <a:noFill/>
              <a:ln cap="flat" cmpd="sng" w="28575">
                <a:solidFill>
                  <a:schemeClr val="dk1"/>
                </a:solidFill>
                <a:prstDash val="solid"/>
                <a:round/>
                <a:headEnd len="sm" w="sm" type="none"/>
                <a:tailEnd len="sm" w="sm" type="none"/>
              </a:ln>
            </p:spPr>
          </p:cxnSp>
          <p:sp>
            <p:nvSpPr>
              <p:cNvPr id="488" name="Google Shape;488;p30"/>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sp>
          <p:nvSpPr>
            <p:cNvPr id="489" name="Google Shape;489;p30"/>
            <p:cNvSpPr/>
            <p:nvPr/>
          </p:nvSpPr>
          <p:spPr>
            <a:xfrm>
              <a:off x="3552" y="2760"/>
              <a:ext cx="1776" cy="43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Titlebar</a:t>
              </a:r>
              <a:endParaRPr b="0" i="0" sz="1400" u="none" cap="none" strike="noStrike">
                <a:solidFill>
                  <a:srgbClr val="000000"/>
                </a:solidFill>
                <a:latin typeface="Arial"/>
                <a:ea typeface="Arial"/>
                <a:cs typeface="Arial"/>
                <a:sym typeface="Arial"/>
              </a:endParaRPr>
            </a:p>
          </p:txBody>
        </p:sp>
      </p:grpSp>
      <p:grpSp>
        <p:nvGrpSpPr>
          <p:cNvPr id="490" name="Google Shape;490;p30"/>
          <p:cNvGrpSpPr/>
          <p:nvPr/>
        </p:nvGrpSpPr>
        <p:grpSpPr>
          <a:xfrm>
            <a:off x="3858708" y="5440375"/>
            <a:ext cx="4675692" cy="685800"/>
            <a:chOff x="1824" y="2760"/>
            <a:chExt cx="3504" cy="432"/>
          </a:xfrm>
        </p:grpSpPr>
        <p:grpSp>
          <p:nvGrpSpPr>
            <p:cNvPr id="491" name="Google Shape;491;p30"/>
            <p:cNvGrpSpPr/>
            <p:nvPr/>
          </p:nvGrpSpPr>
          <p:grpSpPr>
            <a:xfrm>
              <a:off x="1824" y="2930"/>
              <a:ext cx="1755" cy="110"/>
              <a:chOff x="1920" y="2736"/>
              <a:chExt cx="1584" cy="96"/>
            </a:xfrm>
          </p:grpSpPr>
          <p:cxnSp>
            <p:nvCxnSpPr>
              <p:cNvPr id="492" name="Google Shape;492;p30"/>
              <p:cNvCxnSpPr/>
              <p:nvPr/>
            </p:nvCxnSpPr>
            <p:spPr>
              <a:xfrm>
                <a:off x="2112" y="2784"/>
                <a:ext cx="1392" cy="0"/>
              </a:xfrm>
              <a:prstGeom prst="straightConnector1">
                <a:avLst/>
              </a:prstGeom>
              <a:noFill/>
              <a:ln cap="flat" cmpd="sng" w="28575">
                <a:solidFill>
                  <a:schemeClr val="dk1"/>
                </a:solidFill>
                <a:prstDash val="solid"/>
                <a:round/>
                <a:headEnd len="sm" w="sm" type="none"/>
                <a:tailEnd len="sm" w="sm" type="none"/>
              </a:ln>
            </p:spPr>
          </p:cxnSp>
          <p:sp>
            <p:nvSpPr>
              <p:cNvPr id="493" name="Google Shape;493;p30"/>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sp>
          <p:nvSpPr>
            <p:cNvPr id="494" name="Google Shape;494;p30"/>
            <p:cNvSpPr/>
            <p:nvPr/>
          </p:nvSpPr>
          <p:spPr>
            <a:xfrm>
              <a:off x="3552" y="2760"/>
              <a:ext cx="1776" cy="43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Menu</a:t>
              </a:r>
              <a:endParaRPr b="0" i="0" sz="1400" u="none" cap="none" strike="noStrike">
                <a:solidFill>
                  <a:srgbClr val="000000"/>
                </a:solidFill>
                <a:latin typeface="Arial"/>
                <a:ea typeface="Arial"/>
                <a:cs typeface="Arial"/>
                <a:sym typeface="Arial"/>
              </a:endParaRPr>
            </a:p>
          </p:txBody>
        </p:sp>
      </p:grpSp>
      <p:pic>
        <p:nvPicPr>
          <p:cNvPr descr="brac.png" id="495" name="Google Shape;495;p30"/>
          <p:cNvPicPr preferRelativeResize="0"/>
          <p:nvPr/>
        </p:nvPicPr>
        <p:blipFill rotWithShape="1">
          <a:blip r:embed="rId3">
            <a:alphaModFix/>
          </a:blip>
          <a:srcRect b="0" l="0" r="0" t="0"/>
          <a:stretch/>
        </p:blipFill>
        <p:spPr>
          <a:xfrm>
            <a:off x="7884368" y="0"/>
            <a:ext cx="1259632" cy="1124744"/>
          </a:xfrm>
          <a:prstGeom prst="rect">
            <a:avLst/>
          </a:prstGeom>
          <a:noFill/>
          <a:ln>
            <a:noFill/>
          </a:ln>
        </p:spPr>
      </p:pic>
      <p:pic>
        <p:nvPicPr>
          <p:cNvPr id="496" name="Google Shape;496;p30"/>
          <p:cNvPicPr preferRelativeResize="0"/>
          <p:nvPr/>
        </p:nvPicPr>
        <p:blipFill rotWithShape="1">
          <a:blip r:embed="rId4">
            <a:alphaModFix/>
          </a:blip>
          <a:srcRect b="0" l="0" r="0" t="0"/>
          <a:stretch/>
        </p:blipFill>
        <p:spPr>
          <a:xfrm>
            <a:off x="-173850" y="4337975"/>
            <a:ext cx="2782675" cy="1331625"/>
          </a:xfrm>
          <a:prstGeom prst="rect">
            <a:avLst/>
          </a:prstGeom>
          <a:noFill/>
          <a:ln>
            <a:noFill/>
          </a:ln>
        </p:spPr>
      </p:pic>
    </p:spTree>
  </p:cSld>
  <p:clrMapOvr>
    <a:masterClrMapping/>
  </p:clrMapOvr>
  <p:transition>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3b9789916b_0_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1800"/>
              <a:buNone/>
            </a:pPr>
            <a:r>
              <a:rPr lang="en-US"/>
              <a:t>Composition</a:t>
            </a:r>
            <a:endParaRPr/>
          </a:p>
        </p:txBody>
      </p:sp>
      <p:sp>
        <p:nvSpPr>
          <p:cNvPr id="503" name="Google Shape;503;g33b9789916b_0_15"/>
          <p:cNvSpPr txBox="1"/>
          <p:nvPr>
            <p:ph idx="1" type="body"/>
          </p:nvPr>
        </p:nvSpPr>
        <p:spPr>
          <a:xfrm>
            <a:off x="457200" y="1219200"/>
            <a:ext cx="8229600" cy="4937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00"/>
              </a:spcBef>
              <a:spcAft>
                <a:spcPts val="0"/>
              </a:spcAft>
              <a:buSzPts val="1368"/>
              <a:buNone/>
            </a:pPr>
            <a:r>
              <a:t/>
            </a:r>
            <a:endParaRPr/>
          </a:p>
        </p:txBody>
      </p:sp>
      <p:pic>
        <p:nvPicPr>
          <p:cNvPr id="504" name="Google Shape;504;g33b9789916b_0_15"/>
          <p:cNvPicPr preferRelativeResize="0"/>
          <p:nvPr/>
        </p:nvPicPr>
        <p:blipFill rotWithShape="1">
          <a:blip r:embed="rId3">
            <a:alphaModFix/>
          </a:blip>
          <a:srcRect b="0" l="0" r="0" t="0"/>
          <a:stretch/>
        </p:blipFill>
        <p:spPr>
          <a:xfrm>
            <a:off x="0" y="1189225"/>
            <a:ext cx="9143999" cy="44795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33b9789916b_0_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1800"/>
              <a:buNone/>
            </a:pPr>
            <a:r>
              <a:rPr lang="en-US"/>
              <a:t>Aggregation</a:t>
            </a:r>
            <a:endParaRPr/>
          </a:p>
        </p:txBody>
      </p:sp>
      <p:sp>
        <p:nvSpPr>
          <p:cNvPr id="511" name="Google Shape;511;g33b9789916b_0_22"/>
          <p:cNvSpPr txBox="1"/>
          <p:nvPr>
            <p:ph idx="1" type="body"/>
          </p:nvPr>
        </p:nvSpPr>
        <p:spPr>
          <a:xfrm>
            <a:off x="457200" y="1219200"/>
            <a:ext cx="8229600" cy="4937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00"/>
              </a:spcBef>
              <a:spcAft>
                <a:spcPts val="0"/>
              </a:spcAft>
              <a:buSzPts val="1368"/>
              <a:buNone/>
            </a:pPr>
            <a:r>
              <a:t/>
            </a:r>
            <a:endParaRPr/>
          </a:p>
        </p:txBody>
      </p:sp>
      <p:pic>
        <p:nvPicPr>
          <p:cNvPr id="512" name="Google Shape;512;g33b9789916b_0_22"/>
          <p:cNvPicPr preferRelativeResize="0"/>
          <p:nvPr/>
        </p:nvPicPr>
        <p:blipFill rotWithShape="1">
          <a:blip r:embed="rId3">
            <a:alphaModFix/>
          </a:blip>
          <a:srcRect b="0" l="0" r="0" t="0"/>
          <a:stretch/>
        </p:blipFill>
        <p:spPr>
          <a:xfrm>
            <a:off x="0" y="1177079"/>
            <a:ext cx="9144002" cy="450384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3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Generalization Relationship</a:t>
            </a:r>
            <a:endParaRPr/>
          </a:p>
        </p:txBody>
      </p:sp>
      <p:sp>
        <p:nvSpPr>
          <p:cNvPr id="519" name="Google Shape;519;p31"/>
          <p:cNvSpPr txBox="1"/>
          <p:nvPr>
            <p:ph idx="1" type="body"/>
          </p:nvPr>
        </p:nvSpPr>
        <p:spPr>
          <a:xfrm>
            <a:off x="457200" y="1600200"/>
            <a:ext cx="8458200" cy="35814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Enables the analyst to create classes that inherit attributes and operations of other classes</a:t>
            </a:r>
            <a:endParaRPr/>
          </a:p>
          <a:p>
            <a:pPr indent="-274320" lvl="0" marL="274320" rtl="0" algn="l">
              <a:lnSpc>
                <a:spcPct val="100000"/>
              </a:lnSpc>
              <a:spcBef>
                <a:spcPts val="600"/>
              </a:spcBef>
              <a:spcAft>
                <a:spcPts val="0"/>
              </a:spcAft>
              <a:buSzPts val="2736"/>
              <a:buChar char="?"/>
            </a:pPr>
            <a:r>
              <a:rPr lang="en-US" sz="3600"/>
              <a:t>Represented by </a:t>
            </a:r>
            <a:r>
              <a:rPr lang="en-US" sz="3600">
                <a:solidFill>
                  <a:srgbClr val="0000FF"/>
                </a:solidFill>
              </a:rPr>
              <a:t>a-kind-of </a:t>
            </a:r>
            <a:r>
              <a:rPr lang="en-US" sz="3600"/>
              <a:t>relationship</a:t>
            </a:r>
            <a:endParaRPr sz="3600"/>
          </a:p>
          <a:p>
            <a:pPr indent="-274320" lvl="0" marL="274320" rtl="0" algn="l">
              <a:lnSpc>
                <a:spcPct val="100000"/>
              </a:lnSpc>
              <a:spcBef>
                <a:spcPts val="600"/>
              </a:spcBef>
              <a:spcAft>
                <a:spcPts val="0"/>
              </a:spcAft>
              <a:buSzPts val="3600"/>
              <a:buChar char="?"/>
            </a:pPr>
            <a:r>
              <a:rPr lang="en-US" sz="3600"/>
              <a:t>Dog is a kind of Animal</a:t>
            </a:r>
            <a:endParaRPr sz="3600"/>
          </a:p>
        </p:txBody>
      </p:sp>
      <p:pic>
        <p:nvPicPr>
          <p:cNvPr descr="brac.png" id="520" name="Google Shape;520;p31"/>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2"/>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526" name="Google Shape;526;p32"/>
          <p:cNvSpPr txBox="1"/>
          <p:nvPr>
            <p:ph type="title"/>
          </p:nvPr>
        </p:nvSpPr>
        <p:spPr>
          <a:xfrm>
            <a:off x="685800" y="381000"/>
            <a:ext cx="78486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Generalization Relationships</a:t>
            </a:r>
            <a:endParaRPr/>
          </a:p>
        </p:txBody>
      </p:sp>
      <p:sp>
        <p:nvSpPr>
          <p:cNvPr id="527" name="Google Shape;527;p32"/>
          <p:cNvSpPr/>
          <p:nvPr/>
        </p:nvSpPr>
        <p:spPr>
          <a:xfrm>
            <a:off x="660400" y="17272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528" name="Google Shape;528;p32"/>
          <p:cNvSpPr txBox="1"/>
          <p:nvPr/>
        </p:nvSpPr>
        <p:spPr>
          <a:xfrm>
            <a:off x="3810000" y="2209800"/>
            <a:ext cx="50850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FF"/>
                </a:solidFill>
                <a:latin typeface="Gill Sans"/>
                <a:ea typeface="Gill Sans"/>
                <a:cs typeface="Gill Sans"/>
                <a:sym typeface="Gill Sans"/>
              </a:rPr>
              <a:t>A </a:t>
            </a:r>
            <a:r>
              <a:rPr b="0" i="1" lang="en-US" sz="2400" u="none" cap="none" strike="noStrike">
                <a:solidFill>
                  <a:srgbClr val="0000FF"/>
                </a:solidFill>
                <a:latin typeface="Gill Sans"/>
                <a:ea typeface="Gill Sans"/>
                <a:cs typeface="Gill Sans"/>
                <a:sym typeface="Gill Sans"/>
              </a:rPr>
              <a:t>generalization</a:t>
            </a:r>
            <a:r>
              <a:rPr b="0" i="0" lang="en-US" sz="2400" u="none" cap="none" strike="noStrike">
                <a:solidFill>
                  <a:srgbClr val="0000FF"/>
                </a:solidFill>
                <a:latin typeface="Gill Sans"/>
                <a:ea typeface="Gill Sans"/>
                <a:cs typeface="Gill Sans"/>
                <a:sym typeface="Gill Sans"/>
              </a:rPr>
              <a:t> connects a subclass</a:t>
            </a:r>
            <a:endParaRPr b="0" i="0" sz="1400" u="none" cap="none" strike="noStrike">
              <a:solidFill>
                <a:srgbClr val="0000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FF"/>
                </a:solidFill>
                <a:latin typeface="Gill Sans"/>
                <a:ea typeface="Gill Sans"/>
                <a:cs typeface="Gill Sans"/>
                <a:sym typeface="Gill Sans"/>
              </a:rPr>
              <a:t>to its superclass.</a:t>
            </a:r>
            <a:r>
              <a:rPr b="0" i="0" lang="en-US" sz="2400" u="none" cap="none" strike="noStrike">
                <a:solidFill>
                  <a:schemeClr val="dk1"/>
                </a:solidFill>
                <a:latin typeface="Gill Sans"/>
                <a:ea typeface="Gill Sans"/>
                <a:cs typeface="Gill Sans"/>
                <a:sym typeface="Gill Sans"/>
              </a:rPr>
              <a:t> It denotes an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inheritance of attributes and behavior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from the superclass to the subclass 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indicates a specialization in the subclass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Gill Sans"/>
                <a:ea typeface="Gill Sans"/>
                <a:cs typeface="Gill Sans"/>
                <a:sym typeface="Gill Sans"/>
              </a:rPr>
              <a:t>of the more general superclass.</a:t>
            </a:r>
            <a:endParaRPr b="0" i="0" sz="1400" u="none" cap="none" strike="noStrike">
              <a:solidFill>
                <a:srgbClr val="000000"/>
              </a:solidFill>
              <a:latin typeface="Arial"/>
              <a:ea typeface="Arial"/>
              <a:cs typeface="Arial"/>
              <a:sym typeface="Arial"/>
            </a:endParaRPr>
          </a:p>
        </p:txBody>
      </p:sp>
      <p:sp>
        <p:nvSpPr>
          <p:cNvPr id="529" name="Google Shape;529;p32"/>
          <p:cNvSpPr/>
          <p:nvPr/>
        </p:nvSpPr>
        <p:spPr>
          <a:xfrm>
            <a:off x="685800" y="41910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grpSp>
        <p:nvGrpSpPr>
          <p:cNvPr id="530" name="Google Shape;530;p32"/>
          <p:cNvGrpSpPr/>
          <p:nvPr/>
        </p:nvGrpSpPr>
        <p:grpSpPr>
          <a:xfrm>
            <a:off x="1676400" y="2514600"/>
            <a:ext cx="419100" cy="1676400"/>
            <a:chOff x="968" y="1584"/>
            <a:chExt cx="264" cy="1056"/>
          </a:xfrm>
        </p:grpSpPr>
        <p:cxnSp>
          <p:nvCxnSpPr>
            <p:cNvPr id="531" name="Google Shape;531;p32"/>
            <p:cNvCxnSpPr/>
            <p:nvPr/>
          </p:nvCxnSpPr>
          <p:spPr>
            <a:xfrm>
              <a:off x="1104" y="1824"/>
              <a:ext cx="0" cy="816"/>
            </a:xfrm>
            <a:prstGeom prst="straightConnector1">
              <a:avLst/>
            </a:prstGeom>
            <a:noFill/>
            <a:ln cap="flat" cmpd="sng" w="19050">
              <a:solidFill>
                <a:schemeClr val="dk1"/>
              </a:solidFill>
              <a:prstDash val="solid"/>
              <a:round/>
              <a:headEnd len="sm" w="sm" type="none"/>
              <a:tailEnd len="sm" w="sm" type="none"/>
            </a:ln>
          </p:spPr>
        </p:cxnSp>
        <p:sp>
          <p:nvSpPr>
            <p:cNvPr id="532" name="Google Shape;532;p32"/>
            <p:cNvSpPr/>
            <p:nvPr/>
          </p:nvSpPr>
          <p:spPr>
            <a:xfrm>
              <a:off x="968" y="1584"/>
              <a:ext cx="264" cy="240"/>
            </a:xfrm>
            <a:custGeom>
              <a:rect b="b" l="l" r="r" t="t"/>
              <a:pathLst>
                <a:path extrusionOk="0" h="240" w="336">
                  <a:moveTo>
                    <a:pt x="144" y="0"/>
                  </a:moveTo>
                  <a:lnTo>
                    <a:pt x="0" y="240"/>
                  </a:lnTo>
                  <a:lnTo>
                    <a:pt x="336" y="240"/>
                  </a:lnTo>
                  <a:lnTo>
                    <a:pt x="144" y="0"/>
                  </a:lnTo>
                  <a:close/>
                </a:path>
              </a:pathLst>
            </a:cu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grpSp>
      <p:pic>
        <p:nvPicPr>
          <p:cNvPr descr="brac.png" id="533" name="Google Shape;533;p32"/>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
        <p:nvSpPr>
          <p:cNvPr id="534" name="Google Shape;534;p32"/>
          <p:cNvSpPr txBox="1"/>
          <p:nvPr/>
        </p:nvSpPr>
        <p:spPr>
          <a:xfrm>
            <a:off x="458475" y="5625850"/>
            <a:ext cx="64473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Gill Sans"/>
                <a:ea typeface="Gill Sans"/>
                <a:cs typeface="Gill Sans"/>
                <a:sym typeface="Gill Sans"/>
              </a:rPr>
              <a:t>Generalization &amp; </a:t>
            </a:r>
            <a:r>
              <a:rPr b="0" i="0" lang="en-US" sz="1000" u="none" cap="none" strike="noStrike">
                <a:solidFill>
                  <a:schemeClr val="dk1"/>
                </a:solidFill>
                <a:latin typeface="Gill Sans"/>
                <a:ea typeface="Gill Sans"/>
                <a:cs typeface="Gill Sans"/>
                <a:sym typeface="Gill Sans"/>
              </a:rPr>
              <a:t>Specialization (Java)</a:t>
            </a:r>
            <a:r>
              <a:rPr b="0" i="0" lang="en-US" sz="1200" u="none" cap="none" strike="noStrike">
                <a:solidFill>
                  <a:schemeClr val="dk1"/>
                </a:solidFill>
                <a:latin typeface="Gill Sans"/>
                <a:ea typeface="Gill Sans"/>
                <a:cs typeface="Gill Sans"/>
                <a:sym typeface="Gill Sans"/>
              </a:rPr>
              <a:t>: https://www.geeksforgeeks.org/generalization-and-specialization-in-java/</a:t>
            </a:r>
            <a:endParaRPr b="0" i="0" sz="1200" u="none" cap="none" strike="noStrike">
              <a:solidFill>
                <a:schemeClr val="dk1"/>
              </a:solidFill>
              <a:latin typeface="Gill Sans"/>
              <a:ea typeface="Gill Sans"/>
              <a:cs typeface="Gill Sans"/>
              <a:sym typeface="Gill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3"/>
          <p:cNvSpPr txBox="1"/>
          <p:nvPr>
            <p:ph idx="11" type="ftr"/>
          </p:nvPr>
        </p:nvSpPr>
        <p:spPr>
          <a:xfrm>
            <a:off x="2362200" y="6400800"/>
            <a:ext cx="40386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t>Software Design (UML)</a:t>
            </a:r>
            <a:endParaRPr/>
          </a:p>
        </p:txBody>
      </p:sp>
      <p:sp>
        <p:nvSpPr>
          <p:cNvPr id="540" name="Google Shape;540;p33"/>
          <p:cNvSpPr txBox="1"/>
          <p:nvPr>
            <p:ph type="title"/>
          </p:nvPr>
        </p:nvSpPr>
        <p:spPr>
          <a:xfrm>
            <a:off x="0" y="457200"/>
            <a:ext cx="9296400" cy="533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US"/>
              <a:t>Generalization Relationships (Cont’d)</a:t>
            </a:r>
            <a:endParaRPr/>
          </a:p>
        </p:txBody>
      </p:sp>
      <p:sp>
        <p:nvSpPr>
          <p:cNvPr id="541" name="Google Shape;541;p33"/>
          <p:cNvSpPr/>
          <p:nvPr/>
        </p:nvSpPr>
        <p:spPr>
          <a:xfrm>
            <a:off x="1295400" y="28194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542" name="Google Shape;542;p33"/>
          <p:cNvSpPr txBox="1"/>
          <p:nvPr/>
        </p:nvSpPr>
        <p:spPr>
          <a:xfrm>
            <a:off x="457200" y="1295400"/>
            <a:ext cx="81534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UML permits a class to inherit from multiple superclasses, although some programming languages (</a:t>
            </a:r>
            <a:r>
              <a:rPr b="0" i="1" lang="en-US" sz="1800" u="none" cap="none" strike="noStrike">
                <a:solidFill>
                  <a:schemeClr val="dk1"/>
                </a:solidFill>
                <a:latin typeface="Gill Sans"/>
                <a:ea typeface="Gill Sans"/>
                <a:cs typeface="Gill Sans"/>
                <a:sym typeface="Gill Sans"/>
              </a:rPr>
              <a:t>e.g.,</a:t>
            </a:r>
            <a:r>
              <a:rPr b="0" i="0" lang="en-US" sz="1800" u="none" cap="none" strike="noStrike">
                <a:solidFill>
                  <a:schemeClr val="dk1"/>
                </a:solidFill>
                <a:latin typeface="Gill Sans"/>
                <a:ea typeface="Gill Sans"/>
                <a:cs typeface="Gill Sans"/>
                <a:sym typeface="Gill Sans"/>
              </a:rPr>
              <a:t> Java) do not permit multiple inheritance. </a:t>
            </a:r>
            <a:endParaRPr b="0" i="0" sz="1400" u="none" cap="none" strike="noStrike">
              <a:solidFill>
                <a:srgbClr val="000000"/>
              </a:solidFill>
              <a:latin typeface="Arial"/>
              <a:ea typeface="Arial"/>
              <a:cs typeface="Arial"/>
              <a:sym typeface="Arial"/>
            </a:endParaRPr>
          </a:p>
        </p:txBody>
      </p:sp>
      <p:sp>
        <p:nvSpPr>
          <p:cNvPr id="543" name="Google Shape;543;p33"/>
          <p:cNvSpPr/>
          <p:nvPr/>
        </p:nvSpPr>
        <p:spPr>
          <a:xfrm>
            <a:off x="2895600" y="5029200"/>
            <a:ext cx="30480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Teaching Assistant</a:t>
            </a:r>
            <a:endParaRPr b="0" i="0" sz="1400" u="none" cap="none" strike="noStrike">
              <a:solidFill>
                <a:srgbClr val="000000"/>
              </a:solidFill>
              <a:latin typeface="Arial"/>
              <a:ea typeface="Arial"/>
              <a:cs typeface="Arial"/>
              <a:sym typeface="Arial"/>
            </a:endParaRPr>
          </a:p>
        </p:txBody>
      </p:sp>
      <p:cxnSp>
        <p:nvCxnSpPr>
          <p:cNvPr id="544" name="Google Shape;544;p33"/>
          <p:cNvCxnSpPr/>
          <p:nvPr/>
        </p:nvCxnSpPr>
        <p:spPr>
          <a:xfrm>
            <a:off x="4343400" y="4495800"/>
            <a:ext cx="0" cy="533400"/>
          </a:xfrm>
          <a:prstGeom prst="straightConnector1">
            <a:avLst/>
          </a:prstGeom>
          <a:noFill/>
          <a:ln cap="flat" cmpd="sng" w="12700">
            <a:solidFill>
              <a:schemeClr val="dk1"/>
            </a:solidFill>
            <a:prstDash val="solid"/>
            <a:round/>
            <a:headEnd len="sm" w="sm" type="none"/>
            <a:tailEnd len="sm" w="sm" type="none"/>
          </a:ln>
        </p:spPr>
      </p:cxnSp>
      <p:sp>
        <p:nvSpPr>
          <p:cNvPr id="545" name="Google Shape;545;p33"/>
          <p:cNvSpPr/>
          <p:nvPr/>
        </p:nvSpPr>
        <p:spPr>
          <a:xfrm>
            <a:off x="2755900" y="3619500"/>
            <a:ext cx="419100" cy="398463"/>
          </a:xfrm>
          <a:custGeom>
            <a:rect b="b" l="l" r="r" t="t"/>
            <a:pathLst>
              <a:path extrusionOk="0" h="240" w="336">
                <a:moveTo>
                  <a:pt x="144" y="0"/>
                </a:moveTo>
                <a:lnTo>
                  <a:pt x="0" y="240"/>
                </a:lnTo>
                <a:lnTo>
                  <a:pt x="336" y="240"/>
                </a:lnTo>
                <a:lnTo>
                  <a:pt x="144" y="0"/>
                </a:lnTo>
                <a:close/>
              </a:path>
            </a:pathLst>
          </a:cu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546" name="Google Shape;546;p33"/>
          <p:cNvSpPr/>
          <p:nvPr/>
        </p:nvSpPr>
        <p:spPr>
          <a:xfrm>
            <a:off x="4724400" y="2895600"/>
            <a:ext cx="2438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ill Sans"/>
                <a:ea typeface="Gill Sans"/>
                <a:cs typeface="Gill Sans"/>
                <a:sym typeface="Gill Sans"/>
              </a:rPr>
              <a:t>Employee</a:t>
            </a:r>
            <a:endParaRPr b="0" i="0" sz="1400" u="none" cap="none" strike="noStrike">
              <a:solidFill>
                <a:srgbClr val="000000"/>
              </a:solidFill>
              <a:latin typeface="Arial"/>
              <a:ea typeface="Arial"/>
              <a:cs typeface="Arial"/>
              <a:sym typeface="Arial"/>
            </a:endParaRPr>
          </a:p>
        </p:txBody>
      </p:sp>
      <p:sp>
        <p:nvSpPr>
          <p:cNvPr id="547" name="Google Shape;547;p33"/>
          <p:cNvSpPr/>
          <p:nvPr/>
        </p:nvSpPr>
        <p:spPr>
          <a:xfrm>
            <a:off x="5562600" y="3657600"/>
            <a:ext cx="419100" cy="398463"/>
          </a:xfrm>
          <a:custGeom>
            <a:rect b="b" l="l" r="r" t="t"/>
            <a:pathLst>
              <a:path extrusionOk="0" h="240" w="336">
                <a:moveTo>
                  <a:pt x="144" y="0"/>
                </a:moveTo>
                <a:lnTo>
                  <a:pt x="0" y="240"/>
                </a:lnTo>
                <a:lnTo>
                  <a:pt x="336" y="240"/>
                </a:lnTo>
                <a:lnTo>
                  <a:pt x="144" y="0"/>
                </a:lnTo>
                <a:close/>
              </a:path>
            </a:pathLst>
          </a:cu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548" name="Google Shape;548;p33"/>
          <p:cNvSpPr/>
          <p:nvPr/>
        </p:nvSpPr>
        <p:spPr>
          <a:xfrm>
            <a:off x="2971800" y="4038600"/>
            <a:ext cx="2819400" cy="457200"/>
          </a:xfrm>
          <a:custGeom>
            <a:rect b="b" l="l" r="r" t="t"/>
            <a:pathLst>
              <a:path extrusionOk="0" h="288" w="1776">
                <a:moveTo>
                  <a:pt x="0" y="0"/>
                </a:moveTo>
                <a:lnTo>
                  <a:pt x="0" y="288"/>
                </a:lnTo>
                <a:lnTo>
                  <a:pt x="1776" y="288"/>
                </a:lnTo>
                <a:lnTo>
                  <a:pt x="1776"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pic>
        <p:nvPicPr>
          <p:cNvPr descr="brac.png" id="549" name="Google Shape;549;p33"/>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Generalization Relationship</a:t>
            </a:r>
            <a:endParaRPr/>
          </a:p>
        </p:txBody>
      </p:sp>
      <p:sp>
        <p:nvSpPr>
          <p:cNvPr id="556" name="Google Shape;556;p34"/>
          <p:cNvSpPr/>
          <p:nvPr/>
        </p:nvSpPr>
        <p:spPr>
          <a:xfrm>
            <a:off x="3276600" y="1600200"/>
            <a:ext cx="23622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557" name="Google Shape;557;p34"/>
          <p:cNvSpPr txBox="1"/>
          <p:nvPr/>
        </p:nvSpPr>
        <p:spPr>
          <a:xfrm>
            <a:off x="3657600" y="1752600"/>
            <a:ext cx="1828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Person</a:t>
            </a:r>
            <a:endParaRPr b="0" i="0" sz="1400" u="none" cap="none" strike="noStrike">
              <a:solidFill>
                <a:srgbClr val="000000"/>
              </a:solidFill>
              <a:latin typeface="Arial"/>
              <a:ea typeface="Arial"/>
              <a:cs typeface="Arial"/>
              <a:sym typeface="Arial"/>
            </a:endParaRPr>
          </a:p>
        </p:txBody>
      </p:sp>
      <p:sp>
        <p:nvSpPr>
          <p:cNvPr id="558" name="Google Shape;558;p34"/>
          <p:cNvSpPr/>
          <p:nvPr/>
        </p:nvSpPr>
        <p:spPr>
          <a:xfrm>
            <a:off x="1905000" y="2971800"/>
            <a:ext cx="23622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559" name="Google Shape;559;p34"/>
          <p:cNvSpPr/>
          <p:nvPr/>
        </p:nvSpPr>
        <p:spPr>
          <a:xfrm>
            <a:off x="4876800" y="2971800"/>
            <a:ext cx="23622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560" name="Google Shape;560;p34"/>
          <p:cNvSpPr/>
          <p:nvPr/>
        </p:nvSpPr>
        <p:spPr>
          <a:xfrm>
            <a:off x="304800" y="4724400"/>
            <a:ext cx="1676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1" name="Google Shape;561;p34"/>
          <p:cNvSpPr/>
          <p:nvPr/>
        </p:nvSpPr>
        <p:spPr>
          <a:xfrm>
            <a:off x="2438400" y="4724400"/>
            <a:ext cx="1676400" cy="762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562" name="Google Shape;562;p34"/>
          <p:cNvSpPr txBox="1"/>
          <p:nvPr/>
        </p:nvSpPr>
        <p:spPr>
          <a:xfrm>
            <a:off x="2057400" y="3124200"/>
            <a:ext cx="1981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Employee</a:t>
            </a:r>
            <a:endParaRPr b="0" i="0" sz="1400" u="none" cap="none" strike="noStrike">
              <a:solidFill>
                <a:srgbClr val="000000"/>
              </a:solidFill>
              <a:latin typeface="Arial"/>
              <a:ea typeface="Arial"/>
              <a:cs typeface="Arial"/>
              <a:sym typeface="Arial"/>
            </a:endParaRPr>
          </a:p>
        </p:txBody>
      </p:sp>
      <p:sp>
        <p:nvSpPr>
          <p:cNvPr id="563" name="Google Shape;563;p34"/>
          <p:cNvSpPr txBox="1"/>
          <p:nvPr/>
        </p:nvSpPr>
        <p:spPr>
          <a:xfrm>
            <a:off x="5105400" y="3200400"/>
            <a:ext cx="1905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Customer</a:t>
            </a:r>
            <a:endParaRPr b="0" i="0" sz="1400" u="none" cap="none" strike="noStrike">
              <a:solidFill>
                <a:srgbClr val="000000"/>
              </a:solidFill>
              <a:latin typeface="Arial"/>
              <a:ea typeface="Arial"/>
              <a:cs typeface="Arial"/>
              <a:sym typeface="Arial"/>
            </a:endParaRPr>
          </a:p>
        </p:txBody>
      </p:sp>
      <p:sp>
        <p:nvSpPr>
          <p:cNvPr id="564" name="Google Shape;564;p34"/>
          <p:cNvSpPr txBox="1"/>
          <p:nvPr/>
        </p:nvSpPr>
        <p:spPr>
          <a:xfrm>
            <a:off x="304800" y="4812900"/>
            <a:ext cx="1676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Manager</a:t>
            </a:r>
            <a:endParaRPr b="0" i="0" sz="1400" u="none" cap="none" strike="noStrike">
              <a:solidFill>
                <a:srgbClr val="000000"/>
              </a:solidFill>
              <a:latin typeface="Arial"/>
              <a:ea typeface="Arial"/>
              <a:cs typeface="Arial"/>
              <a:sym typeface="Arial"/>
            </a:endParaRPr>
          </a:p>
        </p:txBody>
      </p:sp>
      <p:sp>
        <p:nvSpPr>
          <p:cNvPr id="565" name="Google Shape;565;p34"/>
          <p:cNvSpPr txBox="1"/>
          <p:nvPr/>
        </p:nvSpPr>
        <p:spPr>
          <a:xfrm>
            <a:off x="2438400" y="4812900"/>
            <a:ext cx="1676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Engineer</a:t>
            </a:r>
            <a:endParaRPr b="0" i="0" sz="1400" u="none" cap="none" strike="noStrike">
              <a:solidFill>
                <a:srgbClr val="000000"/>
              </a:solidFill>
              <a:latin typeface="Arial"/>
              <a:ea typeface="Arial"/>
              <a:cs typeface="Arial"/>
              <a:sym typeface="Arial"/>
            </a:endParaRPr>
          </a:p>
        </p:txBody>
      </p:sp>
      <p:cxnSp>
        <p:nvCxnSpPr>
          <p:cNvPr id="566" name="Google Shape;566;p34"/>
          <p:cNvCxnSpPr/>
          <p:nvPr/>
        </p:nvCxnSpPr>
        <p:spPr>
          <a:xfrm rot="10800000">
            <a:off x="3048000" y="2819400"/>
            <a:ext cx="0" cy="152400"/>
          </a:xfrm>
          <a:prstGeom prst="straightConnector1">
            <a:avLst/>
          </a:prstGeom>
          <a:noFill/>
          <a:ln cap="flat" cmpd="sng" w="9525">
            <a:solidFill>
              <a:schemeClr val="dk1"/>
            </a:solidFill>
            <a:prstDash val="solid"/>
            <a:round/>
            <a:headEnd len="sm" w="sm" type="none"/>
            <a:tailEnd len="sm" w="sm" type="none"/>
          </a:ln>
        </p:spPr>
      </p:cxnSp>
      <p:cxnSp>
        <p:nvCxnSpPr>
          <p:cNvPr id="567" name="Google Shape;567;p34"/>
          <p:cNvCxnSpPr/>
          <p:nvPr/>
        </p:nvCxnSpPr>
        <p:spPr>
          <a:xfrm rot="10800000">
            <a:off x="6019800" y="2819400"/>
            <a:ext cx="0" cy="152400"/>
          </a:xfrm>
          <a:prstGeom prst="straightConnector1">
            <a:avLst/>
          </a:prstGeom>
          <a:noFill/>
          <a:ln cap="flat" cmpd="sng" w="9525">
            <a:solidFill>
              <a:schemeClr val="dk1"/>
            </a:solidFill>
            <a:prstDash val="solid"/>
            <a:round/>
            <a:headEnd len="sm" w="sm" type="none"/>
            <a:tailEnd len="sm" w="sm" type="none"/>
          </a:ln>
        </p:spPr>
      </p:cxnSp>
      <p:cxnSp>
        <p:nvCxnSpPr>
          <p:cNvPr id="568" name="Google Shape;568;p34"/>
          <p:cNvCxnSpPr/>
          <p:nvPr/>
        </p:nvCxnSpPr>
        <p:spPr>
          <a:xfrm>
            <a:off x="3048000" y="2819400"/>
            <a:ext cx="2971800" cy="0"/>
          </a:xfrm>
          <a:prstGeom prst="straightConnector1">
            <a:avLst/>
          </a:prstGeom>
          <a:noFill/>
          <a:ln cap="flat" cmpd="sng" w="9525">
            <a:solidFill>
              <a:schemeClr val="dk1"/>
            </a:solidFill>
            <a:prstDash val="solid"/>
            <a:round/>
            <a:headEnd len="sm" w="sm" type="none"/>
            <a:tailEnd len="sm" w="sm" type="none"/>
          </a:ln>
        </p:spPr>
      </p:cxnSp>
      <p:cxnSp>
        <p:nvCxnSpPr>
          <p:cNvPr id="569" name="Google Shape;569;p34"/>
          <p:cNvCxnSpPr/>
          <p:nvPr/>
        </p:nvCxnSpPr>
        <p:spPr>
          <a:xfrm rot="10800000">
            <a:off x="4419600" y="2362200"/>
            <a:ext cx="0" cy="457200"/>
          </a:xfrm>
          <a:prstGeom prst="straightConnector1">
            <a:avLst/>
          </a:prstGeom>
          <a:noFill/>
          <a:ln cap="flat" cmpd="sng" w="9525">
            <a:solidFill>
              <a:schemeClr val="dk1"/>
            </a:solidFill>
            <a:prstDash val="solid"/>
            <a:round/>
            <a:headEnd len="sm" w="sm" type="none"/>
            <a:tailEnd len="med" w="med" type="triangle"/>
          </a:ln>
        </p:spPr>
      </p:cxnSp>
      <p:cxnSp>
        <p:nvCxnSpPr>
          <p:cNvPr id="570" name="Google Shape;570;p34"/>
          <p:cNvCxnSpPr/>
          <p:nvPr/>
        </p:nvCxnSpPr>
        <p:spPr>
          <a:xfrm rot="10800000">
            <a:off x="1066800" y="4572000"/>
            <a:ext cx="0" cy="152400"/>
          </a:xfrm>
          <a:prstGeom prst="straightConnector1">
            <a:avLst/>
          </a:prstGeom>
          <a:noFill/>
          <a:ln cap="flat" cmpd="sng" w="9525">
            <a:solidFill>
              <a:schemeClr val="dk1"/>
            </a:solidFill>
            <a:prstDash val="solid"/>
            <a:round/>
            <a:headEnd len="sm" w="sm" type="none"/>
            <a:tailEnd len="sm" w="sm" type="none"/>
          </a:ln>
        </p:spPr>
      </p:cxnSp>
      <p:cxnSp>
        <p:nvCxnSpPr>
          <p:cNvPr id="571" name="Google Shape;571;p34"/>
          <p:cNvCxnSpPr/>
          <p:nvPr/>
        </p:nvCxnSpPr>
        <p:spPr>
          <a:xfrm rot="10800000">
            <a:off x="3276600" y="4572000"/>
            <a:ext cx="0" cy="152400"/>
          </a:xfrm>
          <a:prstGeom prst="straightConnector1">
            <a:avLst/>
          </a:prstGeom>
          <a:noFill/>
          <a:ln cap="flat" cmpd="sng" w="9525">
            <a:solidFill>
              <a:schemeClr val="dk1"/>
            </a:solidFill>
            <a:prstDash val="solid"/>
            <a:round/>
            <a:headEnd len="sm" w="sm" type="none"/>
            <a:tailEnd len="sm" w="sm" type="none"/>
          </a:ln>
        </p:spPr>
      </p:cxnSp>
      <p:cxnSp>
        <p:nvCxnSpPr>
          <p:cNvPr id="572" name="Google Shape;572;p34"/>
          <p:cNvCxnSpPr/>
          <p:nvPr/>
        </p:nvCxnSpPr>
        <p:spPr>
          <a:xfrm>
            <a:off x="1066800" y="4572000"/>
            <a:ext cx="2209800" cy="0"/>
          </a:xfrm>
          <a:prstGeom prst="straightConnector1">
            <a:avLst/>
          </a:prstGeom>
          <a:noFill/>
          <a:ln cap="flat" cmpd="sng" w="9525">
            <a:solidFill>
              <a:schemeClr val="dk1"/>
            </a:solidFill>
            <a:prstDash val="solid"/>
            <a:round/>
            <a:headEnd len="sm" w="sm" type="none"/>
            <a:tailEnd len="sm" w="sm" type="none"/>
          </a:ln>
        </p:spPr>
      </p:cxnSp>
      <p:cxnSp>
        <p:nvCxnSpPr>
          <p:cNvPr id="573" name="Google Shape;573;p34"/>
          <p:cNvCxnSpPr/>
          <p:nvPr/>
        </p:nvCxnSpPr>
        <p:spPr>
          <a:xfrm flipH="1" rot="10800000">
            <a:off x="2286000" y="3725100"/>
            <a:ext cx="25500" cy="846900"/>
          </a:xfrm>
          <a:prstGeom prst="straightConnector1">
            <a:avLst/>
          </a:prstGeom>
          <a:noFill/>
          <a:ln cap="flat" cmpd="sng" w="9525">
            <a:solidFill>
              <a:schemeClr val="dk1"/>
            </a:solidFill>
            <a:prstDash val="solid"/>
            <a:round/>
            <a:headEnd len="sm" w="sm" type="none"/>
            <a:tailEnd len="med" w="med" type="triangle"/>
          </a:ln>
        </p:spPr>
      </p:cxnSp>
      <p:pic>
        <p:nvPicPr>
          <p:cNvPr descr="brac.png" id="574" name="Google Shape;574;p34"/>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5"/>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Generalization Relationship</a:t>
            </a:r>
            <a:endParaRPr/>
          </a:p>
        </p:txBody>
      </p:sp>
      <p:sp>
        <p:nvSpPr>
          <p:cNvPr id="581" name="Google Shape;581;p35"/>
          <p:cNvSpPr/>
          <p:nvPr/>
        </p:nvSpPr>
        <p:spPr>
          <a:xfrm>
            <a:off x="3429000" y="1524000"/>
            <a:ext cx="24384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582" name="Google Shape;582;p35"/>
          <p:cNvSpPr txBox="1"/>
          <p:nvPr/>
        </p:nvSpPr>
        <p:spPr>
          <a:xfrm>
            <a:off x="3886200" y="1524000"/>
            <a:ext cx="1828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Employee</a:t>
            </a:r>
            <a:endParaRPr b="0" i="0" sz="1400" u="none" cap="none" strike="noStrike">
              <a:solidFill>
                <a:srgbClr val="000000"/>
              </a:solidFill>
              <a:latin typeface="Arial"/>
              <a:ea typeface="Arial"/>
              <a:cs typeface="Arial"/>
              <a:sym typeface="Arial"/>
            </a:endParaRPr>
          </a:p>
        </p:txBody>
      </p:sp>
      <p:sp>
        <p:nvSpPr>
          <p:cNvPr id="583" name="Google Shape;583;p35"/>
          <p:cNvSpPr txBox="1"/>
          <p:nvPr/>
        </p:nvSpPr>
        <p:spPr>
          <a:xfrm>
            <a:off x="3485675" y="2162100"/>
            <a:ext cx="22860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hireDate: Date</a:t>
            </a:r>
            <a:endParaRPr b="0" i="0" sz="2400" u="none" cap="none" strike="noStrike">
              <a:solidFill>
                <a:schemeClr val="dk1"/>
              </a:solidFill>
              <a:latin typeface="Times New Roman"/>
              <a:ea typeface="Times New Roman"/>
              <a:cs typeface="Times New Roman"/>
              <a:sym typeface="Times New Roman"/>
            </a:endParaRPr>
          </a:p>
        </p:txBody>
      </p:sp>
      <p:sp>
        <p:nvSpPr>
          <p:cNvPr id="584" name="Google Shape;584;p35"/>
          <p:cNvSpPr txBox="1"/>
          <p:nvPr/>
        </p:nvSpPr>
        <p:spPr>
          <a:xfrm>
            <a:off x="3505200" y="2895600"/>
            <a:ext cx="2286000" cy="83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receivePay()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performWork()</a:t>
            </a:r>
            <a:endParaRPr b="0" i="0" sz="2400" u="none" cap="none" strike="noStrike">
              <a:solidFill>
                <a:schemeClr val="dk1"/>
              </a:solidFill>
              <a:latin typeface="Times New Roman"/>
              <a:ea typeface="Times New Roman"/>
              <a:cs typeface="Times New Roman"/>
              <a:sym typeface="Times New Roman"/>
            </a:endParaRPr>
          </a:p>
        </p:txBody>
      </p:sp>
      <p:cxnSp>
        <p:nvCxnSpPr>
          <p:cNvPr id="585" name="Google Shape;585;p35"/>
          <p:cNvCxnSpPr/>
          <p:nvPr/>
        </p:nvCxnSpPr>
        <p:spPr>
          <a:xfrm>
            <a:off x="3429000" y="2743200"/>
            <a:ext cx="2438400" cy="0"/>
          </a:xfrm>
          <a:prstGeom prst="straightConnector1">
            <a:avLst/>
          </a:prstGeom>
          <a:noFill/>
          <a:ln cap="flat" cmpd="sng" w="9525">
            <a:solidFill>
              <a:schemeClr val="dk1"/>
            </a:solidFill>
            <a:prstDash val="solid"/>
            <a:round/>
            <a:headEnd len="sm" w="sm" type="none"/>
            <a:tailEnd len="sm" w="sm" type="none"/>
          </a:ln>
        </p:spPr>
      </p:cxnSp>
      <p:cxnSp>
        <p:nvCxnSpPr>
          <p:cNvPr id="586" name="Google Shape;586;p35"/>
          <p:cNvCxnSpPr/>
          <p:nvPr/>
        </p:nvCxnSpPr>
        <p:spPr>
          <a:xfrm>
            <a:off x="3429000" y="1981200"/>
            <a:ext cx="2438400" cy="0"/>
          </a:xfrm>
          <a:prstGeom prst="straightConnector1">
            <a:avLst/>
          </a:prstGeom>
          <a:noFill/>
          <a:ln cap="flat" cmpd="sng" w="9525">
            <a:solidFill>
              <a:schemeClr val="dk1"/>
            </a:solidFill>
            <a:prstDash val="solid"/>
            <a:round/>
            <a:headEnd len="sm" w="sm" type="none"/>
            <a:tailEnd len="sm" w="sm" type="none"/>
          </a:ln>
        </p:spPr>
      </p:cxnSp>
      <p:sp>
        <p:nvSpPr>
          <p:cNvPr id="587" name="Google Shape;587;p35"/>
          <p:cNvSpPr/>
          <p:nvPr/>
        </p:nvSpPr>
        <p:spPr>
          <a:xfrm>
            <a:off x="1447800" y="4343400"/>
            <a:ext cx="24384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588" name="Google Shape;588;p35"/>
          <p:cNvSpPr/>
          <p:nvPr/>
        </p:nvSpPr>
        <p:spPr>
          <a:xfrm>
            <a:off x="5334000" y="4343400"/>
            <a:ext cx="2438400" cy="2286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589" name="Google Shape;589;p35"/>
          <p:cNvSpPr txBox="1"/>
          <p:nvPr/>
        </p:nvSpPr>
        <p:spPr>
          <a:xfrm>
            <a:off x="1524000" y="4419600"/>
            <a:ext cx="22098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Manager</a:t>
            </a:r>
            <a:endParaRPr b="0" i="0" sz="1400" u="none" cap="none" strike="noStrike">
              <a:solidFill>
                <a:srgbClr val="000000"/>
              </a:solidFill>
              <a:latin typeface="Arial"/>
              <a:ea typeface="Arial"/>
              <a:cs typeface="Arial"/>
              <a:sym typeface="Arial"/>
            </a:endParaRPr>
          </a:p>
        </p:txBody>
      </p:sp>
      <p:sp>
        <p:nvSpPr>
          <p:cNvPr id="590" name="Google Shape;590;p35"/>
          <p:cNvSpPr txBox="1"/>
          <p:nvPr/>
        </p:nvSpPr>
        <p:spPr>
          <a:xfrm>
            <a:off x="1334850" y="4858563"/>
            <a:ext cx="25881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department: String</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bonus: Float</a:t>
            </a:r>
            <a:endParaRPr b="0" i="0" sz="2400" u="none" cap="none" strike="noStrike">
              <a:solidFill>
                <a:schemeClr val="dk1"/>
              </a:solidFill>
              <a:latin typeface="Times New Roman"/>
              <a:ea typeface="Times New Roman"/>
              <a:cs typeface="Times New Roman"/>
              <a:sym typeface="Times New Roman"/>
            </a:endParaRPr>
          </a:p>
        </p:txBody>
      </p:sp>
      <p:sp>
        <p:nvSpPr>
          <p:cNvPr id="591" name="Google Shape;591;p35"/>
          <p:cNvSpPr txBox="1"/>
          <p:nvPr/>
        </p:nvSpPr>
        <p:spPr>
          <a:xfrm>
            <a:off x="1232400" y="5791200"/>
            <a:ext cx="27930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hireEmployee()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promoteEmployee()</a:t>
            </a:r>
            <a:endParaRPr b="0" i="0" sz="2400" u="none" cap="none" strike="noStrike">
              <a:solidFill>
                <a:schemeClr val="dk1"/>
              </a:solidFill>
              <a:latin typeface="Times New Roman"/>
              <a:ea typeface="Times New Roman"/>
              <a:cs typeface="Times New Roman"/>
              <a:sym typeface="Times New Roman"/>
            </a:endParaRPr>
          </a:p>
        </p:txBody>
      </p:sp>
      <p:cxnSp>
        <p:nvCxnSpPr>
          <p:cNvPr id="592" name="Google Shape;592;p35"/>
          <p:cNvCxnSpPr/>
          <p:nvPr/>
        </p:nvCxnSpPr>
        <p:spPr>
          <a:xfrm>
            <a:off x="1447800" y="4800600"/>
            <a:ext cx="2438400" cy="0"/>
          </a:xfrm>
          <a:prstGeom prst="straightConnector1">
            <a:avLst/>
          </a:prstGeom>
          <a:noFill/>
          <a:ln cap="flat" cmpd="sng" w="9525">
            <a:solidFill>
              <a:schemeClr val="dk1"/>
            </a:solidFill>
            <a:prstDash val="solid"/>
            <a:round/>
            <a:headEnd len="sm" w="sm" type="none"/>
            <a:tailEnd len="sm" w="sm" type="none"/>
          </a:ln>
        </p:spPr>
      </p:cxnSp>
      <p:cxnSp>
        <p:nvCxnSpPr>
          <p:cNvPr id="593" name="Google Shape;593;p35"/>
          <p:cNvCxnSpPr/>
          <p:nvPr/>
        </p:nvCxnSpPr>
        <p:spPr>
          <a:xfrm>
            <a:off x="1447800" y="5638800"/>
            <a:ext cx="2438400" cy="0"/>
          </a:xfrm>
          <a:prstGeom prst="straightConnector1">
            <a:avLst/>
          </a:prstGeom>
          <a:noFill/>
          <a:ln cap="flat" cmpd="sng" w="9525">
            <a:solidFill>
              <a:schemeClr val="dk1"/>
            </a:solidFill>
            <a:prstDash val="solid"/>
            <a:round/>
            <a:headEnd len="sm" w="sm" type="none"/>
            <a:tailEnd len="sm" w="sm" type="none"/>
          </a:ln>
        </p:spPr>
      </p:cxnSp>
      <p:sp>
        <p:nvSpPr>
          <p:cNvPr id="594" name="Google Shape;594;p35"/>
          <p:cNvSpPr txBox="1"/>
          <p:nvPr/>
        </p:nvSpPr>
        <p:spPr>
          <a:xfrm>
            <a:off x="5486400" y="4419600"/>
            <a:ext cx="18288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Engineer</a:t>
            </a:r>
            <a:endParaRPr b="0" i="0" sz="1400" u="none" cap="none" strike="noStrike">
              <a:solidFill>
                <a:srgbClr val="000000"/>
              </a:solidFill>
              <a:latin typeface="Arial"/>
              <a:ea typeface="Arial"/>
              <a:cs typeface="Arial"/>
              <a:sym typeface="Arial"/>
            </a:endParaRPr>
          </a:p>
        </p:txBody>
      </p:sp>
      <p:sp>
        <p:nvSpPr>
          <p:cNvPr id="595" name="Google Shape;595;p35"/>
          <p:cNvSpPr txBox="1"/>
          <p:nvPr/>
        </p:nvSpPr>
        <p:spPr>
          <a:xfrm>
            <a:off x="5130000" y="4933900"/>
            <a:ext cx="28464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certifications: String</a:t>
            </a:r>
            <a:endParaRPr b="0" i="0" sz="2400" u="none" cap="none" strike="noStrike">
              <a:solidFill>
                <a:schemeClr val="dk1"/>
              </a:solidFill>
              <a:latin typeface="Times New Roman"/>
              <a:ea typeface="Times New Roman"/>
              <a:cs typeface="Times New Roman"/>
              <a:sym typeface="Times New Roman"/>
            </a:endParaRPr>
          </a:p>
        </p:txBody>
      </p:sp>
      <p:sp>
        <p:nvSpPr>
          <p:cNvPr id="596" name="Google Shape;596;p35"/>
          <p:cNvSpPr txBox="1"/>
          <p:nvPr/>
        </p:nvSpPr>
        <p:spPr>
          <a:xfrm>
            <a:off x="5486400" y="5715000"/>
            <a:ext cx="20574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analyze()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design()</a:t>
            </a:r>
            <a:endParaRPr b="0" i="0" sz="2400" u="none" cap="none" strike="noStrike">
              <a:solidFill>
                <a:schemeClr val="dk1"/>
              </a:solidFill>
              <a:latin typeface="Times New Roman"/>
              <a:ea typeface="Times New Roman"/>
              <a:cs typeface="Times New Roman"/>
              <a:sym typeface="Times New Roman"/>
            </a:endParaRPr>
          </a:p>
        </p:txBody>
      </p:sp>
      <p:cxnSp>
        <p:nvCxnSpPr>
          <p:cNvPr id="597" name="Google Shape;597;p35"/>
          <p:cNvCxnSpPr/>
          <p:nvPr/>
        </p:nvCxnSpPr>
        <p:spPr>
          <a:xfrm>
            <a:off x="5334000" y="4800600"/>
            <a:ext cx="2438400" cy="0"/>
          </a:xfrm>
          <a:prstGeom prst="straightConnector1">
            <a:avLst/>
          </a:prstGeom>
          <a:noFill/>
          <a:ln cap="flat" cmpd="sng" w="9525">
            <a:solidFill>
              <a:schemeClr val="dk1"/>
            </a:solidFill>
            <a:prstDash val="solid"/>
            <a:round/>
            <a:headEnd len="sm" w="sm" type="none"/>
            <a:tailEnd len="sm" w="sm" type="none"/>
          </a:ln>
        </p:spPr>
      </p:cxnSp>
      <p:cxnSp>
        <p:nvCxnSpPr>
          <p:cNvPr id="598" name="Google Shape;598;p35"/>
          <p:cNvCxnSpPr/>
          <p:nvPr/>
        </p:nvCxnSpPr>
        <p:spPr>
          <a:xfrm>
            <a:off x="5334000" y="5638800"/>
            <a:ext cx="2438400" cy="0"/>
          </a:xfrm>
          <a:prstGeom prst="straightConnector1">
            <a:avLst/>
          </a:prstGeom>
          <a:noFill/>
          <a:ln cap="flat" cmpd="sng" w="9525">
            <a:solidFill>
              <a:schemeClr val="dk1"/>
            </a:solidFill>
            <a:prstDash val="solid"/>
            <a:round/>
            <a:headEnd len="sm" w="sm" type="none"/>
            <a:tailEnd len="sm" w="sm" type="none"/>
          </a:ln>
        </p:spPr>
      </p:cxnSp>
      <p:cxnSp>
        <p:nvCxnSpPr>
          <p:cNvPr id="599" name="Google Shape;599;p35"/>
          <p:cNvCxnSpPr/>
          <p:nvPr/>
        </p:nvCxnSpPr>
        <p:spPr>
          <a:xfrm rot="10800000">
            <a:off x="1905000" y="4191000"/>
            <a:ext cx="0" cy="152400"/>
          </a:xfrm>
          <a:prstGeom prst="straightConnector1">
            <a:avLst/>
          </a:prstGeom>
          <a:noFill/>
          <a:ln cap="flat" cmpd="sng" w="9525">
            <a:solidFill>
              <a:schemeClr val="dk1"/>
            </a:solidFill>
            <a:prstDash val="solid"/>
            <a:round/>
            <a:headEnd len="sm" w="sm" type="none"/>
            <a:tailEnd len="sm" w="sm" type="none"/>
          </a:ln>
        </p:spPr>
      </p:cxnSp>
      <p:cxnSp>
        <p:nvCxnSpPr>
          <p:cNvPr id="600" name="Google Shape;600;p35"/>
          <p:cNvCxnSpPr/>
          <p:nvPr/>
        </p:nvCxnSpPr>
        <p:spPr>
          <a:xfrm>
            <a:off x="4495800" y="4876800"/>
            <a:ext cx="0" cy="0"/>
          </a:xfrm>
          <a:prstGeom prst="straightConnector1">
            <a:avLst/>
          </a:prstGeom>
          <a:noFill/>
          <a:ln cap="flat" cmpd="sng" w="9525">
            <a:solidFill>
              <a:schemeClr val="dk1"/>
            </a:solidFill>
            <a:prstDash val="solid"/>
            <a:round/>
            <a:headEnd len="sm" w="sm" type="none"/>
            <a:tailEnd len="sm" w="sm" type="none"/>
          </a:ln>
        </p:spPr>
      </p:cxnSp>
      <p:cxnSp>
        <p:nvCxnSpPr>
          <p:cNvPr id="601" name="Google Shape;601;p35"/>
          <p:cNvCxnSpPr/>
          <p:nvPr/>
        </p:nvCxnSpPr>
        <p:spPr>
          <a:xfrm rot="10800000">
            <a:off x="7239000" y="4191000"/>
            <a:ext cx="0" cy="152400"/>
          </a:xfrm>
          <a:prstGeom prst="straightConnector1">
            <a:avLst/>
          </a:prstGeom>
          <a:noFill/>
          <a:ln cap="flat" cmpd="sng" w="9525">
            <a:solidFill>
              <a:schemeClr val="dk1"/>
            </a:solidFill>
            <a:prstDash val="solid"/>
            <a:round/>
            <a:headEnd len="sm" w="sm" type="none"/>
            <a:tailEnd len="sm" w="sm" type="none"/>
          </a:ln>
        </p:spPr>
      </p:cxnSp>
      <p:cxnSp>
        <p:nvCxnSpPr>
          <p:cNvPr id="602" name="Google Shape;602;p35"/>
          <p:cNvCxnSpPr/>
          <p:nvPr/>
        </p:nvCxnSpPr>
        <p:spPr>
          <a:xfrm>
            <a:off x="1905000" y="4191000"/>
            <a:ext cx="5334000" cy="0"/>
          </a:xfrm>
          <a:prstGeom prst="straightConnector1">
            <a:avLst/>
          </a:prstGeom>
          <a:noFill/>
          <a:ln cap="flat" cmpd="sng" w="9525">
            <a:solidFill>
              <a:schemeClr val="dk1"/>
            </a:solidFill>
            <a:prstDash val="solid"/>
            <a:round/>
            <a:headEnd len="sm" w="sm" type="none"/>
            <a:tailEnd len="sm" w="sm" type="none"/>
          </a:ln>
        </p:spPr>
      </p:cxnSp>
      <p:cxnSp>
        <p:nvCxnSpPr>
          <p:cNvPr id="603" name="Google Shape;603;p35"/>
          <p:cNvCxnSpPr/>
          <p:nvPr/>
        </p:nvCxnSpPr>
        <p:spPr>
          <a:xfrm rot="10800000">
            <a:off x="4648200" y="3810000"/>
            <a:ext cx="0" cy="381000"/>
          </a:xfrm>
          <a:prstGeom prst="straightConnector1">
            <a:avLst/>
          </a:prstGeom>
          <a:noFill/>
          <a:ln cap="flat" cmpd="sng" w="9525">
            <a:solidFill>
              <a:schemeClr val="dk1"/>
            </a:solidFill>
            <a:prstDash val="solid"/>
            <a:round/>
            <a:headEnd len="sm" w="sm" type="none"/>
            <a:tailEnd len="med" w="med" type="triangle"/>
          </a:ln>
        </p:spPr>
      </p:cxnSp>
      <p:pic>
        <p:nvPicPr>
          <p:cNvPr descr="brac.png" id="604" name="Google Shape;604;p35"/>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3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Multiplicity</a:t>
            </a:r>
            <a:endParaRPr sz="4800"/>
          </a:p>
        </p:txBody>
      </p:sp>
      <p:sp>
        <p:nvSpPr>
          <p:cNvPr id="611" name="Google Shape;611;p3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736"/>
              <a:buChar char="?"/>
            </a:pPr>
            <a:r>
              <a:rPr lang="en-US" sz="3600"/>
              <a:t>Documents how many instances of a class can be associated with one instance of another class</a:t>
            </a:r>
            <a:endParaRPr/>
          </a:p>
        </p:txBody>
      </p:sp>
      <p:sp>
        <p:nvSpPr>
          <p:cNvPr id="612" name="Google Shape;612;p36"/>
          <p:cNvSpPr/>
          <p:nvPr/>
        </p:nvSpPr>
        <p:spPr>
          <a:xfrm>
            <a:off x="990600" y="4343400"/>
            <a:ext cx="175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613" name="Google Shape;613;p36"/>
          <p:cNvSpPr/>
          <p:nvPr/>
        </p:nvSpPr>
        <p:spPr>
          <a:xfrm>
            <a:off x="6019800" y="4267200"/>
            <a:ext cx="2232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cxnSp>
        <p:nvCxnSpPr>
          <p:cNvPr id="614" name="Google Shape;614;p36"/>
          <p:cNvCxnSpPr>
            <a:stCxn id="615" idx="3"/>
          </p:cNvCxnSpPr>
          <p:nvPr/>
        </p:nvCxnSpPr>
        <p:spPr>
          <a:xfrm flipH="1" rot="10800000">
            <a:off x="3048000" y="4572000"/>
            <a:ext cx="2971800" cy="38100"/>
          </a:xfrm>
          <a:prstGeom prst="straightConnector1">
            <a:avLst/>
          </a:prstGeom>
          <a:noFill/>
          <a:ln cap="flat" cmpd="sng" w="9525">
            <a:solidFill>
              <a:schemeClr val="dk1"/>
            </a:solidFill>
            <a:prstDash val="solid"/>
            <a:round/>
            <a:headEnd len="sm" w="sm" type="none"/>
            <a:tailEnd len="sm" w="sm" type="none"/>
          </a:ln>
        </p:spPr>
      </p:cxnSp>
      <p:sp>
        <p:nvSpPr>
          <p:cNvPr id="616" name="Google Shape;616;p36"/>
          <p:cNvSpPr txBox="1"/>
          <p:nvPr/>
        </p:nvSpPr>
        <p:spPr>
          <a:xfrm>
            <a:off x="3581400" y="4114800"/>
            <a:ext cx="16002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provides</a:t>
            </a:r>
            <a:endParaRPr b="0" i="0" sz="1400" u="none" cap="none" strike="noStrike">
              <a:solidFill>
                <a:srgbClr val="000000"/>
              </a:solidFill>
              <a:latin typeface="Arial"/>
              <a:ea typeface="Arial"/>
              <a:cs typeface="Arial"/>
              <a:sym typeface="Arial"/>
            </a:endParaRPr>
          </a:p>
        </p:txBody>
      </p:sp>
      <p:sp>
        <p:nvSpPr>
          <p:cNvPr id="617" name="Google Shape;617;p36"/>
          <p:cNvSpPr txBox="1"/>
          <p:nvPr/>
        </p:nvSpPr>
        <p:spPr>
          <a:xfrm>
            <a:off x="1330500" y="4379250"/>
            <a:ext cx="1072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Patient</a:t>
            </a:r>
            <a:endParaRPr b="0" i="0" sz="1400" u="none" cap="none" strike="noStrike">
              <a:solidFill>
                <a:srgbClr val="000000"/>
              </a:solidFill>
              <a:latin typeface="Arial"/>
              <a:ea typeface="Arial"/>
              <a:cs typeface="Arial"/>
              <a:sym typeface="Arial"/>
            </a:endParaRPr>
          </a:p>
        </p:txBody>
      </p:sp>
      <p:sp>
        <p:nvSpPr>
          <p:cNvPr id="618" name="Google Shape;618;p36"/>
          <p:cNvSpPr txBox="1"/>
          <p:nvPr/>
        </p:nvSpPr>
        <p:spPr>
          <a:xfrm>
            <a:off x="6019800" y="4303050"/>
            <a:ext cx="2232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Medical History</a:t>
            </a:r>
            <a:endParaRPr b="0" i="0" sz="1400" u="none" cap="none" strike="noStrike">
              <a:solidFill>
                <a:srgbClr val="000000"/>
              </a:solidFill>
              <a:latin typeface="Arial"/>
              <a:ea typeface="Arial"/>
              <a:cs typeface="Arial"/>
              <a:sym typeface="Arial"/>
            </a:endParaRPr>
          </a:p>
        </p:txBody>
      </p:sp>
      <p:cxnSp>
        <p:nvCxnSpPr>
          <p:cNvPr id="619" name="Google Shape;619;p36"/>
          <p:cNvCxnSpPr/>
          <p:nvPr/>
        </p:nvCxnSpPr>
        <p:spPr>
          <a:xfrm>
            <a:off x="4876800" y="4343400"/>
            <a:ext cx="76200" cy="0"/>
          </a:xfrm>
          <a:prstGeom prst="straightConnector1">
            <a:avLst/>
          </a:prstGeom>
          <a:noFill/>
          <a:ln cap="flat" cmpd="sng" w="9525">
            <a:solidFill>
              <a:schemeClr val="dk1"/>
            </a:solidFill>
            <a:prstDash val="solid"/>
            <a:round/>
            <a:headEnd len="sm" w="sm" type="none"/>
            <a:tailEnd len="med" w="med" type="triangle"/>
          </a:ln>
        </p:spPr>
      </p:cxnSp>
      <p:sp>
        <p:nvSpPr>
          <p:cNvPr id="620" name="Google Shape;620;p36"/>
          <p:cNvSpPr txBox="1"/>
          <p:nvPr/>
        </p:nvSpPr>
        <p:spPr>
          <a:xfrm>
            <a:off x="3009900" y="4157788"/>
            <a:ext cx="304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621" name="Google Shape;621;p36"/>
          <p:cNvSpPr txBox="1"/>
          <p:nvPr/>
        </p:nvSpPr>
        <p:spPr>
          <a:xfrm>
            <a:off x="5257800" y="4160038"/>
            <a:ext cx="685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0..1</a:t>
            </a:r>
            <a:endParaRPr b="0" i="0" sz="1400" u="none" cap="none" strike="noStrike">
              <a:solidFill>
                <a:srgbClr val="000000"/>
              </a:solidFill>
              <a:latin typeface="Arial"/>
              <a:ea typeface="Arial"/>
              <a:cs typeface="Arial"/>
              <a:sym typeface="Arial"/>
            </a:endParaRPr>
          </a:p>
        </p:txBody>
      </p:sp>
      <p:sp>
        <p:nvSpPr>
          <p:cNvPr id="615" name="Google Shape;615;p36"/>
          <p:cNvSpPr/>
          <p:nvPr/>
        </p:nvSpPr>
        <p:spPr>
          <a:xfrm>
            <a:off x="2743200" y="4419600"/>
            <a:ext cx="304800" cy="381000"/>
          </a:xfrm>
          <a:prstGeom prst="diamond">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pic>
        <p:nvPicPr>
          <p:cNvPr descr="brac.png" id="622" name="Google Shape;622;p36"/>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37"/>
          <p:cNvSpPr txBox="1"/>
          <p:nvPr>
            <p:ph type="title"/>
          </p:nvPr>
        </p:nvSpPr>
        <p:spPr>
          <a:xfrm>
            <a:off x="457200" y="274638"/>
            <a:ext cx="8229600" cy="9445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Multiplicity</a:t>
            </a:r>
            <a:endParaRPr sz="4800"/>
          </a:p>
        </p:txBody>
      </p:sp>
      <p:sp>
        <p:nvSpPr>
          <p:cNvPr id="629" name="Google Shape;629;p37"/>
          <p:cNvSpPr txBox="1"/>
          <p:nvPr>
            <p:ph idx="1" type="body"/>
          </p:nvPr>
        </p:nvSpPr>
        <p:spPr>
          <a:xfrm>
            <a:off x="457200" y="1371600"/>
            <a:ext cx="8305800" cy="49530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736"/>
              <a:buChar char="?"/>
            </a:pPr>
            <a:r>
              <a:rPr lang="en-US" sz="3600"/>
              <a:t>Denotes the </a:t>
            </a:r>
            <a:r>
              <a:rPr b="1" lang="en-US" sz="3600"/>
              <a:t>minimum number.. maximum number</a:t>
            </a:r>
            <a:r>
              <a:rPr lang="en-US" sz="3600"/>
              <a:t> of instances</a:t>
            </a:r>
            <a:endParaRPr/>
          </a:p>
          <a:p>
            <a:pPr indent="-274320" lvl="1" marL="548640" rtl="0" algn="l">
              <a:lnSpc>
                <a:spcPct val="90000"/>
              </a:lnSpc>
              <a:spcBef>
                <a:spcPts val="500"/>
              </a:spcBef>
              <a:spcAft>
                <a:spcPts val="0"/>
              </a:spcAft>
              <a:buSzPts val="2432"/>
              <a:buFont typeface="Gill Sans"/>
              <a:buNone/>
            </a:pPr>
            <a:r>
              <a:rPr lang="en-US" sz="3200"/>
              <a:t>Exactly one		1</a:t>
            </a:r>
            <a:endParaRPr/>
          </a:p>
          <a:p>
            <a:pPr indent="-274320" lvl="1" marL="548640" rtl="0" algn="l">
              <a:lnSpc>
                <a:spcPct val="90000"/>
              </a:lnSpc>
              <a:spcBef>
                <a:spcPts val="500"/>
              </a:spcBef>
              <a:spcAft>
                <a:spcPts val="0"/>
              </a:spcAft>
              <a:buSzPts val="2432"/>
              <a:buFont typeface="Gill Sans"/>
              <a:buNone/>
            </a:pPr>
            <a:r>
              <a:rPr lang="en-US" sz="3200"/>
              <a:t>Zero or more		0..*     or	0..m</a:t>
            </a:r>
            <a:endParaRPr/>
          </a:p>
          <a:p>
            <a:pPr indent="-274320" lvl="1" marL="548640" rtl="0" algn="l">
              <a:lnSpc>
                <a:spcPct val="90000"/>
              </a:lnSpc>
              <a:spcBef>
                <a:spcPts val="500"/>
              </a:spcBef>
              <a:spcAft>
                <a:spcPts val="0"/>
              </a:spcAft>
              <a:buSzPts val="2432"/>
              <a:buFont typeface="Gill Sans"/>
              <a:buNone/>
            </a:pPr>
            <a:r>
              <a:rPr lang="en-US" sz="3200"/>
              <a:t>One or more		1..*	 or	1..m</a:t>
            </a:r>
            <a:endParaRPr/>
          </a:p>
          <a:p>
            <a:pPr indent="-274320" lvl="1" marL="548640" rtl="0" algn="l">
              <a:lnSpc>
                <a:spcPct val="90000"/>
              </a:lnSpc>
              <a:spcBef>
                <a:spcPts val="500"/>
              </a:spcBef>
              <a:spcAft>
                <a:spcPts val="0"/>
              </a:spcAft>
              <a:buSzPts val="2432"/>
              <a:buFont typeface="Gill Sans"/>
              <a:buNone/>
            </a:pPr>
            <a:r>
              <a:rPr lang="en-US" sz="3200"/>
              <a:t>Zero or one		0..1</a:t>
            </a:r>
            <a:endParaRPr/>
          </a:p>
          <a:p>
            <a:pPr indent="-274320" lvl="1" marL="548640" rtl="0" algn="l">
              <a:lnSpc>
                <a:spcPct val="90000"/>
              </a:lnSpc>
              <a:spcBef>
                <a:spcPts val="500"/>
              </a:spcBef>
              <a:spcAft>
                <a:spcPts val="0"/>
              </a:spcAft>
              <a:buSzPts val="2432"/>
              <a:buFont typeface="Gill Sans"/>
              <a:buNone/>
            </a:pPr>
            <a:r>
              <a:rPr lang="en-US" sz="3200"/>
              <a:t>Specified range		2..4</a:t>
            </a:r>
            <a:endParaRPr/>
          </a:p>
          <a:p>
            <a:pPr indent="-274320" lvl="1" marL="548640" rtl="0" algn="l">
              <a:lnSpc>
                <a:spcPct val="90000"/>
              </a:lnSpc>
              <a:spcBef>
                <a:spcPts val="500"/>
              </a:spcBef>
              <a:spcAft>
                <a:spcPts val="0"/>
              </a:spcAft>
              <a:buSzPts val="2432"/>
              <a:buFont typeface="Gill Sans"/>
              <a:buNone/>
            </a:pPr>
            <a:r>
              <a:rPr lang="en-US" sz="3200"/>
              <a:t>Multiple, disjoint ranges	1..3, 5</a:t>
            </a:r>
            <a:endParaRPr/>
          </a:p>
        </p:txBody>
      </p:sp>
      <p:pic>
        <p:nvPicPr>
          <p:cNvPr descr="brac.png" id="630" name="Google Shape;630;p37"/>
          <p:cNvPicPr preferRelativeResize="0"/>
          <p:nvPr/>
        </p:nvPicPr>
        <p:blipFill rotWithShape="1">
          <a:blip r:embed="rId3">
            <a:alphaModFix/>
          </a:blip>
          <a:srcRect b="0" l="0" r="0" t="0"/>
          <a:stretch/>
        </p:blipFill>
        <p:spPr>
          <a:xfrm>
            <a:off x="7884368" y="5733256"/>
            <a:ext cx="1259632" cy="1124744"/>
          </a:xfrm>
          <a:prstGeom prst="rect">
            <a:avLst/>
          </a:prstGeom>
          <a:noFill/>
          <a:ln>
            <a:noFill/>
          </a:ln>
        </p:spPr>
      </p:pic>
    </p:spTree>
  </p:cSld>
  <p:clrMapOvr>
    <a:masterClrMapping/>
  </p:clrMapOvr>
  <p:transition>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33b9789916b_0_0"/>
          <p:cNvSpPr txBox="1"/>
          <p:nvPr>
            <p:ph type="title"/>
          </p:nvPr>
        </p:nvSpPr>
        <p:spPr>
          <a:xfrm>
            <a:off x="352125" y="102713"/>
            <a:ext cx="8229600" cy="944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Sample Class Diagram</a:t>
            </a:r>
            <a:endParaRPr sz="4800"/>
          </a:p>
        </p:txBody>
      </p:sp>
      <p:pic>
        <p:nvPicPr>
          <p:cNvPr id="637" name="Google Shape;637;g33b9789916b_0_0"/>
          <p:cNvPicPr preferRelativeResize="0"/>
          <p:nvPr/>
        </p:nvPicPr>
        <p:blipFill rotWithShape="1">
          <a:blip r:embed="rId3">
            <a:alphaModFix/>
          </a:blip>
          <a:srcRect b="0" l="0" r="0" t="0"/>
          <a:stretch/>
        </p:blipFill>
        <p:spPr>
          <a:xfrm>
            <a:off x="0" y="1145370"/>
            <a:ext cx="9143998" cy="4717759"/>
          </a:xfrm>
          <a:prstGeom prst="rect">
            <a:avLst/>
          </a:prstGeom>
          <a:noFill/>
          <a:ln>
            <a:noFill/>
          </a:ln>
        </p:spPr>
      </p:pic>
      <p:sp>
        <p:nvSpPr>
          <p:cNvPr id="638" name="Google Shape;638;g33b9789916b_0_0"/>
          <p:cNvSpPr txBox="1"/>
          <p:nvPr/>
        </p:nvSpPr>
        <p:spPr>
          <a:xfrm>
            <a:off x="352125" y="5961075"/>
            <a:ext cx="2886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Gill Sans"/>
                <a:ea typeface="Gill Sans"/>
                <a:cs typeface="Gill Sans"/>
                <a:sym typeface="Gill Sans"/>
              </a:rPr>
              <a:t>Reference: https://www.youtube.com/watch?v=6XrL5jXmTwM</a:t>
            </a:r>
            <a:endParaRPr b="0" i="0" sz="800" u="none" cap="none" strike="noStrike">
              <a:solidFill>
                <a:schemeClr val="dk1"/>
              </a:solidFill>
              <a:latin typeface="Gill Sans"/>
              <a:ea typeface="Gill Sans"/>
              <a:cs typeface="Gill Sans"/>
              <a:sym typeface="Gill Sans"/>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