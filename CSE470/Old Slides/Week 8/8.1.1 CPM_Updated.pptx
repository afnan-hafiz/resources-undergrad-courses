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7" roundtripDataSignature="AMtx7mhAuilm19vcky+iG6zPFnuYNlFK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22C976-B8E4-49AE-8603-850BC49A57B6}">
  <a:tblStyle styleId="{1722C976-B8E4-49AE-8603-850BC49A57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2" name="Google Shape;48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6" name="Google Shape;50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4" name="Google Shape;55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1" name="Google Shape;58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5" name="Google Shape;60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8" name="Google Shape;62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2" name="Google Shape;65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7" name="Google Shape;67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3" name="Google Shape;70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5" name="Google Shape;73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7" name="Google Shape;76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0" name="Google Shape;80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4" name="Google Shape;83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4" name="Google Shape;874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5" name="Google Shape;88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8" name="Google Shape;898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9" name="Google Shape;90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0" name="Google Shape;920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2" name="Google Shape;93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2" name="Google Shape;942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2" name="Google Shape;952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4" name="Google Shape;964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8" name="Google Shape;978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1" name="Google Shape;991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5" name="Google Shape;100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9" name="Google Shape;1019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1" name="Google Shape;1031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3" name="Google Shape;1043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5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5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2.jp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31.png"/><Relationship Id="rId6" Type="http://schemas.openxmlformats.org/officeDocument/2006/relationships/image" Target="../media/image2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3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 Scheduling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4478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Example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>
            <p:ph type="title"/>
          </p:nvPr>
        </p:nvSpPr>
        <p:spPr>
          <a:xfrm>
            <a:off x="535940" y="835840"/>
            <a:ext cx="5864860" cy="56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PROJECT SCHEDULING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5597652" y="1556003"/>
            <a:ext cx="1360931" cy="6233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586728" y="1556003"/>
            <a:ext cx="432816" cy="6233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5692140" y="4695444"/>
            <a:ext cx="1491995" cy="62331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812280" y="4695444"/>
            <a:ext cx="432816" cy="62331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47700" y="5030723"/>
            <a:ext cx="1141476" cy="62331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417319" y="5030723"/>
            <a:ext cx="434340" cy="62331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35940" y="1616786"/>
            <a:ext cx="7306945" cy="14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part of </a:t>
            </a:r>
            <a:r>
              <a:rPr b="0" i="0" lang="en-US" sz="22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project management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within the </a:t>
            </a:r>
            <a:r>
              <a:rPr b="0" i="1" lang="en-US" sz="2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Planning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of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Systems Development Life Cycle.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08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b="0" i="0" lang="en-US" sz="22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Project Scheduling: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 resources to execute all activities  in the project.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35940" y="4757165"/>
            <a:ext cx="6951980" cy="136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2415" lvl="0" marL="2851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b="0" i="0" lang="en-US" sz="22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Project: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activities or tasks with a clear </a:t>
            </a:r>
            <a:r>
              <a:rPr b="0" i="1" lang="en-US" sz="2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beginning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 </a:t>
            </a:r>
            <a:r>
              <a:rPr b="0" i="1" lang="en-US" sz="2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ending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points. The amount of available resources (time,  personnel and budget) to carry out the activities is usually  limited.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372093" y="5871768"/>
            <a:ext cx="1282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843015" y="3557578"/>
            <a:ext cx="4337700" cy="10872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>
            <p:ph type="title"/>
          </p:nvPr>
        </p:nvSpPr>
        <p:spPr>
          <a:xfrm>
            <a:off x="535940" y="866617"/>
            <a:ext cx="64744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29768" y="1673351"/>
            <a:ext cx="445007" cy="43129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40080" y="1552955"/>
            <a:ext cx="1706880" cy="64922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959864" y="1552955"/>
            <a:ext cx="452627" cy="64922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783835" y="2950464"/>
            <a:ext cx="396239" cy="56692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841747" y="2950464"/>
            <a:ext cx="396239" cy="56692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35940" y="1540843"/>
            <a:ext cx="7136130" cy="351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Noto Sans Symbols"/>
              <a:buChar char="🞆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Objectives: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508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beginning, ending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duration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each activity in the  project.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overall completion time of the project given the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527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 of usually limited resources.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the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critical path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its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duration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17843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the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slack time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all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non-critical activities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 whole project.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12827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the allocation of resources other than time such  as staff and budget.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8372093" y="5871768"/>
            <a:ext cx="1282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>
            <p:ph type="title"/>
          </p:nvPr>
        </p:nvSpPr>
        <p:spPr>
          <a:xfrm>
            <a:off x="535940" y="866617"/>
            <a:ext cx="6322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43483" y="1668779"/>
            <a:ext cx="390144" cy="3794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62940" y="1563624"/>
            <a:ext cx="1118616" cy="56692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443227" y="1563624"/>
            <a:ext cx="396240" cy="56692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535940" y="1616786"/>
            <a:ext cx="107886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903528" y="1923414"/>
            <a:ext cx="671449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activities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tasks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 to the project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objectives.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7747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task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individual unit of work with a clear beginning and a clear  end.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precedence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relationships or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dependencies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Estimate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time required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complete each task.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08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 an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sng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activity-on-arrow P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ERT diagram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inserting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dummy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if  required.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CPM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calculate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earliest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latest starting times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earliest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latest completion times, slack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times,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critical path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etc.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 a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GANTT chart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Reallocate resources and resolve if necessary.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Continuously monitor/revise the time estimates along the project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8372093" y="5871768"/>
            <a:ext cx="1282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>
            <p:ph type="title"/>
          </p:nvPr>
        </p:nvSpPr>
        <p:spPr>
          <a:xfrm>
            <a:off x="535940" y="866617"/>
            <a:ext cx="69316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578916" y="1588388"/>
            <a:ext cx="7152005" cy="2388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5115" marR="597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determined by adding the times for the activities in each  sequence.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CPM determines the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total calendar time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for the project.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activities outside the critical path speed up or slow down (within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limits), the total project time does not change.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175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amount of time that a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non-critical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 can be delayed  without delaying the project is called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slack-time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>
            <p:ph type="title"/>
          </p:nvPr>
        </p:nvSpPr>
        <p:spPr>
          <a:xfrm>
            <a:off x="535940" y="866617"/>
            <a:ext cx="7465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8320278" y="5871768"/>
            <a:ext cx="2298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762000" y="3200400"/>
            <a:ext cx="3836670" cy="155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Activity earliest start time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LS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Activity latest start time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EF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Activity earliest finishing time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LF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Activity latest finishing time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762000" y="4800600"/>
            <a:ext cx="462089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Slack Time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Maximum activity delay time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9" name="Google Shape;159;p6"/>
          <p:cNvGraphicFramePr/>
          <p:nvPr/>
        </p:nvGraphicFramePr>
        <p:xfrm>
          <a:off x="2362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621800"/>
                <a:gridCol w="1450850"/>
                <a:gridCol w="518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ES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Activity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LS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Duration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>
            <p:ph type="title"/>
          </p:nvPr>
        </p:nvSpPr>
        <p:spPr>
          <a:xfrm>
            <a:off x="535940" y="866617"/>
            <a:ext cx="7465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8320278" y="5871768"/>
            <a:ext cx="2298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21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578916" y="1588388"/>
            <a:ext cx="7549515" cy="4022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Step 1. Calculate ET  for each node.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74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node i for which predecessors j are labelled with ES(j), ES(i) is  given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4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ES(i)= maxj [ES(j)+ t(j,i)]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960879" rtl="0" algn="l">
              <a:lnSpc>
                <a:spcPct val="24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t(j,i) is the duration of task between nodes (j,i). 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Step 2. Calculate LT  for each node.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91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node i for which successors j are labelled with LF(j), LF(i) is given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t/>
            </a:r>
            <a:endParaRPr b="0" i="0" sz="2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LF(i)= minj [LF(j) – t(i,j)]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533400" y="5588422"/>
            <a:ext cx="8184084" cy="641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t(j,i) is the duration of task between nodes (i,j).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>
            <p:ph type="title"/>
          </p:nvPr>
        </p:nvSpPr>
        <p:spPr>
          <a:xfrm>
            <a:off x="535940" y="866617"/>
            <a:ext cx="7465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8320278" y="5871768"/>
            <a:ext cx="2298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21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381000" y="1905000"/>
            <a:ext cx="8153400" cy="3049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Step 3. Calculate slack time for each node.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activity with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zero slack time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0" i="0" lang="en-US" sz="18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critical activity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cannot be  delayed without causing a delay in the whole project.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Float/ Slack Time: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the amount of time that an activity can be delayed from its early start date without delaying the project finish date. 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Float: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the amount of time that an activity can be delayed without delaying the early start date of any successor activity.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188" name="Google Shape;188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838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9"/>
          <p:cNvGraphicFramePr/>
          <p:nvPr/>
        </p:nvGraphicFramePr>
        <p:xfrm>
          <a:off x="1295400" y="2438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93775"/>
                <a:gridCol w="1152150"/>
                <a:gridCol w="411475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ES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Activity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LS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Duration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195" name="Google Shape;19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10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p10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8" name="Google Shape;198;p10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9" name="Google Shape;199;p10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" name="Google Shape;200;p10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" name="Google Shape;201;p10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10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10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04" name="Google Shape;204;p10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5" name="Google Shape;205;p10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6" name="Google Shape;206;p10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7" name="Google Shape;207;p10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8" name="Google Shape;208;p10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9" name="Google Shape;209;p10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0" name="Google Shape;210;p10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1" name="Google Shape;211;p10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2" name="Google Shape;212;p10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218" name="Google Shape;21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9" name="Google Shape;219;p11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0" name="Google Shape;220;p11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" name="Google Shape;221;p11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2" name="Google Shape;222;p11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Google Shape;223;p11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" name="Google Shape;224;p11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Google Shape;225;p11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11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27" name="Google Shape;227;p11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8" name="Google Shape;228;p11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9" name="Google Shape;229;p11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0" name="Google Shape;230;p11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1" name="Google Shape;231;p11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2" name="Google Shape;232;p11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3" name="Google Shape;233;p11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4" name="Google Shape;234;p11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5" name="Google Shape;235;p11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6" name="Google Shape;236;p11"/>
          <p:cNvSpPr txBox="1"/>
          <p:nvPr/>
        </p:nvSpPr>
        <p:spPr>
          <a:xfrm>
            <a:off x="457200" y="1676400"/>
            <a:ext cx="15943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Weights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242" name="Google Shape;242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p12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4" name="Google Shape;244;p12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5" name="Google Shape;245;p12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6" name="Google Shape;246;p12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" name="Google Shape;247;p12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8" name="Google Shape;248;p12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9" name="Google Shape;249;p12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0" name="Google Shape;250;p12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51" name="Google Shape;251;p12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2" name="Google Shape;252;p12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3" name="Google Shape;253;p12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4" name="Google Shape;254;p12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5" name="Google Shape;255;p12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6" name="Google Shape;256;p12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7" name="Google Shape;257;p12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8" name="Google Shape;258;p12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9" name="Google Shape;259;p12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0" name="Google Shape;260;p12"/>
          <p:cNvSpPr txBox="1"/>
          <p:nvPr/>
        </p:nvSpPr>
        <p:spPr>
          <a:xfrm>
            <a:off x="457200" y="1676400"/>
            <a:ext cx="15943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Weights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266" name="Google Shape;266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7" name="Google Shape;267;p13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8" name="Google Shape;268;p13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9" name="Google Shape;269;p13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0" name="Google Shape;270;p13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1" name="Google Shape;271;p13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2" name="Google Shape;272;p13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3" name="Google Shape;273;p13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4" name="Google Shape;274;p13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75" name="Google Shape;275;p13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6" name="Google Shape;276;p13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7" name="Google Shape;277;p13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8" name="Google Shape;278;p13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9" name="Google Shape;279;p13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0" name="Google Shape;280;p13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1" name="Google Shape;281;p13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2" name="Google Shape;282;p13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3" name="Google Shape;283;p13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84" name="Google Shape;284;p13"/>
          <p:cNvSpPr txBox="1"/>
          <p:nvPr/>
        </p:nvSpPr>
        <p:spPr>
          <a:xfrm>
            <a:off x="457200" y="1676400"/>
            <a:ext cx="15943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Weights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290" name="Google Shape;290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1" name="Google Shape;291;p14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2" name="Google Shape;292;p14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3" name="Google Shape;293;p14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4" name="Google Shape;294;p14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5" name="Google Shape;295;p14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6" name="Google Shape;296;p14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7" name="Google Shape;297;p14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8" name="Google Shape;298;p14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99" name="Google Shape;299;p14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0" name="Google Shape;300;p14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1" name="Google Shape;301;p14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2" name="Google Shape;302;p14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3" name="Google Shape;303;p14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4" name="Google Shape;304;p14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5" name="Google Shape;305;p14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6" name="Google Shape;306;p14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7" name="Google Shape;307;p14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8" name="Google Shape;308;p14"/>
          <p:cNvSpPr txBox="1"/>
          <p:nvPr/>
        </p:nvSpPr>
        <p:spPr>
          <a:xfrm>
            <a:off x="457200" y="1676400"/>
            <a:ext cx="13111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314" name="Google Shape;314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5" name="Google Shape;315;p15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6" name="Google Shape;316;p15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7" name="Google Shape;317;p15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8" name="Google Shape;318;p15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9" name="Google Shape;319;p15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0" name="Google Shape;320;p15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1" name="Google Shape;321;p15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2" name="Google Shape;322;p15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23" name="Google Shape;323;p15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4" name="Google Shape;324;p15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5" name="Google Shape;325;p15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6" name="Google Shape;326;p15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7" name="Google Shape;327;p15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8" name="Google Shape;328;p15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9" name="Google Shape;329;p15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0" name="Google Shape;330;p15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1" name="Google Shape;331;p15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2" name="Google Shape;332;p15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338" name="Google Shape;33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9" name="Google Shape;339;p16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0" name="Google Shape;340;p16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1" name="Google Shape;341;p16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2" name="Google Shape;342;p16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3" name="Google Shape;343;p16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4" name="Google Shape;344;p16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5" name="Google Shape;345;p16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6" name="Google Shape;346;p16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47" name="Google Shape;347;p16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8" name="Google Shape;348;p16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9" name="Google Shape;349;p16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0" name="Google Shape;350;p16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1" name="Google Shape;351;p16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2" name="Google Shape;352;p16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3" name="Google Shape;353;p16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4" name="Google Shape;354;p16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5" name="Google Shape;355;p16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6" name="Google Shape;356;p16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362" name="Google Shape;36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3" name="Google Shape;363;p17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4" name="Google Shape;364;p17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5" name="Google Shape;365;p17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6" name="Google Shape;366;p17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7" name="Google Shape;367;p17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8" name="Google Shape;368;p17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9" name="Google Shape;369;p17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0" name="Google Shape;370;p17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71" name="Google Shape;371;p17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2" name="Google Shape;372;p17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3" name="Google Shape;373;p17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4" name="Google Shape;374;p17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5" name="Google Shape;375;p17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6" name="Google Shape;376;p17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7" name="Google Shape;377;p17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8" name="Google Shape;378;p17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9" name="Google Shape;379;p17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0" name="Google Shape;380;p17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386" name="Google Shape;386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7" name="Google Shape;387;p18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8" name="Google Shape;388;p18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9" name="Google Shape;389;p18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0" name="Google Shape;390;p18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1" name="Google Shape;391;p18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2" name="Google Shape;392;p18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3" name="Google Shape;393;p18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4" name="Google Shape;394;p18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95" name="Google Shape;395;p18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6" name="Google Shape;396;p18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7" name="Google Shape;397;p18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8" name="Google Shape;398;p18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9" name="Google Shape;399;p18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0" name="Google Shape;400;p18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1" name="Google Shape;401;p18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2" name="Google Shape;402;p18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3" name="Google Shape;403;p18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04" name="Google Shape;404;p18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410" name="Google Shape;41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" name="Google Shape;411;p19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2" name="Google Shape;412;p19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3" name="Google Shape;413;p19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4" name="Google Shape;414;p19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5" name="Google Shape;415;p19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6" name="Google Shape;416;p19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7" name="Google Shape;417;p19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8" name="Google Shape;418;p19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19" name="Google Shape;419;p19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0" name="Google Shape;420;p19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1" name="Google Shape;421;p19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2" name="Google Shape;422;p19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3" name="Google Shape;423;p19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4" name="Google Shape;424;p19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5" name="Google Shape;425;p19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6" name="Google Shape;426;p19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7" name="Google Shape;427;p19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28" name="Google Shape;428;p19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 txBox="1"/>
          <p:nvPr/>
        </p:nvSpPr>
        <p:spPr>
          <a:xfrm>
            <a:off x="7391400" y="2362200"/>
            <a:ext cx="4571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 txBox="1"/>
          <p:nvPr/>
        </p:nvSpPr>
        <p:spPr>
          <a:xfrm>
            <a:off x="7696200" y="2286000"/>
            <a:ext cx="34657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4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 txBox="1"/>
          <p:nvPr/>
        </p:nvSpPr>
        <p:spPr>
          <a:xfrm>
            <a:off x="8001000" y="2514600"/>
            <a:ext cx="5768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437" name="Google Shape;437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8" name="Google Shape;438;p20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39" name="Google Shape;439;p20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0" name="Google Shape;440;p20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1" name="Google Shape;441;p20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2" name="Google Shape;442;p20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3" name="Google Shape;443;p20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4" name="Google Shape;444;p20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5" name="Google Shape;445;p20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46" name="Google Shape;446;p20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7" name="Google Shape;447;p20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8" name="Google Shape;448;p20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9" name="Google Shape;449;p20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0" name="Google Shape;450;p20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1" name="Google Shape;451;p20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2" name="Google Shape;452;p20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3" name="Google Shape;453;p20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4" name="Google Shape;454;p20"/>
          <p:cNvCxnSpPr/>
          <p:nvPr/>
        </p:nvCxnSpPr>
        <p:spPr>
          <a:xfrm flipH="1" rot="10800000">
            <a:off x="5791200" y="4953000"/>
            <a:ext cx="1600200" cy="609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55" name="Google Shape;455;p20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461" name="Google Shape;461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2" name="Google Shape;462;p21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3" name="Google Shape;463;p21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4" name="Google Shape;464;p21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5" name="Google Shape;465;p21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6" name="Google Shape;466;p21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7" name="Google Shape;467;p21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8" name="Google Shape;468;p21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9" name="Google Shape;469;p21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70" name="Google Shape;470;p21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1" name="Google Shape;471;p21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2" name="Google Shape;472;p21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3" name="Google Shape;473;p21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4" name="Google Shape;474;p21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5" name="Google Shape;475;p21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6" name="Google Shape;476;p21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7" name="Google Shape;477;p21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8" name="Google Shape;478;p21"/>
          <p:cNvCxnSpPr/>
          <p:nvPr/>
        </p:nvCxnSpPr>
        <p:spPr>
          <a:xfrm flipH="1" rot="10800000">
            <a:off x="5791200" y="4953000"/>
            <a:ext cx="1600200" cy="609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79" name="Google Shape;479;p21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485" name="Google Shape;485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6" name="Google Shape;486;p22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7" name="Google Shape;487;p22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8" name="Google Shape;488;p22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9" name="Google Shape;489;p22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0" name="Google Shape;490;p22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1" name="Google Shape;491;p22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2" name="Google Shape;492;p22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3" name="Google Shape;493;p22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94" name="Google Shape;494;p22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5" name="Google Shape;495;p22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" name="Google Shape;496;p22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7" name="Google Shape;497;p22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8" name="Google Shape;498;p22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9" name="Google Shape;499;p22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0" name="Google Shape;500;p22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1" name="Google Shape;501;p22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2" name="Google Shape;502;p22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3" name="Google Shape;503;p22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509" name="Google Shape;509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0" name="Google Shape;510;p23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1" name="Google Shape;511;p23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2" name="Google Shape;512;p23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3" name="Google Shape;513;p23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4" name="Google Shape;514;p23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5" name="Google Shape;515;p23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6" name="Google Shape;516;p23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7" name="Google Shape;517;p23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8" name="Google Shape;518;p23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9" name="Google Shape;519;p23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0" name="Google Shape;520;p23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1" name="Google Shape;521;p23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2" name="Google Shape;522;p23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3" name="Google Shape;523;p23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4" name="Google Shape;524;p23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5" name="Google Shape;525;p23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6" name="Google Shape;526;p23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27" name="Google Shape;527;p23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533" name="Google Shape;533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4" name="Google Shape;534;p24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5" name="Google Shape;535;p24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6" name="Google Shape;536;p24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7" name="Google Shape;537;p24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8" name="Google Shape;538;p24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9" name="Google Shape;539;p24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40" name="Google Shape;540;p24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41" name="Google Shape;541;p24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42" name="Google Shape;542;p24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3" name="Google Shape;543;p24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4" name="Google Shape;544;p24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5" name="Google Shape;545;p24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6" name="Google Shape;546;p24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7" name="Google Shape;547;p24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8" name="Google Shape;548;p24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9" name="Google Shape;549;p24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0" name="Google Shape;550;p24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51" name="Google Shape;551;p24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557" name="Google Shape;55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8" name="Google Shape;558;p25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9" name="Google Shape;559;p25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0" name="Google Shape;560;p25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1" name="Google Shape;561;p25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2" name="Google Shape;562;p25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3" name="Google Shape;563;p25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4" name="Google Shape;564;p25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5" name="Google Shape;565;p25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66" name="Google Shape;566;p25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67" name="Google Shape;567;p25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68" name="Google Shape;568;p25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69" name="Google Shape;569;p25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70" name="Google Shape;570;p25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71" name="Google Shape;571;p25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72" name="Google Shape;572;p25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73" name="Google Shape;573;p25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74" name="Google Shape;574;p25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75" name="Google Shape;575;p25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5"/>
          <p:cNvSpPr txBox="1"/>
          <p:nvPr/>
        </p:nvSpPr>
        <p:spPr>
          <a:xfrm>
            <a:off x="609600" y="5638800"/>
            <a:ext cx="4571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5"/>
          <p:cNvSpPr txBox="1"/>
          <p:nvPr/>
        </p:nvSpPr>
        <p:spPr>
          <a:xfrm>
            <a:off x="914400" y="5562600"/>
            <a:ext cx="34657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4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 txBox="1"/>
          <p:nvPr/>
        </p:nvSpPr>
        <p:spPr>
          <a:xfrm>
            <a:off x="1219200" y="5791200"/>
            <a:ext cx="5437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584" name="Google Shape;584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5" name="Google Shape;585;p26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6" name="Google Shape;586;p26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7" name="Google Shape;587;p26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8" name="Google Shape;588;p26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9" name="Google Shape;589;p26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0" name="Google Shape;590;p26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1" name="Google Shape;591;p26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2" name="Google Shape;592;p26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93" name="Google Shape;593;p26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4" name="Google Shape;594;p26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5" name="Google Shape;595;p26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6" name="Google Shape;596;p26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7" name="Google Shape;597;p26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8" name="Google Shape;598;p26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9" name="Google Shape;599;p26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00" name="Google Shape;600;p26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01" name="Google Shape;601;p26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02" name="Google Shape;602;p26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pture.PNG" id="607" name="Google Shape;60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8" name="Google Shape;608;p27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9" name="Google Shape;609;p27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0" name="Google Shape;610;p27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1" name="Google Shape;611;p27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2" name="Google Shape;612;p27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3" name="Google Shape;613;p27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4" name="Google Shape;614;p27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5" name="Google Shape;615;p27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16" name="Google Shape;616;p27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7" name="Google Shape;617;p27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8" name="Google Shape;618;p27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9" name="Google Shape;619;p27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0" name="Google Shape;620;p27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1" name="Google Shape;621;p27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2" name="Google Shape;622;p27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3" name="Google Shape;623;p27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4" name="Google Shape;624;p27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25" name="Google Shape;625;p27"/>
          <p:cNvSpPr txBox="1"/>
          <p:nvPr/>
        </p:nvSpPr>
        <p:spPr>
          <a:xfrm>
            <a:off x="457200" y="1676400"/>
            <a:ext cx="13042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631" name="Google Shape;631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2" name="Google Shape;632;p28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3" name="Google Shape;633;p28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4" name="Google Shape;634;p28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5" name="Google Shape;635;p28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6" name="Google Shape;636;p28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7" name="Google Shape;637;p28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8" name="Google Shape;638;p28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9" name="Google Shape;639;p28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40" name="Google Shape;640;p28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1" name="Google Shape;641;p28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2" name="Google Shape;642;p28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3" name="Google Shape;643;p28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4" name="Google Shape;644;p28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5" name="Google Shape;645;p28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6" name="Google Shape;646;p28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7" name="Google Shape;647;p28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8" name="Google Shape;648;p28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49" name="Google Shape;649;p28"/>
          <p:cNvSpPr txBox="1"/>
          <p:nvPr/>
        </p:nvSpPr>
        <p:spPr>
          <a:xfrm>
            <a:off x="228600" y="685800"/>
            <a:ext cx="234570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Float (TF)/Slack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TF=LF-EF (Finish Float)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TF=LS-ES (Start Float)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655" name="Google Shape;655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6" name="Google Shape;656;p29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7" name="Google Shape;657;p29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8" name="Google Shape;658;p29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9" name="Google Shape;659;p29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0" name="Google Shape;660;p29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1" name="Google Shape;661;p29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2" name="Google Shape;662;p29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3" name="Google Shape;663;p29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64" name="Google Shape;664;p29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5" name="Google Shape;665;p29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6" name="Google Shape;666;p29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7" name="Google Shape;667;p29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8" name="Google Shape;668;p29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9" name="Google Shape;669;p29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70" name="Google Shape;670;p29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71" name="Google Shape;671;p29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72" name="Google Shape;672;p29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73" name="Google Shape;673;p29"/>
          <p:cNvSpPr txBox="1"/>
          <p:nvPr/>
        </p:nvSpPr>
        <p:spPr>
          <a:xfrm>
            <a:off x="228600" y="685800"/>
            <a:ext cx="22680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Float (TF) /Slack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TF=LF-EF (Finish Float)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TF=LS-ES (Start Float)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9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680" name="Google Shape;680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1" name="Google Shape;681;p30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2" name="Google Shape;682;p30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3" name="Google Shape;683;p30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4" name="Google Shape;684;p30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5" name="Google Shape;685;p30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6" name="Google Shape;686;p30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7" name="Google Shape;687;p30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8" name="Google Shape;688;p30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89" name="Google Shape;689;p30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0" name="Google Shape;690;p30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1" name="Google Shape;691;p30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2" name="Google Shape;692;p30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3" name="Google Shape;693;p30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4" name="Google Shape;694;p30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5" name="Google Shape;695;p30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6" name="Google Shape;696;p30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7" name="Google Shape;697;p30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98" name="Google Shape;698;p30"/>
          <p:cNvSpPr txBox="1"/>
          <p:nvPr/>
        </p:nvSpPr>
        <p:spPr>
          <a:xfrm>
            <a:off x="228600" y="685800"/>
            <a:ext cx="22680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Float (TF) /Slack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TF=LF-EF (Finish Float)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TF=LS-ES (Start Float)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0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706" name="Google Shape;706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7" name="Google Shape;707;p31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8" name="Google Shape;708;p31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9" name="Google Shape;709;p31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0" name="Google Shape;710;p31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1" name="Google Shape;711;p31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2" name="Google Shape;712;p31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3" name="Google Shape;713;p31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4" name="Google Shape;714;p31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15" name="Google Shape;715;p31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6" name="Google Shape;716;p31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7" name="Google Shape;717;p31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8" name="Google Shape;718;p31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9" name="Google Shape;719;p31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20" name="Google Shape;720;p31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21" name="Google Shape;721;p31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22" name="Google Shape;722;p31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23" name="Google Shape;723;p31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24" name="Google Shape;724;p31"/>
          <p:cNvSpPr txBox="1"/>
          <p:nvPr/>
        </p:nvSpPr>
        <p:spPr>
          <a:xfrm>
            <a:off x="228600" y="685800"/>
            <a:ext cx="22680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Float (TF) /Slack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TF=LF-EF (Finish Float)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TF=LS-ES (Start Float)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1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 txBox="1"/>
          <p:nvPr/>
        </p:nvSpPr>
        <p:spPr>
          <a:xfrm>
            <a:off x="44958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 txBox="1"/>
          <p:nvPr/>
        </p:nvSpPr>
        <p:spPr>
          <a:xfrm>
            <a:off x="64008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1"/>
          <p:cNvSpPr txBox="1"/>
          <p:nvPr/>
        </p:nvSpPr>
        <p:spPr>
          <a:xfrm>
            <a:off x="8382000" y="3733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 txBox="1"/>
          <p:nvPr/>
        </p:nvSpPr>
        <p:spPr>
          <a:xfrm>
            <a:off x="4114800" y="3200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 txBox="1"/>
          <p:nvPr/>
        </p:nvSpPr>
        <p:spPr>
          <a:xfrm>
            <a:off x="5105400" y="4648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1"/>
          <p:cNvSpPr txBox="1"/>
          <p:nvPr/>
        </p:nvSpPr>
        <p:spPr>
          <a:xfrm>
            <a:off x="2209800" y="426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738" name="Google Shape;738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9" name="Google Shape;739;p32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0" name="Google Shape;740;p32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1" name="Google Shape;741;p32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2" name="Google Shape;742;p32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3" name="Google Shape;743;p32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4" name="Google Shape;744;p32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5" name="Google Shape;745;p32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6" name="Google Shape;746;p32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47" name="Google Shape;747;p32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48" name="Google Shape;748;p32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49" name="Google Shape;749;p32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0" name="Google Shape;750;p32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1" name="Google Shape;751;p32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2" name="Google Shape;752;p32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3" name="Google Shape;753;p32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4" name="Google Shape;754;p32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5" name="Google Shape;755;p32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56" name="Google Shape;756;p32"/>
          <p:cNvSpPr txBox="1"/>
          <p:nvPr/>
        </p:nvSpPr>
        <p:spPr>
          <a:xfrm>
            <a:off x="228600" y="685800"/>
            <a:ext cx="56484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Float (FF)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FF=Min(of ES of Successors)-ES(Activity)-Duration(Activity)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2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2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2"/>
          <p:cNvSpPr txBox="1"/>
          <p:nvPr/>
        </p:nvSpPr>
        <p:spPr>
          <a:xfrm>
            <a:off x="44958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2"/>
          <p:cNvSpPr txBox="1"/>
          <p:nvPr/>
        </p:nvSpPr>
        <p:spPr>
          <a:xfrm>
            <a:off x="64008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2"/>
          <p:cNvSpPr txBox="1"/>
          <p:nvPr/>
        </p:nvSpPr>
        <p:spPr>
          <a:xfrm>
            <a:off x="8382000" y="3733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2"/>
          <p:cNvSpPr txBox="1"/>
          <p:nvPr/>
        </p:nvSpPr>
        <p:spPr>
          <a:xfrm>
            <a:off x="4114800" y="3200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2"/>
          <p:cNvSpPr txBox="1"/>
          <p:nvPr/>
        </p:nvSpPr>
        <p:spPr>
          <a:xfrm>
            <a:off x="5105400" y="4648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2"/>
          <p:cNvSpPr txBox="1"/>
          <p:nvPr/>
        </p:nvSpPr>
        <p:spPr>
          <a:xfrm>
            <a:off x="2209800" y="426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770" name="Google Shape;770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1" name="Google Shape;771;p33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b="0"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2" name="Google Shape;772;p33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3" name="Google Shape;773;p33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4" name="Google Shape;774;p33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5" name="Google Shape;775;p33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6" name="Google Shape;776;p33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7" name="Google Shape;777;p33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8" name="Google Shape;778;p33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79" name="Google Shape;779;p33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0" name="Google Shape;780;p33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1" name="Google Shape;781;p33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2" name="Google Shape;782;p33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3" name="Google Shape;783;p33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4" name="Google Shape;784;p33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5" name="Google Shape;785;p33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6" name="Google Shape;786;p33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7" name="Google Shape;787;p33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88" name="Google Shape;788;p33"/>
          <p:cNvSpPr txBox="1"/>
          <p:nvPr/>
        </p:nvSpPr>
        <p:spPr>
          <a:xfrm>
            <a:off x="228600" y="685800"/>
            <a:ext cx="56484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Float (FF)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FF=Min(of ES of Successors)-ES(Activity)-Duration(Activity)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=3-0-3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3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3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3"/>
          <p:cNvSpPr txBox="1"/>
          <p:nvPr/>
        </p:nvSpPr>
        <p:spPr>
          <a:xfrm>
            <a:off x="44958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3"/>
          <p:cNvSpPr txBox="1"/>
          <p:nvPr/>
        </p:nvSpPr>
        <p:spPr>
          <a:xfrm>
            <a:off x="64008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3"/>
          <p:cNvSpPr txBox="1"/>
          <p:nvPr/>
        </p:nvSpPr>
        <p:spPr>
          <a:xfrm>
            <a:off x="8382000" y="3733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3"/>
          <p:cNvSpPr txBox="1"/>
          <p:nvPr/>
        </p:nvSpPr>
        <p:spPr>
          <a:xfrm>
            <a:off x="4114800" y="3200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3"/>
          <p:cNvSpPr txBox="1"/>
          <p:nvPr/>
        </p:nvSpPr>
        <p:spPr>
          <a:xfrm>
            <a:off x="5105400" y="4648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3"/>
          <p:cNvSpPr txBox="1"/>
          <p:nvPr/>
        </p:nvSpPr>
        <p:spPr>
          <a:xfrm>
            <a:off x="2209800" y="426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3"/>
          <p:cNvSpPr txBox="1"/>
          <p:nvPr/>
        </p:nvSpPr>
        <p:spPr>
          <a:xfrm>
            <a:off x="457200" y="4114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803" name="Google Shape;803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4" name="Google Shape;804;p34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b="0"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5" name="Google Shape;805;p34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6" name="Google Shape;806;p34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7" name="Google Shape;807;p34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8" name="Google Shape;808;p34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9" name="Google Shape;809;p34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0" name="Google Shape;810;p34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1" name="Google Shape;811;p34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12" name="Google Shape;812;p34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3" name="Google Shape;813;p34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4" name="Google Shape;814;p34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5" name="Google Shape;815;p34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6" name="Google Shape;816;p34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7" name="Google Shape;817;p34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8" name="Google Shape;818;p34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9" name="Google Shape;819;p34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0" name="Google Shape;820;p34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21" name="Google Shape;821;p34"/>
          <p:cNvSpPr txBox="1"/>
          <p:nvPr/>
        </p:nvSpPr>
        <p:spPr>
          <a:xfrm>
            <a:off x="228600" y="685800"/>
            <a:ext cx="56484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Float (FF)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FF=Min(of ES of Successors)-ES(Activity)-Duration(Activity)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=5-3-2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4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4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 txBox="1"/>
          <p:nvPr/>
        </p:nvSpPr>
        <p:spPr>
          <a:xfrm>
            <a:off x="44958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4"/>
          <p:cNvSpPr txBox="1"/>
          <p:nvPr/>
        </p:nvSpPr>
        <p:spPr>
          <a:xfrm>
            <a:off x="64008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4"/>
          <p:cNvSpPr txBox="1"/>
          <p:nvPr/>
        </p:nvSpPr>
        <p:spPr>
          <a:xfrm>
            <a:off x="8382000" y="3733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4"/>
          <p:cNvSpPr txBox="1"/>
          <p:nvPr/>
        </p:nvSpPr>
        <p:spPr>
          <a:xfrm>
            <a:off x="4114800" y="3200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4"/>
          <p:cNvSpPr txBox="1"/>
          <p:nvPr/>
        </p:nvSpPr>
        <p:spPr>
          <a:xfrm>
            <a:off x="5105400" y="4648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4"/>
          <p:cNvSpPr txBox="1"/>
          <p:nvPr/>
        </p:nvSpPr>
        <p:spPr>
          <a:xfrm>
            <a:off x="2209800" y="426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4"/>
          <p:cNvSpPr txBox="1"/>
          <p:nvPr/>
        </p:nvSpPr>
        <p:spPr>
          <a:xfrm>
            <a:off x="457200" y="4114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4"/>
          <p:cNvSpPr txBox="1"/>
          <p:nvPr/>
        </p:nvSpPr>
        <p:spPr>
          <a:xfrm>
            <a:off x="2209800" y="563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837" name="Google Shape;837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8" name="Google Shape;838;p35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9" name="Google Shape;839;p35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0" name="Google Shape;840;p35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1" name="Google Shape;841;p35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2" name="Google Shape;842;p35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3" name="Google Shape;843;p35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4" name="Google Shape;844;p35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5" name="Google Shape;845;p35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{1722C976-B8E4-49AE-8603-850BC49A57B6}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46" name="Google Shape;846;p35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47" name="Google Shape;847;p35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48" name="Google Shape;848;p35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49" name="Google Shape;849;p35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0" name="Google Shape;850;p35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1" name="Google Shape;851;p35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2" name="Google Shape;852;p35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3" name="Google Shape;853;p35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4" name="Google Shape;854;p35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55" name="Google Shape;855;p35"/>
          <p:cNvSpPr txBox="1"/>
          <p:nvPr/>
        </p:nvSpPr>
        <p:spPr>
          <a:xfrm>
            <a:off x="228600" y="685800"/>
            <a:ext cx="56484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Float (FF)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FF=Min(of ES of Successors)-ES(Activity)-Duration(Activity)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=5-3-2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5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5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5"/>
          <p:cNvSpPr txBox="1"/>
          <p:nvPr/>
        </p:nvSpPr>
        <p:spPr>
          <a:xfrm>
            <a:off x="44958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5"/>
          <p:cNvSpPr txBox="1"/>
          <p:nvPr/>
        </p:nvSpPr>
        <p:spPr>
          <a:xfrm>
            <a:off x="64008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5"/>
          <p:cNvSpPr txBox="1"/>
          <p:nvPr/>
        </p:nvSpPr>
        <p:spPr>
          <a:xfrm>
            <a:off x="8382000" y="3733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5"/>
          <p:cNvSpPr txBox="1"/>
          <p:nvPr/>
        </p:nvSpPr>
        <p:spPr>
          <a:xfrm>
            <a:off x="4114800" y="3200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5"/>
          <p:cNvSpPr txBox="1"/>
          <p:nvPr/>
        </p:nvSpPr>
        <p:spPr>
          <a:xfrm>
            <a:off x="5105400" y="4648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5"/>
          <p:cNvSpPr txBox="1"/>
          <p:nvPr/>
        </p:nvSpPr>
        <p:spPr>
          <a:xfrm>
            <a:off x="2209800" y="426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5"/>
          <p:cNvSpPr txBox="1"/>
          <p:nvPr/>
        </p:nvSpPr>
        <p:spPr>
          <a:xfrm>
            <a:off x="457200" y="4114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5"/>
          <p:cNvSpPr txBox="1"/>
          <p:nvPr/>
        </p:nvSpPr>
        <p:spPr>
          <a:xfrm>
            <a:off x="2209800" y="563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5"/>
          <p:cNvSpPr txBox="1"/>
          <p:nvPr/>
        </p:nvSpPr>
        <p:spPr>
          <a:xfrm>
            <a:off x="2362200" y="3124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5"/>
          <p:cNvSpPr txBox="1"/>
          <p:nvPr/>
        </p:nvSpPr>
        <p:spPr>
          <a:xfrm>
            <a:off x="4495800" y="2743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5"/>
          <p:cNvSpPr txBox="1"/>
          <p:nvPr/>
        </p:nvSpPr>
        <p:spPr>
          <a:xfrm>
            <a:off x="6248400" y="3962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5"/>
          <p:cNvSpPr txBox="1"/>
          <p:nvPr/>
        </p:nvSpPr>
        <p:spPr>
          <a:xfrm>
            <a:off x="3962400" y="4495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5"/>
          <p:cNvSpPr txBox="1"/>
          <p:nvPr/>
        </p:nvSpPr>
        <p:spPr>
          <a:xfrm>
            <a:off x="4953000" y="59436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5"/>
          <p:cNvSpPr txBox="1"/>
          <p:nvPr/>
        </p:nvSpPr>
        <p:spPr>
          <a:xfrm>
            <a:off x="8077200" y="5029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6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6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6"/>
          <p:cNvSpPr txBox="1"/>
          <p:nvPr>
            <p:ph type="title"/>
          </p:nvPr>
        </p:nvSpPr>
        <p:spPr>
          <a:xfrm>
            <a:off x="535940" y="866617"/>
            <a:ext cx="5941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GANTT CHART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36"/>
          <p:cNvSpPr txBox="1"/>
          <p:nvPr/>
        </p:nvSpPr>
        <p:spPr>
          <a:xfrm>
            <a:off x="535940" y="1613738"/>
            <a:ext cx="7745730" cy="354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GANTT chart is a type of </a:t>
            </a:r>
            <a:r>
              <a:rPr b="0" i="0" lang="en-US" sz="24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bar chart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illustrates a  </a:t>
            </a:r>
            <a:r>
              <a:rPr b="0" i="0" lang="en-US" sz="24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635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the PERT/CPM analysis is completed, the following  phase is to construct the GANTT chart and then to re-  allocate resources and re-schedule if necessary.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080" rtl="0" algn="just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charts have become a common technique for  representing the phases and activities of a project </a:t>
            </a:r>
            <a:r>
              <a:rPr b="0" i="0" lang="en-US" sz="24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work  breakdown structure.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was introduced by Henry Gantt around 1910 – 1915.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6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6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6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7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7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7"/>
          <p:cNvSpPr txBox="1"/>
          <p:nvPr>
            <p:ph type="title"/>
          </p:nvPr>
        </p:nvSpPr>
        <p:spPr>
          <a:xfrm>
            <a:off x="535940" y="866617"/>
            <a:ext cx="57886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GANTT CHART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7"/>
          <p:cNvSpPr txBox="1"/>
          <p:nvPr/>
        </p:nvSpPr>
        <p:spPr>
          <a:xfrm>
            <a:off x="535940" y="1613738"/>
            <a:ext cx="218948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Characteristics: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7"/>
          <p:cNvSpPr txBox="1"/>
          <p:nvPr/>
        </p:nvSpPr>
        <p:spPr>
          <a:xfrm>
            <a:off x="903528" y="1995652"/>
            <a:ext cx="7244715" cy="396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bar in each row identifies the corresponding task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22161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horizontal position of the bar identifies start and end  times of the task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length represents the duration of the task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durations can be compared easily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for allocating resources and re-scheduling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Precedence relationships can be represented using arrows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activities are usually highlighted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Slack times are represented using bars with doted lines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bar of each activity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begins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activity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earliest start time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(ES)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F81BC"/>
                </a:solidFill>
                <a:latin typeface="Arial"/>
                <a:ea typeface="Arial"/>
                <a:cs typeface="Arial"/>
                <a:sym typeface="Arial"/>
              </a:rPr>
              <a:t>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7"/>
          <p:cNvSpPr txBox="1"/>
          <p:nvPr/>
        </p:nvSpPr>
        <p:spPr>
          <a:xfrm>
            <a:off x="1176324" y="5641340"/>
            <a:ext cx="6734809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bar of each activity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ends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activity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latest finish time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(LF).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7"/>
          <p:cNvSpPr txBox="1"/>
          <p:nvPr/>
        </p:nvSpPr>
        <p:spPr>
          <a:xfrm>
            <a:off x="8320278" y="5871768"/>
            <a:ext cx="2298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45</a:t>
            </a:r>
            <a:endParaRPr b="0" i="0" sz="1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4" name="Google Shape;894;p37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7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8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8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8"/>
          <p:cNvSpPr txBox="1"/>
          <p:nvPr>
            <p:ph type="title"/>
          </p:nvPr>
        </p:nvSpPr>
        <p:spPr>
          <a:xfrm>
            <a:off x="535940" y="835840"/>
            <a:ext cx="5712460" cy="56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GANTT CHART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8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8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8"/>
          <p:cNvSpPr txBox="1"/>
          <p:nvPr/>
        </p:nvSpPr>
        <p:spPr>
          <a:xfrm>
            <a:off x="578916" y="1580165"/>
            <a:ext cx="7431405" cy="3422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70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Advantages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 visual communication to others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durations can be compared easily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 for scheduling resources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4F81BC"/>
              </a:buClr>
              <a:buSzPts val="2750"/>
              <a:buFont typeface="Arial"/>
              <a:buNone/>
            </a:pPr>
            <a:r>
              <a:t/>
            </a:r>
            <a:endParaRPr b="0" i="0" sz="27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Disadvantages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Dependencies are more difficult to visualise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Minor changes in data can cause major changes in the chart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8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9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9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9"/>
          <p:cNvSpPr txBox="1"/>
          <p:nvPr>
            <p:ph type="title"/>
          </p:nvPr>
        </p:nvSpPr>
        <p:spPr>
          <a:xfrm>
            <a:off x="535940" y="866617"/>
            <a:ext cx="79222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CONSTRUCTING GANTT CHART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9"/>
          <p:cNvSpPr txBox="1"/>
          <p:nvPr/>
        </p:nvSpPr>
        <p:spPr>
          <a:xfrm>
            <a:off x="535940" y="1616786"/>
            <a:ext cx="7730490" cy="2773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steps to construct a GANTT chart from the information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obtained by PERT CHART and CPM are: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83693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Times New Roman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 the critical tasks in the correct position.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83693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Times New Roman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 the time windows in which the non-critical tasks can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3693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scheduled.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836930" marR="17970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Times New Roman"/>
              <a:buAutoNum type="arabicPeriod" startAt="3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 the non-critical tasks according to their earliest  starting times.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83693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Times New Roman"/>
              <a:buAutoNum type="arabicPeriod" startAt="3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Indicate precedence relationships between tasks.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5" name="Google Shape;915;p39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9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9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0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0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0"/>
          <p:cNvSpPr txBox="1"/>
          <p:nvPr>
            <p:ph type="title"/>
          </p:nvPr>
        </p:nvSpPr>
        <p:spPr>
          <a:xfrm>
            <a:off x="535940" y="866617"/>
            <a:ext cx="81508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CONSTRUCTING GANTT CHART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40"/>
          <p:cNvSpPr txBox="1"/>
          <p:nvPr/>
        </p:nvSpPr>
        <p:spPr>
          <a:xfrm>
            <a:off x="535940" y="1616786"/>
            <a:ext cx="558990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of an early GANTT chart construction: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40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0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0"/>
          <p:cNvSpPr/>
          <p:nvPr/>
        </p:nvSpPr>
        <p:spPr>
          <a:xfrm>
            <a:off x="714375" y="2357501"/>
            <a:ext cx="7696107" cy="25070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0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1"/>
          <p:cNvSpPr txBox="1"/>
          <p:nvPr/>
        </p:nvSpPr>
        <p:spPr>
          <a:xfrm>
            <a:off x="535940" y="877951"/>
            <a:ext cx="4018279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4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ONSTRUCTING </a:t>
            </a:r>
            <a:r>
              <a:rPr b="0" i="0" lang="en-US" sz="30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-US" sz="24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ANTT </a:t>
            </a:r>
            <a:r>
              <a:rPr b="0" i="0" lang="en-US" sz="30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4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HART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41"/>
          <p:cNvSpPr txBox="1"/>
          <p:nvPr/>
        </p:nvSpPr>
        <p:spPr>
          <a:xfrm>
            <a:off x="535940" y="1616786"/>
            <a:ext cx="311467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1. Schedule critical tasks: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41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1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1"/>
          <p:cNvSpPr/>
          <p:nvPr/>
        </p:nvSpPr>
        <p:spPr>
          <a:xfrm>
            <a:off x="860425" y="2024062"/>
            <a:ext cx="7251700" cy="39052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1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2"/>
          <p:cNvSpPr txBox="1"/>
          <p:nvPr/>
        </p:nvSpPr>
        <p:spPr>
          <a:xfrm>
            <a:off x="535940" y="877951"/>
            <a:ext cx="4018279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4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ONSTRUCTING </a:t>
            </a:r>
            <a:r>
              <a:rPr b="0" i="0" lang="en-US" sz="30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-US" sz="24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ANTT </a:t>
            </a:r>
            <a:r>
              <a:rPr b="0" i="0" lang="en-US" sz="30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4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HART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42"/>
          <p:cNvSpPr txBox="1"/>
          <p:nvPr/>
        </p:nvSpPr>
        <p:spPr>
          <a:xfrm>
            <a:off x="535940" y="1616786"/>
            <a:ext cx="506158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2. Place time windows for non-critical tasks: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42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2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2"/>
          <p:cNvSpPr/>
          <p:nvPr/>
        </p:nvSpPr>
        <p:spPr>
          <a:xfrm>
            <a:off x="571500" y="2143125"/>
            <a:ext cx="7531100" cy="39147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2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3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3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3"/>
          <p:cNvSpPr txBox="1"/>
          <p:nvPr>
            <p:ph type="title"/>
          </p:nvPr>
        </p:nvSpPr>
        <p:spPr>
          <a:xfrm>
            <a:off x="535940" y="835840"/>
            <a:ext cx="8074660" cy="56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CONSTRUCTING GANTT CHART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43"/>
          <p:cNvSpPr txBox="1"/>
          <p:nvPr/>
        </p:nvSpPr>
        <p:spPr>
          <a:xfrm>
            <a:off x="535940" y="1541166"/>
            <a:ext cx="4332605" cy="78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3. Schedule non-critical tasks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4. Indicate precedence relationships: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3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3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3"/>
          <p:cNvSpPr/>
          <p:nvPr/>
        </p:nvSpPr>
        <p:spPr>
          <a:xfrm>
            <a:off x="698017" y="2388135"/>
            <a:ext cx="7104517" cy="359936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3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44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4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4"/>
          <p:cNvSpPr txBox="1"/>
          <p:nvPr>
            <p:ph type="title"/>
          </p:nvPr>
        </p:nvSpPr>
        <p:spPr>
          <a:xfrm>
            <a:off x="535940" y="866617"/>
            <a:ext cx="7846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4"/>
          <p:cNvSpPr txBox="1"/>
          <p:nvPr/>
        </p:nvSpPr>
        <p:spPr>
          <a:xfrm>
            <a:off x="535940" y="1616786"/>
            <a:ext cx="6655434" cy="1794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the project schedule, (</a:t>
            </a:r>
            <a:r>
              <a:rPr b="0" i="1" lang="en-US" sz="2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e.g. GANTT chart),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been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constructed, take into account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available staff hours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slack times and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the project schedule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44"/>
          <p:cNvSpPr txBox="1"/>
          <p:nvPr/>
        </p:nvSpPr>
        <p:spPr>
          <a:xfrm>
            <a:off x="1394205" y="4909565"/>
            <a:ext cx="639127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Assign staff and other resources to each activity in the project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44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4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4"/>
          <p:cNvSpPr/>
          <p:nvPr/>
        </p:nvSpPr>
        <p:spPr>
          <a:xfrm>
            <a:off x="3071876" y="3643248"/>
            <a:ext cx="2286000" cy="929005"/>
          </a:xfrm>
          <a:custGeom>
            <a:rect b="b" l="l" r="r" t="t"/>
            <a:pathLst>
              <a:path extrusionOk="0" h="929004" w="2286000">
                <a:moveTo>
                  <a:pt x="2286000" y="464438"/>
                </a:moveTo>
                <a:lnTo>
                  <a:pt x="0" y="464438"/>
                </a:lnTo>
                <a:lnTo>
                  <a:pt x="1143000" y="928751"/>
                </a:lnTo>
                <a:lnTo>
                  <a:pt x="2286000" y="464438"/>
                </a:lnTo>
                <a:close/>
              </a:path>
              <a:path extrusionOk="0" h="929004" w="2286000">
                <a:moveTo>
                  <a:pt x="1714500" y="0"/>
                </a:moveTo>
                <a:lnTo>
                  <a:pt x="571500" y="0"/>
                </a:lnTo>
                <a:lnTo>
                  <a:pt x="571500" y="464438"/>
                </a:lnTo>
                <a:lnTo>
                  <a:pt x="1714500" y="464438"/>
                </a:lnTo>
                <a:lnTo>
                  <a:pt x="1714500" y="0"/>
                </a:lnTo>
                <a:close/>
              </a:path>
            </a:pathLst>
          </a:custGeom>
          <a:solidFill>
            <a:srgbClr val="4F81B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4"/>
          <p:cNvSpPr/>
          <p:nvPr/>
        </p:nvSpPr>
        <p:spPr>
          <a:xfrm>
            <a:off x="3071876" y="3643248"/>
            <a:ext cx="2286000" cy="929005"/>
          </a:xfrm>
          <a:custGeom>
            <a:rect b="b" l="l" r="r" t="t"/>
            <a:pathLst>
              <a:path extrusionOk="0" h="929004" w="2286000">
                <a:moveTo>
                  <a:pt x="0" y="464438"/>
                </a:moveTo>
                <a:lnTo>
                  <a:pt x="571500" y="464438"/>
                </a:lnTo>
                <a:lnTo>
                  <a:pt x="571500" y="0"/>
                </a:lnTo>
                <a:lnTo>
                  <a:pt x="1714500" y="0"/>
                </a:lnTo>
                <a:lnTo>
                  <a:pt x="1714500" y="464438"/>
                </a:lnTo>
                <a:lnTo>
                  <a:pt x="2286000" y="464438"/>
                </a:lnTo>
                <a:lnTo>
                  <a:pt x="1143000" y="928751"/>
                </a:lnTo>
                <a:lnTo>
                  <a:pt x="0" y="464438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4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5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5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5"/>
          <p:cNvSpPr txBox="1"/>
          <p:nvPr>
            <p:ph type="title"/>
          </p:nvPr>
        </p:nvSpPr>
        <p:spPr>
          <a:xfrm>
            <a:off x="535940" y="866617"/>
            <a:ext cx="79222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45"/>
          <p:cNvSpPr/>
          <p:nvPr/>
        </p:nvSpPr>
        <p:spPr>
          <a:xfrm>
            <a:off x="422148" y="1671827"/>
            <a:ext cx="467868" cy="4556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5"/>
          <p:cNvSpPr/>
          <p:nvPr/>
        </p:nvSpPr>
        <p:spPr>
          <a:xfrm>
            <a:off x="630936" y="1546860"/>
            <a:ext cx="3014472" cy="67970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5"/>
          <p:cNvSpPr txBox="1"/>
          <p:nvPr/>
        </p:nvSpPr>
        <p:spPr>
          <a:xfrm>
            <a:off x="535940" y="1613738"/>
            <a:ext cx="7669530" cy="2315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Resource Smoothing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technique used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re-allocate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resources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re-schedule activities.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2415" lvl="0" marL="285115" marR="23304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resource smoothing, </a:t>
            </a:r>
            <a:r>
              <a:rPr b="0" i="0" lang="en-US" sz="24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non-critical tasks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0" i="0" lang="en-US" sz="24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re-scheduled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within their time window.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08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Staff Utilization</a:t>
            </a:r>
            <a:r>
              <a:rPr b="0" i="1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:(duration of activity x staff required for each activity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 all added together) /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maximum staff required x duration of project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45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5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5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6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6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6"/>
          <p:cNvSpPr txBox="1"/>
          <p:nvPr>
            <p:ph type="title"/>
          </p:nvPr>
        </p:nvSpPr>
        <p:spPr>
          <a:xfrm>
            <a:off x="535940" y="866617"/>
            <a:ext cx="8608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46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6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6"/>
          <p:cNvSpPr/>
          <p:nvPr/>
        </p:nvSpPr>
        <p:spPr>
          <a:xfrm>
            <a:off x="576072" y="1606296"/>
            <a:ext cx="1420367" cy="56692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6"/>
          <p:cNvSpPr/>
          <p:nvPr/>
        </p:nvSpPr>
        <p:spPr>
          <a:xfrm>
            <a:off x="1658111" y="1606296"/>
            <a:ext cx="396239" cy="56692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6"/>
          <p:cNvSpPr txBox="1"/>
          <p:nvPr/>
        </p:nvSpPr>
        <p:spPr>
          <a:xfrm>
            <a:off x="721868" y="1659763"/>
            <a:ext cx="105219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Example1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46"/>
          <p:cNvSpPr/>
          <p:nvPr/>
        </p:nvSpPr>
        <p:spPr>
          <a:xfrm>
            <a:off x="642937" y="2643251"/>
            <a:ext cx="7696107" cy="25070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6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7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7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47"/>
          <p:cNvSpPr txBox="1"/>
          <p:nvPr>
            <p:ph type="title"/>
          </p:nvPr>
        </p:nvSpPr>
        <p:spPr>
          <a:xfrm>
            <a:off x="535940" y="866617"/>
            <a:ext cx="80746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7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7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7"/>
          <p:cNvSpPr/>
          <p:nvPr/>
        </p:nvSpPr>
        <p:spPr>
          <a:xfrm>
            <a:off x="428625" y="2587606"/>
            <a:ext cx="2589276" cy="233352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7"/>
          <p:cNvSpPr txBox="1"/>
          <p:nvPr/>
        </p:nvSpPr>
        <p:spPr>
          <a:xfrm>
            <a:off x="364642" y="1659763"/>
            <a:ext cx="788797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original schedule (constructed above) for this project is as shown below.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7"/>
          <p:cNvSpPr/>
          <p:nvPr/>
        </p:nvSpPr>
        <p:spPr>
          <a:xfrm>
            <a:off x="3252851" y="2457450"/>
            <a:ext cx="5153025" cy="26098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47"/>
          <p:cNvSpPr txBox="1"/>
          <p:nvPr/>
        </p:nvSpPr>
        <p:spPr>
          <a:xfrm>
            <a:off x="364642" y="5303901"/>
            <a:ext cx="800036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1. Staff utilisation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(3x2+4x4+5x1+7x3+2x1+4x2+3x5)/(14x6) = 0.857 = 85.5%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47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48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48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8"/>
          <p:cNvSpPr txBox="1"/>
          <p:nvPr>
            <p:ph type="title"/>
          </p:nvPr>
        </p:nvSpPr>
        <p:spPr>
          <a:xfrm>
            <a:off x="535940" y="866617"/>
            <a:ext cx="8227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48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8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48"/>
          <p:cNvSpPr txBox="1"/>
          <p:nvPr/>
        </p:nvSpPr>
        <p:spPr>
          <a:xfrm>
            <a:off x="650240" y="1659763"/>
            <a:ext cx="289687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Work out the Staff Profile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48"/>
          <p:cNvSpPr/>
          <p:nvPr/>
        </p:nvSpPr>
        <p:spPr>
          <a:xfrm>
            <a:off x="928687" y="2143125"/>
            <a:ext cx="6791325" cy="34671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8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9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9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9"/>
          <p:cNvSpPr txBox="1"/>
          <p:nvPr>
            <p:ph type="title"/>
          </p:nvPr>
        </p:nvSpPr>
        <p:spPr>
          <a:xfrm>
            <a:off x="535940" y="866617"/>
            <a:ext cx="76936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49"/>
          <p:cNvSpPr txBox="1"/>
          <p:nvPr/>
        </p:nvSpPr>
        <p:spPr>
          <a:xfrm>
            <a:off x="535940" y="1618234"/>
            <a:ext cx="7499984" cy="119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5115" marR="1022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25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Now, assume that there are 6 people available for working in this project but  one of them returns from holidays at time=2.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08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25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</a:t>
            </a:r>
            <a:r>
              <a:rPr b="0" i="1" lang="en-US" sz="1800" u="none" cap="none" strike="noStrike">
                <a:solidFill>
                  <a:srgbClr val="375F92"/>
                </a:solidFill>
                <a:latin typeface="Trebuchet MS"/>
                <a:ea typeface="Trebuchet MS"/>
                <a:cs typeface="Trebuchet MS"/>
                <a:sym typeface="Trebuchet MS"/>
              </a:rPr>
              <a:t>re-scheduling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needed because activities A and B cannot be carried out in  parallel until time=2.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49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9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9"/>
          <p:cNvSpPr/>
          <p:nvPr/>
        </p:nvSpPr>
        <p:spPr>
          <a:xfrm>
            <a:off x="1643329" y="3010436"/>
            <a:ext cx="6010950" cy="305195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9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50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50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50"/>
          <p:cNvSpPr txBox="1"/>
          <p:nvPr>
            <p:ph type="title"/>
          </p:nvPr>
        </p:nvSpPr>
        <p:spPr>
          <a:xfrm>
            <a:off x="535940" y="835840"/>
            <a:ext cx="7998460" cy="56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50"/>
          <p:cNvSpPr txBox="1"/>
          <p:nvPr/>
        </p:nvSpPr>
        <p:spPr>
          <a:xfrm>
            <a:off x="535940" y="1618234"/>
            <a:ext cx="7623175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51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25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another scenario in which equipment and materials needed to carry  out activities E  and F are available at time=5 and time=9 respectively instead of  being available at the activities ES time. Then, rescheduling is needed but the  overall duration of the project is not affected.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0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50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50"/>
          <p:cNvSpPr/>
          <p:nvPr/>
        </p:nvSpPr>
        <p:spPr>
          <a:xfrm>
            <a:off x="1603048" y="3035919"/>
            <a:ext cx="5897847" cy="299387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50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2019-07-24T17:25:34Z</dcterms:created>
  <dc:creator>User</dc:creator>
</cp:coreProperties>
</file>