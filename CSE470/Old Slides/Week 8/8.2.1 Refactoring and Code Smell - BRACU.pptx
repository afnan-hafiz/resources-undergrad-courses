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7874000" cx="10160000"/>
  <p:notesSz cx="6858000" cy="9144000"/>
  <p:embeddedFontLs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5" roundtripDataSignature="AMtx7mhUDYsuswO5qUnLIV2nCTOCG4V9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1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2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2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2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2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2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2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2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2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2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p3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3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3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3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3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3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3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3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4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4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4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4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4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p4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4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5" name="Google Shape;1065;p4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p4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p5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p5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5" name="Google Shape;1135;p5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8" name="Google Shape;1148;p5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5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p5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6" name="Google Shape;1196;p5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1" name="Google Shape;1211;p5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6" name="Google Shape;1226;p5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3" name="Google Shape;1243;p5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p6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7" name="Google Shape;1277;p6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6" name="Google Shape;1296;p6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8" name="Google Shape;1318;p6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7" name="Google Shape;1337;p6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5" name="Google Shape;1355;p6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" type="body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body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2" type="body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i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idx="4" type="body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1" type="body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19" lvl="0" marL="457200" algn="l">
              <a:lnSpc>
                <a:spcPct val="100000"/>
              </a:lnSpc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1576" lvl="1" marL="9144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39"/>
            </a:lvl2pPr>
            <a:lvl3pPr indent="-396176" lvl="2" marL="1371600" algn="l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39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indent="-365759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indent="-365759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idx="2" type="body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idx="2" type="pic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idx="1" type="body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1" type="body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colab.research.google.com/drive/1mDlmASeBU9lKodWUyvvmaAAQcO2Jcs-T?usp=drive_link" TargetMode="External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jpg"/><Relationship Id="rId5" Type="http://schemas.openxmlformats.org/officeDocument/2006/relationships/hyperlink" Target="https://thectoclub.com/tools/best-code-analysis-tool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s://www.techtarget.com/whatis/definition/technical-debt" TargetMode="External"/><Relationship Id="rId6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3.jpg"/><Relationship Id="rId6" Type="http://schemas.openxmlformats.org/officeDocument/2006/relationships/hyperlink" Target="https://www.w3schools.com/python/ref_keyword_assert.asp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9.png"/><Relationship Id="rId6" Type="http://schemas.openxmlformats.org/officeDocument/2006/relationships/image" Target="../media/image3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3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cap="flat" cmpd="sng" w="38100">
            <a:solidFill>
              <a:srgbClr val="FF1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-16275" y="4"/>
            <a:ext cx="10160100" cy="44412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215900" lvl="0" marL="0" marR="0" rtl="0" algn="l">
              <a:lnSpc>
                <a:spcPct val="10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t/>
            </a:r>
            <a:endParaRPr b="0" i="0" sz="77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75" y="5161116"/>
            <a:ext cx="96165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06400" lvl="0" marL="0" marR="0" rtl="0" algn="r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470 –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 Code 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r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Example Sheet: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Code Smells (SHRR Version).ipynb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l">
              <a:lnSpc>
                <a:spcPct val="10603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395"/>
              <a:buFont typeface="Arial"/>
              <a:buNone/>
            </a:pPr>
            <a:r>
              <a:t/>
            </a:r>
            <a:endParaRPr b="1" i="0" sz="33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685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00" y="515900"/>
            <a:ext cx="10101374" cy="39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74800" y="151825"/>
            <a:ext cx="10077287" cy="7277100"/>
            <a:chOff x="63500" y="508000"/>
            <a:chExt cx="10077287" cy="7277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43000" y="2191250"/>
              <a:ext cx="9451500" cy="53427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❏"/>
              </a:pP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series of </a:t>
              </a:r>
              <a:r>
                <a:rPr b="1"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steps</a:t>
              </a: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each of which changes the program’s  </a:t>
              </a:r>
              <a:r>
                <a:rPr b="1"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internal structure</a:t>
              </a: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without changing its </a:t>
              </a:r>
              <a:r>
                <a:rPr b="1"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external  behavior</a:t>
              </a: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 Martin Fowler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Verify no change in external behavior by -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Using the right tool - IDE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Formal code analysis by </a:t>
              </a:r>
              <a:r>
                <a:rPr lang="en-US" sz="29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any tool</a:t>
              </a: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or team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lang="en-US" sz="2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Being very, very careful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700560" y="643100"/>
            <a:ext cx="5742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Refactoring?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25" name="Google Shape;125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28" name="Google Shape;128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 flipH="1" rot="10800000">
              <a:off x="1135470" y="5575184"/>
              <a:ext cx="904058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you hear...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just refactor the code to support logging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39800" y="3576950"/>
            <a:ext cx="8675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refactor the code so that it authenticates against LDAP instead of Database?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39800" y="3898900"/>
            <a:ext cx="130904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39800" y="4441050"/>
            <a:ext cx="900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too much duplicate code, we need to refactor the code to eliminate duplication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too big, we need to refactor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humbnail_fdbd8478-4071-48f9-881e-7f6c58f17549.png" id="146" name="Google Shape;14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53" name="Google Shape;153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 we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us deliver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business value faster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the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our software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Minimizes </a:t>
              </a:r>
              <a:r>
                <a:rPr b="1" lang="en-US" sz="2500" u="sng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5"/>
                </a:rPr>
                <a:t>technical debt</a:t>
              </a:r>
              <a:endParaRPr b="1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at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make the software easier to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for people, not the compiler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83333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help find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t/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t/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8415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68" name="Google Shape;1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5"/>
          <p:cNvGrpSpPr/>
          <p:nvPr/>
        </p:nvGrpSpPr>
        <p:grpSpPr>
          <a:xfrm>
            <a:off x="45725" y="0"/>
            <a:ext cx="10096891" cy="7632700"/>
            <a:chOff x="0" y="152400"/>
            <a:chExt cx="10227807" cy="7632700"/>
          </a:xfrm>
        </p:grpSpPr>
        <p:cxnSp>
          <p:nvCxnSpPr>
            <p:cNvPr id="175" name="Google Shape;175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0" y="1524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Readability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code segment is easier to read?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(date.Before(Summer_Start) || date.After(Summer_End)){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quantity * winterRate + winterServiceCharge;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quantity * 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(IsSummer(date)) { 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SummerCharge(quantity);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596890" y="6017806"/>
              <a:ext cx="44775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i="0" lang="en-US" sz="205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endParaRPr i="0" sz="2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101300" y="5780775"/>
            <a:ext cx="3470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aseline="-25000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= WinterCharge(quantity);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200" name="Google Shape;200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3" name="Google Shape;20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should you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add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functionality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existing code until you understand it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Like championship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the design to make it simple to add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snooker players we are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find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setting ourselves up for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to understand the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our next shot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reviews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effect of code review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for higher level suggestions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29" name="Google Shape;2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36" name="Google Shape;236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9" name="Google Shape;23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43" name="Google Shape;24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7"/>
            <p:cNvSpPr/>
            <p:nvPr/>
          </p:nvSpPr>
          <p:spPr>
            <a:xfrm>
              <a:off x="1354670" y="2883119"/>
              <a:ext cx="1232476" cy="924186"/>
            </a:xfrm>
            <a:custGeom>
              <a:rect b="b" l="l" r="r" t="t"/>
              <a:pathLst>
                <a:path extrusionOk="0" h="924185" w="1232475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494478" y="3424238"/>
              <a:ext cx="1018919" cy="363864"/>
            </a:xfrm>
            <a:custGeom>
              <a:rect b="b" l="l" r="r" t="t"/>
              <a:pathLst>
                <a:path extrusionOk="0" h="363863" w="1018918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460544" y="3461166"/>
              <a:ext cx="619858" cy="279175"/>
            </a:xfrm>
            <a:custGeom>
              <a:rect b="b" l="l" r="r" t="t"/>
              <a:pathLst>
                <a:path extrusionOk="0" h="279175" w="619857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715726" y="3695043"/>
              <a:ext cx="68772" cy="20188"/>
            </a:xfrm>
            <a:custGeom>
              <a:rect b="b" l="l" r="r" t="t"/>
              <a:pathLst>
                <a:path extrusionOk="0" h="20187" w="68771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671839" y="3657131"/>
              <a:ext cx="280067" cy="38405"/>
            </a:xfrm>
            <a:custGeom>
              <a:rect b="b" l="l" r="r" t="t"/>
              <a:pathLst>
                <a:path extrusionOk="0" h="38404" w="280066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376841" y="3389279"/>
              <a:ext cx="95467" cy="257512"/>
            </a:xfrm>
            <a:custGeom>
              <a:rect b="b" l="l" r="r" t="t"/>
              <a:pathLst>
                <a:path extrusionOk="0" h="257511" w="95467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946476" y="3343489"/>
              <a:ext cx="301784" cy="257019"/>
            </a:xfrm>
            <a:custGeom>
              <a:rect b="b" l="l" r="r" t="t"/>
              <a:pathLst>
                <a:path extrusionOk="0" h="257018" w="301783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2286718" y="3312962"/>
              <a:ext cx="41174" cy="183655"/>
            </a:xfrm>
            <a:custGeom>
              <a:rect b="b" l="l" r="r" t="t"/>
              <a:pathLst>
                <a:path extrusionOk="0" h="183654" w="41173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911184" y="3396665"/>
              <a:ext cx="25790" cy="4924"/>
            </a:xfrm>
            <a:custGeom>
              <a:rect b="b" l="l" r="r" t="t"/>
              <a:pathLst>
                <a:path extrusionOk="0" h="4923" w="25789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618449" y="2922017"/>
              <a:ext cx="643837" cy="443629"/>
            </a:xfrm>
            <a:custGeom>
              <a:rect b="b" l="l" r="r" t="t"/>
              <a:pathLst>
                <a:path extrusionOk="0" h="443628" w="643836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675664" y="2871937"/>
              <a:ext cx="1150484" cy="880467"/>
            </a:xfrm>
            <a:custGeom>
              <a:rect b="b" l="l" r="r" t="t"/>
              <a:pathLst>
                <a:path extrusionOk="0" h="880466" w="1150484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757141" y="3443778"/>
              <a:ext cx="1035733" cy="290937"/>
            </a:xfrm>
            <a:custGeom>
              <a:rect b="b" l="l" r="r" t="t"/>
              <a:pathLst>
                <a:path extrusionOk="0" h="290936" w="1035733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6821554" y="3257652"/>
              <a:ext cx="899229" cy="248961"/>
            </a:xfrm>
            <a:custGeom>
              <a:rect b="b" l="l" r="r" t="t"/>
              <a:pathLst>
                <a:path extrusionOk="0" h="248960" w="899228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7488723" y="3504237"/>
              <a:ext cx="215850" cy="53330"/>
            </a:xfrm>
            <a:custGeom>
              <a:rect b="b" l="l" r="r" t="t"/>
              <a:pathLst>
                <a:path extrusionOk="0" h="53329" w="215849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7566788" y="3668977"/>
              <a:ext cx="95127" cy="70491"/>
            </a:xfrm>
            <a:custGeom>
              <a:rect b="b" l="l" r="r" t="t"/>
              <a:pathLst>
                <a:path extrusionOk="0" h="70490" w="95126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7568068" y="3653929"/>
              <a:ext cx="22608" cy="9769"/>
            </a:xfrm>
            <a:custGeom>
              <a:rect b="b" l="l" r="r" t="t"/>
              <a:pathLst>
                <a:path extrusionOk="0" h="9768" w="22608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6735813" y="3435330"/>
              <a:ext cx="771680" cy="217016"/>
            </a:xfrm>
            <a:custGeom>
              <a:rect b="b" l="l" r="r" t="t"/>
              <a:pathLst>
                <a:path extrusionOk="0" h="217015" w="771679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864639" y="3215939"/>
              <a:ext cx="640295" cy="195103"/>
            </a:xfrm>
            <a:custGeom>
              <a:rect b="b" l="l" r="r" t="t"/>
              <a:pathLst>
                <a:path extrusionOk="0" h="195102" w="640294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6850136" y="3118784"/>
              <a:ext cx="603182" cy="231535"/>
            </a:xfrm>
            <a:custGeom>
              <a:rect b="b" l="l" r="r" t="t"/>
              <a:pathLst>
                <a:path extrusionOk="0" h="231534" w="603182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7281833" y="3644689"/>
              <a:ext cx="150582" cy="64418"/>
            </a:xfrm>
            <a:custGeom>
              <a:rect b="b" l="l" r="r" t="t"/>
              <a:pathLst>
                <a:path extrusionOk="0" h="64418" w="150582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6877864" y="3045654"/>
              <a:ext cx="424445" cy="157349"/>
            </a:xfrm>
            <a:custGeom>
              <a:rect b="b" l="l" r="r" t="t"/>
              <a:pathLst>
                <a:path extrusionOk="0" h="157349" w="424445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6859946" y="3127761"/>
              <a:ext cx="373684" cy="158668"/>
            </a:xfrm>
            <a:custGeom>
              <a:rect b="b" l="l" r="r" t="t"/>
              <a:pathLst>
                <a:path extrusionOk="0" h="158668" w="373683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6718749" y="2906259"/>
              <a:ext cx="308844" cy="246583"/>
            </a:xfrm>
            <a:custGeom>
              <a:rect b="b" l="l" r="r" t="t"/>
              <a:pathLst>
                <a:path extrusionOk="0" h="246583" w="308843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732399" y="3095288"/>
              <a:ext cx="57589" cy="22441"/>
            </a:xfrm>
            <a:custGeom>
              <a:rect b="b" l="l" r="r" t="t"/>
              <a:pathLst>
                <a:path extrusionOk="0" h="22440" w="57589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Two Hats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Function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any new 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tests (but may change some)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Restructure the code to remove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redundancy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new capabilities to the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tests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the test working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79" name="Google Shape;2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Refactor?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 for </a:t>
            </a: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we suspect are not quite right or will cause us severe pain if we  do not fix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41500" lvl="0" marL="0" marR="0" rtl="0" algn="l">
              <a:lnSpc>
                <a:spcPct val="96685"/>
              </a:lnSpc>
              <a:spcBef>
                <a:spcPts val="132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295" name="Google Shape;2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Piece of Advice before Refactoring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07" name="Google Shape;30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Hippocratic Oath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A7184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Do No Harm!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10" name="Google Shape;31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Baby Steps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15" name="Google Shape;3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2" name="Google Shape;322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1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728350" y="2888725"/>
              <a:ext cx="9112800" cy="41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4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 identify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frequently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occurring </a:t>
              </a:r>
              <a:r>
                <a:rPr b="1" i="0" lang="en-US" sz="295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problems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 a way that is more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or targeted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than general design guidelines  (like “loosely coupled code” or “duplication-free code”). - Joshua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2349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code smell is a design that duplicates, complicates, bloats or tightly couples code.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1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30" name="Google Shape;3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37" name="Google Shape;337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" name="Google Shape;338;p1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0" name="Google Shape;34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short history of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it stinks, change it!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Kent Beck coined the term code smell to signify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something in code that needed to be changed.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51" name="Google Shape;3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2"/>
          <p:cNvGrpSpPr/>
          <p:nvPr/>
        </p:nvGrpSpPr>
        <p:grpSpPr>
          <a:xfrm>
            <a:off x="0" y="0"/>
            <a:ext cx="10227807" cy="7873950"/>
            <a:chOff x="0" y="0"/>
            <a:chExt cx="10227807" cy="7873950"/>
          </a:xfrm>
        </p:grpSpPr>
        <p:cxnSp>
          <p:nvCxnSpPr>
            <p:cNvPr id="358" name="Google Shape;358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9" name="Google Shape;359;p1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1" name="Google Shape;3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Common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1193800" y="2044700"/>
              <a:ext cx="3466851" cy="50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Inappropriate Naming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Comments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Dead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Duplicated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Primitive Obsession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Large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Lazy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Alternative Class with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Interface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2"/>
            <p:cNvSpPr txBox="1"/>
            <p:nvPr/>
          </p:nvSpPr>
          <p:spPr>
            <a:xfrm>
              <a:off x="5676900" y="2152650"/>
              <a:ext cx="3291600" cy="57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Method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Parameter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Switch Statements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Speculative Generality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Oddball Solution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 Envy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Refused Bequest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Black Sheep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Train Wreck</a:t>
              </a:r>
              <a:endParaRPr b="0" i="0" sz="264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84" name="Google Shape;3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67453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385" name="Google Shape;3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71565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926" y="6439008"/>
            <a:ext cx="340320" cy="30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Inappropriate Naming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given to variables (fields) and methods should be clear  and meaningful.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name should say exactly what it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s; </a:t>
            </a: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salary;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should say exactly what it does.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 (double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calculateFederalTaxes (double salary)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422400" lvl="0" marL="0" marR="0" rtl="0" algn="l">
              <a:lnSpc>
                <a:spcPct val="96685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12" name="Google Shape;4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Comments </a:t>
            </a:r>
            <a:endParaRPr b="0" i="0" sz="471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39800" y="2565400"/>
            <a:ext cx="870223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are often used as deodorant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represent a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express an idea in the code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Try to make your  code self-documenting or intention-revealing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feel like writing a comment, first try "to refactor so that the comment becomes superfluous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939800" y="4241800"/>
            <a:ext cx="37840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Assertion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36" name="Google Shape;4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3" name="Google Shape;443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4" name="Google Shape;444;p1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Comment: “Grow the Array”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24130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51" name="Google Shape;451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INITIAL_CAPACITY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bool m_readOnly;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m_size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string[] m_elements;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MyList()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new string[INITIAL_CAPACITY];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GetCapacity()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void AddToList(string element)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(!m_readOnly)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newSize = m_size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(newSize &gt; GetCapacity())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grow the array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+=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string[] elements2 = new string[m_capacity];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for (int i = 0; i &lt; m_size;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elements2[i] = m_elements[i];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elements2;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m_elements[m_size++] = 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453" name="Google Shape;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-33900" y="-105450"/>
            <a:ext cx="10227807" cy="7785100"/>
            <a:chOff x="0" y="0"/>
            <a:chExt cx="10227807" cy="7785100"/>
          </a:xfrm>
        </p:grpSpPr>
        <p:cxnSp>
          <p:nvCxnSpPr>
            <p:cNvPr id="460" name="Google Shape;460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1" name="Google Shape;461;p1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 Smells Make-over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void AddToList(string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(m_readOnly)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(ShouldGrow())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Grow();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StoreElement(element);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91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8"/>
                <a:buFont typeface="Arial"/>
                <a:buNone/>
              </a:pPr>
              <a:r>
                <a:t/>
              </a:r>
              <a:endParaRPr b="0" i="0" sz="2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rPr b="0" i="0" lang="en-US" sz="178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Grow()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m_capacity += INITIAL_CAPACITY;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string[] elements2 = new string[m_capacity];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m_size; i++)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elements2[i] = m_elements[i];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 = elements2;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StoreElement(string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m_elements[m_size++] = element;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70" name="Google Shape;470;p16"/>
          <p:cNvSpPr txBox="1"/>
          <p:nvPr/>
        </p:nvSpPr>
        <p:spPr>
          <a:xfrm>
            <a:off x="187066" y="5987713"/>
            <a:ext cx="58578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 ShouldGrow()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(m_size + 1) &gt; GetCapacity();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0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1"/>
              <a:buFont typeface="Arial"/>
              <a:buNone/>
            </a:pPr>
            <a:r>
              <a:rPr b="0" i="0" lang="en-US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78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umbnail_fdbd8478-4071-48f9-881e-7f6c58f17549.png" id="471" name="Google Shape;4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78" name="Google Shape;478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1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1" name="Google Shape;48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Rename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488" name="Google Shape;4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95" name="Google Shape;495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6" name="Google Shape;496;p1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19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06" name="Google Shape;50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3" name="Google Shape;513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4" name="Google Shape;514;p1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2579670" y="37592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PrintDetails(amount);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PrintDetails(double amount){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31" name="Google Shape;5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38" name="Google Shape;538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2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47" name="Google Shape;5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4" name="Google Shape;554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5" name="Google Shape;555;p2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146300" lvl="0" marL="0" marR="0" rtl="0" algn="l">
                <a:lnSpc>
                  <a:spcPct val="96685"/>
                </a:lnSpc>
                <a:spcBef>
                  <a:spcPts val="22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1" name="Google Shape;561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63" name="Google Shape;5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22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70" name="Google Shape;570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1" name="Google Shape;571;p2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3" name="Google Shape;57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1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Assert(_expenseLimit != NULL_EXPENSE || _primaryProject != null,  “Both Expense Limit and Primary Project must not be null”);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(_expenseLimit != NULL_EXPENSE) ? _expenseLimit 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9210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765300" lvl="0" marL="0" marR="0" rtl="0" algn="l">
                <a:lnSpc>
                  <a:spcPct val="96685"/>
                </a:lnSpc>
                <a:spcBef>
                  <a:spcPts val="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86" name="Google Shape;5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 txBox="1"/>
          <p:nvPr/>
        </p:nvSpPr>
        <p:spPr>
          <a:xfrm>
            <a:off x="574825" y="6789425"/>
            <a:ext cx="62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https://www.w3schools.com/python/ref_keyword_assert.asp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is long when it is too hard to quickly comprehend.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methods tend to hide behavior that ought to be shared, which leads to  duplicated code in other methods or classes.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Object Oriented code is easiest to understand and maintain with shorter methods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good names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891700" y="4226800"/>
            <a:ext cx="42459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Whole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Decompose Conditional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14" name="Google Shape;61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21" name="Google Shape;621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2" name="Google Shape;622;p2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29" name="Google Shape;6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4"/>
          <p:cNvSpPr txBox="1"/>
          <p:nvPr/>
        </p:nvSpPr>
        <p:spPr>
          <a:xfrm>
            <a:off x="4935984" y="3360936"/>
            <a:ext cx="41044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Html tag: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 Jannet Jhonson &lt;/name&gt;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6" name="Google Shape;636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37" name="Google Shape;637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p2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Makeover (Extract Method)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writeValueTo(StringBuffer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writeChildrenTo(StringBuffer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writeOpenTagTo(result);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writeValueTo(result);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writeChildrenTo(result);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writeEndTagTo(result);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writeOpenTagTo(StringBuffer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writeEndTagTo(StringBuffer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47" name="Google Shape;6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4" name="Google Shape;654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5" name="Google Shape;655;p2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64" name="Google Shape;6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if the basePrice calculation equation changes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-- We would need to change two lines in the code</a:t>
            </a:r>
            <a:endParaRPr b="1" i="1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392939" y="2068512"/>
            <a:ext cx="5144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27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Smell: 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if(getBasePrice()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getBasePrice() * 0.95;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* 0.98;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87" name="Google Shape;6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7"/>
          <p:cNvSpPr txBox="1"/>
          <p:nvPr/>
        </p:nvSpPr>
        <p:spPr>
          <a:xfrm>
            <a:off x="4579879" y="5652705"/>
            <a:ext cx="5313421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5" name="Google Shape;695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6" name="Google Shape;696;p2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8" name="Google Shape;69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07" name="Google Shape;7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+ 100;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17" name="Google Shape;717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2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26" name="Google Shape;7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MethodTooManyParameter (Date start, Date end, int value, string month, string yearStart, string yearEnd)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// method body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4" name="Google Shape;734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5" name="Google Shape;735;p3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37" name="Google Shape;73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3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44" name="Google Shape;7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0"/>
          <p:cNvSpPr txBox="1"/>
          <p:nvPr/>
        </p:nvSpPr>
        <p:spPr>
          <a:xfrm>
            <a:off x="5914978" y="5465767"/>
            <a:ext cx="42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DateRange{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start;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52" name="Google Shape;752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3" name="Google Shape;753;p3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61" name="Google Shape;7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daysTempRange(){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someObject;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69" name="Google Shape;769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0" name="Google Shape;770;p3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81" name="Google Shape;7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88" name="Google Shape;788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9" name="Google Shape;789;p3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1" name="Google Shape;79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cap="flat" cmpd="sng" w="38100">
              <a:solidFill>
                <a:srgbClr val="070B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5"/>
                <a:buFont typeface="Arial"/>
                <a:buNone/>
              </a:pPr>
              <a:r>
                <a:rPr b="0" i="0" lang="en-US" sz="49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Decompose Conditional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a complicated conditional (if-then-else) statement.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(date.before (SUMMER_START) || date.after(SUMMER_END))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quantity * _winterRate + _winterServiceCharge;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else charge = quantity * _summerRate;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if (notSummer(date))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winterCharge(quantity);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else charge = summerCharge 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00300" lvl="0" marL="0" marR="0" rtl="0" algn="l">
                <a:lnSpc>
                  <a:spcPct val="96685"/>
                </a:lnSpc>
                <a:spcBef>
                  <a:spcPts val="4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04" name="Google Shape;80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11" name="Google Shape;811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3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4" name="Google Shape;814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Conditional Complexity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20" name="Google Shape;82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6" name="Google Shape;826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35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9" name="Google Shape;8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Smell- Long Parameter List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that take too many parameters produce client code that is  awkward and difficult to work with.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Parameter with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Preserve Whole Object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843" name="Google Shape;84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9" name="Google Shape;849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50" name="Google Shape;850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1" name="Google Shape;851;p3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createUserInGroup()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GroupManager groupManager = new GroupManager();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 group = groupManager.create(TEST_GROUP, false, 					GroupProfile.UNLIMITED_LICENSES, "",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GroupProfile.ONE_YEAR, null);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user = userManager.create(USER_NAME, group, USER_NAME, "jack", 				USER_NAME, LANGUAGE, false, false, new Date(),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"blah", new Date());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13000" lvl="0" marL="0" marR="0" rtl="0" algn="l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58" name="Google Shape;85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5" name="Google Shape;865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3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79" name="Google Shape;8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86" name="Google Shape;886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7" name="Google Shape;887;p3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5405437" y="5478462"/>
              <a:ext cx="4191000" cy="496277"/>
            </a:xfrm>
            <a:custGeom>
              <a:rect b="b" l="l" r="r" t="t"/>
              <a:pathLst>
                <a:path extrusionOk="0" h="496276" w="419100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5" name="Google Shape;895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AmoutOverdueIn(DateRange range)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08" name="Google Shape;9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5" name="Google Shape;915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3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(discountLevel == 2)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24" name="Google Shape;9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31" name="Google Shape;931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2" name="Google Shape;932;p4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 = getDiscountLevel();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int getDiscountLevel()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return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(getDiscountLevel() == 2) 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40" name="Google Shape;94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46" name="Google Shape;946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7" name="Google Shape;947;p4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8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t/>
              </a:r>
              <a:endParaRPr b="0" i="0" sz="22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3" name="Google Shape;953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5" name="Google Shape;955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getPrice()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basePrice = _quantity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discountLevel = getDiscountLevel();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double finalPrice =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discountedPrice (basePrice);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finalPrice;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discountedPrice (int basePrice)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(getDiscountLevel()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2) return basePrice * 0.1;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return basePrice * 0.05;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956" name="Google Shape;9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63" name="Google Shape;963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4" name="Google Shape;964;p4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71" name="Google Shape;97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7" name="Google Shape;977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78" name="Google Shape;978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9" name="Google Shape;979;p4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89" name="Google Shape;98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6" name="Google Shape;996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4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Envy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that seems more interested in some other class than the one it is 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and behavior that acts on that data belong together.  When a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too many calls to other classes to obtain data or functionality, Feature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Envy is in the air.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Field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1013" name="Google Shape;101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9" name="Google Shape;1019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20" name="Google Shape;1020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1" name="Google Shape;1021;p4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class CapitalStrategy{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capital(Loan loan)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== NO_DATE &amp;&amp; loan.getMaturity() != NO_DATE)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 loan.getCommitmentAmount() * loan.duration() * loan.riskFactor();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!= NO_DATE &amp;&amp; loan.getMaturity() == NO_DATE)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(loan.getUnusedPercentage() != 1.0)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loan.getCommitmentAmount() * loan.getUnusedPercentage() * loan.duration() * loan.riskFactor();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else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(loan.outstandingRiskAmount() * loan.duration() * loan.riskFactor()) +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(loan.unusedRiskAmount() * loan.duration() * loan.unusedRiskFactor());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0.0;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t/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2463800" lvl="0" marL="0" marR="0" rtl="0" algn="l">
                <a:lnSpc>
                  <a:spcPct val="96685"/>
                </a:lnSpc>
                <a:spcBef>
                  <a:spcPts val="70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28" name="Google Shape;102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5" name="Google Shape;1035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6" name="Google Shape;1036;p4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8" name="Google Shape;1038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45" name="Google Shape;104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52" name="Google Shape;1052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3" name="Google Shape;1053;p4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5" name="Google Shape;105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62" name="Google Shape;106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48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1" name="Google Shape;107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Code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pervasive and pungent  smell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obvious or blatant duplication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copy and paste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subtle or non-obvious duplications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Up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Template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Algorithm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5" name="Google Shape;108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86" name="Google Shape;108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4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93" name="Google Shape;1093;p4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4" name="Google Shape;1094;p4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6" name="Google Shape;1096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4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9"/>
            <p:cNvSpPr txBox="1"/>
            <p:nvPr/>
          </p:nvSpPr>
          <p:spPr>
            <a:xfrm>
              <a:off x="2376902" y="838200"/>
              <a:ext cx="581571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Ctl+C Ctl+V Pattern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p4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02" name="Google Shape;110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8" name="Google Shape;1108;p50"/>
          <p:cNvGrpSpPr/>
          <p:nvPr/>
        </p:nvGrpSpPr>
        <p:grpSpPr>
          <a:xfrm>
            <a:off x="0" y="76200"/>
            <a:ext cx="10253202" cy="7708900"/>
            <a:chOff x="0" y="76200"/>
            <a:chExt cx="10253202" cy="7708900"/>
          </a:xfrm>
        </p:grpSpPr>
        <p:cxnSp>
          <p:nvCxnSpPr>
            <p:cNvPr id="1109" name="Google Shape;1109;p5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0" name="Google Shape;1110;p5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2" name="Google Shape;111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0"/>
            <p:cNvSpPr/>
            <p:nvPr/>
          </p:nvSpPr>
          <p:spPr>
            <a:xfrm>
              <a:off x="0" y="762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50"/>
            <p:cNvSpPr txBox="1"/>
            <p:nvPr/>
          </p:nvSpPr>
          <p:spPr>
            <a:xfrm>
              <a:off x="839167" y="838200"/>
              <a:ext cx="889114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Obvious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5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18" name="Google Shape;111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5" name="Google Shape;1125;p5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131" name="Google Shape;113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4725" y="276900"/>
            <a:ext cx="5555450" cy="74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32" name="Google Shape;113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39" name="Google Shape;1139;p5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80"/>
                <a:buFont typeface="Arial"/>
                <a:buNone/>
              </a:pPr>
              <a:r>
                <a:rPr b="0" i="0" lang="en-US" sz="69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Levels of Duplication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2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45" name="Google Shape;114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52" name="Google Shape;1152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3" name="Google Shape;1153;p5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for loop in 2 places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8" name="Google Shape;1158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60" name="Google Shape;116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6" name="Google Shape;1166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67" name="Google Shape;1167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5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Level</a:t>
              </a: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- For and For Each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Level</a:t>
              </a: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- Loop v/s Lines repeated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3" name="Google Shape;1173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82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v/s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8245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i="0" lang="en-US" sz="1200" u="none" cap="none" strike="noStrike">
                  <a:solidFill>
                    <a:srgbClr val="0000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 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asList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))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5" name="Google Shape;1175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77" name="Google Shape;117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4"/>
          <p:cNvSpPr txBox="1"/>
          <p:nvPr/>
        </p:nvSpPr>
        <p:spPr>
          <a:xfrm>
            <a:off x="6553037" y="1930400"/>
            <a:ext cx="2926557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2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425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i=0;i&lt;5;i++){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5" name="Google Shape;1185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6" name="Google Shape;1186;p5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5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28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constant declared in 2 classes (test and  production)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1" name="Google Shape;1191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93" name="Google Shape;11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9" name="Google Shape;1199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00" name="Google Shape;1200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5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5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Algorithm to Sort elements (Bubble sort and Quick sort)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6" name="Google Shape;1206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08" name="Google Shape;120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4" name="Google Shape;1214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5" name="Google Shape;1215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6" name="Google Shape;1216;p5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5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Logical Steps -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7"/>
            <p:cNvSpPr txBox="1"/>
            <p:nvPr/>
          </p:nvSpPr>
          <p:spPr>
            <a:xfrm>
              <a:off x="749300" y="3581400"/>
              <a:ext cx="8521800" cy="19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set of steps repeat in different scenarios.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28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Ex: Same set of validations in various points in your  applications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3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1" name="Google Shape;1221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23" name="Google Shape;12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9" name="Google Shape;1229;p58"/>
          <p:cNvGrpSpPr/>
          <p:nvPr/>
        </p:nvGrpSpPr>
        <p:grpSpPr>
          <a:xfrm>
            <a:off x="16900" y="88900"/>
            <a:ext cx="10189702" cy="7785100"/>
            <a:chOff x="63500" y="0"/>
            <a:chExt cx="10189702" cy="7785100"/>
          </a:xfrm>
        </p:grpSpPr>
        <p:cxnSp>
          <p:nvCxnSpPr>
            <p:cNvPr id="1230" name="Google Shape;1230;p5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1" name="Google Shape;1231;p5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5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33" name="Google Shape;1233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58"/>
            <p:cNvSpPr/>
            <p:nvPr/>
          </p:nvSpPr>
          <p:spPr>
            <a:xfrm>
              <a:off x="7620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58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8"/>
            <p:cNvSpPr txBox="1"/>
            <p:nvPr/>
          </p:nvSpPr>
          <p:spPr>
            <a:xfrm>
              <a:off x="3464432" y="889000"/>
              <a:ext cx="364070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Pull Up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5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40" name="Google Shape;124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6" name="Google Shape;1246;p5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47" name="Google Shape;1247;p5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8" name="Google Shape;1248;p5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5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50" name="Google Shape;125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5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59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9"/>
            <p:cNvSpPr txBox="1"/>
            <p:nvPr/>
          </p:nvSpPr>
          <p:spPr>
            <a:xfrm>
              <a:off x="2095525" y="889000"/>
              <a:ext cx="637870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Template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5" name="Google Shape;1255;p5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57" name="Google Shape;125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3" name="Google Shape;1263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4" name="Google Shape;1264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5" name="Google Shape;1265;p6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6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String foundPerson(String[] people){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"Kent";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877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return "";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667000" lvl="0" marL="0" marR="0" rtl="0" algn="l">
                <a:lnSpc>
                  <a:spcPct val="96685"/>
                </a:lnSpc>
                <a:spcBef>
                  <a:spcPts val="8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74" name="Google Shape;127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81" name="Google Shape;1281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2" name="Google Shape;1282;p6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"Kent";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"";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List candidates = Arrays.asList(new String[]  {"Don", "John", "Kent"});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(String person : people)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(candidates.contains(person))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person;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  return "";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93" name="Google Shape;129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9" name="Google Shape;1299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00" name="Google Shape;1300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6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6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3" name="Google Shape;1303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2"/>
            <p:cNvSpPr txBox="1"/>
            <p:nvPr/>
          </p:nvSpPr>
          <p:spPr>
            <a:xfrm>
              <a:off x="723900" y="2679700"/>
              <a:ext cx="8688900" cy="11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4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This rather potent odor results when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subclasses inherit code that they don’t  want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In some cases, a subclass may “refuse the bequest” by providing a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do-nothing implementation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an inherited method.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Remedies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Field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Method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3" name="Google Shape;1313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116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15" name="Google Shape;131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1" name="Google Shape;1321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22" name="Google Shape;1322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3" name="Google Shape;1323;p6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 of Refused Bequest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0202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Salesman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1" name="Google Shape;1331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33" name="Google Shape;133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34" name="Google Shape;133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41" name="Google Shape;1341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2" name="Google Shape;1342;p6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7" name="Google Shape;1347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Make Over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8" name="Google Shape;1348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51" name="Google Shape;135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52" name="Google Shape;135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59" name="Google Shape;1359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0" name="Google Shape;1360;p6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[F] Fowler, Martin.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Refactoring: Improving the Design of Existing Code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Boston, MA: Addison-Wesley, 2000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[K] Kerievsky, Joshua.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 to Patterns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Boston, MA: Addison-Wesley,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362200" lvl="0" marL="0" marR="0" rtl="0" algn="l">
                <a:lnSpc>
                  <a:spcPct val="96685"/>
                </a:lnSpc>
                <a:spcBef>
                  <a:spcPts val="13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5" name="Google Shape;1365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67" name="Google Shape;136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Jain</dc:creator>
</cp:coreProperties>
</file>