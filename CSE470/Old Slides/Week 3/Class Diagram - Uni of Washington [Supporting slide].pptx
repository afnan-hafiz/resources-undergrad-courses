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6858000" cy="9144000"/>
  <p:embeddedFontLs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gO5Y3CI7tYvkTO+0B5s8m5dDh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ctrTitle"/>
          </p:nvPr>
        </p:nvSpPr>
        <p:spPr>
          <a:xfrm>
            <a:off x="990600" y="990600"/>
            <a:ext cx="8153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subTitle"/>
          </p:nvPr>
        </p:nvSpPr>
        <p:spPr>
          <a:xfrm>
            <a:off x="0" y="3505200"/>
            <a:ext cx="9144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0" y="1295400"/>
            <a:ext cx="9144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0" y="4152900"/>
            <a:ext cx="9144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0"/>
          <p:cNvSpPr txBox="1"/>
          <p:nvPr/>
        </p:nvSpPr>
        <p:spPr>
          <a:xfrm>
            <a:off x="290512" y="254635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20"/>
          <p:cNvSpPr txBox="1"/>
          <p:nvPr/>
        </p:nvSpPr>
        <p:spPr>
          <a:xfrm>
            <a:off x="673100" y="254635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" name="Google Shape;13;p20"/>
          <p:cNvGrpSpPr/>
          <p:nvPr/>
        </p:nvGrpSpPr>
        <p:grpSpPr>
          <a:xfrm>
            <a:off x="414337" y="2968625"/>
            <a:ext cx="738187" cy="474662"/>
            <a:chOff x="912" y="2640"/>
            <a:chExt cx="672" cy="432"/>
          </a:xfrm>
        </p:grpSpPr>
        <p:sp>
          <p:nvSpPr>
            <p:cNvPr id="14" name="Google Shape;14;p20"/>
            <p:cNvSpPr txBox="1"/>
            <p:nvPr/>
          </p:nvSpPr>
          <p:spPr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20"/>
            <p:cNvSpPr txBox="1"/>
            <p:nvPr/>
          </p:nvSpPr>
          <p:spPr>
            <a:xfrm>
              <a:off x="1248" y="2640"/>
              <a:ext cx="336" cy="43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6" name="Google Shape;16;p20"/>
          <p:cNvSpPr txBox="1"/>
          <p:nvPr/>
        </p:nvSpPr>
        <p:spPr>
          <a:xfrm>
            <a:off x="0" y="28956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20"/>
          <p:cNvSpPr txBox="1"/>
          <p:nvPr/>
        </p:nvSpPr>
        <p:spPr>
          <a:xfrm>
            <a:off x="635000" y="24384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20"/>
          <p:cNvSpPr txBox="1"/>
          <p:nvPr/>
        </p:nvSpPr>
        <p:spPr>
          <a:xfrm flipH="1" rot="10800000">
            <a:off x="315912" y="3260725"/>
            <a:ext cx="8693150" cy="55562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" name="Google Shape;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743200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0"/>
          <p:cNvSpPr txBox="1"/>
          <p:nvPr/>
        </p:nvSpPr>
        <p:spPr>
          <a:xfrm>
            <a:off x="2743200" y="0"/>
            <a:ext cx="6400800" cy="50323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" name="Google Shape;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4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/>
          <p:nvPr/>
        </p:nvSpPr>
        <p:spPr>
          <a:xfrm>
            <a:off x="457200" y="38100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" name="Google Shape;32;p22"/>
          <p:cNvSpPr txBox="1"/>
          <p:nvPr/>
        </p:nvSpPr>
        <p:spPr>
          <a:xfrm>
            <a:off x="839787" y="38100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22"/>
          <p:cNvSpPr txBox="1"/>
          <p:nvPr/>
        </p:nvSpPr>
        <p:spPr>
          <a:xfrm>
            <a:off x="581025" y="803275"/>
            <a:ext cx="422275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22"/>
          <p:cNvSpPr txBox="1"/>
          <p:nvPr/>
        </p:nvSpPr>
        <p:spPr>
          <a:xfrm>
            <a:off x="950912" y="803275"/>
            <a:ext cx="368300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2"/>
          <p:cNvSpPr txBox="1"/>
          <p:nvPr/>
        </p:nvSpPr>
        <p:spPr>
          <a:xfrm>
            <a:off x="166687" y="7302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22"/>
          <p:cNvSpPr txBox="1"/>
          <p:nvPr/>
        </p:nvSpPr>
        <p:spPr>
          <a:xfrm>
            <a:off x="801687" y="2730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22"/>
          <p:cNvSpPr txBox="1"/>
          <p:nvPr/>
        </p:nvSpPr>
        <p:spPr>
          <a:xfrm>
            <a:off x="482600" y="10636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" name="Google Shape;3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4"/>
          <p:cNvSpPr txBox="1"/>
          <p:nvPr/>
        </p:nvSpPr>
        <p:spPr>
          <a:xfrm>
            <a:off x="457200" y="38100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" name="Google Shape;49;p24"/>
          <p:cNvSpPr txBox="1"/>
          <p:nvPr/>
        </p:nvSpPr>
        <p:spPr>
          <a:xfrm>
            <a:off x="839787" y="38100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p24"/>
          <p:cNvSpPr txBox="1"/>
          <p:nvPr/>
        </p:nvSpPr>
        <p:spPr>
          <a:xfrm>
            <a:off x="581025" y="803275"/>
            <a:ext cx="422275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" name="Google Shape;51;p24"/>
          <p:cNvSpPr txBox="1"/>
          <p:nvPr/>
        </p:nvSpPr>
        <p:spPr>
          <a:xfrm>
            <a:off x="950912" y="803275"/>
            <a:ext cx="368300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24"/>
          <p:cNvSpPr txBox="1"/>
          <p:nvPr/>
        </p:nvSpPr>
        <p:spPr>
          <a:xfrm>
            <a:off x="166687" y="7302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24"/>
          <p:cNvSpPr txBox="1"/>
          <p:nvPr/>
        </p:nvSpPr>
        <p:spPr>
          <a:xfrm>
            <a:off x="801687" y="2730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p24"/>
          <p:cNvSpPr txBox="1"/>
          <p:nvPr/>
        </p:nvSpPr>
        <p:spPr>
          <a:xfrm>
            <a:off x="482600" y="10636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" name="Google Shape;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0" name="Google Shape;70;p1"/>
          <p:cNvSpPr txBox="1"/>
          <p:nvPr>
            <p:ph idx="4294967295" type="title"/>
          </p:nvPr>
        </p:nvSpPr>
        <p:spPr>
          <a:xfrm>
            <a:off x="990600" y="23622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Verdana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CSE 403</a:t>
            </a:r>
            <a:endParaRPr/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0" y="3505200"/>
            <a:ext cx="9144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and UML Class Diagrams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Reading: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Distilled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Ch. 3, by M. Fowler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0" y="6019800"/>
            <a:ext cx="9144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These lecture slides are copyright (C) Marty Stepp, 2007.  They may not be rehosted, sold, or modified without expressed permission from the author.  All rights reserved.</a:t>
            </a:r>
            <a:endParaRPr/>
          </a:p>
        </p:txBody>
      </p:sp>
      <p:pic>
        <p:nvPicPr>
          <p:cNvPr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525" y="609600"/>
            <a:ext cx="225107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9" name="Google Shape;79;p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Big questions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UML?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should I bother?  Do people really use UML?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 UML class diagram?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kind of information goes into 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I create 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should I create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phase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specifying the structure of how a software system will be written and function, without actually writing the complete implementation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transition from "what" the system must do, to "how" the system will do 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classes will we need to implement a system that meets our requirements?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fields and methods will each class have?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will the classes interact with each other?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we design classes?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identification from project spec / requirements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nouns are potential classes, objects, fields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verbs are potential methods or responsibilities of a class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808080"/>
              </a:buClr>
              <a:buSzPts val="72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CRC card exercises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down classes' names on index cards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next to each class, list the following: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responsibilities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problems to be solved; short verb phrases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collaborators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other classes that are sent messages by this class (asymmetric)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808080"/>
              </a:buClr>
              <a:buSzPts val="72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diagrams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diagrams (today)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sequence diagrams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4275137"/>
            <a:ext cx="4179887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to UML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UML: pictures of an OO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programming languages are not abstract enough for Object Oriented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is an open standard; lots of companies use it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legal UML?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prescriptive 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language: rigid formal syntax (like programming)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descriptive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language: shaped by usage and convention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it's okay to omit things from UML diagrams if they aren't needed by team/supervisor/instructor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8" name="Google Shape;108;p6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Uses for UML</a:t>
            </a:r>
            <a:endParaRPr/>
          </a:p>
        </p:txBody>
      </p:sp>
      <p:sp>
        <p:nvSpPr>
          <p:cNvPr id="109" name="Google Shape;109;p6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sketch: to communicate aspects of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forward design: doing UML before 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backward design: doing UML after coding as documentation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often done on whiteboard or paper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used to get rough selective ideas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blueprint: a complete design to be implemented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sometimes done with CASE (Computer-Aided Software Engineering) tools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programming language: with the right tools, code can be auto-generated and executed from UML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only good if this is faster than coding in a "real" language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5" name="Google Shape;115;p7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class diagrams</a:t>
            </a:r>
            <a:endParaRPr/>
          </a:p>
        </p:txBody>
      </p: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 UML class diagram?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are some things that are </a:t>
            </a:r>
            <a:r>
              <a:rPr b="0" i="0" lang="en-US" sz="24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represented in a UML class diagram?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0" y="4902200"/>
            <a:ext cx="9144000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8032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details of how the classes interact with each other</a:t>
            </a:r>
            <a:endParaRPr/>
          </a:p>
          <a:p>
            <a:pPr indent="-346075" lvl="1" marL="803275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algorithmic details; how a particular behavior is implemented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0" y="1905000"/>
            <a:ext cx="91440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8032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class diagram</a:t>
            </a: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 picture of the classes in an OO system, their fields and methods, and connections between the classes that interact or inherit from each other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4" name="Google Shape;124;p8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Diagram of one class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name in top of box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&lt;&lt;interface&gt;&gt; on top of interfaces'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italics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for an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name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attributes (optional)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 include all fields of the object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operations / methods (optional)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may omit trivial (get/set) methods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but don't omit any methods from an interface!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 not include inherited methods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16279" l="1645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3" name="Google Shape;133;p9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attributes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attributes (fields, instance variables)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visibility:	+	public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#	protected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	private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~	package (default)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/	derived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underline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 attributes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derived attribute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not stored, but can 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 computed from other attribute values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 example: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balance : double = 0.00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16279" l="1645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2" name="Google Shape;142;p10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operations / methods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operations / methods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 name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parameters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: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return_type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visibility:	+public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#	protected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	private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~	package (default)</a:t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underline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 methods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parameter types listed as (name: type)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omit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return_type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on constructors and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return type is void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 example: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distance(p1: Point, p2: Point): double </a:t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16279" l="1645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1" name="Google Shape;151;p11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Comments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represented as a folded note, attached to the appropriate class/method/etc by a dashed line</a:t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19400"/>
            <a:ext cx="8305800" cy="27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9" name="Google Shape;159;p1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Relationships btwn. classes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an inheritance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inheritance between 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interface implementation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 usage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aggregation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composition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6" name="Google Shape;166;p1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 relationships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0" y="1295400"/>
            <a:ext cx="6019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 (inheritance)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hierarchies drawn top-down with arrows pointing upward to parent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line/arrow styles differ, based on whether parent is a(n):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solid line, black arrow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solid line, white arrow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interface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dashed line, white arrow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often don't draw trivial (less important class) / obvious generalization relationships, such as drawing the Object class as a parent</a:t>
            </a:r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219200"/>
            <a:ext cx="3276600" cy="5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4" name="Google Shape;174;p1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Associational relationships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associational (usage)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multiplicity 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(how many are used)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	⇒ 0, 1, or more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	⇒ 1 exactly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2..4	⇒ between 2 and 4, inclusive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3..*	⇒ 3 or more</a:t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name 	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(what relationship the objects have)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navigability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(direction)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881437"/>
            <a:ext cx="5943600" cy="316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one-to-one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student must carry exactly one ID card</a:t>
            </a:r>
            <a:endParaRPr/>
          </a:p>
          <a:p>
            <a:pPr indent="-194309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one-to-many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 rectangle list can contain many rectangles</a:t>
            </a:r>
            <a:endParaRPr/>
          </a:p>
        </p:txBody>
      </p:sp>
      <p:sp>
        <p:nvSpPr>
          <p:cNvPr id="183" name="Google Shape;183;p1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Multiplicity of associations</a:t>
            </a:r>
            <a:endParaRPr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4572000"/>
            <a:ext cx="8701087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2133600"/>
            <a:ext cx="4448175" cy="132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1" name="Google Shape;191;p16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 types</a:t>
            </a:r>
            <a:endParaRPr/>
          </a:p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0" y="1295400"/>
            <a:ext cx="6400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aggregation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"is part of"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a clear white diamond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composition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"is entirely made of"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stronger version of aggregation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parts live and die with the whole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a black diamond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dependency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"uses temporarily"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dotted line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often is an implementation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detail, not an intrinsic part of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that object's state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324600" y="1219200"/>
            <a:ext cx="817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6324600" y="838200"/>
            <a:ext cx="817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</a:t>
            </a:r>
            <a:endParaRPr/>
          </a:p>
        </p:txBody>
      </p:sp>
      <p:grpSp>
        <p:nvGrpSpPr>
          <p:cNvPr id="195" name="Google Shape;195;p16"/>
          <p:cNvGrpSpPr/>
          <p:nvPr/>
        </p:nvGrpSpPr>
        <p:grpSpPr>
          <a:xfrm>
            <a:off x="6751637" y="152400"/>
            <a:ext cx="1006475" cy="665162"/>
            <a:chOff x="4253" y="96"/>
            <a:chExt cx="634" cy="419"/>
          </a:xfrm>
        </p:grpSpPr>
        <p:sp>
          <p:nvSpPr>
            <p:cNvPr id="196" name="Google Shape;196;p16"/>
            <p:cNvSpPr txBox="1"/>
            <p:nvPr/>
          </p:nvSpPr>
          <p:spPr>
            <a:xfrm>
              <a:off x="4253" y="96"/>
              <a:ext cx="634" cy="41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Car</a:t>
              </a:r>
              <a:endParaRPr/>
            </a:p>
          </p:txBody>
        </p:sp>
        <p:cxnSp>
          <p:nvCxnSpPr>
            <p:cNvPr id="197" name="Google Shape;197;p16"/>
            <p:cNvCxnSpPr/>
            <p:nvPr/>
          </p:nvCxnSpPr>
          <p:spPr>
            <a:xfrm>
              <a:off x="4253" y="393"/>
              <a:ext cx="6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98" name="Google Shape;198;p16"/>
          <p:cNvGrpSpPr/>
          <p:nvPr/>
        </p:nvGrpSpPr>
        <p:grpSpPr>
          <a:xfrm>
            <a:off x="7129462" y="839787"/>
            <a:ext cx="250825" cy="728662"/>
            <a:chOff x="3840" y="1824"/>
            <a:chExt cx="192" cy="816"/>
          </a:xfrm>
        </p:grpSpPr>
        <p:cxnSp>
          <p:nvCxnSpPr>
            <p:cNvPr id="199" name="Google Shape;199;p16"/>
            <p:cNvCxnSpPr/>
            <p:nvPr/>
          </p:nvCxnSpPr>
          <p:spPr>
            <a:xfrm>
              <a:off x="3936" y="2016"/>
              <a:ext cx="0" cy="6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00" name="Google Shape;200;p16"/>
            <p:cNvSpPr/>
            <p:nvPr/>
          </p:nvSpPr>
          <p:spPr>
            <a:xfrm>
              <a:off x="3840" y="1824"/>
              <a:ext cx="192" cy="192"/>
            </a:xfrm>
            <a:prstGeom prst="diamond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7443787" y="968375"/>
            <a:ext cx="1700212" cy="465137"/>
            <a:chOff x="4080" y="1968"/>
            <a:chExt cx="1296" cy="520"/>
          </a:xfrm>
        </p:grpSpPr>
        <p:sp>
          <p:nvSpPr>
            <p:cNvPr id="202" name="Google Shape;202;p16"/>
            <p:cNvSpPr txBox="1"/>
            <p:nvPr/>
          </p:nvSpPr>
          <p:spPr>
            <a:xfrm>
              <a:off x="4319" y="2112"/>
              <a:ext cx="1057" cy="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aggregation</a:t>
              </a:r>
              <a:endParaRPr/>
            </a:p>
          </p:txBody>
        </p:sp>
        <p:cxnSp>
          <p:nvCxnSpPr>
            <p:cNvPr id="203" name="Google Shape;203;p16"/>
            <p:cNvCxnSpPr/>
            <p:nvPr/>
          </p:nvCxnSpPr>
          <p:spPr>
            <a:xfrm rot="10800000">
              <a:off x="4080" y="1968"/>
              <a:ext cx="432" cy="14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204" name="Google Shape;204;p16"/>
          <p:cNvGrpSpPr/>
          <p:nvPr/>
        </p:nvGrpSpPr>
        <p:grpSpPr>
          <a:xfrm>
            <a:off x="6781800" y="1600200"/>
            <a:ext cx="1006475" cy="665162"/>
            <a:chOff x="4253" y="96"/>
            <a:chExt cx="634" cy="419"/>
          </a:xfrm>
        </p:grpSpPr>
        <p:sp>
          <p:nvSpPr>
            <p:cNvPr id="205" name="Google Shape;205;p16"/>
            <p:cNvSpPr txBox="1"/>
            <p:nvPr/>
          </p:nvSpPr>
          <p:spPr>
            <a:xfrm>
              <a:off x="4253" y="96"/>
              <a:ext cx="634" cy="41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Engine</a:t>
              </a:r>
              <a:endParaRPr/>
            </a:p>
          </p:txBody>
        </p:sp>
        <p:cxnSp>
          <p:nvCxnSpPr>
            <p:cNvPr id="206" name="Google Shape;206;p16"/>
            <p:cNvCxnSpPr/>
            <p:nvPr/>
          </p:nvCxnSpPr>
          <p:spPr>
            <a:xfrm>
              <a:off x="4253" y="393"/>
              <a:ext cx="6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207" name="Google Shape;207;p16"/>
          <p:cNvGrpSpPr/>
          <p:nvPr/>
        </p:nvGrpSpPr>
        <p:grpSpPr>
          <a:xfrm>
            <a:off x="4953000" y="5257800"/>
            <a:ext cx="4038600" cy="1447800"/>
            <a:chOff x="2592" y="3312"/>
            <a:chExt cx="2544" cy="912"/>
          </a:xfrm>
        </p:grpSpPr>
        <p:sp>
          <p:nvSpPr>
            <p:cNvPr id="208" name="Google Shape;208;p16"/>
            <p:cNvSpPr txBox="1"/>
            <p:nvPr/>
          </p:nvSpPr>
          <p:spPr>
            <a:xfrm>
              <a:off x="2592" y="3600"/>
              <a:ext cx="705" cy="624"/>
            </a:xfrm>
            <a:prstGeom prst="rect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4335" y="3600"/>
              <a:ext cx="705" cy="624"/>
            </a:xfrm>
            <a:prstGeom prst="rect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10" name="Google Shape;210;p16"/>
            <p:cNvCxnSpPr/>
            <p:nvPr/>
          </p:nvCxnSpPr>
          <p:spPr>
            <a:xfrm>
              <a:off x="3297" y="3894"/>
              <a:ext cx="1038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dash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11" name="Google Shape;211;p16"/>
            <p:cNvSpPr txBox="1"/>
            <p:nvPr/>
          </p:nvSpPr>
          <p:spPr>
            <a:xfrm>
              <a:off x="2640" y="3696"/>
              <a:ext cx="725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Lottery</a:t>
              </a:r>
              <a:b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Ticket</a:t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4320" y="3744"/>
              <a:ext cx="8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Random</a:t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3456" y="3312"/>
              <a:ext cx="100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dependency</a:t>
              </a:r>
              <a:endParaRPr/>
            </a:p>
          </p:txBody>
        </p:sp>
        <p:cxnSp>
          <p:nvCxnSpPr>
            <p:cNvPr id="214" name="Google Shape;214;p16"/>
            <p:cNvCxnSpPr/>
            <p:nvPr/>
          </p:nvCxnSpPr>
          <p:spPr>
            <a:xfrm>
              <a:off x="3888" y="3504"/>
              <a:ext cx="48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215" name="Google Shape;215;p16"/>
          <p:cNvGrpSpPr/>
          <p:nvPr/>
        </p:nvGrpSpPr>
        <p:grpSpPr>
          <a:xfrm>
            <a:off x="6289675" y="2590800"/>
            <a:ext cx="2701925" cy="2300287"/>
            <a:chOff x="3962" y="1632"/>
            <a:chExt cx="1702" cy="1449"/>
          </a:xfrm>
        </p:grpSpPr>
        <p:grpSp>
          <p:nvGrpSpPr>
            <p:cNvPr id="216" name="Google Shape;216;p16"/>
            <p:cNvGrpSpPr/>
            <p:nvPr/>
          </p:nvGrpSpPr>
          <p:grpSpPr>
            <a:xfrm>
              <a:off x="4975" y="1632"/>
              <a:ext cx="689" cy="1449"/>
              <a:chOff x="1680" y="2208"/>
              <a:chExt cx="816" cy="1692"/>
            </a:xfrm>
          </p:grpSpPr>
          <p:grpSp>
            <p:nvGrpSpPr>
              <p:cNvPr id="217" name="Google Shape;217;p16"/>
              <p:cNvGrpSpPr/>
              <p:nvPr/>
            </p:nvGrpSpPr>
            <p:grpSpPr>
              <a:xfrm>
                <a:off x="1680" y="3313"/>
                <a:ext cx="816" cy="587"/>
                <a:chOff x="1680" y="3313"/>
                <a:chExt cx="816" cy="587"/>
              </a:xfrm>
            </p:grpSpPr>
            <p:sp>
              <p:nvSpPr>
                <p:cNvPr id="218" name="Google Shape;218;p16"/>
                <p:cNvSpPr txBox="1"/>
                <p:nvPr/>
              </p:nvSpPr>
              <p:spPr>
                <a:xfrm>
                  <a:off x="1680" y="3313"/>
                  <a:ext cx="816" cy="587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Page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9" name="Google Shape;219;p16"/>
                <p:cNvCxnSpPr/>
                <p:nvPr/>
              </p:nvCxnSpPr>
              <p:spPr>
                <a:xfrm>
                  <a:off x="1680" y="3552"/>
                  <a:ext cx="816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20" name="Google Shape;220;p16"/>
                <p:cNvCxnSpPr/>
                <p:nvPr/>
              </p:nvCxnSpPr>
              <p:spPr>
                <a:xfrm>
                  <a:off x="1680" y="3716"/>
                  <a:ext cx="816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21" name="Google Shape;221;p16"/>
              <p:cNvGrpSpPr/>
              <p:nvPr/>
            </p:nvGrpSpPr>
            <p:grpSpPr>
              <a:xfrm>
                <a:off x="1680" y="2208"/>
                <a:ext cx="768" cy="508"/>
                <a:chOff x="1680" y="2208"/>
                <a:chExt cx="768" cy="508"/>
              </a:xfrm>
            </p:grpSpPr>
            <p:sp>
              <p:nvSpPr>
                <p:cNvPr id="222" name="Google Shape;222;p16"/>
                <p:cNvSpPr txBox="1"/>
                <p:nvPr/>
              </p:nvSpPr>
              <p:spPr>
                <a:xfrm>
                  <a:off x="1680" y="2208"/>
                  <a:ext cx="768" cy="508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4450" lIns="90475" spcFirstLastPara="1" rIns="90475" wrap="square" tIns="444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Verdana"/>
                    <a:buNone/>
                  </a:pPr>
                  <a:r>
                    <a:rPr b="0" i="0" lang="en-US" sz="1400" u="non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Book</a:t>
                  </a:r>
                  <a:endParaRPr/>
                </a:p>
              </p:txBody>
            </p:sp>
            <p:cxnSp>
              <p:nvCxnSpPr>
                <p:cNvPr id="223" name="Google Shape;223;p16"/>
                <p:cNvCxnSpPr/>
                <p:nvPr/>
              </p:nvCxnSpPr>
              <p:spPr>
                <a:xfrm>
                  <a:off x="1680" y="2448"/>
                  <a:ext cx="768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24" name="Google Shape;224;p16"/>
                <p:cNvCxnSpPr/>
                <p:nvPr/>
              </p:nvCxnSpPr>
              <p:spPr>
                <a:xfrm>
                  <a:off x="1680" y="2592"/>
                  <a:ext cx="768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25" name="Google Shape;225;p16"/>
              <p:cNvGrpSpPr/>
              <p:nvPr/>
            </p:nvGrpSpPr>
            <p:grpSpPr>
              <a:xfrm>
                <a:off x="1968" y="2736"/>
                <a:ext cx="192" cy="558"/>
                <a:chOff x="1968" y="2732"/>
                <a:chExt cx="192" cy="558"/>
              </a:xfrm>
            </p:grpSpPr>
            <p:cxnSp>
              <p:nvCxnSpPr>
                <p:cNvPr id="226" name="Google Shape;226;p16"/>
                <p:cNvCxnSpPr/>
                <p:nvPr/>
              </p:nvCxnSpPr>
              <p:spPr>
                <a:xfrm>
                  <a:off x="2064" y="2928"/>
                  <a:ext cx="1" cy="36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227" name="Google Shape;227;p16"/>
                <p:cNvSpPr/>
                <p:nvPr/>
              </p:nvSpPr>
              <p:spPr>
                <a:xfrm>
                  <a:off x="1968" y="2732"/>
                  <a:ext cx="192" cy="196"/>
                </a:xfrm>
                <a:prstGeom prst="diamond">
                  <a:avLst/>
                </a:prstGeom>
                <a:solidFill>
                  <a:schemeClr val="dk1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</p:grpSp>
        <p:sp>
          <p:nvSpPr>
            <p:cNvPr id="228" name="Google Shape;228;p16"/>
            <p:cNvSpPr txBox="1"/>
            <p:nvPr/>
          </p:nvSpPr>
          <p:spPr>
            <a:xfrm>
              <a:off x="3962" y="1838"/>
              <a:ext cx="891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composition</a:t>
              </a:r>
              <a:endParaRPr/>
            </a:p>
          </p:txBody>
        </p:sp>
        <p:cxnSp>
          <p:nvCxnSpPr>
            <p:cNvPr id="229" name="Google Shape;229;p16"/>
            <p:cNvCxnSpPr/>
            <p:nvPr/>
          </p:nvCxnSpPr>
          <p:spPr>
            <a:xfrm>
              <a:off x="4367" y="2043"/>
              <a:ext cx="625" cy="1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30" name="Google Shape;230;p16"/>
            <p:cNvSpPr txBox="1"/>
            <p:nvPr/>
          </p:nvSpPr>
          <p:spPr>
            <a:xfrm>
              <a:off x="4752" y="2304"/>
              <a:ext cx="5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*</a:t>
              </a:r>
              <a:endParaRPr/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4752" y="2064"/>
              <a:ext cx="5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1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7" name="Google Shape;237;p17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diagram example 2</a:t>
            </a:r>
            <a:endParaRPr/>
          </a:p>
        </p:txBody>
      </p:sp>
      <p:grpSp>
        <p:nvGrpSpPr>
          <p:cNvPr id="238" name="Google Shape;238;p17"/>
          <p:cNvGrpSpPr/>
          <p:nvPr/>
        </p:nvGrpSpPr>
        <p:grpSpPr>
          <a:xfrm>
            <a:off x="838200" y="1447800"/>
            <a:ext cx="7620000" cy="4724400"/>
            <a:chOff x="528" y="912"/>
            <a:chExt cx="4800" cy="2976"/>
          </a:xfrm>
        </p:grpSpPr>
        <p:sp>
          <p:nvSpPr>
            <p:cNvPr id="239" name="Google Shape;239;p17"/>
            <p:cNvSpPr txBox="1"/>
            <p:nvPr/>
          </p:nvSpPr>
          <p:spPr>
            <a:xfrm>
              <a:off x="794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794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872" y="3482"/>
              <a:ext cx="48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DVD Movie</a:t>
              </a:r>
              <a:endParaRPr/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1634" y="3467"/>
              <a:ext cx="629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1634" y="3467"/>
              <a:ext cx="629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1715" y="3482"/>
              <a:ext cx="47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VHS Movie</a:t>
              </a:r>
              <a:endParaRPr/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2473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2473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2522" y="3482"/>
              <a:ext cx="532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Video Game</a:t>
              </a:r>
              <a:endParaRPr/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1529" y="2504"/>
              <a:ext cx="839" cy="288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1529" y="2347"/>
              <a:ext cx="839" cy="24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1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Rental Item</a:t>
              </a:r>
              <a:endParaRPr/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3733" y="1868"/>
              <a:ext cx="840" cy="6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3733" y="186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3827" y="1917"/>
              <a:ext cx="60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Rental Invoice</a:t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3523" y="234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2448" y="2323"/>
              <a:ext cx="21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1..*</a:t>
              </a:r>
              <a:endParaRPr/>
            </a:p>
          </p:txBody>
        </p:sp>
        <p:sp>
          <p:nvSpPr>
            <p:cNvPr id="255" name="Google Shape;255;p17"/>
            <p:cNvSpPr txBox="1"/>
            <p:nvPr/>
          </p:nvSpPr>
          <p:spPr>
            <a:xfrm>
              <a:off x="3608" y="246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1529" y="1248"/>
              <a:ext cx="839" cy="52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1529" y="1248"/>
              <a:ext cx="839" cy="17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1741" y="1280"/>
              <a:ext cx="415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Customer</a:t>
              </a:r>
              <a:endParaRPr/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3523" y="213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3733" y="3338"/>
              <a:ext cx="840" cy="454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1" name="Google Shape;261;p17"/>
            <p:cNvSpPr txBox="1"/>
            <p:nvPr/>
          </p:nvSpPr>
          <p:spPr>
            <a:xfrm>
              <a:off x="3733" y="333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3793" y="3387"/>
              <a:ext cx="73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Checkout Screen</a:t>
              </a:r>
              <a:endParaRPr/>
            </a:p>
          </p:txBody>
        </p:sp>
        <p:cxnSp>
          <p:nvCxnSpPr>
            <p:cNvPr id="263" name="Google Shape;263;p17"/>
            <p:cNvCxnSpPr/>
            <p:nvPr/>
          </p:nvCxnSpPr>
          <p:spPr>
            <a:xfrm flipH="1" rot="10800000">
              <a:off x="4153" y="2498"/>
              <a:ext cx="1" cy="84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64" name="Google Shape;264;p17"/>
            <p:cNvSpPr txBox="1"/>
            <p:nvPr/>
          </p:nvSpPr>
          <p:spPr>
            <a:xfrm>
              <a:off x="4199" y="2520"/>
              <a:ext cx="24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0..1</a:t>
              </a:r>
              <a:endParaRPr/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2415" y="131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4512" y="2832"/>
              <a:ext cx="816" cy="384"/>
            </a:xfrm>
            <a:prstGeom prst="wedgeRoundRectCallout">
              <a:avLst>
                <a:gd fmla="val -9079" name="adj1"/>
                <a:gd fmla="val -6694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</a:t>
              </a:r>
              <a:endParaRPr/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 Association</a:t>
              </a:r>
              <a:endParaRPr/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720" y="1392"/>
              <a:ext cx="480" cy="288"/>
            </a:xfrm>
            <a:prstGeom prst="wedgeRoundRectCallout">
              <a:avLst>
                <a:gd fmla="val 36225" name="adj1"/>
                <a:gd fmla="val -4425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624" y="1872"/>
              <a:ext cx="624" cy="432"/>
            </a:xfrm>
            <a:prstGeom prst="wedgeRoundRectCallout">
              <a:avLst>
                <a:gd fmla="val 30912" name="adj1"/>
                <a:gd fmla="val 2530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Abstract</a:t>
              </a:r>
              <a:endParaRPr/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3168" y="1296"/>
              <a:ext cx="864" cy="336"/>
            </a:xfrm>
            <a:prstGeom prst="wedgeRoundRectCallout">
              <a:avLst>
                <a:gd fmla="val 10550" name="adj1"/>
                <a:gd fmla="val 4950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 </a:t>
              </a:r>
              <a:endParaRPr/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Aggregation</a:t>
              </a:r>
              <a:endParaRPr/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528" y="2928"/>
              <a:ext cx="912" cy="240"/>
            </a:xfrm>
            <a:prstGeom prst="wedgeRoundRectCallout">
              <a:avLst>
                <a:gd fmla="val 31855" name="adj1"/>
                <a:gd fmla="val 18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Generalization</a:t>
              </a:r>
              <a:endParaRPr/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2640" y="2736"/>
              <a:ext cx="768" cy="384"/>
            </a:xfrm>
            <a:prstGeom prst="wedgeRoundRectCallout">
              <a:avLst>
                <a:gd fmla="val 25988" name="adj1"/>
                <a:gd fmla="val -14681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Composition</a:t>
              </a:r>
              <a:endParaRPr/>
            </a:p>
          </p:txBody>
        </p:sp>
        <p:cxnSp>
          <p:nvCxnSpPr>
            <p:cNvPr id="272" name="Google Shape;272;p17"/>
            <p:cNvCxnSpPr/>
            <p:nvPr/>
          </p:nvCxnSpPr>
          <p:spPr>
            <a:xfrm rot="10800000">
              <a:off x="1949" y="2792"/>
              <a:ext cx="0" cy="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73" name="Google Shape;273;p17"/>
            <p:cNvSpPr/>
            <p:nvPr/>
          </p:nvSpPr>
          <p:spPr>
            <a:xfrm>
              <a:off x="1853" y="2792"/>
              <a:ext cx="191" cy="147"/>
            </a:xfrm>
            <a:prstGeom prst="flowChartExtra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74" name="Google Shape;274;p17"/>
            <p:cNvCxnSpPr/>
            <p:nvPr/>
          </p:nvCxnSpPr>
          <p:spPr>
            <a:xfrm flipH="1" rot="-5400000">
              <a:off x="1948" y="2628"/>
              <a:ext cx="1" cy="1679"/>
            </a:xfrm>
            <a:prstGeom prst="bentConnector3">
              <a:avLst>
                <a:gd fmla="val -34648405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5" name="Google Shape;275;p17"/>
            <p:cNvCxnSpPr/>
            <p:nvPr/>
          </p:nvCxnSpPr>
          <p:spPr>
            <a:xfrm flipH="1">
              <a:off x="2368" y="2393"/>
              <a:ext cx="1155" cy="255"/>
            </a:xfrm>
            <a:prstGeom prst="bentConnector3">
              <a:avLst>
                <a:gd fmla="val 304836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6" name="Google Shape;276;p17"/>
            <p:cNvCxnSpPr/>
            <p:nvPr/>
          </p:nvCxnSpPr>
          <p:spPr>
            <a:xfrm rot="10800000">
              <a:off x="2368" y="1511"/>
              <a:ext cx="1155" cy="672"/>
            </a:xfrm>
            <a:prstGeom prst="bentConnector3">
              <a:avLst>
                <a:gd fmla="val 30483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77" name="Google Shape;277;p17"/>
            <p:cNvSpPr/>
            <p:nvPr/>
          </p:nvSpPr>
          <p:spPr>
            <a:xfrm>
              <a:off x="3107" y="912"/>
              <a:ext cx="720" cy="288"/>
            </a:xfrm>
            <a:prstGeom prst="wedgeRoundRectCallout">
              <a:avLst>
                <a:gd fmla="val -16710" name="adj1"/>
                <a:gd fmla="val 35925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Multiplicity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18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for creating UML diags.</a:t>
            </a:r>
            <a:endParaRPr/>
          </a:p>
        </p:txBody>
      </p:sp>
      <p:sp>
        <p:nvSpPr>
          <p:cNvPr id="284" name="Google Shape;284;p18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Violet (free)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http://horstmann.com/violet/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Rational Rose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http://www.rational.com/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Visual Paradigm UML Suite (trial)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http://www.visual-paradigm.com/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(nearly) direct download link: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http://www.visual-paradigm.com/vp/download.jsp?product=vpuml&amp;edition=ce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(there are many others, but most are commercial)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design exercise</a:t>
            </a:r>
            <a:endParaRPr/>
          </a:p>
        </p:txBody>
      </p:sp>
      <p:sp>
        <p:nvSpPr>
          <p:cNvPr id="291" name="Google Shape;291;p19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Consider this Texas Hold 'em poker game system: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 to 8 human or computer players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player has a name and stack of chips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Computer players have a difficulty setting: easy, medium, hard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Summary of each hand: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Dealer collects ante from appropriate players, shuffles the deck, and deals each player a hand of 2 cards from the deck.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betting round occurs, followed by dealing 3 shared cards from the deck.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shared cards are dealt, more betting rounds occur, where each player can fold, check, or raise.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 the end of a round, if more than one player is remaining, players' hands are compared, and the best hand wins the pot of all chips bet so far.</a:t>
            </a:r>
            <a:endParaRPr/>
          </a:p>
          <a:p>
            <a:pPr indent="-257809" lvl="1" marL="742950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rgbClr val="800080"/>
              </a:buClr>
              <a:buSzPts val="44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classes are in this system?  What are their responsibilities?  Which classes collaborate?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Draw a class diagram for this system.  Include relationships between classes (generalization and associational).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2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2009-04-22T19:24:48Z</dcterms:created>
  <dc:creator>Marty Stepp</dc:creator>
</cp:coreProperties>
</file>