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embeddedFontLst>
    <p:embeddedFont>
      <p:font typeface="Gill Sans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g7YllUQqXg6z3HqXrVxIRUOW7l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GillSans-bold.fntdata"/><Relationship Id="rId6" Type="http://schemas.openxmlformats.org/officeDocument/2006/relationships/slide" Target="slides/slide1.xml"/><Relationship Id="rId18" Type="http://schemas.openxmlformats.org/officeDocument/2006/relationships/font" Target="fonts/Gill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www.uottawa.ca/academic/arts/writcent/hypergrammar/objcompl.html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4588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914920" y="4343400"/>
            <a:ext cx="50281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Examine the text to identify potential objects, attributes, operations, and relationships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4588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914920" y="4343400"/>
            <a:ext cx="50281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Examine the text to identify potential objects, attributes, operations, and relationships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4588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914920" y="4343400"/>
            <a:ext cx="50281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u="sng">
                <a:latin typeface="Arial"/>
                <a:ea typeface="Arial"/>
                <a:cs typeface="Arial"/>
                <a:sym typeface="Arial"/>
              </a:rPr>
              <a:t>Transitive Verb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meaning of a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transitive verb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is incomplete without a </a:t>
            </a:r>
            <a:r>
              <a:rPr lang="en-US" sz="1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direct object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as in the following examples: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INCOMPLETE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		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COMPLETE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shelf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holds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 		The shelf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holds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three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			 books and a vase of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			 flowers.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committee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named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 	The committee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named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			new chairperson.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child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broke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 		The child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broke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the plate. </a:t>
            </a:r>
            <a:endParaRPr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u="sng">
                <a:latin typeface="Arial"/>
                <a:ea typeface="Arial"/>
                <a:cs typeface="Arial"/>
                <a:sym typeface="Arial"/>
              </a:rPr>
              <a:t>Intransitive Verb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intransitive verb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on the other hand,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cannot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take a direct object.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Example:  This plant has thrived on the south windowsill.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 u="sng">
                <a:latin typeface="Arial"/>
                <a:ea typeface="Arial"/>
                <a:cs typeface="Arial"/>
                <a:sym typeface="Arial"/>
              </a:rPr>
              <a:t>Predicate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part of the sentence that contains a verb or verb phrase and its complements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4588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914920" y="4343400"/>
            <a:ext cx="50281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Constraints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Example of constraint:  attribute that can only be within a certain range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Look at the pre-conditions and post-conditions in the use cases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Decide how to handle violations to the constraints (how to handle errors/exceptions)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4588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914920" y="4343400"/>
            <a:ext cx="50281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Redundant Classes: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Some potential classes differ only in name.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Irrelevant Classes: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Classes that have nothing to do with the system. Example: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computer connection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Vague Classes: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Classes whose meaning is not clear at all. Examples: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system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software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Attributes: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Some nouns in the list above are likely to be modeled as attributes rather as classes. Examples: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author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title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Operations: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Some nouns are likely to be operations rather than classes. Example: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book search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Roles: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Some nouns are roles of objects involved in associations rather than classes.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Implementation Constructs: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Anything that is not part of the real-world problem.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4588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914920" y="4343400"/>
            <a:ext cx="50281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Redundant Classes: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Some potential classes differ only in name.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Irrelevant Classes: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Classes that have nothing to do with the system. Example: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computer connection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Vague Classes: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Classes whose meaning is not clear at all. Examples: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system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software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Attributes: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Some nouns in the list above are likely to be modeled as attributes rather as classes. Examples: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author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title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Operations: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Some nouns are likely to be operations rather than classes. Example: 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book search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Roles: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Some nouns are roles of objects involved in associations rather than classes.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Implementation Constructs: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Anything that is not part of the real-world problem.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914920" y="4343400"/>
            <a:ext cx="50281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5011" lvl="0" marL="22501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Class diagram</a:t>
            </a:r>
            <a:endParaRPr/>
          </a:p>
          <a:p>
            <a:pPr indent="-225011" lvl="0" marL="22501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Name typed in top compartment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914920" y="4343400"/>
            <a:ext cx="50281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-cassetteID: int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-cassetteVolumeNo: int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4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14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14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14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6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17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1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8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9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2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9" name="Google Shape;69;p2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21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21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8" name="Google Shape;78;p21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21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  <a:defRPr b="0"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12"/>
              <a:buChar char="?"/>
              <a:defRPr sz="1200"/>
            </a:lvl2pPr>
            <a:lvl3pPr indent="-2768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Char char="?"/>
              <a:defRPr sz="1000"/>
            </a:lvl3pPr>
            <a:lvl4pPr indent="-26860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22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" name="Google Shape;88;p22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22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24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24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4" name="Google Shape;104;p24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58F3E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3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1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13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1143000" y="38100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/>
              <a:t>CSE 470 – Class Diagram Design</a:t>
            </a:r>
            <a:endParaRPr/>
          </a:p>
        </p:txBody>
      </p:sp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1219200" y="541020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/>
              <a:t>BRAC University</a:t>
            </a:r>
            <a:endParaRPr/>
          </a:p>
        </p:txBody>
      </p:sp>
      <p:pic>
        <p:nvPicPr>
          <p:cNvPr descr="software-engineering-5b4daa8bab12ae7f4848c482.jpg" id="111" name="Google Shape;1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12" name="Google Shape;1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457200" y="274638"/>
            <a:ext cx="8229600" cy="1401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Guidelines </a:t>
            </a:r>
            <a:br>
              <a:rPr lang="en-US"/>
            </a:br>
            <a:r>
              <a:rPr lang="en-US"/>
              <a:t>for Analyzing Requirements / Use Cases</a:t>
            </a:r>
            <a:endParaRPr sz="4000"/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457200" y="1752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A common or improper noun implies a class of objects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A proper noun implies an instance of a class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A collective noun implies a class of objects made up of groups of instances of another class</a:t>
            </a:r>
            <a:endParaRPr/>
          </a:p>
        </p:txBody>
      </p:sp>
      <p:pic>
        <p:nvPicPr>
          <p:cNvPr descr="brac.png" id="120" name="Google Shape;12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4000"/>
              <a:buFont typeface="Bookman Old Style"/>
              <a:buNone/>
            </a:pPr>
            <a:r>
              <a:rPr lang="en-US"/>
              <a:t>Guidelines </a:t>
            </a:r>
            <a:br>
              <a:rPr lang="en-US"/>
            </a:br>
            <a:r>
              <a:rPr lang="en-US"/>
              <a:t>for Analyzing Requirements / Use Cases (2)</a:t>
            </a:r>
            <a:endParaRPr sz="4000"/>
          </a:p>
        </p:txBody>
      </p:sp>
      <p:sp>
        <p:nvSpPr>
          <p:cNvPr id="127" name="Google Shape;127;p3"/>
          <p:cNvSpPr txBox="1"/>
          <p:nvPr>
            <p:ph idx="1" type="body"/>
          </p:nvPr>
        </p:nvSpPr>
        <p:spPr>
          <a:xfrm>
            <a:off x="457200" y="1752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An adjective implies an attribute of an object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A doing verb implies an operation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A being verb implies a relationship between an object and its class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A having verb implies an aggregation or association relationship</a:t>
            </a:r>
            <a:endParaRPr/>
          </a:p>
        </p:txBody>
      </p:sp>
      <p:pic>
        <p:nvPicPr>
          <p:cNvPr descr="brac.png"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4000"/>
              <a:buFont typeface="Bookman Old Style"/>
              <a:buNone/>
            </a:pPr>
            <a:r>
              <a:rPr lang="en-US"/>
              <a:t>Guidelines </a:t>
            </a:r>
            <a:br>
              <a:rPr lang="en-US"/>
            </a:br>
            <a:r>
              <a:rPr lang="en-US"/>
              <a:t>for Analyzing Requirements / Use Cases (3)</a:t>
            </a:r>
            <a:endParaRPr sz="4000"/>
          </a:p>
        </p:txBody>
      </p:sp>
      <p:sp>
        <p:nvSpPr>
          <p:cNvPr id="135" name="Google Shape;135;p4"/>
          <p:cNvSpPr txBox="1"/>
          <p:nvPr>
            <p:ph idx="1" type="body"/>
          </p:nvPr>
        </p:nvSpPr>
        <p:spPr>
          <a:xfrm>
            <a:off x="457200" y="1752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A transitive verb implies an operation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An intransitive verb implies an exception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A predicate or descriptive verb phrase implies an operation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An adverb implies an attribute of a relationship or an operation</a:t>
            </a:r>
            <a:endParaRPr/>
          </a:p>
        </p:txBody>
      </p:sp>
      <p:pic>
        <p:nvPicPr>
          <p:cNvPr descr="brac.png"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>
            <p:ph type="title"/>
          </p:nvPr>
        </p:nvSpPr>
        <p:spPr>
          <a:xfrm>
            <a:off x="457200" y="274638"/>
            <a:ext cx="8229600" cy="1020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Class Diagram</a:t>
            </a:r>
            <a:endParaRPr/>
          </a:p>
        </p:txBody>
      </p:sp>
      <p:sp>
        <p:nvSpPr>
          <p:cNvPr id="143" name="Google Shape;143;p5"/>
          <p:cNvSpPr txBox="1"/>
          <p:nvPr>
            <p:ph idx="1" type="body"/>
          </p:nvPr>
        </p:nvSpPr>
        <p:spPr>
          <a:xfrm>
            <a:off x="457200" y="1600200"/>
            <a:ext cx="8382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Ensure that the classes are both necessary and sufficient to solve the underlying problem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Char char="?"/>
            </a:pPr>
            <a:r>
              <a:rPr lang="en-US" sz="3200"/>
              <a:t>no missing attributes or methods in each class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Char char="?"/>
            </a:pPr>
            <a:r>
              <a:rPr lang="en-US" sz="3200"/>
              <a:t>no extra or unused attributes or methods in each class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Char char="?"/>
            </a:pPr>
            <a:r>
              <a:rPr lang="en-US" sz="3200"/>
              <a:t>no missing or extra classes</a:t>
            </a:r>
            <a:endParaRPr/>
          </a:p>
        </p:txBody>
      </p:sp>
      <p:pic>
        <p:nvPicPr>
          <p:cNvPr descr="brac.png"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4000"/>
              <a:buFont typeface="Bookman Old Style"/>
              <a:buNone/>
            </a:pPr>
            <a:r>
              <a:rPr lang="en-US"/>
              <a:t>Discarding Unnecessary and Incorrect Classes</a:t>
            </a:r>
            <a:endParaRPr sz="4000"/>
          </a:p>
        </p:txBody>
      </p:sp>
      <p:sp>
        <p:nvSpPr>
          <p:cNvPr id="151" name="Google Shape;151;p6"/>
          <p:cNvSpPr txBox="1"/>
          <p:nvPr>
            <p:ph idx="1" type="body"/>
          </p:nvPr>
        </p:nvSpPr>
        <p:spPr>
          <a:xfrm>
            <a:off x="457200" y="1676400"/>
            <a:ext cx="8382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Redundant Classes: Some potential classes differ only in name.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Irrelevant Classes: Classes that have nothing to do with the system. Example: </a:t>
            </a:r>
            <a:r>
              <a:rPr i="1" lang="en-US" sz="3600"/>
              <a:t>computer connection</a:t>
            </a:r>
            <a:endParaRPr sz="36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Vague Classes: Classes whose meaning is not clear at all. Examples: </a:t>
            </a:r>
            <a:r>
              <a:rPr i="1" lang="en-US" sz="3600"/>
              <a:t>system</a:t>
            </a:r>
            <a:r>
              <a:rPr lang="en-US" sz="3600"/>
              <a:t> and </a:t>
            </a:r>
            <a:r>
              <a:rPr i="1" lang="en-US" sz="3600"/>
              <a:t>software</a:t>
            </a:r>
            <a:endParaRPr sz="3600"/>
          </a:p>
        </p:txBody>
      </p:sp>
      <p:pic>
        <p:nvPicPr>
          <p:cNvPr descr="brac.png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4000"/>
              <a:buFont typeface="Bookman Old Style"/>
              <a:buNone/>
            </a:pPr>
            <a:r>
              <a:rPr lang="en-US"/>
              <a:t>Discarding Unnecessary and Incorrect Classes</a:t>
            </a:r>
            <a:endParaRPr sz="4000"/>
          </a:p>
        </p:txBody>
      </p:sp>
      <p:sp>
        <p:nvSpPr>
          <p:cNvPr id="159" name="Google Shape;159;p7"/>
          <p:cNvSpPr txBox="1"/>
          <p:nvPr>
            <p:ph idx="1" type="body"/>
          </p:nvPr>
        </p:nvSpPr>
        <p:spPr>
          <a:xfrm>
            <a:off x="457200" y="1676400"/>
            <a:ext cx="8382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8"/>
              <a:buChar char="?"/>
            </a:pPr>
            <a:r>
              <a:rPr lang="en-US" sz="2800"/>
              <a:t>Attributes: Some nouns in the list above are likely to be modeled as attributes rather as classes. Examples: </a:t>
            </a:r>
            <a:r>
              <a:rPr i="1" lang="en-US" sz="2800"/>
              <a:t>author</a:t>
            </a:r>
            <a:r>
              <a:rPr lang="en-US" sz="2800"/>
              <a:t>, </a:t>
            </a:r>
            <a:r>
              <a:rPr i="1" lang="en-US" sz="2800"/>
              <a:t>title</a:t>
            </a:r>
            <a:r>
              <a:rPr lang="en-US" sz="2800"/>
              <a:t>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Char char="?"/>
            </a:pPr>
            <a:r>
              <a:rPr lang="en-US" sz="2800"/>
              <a:t>Operations: Some nouns are likely to be operations rather than classes. Example: </a:t>
            </a:r>
            <a:r>
              <a:rPr i="1" lang="en-US" sz="2800"/>
              <a:t>book search</a:t>
            </a:r>
            <a:r>
              <a:rPr lang="en-US" sz="2800"/>
              <a:t>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Char char="?"/>
            </a:pPr>
            <a:r>
              <a:rPr lang="en-US" sz="2800"/>
              <a:t>Roles: Some nouns are roles of objects involved in associations rather than classes.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Char char="?"/>
            </a:pPr>
            <a:r>
              <a:rPr lang="en-US" sz="2800"/>
              <a:t>Implementation Constructs: Anything that is not part of the real-world problem.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descr="brac.png"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/>
          <p:nvPr>
            <p:ph type="title"/>
          </p:nvPr>
        </p:nvSpPr>
        <p:spPr>
          <a:xfrm>
            <a:off x="457200" y="274638"/>
            <a:ext cx="83820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Types of Classes</a:t>
            </a:r>
            <a:endParaRPr sz="4000"/>
          </a:p>
        </p:txBody>
      </p:sp>
      <p:sp>
        <p:nvSpPr>
          <p:cNvPr id="167" name="Google Shape;167;p8"/>
          <p:cNvSpPr txBox="1"/>
          <p:nvPr>
            <p:ph idx="1" type="body"/>
          </p:nvPr>
        </p:nvSpPr>
        <p:spPr>
          <a:xfrm>
            <a:off x="457200" y="1371600"/>
            <a:ext cx="8382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Ones found during analysis: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Char char="?"/>
            </a:pPr>
            <a:r>
              <a:rPr lang="en-US" sz="3200"/>
              <a:t>people, places, events, and things about which the system will capture information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Char char="?"/>
            </a:pPr>
            <a:r>
              <a:rPr lang="en-US" sz="3200"/>
              <a:t>ones found in application domain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36"/>
              <a:buChar char="?"/>
            </a:pPr>
            <a:r>
              <a:rPr lang="en-US" sz="3600"/>
              <a:t>Ones found during design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32"/>
              <a:buChar char="?"/>
            </a:pPr>
            <a:r>
              <a:rPr lang="en-US" sz="3200"/>
              <a:t>specific objects like windows and forms that are used to build the system</a:t>
            </a:r>
            <a:endParaRPr/>
          </a:p>
        </p:txBody>
      </p:sp>
      <p:pic>
        <p:nvPicPr>
          <p:cNvPr descr="brac.png" id="168" name="Google Shape;1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>
            <a:off x="533400" y="4572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 of a Class Diagram</a:t>
            </a:r>
            <a:endParaRPr b="1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838200" y="1568450"/>
            <a:ext cx="48006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Video Rental System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7010400" y="5791200"/>
            <a:ext cx="1905000" cy="514350"/>
          </a:xfrm>
          <a:prstGeom prst="wedgeRoundRectCallout">
            <a:avLst>
              <a:gd fmla="val -76000" name="adj1"/>
              <a:gd fmla="val -159259" name="adj2"/>
              <a:gd fmla="val 16667" name="adj3"/>
            </a:avLst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400800" y="2609850"/>
            <a:ext cx="2438400" cy="514350"/>
          </a:xfrm>
          <a:prstGeom prst="wedgeRoundRectCallout">
            <a:avLst>
              <a:gd fmla="val -42579" name="adj1"/>
              <a:gd fmla="val 152468" name="adj2"/>
              <a:gd fmla="val 16667" name="adj3"/>
            </a:avLst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1828800" y="66992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828800" y="66992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80" name="Google Shape;180;p9"/>
          <p:cNvGrpSpPr/>
          <p:nvPr/>
        </p:nvGrpSpPr>
        <p:grpSpPr>
          <a:xfrm>
            <a:off x="5105400" y="3429000"/>
            <a:ext cx="3505200" cy="2066925"/>
            <a:chOff x="1584" y="2496"/>
            <a:chExt cx="2016" cy="1200"/>
          </a:xfrm>
        </p:grpSpPr>
        <p:sp>
          <p:nvSpPr>
            <p:cNvPr id="181" name="Google Shape;181;p9"/>
            <p:cNvSpPr/>
            <p:nvPr/>
          </p:nvSpPr>
          <p:spPr>
            <a:xfrm>
              <a:off x="1584" y="2496"/>
              <a:ext cx="2016" cy="1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182" name="Google Shape;182;p9"/>
            <p:cNvCxnSpPr/>
            <p:nvPr/>
          </p:nvCxnSpPr>
          <p:spPr>
            <a:xfrm>
              <a:off x="1584" y="2880"/>
              <a:ext cx="201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9"/>
            <p:cNvCxnSpPr/>
            <p:nvPr/>
          </p:nvCxnSpPr>
          <p:spPr>
            <a:xfrm>
              <a:off x="1584" y="3360"/>
              <a:ext cx="201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4" name="Google Shape;184;p9"/>
            <p:cNvSpPr txBox="1"/>
            <p:nvPr/>
          </p:nvSpPr>
          <p:spPr>
            <a:xfrm>
              <a:off x="2112" y="2592"/>
              <a:ext cx="912" cy="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9"/>
            <p:cNvSpPr txBox="1"/>
            <p:nvPr/>
          </p:nvSpPr>
          <p:spPr>
            <a:xfrm>
              <a:off x="1728" y="2976"/>
              <a:ext cx="960" cy="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6" name="Google Shape;186;p9"/>
            <p:cNvSpPr txBox="1"/>
            <p:nvPr/>
          </p:nvSpPr>
          <p:spPr>
            <a:xfrm>
              <a:off x="1728" y="3398"/>
              <a:ext cx="960" cy="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+rentMovie()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9"/>
          <p:cNvSpPr/>
          <p:nvPr/>
        </p:nvSpPr>
        <p:spPr>
          <a:xfrm>
            <a:off x="1828800" y="66992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533400" y="3424238"/>
            <a:ext cx="3200400" cy="21431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89" name="Google Shape;189;p9"/>
          <p:cNvCxnSpPr/>
          <p:nvPr/>
        </p:nvCxnSpPr>
        <p:spPr>
          <a:xfrm>
            <a:off x="533400" y="4110038"/>
            <a:ext cx="3200400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9"/>
          <p:cNvCxnSpPr/>
          <p:nvPr/>
        </p:nvCxnSpPr>
        <p:spPr>
          <a:xfrm>
            <a:off x="533400" y="4967288"/>
            <a:ext cx="3200400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9"/>
          <p:cNvSpPr txBox="1"/>
          <p:nvPr/>
        </p:nvSpPr>
        <p:spPr>
          <a:xfrm>
            <a:off x="914400" y="3595688"/>
            <a:ext cx="23622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Customer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762000" y="4114800"/>
            <a:ext cx="2895600" cy="119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-CID:  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-name:  String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762000" y="5105400"/>
            <a:ext cx="25908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+authenticateCustomer 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9"/>
          <p:cNvCxnSpPr/>
          <p:nvPr/>
        </p:nvCxnSpPr>
        <p:spPr>
          <a:xfrm>
            <a:off x="3733800" y="4281488"/>
            <a:ext cx="1371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" name="Google Shape;195;p9"/>
          <p:cNvSpPr/>
          <p:nvPr/>
        </p:nvSpPr>
        <p:spPr>
          <a:xfrm>
            <a:off x="4419600" y="5962650"/>
            <a:ext cx="2133600" cy="514350"/>
          </a:xfrm>
          <a:prstGeom prst="wedgeRoundRectCallout">
            <a:avLst>
              <a:gd fmla="val -56472" name="adj1"/>
              <a:gd fmla="val -278125" name="adj2"/>
              <a:gd fmla="val 16667" name="adj3"/>
            </a:avLst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3962400" y="4403725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4572000" y="3852863"/>
            <a:ext cx="6096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1..*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3733800" y="3852863"/>
            <a:ext cx="60960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1..*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3505200" y="2590800"/>
            <a:ext cx="2209800" cy="514350"/>
          </a:xfrm>
          <a:prstGeom prst="wedgeRoundRectCallout">
            <a:avLst>
              <a:gd fmla="val -26292" name="adj1"/>
              <a:gd fmla="val 195986" name="adj2"/>
              <a:gd fmla="val 16667" name="adj3"/>
            </a:avLst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multiplicity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828800" y="67468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04800" y="2514600"/>
            <a:ext cx="2209800" cy="514350"/>
          </a:xfrm>
          <a:prstGeom prst="wedgeRoundRectCallout">
            <a:avLst>
              <a:gd fmla="val -24352" name="adj1"/>
              <a:gd fmla="val 275000" name="adj2"/>
              <a:gd fmla="val 16667" name="adj3"/>
            </a:avLst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visibility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152400" y="5867400"/>
            <a:ext cx="1828800" cy="514350"/>
          </a:xfrm>
          <a:prstGeom prst="wedgeRoundRectCallout">
            <a:avLst>
              <a:gd fmla="val -22481" name="adj1"/>
              <a:gd fmla="val -308333" name="adj2"/>
              <a:gd fmla="val 16667" name="adj3"/>
            </a:avLst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attributes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5257800" y="4267200"/>
            <a:ext cx="29718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5334000" y="4114800"/>
            <a:ext cx="3124200" cy="77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-cassetteID : 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-cassetteVolumeNo:  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rac.png" id="205" name="Google Shape;2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 txBox="1"/>
          <p:nvPr>
            <p:ph idx="12" type="sldNum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4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1" name="Google Shape;211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Class diagram example 1</a:t>
            </a:r>
            <a:endParaRPr/>
          </a:p>
        </p:txBody>
      </p:sp>
      <p:grpSp>
        <p:nvGrpSpPr>
          <p:cNvPr id="212" name="Google Shape;212;p10"/>
          <p:cNvGrpSpPr/>
          <p:nvPr/>
        </p:nvGrpSpPr>
        <p:grpSpPr>
          <a:xfrm>
            <a:off x="920175" y="1631950"/>
            <a:ext cx="7620000" cy="4724400"/>
            <a:chOff x="528" y="912"/>
            <a:chExt cx="4800" cy="2976"/>
          </a:xfrm>
        </p:grpSpPr>
        <p:sp>
          <p:nvSpPr>
            <p:cNvPr id="213" name="Google Shape;213;p10"/>
            <p:cNvSpPr/>
            <p:nvPr/>
          </p:nvSpPr>
          <p:spPr>
            <a:xfrm>
              <a:off x="794" y="3467"/>
              <a:ext cx="630" cy="42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4" name="Google Shape;214;p10"/>
            <p:cNvSpPr/>
            <p:nvPr/>
          </p:nvSpPr>
          <p:spPr>
            <a:xfrm>
              <a:off x="794" y="3467"/>
              <a:ext cx="630" cy="14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5" name="Google Shape;215;p10"/>
            <p:cNvSpPr/>
            <p:nvPr/>
          </p:nvSpPr>
          <p:spPr>
            <a:xfrm>
              <a:off x="872" y="3482"/>
              <a:ext cx="484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DVD Movie</a:t>
              </a:r>
              <a:endParaRPr b="0" i="0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1634" y="3467"/>
              <a:ext cx="629" cy="42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1634" y="3467"/>
              <a:ext cx="629" cy="14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1715" y="3482"/>
              <a:ext cx="479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VHS Movie</a:t>
              </a:r>
              <a:endParaRPr b="0" i="0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2473" y="3467"/>
              <a:ext cx="630" cy="42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2473" y="3467"/>
              <a:ext cx="630" cy="14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2522" y="3482"/>
              <a:ext cx="532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Video Game</a:t>
              </a:r>
              <a:endParaRPr b="0" i="0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1529" y="2504"/>
              <a:ext cx="839" cy="288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1529" y="2347"/>
              <a:ext cx="839" cy="24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1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Rental Item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3733" y="1868"/>
              <a:ext cx="840" cy="63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3733" y="1868"/>
              <a:ext cx="840" cy="21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3827" y="1917"/>
              <a:ext cx="606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Rental Invoice</a:t>
              </a:r>
              <a:endParaRPr b="0" i="0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3523" y="2341"/>
              <a:ext cx="210" cy="105"/>
            </a:xfrm>
            <a:custGeom>
              <a:rect b="b" l="l" r="r" t="t"/>
              <a:pathLst>
                <a:path extrusionOk="0" h="105" w="210">
                  <a:moveTo>
                    <a:pt x="0" y="52"/>
                  </a:moveTo>
                  <a:lnTo>
                    <a:pt x="105" y="0"/>
                  </a:lnTo>
                  <a:lnTo>
                    <a:pt x="210" y="52"/>
                  </a:lnTo>
                  <a:lnTo>
                    <a:pt x="105" y="10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2448" y="2323"/>
              <a:ext cx="216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1..*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3608" y="2468"/>
              <a:ext cx="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1529" y="1248"/>
              <a:ext cx="839" cy="52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1529" y="1248"/>
              <a:ext cx="839" cy="17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1741" y="1280"/>
              <a:ext cx="415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Customer</a:t>
              </a:r>
              <a:endParaRPr b="0" i="0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p10"/>
            <p:cNvSpPr/>
            <p:nvPr/>
          </p:nvSpPr>
          <p:spPr>
            <a:xfrm>
              <a:off x="3523" y="2131"/>
              <a:ext cx="210" cy="105"/>
            </a:xfrm>
            <a:custGeom>
              <a:rect b="b" l="l" r="r" t="t"/>
              <a:pathLst>
                <a:path extrusionOk="0" h="105" w="210">
                  <a:moveTo>
                    <a:pt x="0" y="52"/>
                  </a:moveTo>
                  <a:lnTo>
                    <a:pt x="105" y="0"/>
                  </a:lnTo>
                  <a:lnTo>
                    <a:pt x="210" y="52"/>
                  </a:lnTo>
                  <a:lnTo>
                    <a:pt x="105" y="105"/>
                  </a:lnTo>
                  <a:lnTo>
                    <a:pt x="0" y="5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3733" y="3338"/>
              <a:ext cx="840" cy="454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3733" y="3338"/>
              <a:ext cx="840" cy="21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6" name="Google Shape;236;p10"/>
            <p:cNvSpPr/>
            <p:nvPr/>
          </p:nvSpPr>
          <p:spPr>
            <a:xfrm>
              <a:off x="3793" y="3387"/>
              <a:ext cx="734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Checkout Screen</a:t>
              </a:r>
              <a:endParaRPr b="0" i="0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37" name="Google Shape;237;p10"/>
            <p:cNvCxnSpPr/>
            <p:nvPr/>
          </p:nvCxnSpPr>
          <p:spPr>
            <a:xfrm flipH="1" rot="10800000">
              <a:off x="4153" y="2498"/>
              <a:ext cx="1" cy="84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8" name="Google Shape;238;p10"/>
            <p:cNvSpPr/>
            <p:nvPr/>
          </p:nvSpPr>
          <p:spPr>
            <a:xfrm>
              <a:off x="4199" y="2520"/>
              <a:ext cx="24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0..1</a:t>
              </a:r>
              <a:endParaRPr b="0" i="0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p10"/>
            <p:cNvSpPr/>
            <p:nvPr/>
          </p:nvSpPr>
          <p:spPr>
            <a:xfrm>
              <a:off x="2415" y="1318"/>
              <a:ext cx="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p10"/>
            <p:cNvSpPr/>
            <p:nvPr/>
          </p:nvSpPr>
          <p:spPr>
            <a:xfrm>
              <a:off x="4512" y="2832"/>
              <a:ext cx="816" cy="384"/>
            </a:xfrm>
            <a:prstGeom prst="wedgeRoundRectCallout">
              <a:avLst>
                <a:gd fmla="val -92032" name="adj1"/>
                <a:gd fmla="val -80991" name="adj2"/>
                <a:gd fmla="val 16667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Simple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9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 Association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0"/>
            <p:cNvSpPr/>
            <p:nvPr/>
          </p:nvSpPr>
          <p:spPr>
            <a:xfrm>
              <a:off x="720" y="1392"/>
              <a:ext cx="480" cy="288"/>
            </a:xfrm>
            <a:prstGeom prst="wedgeRoundRectCallout">
              <a:avLst>
                <a:gd fmla="val 117708" name="adj1"/>
                <a:gd fmla="val -70486" name="adj2"/>
                <a:gd fmla="val 16667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624" y="1872"/>
              <a:ext cx="624" cy="432"/>
            </a:xfrm>
            <a:prstGeom prst="wedgeRoundRectCallout">
              <a:avLst>
                <a:gd fmla="val 93111" name="adj1"/>
                <a:gd fmla="val 67130" name="adj2"/>
                <a:gd fmla="val 16667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Abstract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9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3168" y="1296"/>
              <a:ext cx="864" cy="336"/>
            </a:xfrm>
            <a:prstGeom prst="wedgeRoundRectCallout">
              <a:avLst>
                <a:gd fmla="val -1157" name="adj1"/>
                <a:gd fmla="val 179167" name="adj2"/>
                <a:gd fmla="val 16667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Simple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9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Aggregation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528" y="2928"/>
              <a:ext cx="912" cy="240"/>
            </a:xfrm>
            <a:prstGeom prst="wedgeRoundRectCallout">
              <a:avLst>
                <a:gd fmla="val 97477" name="adj1"/>
                <a:gd fmla="val -49167" name="adj2"/>
                <a:gd fmla="val 16667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Generalization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2640" y="2736"/>
              <a:ext cx="768" cy="384"/>
            </a:xfrm>
            <a:prstGeom prst="wedgeRoundRectCallout">
              <a:avLst>
                <a:gd fmla="val 70315" name="adj1"/>
                <a:gd fmla="val -117968" name="adj2"/>
                <a:gd fmla="val 16667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Composition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6" name="Google Shape;246;p10"/>
            <p:cNvCxnSpPr>
              <a:stCxn id="217" idx="0"/>
              <a:endCxn id="222" idx="2"/>
            </p:cNvCxnSpPr>
            <p:nvPr/>
          </p:nvCxnSpPr>
          <p:spPr>
            <a:xfrm rot="10800000">
              <a:off x="1949" y="2867"/>
              <a:ext cx="0" cy="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7" name="Google Shape;247;p10"/>
            <p:cNvSpPr/>
            <p:nvPr/>
          </p:nvSpPr>
          <p:spPr>
            <a:xfrm>
              <a:off x="1853" y="2792"/>
              <a:ext cx="191" cy="147"/>
            </a:xfrm>
            <a:prstGeom prst="flowChartExtra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248" name="Google Shape;248;p10"/>
            <p:cNvCxnSpPr>
              <a:stCxn id="214" idx="0"/>
              <a:endCxn id="220" idx="0"/>
            </p:cNvCxnSpPr>
            <p:nvPr/>
          </p:nvCxnSpPr>
          <p:spPr>
            <a:xfrm rot="10800000">
              <a:off x="2009" y="2567"/>
              <a:ext cx="0" cy="1800"/>
            </a:xfrm>
            <a:prstGeom prst="bentConnector3">
              <a:avLst>
                <a:gd fmla="val -346492945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>
              <a:stCxn id="227" idx="4"/>
              <a:endCxn id="222" idx="3"/>
            </p:cNvCxnSpPr>
            <p:nvPr/>
          </p:nvCxnSpPr>
          <p:spPr>
            <a:xfrm flipH="1">
              <a:off x="2368" y="2048"/>
              <a:ext cx="1200" cy="600"/>
            </a:xfrm>
            <a:prstGeom prst="bentConnector3">
              <a:avLst>
                <a:gd fmla="val 297338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>
              <a:stCxn id="233" idx="4"/>
              <a:endCxn id="230" idx="3"/>
            </p:cNvCxnSpPr>
            <p:nvPr/>
          </p:nvCxnSpPr>
          <p:spPr>
            <a:xfrm rot="10800000">
              <a:off x="2368" y="1511"/>
              <a:ext cx="1200" cy="600"/>
            </a:xfrm>
            <a:prstGeom prst="bentConnector3">
              <a:avLst>
                <a:gd fmla="val 297338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1" name="Google Shape;251;p10"/>
            <p:cNvSpPr/>
            <p:nvPr/>
          </p:nvSpPr>
          <p:spPr>
            <a:xfrm>
              <a:off x="3107" y="912"/>
              <a:ext cx="720" cy="288"/>
            </a:xfrm>
            <a:prstGeom prst="wedgeRoundRectCallout">
              <a:avLst>
                <a:gd fmla="val -127361" name="adj1"/>
                <a:gd fmla="val 116319" name="adj2"/>
                <a:gd fmla="val 16667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Multiplicity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brac.png" id="252" name="Google Shape;2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 txBox="1"/>
          <p:nvPr>
            <p:ph idx="12" type="sldNum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4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8" name="Google Shape;258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Class diagram example 2</a:t>
            </a:r>
            <a:endParaRPr/>
          </a:p>
        </p:txBody>
      </p:sp>
      <p:pic>
        <p:nvPicPr>
          <p:cNvPr descr="cd2.png" id="259" name="Google Shape;2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596230"/>
            <a:ext cx="7961869" cy="4271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260" name="Google Shape;26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"/>
          <p:cNvSpPr txBox="1"/>
          <p:nvPr>
            <p:ph type="title"/>
          </p:nvPr>
        </p:nvSpPr>
        <p:spPr>
          <a:xfrm>
            <a:off x="571500" y="304800"/>
            <a:ext cx="777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Bookman Old Style"/>
              <a:buNone/>
            </a:pPr>
            <a:r>
              <a:rPr lang="en-US" sz="3200"/>
              <a:t>Class Diagram </a:t>
            </a:r>
            <a:r>
              <a:rPr lang="en-US"/>
              <a:t>Example 3</a:t>
            </a:r>
            <a:endParaRPr sz="3200"/>
          </a:p>
        </p:txBody>
      </p:sp>
      <p:sp>
        <p:nvSpPr>
          <p:cNvPr id="266" name="Google Shape;266;p12"/>
          <p:cNvSpPr txBox="1"/>
          <p:nvPr>
            <p:ph idx="12" type="sldNum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Slide </a:t>
            </a:r>
            <a:fld id="{00000000-1234-1234-1234-123412341234}" type="slidenum">
              <a:rPr lang="en-US" sz="14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4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475" y="120025"/>
            <a:ext cx="8653975" cy="6487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268" name="Google Shape;26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84368" y="5733256"/>
            <a:ext cx="1259632" cy="1124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rigi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2020-05-26T17:53:17Z</dcterms:created>
  <dc:creator>User</dc:creator>
</cp:coreProperties>
</file>