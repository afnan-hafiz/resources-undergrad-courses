
<file path=[Content_Types].xml><?xml version="1.0" encoding="utf-8"?>
<Types xmlns="http://schemas.openxmlformats.org/package/2006/content-types">
  <Default Extension="png" ContentType="image/png"/>
  <Default Extension="tmp"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75" r:id="rId6"/>
    <p:sldId id="276" r:id="rId7"/>
    <p:sldId id="277" r:id="rId8"/>
    <p:sldId id="278"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001125" y="0"/>
            <a:ext cx="142875" cy="685800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533717" y="2014791"/>
            <a:ext cx="8076564" cy="636269"/>
          </a:xfrm>
          <a:prstGeom prst="rect">
            <a:avLst/>
          </a:prstGeom>
        </p:spPr>
        <p:txBody>
          <a:bodyPr wrap="square" lIns="0" tIns="0" rIns="0" bIns="0">
            <a:spAutoFit/>
          </a:bodyPr>
          <a:lstStyle>
            <a:lvl1pPr>
              <a:defRPr sz="1700" b="1" i="0">
                <a:solidFill>
                  <a:schemeClr val="tx1"/>
                </a:solidFill>
                <a:latin typeface="Arial"/>
                <a:cs typeface="Arial"/>
              </a:defRPr>
            </a:lvl1pPr>
          </a:lstStyle>
          <a:p>
            <a:endParaRPr/>
          </a:p>
        </p:txBody>
      </p:sp>
      <p:sp>
        <p:nvSpPr>
          <p:cNvPr id="3" name="Holder 3"/>
          <p:cNvSpPr>
            <a:spLocks noGrp="1"/>
          </p:cNvSpPr>
          <p:nvPr>
            <p:ph type="body" idx="1"/>
          </p:nvPr>
        </p:nvSpPr>
        <p:spPr>
          <a:xfrm>
            <a:off x="533717" y="1169352"/>
            <a:ext cx="6868795" cy="3782060"/>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13-Jul-19</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1125" y="0"/>
            <a:ext cx="142875" cy="6857999"/>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220152" y="565150"/>
            <a:ext cx="6654165" cy="2301875"/>
          </a:xfrm>
          <a:prstGeom prst="rect">
            <a:avLst/>
          </a:prstGeom>
        </p:spPr>
        <p:txBody>
          <a:bodyPr vert="horz" wrap="square" lIns="0" tIns="134620" rIns="0" bIns="0" rtlCol="0">
            <a:spAutoFit/>
          </a:bodyPr>
          <a:lstStyle/>
          <a:p>
            <a:pPr marL="368300" algn="l">
              <a:lnSpc>
                <a:spcPct val="100000"/>
              </a:lnSpc>
              <a:spcBef>
                <a:spcPts val="1060"/>
              </a:spcBef>
            </a:pPr>
            <a:r>
              <a:rPr sz="4800" dirty="0">
                <a:solidFill>
                  <a:srgbClr val="283658"/>
                </a:solidFill>
              </a:rPr>
              <a:t>Software</a:t>
            </a:r>
            <a:r>
              <a:rPr sz="4800" spc="-70" dirty="0">
                <a:solidFill>
                  <a:srgbClr val="283658"/>
                </a:solidFill>
              </a:rPr>
              <a:t> </a:t>
            </a:r>
            <a:r>
              <a:rPr sz="4800" dirty="0">
                <a:solidFill>
                  <a:srgbClr val="283658"/>
                </a:solidFill>
              </a:rPr>
              <a:t>Engineering</a:t>
            </a:r>
            <a:endParaRPr sz="4800" dirty="0"/>
          </a:p>
          <a:p>
            <a:pPr marL="12700">
              <a:lnSpc>
                <a:spcPct val="100000"/>
              </a:lnSpc>
              <a:spcBef>
                <a:spcPts val="1600"/>
              </a:spcBef>
            </a:pPr>
            <a:r>
              <a:rPr sz="8000" b="0" spc="-5" dirty="0">
                <a:solidFill>
                  <a:srgbClr val="681317"/>
                </a:solidFill>
                <a:latin typeface="Arial Black"/>
                <a:cs typeface="Arial Black"/>
              </a:rPr>
              <a:t>COCOMO</a:t>
            </a:r>
            <a:endParaRPr sz="8000" dirty="0">
              <a:latin typeface="Arial Black"/>
              <a:cs typeface="Arial Black"/>
            </a:endParaRPr>
          </a:p>
        </p:txBody>
      </p:sp>
      <p:sp>
        <p:nvSpPr>
          <p:cNvPr id="4" name="object 4"/>
          <p:cNvSpPr txBox="1"/>
          <p:nvPr/>
        </p:nvSpPr>
        <p:spPr>
          <a:xfrm>
            <a:off x="1220152" y="3114294"/>
            <a:ext cx="4989195" cy="2063750"/>
          </a:xfrm>
          <a:prstGeom prst="rect">
            <a:avLst/>
          </a:prstGeom>
        </p:spPr>
        <p:txBody>
          <a:bodyPr vert="horz" wrap="square" lIns="0" tIns="12065" rIns="0" bIns="0" rtlCol="0">
            <a:spAutoFit/>
          </a:bodyPr>
          <a:lstStyle/>
          <a:p>
            <a:pPr marL="927735" marR="5080" indent="-915669">
              <a:lnSpc>
                <a:spcPts val="5510"/>
              </a:lnSpc>
              <a:spcBef>
                <a:spcPts val="95"/>
              </a:spcBef>
            </a:pPr>
            <a:r>
              <a:rPr sz="4400" spc="-25" dirty="0">
                <a:solidFill>
                  <a:srgbClr val="681317"/>
                </a:solidFill>
                <a:latin typeface="Arial Black"/>
                <a:cs typeface="Arial Black"/>
              </a:rPr>
              <a:t>C</a:t>
            </a:r>
            <a:r>
              <a:rPr sz="4400" spc="-20" dirty="0">
                <a:solidFill>
                  <a:srgbClr val="681317"/>
                </a:solidFill>
                <a:latin typeface="Arial Black"/>
                <a:cs typeface="Arial Black"/>
              </a:rPr>
              <a:t>O</a:t>
            </a:r>
            <a:r>
              <a:rPr sz="4400" spc="-20" dirty="0">
                <a:solidFill>
                  <a:srgbClr val="A6A6A6"/>
                </a:solidFill>
                <a:latin typeface="Arial Black"/>
                <a:cs typeface="Arial Black"/>
              </a:rPr>
              <a:t>N</a:t>
            </a:r>
            <a:r>
              <a:rPr sz="4400" spc="15" dirty="0">
                <a:solidFill>
                  <a:srgbClr val="A6A6A6"/>
                </a:solidFill>
                <a:latin typeface="Arial Black"/>
                <a:cs typeface="Arial Black"/>
              </a:rPr>
              <a:t>ST</a:t>
            </a:r>
            <a:r>
              <a:rPr sz="4400" spc="-30" dirty="0">
                <a:solidFill>
                  <a:srgbClr val="A6A6A6"/>
                </a:solidFill>
                <a:latin typeface="Arial Black"/>
                <a:cs typeface="Arial Black"/>
              </a:rPr>
              <a:t>R</a:t>
            </a:r>
            <a:r>
              <a:rPr sz="4400" spc="-20" dirty="0">
                <a:solidFill>
                  <a:srgbClr val="A6A6A6"/>
                </a:solidFill>
                <a:latin typeface="Arial Black"/>
                <a:cs typeface="Arial Black"/>
              </a:rPr>
              <a:t>U</a:t>
            </a:r>
            <a:r>
              <a:rPr sz="4400" spc="-30" dirty="0">
                <a:solidFill>
                  <a:srgbClr val="A6A6A6"/>
                </a:solidFill>
                <a:latin typeface="Arial Black"/>
                <a:cs typeface="Arial Black"/>
              </a:rPr>
              <a:t>C</a:t>
            </a:r>
            <a:r>
              <a:rPr sz="4400" spc="15" dirty="0">
                <a:solidFill>
                  <a:srgbClr val="A6A6A6"/>
                </a:solidFill>
                <a:latin typeface="Arial Black"/>
                <a:cs typeface="Arial Black"/>
              </a:rPr>
              <a:t>T</a:t>
            </a:r>
            <a:r>
              <a:rPr sz="4400" spc="30" dirty="0">
                <a:solidFill>
                  <a:srgbClr val="A6A6A6"/>
                </a:solidFill>
                <a:latin typeface="Arial Black"/>
                <a:cs typeface="Arial Black"/>
              </a:rPr>
              <a:t>I</a:t>
            </a:r>
            <a:r>
              <a:rPr sz="4400" spc="-30" dirty="0">
                <a:solidFill>
                  <a:srgbClr val="A6A6A6"/>
                </a:solidFill>
                <a:latin typeface="Arial Black"/>
                <a:cs typeface="Arial Black"/>
              </a:rPr>
              <a:t>V</a:t>
            </a:r>
            <a:r>
              <a:rPr sz="4400" dirty="0">
                <a:solidFill>
                  <a:srgbClr val="A6A6A6"/>
                </a:solidFill>
                <a:latin typeface="Arial Black"/>
                <a:cs typeface="Arial Black"/>
              </a:rPr>
              <a:t>E  </a:t>
            </a:r>
            <a:r>
              <a:rPr sz="4400" dirty="0">
                <a:solidFill>
                  <a:srgbClr val="681317"/>
                </a:solidFill>
                <a:latin typeface="Arial Black"/>
                <a:cs typeface="Arial Black"/>
              </a:rPr>
              <a:t>CO</a:t>
            </a:r>
            <a:r>
              <a:rPr sz="4400" dirty="0">
                <a:solidFill>
                  <a:srgbClr val="A6A6A6"/>
                </a:solidFill>
                <a:latin typeface="Arial Black"/>
                <a:cs typeface="Arial Black"/>
              </a:rPr>
              <a:t>ST</a:t>
            </a:r>
            <a:endParaRPr sz="4400">
              <a:latin typeface="Arial Black"/>
              <a:cs typeface="Arial Black"/>
            </a:endParaRPr>
          </a:p>
          <a:p>
            <a:pPr marL="1842770">
              <a:lnSpc>
                <a:spcPts val="5030"/>
              </a:lnSpc>
            </a:pPr>
            <a:r>
              <a:rPr sz="4400" spc="-5" dirty="0">
                <a:solidFill>
                  <a:srgbClr val="681317"/>
                </a:solidFill>
                <a:latin typeface="Arial Black"/>
                <a:cs typeface="Arial Black"/>
              </a:rPr>
              <a:t>MO</a:t>
            </a:r>
            <a:r>
              <a:rPr sz="4400" spc="-5" dirty="0">
                <a:solidFill>
                  <a:srgbClr val="A6A6A6"/>
                </a:solidFill>
                <a:latin typeface="Arial Black"/>
                <a:cs typeface="Arial Black"/>
              </a:rPr>
              <a:t>DEL</a:t>
            </a:r>
            <a:endParaRPr sz="4400">
              <a:latin typeface="Arial Black"/>
              <a:cs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6346065" cy="492443"/>
          </a:xfrm>
        </p:spPr>
        <p:txBody>
          <a:bodyPr/>
          <a:lstStyle/>
          <a:p>
            <a:r>
              <a:rPr lang="en-US" sz="3200" b="1" dirty="0" smtClean="0"/>
              <a:t>The function point approach</a:t>
            </a:r>
            <a:endParaRPr lang="en-US" sz="3200" b="1" dirty="0"/>
          </a:p>
        </p:txBody>
      </p:sp>
      <p:sp>
        <p:nvSpPr>
          <p:cNvPr id="3" name="Content Placeholder 2"/>
          <p:cNvSpPr>
            <a:spLocks noGrp="1"/>
          </p:cNvSpPr>
          <p:nvPr>
            <p:ph idx="1"/>
          </p:nvPr>
        </p:nvSpPr>
        <p:spPr>
          <a:xfrm>
            <a:off x="381000" y="1752600"/>
            <a:ext cx="5549721" cy="3810000"/>
          </a:xfrm>
        </p:spPr>
        <p:txBody>
          <a:bodyPr>
            <a:noAutofit/>
          </a:bodyPr>
          <a:lstStyle/>
          <a:p>
            <a:pPr marL="342900" indent="-342900">
              <a:buFont typeface="Arial" panose="020B0604020202020204" pitchFamily="34" charset="0"/>
              <a:buChar char="•"/>
            </a:pPr>
            <a:r>
              <a:rPr lang="en-US" sz="2800" dirty="0"/>
              <a:t>Used to</a:t>
            </a:r>
          </a:p>
          <a:p>
            <a:pPr marL="742950" lvl="1" indent="-285750">
              <a:buFont typeface="Arial" panose="020B0604020202020204" pitchFamily="34" charset="0"/>
              <a:buChar char="•"/>
            </a:pPr>
            <a:r>
              <a:rPr lang="en-US" sz="2400" dirty="0"/>
              <a:t>Estimate </a:t>
            </a:r>
            <a:r>
              <a:rPr lang="en-US" sz="2400" dirty="0"/>
              <a:t>the size of the </a:t>
            </a:r>
            <a:r>
              <a:rPr lang="en-US" sz="2400" dirty="0"/>
              <a:t>new system</a:t>
            </a:r>
          </a:p>
          <a:p>
            <a:pPr marL="742950" lvl="1" indent="-285750">
              <a:buFont typeface="Arial" panose="020B0604020202020204" pitchFamily="34" charset="0"/>
              <a:buChar char="•"/>
            </a:pPr>
            <a:r>
              <a:rPr lang="en-US" sz="2400" dirty="0"/>
              <a:t>The </a:t>
            </a:r>
            <a:r>
              <a:rPr lang="en-US" sz="2400" dirty="0"/>
              <a:t>effort that will be required to complete </a:t>
            </a:r>
            <a:r>
              <a:rPr lang="en-US" sz="2400" dirty="0"/>
              <a:t>the system</a:t>
            </a:r>
          </a:p>
          <a:p>
            <a:pPr marL="742950" lvl="1" indent="-285750">
              <a:buFont typeface="Arial" panose="020B0604020202020204" pitchFamily="34" charset="0"/>
              <a:buChar char="•"/>
            </a:pPr>
            <a:r>
              <a:rPr lang="en-US" sz="2400" dirty="0"/>
              <a:t>The </a:t>
            </a:r>
            <a:r>
              <a:rPr lang="en-US" sz="2400" dirty="0"/>
              <a:t>time the project will </a:t>
            </a:r>
            <a:r>
              <a:rPr lang="en-US" sz="2400" dirty="0"/>
              <a:t>require</a:t>
            </a:r>
          </a:p>
          <a:p>
            <a:pPr marL="342900" indent="-342900">
              <a:buFont typeface="Arial" panose="020B0604020202020204" pitchFamily="34" charset="0"/>
              <a:buChar char="•"/>
            </a:pPr>
            <a:r>
              <a:rPr lang="en-US" sz="2800" dirty="0"/>
              <a:t>It is a three-step process.</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0" y="1281988"/>
            <a:ext cx="3131489" cy="4751223"/>
          </a:xfrm>
          <a:prstGeom prst="rect">
            <a:avLst/>
          </a:prstGeom>
        </p:spPr>
      </p:pic>
    </p:spTree>
    <p:extLst>
      <p:ext uri="{BB962C8B-B14F-4D97-AF65-F5344CB8AC3E}">
        <p14:creationId xmlns:p14="http://schemas.microsoft.com/office/powerpoint/2010/main" val="3016731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514035" cy="430887"/>
          </a:xfrm>
        </p:spPr>
        <p:txBody>
          <a:bodyPr/>
          <a:lstStyle/>
          <a:p>
            <a:r>
              <a:rPr lang="en-US" sz="2800" b="1" dirty="0"/>
              <a:t>Step 1: Estimate System Size</a:t>
            </a:r>
            <a:endParaRPr lang="en-US" sz="2800" dirty="0"/>
          </a:p>
        </p:txBody>
      </p:sp>
      <p:sp>
        <p:nvSpPr>
          <p:cNvPr id="3" name="Content Placeholder 2"/>
          <p:cNvSpPr>
            <a:spLocks noGrp="1"/>
          </p:cNvSpPr>
          <p:nvPr>
            <p:ph idx="1"/>
          </p:nvPr>
        </p:nvSpPr>
        <p:spPr>
          <a:xfrm>
            <a:off x="152400" y="1219200"/>
            <a:ext cx="8610600" cy="5334000"/>
          </a:xfrm>
        </p:spPr>
        <p:txBody>
          <a:bodyPr>
            <a:noAutofit/>
          </a:bodyPr>
          <a:lstStyle/>
          <a:p>
            <a:pPr marL="342900" indent="-342900" algn="just">
              <a:buFont typeface="Arial" panose="020B0604020202020204" pitchFamily="34" charset="0"/>
              <a:buChar char="•"/>
            </a:pPr>
            <a:r>
              <a:rPr lang="en-US" sz="2400" dirty="0" smtClean="0"/>
              <a:t>A function point is a measure of program size that is based on the system’s number and complexity of inputs, outputs, queries, files, and program interfaces</a:t>
            </a:r>
            <a:r>
              <a:rPr lang="en-US" sz="2400" dirty="0" smtClean="0"/>
              <a:t>.</a:t>
            </a:r>
          </a:p>
          <a:p>
            <a:pPr marL="342900" indent="-342900" algn="just">
              <a:buFont typeface="Arial" panose="020B0604020202020204" pitchFamily="34" charset="0"/>
              <a:buChar char="•"/>
            </a:pPr>
            <a:endParaRPr lang="en-US" sz="2400" dirty="0" smtClean="0"/>
          </a:p>
          <a:p>
            <a:pPr marL="342900" indent="-342900" algn="just">
              <a:buFont typeface="Arial" panose="020B0604020202020204" pitchFamily="34" charset="0"/>
              <a:buChar char="•"/>
            </a:pPr>
            <a:r>
              <a:rPr lang="en-US" sz="2400" dirty="0" smtClean="0"/>
              <a:t>The project manager records the total number of each component that the system will include, and then breaks down the number to show the number of components that have low, medium, and high complexity</a:t>
            </a:r>
            <a:r>
              <a:rPr lang="en-US" sz="2400" dirty="0" smtClean="0"/>
              <a:t>.</a:t>
            </a:r>
          </a:p>
          <a:p>
            <a:pPr marL="342900" indent="-342900" algn="just">
              <a:buFont typeface="Arial" panose="020B0604020202020204" pitchFamily="34" charset="0"/>
              <a:buChar char="•"/>
            </a:pPr>
            <a:endParaRPr lang="en-US" sz="2400" dirty="0" smtClean="0"/>
          </a:p>
          <a:p>
            <a:pPr marL="342900" indent="-342900" algn="just">
              <a:buFont typeface="Arial" panose="020B0604020202020204" pitchFamily="34" charset="0"/>
              <a:buChar char="•"/>
            </a:pPr>
            <a:r>
              <a:rPr lang="en-US" sz="2400" dirty="0"/>
              <a:t>To create </a:t>
            </a:r>
            <a:r>
              <a:rPr lang="en-US" sz="2400" dirty="0" smtClean="0"/>
              <a:t>a more </a:t>
            </a:r>
            <a:r>
              <a:rPr lang="en-US" sz="2400" dirty="0"/>
              <a:t>realistic size for the project, a number of </a:t>
            </a:r>
            <a:r>
              <a:rPr lang="en-US" sz="2400" dirty="0" smtClean="0"/>
              <a:t>additional system </a:t>
            </a:r>
            <a:r>
              <a:rPr lang="en-US" sz="2400" dirty="0"/>
              <a:t>factors such as end-user efficiency, reusability, </a:t>
            </a:r>
            <a:r>
              <a:rPr lang="en-US" sz="2400" dirty="0" smtClean="0"/>
              <a:t>and data </a:t>
            </a:r>
            <a:r>
              <a:rPr lang="en-US" sz="2400" dirty="0"/>
              <a:t>communications are assessed in terms of their </a:t>
            </a:r>
            <a:r>
              <a:rPr lang="en-US" sz="2400" dirty="0" smtClean="0"/>
              <a:t>effect on </a:t>
            </a:r>
            <a:r>
              <a:rPr lang="en-US" sz="2400" dirty="0"/>
              <a:t>the project’s complexity</a:t>
            </a:r>
            <a:r>
              <a:rPr lang="en-US" sz="2400" dirty="0" smtClean="0"/>
              <a:t>.</a:t>
            </a:r>
          </a:p>
        </p:txBody>
      </p:sp>
    </p:spTree>
    <p:extLst>
      <p:ext uri="{BB962C8B-B14F-4D97-AF65-F5344CB8AC3E}">
        <p14:creationId xmlns:p14="http://schemas.microsoft.com/office/powerpoint/2010/main" val="475221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29" y="1272593"/>
            <a:ext cx="8815970" cy="4457700"/>
          </a:xfrm>
          <a:prstGeom prst="rect">
            <a:avLst/>
          </a:prstGeom>
        </p:spPr>
      </p:pic>
    </p:spTree>
    <p:extLst>
      <p:ext uri="{BB962C8B-B14F-4D97-AF65-F5344CB8AC3E}">
        <p14:creationId xmlns:p14="http://schemas.microsoft.com/office/powerpoint/2010/main" val="14412920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r="33717" b="3674"/>
          <a:stretch/>
        </p:blipFill>
        <p:spPr>
          <a:xfrm>
            <a:off x="0" y="457200"/>
            <a:ext cx="3962400" cy="6021225"/>
          </a:xfrm>
          <a:prstGeom prst="rect">
            <a:avLst/>
          </a:prstGeom>
        </p:spPr>
      </p:pic>
      <p:sp>
        <p:nvSpPr>
          <p:cNvPr id="5" name="Rectangle 4"/>
          <p:cNvSpPr/>
          <p:nvPr/>
        </p:nvSpPr>
        <p:spPr>
          <a:xfrm>
            <a:off x="4267200" y="992713"/>
            <a:ext cx="4686300" cy="4455066"/>
          </a:xfrm>
          <a:prstGeom prst="rect">
            <a:avLst/>
          </a:prstGeom>
        </p:spPr>
        <p:txBody>
          <a:bodyPr wrap="square">
            <a:spAutoFit/>
          </a:bodyPr>
          <a:lstStyle/>
          <a:p>
            <a:endParaRPr lang="en-US" sz="1350" dirty="0">
              <a:solidFill>
                <a:srgbClr val="231F20"/>
              </a:solidFill>
              <a:latin typeface="Helvetica" panose="020B0604020202020204" pitchFamily="34" charset="0"/>
            </a:endParaRPr>
          </a:p>
          <a:p>
            <a:r>
              <a:rPr lang="en-US" sz="1350" dirty="0">
                <a:solidFill>
                  <a:srgbClr val="231F20"/>
                </a:solidFill>
                <a:latin typeface="Helvetica" panose="020B0604020202020204" pitchFamily="34" charset="0"/>
              </a:rPr>
              <a:t>(0 = no effect on processing complexity; 3 = great effect on processing complexity)</a:t>
            </a:r>
          </a:p>
          <a:p>
            <a:endParaRPr lang="en-US" sz="1350" dirty="0">
              <a:solidFill>
                <a:srgbClr val="231F20"/>
              </a:solidFill>
              <a:latin typeface="Helvetica" panose="020B0604020202020204" pitchFamily="34" charset="0"/>
            </a:endParaRPr>
          </a:p>
          <a:p>
            <a:endParaRPr lang="en-US" sz="1350" dirty="0">
              <a:solidFill>
                <a:srgbClr val="231F20"/>
              </a:solidFill>
              <a:latin typeface="Helvetica" panose="020B0604020202020204" pitchFamily="34" charset="0"/>
            </a:endParaRPr>
          </a:p>
          <a:p>
            <a:endParaRPr lang="en-US" sz="1350" dirty="0">
              <a:solidFill>
                <a:srgbClr val="231F20"/>
              </a:solidFill>
              <a:latin typeface="Helvetica" panose="020B0604020202020204" pitchFamily="34" charset="0"/>
            </a:endParaRPr>
          </a:p>
          <a:p>
            <a:r>
              <a:rPr lang="en-US" sz="2100" dirty="0"/>
              <a:t>APC factor has a baseline value of 0.65</a:t>
            </a:r>
            <a:endParaRPr lang="en-US" sz="2100" dirty="0">
              <a:solidFill>
                <a:srgbClr val="231F20"/>
              </a:solidFill>
              <a:latin typeface="Helvetica" panose="020B0604020202020204" pitchFamily="34" charset="0"/>
            </a:endParaRPr>
          </a:p>
          <a:p>
            <a:endParaRPr lang="en-US" sz="1350" dirty="0">
              <a:solidFill>
                <a:srgbClr val="231F20"/>
              </a:solidFill>
              <a:latin typeface="Helvetica" panose="020B0604020202020204" pitchFamily="34" charset="0"/>
            </a:endParaRPr>
          </a:p>
          <a:p>
            <a:r>
              <a:rPr lang="en-US" sz="2100" b="1" dirty="0"/>
              <a:t>Adjusted Project Complexity (APC):</a:t>
            </a:r>
          </a:p>
          <a:p>
            <a:r>
              <a:rPr lang="en-US" sz="2100" dirty="0"/>
              <a:t>.65 + (0.01 x 7 ) = </a:t>
            </a:r>
            <a:r>
              <a:rPr lang="en-US" sz="2100" b="1" dirty="0"/>
              <a:t>.72</a:t>
            </a:r>
          </a:p>
          <a:p>
            <a:endParaRPr lang="en-US" sz="2100" b="1" dirty="0"/>
          </a:p>
          <a:p>
            <a:r>
              <a:rPr lang="en-US" sz="2100" b="1" dirty="0"/>
              <a:t>Total </a:t>
            </a:r>
            <a:r>
              <a:rPr lang="en-US" sz="2100" b="1" dirty="0"/>
              <a:t>Adjusted Function Points (TAFP):</a:t>
            </a:r>
          </a:p>
          <a:p>
            <a:r>
              <a:rPr lang="en-US" sz="2100" b="1" dirty="0"/>
              <a:t>.72 </a:t>
            </a:r>
            <a:r>
              <a:rPr lang="en-US" sz="2100" dirty="0"/>
              <a:t>(APC) x </a:t>
            </a:r>
            <a:r>
              <a:rPr lang="en-US" sz="2100" b="1" dirty="0"/>
              <a:t>338 </a:t>
            </a:r>
            <a:r>
              <a:rPr lang="en-US" sz="2100" dirty="0"/>
              <a:t>(TUFP) = </a:t>
            </a:r>
            <a:r>
              <a:rPr lang="en-US" sz="2100" b="1" dirty="0"/>
              <a:t>243 (TAFP</a:t>
            </a:r>
            <a:r>
              <a:rPr lang="en-US" sz="2100" b="1" dirty="0"/>
              <a:t>)</a:t>
            </a:r>
          </a:p>
          <a:p>
            <a:endParaRPr lang="en-US" sz="2100" b="1" dirty="0"/>
          </a:p>
          <a:p>
            <a:endParaRPr lang="en-US" sz="2100" dirty="0"/>
          </a:p>
          <a:p>
            <a:endParaRPr lang="en-US" sz="2100" dirty="0"/>
          </a:p>
        </p:txBody>
      </p:sp>
    </p:spTree>
    <p:extLst>
      <p:ext uri="{BB962C8B-B14F-4D97-AF65-F5344CB8AC3E}">
        <p14:creationId xmlns:p14="http://schemas.microsoft.com/office/powerpoint/2010/main" val="39040900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514035" cy="430887"/>
          </a:xfrm>
        </p:spPr>
        <p:txBody>
          <a:bodyPr/>
          <a:lstStyle/>
          <a:p>
            <a:r>
              <a:rPr lang="en-US" sz="2800" b="1" dirty="0"/>
              <a:t>Adjusted Project Complexity</a:t>
            </a:r>
            <a:endParaRPr lang="en-US" sz="2800" dirty="0"/>
          </a:p>
        </p:txBody>
      </p:sp>
      <p:sp>
        <p:nvSpPr>
          <p:cNvPr id="3" name="Content Placeholder 2"/>
          <p:cNvSpPr>
            <a:spLocks noGrp="1"/>
          </p:cNvSpPr>
          <p:nvPr>
            <p:ph idx="1"/>
          </p:nvPr>
        </p:nvSpPr>
        <p:spPr>
          <a:xfrm>
            <a:off x="381001" y="1524000"/>
            <a:ext cx="8246268" cy="4269078"/>
          </a:xfrm>
        </p:spPr>
        <p:txBody>
          <a:bodyPr>
            <a:normAutofit/>
          </a:bodyPr>
          <a:lstStyle/>
          <a:p>
            <a:pPr marL="342900" indent="-342900">
              <a:buFont typeface="Arial" panose="020B0604020202020204" pitchFamily="34" charset="0"/>
              <a:buChar char="•"/>
            </a:pPr>
            <a:r>
              <a:rPr lang="en-US" sz="2400" dirty="0"/>
              <a:t>APC value that ranges from 0.65 for very simple systems to 1.00 for “normal” systems to as much as 1.35 for complex systems</a:t>
            </a:r>
            <a:r>
              <a:rPr lang="en-US" sz="2400" dirty="0" smtClean="0"/>
              <a:t>.</a:t>
            </a:r>
          </a:p>
          <a:p>
            <a:pPr marL="800100" lvl="1" indent="-342900">
              <a:buFont typeface="Arial" panose="020B0604020202020204" pitchFamily="34" charset="0"/>
              <a:buChar char="•"/>
            </a:pPr>
            <a:r>
              <a:rPr lang="en-US" sz="2000" dirty="0" smtClean="0"/>
              <a:t>A very </a:t>
            </a:r>
            <a:r>
              <a:rPr lang="en-US" sz="2000" dirty="0"/>
              <a:t>simple </a:t>
            </a:r>
            <a:r>
              <a:rPr lang="en-US" sz="2000" dirty="0" smtClean="0"/>
              <a:t>system that </a:t>
            </a:r>
            <a:r>
              <a:rPr lang="en-US" sz="2000" dirty="0"/>
              <a:t>has 200 unadjusted function points would have </a:t>
            </a:r>
            <a:r>
              <a:rPr lang="en-US" sz="2000" dirty="0" smtClean="0"/>
              <a:t>a size </a:t>
            </a:r>
            <a:r>
              <a:rPr lang="en-US" sz="2000" dirty="0"/>
              <a:t>of 130 adjusted function points (</a:t>
            </a:r>
            <a:r>
              <a:rPr lang="en-US" sz="2000" dirty="0" smtClean="0"/>
              <a:t>200 * .65 = </a:t>
            </a:r>
            <a:r>
              <a:rPr lang="en-US" sz="2000" dirty="0"/>
              <a:t>130).</a:t>
            </a:r>
          </a:p>
          <a:p>
            <a:pPr marL="800100" lvl="1" indent="-342900">
              <a:buFont typeface="Arial" panose="020B0604020202020204" pitchFamily="34" charset="0"/>
              <a:buChar char="•"/>
            </a:pPr>
            <a:r>
              <a:rPr lang="en-US" sz="2000" dirty="0" smtClean="0"/>
              <a:t>If </a:t>
            </a:r>
            <a:r>
              <a:rPr lang="en-US" sz="2000" dirty="0"/>
              <a:t>the system with 200 unadjusted </a:t>
            </a:r>
            <a:r>
              <a:rPr lang="en-US" sz="2000" dirty="0" smtClean="0"/>
              <a:t>function points </a:t>
            </a:r>
            <a:r>
              <a:rPr lang="en-US" sz="2000" dirty="0"/>
              <a:t>were very complex, its function point size </a:t>
            </a:r>
            <a:r>
              <a:rPr lang="en-US" sz="2000" dirty="0" smtClean="0"/>
              <a:t>would be </a:t>
            </a:r>
            <a:r>
              <a:rPr lang="en-US" sz="2000" dirty="0"/>
              <a:t>270 (</a:t>
            </a:r>
            <a:r>
              <a:rPr lang="en-US" sz="2000" dirty="0" smtClean="0"/>
              <a:t>200 * 1.35 = 270</a:t>
            </a:r>
            <a:r>
              <a:rPr lang="en-US" sz="2000" dirty="0"/>
              <a:t>).</a:t>
            </a:r>
          </a:p>
          <a:p>
            <a:pPr marL="342900" indent="-342900">
              <a:buFont typeface="Arial" panose="020B0604020202020204" pitchFamily="34" charset="0"/>
              <a:buChar char="•"/>
            </a:pPr>
            <a:r>
              <a:rPr lang="en-US" sz="2400" dirty="0" smtClean="0"/>
              <a:t>In the planning phase, the exact nature of the system has not yet been determined, so it is impossible to know exactly how many inputs, outputs, and so forth will be in the system. It is up to the project manager to make an intelligent guess.</a:t>
            </a:r>
            <a:endParaRPr lang="en-US" sz="2400" dirty="0"/>
          </a:p>
        </p:txBody>
      </p:sp>
    </p:spTree>
    <p:extLst>
      <p:ext uri="{BB962C8B-B14F-4D97-AF65-F5344CB8AC3E}">
        <p14:creationId xmlns:p14="http://schemas.microsoft.com/office/powerpoint/2010/main" val="308097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73880"/>
            <a:ext cx="7886700" cy="553998"/>
          </a:xfrm>
        </p:spPr>
        <p:txBody>
          <a:bodyPr/>
          <a:lstStyle/>
          <a:p>
            <a:r>
              <a:rPr lang="en-US" sz="3600" dirty="0" smtClean="0"/>
              <a:t>Lines of code</a:t>
            </a:r>
            <a:endParaRPr lang="en-US" sz="3600" dirty="0"/>
          </a:p>
        </p:txBody>
      </p:sp>
      <p:sp>
        <p:nvSpPr>
          <p:cNvPr id="3" name="Content Placeholder 2"/>
          <p:cNvSpPr>
            <a:spLocks noGrp="1"/>
          </p:cNvSpPr>
          <p:nvPr>
            <p:ph idx="1"/>
          </p:nvPr>
        </p:nvSpPr>
        <p:spPr>
          <a:xfrm>
            <a:off x="313305" y="1293872"/>
            <a:ext cx="7886700" cy="1292662"/>
          </a:xfrm>
        </p:spPr>
        <p:txBody>
          <a:bodyPr/>
          <a:lstStyle/>
          <a:p>
            <a:r>
              <a:rPr lang="en-US" sz="2800" dirty="0" smtClean="0"/>
              <a:t>Convert </a:t>
            </a:r>
            <a:r>
              <a:rPr lang="en-US" sz="2800" dirty="0"/>
              <a:t>the number of </a:t>
            </a:r>
            <a:r>
              <a:rPr lang="en-US" sz="2800" dirty="0" smtClean="0"/>
              <a:t>function points </a:t>
            </a:r>
            <a:r>
              <a:rPr lang="en-US" sz="2800" dirty="0"/>
              <a:t>into the lines of code that will be required to </a:t>
            </a:r>
            <a:r>
              <a:rPr lang="en-US" sz="2800" dirty="0" smtClean="0"/>
              <a:t>build the </a:t>
            </a:r>
            <a:r>
              <a:rPr lang="en-US" sz="2800" dirty="0"/>
              <a:t>system.</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868673"/>
            <a:ext cx="6049319" cy="3132077"/>
          </a:xfrm>
          <a:prstGeom prst="rect">
            <a:avLst/>
          </a:prstGeom>
        </p:spPr>
      </p:pic>
      <p:sp>
        <p:nvSpPr>
          <p:cNvPr id="5" name="Rectangle 4"/>
          <p:cNvSpPr/>
          <p:nvPr/>
        </p:nvSpPr>
        <p:spPr>
          <a:xfrm>
            <a:off x="6049320" y="3118967"/>
            <a:ext cx="2997557" cy="1815882"/>
          </a:xfrm>
          <a:prstGeom prst="rect">
            <a:avLst/>
          </a:prstGeom>
        </p:spPr>
        <p:txBody>
          <a:bodyPr wrap="square">
            <a:spAutoFit/>
          </a:bodyPr>
          <a:lstStyle/>
          <a:p>
            <a:r>
              <a:rPr lang="en-US" sz="1600" dirty="0">
                <a:solidFill>
                  <a:srgbClr val="231F20"/>
                </a:solidFill>
                <a:latin typeface="TimesNewRomanPS"/>
              </a:rPr>
              <a:t>243 function points.</a:t>
            </a:r>
          </a:p>
          <a:p>
            <a:endParaRPr lang="en-US" sz="1600" dirty="0">
              <a:solidFill>
                <a:srgbClr val="231F20"/>
              </a:solidFill>
              <a:latin typeface="TimesNewRomanPS"/>
            </a:endParaRPr>
          </a:p>
          <a:p>
            <a:r>
              <a:rPr lang="en-US" sz="1600" dirty="0">
                <a:solidFill>
                  <a:srgbClr val="231F20"/>
                </a:solidFill>
                <a:latin typeface="TimesNewRomanPS"/>
              </a:rPr>
              <a:t>COBOL require approximately</a:t>
            </a:r>
          </a:p>
          <a:p>
            <a:r>
              <a:rPr lang="en-US" sz="1600" dirty="0">
                <a:solidFill>
                  <a:srgbClr val="231F20"/>
                </a:solidFill>
                <a:latin typeface="TimesNewRomanPS"/>
              </a:rPr>
              <a:t>26,730 lines of code to write it.</a:t>
            </a:r>
          </a:p>
          <a:p>
            <a:endParaRPr lang="en-US" sz="1600" dirty="0">
              <a:solidFill>
                <a:srgbClr val="231F20"/>
              </a:solidFill>
              <a:latin typeface="TimesNewRomanPS"/>
            </a:endParaRPr>
          </a:p>
          <a:p>
            <a:r>
              <a:rPr lang="en-US" sz="1600" dirty="0">
                <a:solidFill>
                  <a:srgbClr val="231F20"/>
                </a:solidFill>
                <a:latin typeface="TimesNewRomanPS"/>
              </a:rPr>
              <a:t>Visual </a:t>
            </a:r>
            <a:r>
              <a:rPr lang="en-US" sz="1600" dirty="0">
                <a:solidFill>
                  <a:srgbClr val="231F20"/>
                </a:solidFill>
                <a:latin typeface="TimesNewRomanPS"/>
              </a:rPr>
              <a:t>Basic take </a:t>
            </a:r>
            <a:r>
              <a:rPr lang="en-US" sz="1600" dirty="0">
                <a:solidFill>
                  <a:srgbClr val="231F20"/>
                </a:solidFill>
                <a:latin typeface="TimesNewRomanPS"/>
              </a:rPr>
              <a:t>7290 lines </a:t>
            </a:r>
            <a:r>
              <a:rPr lang="en-US" sz="1600" dirty="0">
                <a:solidFill>
                  <a:srgbClr val="231F20"/>
                </a:solidFill>
                <a:latin typeface="TimesNewRomanPS"/>
              </a:rPr>
              <a:t>of code.</a:t>
            </a:r>
            <a:endParaRPr lang="en-US" sz="1600" dirty="0">
              <a:solidFill>
                <a:srgbClr val="231F20"/>
              </a:solidFill>
              <a:latin typeface="TimesNewRomanPS"/>
            </a:endParaRPr>
          </a:p>
        </p:txBody>
      </p:sp>
    </p:spTree>
    <p:extLst>
      <p:ext uri="{BB962C8B-B14F-4D97-AF65-F5344CB8AC3E}">
        <p14:creationId xmlns:p14="http://schemas.microsoft.com/office/powerpoint/2010/main" val="376702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716" y="2014790"/>
            <a:ext cx="8229283" cy="553998"/>
          </a:xfrm>
        </p:spPr>
        <p:txBody>
          <a:bodyPr/>
          <a:lstStyle/>
          <a:p>
            <a:r>
              <a:rPr lang="en-US" sz="3600" dirty="0" smtClean="0"/>
              <a:t>Estimating Staff and Project size</a:t>
            </a:r>
            <a:endParaRPr lang="en-US" sz="3600" dirty="0"/>
          </a:p>
        </p:txBody>
      </p:sp>
    </p:spTree>
    <p:extLst>
      <p:ext uri="{BB962C8B-B14F-4D97-AF65-F5344CB8AC3E}">
        <p14:creationId xmlns:p14="http://schemas.microsoft.com/office/powerpoint/2010/main" val="3014086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717" y="1099502"/>
            <a:ext cx="8086725" cy="805815"/>
          </a:xfrm>
          <a:prstGeom prst="rect">
            <a:avLst/>
          </a:prstGeom>
        </p:spPr>
        <p:txBody>
          <a:bodyPr vert="horz" wrap="square" lIns="0" tIns="19050" rIns="0" bIns="0" rtlCol="0">
            <a:spAutoFit/>
          </a:bodyPr>
          <a:lstStyle/>
          <a:p>
            <a:pPr marL="12700" marR="5080" algn="just">
              <a:lnSpc>
                <a:spcPct val="97700"/>
              </a:lnSpc>
              <a:spcBef>
                <a:spcPts val="150"/>
              </a:spcBef>
            </a:pPr>
            <a:r>
              <a:rPr sz="1700" b="1" dirty="0">
                <a:solidFill>
                  <a:srgbClr val="FF0000"/>
                </a:solidFill>
                <a:latin typeface="Arial"/>
                <a:cs typeface="Arial"/>
              </a:rPr>
              <a:t>COCOMO </a:t>
            </a:r>
            <a:r>
              <a:rPr sz="1700" b="1" dirty="0">
                <a:latin typeface="Arial"/>
                <a:cs typeface="Arial"/>
              </a:rPr>
              <a:t>( </a:t>
            </a:r>
            <a:r>
              <a:rPr sz="1700" b="1" spc="-10" dirty="0">
                <a:latin typeface="Arial"/>
                <a:cs typeface="Arial"/>
              </a:rPr>
              <a:t>Constructive </a:t>
            </a:r>
            <a:r>
              <a:rPr sz="1700" b="1" spc="5" dirty="0">
                <a:latin typeface="Arial"/>
                <a:cs typeface="Arial"/>
              </a:rPr>
              <a:t>Cost Model </a:t>
            </a:r>
            <a:r>
              <a:rPr sz="1700" b="1" dirty="0">
                <a:latin typeface="Arial"/>
                <a:cs typeface="Arial"/>
              </a:rPr>
              <a:t>) </a:t>
            </a:r>
            <a:r>
              <a:rPr sz="1700" b="1" spc="-25" dirty="0">
                <a:latin typeface="Arial"/>
                <a:cs typeface="Arial"/>
              </a:rPr>
              <a:t>was </a:t>
            </a:r>
            <a:r>
              <a:rPr sz="1700" b="1" spc="5" dirty="0">
                <a:latin typeface="Arial"/>
                <a:cs typeface="Arial"/>
              </a:rPr>
              <a:t>proposed </a:t>
            </a:r>
            <a:r>
              <a:rPr sz="1700" b="1" spc="-25" dirty="0">
                <a:latin typeface="Arial"/>
                <a:cs typeface="Arial"/>
              </a:rPr>
              <a:t>by </a:t>
            </a:r>
            <a:r>
              <a:rPr sz="1700" b="1" spc="-5" dirty="0">
                <a:latin typeface="Arial"/>
                <a:cs typeface="Arial"/>
              </a:rPr>
              <a:t>Boehm. </a:t>
            </a:r>
            <a:r>
              <a:rPr sz="1700" b="1" spc="-15" dirty="0">
                <a:latin typeface="Arial"/>
                <a:cs typeface="Arial"/>
              </a:rPr>
              <a:t>This </a:t>
            </a:r>
            <a:r>
              <a:rPr sz="1700" b="1" spc="5" dirty="0">
                <a:latin typeface="Arial"/>
                <a:cs typeface="Arial"/>
              </a:rPr>
              <a:t>model  </a:t>
            </a:r>
            <a:r>
              <a:rPr sz="1700" b="1" spc="-5" dirty="0">
                <a:latin typeface="Arial"/>
                <a:cs typeface="Arial"/>
              </a:rPr>
              <a:t>estimates </a:t>
            </a:r>
            <a:r>
              <a:rPr sz="1700" b="1" spc="-25" dirty="0">
                <a:latin typeface="Arial"/>
                <a:cs typeface="Arial"/>
              </a:rPr>
              <a:t>the </a:t>
            </a:r>
            <a:r>
              <a:rPr sz="1700" b="1" u="heavy" spc="-10" dirty="0">
                <a:uFill>
                  <a:solidFill>
                    <a:srgbClr val="000000"/>
                  </a:solidFill>
                </a:uFill>
                <a:latin typeface="Arial"/>
                <a:cs typeface="Arial"/>
              </a:rPr>
              <a:t>total</a:t>
            </a:r>
            <a:r>
              <a:rPr sz="1700" b="1" spc="-10" dirty="0">
                <a:latin typeface="Arial"/>
                <a:cs typeface="Arial"/>
              </a:rPr>
              <a:t> </a:t>
            </a:r>
            <a:r>
              <a:rPr sz="1800" b="1" i="1" u="heavy" dirty="0">
                <a:solidFill>
                  <a:srgbClr val="3C5185"/>
                </a:solidFill>
                <a:uFill>
                  <a:solidFill>
                    <a:srgbClr val="3C5185"/>
                  </a:solidFill>
                </a:uFill>
                <a:latin typeface="Arial"/>
                <a:cs typeface="Arial"/>
              </a:rPr>
              <a:t>effort</a:t>
            </a:r>
            <a:r>
              <a:rPr sz="1800" b="1" i="1" dirty="0">
                <a:solidFill>
                  <a:srgbClr val="3C5185"/>
                </a:solidFill>
                <a:latin typeface="Arial"/>
                <a:cs typeface="Arial"/>
              </a:rPr>
              <a:t> </a:t>
            </a:r>
            <a:r>
              <a:rPr sz="1700" b="1" u="heavy" spc="-15" dirty="0">
                <a:uFill>
                  <a:solidFill>
                    <a:srgbClr val="000000"/>
                  </a:solidFill>
                </a:uFill>
                <a:latin typeface="Arial"/>
                <a:cs typeface="Arial"/>
              </a:rPr>
              <a:t>in </a:t>
            </a:r>
            <a:r>
              <a:rPr sz="1700" b="1" u="heavy" spc="10" dirty="0">
                <a:uFill>
                  <a:solidFill>
                    <a:srgbClr val="000000"/>
                  </a:solidFill>
                </a:uFill>
                <a:latin typeface="Arial"/>
                <a:cs typeface="Arial"/>
              </a:rPr>
              <a:t>terms </a:t>
            </a:r>
            <a:r>
              <a:rPr sz="1700" b="1" u="heavy" dirty="0">
                <a:uFill>
                  <a:solidFill>
                    <a:srgbClr val="000000"/>
                  </a:solidFill>
                </a:uFill>
                <a:latin typeface="Arial"/>
                <a:cs typeface="Arial"/>
              </a:rPr>
              <a:t>of</a:t>
            </a:r>
            <a:r>
              <a:rPr sz="1700" b="1" dirty="0">
                <a:latin typeface="Arial"/>
                <a:cs typeface="Arial"/>
              </a:rPr>
              <a:t> </a:t>
            </a:r>
            <a:r>
              <a:rPr sz="1700" b="1" u="heavy" spc="-10" dirty="0">
                <a:uFill>
                  <a:solidFill>
                    <a:srgbClr val="000000"/>
                  </a:solidFill>
                </a:uFill>
                <a:latin typeface="Arial"/>
                <a:cs typeface="Arial"/>
              </a:rPr>
              <a:t>“person-months”</a:t>
            </a:r>
            <a:r>
              <a:rPr sz="1700" b="1" spc="-10" dirty="0">
                <a:latin typeface="Arial"/>
                <a:cs typeface="Arial"/>
              </a:rPr>
              <a:t> </a:t>
            </a:r>
            <a:r>
              <a:rPr sz="1700" b="1" dirty="0">
                <a:latin typeface="Arial"/>
                <a:cs typeface="Arial"/>
              </a:rPr>
              <a:t>of </a:t>
            </a:r>
            <a:r>
              <a:rPr sz="1700" b="1" spc="-25" dirty="0">
                <a:latin typeface="Arial"/>
                <a:cs typeface="Arial"/>
              </a:rPr>
              <a:t>the </a:t>
            </a:r>
            <a:r>
              <a:rPr sz="1700" b="1" spc="-5" dirty="0">
                <a:latin typeface="Arial"/>
                <a:cs typeface="Arial"/>
              </a:rPr>
              <a:t>technical </a:t>
            </a:r>
            <a:r>
              <a:rPr sz="1700" b="1" spc="10" dirty="0">
                <a:latin typeface="Arial"/>
                <a:cs typeface="Arial"/>
              </a:rPr>
              <a:t>project  </a:t>
            </a:r>
            <a:r>
              <a:rPr sz="1700" b="1" spc="-10" dirty="0">
                <a:latin typeface="Arial"/>
                <a:cs typeface="Arial"/>
              </a:rPr>
              <a:t>staff.</a:t>
            </a:r>
            <a:endParaRPr sz="1700">
              <a:latin typeface="Arial"/>
              <a:cs typeface="Arial"/>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15" dirty="0"/>
              <a:t>Boehm </a:t>
            </a:r>
            <a:r>
              <a:rPr spc="-5" dirty="0"/>
              <a:t>introduces </a:t>
            </a:r>
            <a:r>
              <a:rPr spc="5" dirty="0"/>
              <a:t>three </a:t>
            </a:r>
            <a:r>
              <a:rPr spc="10" dirty="0"/>
              <a:t>forms </a:t>
            </a:r>
            <a:r>
              <a:rPr dirty="0"/>
              <a:t>of </a:t>
            </a:r>
            <a:r>
              <a:rPr spc="5" dirty="0"/>
              <a:t>COCOMO. </a:t>
            </a:r>
            <a:r>
              <a:rPr spc="-15" dirty="0"/>
              <a:t>It </a:t>
            </a:r>
            <a:r>
              <a:rPr dirty="0"/>
              <a:t>can be </a:t>
            </a:r>
            <a:r>
              <a:rPr spc="-5" dirty="0"/>
              <a:t>applied </a:t>
            </a:r>
            <a:r>
              <a:rPr spc="10" dirty="0"/>
              <a:t>in </a:t>
            </a:r>
            <a:r>
              <a:rPr sz="2000" dirty="0">
                <a:solidFill>
                  <a:srgbClr val="00AF50"/>
                </a:solidFill>
              </a:rPr>
              <a:t>three  </a:t>
            </a:r>
            <a:r>
              <a:rPr sz="2000" spc="-5" dirty="0">
                <a:solidFill>
                  <a:srgbClr val="00AF50"/>
                </a:solidFill>
              </a:rPr>
              <a:t>classes </a:t>
            </a:r>
            <a:r>
              <a:rPr sz="2000" spc="-15" dirty="0">
                <a:solidFill>
                  <a:srgbClr val="00AF50"/>
                </a:solidFill>
              </a:rPr>
              <a:t>of </a:t>
            </a:r>
            <a:r>
              <a:rPr sz="2000" spc="-5" dirty="0">
                <a:solidFill>
                  <a:srgbClr val="00AF50"/>
                </a:solidFill>
              </a:rPr>
              <a:t>software</a:t>
            </a:r>
            <a:r>
              <a:rPr sz="2000" spc="45" dirty="0">
                <a:solidFill>
                  <a:srgbClr val="00AF50"/>
                </a:solidFill>
              </a:rPr>
              <a:t> </a:t>
            </a:r>
            <a:r>
              <a:rPr sz="2000" spc="-5" dirty="0">
                <a:solidFill>
                  <a:srgbClr val="00AF50"/>
                </a:solidFill>
              </a:rPr>
              <a:t>project</a:t>
            </a:r>
            <a:r>
              <a:rPr spc="-5" dirty="0"/>
              <a:t>:</a:t>
            </a:r>
            <a:endParaRPr sz="2000"/>
          </a:p>
        </p:txBody>
      </p:sp>
      <p:sp>
        <p:nvSpPr>
          <p:cNvPr id="4" name="object 4"/>
          <p:cNvSpPr/>
          <p:nvPr/>
        </p:nvSpPr>
        <p:spPr>
          <a:xfrm>
            <a:off x="546417" y="2834703"/>
            <a:ext cx="2249805" cy="330835"/>
          </a:xfrm>
          <a:custGeom>
            <a:avLst/>
            <a:gdLst/>
            <a:ahLst/>
            <a:cxnLst/>
            <a:rect l="l" t="t" r="r" b="b"/>
            <a:pathLst>
              <a:path w="2249805" h="330835">
                <a:moveTo>
                  <a:pt x="0" y="330517"/>
                </a:moveTo>
                <a:lnTo>
                  <a:pt x="2249551" y="330517"/>
                </a:lnTo>
                <a:lnTo>
                  <a:pt x="2249551" y="0"/>
                </a:lnTo>
                <a:lnTo>
                  <a:pt x="0" y="0"/>
                </a:lnTo>
                <a:lnTo>
                  <a:pt x="0" y="330517"/>
                </a:lnTo>
                <a:close/>
              </a:path>
            </a:pathLst>
          </a:custGeom>
          <a:solidFill>
            <a:srgbClr val="C0C0C0"/>
          </a:solidFill>
        </p:spPr>
        <p:txBody>
          <a:bodyPr wrap="square" lIns="0" tIns="0" rIns="0" bIns="0" rtlCol="0"/>
          <a:lstStyle/>
          <a:p>
            <a:endParaRPr/>
          </a:p>
        </p:txBody>
      </p:sp>
      <p:sp>
        <p:nvSpPr>
          <p:cNvPr id="5" name="object 5"/>
          <p:cNvSpPr txBox="1"/>
          <p:nvPr/>
        </p:nvSpPr>
        <p:spPr>
          <a:xfrm>
            <a:off x="533717" y="2752026"/>
            <a:ext cx="8074659" cy="863600"/>
          </a:xfrm>
          <a:prstGeom prst="rect">
            <a:avLst/>
          </a:prstGeom>
        </p:spPr>
        <p:txBody>
          <a:bodyPr vert="horz" wrap="square" lIns="0" tIns="69215" rIns="0" bIns="0" rtlCol="0">
            <a:spAutoFit/>
          </a:bodyPr>
          <a:lstStyle/>
          <a:p>
            <a:pPr marL="12700" marR="5080" algn="just">
              <a:lnSpc>
                <a:spcPct val="85800"/>
              </a:lnSpc>
              <a:spcBef>
                <a:spcPts val="545"/>
              </a:spcBef>
            </a:pPr>
            <a:r>
              <a:rPr sz="2600" b="1" spc="-10" dirty="0">
                <a:solidFill>
                  <a:srgbClr val="FF0000"/>
                </a:solidFill>
                <a:latin typeface="Arial"/>
                <a:cs typeface="Arial"/>
              </a:rPr>
              <a:t>Organic </a:t>
            </a:r>
            <a:r>
              <a:rPr sz="2600" b="1" dirty="0">
                <a:solidFill>
                  <a:srgbClr val="FF0000"/>
                </a:solidFill>
                <a:latin typeface="Arial"/>
                <a:cs typeface="Arial"/>
              </a:rPr>
              <a:t>mode : </a:t>
            </a:r>
            <a:r>
              <a:rPr sz="1700" b="1" spc="-10" dirty="0">
                <a:latin typeface="Arial"/>
                <a:cs typeface="Arial"/>
              </a:rPr>
              <a:t>Relatively </a:t>
            </a:r>
            <a:r>
              <a:rPr sz="1700" b="1" spc="-5" dirty="0">
                <a:latin typeface="Arial"/>
                <a:cs typeface="Arial"/>
              </a:rPr>
              <a:t>simple </a:t>
            </a:r>
            <a:r>
              <a:rPr sz="1700" b="1" dirty="0">
                <a:latin typeface="Arial"/>
                <a:cs typeface="Arial"/>
              </a:rPr>
              <a:t>, </a:t>
            </a:r>
            <a:r>
              <a:rPr sz="1700" b="1" spc="-10" dirty="0">
                <a:latin typeface="Arial"/>
                <a:cs typeface="Arial"/>
              </a:rPr>
              <a:t>small </a:t>
            </a:r>
            <a:r>
              <a:rPr sz="1700" b="1" dirty="0">
                <a:latin typeface="Arial"/>
                <a:cs typeface="Arial"/>
              </a:rPr>
              <a:t>projects </a:t>
            </a:r>
            <a:r>
              <a:rPr sz="1700" b="1" spc="-5" dirty="0">
                <a:latin typeface="Arial"/>
                <a:cs typeface="Arial"/>
              </a:rPr>
              <a:t>with </a:t>
            </a:r>
            <a:r>
              <a:rPr sz="1700" b="1" dirty="0">
                <a:latin typeface="Arial"/>
                <a:cs typeface="Arial"/>
              </a:rPr>
              <a:t>a small </a:t>
            </a:r>
            <a:r>
              <a:rPr sz="1700" b="1" spc="-5" dirty="0">
                <a:latin typeface="Arial"/>
                <a:cs typeface="Arial"/>
              </a:rPr>
              <a:t>team  </a:t>
            </a:r>
            <a:r>
              <a:rPr sz="1700" b="1" spc="10" dirty="0">
                <a:latin typeface="Arial"/>
                <a:cs typeface="Arial"/>
              </a:rPr>
              <a:t>are </a:t>
            </a:r>
            <a:r>
              <a:rPr sz="1700" b="1" spc="-15" dirty="0">
                <a:latin typeface="Arial"/>
                <a:cs typeface="Arial"/>
              </a:rPr>
              <a:t>handled </a:t>
            </a:r>
            <a:r>
              <a:rPr sz="1700" b="1" dirty="0">
                <a:latin typeface="Arial"/>
                <a:cs typeface="Arial"/>
              </a:rPr>
              <a:t>. </a:t>
            </a:r>
            <a:r>
              <a:rPr sz="1700" b="1" spc="5" dirty="0">
                <a:latin typeface="Arial"/>
                <a:cs typeface="Arial"/>
              </a:rPr>
              <a:t>Such </a:t>
            </a:r>
            <a:r>
              <a:rPr sz="1700" b="1" dirty="0">
                <a:latin typeface="Arial"/>
                <a:cs typeface="Arial"/>
              </a:rPr>
              <a:t>a </a:t>
            </a:r>
            <a:r>
              <a:rPr sz="1700" b="1" spc="-5" dirty="0">
                <a:latin typeface="Arial"/>
                <a:cs typeface="Arial"/>
              </a:rPr>
              <a:t>team </a:t>
            </a:r>
            <a:r>
              <a:rPr sz="1700" b="1" spc="-10" dirty="0">
                <a:latin typeface="Arial"/>
                <a:cs typeface="Arial"/>
              </a:rPr>
              <a:t>should have </a:t>
            </a:r>
            <a:r>
              <a:rPr sz="1700" b="1" spc="5" dirty="0">
                <a:latin typeface="Arial"/>
                <a:cs typeface="Arial"/>
              </a:rPr>
              <a:t>good </a:t>
            </a:r>
            <a:r>
              <a:rPr sz="1700" b="1" spc="-10" dirty="0">
                <a:latin typeface="Arial"/>
                <a:cs typeface="Arial"/>
              </a:rPr>
              <a:t>application </a:t>
            </a:r>
            <a:r>
              <a:rPr sz="1700" b="1" dirty="0">
                <a:latin typeface="Arial"/>
                <a:cs typeface="Arial"/>
              </a:rPr>
              <a:t>experience </a:t>
            </a:r>
            <a:r>
              <a:rPr sz="1700" b="1" spc="-10" dirty="0">
                <a:latin typeface="Arial"/>
                <a:cs typeface="Arial"/>
              </a:rPr>
              <a:t>to </a:t>
            </a:r>
            <a:r>
              <a:rPr sz="1700" b="1" spc="-5" dirty="0">
                <a:latin typeface="Arial"/>
                <a:cs typeface="Arial"/>
              </a:rPr>
              <a:t>less  rigid</a:t>
            </a:r>
            <a:r>
              <a:rPr sz="1700" b="1" spc="-20" dirty="0">
                <a:latin typeface="Arial"/>
                <a:cs typeface="Arial"/>
              </a:rPr>
              <a:t> </a:t>
            </a:r>
            <a:r>
              <a:rPr sz="1700" b="1" dirty="0">
                <a:latin typeface="Arial"/>
                <a:cs typeface="Arial"/>
              </a:rPr>
              <a:t>requirements.</a:t>
            </a:r>
            <a:endParaRPr sz="1700">
              <a:latin typeface="Arial"/>
              <a:cs typeface="Arial"/>
            </a:endParaRPr>
          </a:p>
        </p:txBody>
      </p:sp>
      <p:sp>
        <p:nvSpPr>
          <p:cNvPr id="6" name="object 6"/>
          <p:cNvSpPr/>
          <p:nvPr/>
        </p:nvSpPr>
        <p:spPr>
          <a:xfrm>
            <a:off x="546417" y="3788092"/>
            <a:ext cx="3444240" cy="337185"/>
          </a:xfrm>
          <a:custGeom>
            <a:avLst/>
            <a:gdLst/>
            <a:ahLst/>
            <a:cxnLst/>
            <a:rect l="l" t="t" r="r" b="b"/>
            <a:pathLst>
              <a:path w="3444240" h="337185">
                <a:moveTo>
                  <a:pt x="0" y="336867"/>
                </a:moveTo>
                <a:lnTo>
                  <a:pt x="3444240" y="336867"/>
                </a:lnTo>
                <a:lnTo>
                  <a:pt x="3444240" y="0"/>
                </a:lnTo>
                <a:lnTo>
                  <a:pt x="0" y="0"/>
                </a:lnTo>
                <a:lnTo>
                  <a:pt x="0" y="336867"/>
                </a:lnTo>
                <a:close/>
              </a:path>
            </a:pathLst>
          </a:custGeom>
          <a:solidFill>
            <a:srgbClr val="C0C0C0"/>
          </a:solidFill>
        </p:spPr>
        <p:txBody>
          <a:bodyPr wrap="square" lIns="0" tIns="0" rIns="0" bIns="0" rtlCol="0"/>
          <a:lstStyle/>
          <a:p>
            <a:endParaRPr/>
          </a:p>
        </p:txBody>
      </p:sp>
      <p:sp>
        <p:nvSpPr>
          <p:cNvPr id="7" name="object 7"/>
          <p:cNvSpPr txBox="1"/>
          <p:nvPr/>
        </p:nvSpPr>
        <p:spPr>
          <a:xfrm>
            <a:off x="533717" y="3705542"/>
            <a:ext cx="3467735" cy="422275"/>
          </a:xfrm>
          <a:prstGeom prst="rect">
            <a:avLst/>
          </a:prstGeom>
        </p:spPr>
        <p:txBody>
          <a:bodyPr vert="horz" wrap="square" lIns="0" tIns="12700" rIns="0" bIns="0" rtlCol="0">
            <a:spAutoFit/>
          </a:bodyPr>
          <a:lstStyle/>
          <a:p>
            <a:pPr marL="12700">
              <a:lnSpc>
                <a:spcPct val="100000"/>
              </a:lnSpc>
              <a:spcBef>
                <a:spcPts val="100"/>
              </a:spcBef>
              <a:tabLst>
                <a:tab pos="2461895" algn="l"/>
              </a:tabLst>
            </a:pPr>
            <a:r>
              <a:rPr sz="2600" b="1" spc="10" dirty="0">
                <a:solidFill>
                  <a:srgbClr val="FF0000"/>
                </a:solidFill>
                <a:latin typeface="Arial"/>
                <a:cs typeface="Arial"/>
              </a:rPr>
              <a:t>S</a:t>
            </a:r>
            <a:r>
              <a:rPr sz="2600" b="1" dirty="0">
                <a:solidFill>
                  <a:srgbClr val="FF0000"/>
                </a:solidFill>
                <a:latin typeface="Arial"/>
                <a:cs typeface="Arial"/>
              </a:rPr>
              <a:t>e</a:t>
            </a:r>
            <a:r>
              <a:rPr sz="2600" b="1" spc="-10" dirty="0">
                <a:solidFill>
                  <a:srgbClr val="FF0000"/>
                </a:solidFill>
                <a:latin typeface="Arial"/>
                <a:cs typeface="Arial"/>
              </a:rPr>
              <a:t>m</a:t>
            </a:r>
            <a:r>
              <a:rPr sz="2600" b="1" spc="-25" dirty="0">
                <a:solidFill>
                  <a:srgbClr val="FF0000"/>
                </a:solidFill>
                <a:latin typeface="Arial"/>
                <a:cs typeface="Arial"/>
              </a:rPr>
              <a:t>i</a:t>
            </a:r>
            <a:r>
              <a:rPr sz="2600" b="1" spc="5" dirty="0">
                <a:solidFill>
                  <a:srgbClr val="FF0000"/>
                </a:solidFill>
                <a:latin typeface="Arial"/>
                <a:cs typeface="Arial"/>
              </a:rPr>
              <a:t>d</a:t>
            </a:r>
            <a:r>
              <a:rPr sz="2600" b="1" dirty="0">
                <a:solidFill>
                  <a:srgbClr val="FF0000"/>
                </a:solidFill>
                <a:latin typeface="Arial"/>
                <a:cs typeface="Arial"/>
              </a:rPr>
              <a:t>e</a:t>
            </a:r>
            <a:r>
              <a:rPr sz="2600" b="1" spc="-15" dirty="0">
                <a:solidFill>
                  <a:srgbClr val="FF0000"/>
                </a:solidFill>
                <a:latin typeface="Arial"/>
                <a:cs typeface="Arial"/>
              </a:rPr>
              <a:t>t</a:t>
            </a:r>
            <a:r>
              <a:rPr sz="2600" b="1" dirty="0">
                <a:solidFill>
                  <a:srgbClr val="FF0000"/>
                </a:solidFill>
                <a:latin typeface="Arial"/>
                <a:cs typeface="Arial"/>
              </a:rPr>
              <a:t>ac</a:t>
            </a:r>
            <a:r>
              <a:rPr sz="2600" b="1" spc="10" dirty="0">
                <a:solidFill>
                  <a:srgbClr val="FF0000"/>
                </a:solidFill>
                <a:latin typeface="Arial"/>
                <a:cs typeface="Arial"/>
              </a:rPr>
              <a:t>h</a:t>
            </a:r>
            <a:r>
              <a:rPr sz="2600" b="1" dirty="0">
                <a:solidFill>
                  <a:srgbClr val="FF0000"/>
                </a:solidFill>
                <a:latin typeface="Arial"/>
                <a:cs typeface="Arial"/>
              </a:rPr>
              <a:t>ed	</a:t>
            </a:r>
            <a:r>
              <a:rPr sz="2600" b="1" spc="-15" dirty="0">
                <a:solidFill>
                  <a:srgbClr val="FF0000"/>
                </a:solidFill>
                <a:latin typeface="Arial"/>
                <a:cs typeface="Arial"/>
              </a:rPr>
              <a:t>m</a:t>
            </a:r>
            <a:r>
              <a:rPr sz="2600" b="1" spc="5" dirty="0">
                <a:solidFill>
                  <a:srgbClr val="FF0000"/>
                </a:solidFill>
                <a:latin typeface="Arial"/>
                <a:cs typeface="Arial"/>
              </a:rPr>
              <a:t>od</a:t>
            </a:r>
            <a:r>
              <a:rPr sz="2600" b="1" dirty="0">
                <a:solidFill>
                  <a:srgbClr val="FF0000"/>
                </a:solidFill>
                <a:latin typeface="Arial"/>
                <a:cs typeface="Arial"/>
              </a:rPr>
              <a:t>e:</a:t>
            </a:r>
            <a:endParaRPr sz="2600">
              <a:latin typeface="Arial"/>
              <a:cs typeface="Arial"/>
            </a:endParaRPr>
          </a:p>
        </p:txBody>
      </p:sp>
      <p:sp>
        <p:nvSpPr>
          <p:cNvPr id="8" name="object 8"/>
          <p:cNvSpPr txBox="1"/>
          <p:nvPr/>
        </p:nvSpPr>
        <p:spPr>
          <a:xfrm>
            <a:off x="4187571" y="3819842"/>
            <a:ext cx="4416425" cy="285115"/>
          </a:xfrm>
          <a:prstGeom prst="rect">
            <a:avLst/>
          </a:prstGeom>
        </p:spPr>
        <p:txBody>
          <a:bodyPr vert="horz" wrap="square" lIns="0" tIns="12700" rIns="0" bIns="0" rtlCol="0">
            <a:spAutoFit/>
          </a:bodyPr>
          <a:lstStyle/>
          <a:p>
            <a:pPr marL="12700">
              <a:lnSpc>
                <a:spcPct val="100000"/>
              </a:lnSpc>
              <a:spcBef>
                <a:spcPts val="100"/>
              </a:spcBef>
              <a:tabLst>
                <a:tab pos="538480" algn="l"/>
                <a:tab pos="1993264" algn="l"/>
                <a:tab pos="3058795" algn="l"/>
              </a:tabLst>
            </a:pPr>
            <a:r>
              <a:rPr sz="1700" b="1" spc="-15" dirty="0">
                <a:latin typeface="Arial"/>
                <a:cs typeface="Arial"/>
              </a:rPr>
              <a:t>For	</a:t>
            </a:r>
            <a:r>
              <a:rPr sz="1700" b="1" spc="-10" dirty="0">
                <a:latin typeface="Arial"/>
                <a:cs typeface="Arial"/>
              </a:rPr>
              <a:t>intermediate	</a:t>
            </a:r>
            <a:r>
              <a:rPr sz="1700" b="1" spc="-5" dirty="0">
                <a:latin typeface="Arial"/>
                <a:cs typeface="Arial"/>
              </a:rPr>
              <a:t>software	</a:t>
            </a:r>
            <a:r>
              <a:rPr sz="1700" b="1" spc="-10" dirty="0">
                <a:latin typeface="Arial"/>
                <a:cs typeface="Arial"/>
              </a:rPr>
              <a:t>projects(little</a:t>
            </a:r>
            <a:endParaRPr sz="1700">
              <a:latin typeface="Arial"/>
              <a:cs typeface="Arial"/>
            </a:endParaRPr>
          </a:p>
        </p:txBody>
      </p:sp>
      <p:sp>
        <p:nvSpPr>
          <p:cNvPr id="9" name="object 9"/>
          <p:cNvSpPr/>
          <p:nvPr/>
        </p:nvSpPr>
        <p:spPr>
          <a:xfrm>
            <a:off x="546417" y="4747831"/>
            <a:ext cx="2738755" cy="330835"/>
          </a:xfrm>
          <a:custGeom>
            <a:avLst/>
            <a:gdLst/>
            <a:ahLst/>
            <a:cxnLst/>
            <a:rect l="l" t="t" r="r" b="b"/>
            <a:pathLst>
              <a:path w="2738754" h="330835">
                <a:moveTo>
                  <a:pt x="0" y="330517"/>
                </a:moveTo>
                <a:lnTo>
                  <a:pt x="2738755" y="330517"/>
                </a:lnTo>
                <a:lnTo>
                  <a:pt x="2738755" y="0"/>
                </a:lnTo>
                <a:lnTo>
                  <a:pt x="0" y="0"/>
                </a:lnTo>
                <a:lnTo>
                  <a:pt x="0" y="330517"/>
                </a:lnTo>
                <a:close/>
              </a:path>
            </a:pathLst>
          </a:custGeom>
          <a:solidFill>
            <a:srgbClr val="C0C0C0"/>
          </a:solidFill>
        </p:spPr>
        <p:txBody>
          <a:bodyPr wrap="square" lIns="0" tIns="0" rIns="0" bIns="0" rtlCol="0"/>
          <a:lstStyle/>
          <a:p>
            <a:endParaRPr/>
          </a:p>
        </p:txBody>
      </p:sp>
      <p:sp>
        <p:nvSpPr>
          <p:cNvPr id="10" name="object 10"/>
          <p:cNvSpPr txBox="1"/>
          <p:nvPr/>
        </p:nvSpPr>
        <p:spPr>
          <a:xfrm>
            <a:off x="533717" y="4067873"/>
            <a:ext cx="8077834" cy="1454150"/>
          </a:xfrm>
          <a:prstGeom prst="rect">
            <a:avLst/>
          </a:prstGeom>
        </p:spPr>
        <p:txBody>
          <a:bodyPr vert="horz" wrap="square" lIns="0" tIns="55880" rIns="0" bIns="0" rtlCol="0">
            <a:spAutoFit/>
          </a:bodyPr>
          <a:lstStyle/>
          <a:p>
            <a:pPr marL="12700" marR="14604" algn="just">
              <a:lnSpc>
                <a:spcPts val="1700"/>
              </a:lnSpc>
              <a:spcBef>
                <a:spcPts val="440"/>
              </a:spcBef>
            </a:pPr>
            <a:r>
              <a:rPr sz="1700" b="1" dirty="0">
                <a:latin typeface="Arial"/>
                <a:cs typeface="Arial"/>
              </a:rPr>
              <a:t>complex </a:t>
            </a:r>
            <a:r>
              <a:rPr sz="1700" b="1" spc="-5" dirty="0">
                <a:latin typeface="Arial"/>
                <a:cs typeface="Arial"/>
              </a:rPr>
              <a:t>compared </a:t>
            </a:r>
            <a:r>
              <a:rPr sz="1700" b="1" spc="-10" dirty="0">
                <a:latin typeface="Arial"/>
                <a:cs typeface="Arial"/>
              </a:rPr>
              <a:t>to organic </a:t>
            </a:r>
            <a:r>
              <a:rPr sz="1700" b="1" spc="10" dirty="0">
                <a:latin typeface="Arial"/>
                <a:cs typeface="Arial"/>
              </a:rPr>
              <a:t>mode </a:t>
            </a:r>
            <a:r>
              <a:rPr sz="1700" b="1" dirty="0">
                <a:latin typeface="Arial"/>
                <a:cs typeface="Arial"/>
              </a:rPr>
              <a:t>projects </a:t>
            </a:r>
            <a:r>
              <a:rPr sz="1700" b="1" spc="-15" dirty="0">
                <a:latin typeface="Arial"/>
                <a:cs typeface="Arial"/>
              </a:rPr>
              <a:t>in </a:t>
            </a:r>
            <a:r>
              <a:rPr sz="1700" b="1" spc="10" dirty="0">
                <a:latin typeface="Arial"/>
                <a:cs typeface="Arial"/>
              </a:rPr>
              <a:t>terms </a:t>
            </a:r>
            <a:r>
              <a:rPr sz="1700" b="1" dirty="0">
                <a:latin typeface="Arial"/>
                <a:cs typeface="Arial"/>
              </a:rPr>
              <a:t>of </a:t>
            </a:r>
            <a:r>
              <a:rPr sz="1700" b="1" spc="-10" dirty="0">
                <a:latin typeface="Arial"/>
                <a:cs typeface="Arial"/>
              </a:rPr>
              <a:t>size). </a:t>
            </a:r>
            <a:r>
              <a:rPr sz="1700" b="1" spc="5" dirty="0">
                <a:latin typeface="Arial"/>
                <a:cs typeface="Arial"/>
              </a:rPr>
              <a:t>Projects </a:t>
            </a:r>
            <a:r>
              <a:rPr sz="1700" b="1" spc="-10" dirty="0">
                <a:latin typeface="Arial"/>
                <a:cs typeface="Arial"/>
              </a:rPr>
              <a:t>may  have </a:t>
            </a:r>
            <a:r>
              <a:rPr sz="1700" b="1" dirty="0">
                <a:latin typeface="Arial"/>
                <a:cs typeface="Arial"/>
              </a:rPr>
              <a:t>a mix of </a:t>
            </a:r>
            <a:r>
              <a:rPr sz="1700" b="1" spc="-5" dirty="0">
                <a:latin typeface="Arial"/>
                <a:cs typeface="Arial"/>
              </a:rPr>
              <a:t>rigid </a:t>
            </a:r>
            <a:r>
              <a:rPr sz="1700" b="1" dirty="0">
                <a:latin typeface="Arial"/>
                <a:cs typeface="Arial"/>
              </a:rPr>
              <a:t>and </a:t>
            </a:r>
            <a:r>
              <a:rPr sz="1700" b="1" spc="-5" dirty="0">
                <a:latin typeface="Arial"/>
                <a:cs typeface="Arial"/>
              </a:rPr>
              <a:t>less than rigid</a:t>
            </a:r>
            <a:r>
              <a:rPr sz="1700" b="1" spc="-70" dirty="0">
                <a:latin typeface="Arial"/>
                <a:cs typeface="Arial"/>
              </a:rPr>
              <a:t> </a:t>
            </a:r>
            <a:r>
              <a:rPr sz="1700" b="1" dirty="0">
                <a:latin typeface="Arial"/>
                <a:cs typeface="Arial"/>
              </a:rPr>
              <a:t>requirements.</a:t>
            </a:r>
            <a:endParaRPr sz="1700">
              <a:latin typeface="Arial"/>
              <a:cs typeface="Arial"/>
            </a:endParaRPr>
          </a:p>
          <a:p>
            <a:pPr marL="12700" marR="5080" algn="just">
              <a:lnSpc>
                <a:spcPct val="84600"/>
              </a:lnSpc>
              <a:spcBef>
                <a:spcPts val="1445"/>
              </a:spcBef>
            </a:pPr>
            <a:r>
              <a:rPr sz="2600" b="1" dirty="0">
                <a:solidFill>
                  <a:srgbClr val="FF0000"/>
                </a:solidFill>
                <a:latin typeface="Arial"/>
                <a:cs typeface="Arial"/>
              </a:rPr>
              <a:t>Embedded </a:t>
            </a:r>
            <a:r>
              <a:rPr sz="2600" b="1" spc="5" dirty="0">
                <a:solidFill>
                  <a:srgbClr val="FF0000"/>
                </a:solidFill>
                <a:latin typeface="Arial"/>
                <a:cs typeface="Arial"/>
              </a:rPr>
              <a:t>mode</a:t>
            </a:r>
            <a:r>
              <a:rPr sz="1700" b="1" spc="5" dirty="0">
                <a:latin typeface="Arial"/>
                <a:cs typeface="Arial"/>
              </a:rPr>
              <a:t>: </a:t>
            </a:r>
            <a:r>
              <a:rPr sz="1700" b="1" spc="-15" dirty="0">
                <a:latin typeface="Arial"/>
                <a:cs typeface="Arial"/>
              </a:rPr>
              <a:t>When </a:t>
            </a:r>
            <a:r>
              <a:rPr sz="1700" b="1" spc="-5" dirty="0">
                <a:latin typeface="Arial"/>
                <a:cs typeface="Arial"/>
              </a:rPr>
              <a:t>the </a:t>
            </a:r>
            <a:r>
              <a:rPr sz="1700" b="1" dirty="0">
                <a:latin typeface="Arial"/>
                <a:cs typeface="Arial"/>
              </a:rPr>
              <a:t>software project </a:t>
            </a:r>
            <a:r>
              <a:rPr sz="1700" b="1" spc="-5" dirty="0">
                <a:latin typeface="Arial"/>
                <a:cs typeface="Arial"/>
              </a:rPr>
              <a:t>must </a:t>
            </a:r>
            <a:r>
              <a:rPr sz="1700" b="1" dirty="0">
                <a:latin typeface="Arial"/>
                <a:cs typeface="Arial"/>
              </a:rPr>
              <a:t>be developed  </a:t>
            </a:r>
            <a:r>
              <a:rPr sz="1700" b="1" spc="-10" dirty="0">
                <a:latin typeface="Arial"/>
                <a:cs typeface="Arial"/>
              </a:rPr>
              <a:t>within </a:t>
            </a:r>
            <a:r>
              <a:rPr sz="1700" b="1" dirty="0">
                <a:latin typeface="Arial"/>
                <a:cs typeface="Arial"/>
              </a:rPr>
              <a:t>a </a:t>
            </a:r>
            <a:r>
              <a:rPr sz="1700" b="1" spc="-10" dirty="0">
                <a:latin typeface="Arial"/>
                <a:cs typeface="Arial"/>
              </a:rPr>
              <a:t>tight </a:t>
            </a:r>
            <a:r>
              <a:rPr sz="1700" b="1" dirty="0">
                <a:latin typeface="Arial"/>
                <a:cs typeface="Arial"/>
              </a:rPr>
              <a:t>set of hardware and </a:t>
            </a:r>
            <a:r>
              <a:rPr sz="1700" b="1" spc="-10" dirty="0">
                <a:latin typeface="Arial"/>
                <a:cs typeface="Arial"/>
              </a:rPr>
              <a:t>software </a:t>
            </a:r>
            <a:r>
              <a:rPr sz="1700" b="1" spc="-5" dirty="0">
                <a:latin typeface="Arial"/>
                <a:cs typeface="Arial"/>
              </a:rPr>
              <a:t>operational constraints. </a:t>
            </a:r>
            <a:r>
              <a:rPr sz="1700" b="1" spc="5" dirty="0">
                <a:latin typeface="Arial"/>
                <a:cs typeface="Arial"/>
              </a:rPr>
              <a:t>Ex </a:t>
            </a:r>
            <a:r>
              <a:rPr sz="1700" b="1" dirty="0">
                <a:latin typeface="Arial"/>
                <a:cs typeface="Arial"/>
              </a:rPr>
              <a:t>of  complex </a:t>
            </a:r>
            <a:r>
              <a:rPr sz="1700" b="1" spc="-5" dirty="0">
                <a:latin typeface="Arial"/>
                <a:cs typeface="Arial"/>
              </a:rPr>
              <a:t>project: </a:t>
            </a:r>
            <a:r>
              <a:rPr sz="1700" b="1" spc="-20" dirty="0">
                <a:latin typeface="Arial"/>
                <a:cs typeface="Arial"/>
              </a:rPr>
              <a:t>Air </a:t>
            </a:r>
            <a:r>
              <a:rPr sz="1700" b="1" spc="-10" dirty="0">
                <a:latin typeface="Arial"/>
                <a:cs typeface="Arial"/>
              </a:rPr>
              <a:t>traffic </a:t>
            </a:r>
            <a:r>
              <a:rPr sz="1700" b="1" spc="5" dirty="0">
                <a:latin typeface="Arial"/>
                <a:cs typeface="Arial"/>
              </a:rPr>
              <a:t>control</a:t>
            </a:r>
            <a:r>
              <a:rPr sz="1700" b="1" spc="-45" dirty="0">
                <a:latin typeface="Arial"/>
                <a:cs typeface="Arial"/>
              </a:rPr>
              <a:t> </a:t>
            </a:r>
            <a:r>
              <a:rPr sz="1700" b="1" spc="5" dirty="0">
                <a:latin typeface="Arial"/>
                <a:cs typeface="Arial"/>
              </a:rPr>
              <a:t>system</a:t>
            </a:r>
            <a:endParaRPr sz="1700">
              <a:latin typeface="Arial"/>
              <a:cs typeface="Arial"/>
            </a:endParaRPr>
          </a:p>
        </p:txBody>
      </p:sp>
      <p:sp>
        <p:nvSpPr>
          <p:cNvPr id="11" name="object 11"/>
          <p:cNvSpPr txBox="1"/>
          <p:nvPr/>
        </p:nvSpPr>
        <p:spPr>
          <a:xfrm>
            <a:off x="533717" y="6177915"/>
            <a:ext cx="96520" cy="177800"/>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rPr>
              <a:t>1</a:t>
            </a:r>
            <a:endParaRPr sz="10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317" y="95186"/>
            <a:ext cx="4970780" cy="702310"/>
          </a:xfrm>
          <a:prstGeom prst="rect">
            <a:avLst/>
          </a:prstGeom>
        </p:spPr>
        <p:txBody>
          <a:bodyPr vert="horz" wrap="square" lIns="0" tIns="57150" rIns="0" bIns="0" rtlCol="0">
            <a:spAutoFit/>
          </a:bodyPr>
          <a:lstStyle/>
          <a:p>
            <a:pPr marL="12700" marR="5080">
              <a:lnSpc>
                <a:spcPts val="2500"/>
              </a:lnSpc>
              <a:spcBef>
                <a:spcPts val="450"/>
              </a:spcBef>
            </a:pPr>
            <a:r>
              <a:rPr sz="2350" b="0" spc="-5" dirty="0">
                <a:solidFill>
                  <a:srgbClr val="D1282D"/>
                </a:solidFill>
                <a:latin typeface="Arial Black"/>
                <a:cs typeface="Arial Black"/>
              </a:rPr>
              <a:t>DEVELOPMENT MODE WITH  </a:t>
            </a:r>
            <a:r>
              <a:rPr sz="2350" b="0" dirty="0">
                <a:solidFill>
                  <a:srgbClr val="D1282D"/>
                </a:solidFill>
                <a:latin typeface="Arial Black"/>
                <a:cs typeface="Arial Black"/>
              </a:rPr>
              <a:t>PROJECT</a:t>
            </a:r>
            <a:r>
              <a:rPr sz="2350" b="0" spc="10" dirty="0">
                <a:solidFill>
                  <a:srgbClr val="D1282D"/>
                </a:solidFill>
                <a:latin typeface="Arial Black"/>
                <a:cs typeface="Arial Black"/>
              </a:rPr>
              <a:t> </a:t>
            </a:r>
            <a:r>
              <a:rPr sz="2350" b="0" spc="-10" dirty="0">
                <a:solidFill>
                  <a:srgbClr val="D1282D"/>
                </a:solidFill>
                <a:latin typeface="Arial Black"/>
                <a:cs typeface="Arial Black"/>
              </a:rPr>
              <a:t>CHARACTERISTICS:</a:t>
            </a:r>
            <a:endParaRPr sz="2350">
              <a:latin typeface="Arial Black"/>
              <a:cs typeface="Arial Black"/>
            </a:endParaRPr>
          </a:p>
        </p:txBody>
      </p:sp>
      <p:graphicFrame>
        <p:nvGraphicFramePr>
          <p:cNvPr id="3" name="object 3"/>
          <p:cNvGraphicFramePr>
            <a:graphicFrameLocks noGrp="1"/>
          </p:cNvGraphicFramePr>
          <p:nvPr/>
        </p:nvGraphicFramePr>
        <p:xfrm>
          <a:off x="451167" y="1506219"/>
          <a:ext cx="8094344" cy="3289935"/>
        </p:xfrm>
        <a:graphic>
          <a:graphicData uri="http://schemas.openxmlformats.org/drawingml/2006/table">
            <a:tbl>
              <a:tblPr firstRow="1" bandRow="1">
                <a:tableStyleId>{2D5ABB26-0587-4C30-8999-92F81FD0307C}</a:tableStyleId>
              </a:tblPr>
              <a:tblGrid>
                <a:gridCol w="1893570"/>
                <a:gridCol w="1219834"/>
                <a:gridCol w="1702435"/>
                <a:gridCol w="1296035"/>
                <a:gridCol w="1982470"/>
              </a:tblGrid>
              <a:tr h="280670">
                <a:tc>
                  <a:txBody>
                    <a:bodyPr/>
                    <a:lstStyle/>
                    <a:p>
                      <a:pPr marL="76200">
                        <a:lnSpc>
                          <a:spcPts val="2060"/>
                        </a:lnSpc>
                        <a:spcBef>
                          <a:spcPts val="50"/>
                        </a:spcBef>
                      </a:pPr>
                      <a:r>
                        <a:rPr sz="1800" b="1" spc="-5" dirty="0">
                          <a:solidFill>
                            <a:srgbClr val="202020"/>
                          </a:solidFill>
                          <a:latin typeface="Verdana"/>
                          <a:cs typeface="Verdana"/>
                        </a:rPr>
                        <a:t>Development</a:t>
                      </a:r>
                      <a:endParaRPr sz="18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solidFill>
                      <a:srgbClr val="F0BCA7"/>
                    </a:solidFill>
                  </a:tcPr>
                </a:tc>
                <a:tc rowSpan="2" gridSpan="4">
                  <a:txBody>
                    <a:bodyPr/>
                    <a:lstStyle/>
                    <a:p>
                      <a:pPr>
                        <a:lnSpc>
                          <a:spcPct val="100000"/>
                        </a:lnSpc>
                        <a:spcBef>
                          <a:spcPts val="20"/>
                        </a:spcBef>
                      </a:pPr>
                      <a:endParaRPr sz="1900">
                        <a:latin typeface="Times New Roman"/>
                        <a:cs typeface="Times New Roman"/>
                      </a:endParaRPr>
                    </a:p>
                    <a:p>
                      <a:pPr marL="1632585">
                        <a:lnSpc>
                          <a:spcPct val="100000"/>
                        </a:lnSpc>
                      </a:pPr>
                      <a:r>
                        <a:rPr sz="1800" b="1" spc="-5" dirty="0">
                          <a:solidFill>
                            <a:srgbClr val="202020"/>
                          </a:solidFill>
                          <a:latin typeface="Verdana"/>
                          <a:cs typeface="Verdana"/>
                        </a:rPr>
                        <a:t>Project</a:t>
                      </a:r>
                      <a:r>
                        <a:rPr sz="1800" b="1" spc="-45" dirty="0">
                          <a:solidFill>
                            <a:srgbClr val="202020"/>
                          </a:solidFill>
                          <a:latin typeface="Verdana"/>
                          <a:cs typeface="Verdana"/>
                        </a:rPr>
                        <a:t> </a:t>
                      </a:r>
                      <a:r>
                        <a:rPr sz="1800" b="1" spc="-5" dirty="0">
                          <a:solidFill>
                            <a:srgbClr val="202020"/>
                          </a:solidFill>
                          <a:latin typeface="Verdana"/>
                          <a:cs typeface="Verdana"/>
                        </a:rPr>
                        <a:t>Characteristics</a:t>
                      </a:r>
                      <a:endParaRPr sz="1800">
                        <a:latin typeface="Verdana"/>
                        <a:cs typeface="Verdan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9C5DF"/>
                    </a:solidFill>
                  </a:tcPr>
                </a:tc>
                <a:tc rowSpan="2" hMerge="1">
                  <a:txBody>
                    <a:bodyPr/>
                    <a:lstStyle/>
                    <a:p>
                      <a:endParaRPr/>
                    </a:p>
                  </a:txBody>
                  <a:tcPr marL="0" marR="0" marT="0" marB="0"/>
                </a:tc>
                <a:tc rowSpan="2" hMerge="1">
                  <a:txBody>
                    <a:bodyPr/>
                    <a:lstStyle/>
                    <a:p>
                      <a:endParaRPr/>
                    </a:p>
                  </a:txBody>
                  <a:tcPr marL="0" marR="0" marT="0" marB="0"/>
                </a:tc>
                <a:tc rowSpan="2" hMerge="1">
                  <a:txBody>
                    <a:bodyPr/>
                    <a:lstStyle/>
                    <a:p>
                      <a:endParaRPr/>
                    </a:p>
                  </a:txBody>
                  <a:tcPr marL="0" marR="0" marT="0" marB="0"/>
                </a:tc>
              </a:tr>
              <a:tr h="558165">
                <a:tc>
                  <a:txBody>
                    <a:bodyPr/>
                    <a:lstStyle/>
                    <a:p>
                      <a:pPr marL="76200">
                        <a:lnSpc>
                          <a:spcPts val="2155"/>
                        </a:lnSpc>
                      </a:pPr>
                      <a:r>
                        <a:rPr sz="1800" b="1" spc="-5" dirty="0">
                          <a:solidFill>
                            <a:srgbClr val="202020"/>
                          </a:solidFill>
                          <a:latin typeface="Verdana"/>
                          <a:cs typeface="Verdana"/>
                        </a:rPr>
                        <a:t>Mode</a:t>
                      </a:r>
                      <a:endParaRPr sz="1800">
                        <a:latin typeface="Verdana"/>
                        <a:cs typeface="Verdana"/>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solidFill>
                      <a:srgbClr val="F0BCA7"/>
                    </a:solidFill>
                  </a:tcPr>
                </a:tc>
                <a:tc gridSpan="4" vMerge="1">
                  <a:txBody>
                    <a:bodyPr/>
                    <a:lstStyle/>
                    <a:p>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9C5DF"/>
                    </a:solidFill>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r>
              <a:tr h="260985">
                <a:tc rowSpan="2">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0BCA7"/>
                    </a:solidFill>
                  </a:tcPr>
                </a:tc>
                <a:tc rowSpan="2">
                  <a:txBody>
                    <a:bodyPr/>
                    <a:lstStyle/>
                    <a:p>
                      <a:pPr marL="69850">
                        <a:lnSpc>
                          <a:spcPts val="2060"/>
                        </a:lnSpc>
                      </a:pPr>
                      <a:r>
                        <a:rPr sz="1800" b="1" spc="-10" dirty="0">
                          <a:latin typeface="Verdana"/>
                          <a:cs typeface="Verdana"/>
                        </a:rPr>
                        <a:t>Size</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5D6DE"/>
                    </a:solidFill>
                  </a:tcPr>
                </a:tc>
                <a:tc rowSpan="2">
                  <a:txBody>
                    <a:bodyPr/>
                    <a:lstStyle/>
                    <a:p>
                      <a:pPr marL="69850">
                        <a:lnSpc>
                          <a:spcPts val="2060"/>
                        </a:lnSpc>
                      </a:pPr>
                      <a:r>
                        <a:rPr sz="1800" b="1" spc="-5" dirty="0">
                          <a:latin typeface="Verdana"/>
                          <a:cs typeface="Verdana"/>
                        </a:rPr>
                        <a:t>Innovation</a:t>
                      </a:r>
                      <a:endParaRPr sz="1800">
                        <a:latin typeface="Verdana"/>
                        <a:cs typeface="Verdana"/>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D5D6DE"/>
                    </a:solidFill>
                  </a:tcPr>
                </a:tc>
                <a:tc rowSpan="2">
                  <a:txBody>
                    <a:bodyPr/>
                    <a:lstStyle/>
                    <a:p>
                      <a:pPr marL="57785">
                        <a:lnSpc>
                          <a:spcPts val="2060"/>
                        </a:lnSpc>
                      </a:pPr>
                      <a:r>
                        <a:rPr sz="1800" b="1" spc="-5" dirty="0">
                          <a:latin typeface="Verdana"/>
                          <a:cs typeface="Verdana"/>
                        </a:rPr>
                        <a:t>Deadline</a:t>
                      </a:r>
                      <a:endParaRPr sz="1800">
                        <a:latin typeface="Verdana"/>
                        <a:cs typeface="Verdana"/>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5D6DE"/>
                    </a:solidFill>
                  </a:tcPr>
                </a:tc>
                <a:tc>
                  <a:txBody>
                    <a:bodyPr/>
                    <a:lstStyle/>
                    <a:p>
                      <a:pPr marL="70485">
                        <a:lnSpc>
                          <a:spcPts val="1960"/>
                        </a:lnSpc>
                      </a:pPr>
                      <a:r>
                        <a:rPr sz="1800" b="1" spc="-5" dirty="0">
                          <a:latin typeface="Verdana"/>
                          <a:cs typeface="Verdana"/>
                        </a:rPr>
                        <a:t>Dev.</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solidFill>
                      <a:srgbClr val="D5D6DE"/>
                    </a:solidFill>
                  </a:tcPr>
                </a:tc>
              </a:tr>
              <a:tr h="42481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0BCA7"/>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5D6DE"/>
                    </a:solidFill>
                  </a:tcPr>
                </a:tc>
                <a:tc vMerge="1">
                  <a:txBody>
                    <a:bodyPr/>
                    <a:lstStyle/>
                    <a:p>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D5D6DE"/>
                    </a:solidFill>
                  </a:tcPr>
                </a:tc>
                <a:tc vMerge="1">
                  <a:txBody>
                    <a:bodyPr/>
                    <a:lstStyle/>
                    <a:p>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5D6DE"/>
                    </a:solidFill>
                  </a:tcPr>
                </a:tc>
                <a:tc>
                  <a:txBody>
                    <a:bodyPr/>
                    <a:lstStyle/>
                    <a:p>
                      <a:pPr marL="70485">
                        <a:lnSpc>
                          <a:spcPts val="2155"/>
                        </a:lnSpc>
                      </a:pPr>
                      <a:r>
                        <a:rPr sz="1800" b="1" dirty="0">
                          <a:latin typeface="Verdana"/>
                          <a:cs typeface="Verdana"/>
                        </a:rPr>
                        <a:t>Environment</a:t>
                      </a:r>
                      <a:endParaRPr sz="1800">
                        <a:latin typeface="Verdana"/>
                        <a:cs typeface="Verdana"/>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solidFill>
                      <a:srgbClr val="D5D6DE"/>
                    </a:solidFill>
                  </a:tcPr>
                </a:tc>
              </a:tr>
              <a:tr h="609600">
                <a:tc>
                  <a:txBody>
                    <a:bodyPr/>
                    <a:lstStyle/>
                    <a:p>
                      <a:pPr marL="76200">
                        <a:lnSpc>
                          <a:spcPct val="100000"/>
                        </a:lnSpc>
                      </a:pPr>
                      <a:r>
                        <a:rPr sz="1800" b="1" spc="-5" dirty="0">
                          <a:latin typeface="Verdana"/>
                          <a:cs typeface="Verdana"/>
                        </a:rPr>
                        <a:t>ORGANIC</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0BCA7"/>
                    </a:solidFill>
                  </a:tcPr>
                </a:tc>
                <a:tc>
                  <a:txBody>
                    <a:bodyPr/>
                    <a:lstStyle/>
                    <a:p>
                      <a:pPr marL="69850">
                        <a:lnSpc>
                          <a:spcPct val="100000"/>
                        </a:lnSpc>
                      </a:pPr>
                      <a:r>
                        <a:rPr sz="1800" spc="-5" dirty="0">
                          <a:latin typeface="Verdana"/>
                          <a:cs typeface="Verdana"/>
                        </a:rPr>
                        <a:t>Small</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850">
                        <a:lnSpc>
                          <a:spcPct val="100000"/>
                        </a:lnSpc>
                      </a:pPr>
                      <a:r>
                        <a:rPr sz="1800" spc="-5" dirty="0">
                          <a:latin typeface="Verdana"/>
                          <a:cs typeface="Verdana"/>
                        </a:rPr>
                        <a:t>Little</a:t>
                      </a:r>
                      <a:endParaRPr sz="1800">
                        <a:latin typeface="Verdana"/>
                        <a:cs typeface="Verdana"/>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57785">
                        <a:lnSpc>
                          <a:spcPct val="100000"/>
                        </a:lnSpc>
                      </a:pPr>
                      <a:r>
                        <a:rPr sz="1800" dirty="0">
                          <a:latin typeface="Verdana"/>
                          <a:cs typeface="Verdana"/>
                        </a:rPr>
                        <a:t>Not</a:t>
                      </a:r>
                      <a:r>
                        <a:rPr sz="1800" spc="-25" dirty="0">
                          <a:latin typeface="Verdana"/>
                          <a:cs typeface="Verdana"/>
                        </a:rPr>
                        <a:t> </a:t>
                      </a:r>
                      <a:r>
                        <a:rPr sz="1800" spc="-15" dirty="0">
                          <a:latin typeface="Verdana"/>
                          <a:cs typeface="Verdana"/>
                        </a:rPr>
                        <a:t>Tight</a:t>
                      </a:r>
                      <a:endParaRPr sz="1800">
                        <a:latin typeface="Verdana"/>
                        <a:cs typeface="Verdana"/>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pPr>
                      <a:r>
                        <a:rPr sz="1800" spc="-10" dirty="0">
                          <a:latin typeface="Verdana"/>
                          <a:cs typeface="Verdana"/>
                        </a:rPr>
                        <a:t>Stable</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61620">
                <a:tc>
                  <a:txBody>
                    <a:bodyPr/>
                    <a:lstStyle/>
                    <a:p>
                      <a:pPr marL="76200">
                        <a:lnSpc>
                          <a:spcPts val="1960"/>
                        </a:lnSpc>
                      </a:pPr>
                      <a:r>
                        <a:rPr sz="1800" b="1" spc="10" dirty="0">
                          <a:latin typeface="Verdana"/>
                          <a:cs typeface="Verdana"/>
                        </a:rPr>
                        <a:t>SEMI-</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solidFill>
                      <a:srgbClr val="F0BCA7"/>
                    </a:solidFill>
                  </a:tcPr>
                </a:tc>
                <a:tc rowSpan="2">
                  <a:txBody>
                    <a:bodyPr/>
                    <a:lstStyle/>
                    <a:p>
                      <a:pPr marL="69850">
                        <a:lnSpc>
                          <a:spcPts val="2060"/>
                        </a:lnSpc>
                      </a:pPr>
                      <a:r>
                        <a:rPr sz="1800" spc="-10" dirty="0">
                          <a:latin typeface="Verdana"/>
                          <a:cs typeface="Verdana"/>
                        </a:rPr>
                        <a:t>Medium</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69850">
                        <a:lnSpc>
                          <a:spcPts val="2060"/>
                        </a:lnSpc>
                      </a:pPr>
                      <a:r>
                        <a:rPr sz="1800" spc="-10" dirty="0">
                          <a:latin typeface="Verdana"/>
                          <a:cs typeface="Verdana"/>
                        </a:rPr>
                        <a:t>Medium</a:t>
                      </a:r>
                      <a:endParaRPr sz="1800">
                        <a:latin typeface="Verdana"/>
                        <a:cs typeface="Verdana"/>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57785">
                        <a:lnSpc>
                          <a:spcPts val="2060"/>
                        </a:lnSpc>
                      </a:pPr>
                      <a:r>
                        <a:rPr sz="1800" spc="-10" dirty="0">
                          <a:latin typeface="Verdana"/>
                          <a:cs typeface="Verdana"/>
                        </a:rPr>
                        <a:t>Medium</a:t>
                      </a:r>
                      <a:endParaRPr sz="1800">
                        <a:latin typeface="Verdana"/>
                        <a:cs typeface="Verdana"/>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70485">
                        <a:lnSpc>
                          <a:spcPts val="2060"/>
                        </a:lnSpc>
                      </a:pPr>
                      <a:r>
                        <a:rPr sz="1800" spc="-10" dirty="0">
                          <a:latin typeface="Verdana"/>
                          <a:cs typeface="Verdana"/>
                        </a:rPr>
                        <a:t>Medium</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7980">
                <a:tc>
                  <a:txBody>
                    <a:bodyPr/>
                    <a:lstStyle/>
                    <a:p>
                      <a:pPr marL="76200">
                        <a:lnSpc>
                          <a:spcPts val="2155"/>
                        </a:lnSpc>
                      </a:pPr>
                      <a:r>
                        <a:rPr sz="1800" b="1" dirty="0">
                          <a:latin typeface="Verdana"/>
                          <a:cs typeface="Verdana"/>
                        </a:rPr>
                        <a:t>DITACHED</a:t>
                      </a:r>
                      <a:endParaRPr sz="1800">
                        <a:latin typeface="Verdana"/>
                        <a:cs typeface="Verdana"/>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solidFill>
                      <a:srgbClr val="F0BCA7"/>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61620">
                <a:tc rowSpan="2">
                  <a:txBody>
                    <a:bodyPr/>
                    <a:lstStyle/>
                    <a:p>
                      <a:pPr marL="76200">
                        <a:lnSpc>
                          <a:spcPts val="2060"/>
                        </a:lnSpc>
                      </a:pPr>
                      <a:r>
                        <a:rPr sz="1800" b="1" dirty="0">
                          <a:latin typeface="Verdana"/>
                          <a:cs typeface="Verdana"/>
                        </a:rPr>
                        <a:t>EMBEDDED</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0BCA7"/>
                    </a:solidFill>
                  </a:tcPr>
                </a:tc>
                <a:tc rowSpan="2">
                  <a:txBody>
                    <a:bodyPr/>
                    <a:lstStyle/>
                    <a:p>
                      <a:pPr marL="69850">
                        <a:lnSpc>
                          <a:spcPts val="2060"/>
                        </a:lnSpc>
                      </a:pPr>
                      <a:r>
                        <a:rPr sz="1800" spc="-10" dirty="0">
                          <a:latin typeface="Verdana"/>
                          <a:cs typeface="Verdana"/>
                        </a:rPr>
                        <a:t>Large</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69850">
                        <a:lnSpc>
                          <a:spcPts val="2060"/>
                        </a:lnSpc>
                      </a:pPr>
                      <a:r>
                        <a:rPr sz="1800" spc="-10" dirty="0">
                          <a:latin typeface="Verdana"/>
                          <a:cs typeface="Verdana"/>
                        </a:rPr>
                        <a:t>Greater</a:t>
                      </a:r>
                      <a:endParaRPr sz="1800">
                        <a:latin typeface="Verdana"/>
                        <a:cs typeface="Verdana"/>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57785">
                        <a:lnSpc>
                          <a:spcPts val="2060"/>
                        </a:lnSpc>
                      </a:pPr>
                      <a:r>
                        <a:rPr sz="1800" spc="-15" dirty="0">
                          <a:latin typeface="Verdana"/>
                          <a:cs typeface="Verdana"/>
                        </a:rPr>
                        <a:t>Tight</a:t>
                      </a:r>
                      <a:endParaRPr sz="1800">
                        <a:latin typeface="Verdana"/>
                        <a:cs typeface="Verdana"/>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ts val="1960"/>
                        </a:lnSpc>
                      </a:pPr>
                      <a:r>
                        <a:rPr sz="1800" spc="-10" dirty="0">
                          <a:latin typeface="Verdana"/>
                          <a:cs typeface="Verdana"/>
                        </a:rPr>
                        <a:t>Complex</a:t>
                      </a:r>
                      <a:endParaRPr sz="180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tcPr>
                </a:tc>
              </a:tr>
              <a:tr h="284480">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0BCA7"/>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ts val="2145"/>
                        </a:lnSpc>
                      </a:pPr>
                      <a:r>
                        <a:rPr sz="1800" spc="-10" dirty="0">
                          <a:latin typeface="Verdana"/>
                          <a:cs typeface="Verdana"/>
                        </a:rPr>
                        <a:t>Hardware</a:t>
                      </a:r>
                      <a:endParaRPr sz="1800">
                        <a:latin typeface="Verdana"/>
                        <a:cs typeface="Verdana"/>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7940" y="0"/>
            <a:ext cx="9116060" cy="68579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0"/>
            <a:ext cx="8839200" cy="68579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1125" y="0"/>
            <a:ext cx="142875" cy="13716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8912225" y="1574164"/>
            <a:ext cx="142875" cy="528383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021579" y="3121660"/>
            <a:ext cx="3495675" cy="270891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57517" y="457580"/>
            <a:ext cx="7040880" cy="578485"/>
          </a:xfrm>
          <a:custGeom>
            <a:avLst/>
            <a:gdLst/>
            <a:ahLst/>
            <a:cxnLst/>
            <a:rect l="l" t="t" r="r" b="b"/>
            <a:pathLst>
              <a:path w="7040880" h="578485">
                <a:moveTo>
                  <a:pt x="0" y="578485"/>
                </a:moveTo>
                <a:lnTo>
                  <a:pt x="7040626" y="578485"/>
                </a:lnTo>
                <a:lnTo>
                  <a:pt x="7040626" y="0"/>
                </a:lnTo>
                <a:lnTo>
                  <a:pt x="0" y="0"/>
                </a:lnTo>
                <a:lnTo>
                  <a:pt x="0" y="578485"/>
                </a:lnTo>
                <a:close/>
              </a:path>
            </a:pathLst>
          </a:custGeom>
          <a:solidFill>
            <a:srgbClr val="C0C0C0"/>
          </a:solidFill>
        </p:spPr>
        <p:txBody>
          <a:bodyPr wrap="square" lIns="0" tIns="0" rIns="0" bIns="0" rtlCol="0"/>
          <a:lstStyle/>
          <a:p>
            <a:endParaRPr/>
          </a:p>
        </p:txBody>
      </p:sp>
      <p:sp>
        <p:nvSpPr>
          <p:cNvPr id="6" name="object 6"/>
          <p:cNvSpPr txBox="1">
            <a:spLocks noGrp="1"/>
          </p:cNvSpPr>
          <p:nvPr>
            <p:ph type="title"/>
          </p:nvPr>
        </p:nvSpPr>
        <p:spPr>
          <a:xfrm>
            <a:off x="444817" y="432498"/>
            <a:ext cx="7066280" cy="574675"/>
          </a:xfrm>
          <a:prstGeom prst="rect">
            <a:avLst/>
          </a:prstGeom>
        </p:spPr>
        <p:txBody>
          <a:bodyPr vert="horz" wrap="square" lIns="0" tIns="12700" rIns="0" bIns="0" rtlCol="0">
            <a:spAutoFit/>
          </a:bodyPr>
          <a:lstStyle/>
          <a:p>
            <a:pPr marL="12700">
              <a:lnSpc>
                <a:spcPct val="100000"/>
              </a:lnSpc>
              <a:spcBef>
                <a:spcPts val="100"/>
              </a:spcBef>
            </a:pPr>
            <a:r>
              <a:rPr sz="3600" b="0" dirty="0">
                <a:solidFill>
                  <a:srgbClr val="D1282D"/>
                </a:solidFill>
                <a:latin typeface="Arial Black"/>
                <a:cs typeface="Arial Black"/>
              </a:rPr>
              <a:t>FORMS </a:t>
            </a:r>
            <a:r>
              <a:rPr sz="3600" b="0" spc="-5" dirty="0">
                <a:solidFill>
                  <a:srgbClr val="D1282D"/>
                </a:solidFill>
                <a:latin typeface="Arial Black"/>
                <a:cs typeface="Arial Black"/>
              </a:rPr>
              <a:t>OF </a:t>
            </a:r>
            <a:r>
              <a:rPr sz="3600" b="0" dirty="0">
                <a:solidFill>
                  <a:srgbClr val="D1282D"/>
                </a:solidFill>
                <a:latin typeface="Arial Black"/>
                <a:cs typeface="Arial Black"/>
              </a:rPr>
              <a:t>COCOMO</a:t>
            </a:r>
            <a:r>
              <a:rPr sz="3600" b="0" spc="-60" dirty="0">
                <a:solidFill>
                  <a:srgbClr val="D1282D"/>
                </a:solidFill>
                <a:latin typeface="Arial Black"/>
                <a:cs typeface="Arial Black"/>
              </a:rPr>
              <a:t> </a:t>
            </a:r>
            <a:r>
              <a:rPr sz="3600" b="0" dirty="0">
                <a:solidFill>
                  <a:srgbClr val="D1282D"/>
                </a:solidFill>
                <a:latin typeface="Arial Black"/>
                <a:cs typeface="Arial Black"/>
              </a:rPr>
              <a:t>MODEL</a:t>
            </a:r>
            <a:endParaRPr sz="3600">
              <a:latin typeface="Arial Black"/>
              <a:cs typeface="Arial Black"/>
            </a:endParaRPr>
          </a:p>
        </p:txBody>
      </p:sp>
      <p:sp>
        <p:nvSpPr>
          <p:cNvPr id="7" name="object 7"/>
          <p:cNvSpPr txBox="1"/>
          <p:nvPr/>
        </p:nvSpPr>
        <p:spPr>
          <a:xfrm>
            <a:off x="444817" y="1089469"/>
            <a:ext cx="7846695" cy="5199380"/>
          </a:xfrm>
          <a:prstGeom prst="rect">
            <a:avLst/>
          </a:prstGeom>
        </p:spPr>
        <p:txBody>
          <a:bodyPr vert="horz" wrap="square" lIns="0" tIns="137160" rIns="0" bIns="0" rtlCol="0">
            <a:spAutoFit/>
          </a:bodyPr>
          <a:lstStyle/>
          <a:p>
            <a:pPr marL="355600" indent="-342900">
              <a:lnSpc>
                <a:spcPct val="100000"/>
              </a:lnSpc>
              <a:spcBef>
                <a:spcPts val="1080"/>
              </a:spcBef>
              <a:buAutoNum type="arabicPeriod"/>
              <a:tabLst>
                <a:tab pos="355600" algn="l"/>
                <a:tab pos="356235" algn="l"/>
              </a:tabLst>
            </a:pPr>
            <a:r>
              <a:rPr sz="1600" b="1" dirty="0">
                <a:solidFill>
                  <a:srgbClr val="92D050"/>
                </a:solidFill>
                <a:latin typeface="Arial"/>
                <a:cs typeface="Arial"/>
              </a:rPr>
              <a:t>Basic </a:t>
            </a:r>
            <a:r>
              <a:rPr sz="1600" b="1" spc="-10" dirty="0">
                <a:solidFill>
                  <a:srgbClr val="92D050"/>
                </a:solidFill>
                <a:latin typeface="Arial"/>
                <a:cs typeface="Arial"/>
              </a:rPr>
              <a:t>COCOMO</a:t>
            </a:r>
            <a:r>
              <a:rPr sz="1600" b="1" spc="-50" dirty="0">
                <a:solidFill>
                  <a:srgbClr val="92D050"/>
                </a:solidFill>
                <a:latin typeface="Arial"/>
                <a:cs typeface="Arial"/>
              </a:rPr>
              <a:t> </a:t>
            </a:r>
            <a:r>
              <a:rPr sz="1600" b="1" spc="-10" dirty="0">
                <a:solidFill>
                  <a:srgbClr val="92D050"/>
                </a:solidFill>
                <a:latin typeface="Arial"/>
                <a:cs typeface="Arial"/>
              </a:rPr>
              <a:t>Model</a:t>
            </a:r>
            <a:endParaRPr sz="1600">
              <a:latin typeface="Arial"/>
              <a:cs typeface="Arial"/>
            </a:endParaRPr>
          </a:p>
          <a:p>
            <a:pPr marL="355600" indent="-342900">
              <a:lnSpc>
                <a:spcPct val="100000"/>
              </a:lnSpc>
              <a:spcBef>
                <a:spcPts val="980"/>
              </a:spcBef>
              <a:buAutoNum type="arabicPeriod"/>
              <a:tabLst>
                <a:tab pos="355600" algn="l"/>
                <a:tab pos="356235" algn="l"/>
              </a:tabLst>
            </a:pPr>
            <a:r>
              <a:rPr sz="1600" b="1" spc="-5" dirty="0">
                <a:solidFill>
                  <a:srgbClr val="92D050"/>
                </a:solidFill>
                <a:latin typeface="Arial"/>
                <a:cs typeface="Arial"/>
              </a:rPr>
              <a:t>Intermediate </a:t>
            </a:r>
            <a:r>
              <a:rPr sz="1600" b="1" spc="-10" dirty="0">
                <a:solidFill>
                  <a:srgbClr val="92D050"/>
                </a:solidFill>
                <a:latin typeface="Arial"/>
                <a:cs typeface="Arial"/>
              </a:rPr>
              <a:t>COCOMO</a:t>
            </a:r>
            <a:r>
              <a:rPr sz="1600" b="1" spc="-45" dirty="0">
                <a:solidFill>
                  <a:srgbClr val="92D050"/>
                </a:solidFill>
                <a:latin typeface="Arial"/>
                <a:cs typeface="Arial"/>
              </a:rPr>
              <a:t> </a:t>
            </a:r>
            <a:r>
              <a:rPr sz="1600" b="1" spc="-10" dirty="0">
                <a:solidFill>
                  <a:srgbClr val="92D050"/>
                </a:solidFill>
                <a:latin typeface="Arial"/>
                <a:cs typeface="Arial"/>
              </a:rPr>
              <a:t>Model</a:t>
            </a:r>
            <a:endParaRPr sz="1600">
              <a:latin typeface="Arial"/>
              <a:cs typeface="Arial"/>
            </a:endParaRPr>
          </a:p>
          <a:p>
            <a:pPr marL="355600" indent="-342900">
              <a:lnSpc>
                <a:spcPct val="100000"/>
              </a:lnSpc>
              <a:spcBef>
                <a:spcPts val="985"/>
              </a:spcBef>
              <a:buAutoNum type="arabicPeriod"/>
              <a:tabLst>
                <a:tab pos="355600" algn="l"/>
                <a:tab pos="356235" algn="l"/>
              </a:tabLst>
            </a:pPr>
            <a:r>
              <a:rPr sz="1600" b="1" dirty="0">
                <a:solidFill>
                  <a:srgbClr val="92D050"/>
                </a:solidFill>
                <a:latin typeface="Arial"/>
                <a:cs typeface="Arial"/>
              </a:rPr>
              <a:t>Complete/Detailed </a:t>
            </a:r>
            <a:r>
              <a:rPr sz="1600" b="1" spc="-10" dirty="0">
                <a:solidFill>
                  <a:srgbClr val="92D050"/>
                </a:solidFill>
                <a:latin typeface="Arial"/>
                <a:cs typeface="Arial"/>
              </a:rPr>
              <a:t>COCOMO</a:t>
            </a:r>
            <a:r>
              <a:rPr sz="1600" b="1" spc="-85" dirty="0">
                <a:solidFill>
                  <a:srgbClr val="92D050"/>
                </a:solidFill>
                <a:latin typeface="Arial"/>
                <a:cs typeface="Arial"/>
              </a:rPr>
              <a:t> </a:t>
            </a:r>
            <a:r>
              <a:rPr sz="1600" b="1" spc="-10" dirty="0">
                <a:solidFill>
                  <a:srgbClr val="92D050"/>
                </a:solidFill>
                <a:latin typeface="Arial"/>
                <a:cs typeface="Arial"/>
              </a:rPr>
              <a:t>Model</a:t>
            </a:r>
            <a:endParaRPr sz="1600">
              <a:latin typeface="Arial"/>
              <a:cs typeface="Arial"/>
            </a:endParaRPr>
          </a:p>
          <a:p>
            <a:pPr marL="12700">
              <a:lnSpc>
                <a:spcPts val="2865"/>
              </a:lnSpc>
              <a:spcBef>
                <a:spcPts val="1335"/>
              </a:spcBef>
            </a:pPr>
            <a:r>
              <a:rPr sz="2400" b="1" dirty="0">
                <a:solidFill>
                  <a:srgbClr val="00AF50"/>
                </a:solidFill>
                <a:latin typeface="Arial"/>
                <a:cs typeface="Arial"/>
              </a:rPr>
              <a:t>Basic</a:t>
            </a:r>
            <a:r>
              <a:rPr sz="2400" b="1" spc="-10" dirty="0">
                <a:solidFill>
                  <a:srgbClr val="00AF50"/>
                </a:solidFill>
                <a:latin typeface="Arial"/>
                <a:cs typeface="Arial"/>
              </a:rPr>
              <a:t> </a:t>
            </a:r>
            <a:r>
              <a:rPr sz="2400" b="1" spc="-5" dirty="0">
                <a:solidFill>
                  <a:srgbClr val="00AF50"/>
                </a:solidFill>
                <a:latin typeface="Arial"/>
                <a:cs typeface="Arial"/>
              </a:rPr>
              <a:t>COCOMO:</a:t>
            </a:r>
            <a:endParaRPr sz="2400">
              <a:latin typeface="Arial"/>
              <a:cs typeface="Arial"/>
            </a:endParaRPr>
          </a:p>
          <a:p>
            <a:pPr marL="12700" marR="5080">
              <a:lnSpc>
                <a:spcPts val="2050"/>
              </a:lnSpc>
              <a:spcBef>
                <a:spcPts val="145"/>
              </a:spcBef>
            </a:pPr>
            <a:r>
              <a:rPr sz="1800" b="1" spc="-10" dirty="0">
                <a:latin typeface="Times New Roman"/>
                <a:cs typeface="Times New Roman"/>
              </a:rPr>
              <a:t>Computes </a:t>
            </a:r>
            <a:r>
              <a:rPr sz="1800" b="1" spc="-5" dirty="0">
                <a:latin typeface="Times New Roman"/>
                <a:cs typeface="Times New Roman"/>
              </a:rPr>
              <a:t>software development </a:t>
            </a:r>
            <a:r>
              <a:rPr sz="1800" b="1" dirty="0">
                <a:latin typeface="Times New Roman"/>
                <a:cs typeface="Times New Roman"/>
              </a:rPr>
              <a:t>effort </a:t>
            </a:r>
            <a:r>
              <a:rPr sz="1800" b="1" spc="-5" dirty="0">
                <a:latin typeface="Times New Roman"/>
                <a:cs typeface="Times New Roman"/>
              </a:rPr>
              <a:t>and cost </a:t>
            </a:r>
            <a:r>
              <a:rPr sz="1800" b="1" dirty="0">
                <a:latin typeface="Times New Roman"/>
                <a:cs typeface="Times New Roman"/>
              </a:rPr>
              <a:t>as a function of </a:t>
            </a:r>
            <a:r>
              <a:rPr sz="1800" b="1" spc="-5" dirty="0">
                <a:latin typeface="Times New Roman"/>
                <a:cs typeface="Times New Roman"/>
              </a:rPr>
              <a:t>programme size  expressed </a:t>
            </a:r>
            <a:r>
              <a:rPr sz="1800" b="1" dirty="0">
                <a:latin typeface="Times New Roman"/>
                <a:cs typeface="Times New Roman"/>
              </a:rPr>
              <a:t>in </a:t>
            </a:r>
            <a:r>
              <a:rPr sz="1800" b="1" spc="-5" dirty="0">
                <a:latin typeface="Times New Roman"/>
                <a:cs typeface="Times New Roman"/>
              </a:rPr>
              <a:t>terms </a:t>
            </a:r>
            <a:r>
              <a:rPr sz="1800" b="1" dirty="0">
                <a:latin typeface="Times New Roman"/>
                <a:cs typeface="Times New Roman"/>
              </a:rPr>
              <a:t>of </a:t>
            </a:r>
            <a:r>
              <a:rPr sz="1800" b="1" spc="-5" dirty="0">
                <a:latin typeface="Times New Roman"/>
                <a:cs typeface="Times New Roman"/>
              </a:rPr>
              <a:t>Lines </a:t>
            </a:r>
            <a:r>
              <a:rPr sz="1800" b="1" dirty="0">
                <a:latin typeface="Times New Roman"/>
                <a:cs typeface="Times New Roman"/>
              </a:rPr>
              <a:t>Of </a:t>
            </a:r>
            <a:r>
              <a:rPr sz="1800" b="1" spc="-5" dirty="0">
                <a:latin typeface="Times New Roman"/>
                <a:cs typeface="Times New Roman"/>
              </a:rPr>
              <a:t>Code</a:t>
            </a:r>
            <a:r>
              <a:rPr sz="1800" b="1" spc="-45" dirty="0">
                <a:latin typeface="Times New Roman"/>
                <a:cs typeface="Times New Roman"/>
              </a:rPr>
              <a:t> </a:t>
            </a:r>
            <a:r>
              <a:rPr sz="1800" b="1" spc="-5" dirty="0">
                <a:latin typeface="Times New Roman"/>
                <a:cs typeface="Times New Roman"/>
              </a:rPr>
              <a:t>(LOC).</a:t>
            </a:r>
            <a:endParaRPr sz="1800">
              <a:latin typeface="Times New Roman"/>
              <a:cs typeface="Times New Roman"/>
            </a:endParaRPr>
          </a:p>
          <a:p>
            <a:pPr marL="469900" marR="3688715" indent="-457834">
              <a:lnSpc>
                <a:spcPct val="149900"/>
              </a:lnSpc>
              <a:spcBef>
                <a:spcPts val="434"/>
              </a:spcBef>
            </a:pPr>
            <a:r>
              <a:rPr sz="1600" spc="-15" dirty="0">
                <a:latin typeface="Times New Roman"/>
                <a:cs typeface="Times New Roman"/>
              </a:rPr>
              <a:t>The </a:t>
            </a:r>
            <a:r>
              <a:rPr sz="1600" dirty="0">
                <a:latin typeface="Times New Roman"/>
                <a:cs typeface="Times New Roman"/>
              </a:rPr>
              <a:t>basic </a:t>
            </a:r>
            <a:r>
              <a:rPr sz="1600" spc="-5" dirty="0">
                <a:latin typeface="Times New Roman"/>
                <a:cs typeface="Times New Roman"/>
              </a:rPr>
              <a:t>cocomo </a:t>
            </a:r>
            <a:r>
              <a:rPr sz="1600" spc="-15" dirty="0">
                <a:latin typeface="Times New Roman"/>
                <a:cs typeface="Times New Roman"/>
              </a:rPr>
              <a:t>model </a:t>
            </a:r>
            <a:r>
              <a:rPr sz="1600" spc="5" dirty="0">
                <a:latin typeface="Times New Roman"/>
                <a:cs typeface="Times New Roman"/>
              </a:rPr>
              <a:t>takes </a:t>
            </a:r>
            <a:r>
              <a:rPr sz="1600" dirty="0">
                <a:latin typeface="Times New Roman"/>
                <a:cs typeface="Times New Roman"/>
              </a:rPr>
              <a:t>the following </a:t>
            </a:r>
            <a:r>
              <a:rPr sz="1600" spc="-15" dirty="0">
                <a:latin typeface="Times New Roman"/>
                <a:cs typeface="Times New Roman"/>
              </a:rPr>
              <a:t>form:  </a:t>
            </a:r>
            <a:r>
              <a:rPr sz="1600" b="1" spc="-10" dirty="0">
                <a:latin typeface="Times New Roman"/>
                <a:cs typeface="Times New Roman"/>
              </a:rPr>
              <a:t>E=a</a:t>
            </a:r>
            <a:r>
              <a:rPr sz="1000" b="1" spc="-10" dirty="0">
                <a:latin typeface="Times New Roman"/>
                <a:cs typeface="Times New Roman"/>
              </a:rPr>
              <a:t>b</a:t>
            </a:r>
            <a:r>
              <a:rPr sz="1600" b="1" spc="-10" dirty="0">
                <a:latin typeface="Times New Roman"/>
                <a:cs typeface="Times New Roman"/>
              </a:rPr>
              <a:t>* </a:t>
            </a:r>
            <a:r>
              <a:rPr sz="1600" b="1" dirty="0">
                <a:latin typeface="Times New Roman"/>
                <a:cs typeface="Times New Roman"/>
              </a:rPr>
              <a:t>( </a:t>
            </a:r>
            <a:r>
              <a:rPr sz="1600" b="1" spc="5" dirty="0">
                <a:latin typeface="Times New Roman"/>
                <a:cs typeface="Times New Roman"/>
              </a:rPr>
              <a:t>(KLOC)^</a:t>
            </a:r>
            <a:r>
              <a:rPr sz="1400" b="1" spc="5" dirty="0">
                <a:latin typeface="Times New Roman"/>
                <a:cs typeface="Times New Roman"/>
              </a:rPr>
              <a:t>b</a:t>
            </a:r>
            <a:r>
              <a:rPr sz="800" b="1" spc="5" dirty="0">
                <a:latin typeface="Times New Roman"/>
                <a:cs typeface="Times New Roman"/>
              </a:rPr>
              <a:t>b </a:t>
            </a:r>
            <a:r>
              <a:rPr sz="1600" b="1" dirty="0">
                <a:latin typeface="Times New Roman"/>
                <a:cs typeface="Times New Roman"/>
              </a:rPr>
              <a:t>) </a:t>
            </a:r>
            <a:r>
              <a:rPr sz="1600" spc="-5" dirty="0">
                <a:latin typeface="Times New Roman"/>
                <a:cs typeface="Times New Roman"/>
              </a:rPr>
              <a:t>persons-months  </a:t>
            </a:r>
            <a:r>
              <a:rPr sz="1600" b="1" spc="-10" dirty="0">
                <a:latin typeface="Times New Roman"/>
                <a:cs typeface="Times New Roman"/>
              </a:rPr>
              <a:t>D=c</a:t>
            </a:r>
            <a:r>
              <a:rPr sz="1100" b="1" spc="-10" dirty="0">
                <a:latin typeface="Times New Roman"/>
                <a:cs typeface="Times New Roman"/>
              </a:rPr>
              <a:t>b</a:t>
            </a:r>
            <a:r>
              <a:rPr sz="1600" b="1" spc="-10" dirty="0">
                <a:latin typeface="Times New Roman"/>
                <a:cs typeface="Times New Roman"/>
              </a:rPr>
              <a:t>*( </a:t>
            </a:r>
            <a:r>
              <a:rPr sz="1600" b="1" spc="5" dirty="0">
                <a:latin typeface="Times New Roman"/>
                <a:cs typeface="Times New Roman"/>
              </a:rPr>
              <a:t>(E)^</a:t>
            </a:r>
            <a:r>
              <a:rPr sz="1400" b="1" spc="5" dirty="0">
                <a:latin typeface="Times New Roman"/>
                <a:cs typeface="Times New Roman"/>
              </a:rPr>
              <a:t>d</a:t>
            </a:r>
            <a:r>
              <a:rPr sz="1100" b="1" spc="5" dirty="0">
                <a:latin typeface="Times New Roman"/>
                <a:cs typeface="Times New Roman"/>
              </a:rPr>
              <a:t>b </a:t>
            </a:r>
            <a:r>
              <a:rPr sz="1600" b="1" dirty="0">
                <a:latin typeface="Times New Roman"/>
                <a:cs typeface="Times New Roman"/>
              </a:rPr>
              <a:t>)</a:t>
            </a:r>
            <a:r>
              <a:rPr sz="1600" b="1" spc="-135" dirty="0">
                <a:latin typeface="Times New Roman"/>
                <a:cs typeface="Times New Roman"/>
              </a:rPr>
              <a:t> </a:t>
            </a:r>
            <a:r>
              <a:rPr sz="1600" spc="-10" dirty="0">
                <a:latin typeface="Times New Roman"/>
                <a:cs typeface="Times New Roman"/>
              </a:rPr>
              <a:t>months</a:t>
            </a:r>
            <a:endParaRPr sz="1600">
              <a:latin typeface="Times New Roman"/>
              <a:cs typeface="Times New Roman"/>
            </a:endParaRPr>
          </a:p>
          <a:p>
            <a:pPr marL="12700">
              <a:lnSpc>
                <a:spcPts val="1885"/>
              </a:lnSpc>
              <a:spcBef>
                <a:spcPts val="985"/>
              </a:spcBef>
            </a:pPr>
            <a:r>
              <a:rPr sz="1600" spc="-15" dirty="0">
                <a:latin typeface="Times New Roman"/>
                <a:cs typeface="Times New Roman"/>
              </a:rPr>
              <a:t>Where</a:t>
            </a:r>
            <a:endParaRPr sz="1600">
              <a:latin typeface="Times New Roman"/>
              <a:cs typeface="Times New Roman"/>
            </a:endParaRPr>
          </a:p>
          <a:p>
            <a:pPr marL="469900" marR="3819525">
              <a:lnSpc>
                <a:spcPts val="1800"/>
              </a:lnSpc>
              <a:spcBef>
                <a:spcPts val="125"/>
              </a:spcBef>
            </a:pPr>
            <a:r>
              <a:rPr sz="1600" u="sng" dirty="0">
                <a:uFill>
                  <a:solidFill>
                    <a:srgbClr val="000000"/>
                  </a:solidFill>
                </a:uFill>
                <a:latin typeface="Times New Roman"/>
                <a:cs typeface="Times New Roman"/>
              </a:rPr>
              <a:t>E</a:t>
            </a:r>
            <a:r>
              <a:rPr sz="1600" dirty="0">
                <a:latin typeface="Times New Roman"/>
                <a:cs typeface="Times New Roman"/>
              </a:rPr>
              <a:t> = </a:t>
            </a:r>
            <a:r>
              <a:rPr sz="1600" spc="-5" dirty="0">
                <a:latin typeface="Times New Roman"/>
                <a:cs typeface="Times New Roman"/>
              </a:rPr>
              <a:t>Stands </a:t>
            </a:r>
            <a:r>
              <a:rPr sz="1600" spc="-15" dirty="0">
                <a:latin typeface="Times New Roman"/>
                <a:cs typeface="Times New Roman"/>
              </a:rPr>
              <a:t>for </a:t>
            </a:r>
            <a:r>
              <a:rPr sz="1600" u="sng" spc="-20" dirty="0">
                <a:uFill>
                  <a:solidFill>
                    <a:srgbClr val="000000"/>
                  </a:solidFill>
                </a:uFill>
                <a:latin typeface="Times New Roman"/>
                <a:cs typeface="Times New Roman"/>
              </a:rPr>
              <a:t>the </a:t>
            </a:r>
            <a:r>
              <a:rPr sz="1600" u="sng" spc="-5" dirty="0">
                <a:uFill>
                  <a:solidFill>
                    <a:srgbClr val="000000"/>
                  </a:solidFill>
                </a:uFill>
                <a:latin typeface="Times New Roman"/>
                <a:cs typeface="Times New Roman"/>
              </a:rPr>
              <a:t>effort</a:t>
            </a:r>
            <a:r>
              <a:rPr sz="1600" spc="-5" dirty="0">
                <a:latin typeface="Times New Roman"/>
                <a:cs typeface="Times New Roman"/>
              </a:rPr>
              <a:t> applied </a:t>
            </a:r>
            <a:r>
              <a:rPr sz="1600" dirty="0">
                <a:latin typeface="Times New Roman"/>
                <a:cs typeface="Times New Roman"/>
              </a:rPr>
              <a:t>in </a:t>
            </a:r>
            <a:r>
              <a:rPr sz="1600" spc="10" dirty="0">
                <a:latin typeface="Times New Roman"/>
                <a:cs typeface="Times New Roman"/>
              </a:rPr>
              <a:t>terms </a:t>
            </a:r>
            <a:r>
              <a:rPr sz="1600" dirty="0">
                <a:latin typeface="Times New Roman"/>
                <a:cs typeface="Times New Roman"/>
              </a:rPr>
              <a:t>of  </a:t>
            </a:r>
            <a:r>
              <a:rPr sz="1600" spc="-5" dirty="0">
                <a:latin typeface="Times New Roman"/>
                <a:cs typeface="Times New Roman"/>
              </a:rPr>
              <a:t>person</a:t>
            </a:r>
            <a:r>
              <a:rPr sz="1600" spc="-10" dirty="0">
                <a:latin typeface="Times New Roman"/>
                <a:cs typeface="Times New Roman"/>
              </a:rPr>
              <a:t> </a:t>
            </a:r>
            <a:r>
              <a:rPr sz="1600" spc="-5" dirty="0">
                <a:latin typeface="Times New Roman"/>
                <a:cs typeface="Times New Roman"/>
              </a:rPr>
              <a:t>months</a:t>
            </a:r>
            <a:endParaRPr sz="1600">
              <a:latin typeface="Times New Roman"/>
              <a:cs typeface="Times New Roman"/>
            </a:endParaRPr>
          </a:p>
          <a:p>
            <a:pPr marL="469900" marR="3472815">
              <a:lnSpc>
                <a:spcPts val="1850"/>
              </a:lnSpc>
              <a:spcBef>
                <a:spcPts val="1215"/>
              </a:spcBef>
            </a:pPr>
            <a:r>
              <a:rPr sz="1600" u="sng" dirty="0">
                <a:uFill>
                  <a:solidFill>
                    <a:srgbClr val="000000"/>
                  </a:solidFill>
                </a:uFill>
                <a:latin typeface="Times New Roman"/>
                <a:cs typeface="Times New Roman"/>
              </a:rPr>
              <a:t>D</a:t>
            </a:r>
            <a:r>
              <a:rPr sz="1600" dirty="0">
                <a:latin typeface="Times New Roman"/>
                <a:cs typeface="Times New Roman"/>
              </a:rPr>
              <a:t> = </a:t>
            </a:r>
            <a:r>
              <a:rPr sz="1600" u="sng" spc="-5" dirty="0">
                <a:uFill>
                  <a:solidFill>
                    <a:srgbClr val="000000"/>
                  </a:solidFill>
                </a:uFill>
                <a:latin typeface="Times New Roman"/>
                <a:cs typeface="Times New Roman"/>
              </a:rPr>
              <a:t>Development </a:t>
            </a:r>
            <a:r>
              <a:rPr sz="1600" u="sng" spc="-15" dirty="0">
                <a:uFill>
                  <a:solidFill>
                    <a:srgbClr val="000000"/>
                  </a:solidFill>
                </a:uFill>
                <a:latin typeface="Times New Roman"/>
                <a:cs typeface="Times New Roman"/>
              </a:rPr>
              <a:t>time</a:t>
            </a:r>
            <a:r>
              <a:rPr sz="1600" spc="-15" dirty="0">
                <a:latin typeface="Times New Roman"/>
                <a:cs typeface="Times New Roman"/>
              </a:rPr>
              <a:t> </a:t>
            </a:r>
            <a:r>
              <a:rPr sz="1600" spc="25" dirty="0">
                <a:latin typeface="Times New Roman"/>
                <a:cs typeface="Times New Roman"/>
              </a:rPr>
              <a:t>in </a:t>
            </a:r>
            <a:r>
              <a:rPr sz="1600" spc="-10" dirty="0">
                <a:latin typeface="Times New Roman"/>
                <a:cs typeface="Times New Roman"/>
              </a:rPr>
              <a:t>chronological </a:t>
            </a:r>
            <a:r>
              <a:rPr sz="1600" spc="-5" dirty="0">
                <a:latin typeface="Times New Roman"/>
                <a:cs typeface="Times New Roman"/>
              </a:rPr>
              <a:t>months  </a:t>
            </a:r>
            <a:r>
              <a:rPr sz="1600" spc="-10" dirty="0">
                <a:latin typeface="Times New Roman"/>
                <a:cs typeface="Times New Roman"/>
              </a:rPr>
              <a:t>KLOC-Kilo </a:t>
            </a:r>
            <a:r>
              <a:rPr sz="1600" spc="5" dirty="0">
                <a:latin typeface="Times New Roman"/>
                <a:cs typeface="Times New Roman"/>
              </a:rPr>
              <a:t>lines </a:t>
            </a:r>
            <a:r>
              <a:rPr sz="1600" spc="20" dirty="0">
                <a:latin typeface="Times New Roman"/>
                <a:cs typeface="Times New Roman"/>
              </a:rPr>
              <a:t>of </a:t>
            </a:r>
            <a:r>
              <a:rPr sz="1600" spc="-5" dirty="0">
                <a:latin typeface="Times New Roman"/>
                <a:cs typeface="Times New Roman"/>
              </a:rPr>
              <a:t>code </a:t>
            </a:r>
            <a:r>
              <a:rPr sz="1600" spc="20" dirty="0">
                <a:latin typeface="Times New Roman"/>
                <a:cs typeface="Times New Roman"/>
              </a:rPr>
              <a:t>of </a:t>
            </a:r>
            <a:r>
              <a:rPr sz="1600" spc="-5" dirty="0">
                <a:latin typeface="Times New Roman"/>
                <a:cs typeface="Times New Roman"/>
              </a:rPr>
              <a:t>the</a:t>
            </a:r>
            <a:r>
              <a:rPr sz="1600" spc="-200" dirty="0">
                <a:latin typeface="Times New Roman"/>
                <a:cs typeface="Times New Roman"/>
              </a:rPr>
              <a:t> </a:t>
            </a:r>
            <a:r>
              <a:rPr sz="1600" spc="-5" dirty="0">
                <a:latin typeface="Times New Roman"/>
                <a:cs typeface="Times New Roman"/>
              </a:rPr>
              <a:t>project</a:t>
            </a:r>
            <a:endParaRPr sz="1600">
              <a:latin typeface="Times New Roman"/>
              <a:cs typeface="Times New Roman"/>
            </a:endParaRPr>
          </a:p>
          <a:p>
            <a:pPr marL="469900">
              <a:lnSpc>
                <a:spcPct val="100000"/>
              </a:lnSpc>
              <a:spcBef>
                <a:spcPts val="1085"/>
              </a:spcBef>
            </a:pPr>
            <a:r>
              <a:rPr sz="1600" u="sng" spc="-10" dirty="0">
                <a:uFill>
                  <a:solidFill>
                    <a:srgbClr val="000000"/>
                  </a:solidFill>
                </a:uFill>
                <a:latin typeface="Times New Roman"/>
                <a:cs typeface="Times New Roman"/>
              </a:rPr>
              <a:t>ab, </a:t>
            </a:r>
            <a:r>
              <a:rPr sz="1600" u="sng" spc="-5" dirty="0">
                <a:uFill>
                  <a:solidFill>
                    <a:srgbClr val="000000"/>
                  </a:solidFill>
                </a:uFill>
                <a:latin typeface="Times New Roman"/>
                <a:cs typeface="Times New Roman"/>
              </a:rPr>
              <a:t>bb, cb,db</a:t>
            </a:r>
            <a:r>
              <a:rPr sz="1600" spc="-5" dirty="0">
                <a:latin typeface="Times New Roman"/>
                <a:cs typeface="Times New Roman"/>
              </a:rPr>
              <a:t> are </a:t>
            </a:r>
            <a:r>
              <a:rPr sz="1600" dirty="0">
                <a:latin typeface="Times New Roman"/>
                <a:cs typeface="Times New Roman"/>
              </a:rPr>
              <a:t>the </a:t>
            </a:r>
            <a:r>
              <a:rPr sz="1600" u="sng" spc="-5" dirty="0">
                <a:uFill>
                  <a:solidFill>
                    <a:srgbClr val="000000"/>
                  </a:solidFill>
                </a:uFill>
                <a:latin typeface="Times New Roman"/>
                <a:cs typeface="Times New Roman"/>
              </a:rPr>
              <a:t>coefficients</a:t>
            </a:r>
            <a:r>
              <a:rPr sz="1600" spc="-5" dirty="0">
                <a:latin typeface="Times New Roman"/>
                <a:cs typeface="Times New Roman"/>
              </a:rPr>
              <a:t> </a:t>
            </a:r>
            <a:r>
              <a:rPr sz="1600" spc="-15" dirty="0">
                <a:latin typeface="Times New Roman"/>
                <a:cs typeface="Times New Roman"/>
              </a:rPr>
              <a:t>for </a:t>
            </a:r>
            <a:r>
              <a:rPr sz="1600" u="sng" spc="-5" dirty="0">
                <a:uFill>
                  <a:solidFill>
                    <a:srgbClr val="000000"/>
                  </a:solidFill>
                </a:uFill>
                <a:latin typeface="Times New Roman"/>
                <a:cs typeface="Times New Roman"/>
              </a:rPr>
              <a:t>three</a:t>
            </a:r>
            <a:r>
              <a:rPr sz="1600" u="sng" spc="45" dirty="0">
                <a:uFill>
                  <a:solidFill>
                    <a:srgbClr val="000000"/>
                  </a:solidFill>
                </a:uFill>
                <a:latin typeface="Times New Roman"/>
                <a:cs typeface="Times New Roman"/>
              </a:rPr>
              <a:t> </a:t>
            </a:r>
            <a:r>
              <a:rPr sz="1600" u="sng" spc="-5" dirty="0">
                <a:uFill>
                  <a:solidFill>
                    <a:srgbClr val="000000"/>
                  </a:solidFill>
                </a:uFill>
                <a:latin typeface="Times New Roman"/>
                <a:cs typeface="Times New Roman"/>
              </a:rPr>
              <a:t>modes</a:t>
            </a:r>
            <a:endParaRPr sz="1600">
              <a:latin typeface="Times New Roman"/>
              <a:cs typeface="Times New Roman"/>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1125" y="0"/>
            <a:ext cx="142875" cy="13716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8912225" y="2106929"/>
            <a:ext cx="142875" cy="4751070"/>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915035" y="928052"/>
            <a:ext cx="7199630" cy="356235"/>
          </a:xfrm>
          <a:prstGeom prst="rect">
            <a:avLst/>
          </a:prstGeom>
          <a:solidFill>
            <a:srgbClr val="C0C0C0"/>
          </a:solidFill>
        </p:spPr>
        <p:txBody>
          <a:bodyPr vert="horz" wrap="square" lIns="0" tIns="25400" rIns="0" bIns="0" rtlCol="0">
            <a:spAutoFit/>
          </a:bodyPr>
          <a:lstStyle/>
          <a:p>
            <a:pPr>
              <a:lnSpc>
                <a:spcPct val="100000"/>
              </a:lnSpc>
              <a:spcBef>
                <a:spcPts val="200"/>
              </a:spcBef>
            </a:pPr>
            <a:r>
              <a:rPr sz="2000" b="0" dirty="0">
                <a:solidFill>
                  <a:srgbClr val="D1282D"/>
                </a:solidFill>
                <a:latin typeface="Arial Black"/>
                <a:cs typeface="Arial Black"/>
              </a:rPr>
              <a:t>MERITS </a:t>
            </a:r>
            <a:r>
              <a:rPr sz="2000" b="0" spc="-10" dirty="0">
                <a:solidFill>
                  <a:srgbClr val="D1282D"/>
                </a:solidFill>
                <a:latin typeface="Arial Black"/>
                <a:cs typeface="Arial Black"/>
              </a:rPr>
              <a:t>AND </a:t>
            </a:r>
            <a:r>
              <a:rPr sz="2000" b="0" dirty="0">
                <a:solidFill>
                  <a:srgbClr val="D1282D"/>
                </a:solidFill>
                <a:latin typeface="Arial Black"/>
                <a:cs typeface="Arial Black"/>
              </a:rPr>
              <a:t>DEMERITS </a:t>
            </a:r>
            <a:r>
              <a:rPr sz="2000" b="0" spc="-10" dirty="0">
                <a:solidFill>
                  <a:srgbClr val="D1282D"/>
                </a:solidFill>
                <a:latin typeface="Arial Black"/>
                <a:cs typeface="Arial Black"/>
              </a:rPr>
              <a:t>OF </a:t>
            </a:r>
            <a:r>
              <a:rPr sz="2000" b="0" dirty="0">
                <a:solidFill>
                  <a:srgbClr val="D1282D"/>
                </a:solidFill>
                <a:latin typeface="Arial Black"/>
                <a:cs typeface="Arial Black"/>
              </a:rPr>
              <a:t>BASIC </a:t>
            </a:r>
            <a:r>
              <a:rPr sz="2000" b="0" spc="-10" dirty="0">
                <a:solidFill>
                  <a:srgbClr val="D1282D"/>
                </a:solidFill>
                <a:latin typeface="Arial Black"/>
                <a:cs typeface="Arial Black"/>
              </a:rPr>
              <a:t>COCOMO</a:t>
            </a:r>
            <a:r>
              <a:rPr sz="2000" b="0" spc="-60" dirty="0">
                <a:solidFill>
                  <a:srgbClr val="D1282D"/>
                </a:solidFill>
                <a:latin typeface="Arial Black"/>
                <a:cs typeface="Arial Black"/>
              </a:rPr>
              <a:t> </a:t>
            </a:r>
            <a:r>
              <a:rPr sz="2000" b="0" spc="-5" dirty="0">
                <a:solidFill>
                  <a:srgbClr val="D1282D"/>
                </a:solidFill>
                <a:latin typeface="Arial Black"/>
                <a:cs typeface="Arial Black"/>
              </a:rPr>
              <a:t>MODEL</a:t>
            </a:r>
            <a:endParaRPr sz="2000">
              <a:latin typeface="Arial Black"/>
              <a:cs typeface="Arial Black"/>
            </a:endParaRPr>
          </a:p>
        </p:txBody>
      </p:sp>
      <p:sp>
        <p:nvSpPr>
          <p:cNvPr id="5" name="object 5"/>
          <p:cNvSpPr txBox="1"/>
          <p:nvPr/>
        </p:nvSpPr>
        <p:spPr>
          <a:xfrm>
            <a:off x="521017" y="1760537"/>
            <a:ext cx="7199630" cy="4164965"/>
          </a:xfrm>
          <a:prstGeom prst="rect">
            <a:avLst/>
          </a:prstGeom>
        </p:spPr>
        <p:txBody>
          <a:bodyPr vert="horz" wrap="square" lIns="0" tIns="12700" rIns="0" bIns="0" rtlCol="0">
            <a:spAutoFit/>
          </a:bodyPr>
          <a:lstStyle/>
          <a:p>
            <a:pPr marL="12700">
              <a:lnSpc>
                <a:spcPct val="100000"/>
              </a:lnSpc>
              <a:spcBef>
                <a:spcPts val="100"/>
              </a:spcBef>
            </a:pPr>
            <a:r>
              <a:rPr sz="1800" b="1" u="heavy" spc="-10" dirty="0">
                <a:uFill>
                  <a:solidFill>
                    <a:srgbClr val="000000"/>
                  </a:solidFill>
                </a:uFill>
                <a:latin typeface="Times New Roman"/>
                <a:cs typeface="Times New Roman"/>
              </a:rPr>
              <a:t>Advantages:</a:t>
            </a:r>
            <a:endParaRPr sz="1800">
              <a:latin typeface="Times New Roman"/>
              <a:cs typeface="Times New Roman"/>
            </a:endParaRPr>
          </a:p>
          <a:p>
            <a:pPr marL="355600" marR="5080" indent="-342900">
              <a:lnSpc>
                <a:spcPts val="2100"/>
              </a:lnSpc>
              <a:spcBef>
                <a:spcPts val="1565"/>
              </a:spcBef>
              <a:buAutoNum type="arabicPeriod"/>
              <a:tabLst>
                <a:tab pos="355600" algn="l"/>
                <a:tab pos="356235" algn="l"/>
              </a:tabLst>
            </a:pPr>
            <a:r>
              <a:rPr sz="1800" spc="-10" dirty="0">
                <a:latin typeface="Times New Roman"/>
                <a:cs typeface="Times New Roman"/>
              </a:rPr>
              <a:t>Basic </a:t>
            </a:r>
            <a:r>
              <a:rPr sz="1800" dirty="0">
                <a:latin typeface="Times New Roman"/>
                <a:cs typeface="Times New Roman"/>
              </a:rPr>
              <a:t>COCOMO </a:t>
            </a:r>
            <a:r>
              <a:rPr sz="1800" spc="-5" dirty="0">
                <a:latin typeface="Times New Roman"/>
                <a:cs typeface="Times New Roman"/>
              </a:rPr>
              <a:t>model </a:t>
            </a:r>
            <a:r>
              <a:rPr sz="1800" spc="-30" dirty="0">
                <a:latin typeface="Times New Roman"/>
                <a:cs typeface="Times New Roman"/>
              </a:rPr>
              <a:t>is </a:t>
            </a:r>
            <a:r>
              <a:rPr sz="1800" spc="-5" dirty="0">
                <a:latin typeface="Times New Roman"/>
                <a:cs typeface="Times New Roman"/>
              </a:rPr>
              <a:t>good </a:t>
            </a:r>
            <a:r>
              <a:rPr sz="1800" dirty="0">
                <a:latin typeface="Times New Roman"/>
                <a:cs typeface="Times New Roman"/>
              </a:rPr>
              <a:t>for </a:t>
            </a:r>
            <a:r>
              <a:rPr sz="1800" spc="-5" dirty="0">
                <a:latin typeface="Times New Roman"/>
                <a:cs typeface="Times New Roman"/>
              </a:rPr>
              <a:t>quick, early, rough order </a:t>
            </a:r>
            <a:r>
              <a:rPr sz="1800" dirty="0">
                <a:latin typeface="Times New Roman"/>
                <a:cs typeface="Times New Roman"/>
              </a:rPr>
              <a:t>of </a:t>
            </a:r>
            <a:r>
              <a:rPr sz="1800" spc="-10" dirty="0">
                <a:latin typeface="Times New Roman"/>
                <a:cs typeface="Times New Roman"/>
              </a:rPr>
              <a:t>magnitude  estimates </a:t>
            </a:r>
            <a:r>
              <a:rPr sz="1800" dirty="0">
                <a:latin typeface="Times New Roman"/>
                <a:cs typeface="Times New Roman"/>
              </a:rPr>
              <a:t>of </a:t>
            </a:r>
            <a:r>
              <a:rPr sz="1800" spc="-5" dirty="0">
                <a:latin typeface="Times New Roman"/>
                <a:cs typeface="Times New Roman"/>
              </a:rPr>
              <a:t>software</a:t>
            </a:r>
            <a:r>
              <a:rPr sz="1800" spc="5" dirty="0">
                <a:latin typeface="Times New Roman"/>
                <a:cs typeface="Times New Roman"/>
              </a:rPr>
              <a:t> </a:t>
            </a:r>
            <a:r>
              <a:rPr sz="1800" spc="-5" dirty="0">
                <a:latin typeface="Times New Roman"/>
                <a:cs typeface="Times New Roman"/>
              </a:rPr>
              <a:t>project.</a:t>
            </a:r>
            <a:endParaRPr sz="1800">
              <a:latin typeface="Times New Roman"/>
              <a:cs typeface="Times New Roman"/>
            </a:endParaRPr>
          </a:p>
          <a:p>
            <a:pPr marL="355600" marR="265430" indent="-342900">
              <a:lnSpc>
                <a:spcPct val="98500"/>
              </a:lnSpc>
              <a:spcBef>
                <a:spcPts val="1115"/>
              </a:spcBef>
              <a:buAutoNum type="arabicPeriod"/>
              <a:tabLst>
                <a:tab pos="355600" algn="l"/>
                <a:tab pos="356235" algn="l"/>
              </a:tabLst>
            </a:pPr>
            <a:r>
              <a:rPr sz="1800" spc="-10" dirty="0">
                <a:latin typeface="Arial"/>
                <a:cs typeface="Arial"/>
              </a:rPr>
              <a:t>COCOMO </a:t>
            </a:r>
            <a:r>
              <a:rPr sz="1800" spc="-30" dirty="0">
                <a:latin typeface="Arial"/>
                <a:cs typeface="Arial"/>
              </a:rPr>
              <a:t>is </a:t>
            </a:r>
            <a:r>
              <a:rPr sz="1800" spc="-5" dirty="0">
                <a:latin typeface="Arial"/>
                <a:cs typeface="Arial"/>
              </a:rPr>
              <a:t>simple, because </a:t>
            </a:r>
            <a:r>
              <a:rPr sz="1800" spc="-30" dirty="0">
                <a:latin typeface="Arial"/>
                <a:cs typeface="Arial"/>
              </a:rPr>
              <a:t>it </a:t>
            </a:r>
            <a:r>
              <a:rPr sz="1800" spc="-5" dirty="0">
                <a:latin typeface="Arial"/>
                <a:cs typeface="Arial"/>
              </a:rPr>
              <a:t>requires </a:t>
            </a:r>
            <a:r>
              <a:rPr sz="1800" dirty="0">
                <a:latin typeface="Arial"/>
                <a:cs typeface="Arial"/>
              </a:rPr>
              <a:t>a </a:t>
            </a:r>
            <a:r>
              <a:rPr sz="1800" spc="10" dirty="0">
                <a:latin typeface="Arial"/>
                <a:cs typeface="Arial"/>
              </a:rPr>
              <a:t>small </a:t>
            </a:r>
            <a:r>
              <a:rPr sz="1800" spc="-5" dirty="0">
                <a:latin typeface="Arial"/>
                <a:cs typeface="Arial"/>
              </a:rPr>
              <a:t>amount </a:t>
            </a:r>
            <a:r>
              <a:rPr sz="1800" dirty="0">
                <a:latin typeface="Arial"/>
                <a:cs typeface="Arial"/>
              </a:rPr>
              <a:t>of </a:t>
            </a:r>
            <a:r>
              <a:rPr sz="1800" spc="-5" dirty="0">
                <a:latin typeface="Arial"/>
                <a:cs typeface="Arial"/>
              </a:rPr>
              <a:t>data  (LOC) </a:t>
            </a:r>
            <a:r>
              <a:rPr sz="1800" dirty="0">
                <a:latin typeface="Arial"/>
                <a:cs typeface="Arial"/>
              </a:rPr>
              <a:t>to </a:t>
            </a:r>
            <a:r>
              <a:rPr sz="1800" spc="-10" dirty="0">
                <a:latin typeface="Arial"/>
                <a:cs typeface="Arial"/>
              </a:rPr>
              <a:t>determine </a:t>
            </a:r>
            <a:r>
              <a:rPr sz="1800" spc="-5" dirty="0">
                <a:latin typeface="Arial"/>
                <a:cs typeface="Arial"/>
              </a:rPr>
              <a:t>the effort and cost. Hence </a:t>
            </a:r>
            <a:r>
              <a:rPr sz="1800" spc="-30" dirty="0">
                <a:latin typeface="Arial"/>
                <a:cs typeface="Arial"/>
              </a:rPr>
              <a:t>it is </a:t>
            </a:r>
            <a:r>
              <a:rPr sz="1800" dirty="0">
                <a:latin typeface="Arial"/>
                <a:cs typeface="Arial"/>
              </a:rPr>
              <a:t>a static </a:t>
            </a:r>
            <a:r>
              <a:rPr sz="1800" spc="5" dirty="0">
                <a:latin typeface="Arial"/>
                <a:cs typeface="Arial"/>
              </a:rPr>
              <a:t>single-  </a:t>
            </a:r>
            <a:r>
              <a:rPr sz="1800" spc="-10" dirty="0">
                <a:latin typeface="Arial"/>
                <a:cs typeface="Arial"/>
              </a:rPr>
              <a:t>valued </a:t>
            </a:r>
            <a:r>
              <a:rPr sz="1800" spc="-5" dirty="0">
                <a:latin typeface="Arial"/>
                <a:cs typeface="Arial"/>
              </a:rPr>
              <a:t>model.</a:t>
            </a:r>
            <a:endParaRPr sz="1800">
              <a:latin typeface="Arial"/>
              <a:cs typeface="Arial"/>
            </a:endParaRPr>
          </a:p>
          <a:p>
            <a:pPr marL="12700">
              <a:lnSpc>
                <a:spcPct val="100000"/>
              </a:lnSpc>
              <a:spcBef>
                <a:spcPts val="1745"/>
              </a:spcBef>
            </a:pPr>
            <a:r>
              <a:rPr sz="1800" b="1" u="heavy" spc="-10" dirty="0">
                <a:uFill>
                  <a:solidFill>
                    <a:srgbClr val="000000"/>
                  </a:solidFill>
                </a:uFill>
                <a:latin typeface="Times New Roman"/>
                <a:cs typeface="Times New Roman"/>
              </a:rPr>
              <a:t>Limitations</a:t>
            </a:r>
            <a:r>
              <a:rPr sz="1800" b="1" u="heavy" spc="-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a:t>
            </a:r>
            <a:endParaRPr sz="1800">
              <a:latin typeface="Times New Roman"/>
              <a:cs typeface="Times New Roman"/>
            </a:endParaRPr>
          </a:p>
          <a:p>
            <a:pPr marL="355600" marR="177800" indent="-342900">
              <a:lnSpc>
                <a:spcPct val="98800"/>
              </a:lnSpc>
              <a:spcBef>
                <a:spcPts val="1520"/>
              </a:spcBef>
              <a:buAutoNum type="arabicPeriod"/>
              <a:tabLst>
                <a:tab pos="355600" algn="l"/>
                <a:tab pos="356235" algn="l"/>
              </a:tabLst>
            </a:pPr>
            <a:r>
              <a:rPr sz="1800" spc="-20" dirty="0">
                <a:latin typeface="Arial"/>
                <a:cs typeface="Arial"/>
              </a:rPr>
              <a:t>The </a:t>
            </a:r>
            <a:r>
              <a:rPr sz="1800" dirty="0">
                <a:latin typeface="Arial"/>
                <a:cs typeface="Arial"/>
              </a:rPr>
              <a:t>accuracy of </a:t>
            </a:r>
            <a:r>
              <a:rPr sz="1800" spc="-5" dirty="0">
                <a:latin typeface="Arial"/>
                <a:cs typeface="Arial"/>
              </a:rPr>
              <a:t>this </a:t>
            </a:r>
            <a:r>
              <a:rPr sz="1800" spc="5" dirty="0">
                <a:latin typeface="Arial"/>
                <a:cs typeface="Arial"/>
              </a:rPr>
              <a:t>model </a:t>
            </a:r>
            <a:r>
              <a:rPr sz="1800" spc="-30" dirty="0">
                <a:latin typeface="Arial"/>
                <a:cs typeface="Arial"/>
              </a:rPr>
              <a:t>is </a:t>
            </a:r>
            <a:r>
              <a:rPr sz="1800" spc="-10" dirty="0">
                <a:latin typeface="Arial"/>
                <a:cs typeface="Arial"/>
              </a:rPr>
              <a:t>limited </a:t>
            </a:r>
            <a:r>
              <a:rPr sz="1800" spc="-5" dirty="0">
                <a:latin typeface="Arial"/>
                <a:cs typeface="Arial"/>
              </a:rPr>
              <a:t>because </a:t>
            </a:r>
            <a:r>
              <a:rPr sz="1800" spc="-30" dirty="0">
                <a:latin typeface="Arial"/>
                <a:cs typeface="Arial"/>
              </a:rPr>
              <a:t>it </a:t>
            </a:r>
            <a:r>
              <a:rPr sz="1800" spc="-5" dirty="0">
                <a:latin typeface="Arial"/>
                <a:cs typeface="Arial"/>
              </a:rPr>
              <a:t>does </a:t>
            </a:r>
            <a:r>
              <a:rPr sz="1800" spc="-20" dirty="0">
                <a:latin typeface="Arial"/>
                <a:cs typeface="Arial"/>
              </a:rPr>
              <a:t>not </a:t>
            </a:r>
            <a:r>
              <a:rPr sz="1800" spc="5" dirty="0">
                <a:latin typeface="Arial"/>
                <a:cs typeface="Arial"/>
              </a:rPr>
              <a:t>consider  </a:t>
            </a:r>
            <a:r>
              <a:rPr sz="1800" spc="-5" dirty="0">
                <a:latin typeface="Arial"/>
                <a:cs typeface="Arial"/>
              </a:rPr>
              <a:t>certain factors </a:t>
            </a:r>
            <a:r>
              <a:rPr sz="1800" dirty="0">
                <a:latin typeface="Arial"/>
                <a:cs typeface="Arial"/>
              </a:rPr>
              <a:t>for </a:t>
            </a:r>
            <a:r>
              <a:rPr sz="1800" spc="-5" dirty="0">
                <a:latin typeface="Arial"/>
                <a:cs typeface="Arial"/>
              </a:rPr>
              <a:t>cost </a:t>
            </a:r>
            <a:r>
              <a:rPr sz="1800" dirty="0">
                <a:latin typeface="Arial"/>
                <a:cs typeface="Arial"/>
              </a:rPr>
              <a:t>estimation of </a:t>
            </a:r>
            <a:r>
              <a:rPr sz="1800" spc="-5" dirty="0">
                <a:latin typeface="Arial"/>
                <a:cs typeface="Arial"/>
              </a:rPr>
              <a:t>software. </a:t>
            </a:r>
            <a:r>
              <a:rPr sz="1800" spc="-10" dirty="0">
                <a:latin typeface="Arial"/>
                <a:cs typeface="Arial"/>
              </a:rPr>
              <a:t>These </a:t>
            </a:r>
            <a:r>
              <a:rPr sz="1800" spc="-5" dirty="0">
                <a:latin typeface="Arial"/>
                <a:cs typeface="Arial"/>
              </a:rPr>
              <a:t>factors </a:t>
            </a:r>
            <a:r>
              <a:rPr sz="1800" dirty="0">
                <a:latin typeface="Arial"/>
                <a:cs typeface="Arial"/>
              </a:rPr>
              <a:t>are  </a:t>
            </a:r>
            <a:r>
              <a:rPr sz="1800" spc="-10" dirty="0">
                <a:latin typeface="Arial"/>
                <a:cs typeface="Arial"/>
              </a:rPr>
              <a:t>hardware </a:t>
            </a:r>
            <a:r>
              <a:rPr sz="1800" spc="-5" dirty="0">
                <a:latin typeface="Arial"/>
                <a:cs typeface="Arial"/>
              </a:rPr>
              <a:t>constraints, </a:t>
            </a:r>
            <a:r>
              <a:rPr sz="1800" dirty="0">
                <a:latin typeface="Arial"/>
                <a:cs typeface="Arial"/>
              </a:rPr>
              <a:t>personal quality </a:t>
            </a:r>
            <a:r>
              <a:rPr sz="1800" spc="-5" dirty="0">
                <a:latin typeface="Arial"/>
                <a:cs typeface="Arial"/>
              </a:rPr>
              <a:t>and </a:t>
            </a:r>
            <a:r>
              <a:rPr sz="1800" dirty="0">
                <a:latin typeface="Arial"/>
                <a:cs typeface="Arial"/>
              </a:rPr>
              <a:t>experiences, </a:t>
            </a:r>
            <a:r>
              <a:rPr sz="1800" spc="5" dirty="0">
                <a:latin typeface="Arial"/>
                <a:cs typeface="Arial"/>
              </a:rPr>
              <a:t>modern  </a:t>
            </a:r>
            <a:r>
              <a:rPr sz="1800" spc="-10" dirty="0">
                <a:latin typeface="Arial"/>
                <a:cs typeface="Arial"/>
              </a:rPr>
              <a:t>techniques </a:t>
            </a:r>
            <a:r>
              <a:rPr sz="1800" spc="-5" dirty="0">
                <a:latin typeface="Arial"/>
                <a:cs typeface="Arial"/>
              </a:rPr>
              <a:t>and</a:t>
            </a:r>
            <a:r>
              <a:rPr sz="1800" spc="5" dirty="0">
                <a:latin typeface="Arial"/>
                <a:cs typeface="Arial"/>
              </a:rPr>
              <a:t> </a:t>
            </a:r>
            <a:r>
              <a:rPr sz="1800" spc="-5" dirty="0">
                <a:latin typeface="Arial"/>
                <a:cs typeface="Arial"/>
              </a:rPr>
              <a:t>tools.</a:t>
            </a:r>
            <a:endParaRPr sz="1800">
              <a:latin typeface="Arial"/>
              <a:cs typeface="Arial"/>
            </a:endParaRPr>
          </a:p>
          <a:p>
            <a:pPr marL="355600" indent="-342900">
              <a:lnSpc>
                <a:spcPct val="100000"/>
              </a:lnSpc>
              <a:spcBef>
                <a:spcPts val="1040"/>
              </a:spcBef>
              <a:buAutoNum type="arabicPeriod"/>
              <a:tabLst>
                <a:tab pos="355600" algn="l"/>
                <a:tab pos="356235" algn="l"/>
              </a:tabLst>
            </a:pPr>
            <a:r>
              <a:rPr sz="1800" dirty="0">
                <a:latin typeface="Arial"/>
                <a:cs typeface="Arial"/>
              </a:rPr>
              <a:t>Not </a:t>
            </a:r>
            <a:r>
              <a:rPr sz="1800" spc="-10" dirty="0">
                <a:latin typeface="Arial"/>
                <a:cs typeface="Arial"/>
              </a:rPr>
              <a:t>suitable </a:t>
            </a:r>
            <a:r>
              <a:rPr sz="1800" spc="-5" dirty="0">
                <a:latin typeface="Arial"/>
                <a:cs typeface="Arial"/>
              </a:rPr>
              <a:t>for rapid </a:t>
            </a:r>
            <a:r>
              <a:rPr sz="1800" dirty="0">
                <a:latin typeface="Arial"/>
                <a:cs typeface="Arial"/>
              </a:rPr>
              <a:t>, </a:t>
            </a:r>
            <a:r>
              <a:rPr sz="1800" spc="-5" dirty="0">
                <a:latin typeface="Arial"/>
                <a:cs typeface="Arial"/>
              </a:rPr>
              <a:t>recuse based</a:t>
            </a:r>
            <a:r>
              <a:rPr sz="1800" spc="15" dirty="0">
                <a:latin typeface="Arial"/>
                <a:cs typeface="Arial"/>
              </a:rPr>
              <a:t> </a:t>
            </a:r>
            <a:r>
              <a:rPr sz="1800" spc="-5" dirty="0">
                <a:latin typeface="Arial"/>
                <a:cs typeface="Arial"/>
              </a:rPr>
              <a:t>developments.</a:t>
            </a:r>
            <a:endParaRPr sz="1800">
              <a:latin typeface="Arial"/>
              <a:cs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63995" y="2892408"/>
            <a:ext cx="4447229" cy="2680921"/>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457517" y="489267"/>
            <a:ext cx="7818120" cy="748030"/>
          </a:xfrm>
          <a:prstGeom prst="rect">
            <a:avLst/>
          </a:prstGeom>
          <a:solidFill>
            <a:srgbClr val="C0C0C0"/>
          </a:solidFill>
        </p:spPr>
        <p:txBody>
          <a:bodyPr vert="horz" wrap="square" lIns="0" tIns="12700" rIns="0" bIns="0" rtlCol="0">
            <a:spAutoFit/>
          </a:bodyPr>
          <a:lstStyle/>
          <a:p>
            <a:pPr marL="12700">
              <a:lnSpc>
                <a:spcPct val="100000"/>
              </a:lnSpc>
              <a:spcBef>
                <a:spcPts val="100"/>
              </a:spcBef>
            </a:pPr>
            <a:r>
              <a:rPr sz="1900" b="1" i="1" u="heavy" spc="-10" dirty="0">
                <a:solidFill>
                  <a:srgbClr val="A6431A"/>
                </a:solidFill>
                <a:uFill>
                  <a:solidFill>
                    <a:srgbClr val="A6431A"/>
                  </a:solidFill>
                </a:uFill>
                <a:latin typeface="Arial"/>
                <a:cs typeface="Arial"/>
              </a:rPr>
              <a:t>Example</a:t>
            </a:r>
            <a:r>
              <a:rPr sz="1900" b="1" i="1" spc="-10" dirty="0">
                <a:solidFill>
                  <a:srgbClr val="A6431A"/>
                </a:solidFill>
                <a:latin typeface="Arial"/>
                <a:cs typeface="Arial"/>
              </a:rPr>
              <a:t>: </a:t>
            </a:r>
            <a:r>
              <a:rPr sz="1900" spc="-10" dirty="0">
                <a:solidFill>
                  <a:srgbClr val="A6431A"/>
                </a:solidFill>
                <a:latin typeface="Arial"/>
                <a:cs typeface="Arial"/>
              </a:rPr>
              <a:t>consider </a:t>
            </a:r>
            <a:r>
              <a:rPr sz="1900" dirty="0">
                <a:solidFill>
                  <a:srgbClr val="A6431A"/>
                </a:solidFill>
                <a:latin typeface="Arial"/>
                <a:cs typeface="Arial"/>
              </a:rPr>
              <a:t>a software </a:t>
            </a:r>
            <a:r>
              <a:rPr sz="1900" spc="-5" dirty="0">
                <a:solidFill>
                  <a:srgbClr val="A6431A"/>
                </a:solidFill>
                <a:latin typeface="Arial"/>
                <a:cs typeface="Arial"/>
              </a:rPr>
              <a:t>project </a:t>
            </a:r>
            <a:r>
              <a:rPr sz="1900" dirty="0">
                <a:solidFill>
                  <a:srgbClr val="A6431A"/>
                </a:solidFill>
                <a:latin typeface="Arial"/>
                <a:cs typeface="Arial"/>
              </a:rPr>
              <a:t>using </a:t>
            </a:r>
            <a:r>
              <a:rPr sz="1900" u="heavy" spc="-10" dirty="0">
                <a:solidFill>
                  <a:srgbClr val="A6431A"/>
                </a:solidFill>
                <a:uFill>
                  <a:solidFill>
                    <a:srgbClr val="A6431A"/>
                  </a:solidFill>
                </a:uFill>
                <a:latin typeface="Arial"/>
                <a:cs typeface="Arial"/>
              </a:rPr>
              <a:t>semi-detached</a:t>
            </a:r>
            <a:r>
              <a:rPr sz="1900" spc="-10" dirty="0">
                <a:solidFill>
                  <a:srgbClr val="A6431A"/>
                </a:solidFill>
                <a:latin typeface="Arial"/>
                <a:cs typeface="Arial"/>
              </a:rPr>
              <a:t> </a:t>
            </a:r>
            <a:r>
              <a:rPr sz="1900" spc="10" dirty="0">
                <a:solidFill>
                  <a:srgbClr val="A6431A"/>
                </a:solidFill>
                <a:latin typeface="Arial"/>
                <a:cs typeface="Arial"/>
              </a:rPr>
              <a:t>mode</a:t>
            </a:r>
            <a:r>
              <a:rPr sz="1900" spc="155" dirty="0">
                <a:solidFill>
                  <a:srgbClr val="A6431A"/>
                </a:solidFill>
                <a:latin typeface="Arial"/>
                <a:cs typeface="Arial"/>
              </a:rPr>
              <a:t> </a:t>
            </a:r>
            <a:r>
              <a:rPr sz="1900" dirty="0">
                <a:solidFill>
                  <a:srgbClr val="A6431A"/>
                </a:solidFill>
                <a:latin typeface="Arial"/>
                <a:cs typeface="Arial"/>
              </a:rPr>
              <a:t>with</a:t>
            </a:r>
            <a:endParaRPr sz="1900">
              <a:latin typeface="Arial"/>
              <a:cs typeface="Arial"/>
            </a:endParaRPr>
          </a:p>
          <a:p>
            <a:pPr marL="12700">
              <a:lnSpc>
                <a:spcPct val="100000"/>
              </a:lnSpc>
              <a:spcBef>
                <a:spcPts val="1125"/>
              </a:spcBef>
            </a:pPr>
            <a:r>
              <a:rPr sz="1900" u="heavy" spc="-5" dirty="0">
                <a:solidFill>
                  <a:srgbClr val="A6431A"/>
                </a:solidFill>
                <a:uFill>
                  <a:solidFill>
                    <a:srgbClr val="A6431A"/>
                  </a:solidFill>
                </a:uFill>
                <a:latin typeface="Arial"/>
                <a:cs typeface="Arial"/>
              </a:rPr>
              <a:t>30,000 lines of code</a:t>
            </a:r>
            <a:r>
              <a:rPr sz="1900" spc="-5" dirty="0">
                <a:solidFill>
                  <a:srgbClr val="A6431A"/>
                </a:solidFill>
                <a:latin typeface="Arial"/>
                <a:cs typeface="Arial"/>
              </a:rPr>
              <a:t> </a:t>
            </a:r>
            <a:r>
              <a:rPr sz="1900" dirty="0">
                <a:solidFill>
                  <a:srgbClr val="A6431A"/>
                </a:solidFill>
                <a:latin typeface="Arial"/>
                <a:cs typeface="Arial"/>
              </a:rPr>
              <a:t>. </a:t>
            </a:r>
            <a:r>
              <a:rPr sz="1900" spc="50" dirty="0">
                <a:solidFill>
                  <a:srgbClr val="A6431A"/>
                </a:solidFill>
                <a:latin typeface="Arial"/>
                <a:cs typeface="Arial"/>
              </a:rPr>
              <a:t>We </a:t>
            </a:r>
            <a:r>
              <a:rPr sz="1900" spc="-10" dirty="0">
                <a:solidFill>
                  <a:srgbClr val="A6431A"/>
                </a:solidFill>
                <a:latin typeface="Arial"/>
                <a:cs typeface="Arial"/>
              </a:rPr>
              <a:t>will obtain </a:t>
            </a:r>
            <a:r>
              <a:rPr sz="1900" spc="-5" dirty="0">
                <a:solidFill>
                  <a:srgbClr val="A6431A"/>
                </a:solidFill>
                <a:latin typeface="Arial"/>
                <a:cs typeface="Arial"/>
              </a:rPr>
              <a:t>estimation </a:t>
            </a:r>
            <a:r>
              <a:rPr sz="1900" dirty="0">
                <a:solidFill>
                  <a:srgbClr val="A6431A"/>
                </a:solidFill>
                <a:latin typeface="Arial"/>
                <a:cs typeface="Arial"/>
              </a:rPr>
              <a:t>for </a:t>
            </a:r>
            <a:r>
              <a:rPr sz="1900" spc="5" dirty="0">
                <a:solidFill>
                  <a:srgbClr val="A6431A"/>
                </a:solidFill>
                <a:latin typeface="Arial"/>
                <a:cs typeface="Arial"/>
              </a:rPr>
              <a:t>this </a:t>
            </a:r>
            <a:r>
              <a:rPr sz="1900" spc="-5" dirty="0">
                <a:solidFill>
                  <a:srgbClr val="A6431A"/>
                </a:solidFill>
                <a:latin typeface="Arial"/>
                <a:cs typeface="Arial"/>
              </a:rPr>
              <a:t>project as</a:t>
            </a:r>
            <a:r>
              <a:rPr sz="1900" spc="-55" dirty="0">
                <a:solidFill>
                  <a:srgbClr val="A6431A"/>
                </a:solidFill>
                <a:latin typeface="Arial"/>
                <a:cs typeface="Arial"/>
              </a:rPr>
              <a:t> </a:t>
            </a:r>
            <a:r>
              <a:rPr sz="1900" spc="-5" dirty="0">
                <a:solidFill>
                  <a:srgbClr val="A6431A"/>
                </a:solidFill>
                <a:latin typeface="Arial"/>
                <a:cs typeface="Arial"/>
              </a:rPr>
              <a:t>follows:</a:t>
            </a:r>
            <a:endParaRPr sz="1900">
              <a:latin typeface="Arial"/>
              <a:cs typeface="Arial"/>
            </a:endParaRPr>
          </a:p>
        </p:txBody>
      </p:sp>
      <p:sp>
        <p:nvSpPr>
          <p:cNvPr id="4" name="object 4"/>
          <p:cNvSpPr txBox="1"/>
          <p:nvPr/>
        </p:nvSpPr>
        <p:spPr>
          <a:xfrm>
            <a:off x="457517" y="1614793"/>
            <a:ext cx="7691755" cy="2727960"/>
          </a:xfrm>
          <a:prstGeom prst="rect">
            <a:avLst/>
          </a:prstGeom>
        </p:spPr>
        <p:txBody>
          <a:bodyPr vert="horz" wrap="square" lIns="0" tIns="107950" rIns="0" bIns="0" rtlCol="0">
            <a:spAutoFit/>
          </a:bodyPr>
          <a:lstStyle/>
          <a:p>
            <a:pPr marL="380365" indent="-367665">
              <a:lnSpc>
                <a:spcPct val="100000"/>
              </a:lnSpc>
              <a:spcBef>
                <a:spcPts val="850"/>
              </a:spcBef>
              <a:buAutoNum type="arabicParenBoth"/>
              <a:tabLst>
                <a:tab pos="381000" algn="l"/>
              </a:tabLst>
            </a:pPr>
            <a:r>
              <a:rPr sz="1900" b="1" spc="-10" dirty="0">
                <a:latin typeface="Arial"/>
                <a:cs typeface="Arial"/>
              </a:rPr>
              <a:t>Effort</a:t>
            </a:r>
            <a:r>
              <a:rPr sz="1900" b="1" spc="30" dirty="0">
                <a:latin typeface="Arial"/>
                <a:cs typeface="Arial"/>
              </a:rPr>
              <a:t> </a:t>
            </a:r>
            <a:r>
              <a:rPr sz="1900" b="1" spc="-10" dirty="0">
                <a:latin typeface="Arial"/>
                <a:cs typeface="Arial"/>
              </a:rPr>
              <a:t>estimation</a:t>
            </a:r>
            <a:endParaRPr sz="1900">
              <a:latin typeface="Arial"/>
              <a:cs typeface="Arial"/>
            </a:endParaRPr>
          </a:p>
          <a:p>
            <a:pPr marL="977900">
              <a:lnSpc>
                <a:spcPct val="100000"/>
              </a:lnSpc>
              <a:spcBef>
                <a:spcPts val="670"/>
              </a:spcBef>
            </a:pPr>
            <a:r>
              <a:rPr sz="1700" spc="10" dirty="0">
                <a:latin typeface="Arial"/>
                <a:cs typeface="Arial"/>
              </a:rPr>
              <a:t>E</a:t>
            </a:r>
            <a:r>
              <a:rPr sz="1700" dirty="0">
                <a:latin typeface="Arial"/>
                <a:cs typeface="Arial"/>
              </a:rPr>
              <a:t>=</a:t>
            </a:r>
            <a:r>
              <a:rPr sz="1700" spc="-20" dirty="0">
                <a:latin typeface="Arial"/>
                <a:cs typeface="Arial"/>
              </a:rPr>
              <a:t> </a:t>
            </a:r>
            <a:r>
              <a:rPr sz="1700" spc="-40" dirty="0">
                <a:latin typeface="Arial"/>
                <a:cs typeface="Arial"/>
              </a:rPr>
              <a:t>a</a:t>
            </a:r>
            <a:r>
              <a:rPr sz="900" spc="-10" dirty="0">
                <a:latin typeface="Arial"/>
                <a:cs typeface="Arial"/>
              </a:rPr>
              <a:t>b</a:t>
            </a:r>
            <a:r>
              <a:rPr sz="1200" spc="25" dirty="0">
                <a:latin typeface="Arial"/>
                <a:cs typeface="Arial"/>
              </a:rPr>
              <a:t>*</a:t>
            </a:r>
            <a:r>
              <a:rPr sz="1700" dirty="0">
                <a:latin typeface="Arial"/>
                <a:cs typeface="Arial"/>
              </a:rPr>
              <a:t>(</a:t>
            </a:r>
            <a:r>
              <a:rPr sz="1700" spc="-40" dirty="0">
                <a:latin typeface="Arial"/>
                <a:cs typeface="Arial"/>
              </a:rPr>
              <a:t> </a:t>
            </a:r>
            <a:r>
              <a:rPr sz="1700" spc="-20" dirty="0">
                <a:latin typeface="Arial"/>
                <a:cs typeface="Arial"/>
              </a:rPr>
              <a:t>(</a:t>
            </a:r>
            <a:r>
              <a:rPr sz="1700" spc="10" dirty="0">
                <a:latin typeface="Arial"/>
                <a:cs typeface="Arial"/>
              </a:rPr>
              <a:t>K</a:t>
            </a:r>
            <a:r>
              <a:rPr sz="1700" dirty="0">
                <a:latin typeface="Arial"/>
                <a:cs typeface="Arial"/>
              </a:rPr>
              <a:t>L</a:t>
            </a:r>
            <a:r>
              <a:rPr sz="1700" spc="-25" dirty="0">
                <a:latin typeface="Arial"/>
                <a:cs typeface="Arial"/>
              </a:rPr>
              <a:t>O</a:t>
            </a:r>
            <a:r>
              <a:rPr sz="1700" spc="15" dirty="0">
                <a:latin typeface="Arial"/>
                <a:cs typeface="Arial"/>
              </a:rPr>
              <a:t>C</a:t>
            </a:r>
            <a:r>
              <a:rPr sz="1700" spc="-15" dirty="0">
                <a:latin typeface="Arial"/>
                <a:cs typeface="Arial"/>
              </a:rPr>
              <a:t>)</a:t>
            </a:r>
            <a:r>
              <a:rPr sz="1200" spc="-5" dirty="0">
                <a:latin typeface="Arial"/>
                <a:cs typeface="Arial"/>
              </a:rPr>
              <a:t>^</a:t>
            </a:r>
            <a:r>
              <a:rPr sz="1200" spc="55" dirty="0">
                <a:latin typeface="Arial"/>
                <a:cs typeface="Arial"/>
              </a:rPr>
              <a:t> </a:t>
            </a:r>
            <a:r>
              <a:rPr sz="1700" spc="-50" dirty="0">
                <a:latin typeface="Arial"/>
                <a:cs typeface="Arial"/>
              </a:rPr>
              <a:t>b</a:t>
            </a:r>
            <a:r>
              <a:rPr sz="800" dirty="0">
                <a:latin typeface="Arial"/>
                <a:cs typeface="Arial"/>
              </a:rPr>
              <a:t>b</a:t>
            </a:r>
            <a:r>
              <a:rPr sz="1700" dirty="0">
                <a:latin typeface="Arial"/>
                <a:cs typeface="Arial"/>
              </a:rPr>
              <a:t>)</a:t>
            </a:r>
            <a:r>
              <a:rPr sz="1700" spc="55" dirty="0">
                <a:latin typeface="Arial"/>
                <a:cs typeface="Arial"/>
              </a:rPr>
              <a:t> </a:t>
            </a:r>
            <a:r>
              <a:rPr sz="1700" spc="5" dirty="0">
                <a:latin typeface="Arial"/>
                <a:cs typeface="Arial"/>
              </a:rPr>
              <a:t>p</a:t>
            </a:r>
            <a:r>
              <a:rPr sz="1700" spc="-50" dirty="0">
                <a:latin typeface="Arial"/>
                <a:cs typeface="Arial"/>
              </a:rPr>
              <a:t>e</a:t>
            </a:r>
            <a:r>
              <a:rPr sz="1700" spc="-15" dirty="0">
                <a:latin typeface="Arial"/>
                <a:cs typeface="Arial"/>
              </a:rPr>
              <a:t>r</a:t>
            </a:r>
            <a:r>
              <a:rPr sz="1700" spc="45" dirty="0">
                <a:latin typeface="Arial"/>
                <a:cs typeface="Arial"/>
              </a:rPr>
              <a:t>s</a:t>
            </a:r>
            <a:r>
              <a:rPr sz="1700" spc="-50" dirty="0">
                <a:latin typeface="Arial"/>
                <a:cs typeface="Arial"/>
              </a:rPr>
              <a:t>o</a:t>
            </a:r>
            <a:r>
              <a:rPr sz="1700" spc="5" dirty="0">
                <a:latin typeface="Arial"/>
                <a:cs typeface="Arial"/>
              </a:rPr>
              <a:t>n</a:t>
            </a:r>
            <a:r>
              <a:rPr sz="1700" spc="30" dirty="0">
                <a:latin typeface="Arial"/>
                <a:cs typeface="Arial"/>
              </a:rPr>
              <a:t>-</a:t>
            </a:r>
            <a:r>
              <a:rPr sz="1700" spc="-20" dirty="0">
                <a:latin typeface="Arial"/>
                <a:cs typeface="Arial"/>
              </a:rPr>
              <a:t>m</a:t>
            </a:r>
            <a:r>
              <a:rPr sz="1700" spc="-50" dirty="0">
                <a:latin typeface="Arial"/>
                <a:cs typeface="Arial"/>
              </a:rPr>
              <a:t>o</a:t>
            </a:r>
            <a:r>
              <a:rPr sz="1700" spc="50" dirty="0">
                <a:latin typeface="Arial"/>
                <a:cs typeface="Arial"/>
              </a:rPr>
              <a:t>n</a:t>
            </a:r>
            <a:r>
              <a:rPr sz="1700" spc="-25" dirty="0">
                <a:latin typeface="Arial"/>
                <a:cs typeface="Arial"/>
              </a:rPr>
              <a:t>t</a:t>
            </a:r>
            <a:r>
              <a:rPr sz="1700" dirty="0">
                <a:latin typeface="Arial"/>
                <a:cs typeface="Arial"/>
              </a:rPr>
              <a:t>hs</a:t>
            </a:r>
            <a:endParaRPr sz="1700">
              <a:latin typeface="Arial"/>
              <a:cs typeface="Arial"/>
            </a:endParaRPr>
          </a:p>
          <a:p>
            <a:pPr marL="977900">
              <a:lnSpc>
                <a:spcPct val="100000"/>
              </a:lnSpc>
              <a:spcBef>
                <a:spcPts val="10"/>
              </a:spcBef>
            </a:pPr>
            <a:r>
              <a:rPr sz="1700" spc="-5" dirty="0">
                <a:latin typeface="Arial"/>
                <a:cs typeface="Arial"/>
              </a:rPr>
              <a:t>E=3.0*( </a:t>
            </a:r>
            <a:r>
              <a:rPr sz="1700" spc="10" dirty="0">
                <a:latin typeface="Arial"/>
                <a:cs typeface="Arial"/>
              </a:rPr>
              <a:t>30^</a:t>
            </a:r>
            <a:r>
              <a:rPr sz="1600" spc="10" dirty="0">
                <a:latin typeface="Arial"/>
                <a:cs typeface="Arial"/>
              </a:rPr>
              <a:t>1.12</a:t>
            </a:r>
            <a:r>
              <a:rPr sz="1700" spc="10" dirty="0">
                <a:latin typeface="Arial"/>
                <a:cs typeface="Arial"/>
              </a:rPr>
              <a:t>) </a:t>
            </a:r>
            <a:r>
              <a:rPr sz="1700" dirty="0">
                <a:latin typeface="Arial"/>
                <a:cs typeface="Arial"/>
              </a:rPr>
              <a:t>, </a:t>
            </a:r>
            <a:r>
              <a:rPr sz="1700" spc="-15" dirty="0">
                <a:latin typeface="Arial"/>
                <a:cs typeface="Arial"/>
              </a:rPr>
              <a:t>lines </a:t>
            </a:r>
            <a:r>
              <a:rPr sz="1700" spc="-25" dirty="0">
                <a:latin typeface="Arial"/>
                <a:cs typeface="Arial"/>
              </a:rPr>
              <a:t>of </a:t>
            </a:r>
            <a:r>
              <a:rPr sz="1700" dirty="0">
                <a:latin typeface="Arial"/>
                <a:cs typeface="Arial"/>
              </a:rPr>
              <a:t>code=30000=30000/1000 KLOC= 30</a:t>
            </a:r>
            <a:r>
              <a:rPr sz="1700" spc="-85" dirty="0">
                <a:latin typeface="Arial"/>
                <a:cs typeface="Arial"/>
              </a:rPr>
              <a:t> </a:t>
            </a:r>
            <a:r>
              <a:rPr sz="1700" spc="-5" dirty="0">
                <a:latin typeface="Arial"/>
                <a:cs typeface="Arial"/>
              </a:rPr>
              <a:t>KLOC</a:t>
            </a:r>
            <a:endParaRPr sz="1700">
              <a:latin typeface="Arial"/>
              <a:cs typeface="Arial"/>
            </a:endParaRPr>
          </a:p>
          <a:p>
            <a:pPr marL="977900">
              <a:lnSpc>
                <a:spcPct val="100000"/>
              </a:lnSpc>
              <a:spcBef>
                <a:spcPts val="15"/>
              </a:spcBef>
            </a:pPr>
            <a:r>
              <a:rPr sz="1700" dirty="0">
                <a:latin typeface="Arial"/>
                <a:cs typeface="Arial"/>
              </a:rPr>
              <a:t>E=135</a:t>
            </a:r>
            <a:r>
              <a:rPr sz="1700" spc="-95" dirty="0">
                <a:latin typeface="Arial"/>
                <a:cs typeface="Arial"/>
              </a:rPr>
              <a:t> </a:t>
            </a:r>
            <a:r>
              <a:rPr sz="1700" spc="-5" dirty="0">
                <a:latin typeface="Arial"/>
                <a:cs typeface="Arial"/>
              </a:rPr>
              <a:t>person-month</a:t>
            </a:r>
            <a:endParaRPr sz="1700">
              <a:latin typeface="Arial"/>
              <a:cs typeface="Arial"/>
            </a:endParaRPr>
          </a:p>
          <a:p>
            <a:pPr>
              <a:lnSpc>
                <a:spcPct val="100000"/>
              </a:lnSpc>
              <a:spcBef>
                <a:spcPts val="40"/>
              </a:spcBef>
            </a:pPr>
            <a:endParaRPr sz="1500">
              <a:latin typeface="Times New Roman"/>
              <a:cs typeface="Times New Roman"/>
            </a:endParaRPr>
          </a:p>
          <a:p>
            <a:pPr marL="380365" indent="-367665">
              <a:lnSpc>
                <a:spcPct val="100000"/>
              </a:lnSpc>
              <a:buAutoNum type="arabicParenBoth" startAt="2"/>
              <a:tabLst>
                <a:tab pos="381000" algn="l"/>
              </a:tabLst>
            </a:pPr>
            <a:r>
              <a:rPr sz="1900" b="1" spc="-5" dirty="0">
                <a:latin typeface="Arial"/>
                <a:cs typeface="Arial"/>
              </a:rPr>
              <a:t>Duration</a:t>
            </a:r>
            <a:r>
              <a:rPr sz="1900" b="1" spc="-40" dirty="0">
                <a:latin typeface="Arial"/>
                <a:cs typeface="Arial"/>
              </a:rPr>
              <a:t> </a:t>
            </a:r>
            <a:r>
              <a:rPr sz="1900" b="1" spc="-10" dirty="0">
                <a:latin typeface="Arial"/>
                <a:cs typeface="Arial"/>
              </a:rPr>
              <a:t>estimation</a:t>
            </a:r>
            <a:endParaRPr sz="1900">
              <a:latin typeface="Arial"/>
              <a:cs typeface="Arial"/>
            </a:endParaRPr>
          </a:p>
          <a:p>
            <a:pPr marL="469900">
              <a:lnSpc>
                <a:spcPct val="100000"/>
              </a:lnSpc>
              <a:spcBef>
                <a:spcPts val="670"/>
              </a:spcBef>
            </a:pPr>
            <a:r>
              <a:rPr sz="1800" spc="-5" dirty="0">
                <a:latin typeface="Arial"/>
                <a:cs typeface="Arial"/>
              </a:rPr>
              <a:t>D= </a:t>
            </a:r>
            <a:r>
              <a:rPr sz="1800" dirty="0">
                <a:latin typeface="Arial"/>
                <a:cs typeface="Arial"/>
              </a:rPr>
              <a:t>( </a:t>
            </a:r>
            <a:r>
              <a:rPr sz="2000" spc="-5" dirty="0">
                <a:latin typeface="Arial"/>
                <a:cs typeface="Arial"/>
              </a:rPr>
              <a:t>c</a:t>
            </a:r>
            <a:r>
              <a:rPr sz="1200" spc="-5" dirty="0">
                <a:latin typeface="Arial"/>
                <a:cs typeface="Arial"/>
              </a:rPr>
              <a:t>b </a:t>
            </a:r>
            <a:r>
              <a:rPr sz="1800" spc="-5" dirty="0">
                <a:latin typeface="Arial"/>
                <a:cs typeface="Arial"/>
              </a:rPr>
              <a:t>*(E^d</a:t>
            </a:r>
            <a:r>
              <a:rPr sz="1000" spc="-5" dirty="0">
                <a:latin typeface="Arial"/>
                <a:cs typeface="Arial"/>
              </a:rPr>
              <a:t>b</a:t>
            </a:r>
            <a:r>
              <a:rPr sz="1800" spc="-5" dirty="0">
                <a:latin typeface="Arial"/>
                <a:cs typeface="Arial"/>
              </a:rPr>
              <a:t>) </a:t>
            </a:r>
            <a:r>
              <a:rPr sz="1800" dirty="0">
                <a:latin typeface="Arial"/>
                <a:cs typeface="Arial"/>
              </a:rPr>
              <a:t>)</a:t>
            </a:r>
            <a:r>
              <a:rPr sz="1800" spc="-5" dirty="0">
                <a:latin typeface="Arial"/>
                <a:cs typeface="Arial"/>
              </a:rPr>
              <a:t> </a:t>
            </a:r>
            <a:r>
              <a:rPr sz="1400" spc="-5" dirty="0">
                <a:latin typeface="Arial"/>
                <a:cs typeface="Arial"/>
              </a:rPr>
              <a:t>months</a:t>
            </a:r>
            <a:endParaRPr sz="1400">
              <a:latin typeface="Arial"/>
              <a:cs typeface="Arial"/>
            </a:endParaRPr>
          </a:p>
          <a:p>
            <a:pPr marL="927735">
              <a:lnSpc>
                <a:spcPts val="2155"/>
              </a:lnSpc>
              <a:spcBef>
                <a:spcPts val="5"/>
              </a:spcBef>
            </a:pPr>
            <a:r>
              <a:rPr sz="1800" dirty="0">
                <a:latin typeface="Arial"/>
                <a:cs typeface="Arial"/>
              </a:rPr>
              <a:t>=2.5*(135^</a:t>
            </a:r>
            <a:r>
              <a:rPr sz="1600" dirty="0">
                <a:latin typeface="Arial"/>
                <a:cs typeface="Arial"/>
              </a:rPr>
              <a:t>0.35)</a:t>
            </a:r>
            <a:endParaRPr sz="1600">
              <a:latin typeface="Arial"/>
              <a:cs typeface="Arial"/>
            </a:endParaRPr>
          </a:p>
          <a:p>
            <a:pPr marL="469900">
              <a:lnSpc>
                <a:spcPts val="2155"/>
              </a:lnSpc>
            </a:pPr>
            <a:r>
              <a:rPr sz="1800" spc="-5" dirty="0">
                <a:latin typeface="Arial"/>
                <a:cs typeface="Arial"/>
              </a:rPr>
              <a:t>D= </a:t>
            </a:r>
            <a:r>
              <a:rPr sz="1800" dirty="0">
                <a:latin typeface="Arial"/>
                <a:cs typeface="Arial"/>
              </a:rPr>
              <a:t>14</a:t>
            </a:r>
            <a:r>
              <a:rPr sz="1800" spc="-10" dirty="0">
                <a:latin typeface="Arial"/>
                <a:cs typeface="Arial"/>
              </a:rPr>
              <a:t> months</a:t>
            </a:r>
            <a:endParaRPr sz="1800">
              <a:latin typeface="Arial"/>
              <a:cs typeface="Arial"/>
            </a:endParaRPr>
          </a:p>
        </p:txBody>
      </p:sp>
      <p:sp>
        <p:nvSpPr>
          <p:cNvPr id="5" name="object 5"/>
          <p:cNvSpPr txBox="1"/>
          <p:nvPr/>
        </p:nvSpPr>
        <p:spPr>
          <a:xfrm>
            <a:off x="457517" y="4465764"/>
            <a:ext cx="2413000" cy="1341120"/>
          </a:xfrm>
          <a:prstGeom prst="rect">
            <a:avLst/>
          </a:prstGeom>
        </p:spPr>
        <p:txBody>
          <a:bodyPr vert="horz" wrap="square" lIns="0" tIns="91440" rIns="0" bIns="0" rtlCol="0">
            <a:spAutoFit/>
          </a:bodyPr>
          <a:lstStyle/>
          <a:p>
            <a:pPr marL="12700">
              <a:lnSpc>
                <a:spcPct val="100000"/>
              </a:lnSpc>
              <a:spcBef>
                <a:spcPts val="720"/>
              </a:spcBef>
            </a:pPr>
            <a:r>
              <a:rPr sz="1900" b="1" spc="-5" dirty="0">
                <a:latin typeface="Arial"/>
                <a:cs typeface="Arial"/>
              </a:rPr>
              <a:t>(3)Person</a:t>
            </a:r>
            <a:r>
              <a:rPr sz="1900" b="1" spc="-30" dirty="0">
                <a:latin typeface="Arial"/>
                <a:cs typeface="Arial"/>
              </a:rPr>
              <a:t> </a:t>
            </a:r>
            <a:r>
              <a:rPr sz="1900" b="1" spc="-5" dirty="0">
                <a:latin typeface="Arial"/>
                <a:cs typeface="Arial"/>
              </a:rPr>
              <a:t>estimation</a:t>
            </a:r>
            <a:endParaRPr sz="1900">
              <a:latin typeface="Arial"/>
              <a:cs typeface="Arial"/>
            </a:endParaRPr>
          </a:p>
          <a:p>
            <a:pPr marL="469900">
              <a:lnSpc>
                <a:spcPts val="2265"/>
              </a:lnSpc>
              <a:spcBef>
                <a:spcPts val="620"/>
              </a:spcBef>
            </a:pPr>
            <a:r>
              <a:rPr sz="1900" spc="-15" dirty="0">
                <a:latin typeface="Arial"/>
                <a:cs typeface="Arial"/>
              </a:rPr>
              <a:t>N=</a:t>
            </a:r>
            <a:r>
              <a:rPr sz="1900" spc="5" dirty="0">
                <a:latin typeface="Arial"/>
                <a:cs typeface="Arial"/>
              </a:rPr>
              <a:t> </a:t>
            </a:r>
            <a:r>
              <a:rPr sz="1900" spc="-5" dirty="0">
                <a:latin typeface="Arial"/>
                <a:cs typeface="Arial"/>
              </a:rPr>
              <a:t>E/D</a:t>
            </a:r>
            <a:endParaRPr sz="1900">
              <a:latin typeface="Arial"/>
              <a:cs typeface="Arial"/>
            </a:endParaRPr>
          </a:p>
          <a:p>
            <a:pPr marL="679450">
              <a:lnSpc>
                <a:spcPts val="2265"/>
              </a:lnSpc>
            </a:pPr>
            <a:r>
              <a:rPr sz="1900" spc="-5" dirty="0">
                <a:latin typeface="Arial"/>
                <a:cs typeface="Arial"/>
              </a:rPr>
              <a:t>=135/14</a:t>
            </a:r>
            <a:endParaRPr sz="1900">
              <a:latin typeface="Arial"/>
              <a:cs typeface="Arial"/>
            </a:endParaRPr>
          </a:p>
          <a:p>
            <a:pPr marL="12700">
              <a:lnSpc>
                <a:spcPct val="100000"/>
              </a:lnSpc>
              <a:spcBef>
                <a:spcPts val="25"/>
              </a:spcBef>
            </a:pPr>
            <a:r>
              <a:rPr sz="1900" spc="-15" dirty="0">
                <a:latin typeface="Arial"/>
                <a:cs typeface="Arial"/>
              </a:rPr>
              <a:t>N=10 </a:t>
            </a:r>
            <a:r>
              <a:rPr sz="1900" spc="-5" dirty="0">
                <a:latin typeface="Arial"/>
                <a:cs typeface="Arial"/>
              </a:rPr>
              <a:t>persons</a:t>
            </a:r>
            <a:r>
              <a:rPr sz="1900" spc="10" dirty="0">
                <a:latin typeface="Arial"/>
                <a:cs typeface="Arial"/>
              </a:rPr>
              <a:t> </a:t>
            </a:r>
            <a:r>
              <a:rPr sz="1900" spc="-15" dirty="0">
                <a:latin typeface="Arial"/>
                <a:cs typeface="Arial"/>
              </a:rPr>
              <a:t>approx.</a:t>
            </a:r>
            <a:endParaRPr sz="1900">
              <a:latin typeface="Arial"/>
              <a:cs typeface="Arial"/>
            </a:endParaRPr>
          </a:p>
        </p:txBody>
      </p:sp>
      <p:sp>
        <p:nvSpPr>
          <p:cNvPr id="6" name="object 6"/>
          <p:cNvSpPr txBox="1"/>
          <p:nvPr/>
        </p:nvSpPr>
        <p:spPr>
          <a:xfrm>
            <a:off x="4187571" y="5580697"/>
            <a:ext cx="403542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a:cs typeface="Arial"/>
              </a:rPr>
              <a:t>Note: you </a:t>
            </a:r>
            <a:r>
              <a:rPr sz="1200" spc="-15" dirty="0">
                <a:latin typeface="Arial"/>
                <a:cs typeface="Arial"/>
              </a:rPr>
              <a:t>have </a:t>
            </a:r>
            <a:r>
              <a:rPr sz="1200" spc="5" dirty="0">
                <a:latin typeface="Arial"/>
                <a:cs typeface="Arial"/>
              </a:rPr>
              <a:t>to </a:t>
            </a:r>
            <a:r>
              <a:rPr sz="1200" spc="-10" dirty="0">
                <a:latin typeface="Arial"/>
                <a:cs typeface="Arial"/>
              </a:rPr>
              <a:t>memorize </a:t>
            </a:r>
            <a:r>
              <a:rPr sz="1200" spc="10" dirty="0">
                <a:latin typeface="Arial"/>
                <a:cs typeface="Arial"/>
              </a:rPr>
              <a:t>the </a:t>
            </a:r>
            <a:r>
              <a:rPr sz="1200" spc="-5" dirty="0">
                <a:latin typeface="Arial"/>
                <a:cs typeface="Arial"/>
              </a:rPr>
              <a:t>value </a:t>
            </a:r>
            <a:r>
              <a:rPr sz="1200" spc="-10" dirty="0">
                <a:latin typeface="Arial"/>
                <a:cs typeface="Arial"/>
              </a:rPr>
              <a:t>of </a:t>
            </a:r>
            <a:r>
              <a:rPr sz="1200" dirty="0">
                <a:latin typeface="Arial"/>
                <a:cs typeface="Arial"/>
              </a:rPr>
              <a:t>these</a:t>
            </a:r>
            <a:r>
              <a:rPr sz="1200" spc="85" dirty="0">
                <a:latin typeface="Arial"/>
                <a:cs typeface="Arial"/>
              </a:rPr>
              <a:t> </a:t>
            </a:r>
            <a:r>
              <a:rPr sz="1200" dirty="0">
                <a:latin typeface="Arial"/>
                <a:cs typeface="Arial"/>
              </a:rPr>
              <a:t>co-efficients</a:t>
            </a:r>
            <a:endParaRPr sz="1200">
              <a:latin typeface="Arial"/>
              <a:cs typeface="Aria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417" y="362267"/>
            <a:ext cx="4543425" cy="470534"/>
          </a:xfrm>
          <a:prstGeom prst="rect">
            <a:avLst/>
          </a:prstGeom>
          <a:solidFill>
            <a:srgbClr val="C0C0C0"/>
          </a:solidFill>
        </p:spPr>
        <p:txBody>
          <a:bodyPr vert="horz" wrap="square" lIns="0" tIns="0" rIns="0" bIns="0" rtlCol="0">
            <a:spAutoFit/>
          </a:bodyPr>
          <a:lstStyle/>
          <a:p>
            <a:pPr>
              <a:lnSpc>
                <a:spcPts val="3540"/>
              </a:lnSpc>
            </a:pPr>
            <a:r>
              <a:rPr sz="3200" dirty="0">
                <a:solidFill>
                  <a:srgbClr val="00AF50"/>
                </a:solidFill>
              </a:rPr>
              <a:t>Intermediate</a:t>
            </a:r>
            <a:r>
              <a:rPr sz="3200" spc="-70" dirty="0">
                <a:solidFill>
                  <a:srgbClr val="00AF50"/>
                </a:solidFill>
              </a:rPr>
              <a:t> </a:t>
            </a:r>
            <a:r>
              <a:rPr sz="3200" spc="-5" dirty="0">
                <a:solidFill>
                  <a:srgbClr val="00AF50"/>
                </a:solidFill>
              </a:rPr>
              <a:t>COCOMO:</a:t>
            </a:r>
            <a:endParaRPr sz="3200"/>
          </a:p>
        </p:txBody>
      </p:sp>
      <p:sp>
        <p:nvSpPr>
          <p:cNvPr id="3" name="object 3"/>
          <p:cNvSpPr txBox="1"/>
          <p:nvPr/>
        </p:nvSpPr>
        <p:spPr>
          <a:xfrm>
            <a:off x="533717" y="916749"/>
            <a:ext cx="7835265" cy="4137660"/>
          </a:xfrm>
          <a:prstGeom prst="rect">
            <a:avLst/>
          </a:prstGeom>
        </p:spPr>
        <p:txBody>
          <a:bodyPr vert="horz" wrap="square" lIns="0" tIns="5715" rIns="0" bIns="0" rtlCol="0">
            <a:spAutoFit/>
          </a:bodyPr>
          <a:lstStyle/>
          <a:p>
            <a:pPr marL="12700" marR="5080">
              <a:lnSpc>
                <a:spcPct val="148300"/>
              </a:lnSpc>
              <a:spcBef>
                <a:spcPts val="45"/>
              </a:spcBef>
            </a:pPr>
            <a:r>
              <a:rPr sz="1800" spc="-5" dirty="0">
                <a:latin typeface="Arial"/>
                <a:cs typeface="Arial"/>
              </a:rPr>
              <a:t>Computes </a:t>
            </a:r>
            <a:r>
              <a:rPr sz="1800" dirty="0">
                <a:latin typeface="Arial"/>
                <a:cs typeface="Arial"/>
              </a:rPr>
              <a:t>effort as a </a:t>
            </a:r>
            <a:r>
              <a:rPr sz="1800" spc="-5" dirty="0">
                <a:latin typeface="Arial"/>
                <a:cs typeface="Arial"/>
              </a:rPr>
              <a:t>function </a:t>
            </a:r>
            <a:r>
              <a:rPr sz="1800" dirty="0">
                <a:latin typeface="Arial"/>
                <a:cs typeface="Arial"/>
              </a:rPr>
              <a:t>of </a:t>
            </a:r>
            <a:r>
              <a:rPr sz="1800" spc="10" dirty="0">
                <a:latin typeface="Arial"/>
                <a:cs typeface="Arial"/>
              </a:rPr>
              <a:t>programme </a:t>
            </a:r>
            <a:r>
              <a:rPr sz="1800" spc="-30" dirty="0">
                <a:latin typeface="Arial"/>
                <a:cs typeface="Arial"/>
              </a:rPr>
              <a:t>size </a:t>
            </a:r>
            <a:r>
              <a:rPr sz="1800" spc="-5" dirty="0">
                <a:latin typeface="Arial"/>
                <a:cs typeface="Arial"/>
              </a:rPr>
              <a:t>and </a:t>
            </a:r>
            <a:r>
              <a:rPr sz="1800" dirty="0">
                <a:latin typeface="Arial"/>
                <a:cs typeface="Arial"/>
              </a:rPr>
              <a:t>a </a:t>
            </a:r>
            <a:r>
              <a:rPr sz="1800" spc="-20" dirty="0">
                <a:latin typeface="Arial"/>
                <a:cs typeface="Arial"/>
              </a:rPr>
              <a:t>lot </a:t>
            </a:r>
            <a:r>
              <a:rPr sz="1800" spc="-5" dirty="0">
                <a:latin typeface="Arial"/>
                <a:cs typeface="Arial"/>
              </a:rPr>
              <a:t>of </a:t>
            </a:r>
            <a:r>
              <a:rPr sz="1800" spc="10" dirty="0">
                <a:latin typeface="Arial"/>
                <a:cs typeface="Arial"/>
              </a:rPr>
              <a:t>cost </a:t>
            </a:r>
            <a:r>
              <a:rPr sz="1800" spc="-10" dirty="0">
                <a:latin typeface="Arial"/>
                <a:cs typeface="Arial"/>
              </a:rPr>
              <a:t>drivers </a:t>
            </a:r>
            <a:r>
              <a:rPr sz="1800" spc="-5" dirty="0">
                <a:latin typeface="Arial"/>
                <a:cs typeface="Arial"/>
              </a:rPr>
              <a:t>that  </a:t>
            </a:r>
            <a:r>
              <a:rPr sz="1800" spc="-10" dirty="0">
                <a:latin typeface="Arial"/>
                <a:cs typeface="Arial"/>
              </a:rPr>
              <a:t>includes </a:t>
            </a:r>
            <a:r>
              <a:rPr sz="1800" spc="-5" dirty="0">
                <a:latin typeface="Arial"/>
                <a:cs typeface="Arial"/>
              </a:rPr>
              <a:t>subjective assessment </a:t>
            </a:r>
            <a:r>
              <a:rPr sz="1800" dirty="0">
                <a:latin typeface="Arial"/>
                <a:cs typeface="Arial"/>
              </a:rPr>
              <a:t>of </a:t>
            </a:r>
            <a:r>
              <a:rPr sz="1800" spc="-5" dirty="0">
                <a:latin typeface="Arial"/>
                <a:cs typeface="Arial"/>
              </a:rPr>
              <a:t>product attributes, hardware </a:t>
            </a:r>
            <a:r>
              <a:rPr sz="1800" spc="-10" dirty="0">
                <a:latin typeface="Arial"/>
                <a:cs typeface="Arial"/>
              </a:rPr>
              <a:t>attributes </a:t>
            </a:r>
            <a:r>
              <a:rPr sz="1800" dirty="0">
                <a:latin typeface="Arial"/>
                <a:cs typeface="Arial"/>
              </a:rPr>
              <a:t>,  </a:t>
            </a:r>
            <a:r>
              <a:rPr sz="1800" spc="-5" dirty="0">
                <a:latin typeface="Arial"/>
                <a:cs typeface="Arial"/>
              </a:rPr>
              <a:t>personal attributes and </a:t>
            </a:r>
            <a:r>
              <a:rPr sz="1800" spc="5" dirty="0">
                <a:latin typeface="Arial"/>
                <a:cs typeface="Arial"/>
              </a:rPr>
              <a:t>project</a:t>
            </a:r>
            <a:r>
              <a:rPr sz="1800" spc="-50" dirty="0">
                <a:latin typeface="Arial"/>
                <a:cs typeface="Arial"/>
              </a:rPr>
              <a:t> </a:t>
            </a:r>
            <a:r>
              <a:rPr sz="1800" spc="-5" dirty="0">
                <a:latin typeface="Arial"/>
                <a:cs typeface="Arial"/>
              </a:rPr>
              <a:t>attributes.</a:t>
            </a:r>
            <a:endParaRPr sz="1800">
              <a:latin typeface="Arial"/>
              <a:cs typeface="Arial"/>
            </a:endParaRPr>
          </a:p>
          <a:p>
            <a:pPr marL="12700" marR="792480">
              <a:lnSpc>
                <a:spcPct val="146000"/>
              </a:lnSpc>
              <a:spcBef>
                <a:spcPts val="1205"/>
              </a:spcBef>
            </a:pPr>
            <a:r>
              <a:rPr sz="1800" spc="-20" dirty="0">
                <a:latin typeface="Arial"/>
                <a:cs typeface="Arial"/>
              </a:rPr>
              <a:t>The </a:t>
            </a:r>
            <a:r>
              <a:rPr sz="1800" spc="-5" dirty="0">
                <a:latin typeface="Arial"/>
                <a:cs typeface="Arial"/>
              </a:rPr>
              <a:t>basic </a:t>
            </a:r>
            <a:r>
              <a:rPr sz="1800" spc="5" dirty="0">
                <a:latin typeface="Arial"/>
                <a:cs typeface="Arial"/>
              </a:rPr>
              <a:t>model </a:t>
            </a:r>
            <a:r>
              <a:rPr sz="1800" spc="-30" dirty="0">
                <a:latin typeface="Arial"/>
                <a:cs typeface="Arial"/>
              </a:rPr>
              <a:t>is </a:t>
            </a:r>
            <a:r>
              <a:rPr sz="1800" spc="-5" dirty="0">
                <a:latin typeface="Arial"/>
                <a:cs typeface="Arial"/>
              </a:rPr>
              <a:t>extended </a:t>
            </a:r>
            <a:r>
              <a:rPr sz="1800" dirty="0">
                <a:latin typeface="Arial"/>
                <a:cs typeface="Arial"/>
              </a:rPr>
              <a:t>to </a:t>
            </a:r>
            <a:r>
              <a:rPr sz="1800" spc="-5" dirty="0">
                <a:latin typeface="Arial"/>
                <a:cs typeface="Arial"/>
              </a:rPr>
              <a:t>consider </a:t>
            </a:r>
            <a:r>
              <a:rPr sz="1800" dirty="0">
                <a:latin typeface="Arial"/>
                <a:cs typeface="Arial"/>
              </a:rPr>
              <a:t>a </a:t>
            </a:r>
            <a:r>
              <a:rPr sz="1800" spc="-5" dirty="0">
                <a:latin typeface="Arial"/>
                <a:cs typeface="Arial"/>
              </a:rPr>
              <a:t>set </a:t>
            </a:r>
            <a:r>
              <a:rPr sz="1800" dirty="0">
                <a:latin typeface="Arial"/>
                <a:cs typeface="Arial"/>
              </a:rPr>
              <a:t>of </a:t>
            </a:r>
            <a:r>
              <a:rPr sz="1800" spc="-5" dirty="0">
                <a:latin typeface="Arial"/>
                <a:cs typeface="Arial"/>
              </a:rPr>
              <a:t>cost driver </a:t>
            </a:r>
            <a:r>
              <a:rPr sz="1800" dirty="0">
                <a:latin typeface="Arial"/>
                <a:cs typeface="Arial"/>
              </a:rPr>
              <a:t>attributes  </a:t>
            </a:r>
            <a:r>
              <a:rPr sz="1800" spc="-10" dirty="0">
                <a:latin typeface="Arial"/>
                <a:cs typeface="Arial"/>
              </a:rPr>
              <a:t>grouped </a:t>
            </a:r>
            <a:r>
              <a:rPr sz="1800" spc="-15" dirty="0">
                <a:latin typeface="Arial"/>
                <a:cs typeface="Arial"/>
              </a:rPr>
              <a:t>into </a:t>
            </a:r>
            <a:r>
              <a:rPr sz="1800" dirty="0">
                <a:latin typeface="Arial"/>
                <a:cs typeface="Arial"/>
              </a:rPr>
              <a:t>4</a:t>
            </a:r>
            <a:r>
              <a:rPr sz="1800" spc="50" dirty="0">
                <a:latin typeface="Arial"/>
                <a:cs typeface="Arial"/>
              </a:rPr>
              <a:t> </a:t>
            </a:r>
            <a:r>
              <a:rPr sz="1800" spc="-5" dirty="0">
                <a:latin typeface="Arial"/>
                <a:cs typeface="Arial"/>
              </a:rPr>
              <a:t>categories:</a:t>
            </a:r>
            <a:endParaRPr sz="1800">
              <a:latin typeface="Arial"/>
              <a:cs typeface="Arial"/>
            </a:endParaRPr>
          </a:p>
          <a:p>
            <a:pPr>
              <a:lnSpc>
                <a:spcPct val="100000"/>
              </a:lnSpc>
              <a:spcBef>
                <a:spcPts val="20"/>
              </a:spcBef>
            </a:pPr>
            <a:endParaRPr sz="1800">
              <a:latin typeface="Times New Roman"/>
              <a:cs typeface="Times New Roman"/>
            </a:endParaRPr>
          </a:p>
          <a:p>
            <a:pPr marL="635635" indent="-343535">
              <a:lnSpc>
                <a:spcPct val="100000"/>
              </a:lnSpc>
              <a:buClr>
                <a:srgbClr val="000000"/>
              </a:buClr>
              <a:buFont typeface="Arial"/>
              <a:buAutoNum type="arabicParenBoth"/>
              <a:tabLst>
                <a:tab pos="635635" algn="l"/>
              </a:tabLst>
            </a:pPr>
            <a:r>
              <a:rPr sz="1800" b="1" spc="-10" dirty="0">
                <a:solidFill>
                  <a:srgbClr val="0D0D0D"/>
                </a:solidFill>
                <a:latin typeface="Arial"/>
                <a:cs typeface="Arial"/>
              </a:rPr>
              <a:t>Product</a:t>
            </a:r>
            <a:r>
              <a:rPr sz="1800" b="1" spc="40" dirty="0">
                <a:solidFill>
                  <a:srgbClr val="0D0D0D"/>
                </a:solidFill>
                <a:latin typeface="Arial"/>
                <a:cs typeface="Arial"/>
              </a:rPr>
              <a:t> </a:t>
            </a:r>
            <a:r>
              <a:rPr sz="1800" b="1" spc="-10" dirty="0">
                <a:solidFill>
                  <a:srgbClr val="0D0D0D"/>
                </a:solidFill>
                <a:latin typeface="Arial"/>
                <a:cs typeface="Arial"/>
              </a:rPr>
              <a:t>Attributes:</a:t>
            </a:r>
            <a:endParaRPr sz="1800">
              <a:latin typeface="Arial"/>
              <a:cs typeface="Arial"/>
            </a:endParaRPr>
          </a:p>
          <a:p>
            <a:pPr marL="1614170" lvl="1" indent="-457834">
              <a:lnSpc>
                <a:spcPct val="100000"/>
              </a:lnSpc>
              <a:spcBef>
                <a:spcPts val="1545"/>
              </a:spcBef>
              <a:buClr>
                <a:srgbClr val="D1282D"/>
              </a:buClr>
              <a:buAutoNum type="romanUcPeriod"/>
              <a:tabLst>
                <a:tab pos="1614170" algn="l"/>
                <a:tab pos="1614805" algn="l"/>
              </a:tabLst>
            </a:pPr>
            <a:r>
              <a:rPr sz="1800" spc="-10" dirty="0">
                <a:solidFill>
                  <a:srgbClr val="0D0D0D"/>
                </a:solidFill>
                <a:latin typeface="Arial"/>
                <a:cs typeface="Arial"/>
              </a:rPr>
              <a:t>Required </a:t>
            </a:r>
            <a:r>
              <a:rPr sz="1800" spc="-5" dirty="0">
                <a:solidFill>
                  <a:srgbClr val="0D0D0D"/>
                </a:solidFill>
                <a:latin typeface="Arial"/>
                <a:cs typeface="Arial"/>
              </a:rPr>
              <a:t>software </a:t>
            </a:r>
            <a:r>
              <a:rPr sz="1800" dirty="0">
                <a:solidFill>
                  <a:srgbClr val="0D0D0D"/>
                </a:solidFill>
                <a:latin typeface="Arial"/>
                <a:cs typeface="Arial"/>
              </a:rPr>
              <a:t>reliability</a:t>
            </a:r>
            <a:endParaRPr sz="1800">
              <a:latin typeface="Arial"/>
              <a:cs typeface="Arial"/>
            </a:endParaRPr>
          </a:p>
          <a:p>
            <a:pPr marL="1614170" lvl="1" indent="-457834">
              <a:lnSpc>
                <a:spcPct val="100000"/>
              </a:lnSpc>
              <a:spcBef>
                <a:spcPts val="1540"/>
              </a:spcBef>
              <a:buClr>
                <a:srgbClr val="D1282D"/>
              </a:buClr>
              <a:buAutoNum type="romanUcPeriod"/>
              <a:tabLst>
                <a:tab pos="1614170" algn="l"/>
                <a:tab pos="1614805" algn="l"/>
              </a:tabLst>
            </a:pPr>
            <a:r>
              <a:rPr sz="1800" spc="-15" dirty="0">
                <a:solidFill>
                  <a:srgbClr val="0D0D0D"/>
                </a:solidFill>
                <a:latin typeface="Arial"/>
                <a:cs typeface="Arial"/>
              </a:rPr>
              <a:t>Size </a:t>
            </a:r>
            <a:r>
              <a:rPr sz="1800" spc="-5" dirty="0">
                <a:solidFill>
                  <a:srgbClr val="0D0D0D"/>
                </a:solidFill>
                <a:latin typeface="Arial"/>
                <a:cs typeface="Arial"/>
              </a:rPr>
              <a:t>of </a:t>
            </a:r>
            <a:r>
              <a:rPr sz="1800" dirty="0">
                <a:solidFill>
                  <a:srgbClr val="0D0D0D"/>
                </a:solidFill>
                <a:latin typeface="Arial"/>
                <a:cs typeface="Arial"/>
              </a:rPr>
              <a:t>application</a:t>
            </a:r>
            <a:r>
              <a:rPr sz="1800" spc="-40" dirty="0">
                <a:solidFill>
                  <a:srgbClr val="0D0D0D"/>
                </a:solidFill>
                <a:latin typeface="Arial"/>
                <a:cs typeface="Arial"/>
              </a:rPr>
              <a:t> </a:t>
            </a:r>
            <a:r>
              <a:rPr sz="1800" spc="-5" dirty="0">
                <a:solidFill>
                  <a:srgbClr val="0D0D0D"/>
                </a:solidFill>
                <a:latin typeface="Arial"/>
                <a:cs typeface="Arial"/>
              </a:rPr>
              <a:t>software</a:t>
            </a:r>
            <a:endParaRPr sz="1800">
              <a:latin typeface="Arial"/>
              <a:cs typeface="Arial"/>
            </a:endParaRPr>
          </a:p>
          <a:p>
            <a:pPr marL="1614170" lvl="1" indent="-457834">
              <a:lnSpc>
                <a:spcPct val="100000"/>
              </a:lnSpc>
              <a:spcBef>
                <a:spcPts val="1495"/>
              </a:spcBef>
              <a:buClr>
                <a:srgbClr val="D1282D"/>
              </a:buClr>
              <a:buAutoNum type="romanUcPeriod"/>
              <a:tabLst>
                <a:tab pos="1614170" algn="l"/>
                <a:tab pos="1614805" algn="l"/>
              </a:tabLst>
            </a:pPr>
            <a:r>
              <a:rPr sz="1800" spc="-5" dirty="0">
                <a:solidFill>
                  <a:srgbClr val="0D0D0D"/>
                </a:solidFill>
                <a:latin typeface="Arial"/>
                <a:cs typeface="Arial"/>
              </a:rPr>
              <a:t>Complexity </a:t>
            </a:r>
            <a:r>
              <a:rPr sz="1800" dirty="0">
                <a:solidFill>
                  <a:srgbClr val="0D0D0D"/>
                </a:solidFill>
                <a:latin typeface="Arial"/>
                <a:cs typeface="Arial"/>
              </a:rPr>
              <a:t>of </a:t>
            </a:r>
            <a:r>
              <a:rPr sz="1800" spc="-5" dirty="0">
                <a:solidFill>
                  <a:srgbClr val="0D0D0D"/>
                </a:solidFill>
                <a:latin typeface="Arial"/>
                <a:cs typeface="Arial"/>
              </a:rPr>
              <a:t>the</a:t>
            </a:r>
            <a:r>
              <a:rPr sz="1800" spc="-55" dirty="0">
                <a:solidFill>
                  <a:srgbClr val="0D0D0D"/>
                </a:solidFill>
                <a:latin typeface="Arial"/>
                <a:cs typeface="Arial"/>
              </a:rPr>
              <a:t> </a:t>
            </a:r>
            <a:r>
              <a:rPr sz="1800" spc="-5" dirty="0">
                <a:solidFill>
                  <a:srgbClr val="0D0D0D"/>
                </a:solidFill>
                <a:latin typeface="Arial"/>
                <a:cs typeface="Arial"/>
              </a:rPr>
              <a:t>product</a:t>
            </a:r>
            <a:endParaRPr sz="1800">
              <a:latin typeface="Arial"/>
              <a:cs typeface="Aria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1125" y="0"/>
            <a:ext cx="142875" cy="6857363"/>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33717" y="165036"/>
            <a:ext cx="262191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D0D0D"/>
                </a:solidFill>
              </a:rPr>
              <a:t>(2) Hardware</a:t>
            </a:r>
            <a:r>
              <a:rPr sz="1800" spc="-20" dirty="0">
                <a:solidFill>
                  <a:srgbClr val="0D0D0D"/>
                </a:solidFill>
              </a:rPr>
              <a:t> </a:t>
            </a:r>
            <a:r>
              <a:rPr sz="1800" spc="-15" dirty="0">
                <a:solidFill>
                  <a:srgbClr val="0D0D0D"/>
                </a:solidFill>
              </a:rPr>
              <a:t>Attributes:</a:t>
            </a:r>
            <a:endParaRPr sz="1800"/>
          </a:p>
        </p:txBody>
      </p:sp>
      <p:sp>
        <p:nvSpPr>
          <p:cNvPr id="4" name="object 4"/>
          <p:cNvSpPr txBox="1"/>
          <p:nvPr/>
        </p:nvSpPr>
        <p:spPr>
          <a:xfrm>
            <a:off x="533717" y="523557"/>
            <a:ext cx="8004809" cy="6146800"/>
          </a:xfrm>
          <a:prstGeom prst="rect">
            <a:avLst/>
          </a:prstGeom>
        </p:spPr>
        <p:txBody>
          <a:bodyPr vert="horz" wrap="square" lIns="0" tIns="60960" rIns="0" bIns="0" rtlCol="0">
            <a:spAutoFit/>
          </a:bodyPr>
          <a:lstStyle/>
          <a:p>
            <a:pPr marL="990600" indent="-520700">
              <a:lnSpc>
                <a:spcPct val="100000"/>
              </a:lnSpc>
              <a:spcBef>
                <a:spcPts val="480"/>
              </a:spcBef>
              <a:buClr>
                <a:srgbClr val="D1282D"/>
              </a:buClr>
              <a:buAutoNum type="romanUcPeriod"/>
              <a:tabLst>
                <a:tab pos="990600" algn="l"/>
                <a:tab pos="991235" algn="l"/>
              </a:tabLst>
            </a:pPr>
            <a:r>
              <a:rPr sz="1600" dirty="0">
                <a:solidFill>
                  <a:srgbClr val="0D0D0D"/>
                </a:solidFill>
                <a:latin typeface="Arial"/>
                <a:cs typeface="Arial"/>
              </a:rPr>
              <a:t>Run-time </a:t>
            </a:r>
            <a:r>
              <a:rPr sz="1600" spc="-10" dirty="0">
                <a:solidFill>
                  <a:srgbClr val="0D0D0D"/>
                </a:solidFill>
                <a:latin typeface="Arial"/>
                <a:cs typeface="Arial"/>
              </a:rPr>
              <a:t>performance</a:t>
            </a:r>
            <a:r>
              <a:rPr sz="1600" spc="-90" dirty="0">
                <a:solidFill>
                  <a:srgbClr val="0D0D0D"/>
                </a:solidFill>
                <a:latin typeface="Arial"/>
                <a:cs typeface="Arial"/>
              </a:rPr>
              <a:t> </a:t>
            </a:r>
            <a:r>
              <a:rPr sz="1600" spc="-5" dirty="0">
                <a:solidFill>
                  <a:srgbClr val="0D0D0D"/>
                </a:solidFill>
                <a:latin typeface="Arial"/>
                <a:cs typeface="Arial"/>
              </a:rPr>
              <a:t>constraints</a:t>
            </a:r>
            <a:endParaRPr sz="1600">
              <a:latin typeface="Arial"/>
              <a:cs typeface="Arial"/>
            </a:endParaRPr>
          </a:p>
          <a:p>
            <a:pPr marL="990600" indent="-520700">
              <a:lnSpc>
                <a:spcPct val="100000"/>
              </a:lnSpc>
              <a:spcBef>
                <a:spcPts val="385"/>
              </a:spcBef>
              <a:buClr>
                <a:srgbClr val="D1282D"/>
              </a:buClr>
              <a:buAutoNum type="romanUcPeriod"/>
              <a:tabLst>
                <a:tab pos="990600" algn="l"/>
                <a:tab pos="991235" algn="l"/>
              </a:tabLst>
            </a:pPr>
            <a:r>
              <a:rPr sz="1600" spc="-5" dirty="0">
                <a:solidFill>
                  <a:srgbClr val="0D0D0D"/>
                </a:solidFill>
                <a:latin typeface="Arial"/>
                <a:cs typeface="Arial"/>
              </a:rPr>
              <a:t>Memory</a:t>
            </a:r>
            <a:r>
              <a:rPr sz="1600" spc="-60" dirty="0">
                <a:solidFill>
                  <a:srgbClr val="0D0D0D"/>
                </a:solidFill>
                <a:latin typeface="Arial"/>
                <a:cs typeface="Arial"/>
              </a:rPr>
              <a:t> </a:t>
            </a:r>
            <a:r>
              <a:rPr sz="1600" spc="-5" dirty="0">
                <a:solidFill>
                  <a:srgbClr val="0D0D0D"/>
                </a:solidFill>
                <a:latin typeface="Arial"/>
                <a:cs typeface="Arial"/>
              </a:rPr>
              <a:t>constraints</a:t>
            </a:r>
            <a:endParaRPr sz="1600">
              <a:latin typeface="Arial"/>
              <a:cs typeface="Arial"/>
            </a:endParaRPr>
          </a:p>
          <a:p>
            <a:pPr marL="984250" indent="-514350">
              <a:lnSpc>
                <a:spcPct val="100000"/>
              </a:lnSpc>
              <a:spcBef>
                <a:spcPts val="480"/>
              </a:spcBef>
              <a:buClr>
                <a:srgbClr val="D1282D"/>
              </a:buClr>
              <a:buAutoNum type="romanUcPeriod"/>
              <a:tabLst>
                <a:tab pos="984250" algn="l"/>
                <a:tab pos="984885" algn="l"/>
              </a:tabLst>
            </a:pPr>
            <a:r>
              <a:rPr sz="1600" spc="-5" dirty="0">
                <a:solidFill>
                  <a:srgbClr val="0D0D0D"/>
                </a:solidFill>
                <a:latin typeface="Arial"/>
                <a:cs typeface="Arial"/>
              </a:rPr>
              <a:t>Required </a:t>
            </a:r>
            <a:r>
              <a:rPr sz="1600" spc="5" dirty="0">
                <a:solidFill>
                  <a:srgbClr val="0D0D0D"/>
                </a:solidFill>
                <a:latin typeface="Arial"/>
                <a:cs typeface="Arial"/>
              </a:rPr>
              <a:t>turn </a:t>
            </a:r>
            <a:r>
              <a:rPr sz="1600" spc="-15" dirty="0">
                <a:solidFill>
                  <a:srgbClr val="0D0D0D"/>
                </a:solidFill>
                <a:latin typeface="Arial"/>
                <a:cs typeface="Arial"/>
              </a:rPr>
              <a:t>around</a:t>
            </a:r>
            <a:r>
              <a:rPr sz="1600" spc="225" dirty="0">
                <a:solidFill>
                  <a:srgbClr val="0D0D0D"/>
                </a:solidFill>
                <a:latin typeface="Arial"/>
                <a:cs typeface="Arial"/>
              </a:rPr>
              <a:t> </a:t>
            </a:r>
            <a:r>
              <a:rPr sz="1600" dirty="0">
                <a:solidFill>
                  <a:srgbClr val="0D0D0D"/>
                </a:solidFill>
                <a:latin typeface="Arial"/>
                <a:cs typeface="Arial"/>
              </a:rPr>
              <a:t>time</a:t>
            </a:r>
            <a:endParaRPr sz="1600">
              <a:latin typeface="Arial"/>
              <a:cs typeface="Arial"/>
            </a:endParaRPr>
          </a:p>
          <a:p>
            <a:pPr marL="774700" indent="-304800">
              <a:lnSpc>
                <a:spcPct val="100000"/>
              </a:lnSpc>
              <a:spcBef>
                <a:spcPts val="284"/>
              </a:spcBef>
              <a:buClr>
                <a:srgbClr val="D1282D"/>
              </a:buClr>
              <a:buAutoNum type="romanUcPeriod"/>
              <a:tabLst>
                <a:tab pos="775335" algn="l"/>
              </a:tabLst>
            </a:pPr>
            <a:r>
              <a:rPr sz="1600" spc="-5" dirty="0">
                <a:solidFill>
                  <a:srgbClr val="0D0D0D"/>
                </a:solidFill>
                <a:latin typeface="Arial"/>
                <a:cs typeface="Arial"/>
              </a:rPr>
              <a:t>Volatility </a:t>
            </a:r>
            <a:r>
              <a:rPr sz="1600" spc="-25" dirty="0">
                <a:solidFill>
                  <a:srgbClr val="0D0D0D"/>
                </a:solidFill>
                <a:latin typeface="Arial"/>
                <a:cs typeface="Arial"/>
              </a:rPr>
              <a:t>of </a:t>
            </a:r>
            <a:r>
              <a:rPr sz="1600" spc="-15" dirty="0">
                <a:solidFill>
                  <a:srgbClr val="0D0D0D"/>
                </a:solidFill>
                <a:latin typeface="Arial"/>
                <a:cs typeface="Arial"/>
              </a:rPr>
              <a:t>virtual</a:t>
            </a:r>
            <a:r>
              <a:rPr sz="1600" spc="65" dirty="0">
                <a:solidFill>
                  <a:srgbClr val="0D0D0D"/>
                </a:solidFill>
                <a:latin typeface="Arial"/>
                <a:cs typeface="Arial"/>
              </a:rPr>
              <a:t> </a:t>
            </a:r>
            <a:r>
              <a:rPr sz="1600" dirty="0">
                <a:solidFill>
                  <a:srgbClr val="0D0D0D"/>
                </a:solidFill>
                <a:latin typeface="Arial"/>
                <a:cs typeface="Arial"/>
              </a:rPr>
              <a:t>machine</a:t>
            </a:r>
            <a:endParaRPr sz="1600">
              <a:latin typeface="Arial"/>
              <a:cs typeface="Arial"/>
            </a:endParaRPr>
          </a:p>
          <a:p>
            <a:pPr>
              <a:lnSpc>
                <a:spcPct val="100000"/>
              </a:lnSpc>
              <a:spcBef>
                <a:spcPts val="30"/>
              </a:spcBef>
            </a:pPr>
            <a:endParaRPr sz="2350">
              <a:latin typeface="Times New Roman"/>
              <a:cs typeface="Times New Roman"/>
            </a:endParaRPr>
          </a:p>
          <a:p>
            <a:pPr marL="355600" indent="-342900">
              <a:lnSpc>
                <a:spcPct val="100000"/>
              </a:lnSpc>
              <a:buAutoNum type="arabicParenBoth" startAt="3"/>
              <a:tabLst>
                <a:tab pos="356235" algn="l"/>
              </a:tabLst>
            </a:pPr>
            <a:r>
              <a:rPr sz="1800" b="1" spc="-5" dirty="0">
                <a:solidFill>
                  <a:srgbClr val="0D0D0D"/>
                </a:solidFill>
                <a:latin typeface="Arial"/>
                <a:cs typeface="Arial"/>
              </a:rPr>
              <a:t>Personal</a:t>
            </a:r>
            <a:r>
              <a:rPr sz="1800" b="1" spc="-55" dirty="0">
                <a:solidFill>
                  <a:srgbClr val="0D0D0D"/>
                </a:solidFill>
                <a:latin typeface="Arial"/>
                <a:cs typeface="Arial"/>
              </a:rPr>
              <a:t> </a:t>
            </a:r>
            <a:r>
              <a:rPr sz="1800" b="1" spc="-5" dirty="0">
                <a:solidFill>
                  <a:srgbClr val="0D0D0D"/>
                </a:solidFill>
                <a:latin typeface="Arial"/>
                <a:cs typeface="Arial"/>
              </a:rPr>
              <a:t>attributes:</a:t>
            </a:r>
            <a:endParaRPr sz="1800">
              <a:latin typeface="Arial"/>
              <a:cs typeface="Arial"/>
            </a:endParaRPr>
          </a:p>
          <a:p>
            <a:pPr marL="990600" lvl="1" indent="-520700">
              <a:lnSpc>
                <a:spcPct val="100000"/>
              </a:lnSpc>
              <a:spcBef>
                <a:spcPts val="1045"/>
              </a:spcBef>
              <a:buClr>
                <a:srgbClr val="D1282D"/>
              </a:buClr>
              <a:buAutoNum type="romanUcPeriod"/>
              <a:tabLst>
                <a:tab pos="990600" algn="l"/>
                <a:tab pos="991235" algn="l"/>
              </a:tabLst>
            </a:pPr>
            <a:r>
              <a:rPr sz="1600" spc="-10" dirty="0">
                <a:solidFill>
                  <a:srgbClr val="0D0D0D"/>
                </a:solidFill>
                <a:latin typeface="Arial"/>
                <a:cs typeface="Arial"/>
              </a:rPr>
              <a:t>Analyst</a:t>
            </a:r>
            <a:r>
              <a:rPr sz="1600" dirty="0">
                <a:solidFill>
                  <a:srgbClr val="0D0D0D"/>
                </a:solidFill>
                <a:latin typeface="Arial"/>
                <a:cs typeface="Arial"/>
              </a:rPr>
              <a:t> </a:t>
            </a:r>
            <a:r>
              <a:rPr sz="1600" spc="-5" dirty="0">
                <a:solidFill>
                  <a:srgbClr val="0D0D0D"/>
                </a:solidFill>
                <a:latin typeface="Arial"/>
                <a:cs typeface="Arial"/>
              </a:rPr>
              <a:t>capability</a:t>
            </a:r>
            <a:endParaRPr sz="1600">
              <a:latin typeface="Arial"/>
              <a:cs typeface="Arial"/>
            </a:endParaRPr>
          </a:p>
          <a:p>
            <a:pPr marL="990600" lvl="1" indent="-520700">
              <a:lnSpc>
                <a:spcPct val="100000"/>
              </a:lnSpc>
              <a:spcBef>
                <a:spcPts val="380"/>
              </a:spcBef>
              <a:buClr>
                <a:srgbClr val="D1282D"/>
              </a:buClr>
              <a:buAutoNum type="romanUcPeriod"/>
              <a:tabLst>
                <a:tab pos="990600" algn="l"/>
                <a:tab pos="991235" algn="l"/>
              </a:tabLst>
            </a:pPr>
            <a:r>
              <a:rPr sz="1600" spc="-10" dirty="0">
                <a:solidFill>
                  <a:srgbClr val="0D0D0D"/>
                </a:solidFill>
                <a:latin typeface="Arial"/>
                <a:cs typeface="Arial"/>
              </a:rPr>
              <a:t>Software Engineer</a:t>
            </a:r>
            <a:r>
              <a:rPr sz="1600" spc="35" dirty="0">
                <a:solidFill>
                  <a:srgbClr val="0D0D0D"/>
                </a:solidFill>
                <a:latin typeface="Arial"/>
                <a:cs typeface="Arial"/>
              </a:rPr>
              <a:t> </a:t>
            </a:r>
            <a:r>
              <a:rPr sz="1600" spc="-5" dirty="0">
                <a:solidFill>
                  <a:srgbClr val="0D0D0D"/>
                </a:solidFill>
                <a:latin typeface="Arial"/>
                <a:cs typeface="Arial"/>
              </a:rPr>
              <a:t>Capability</a:t>
            </a:r>
            <a:endParaRPr sz="1600">
              <a:latin typeface="Arial"/>
              <a:cs typeface="Arial"/>
            </a:endParaRPr>
          </a:p>
          <a:p>
            <a:pPr marL="990600" lvl="1" indent="-520700">
              <a:lnSpc>
                <a:spcPct val="100000"/>
              </a:lnSpc>
              <a:spcBef>
                <a:spcPts val="380"/>
              </a:spcBef>
              <a:buClr>
                <a:srgbClr val="D1282D"/>
              </a:buClr>
              <a:buAutoNum type="romanUcPeriod"/>
              <a:tabLst>
                <a:tab pos="990600" algn="l"/>
                <a:tab pos="991235" algn="l"/>
              </a:tabLst>
            </a:pPr>
            <a:r>
              <a:rPr sz="1600" spc="-10" dirty="0">
                <a:solidFill>
                  <a:srgbClr val="0D0D0D"/>
                </a:solidFill>
                <a:latin typeface="Arial"/>
                <a:cs typeface="Arial"/>
              </a:rPr>
              <a:t>Applications</a:t>
            </a:r>
            <a:r>
              <a:rPr sz="1600" spc="-5" dirty="0">
                <a:solidFill>
                  <a:srgbClr val="0D0D0D"/>
                </a:solidFill>
                <a:latin typeface="Arial"/>
                <a:cs typeface="Arial"/>
              </a:rPr>
              <a:t> </a:t>
            </a:r>
            <a:r>
              <a:rPr sz="1600" dirty="0">
                <a:solidFill>
                  <a:srgbClr val="0D0D0D"/>
                </a:solidFill>
                <a:latin typeface="Arial"/>
                <a:cs typeface="Arial"/>
              </a:rPr>
              <a:t>Experience</a:t>
            </a:r>
            <a:endParaRPr sz="1600">
              <a:latin typeface="Arial"/>
              <a:cs typeface="Arial"/>
            </a:endParaRPr>
          </a:p>
          <a:p>
            <a:pPr marL="977900" lvl="1" indent="-508000">
              <a:lnSpc>
                <a:spcPct val="100000"/>
              </a:lnSpc>
              <a:spcBef>
                <a:spcPts val="385"/>
              </a:spcBef>
              <a:buClr>
                <a:srgbClr val="D1282D"/>
              </a:buClr>
              <a:buAutoNum type="romanUcPeriod"/>
              <a:tabLst>
                <a:tab pos="977900" algn="l"/>
                <a:tab pos="978535" algn="l"/>
              </a:tabLst>
            </a:pPr>
            <a:r>
              <a:rPr sz="1600" spc="-10" dirty="0">
                <a:solidFill>
                  <a:srgbClr val="0D0D0D"/>
                </a:solidFill>
                <a:latin typeface="Arial"/>
                <a:cs typeface="Arial"/>
              </a:rPr>
              <a:t>Programming </a:t>
            </a:r>
            <a:r>
              <a:rPr sz="1600" dirty="0">
                <a:solidFill>
                  <a:srgbClr val="0D0D0D"/>
                </a:solidFill>
                <a:latin typeface="Arial"/>
                <a:cs typeface="Arial"/>
              </a:rPr>
              <a:t>language</a:t>
            </a:r>
            <a:r>
              <a:rPr sz="1600" spc="-80" dirty="0">
                <a:solidFill>
                  <a:srgbClr val="0D0D0D"/>
                </a:solidFill>
                <a:latin typeface="Arial"/>
                <a:cs typeface="Arial"/>
              </a:rPr>
              <a:t> </a:t>
            </a:r>
            <a:r>
              <a:rPr sz="1600" spc="-5" dirty="0">
                <a:solidFill>
                  <a:srgbClr val="0D0D0D"/>
                </a:solidFill>
                <a:latin typeface="Arial"/>
                <a:cs typeface="Arial"/>
              </a:rPr>
              <a:t>experience</a:t>
            </a:r>
            <a:endParaRPr sz="1600">
              <a:latin typeface="Arial"/>
              <a:cs typeface="Arial"/>
            </a:endParaRPr>
          </a:p>
          <a:p>
            <a:pPr marL="990600" lvl="1" indent="-520700">
              <a:lnSpc>
                <a:spcPct val="100000"/>
              </a:lnSpc>
              <a:spcBef>
                <a:spcPts val="380"/>
              </a:spcBef>
              <a:buClr>
                <a:srgbClr val="D1282D"/>
              </a:buClr>
              <a:buAutoNum type="romanUcPeriod"/>
              <a:tabLst>
                <a:tab pos="990600" algn="l"/>
                <a:tab pos="991235" algn="l"/>
              </a:tabLst>
            </a:pPr>
            <a:r>
              <a:rPr sz="1600" spc="-10" dirty="0">
                <a:solidFill>
                  <a:srgbClr val="0D0D0D"/>
                </a:solidFill>
                <a:latin typeface="Arial"/>
                <a:cs typeface="Arial"/>
              </a:rPr>
              <a:t>Virtual </a:t>
            </a:r>
            <a:r>
              <a:rPr sz="1600" dirty="0">
                <a:solidFill>
                  <a:srgbClr val="0D0D0D"/>
                </a:solidFill>
                <a:latin typeface="Arial"/>
                <a:cs typeface="Arial"/>
              </a:rPr>
              <a:t>machine</a:t>
            </a:r>
            <a:r>
              <a:rPr sz="1600" spc="-50" dirty="0">
                <a:solidFill>
                  <a:srgbClr val="0D0D0D"/>
                </a:solidFill>
                <a:latin typeface="Arial"/>
                <a:cs typeface="Arial"/>
              </a:rPr>
              <a:t> </a:t>
            </a:r>
            <a:r>
              <a:rPr sz="1600" dirty="0">
                <a:solidFill>
                  <a:srgbClr val="0D0D0D"/>
                </a:solidFill>
                <a:latin typeface="Arial"/>
                <a:cs typeface="Arial"/>
              </a:rPr>
              <a:t>Experience</a:t>
            </a:r>
            <a:endParaRPr sz="1600">
              <a:latin typeface="Arial"/>
              <a:cs typeface="Arial"/>
            </a:endParaRPr>
          </a:p>
          <a:p>
            <a:pPr lvl="1">
              <a:lnSpc>
                <a:spcPct val="100000"/>
              </a:lnSpc>
              <a:spcBef>
                <a:spcPts val="35"/>
              </a:spcBef>
              <a:buClr>
                <a:srgbClr val="D1282D"/>
              </a:buClr>
              <a:buFont typeface="Arial"/>
              <a:buAutoNum type="romanUcPeriod"/>
            </a:pPr>
            <a:endParaRPr sz="2350">
              <a:latin typeface="Times New Roman"/>
              <a:cs typeface="Times New Roman"/>
            </a:endParaRPr>
          </a:p>
          <a:p>
            <a:pPr marL="355600" indent="-342900">
              <a:lnSpc>
                <a:spcPct val="100000"/>
              </a:lnSpc>
              <a:buAutoNum type="arabicParenBoth" startAt="3"/>
              <a:tabLst>
                <a:tab pos="356235" algn="l"/>
              </a:tabLst>
            </a:pPr>
            <a:r>
              <a:rPr sz="1800" b="1" spc="-5" dirty="0">
                <a:solidFill>
                  <a:srgbClr val="0D0D0D"/>
                </a:solidFill>
                <a:latin typeface="Arial"/>
                <a:cs typeface="Arial"/>
              </a:rPr>
              <a:t>Project</a:t>
            </a:r>
            <a:r>
              <a:rPr sz="1800" b="1" spc="-10" dirty="0">
                <a:solidFill>
                  <a:srgbClr val="0D0D0D"/>
                </a:solidFill>
                <a:latin typeface="Arial"/>
                <a:cs typeface="Arial"/>
              </a:rPr>
              <a:t> Attributes:</a:t>
            </a:r>
            <a:endParaRPr sz="1800">
              <a:latin typeface="Arial"/>
              <a:cs typeface="Arial"/>
            </a:endParaRPr>
          </a:p>
          <a:p>
            <a:pPr marL="990600" lvl="1" indent="-520700">
              <a:lnSpc>
                <a:spcPct val="100000"/>
              </a:lnSpc>
              <a:spcBef>
                <a:spcPts val="1040"/>
              </a:spcBef>
              <a:buClr>
                <a:srgbClr val="D1282D"/>
              </a:buClr>
              <a:buAutoNum type="romanUcPeriod"/>
              <a:tabLst>
                <a:tab pos="990600" algn="l"/>
                <a:tab pos="991235" algn="l"/>
              </a:tabLst>
            </a:pPr>
            <a:r>
              <a:rPr sz="1600" spc="-5" dirty="0">
                <a:solidFill>
                  <a:srgbClr val="0D0D0D"/>
                </a:solidFill>
                <a:latin typeface="Arial"/>
                <a:cs typeface="Arial"/>
              </a:rPr>
              <a:t>Use </a:t>
            </a:r>
            <a:r>
              <a:rPr sz="1600" spc="-25" dirty="0">
                <a:solidFill>
                  <a:srgbClr val="0D0D0D"/>
                </a:solidFill>
                <a:latin typeface="Arial"/>
                <a:cs typeface="Arial"/>
              </a:rPr>
              <a:t>of </a:t>
            </a:r>
            <a:r>
              <a:rPr sz="1600" spc="-5" dirty="0">
                <a:solidFill>
                  <a:srgbClr val="0D0D0D"/>
                </a:solidFill>
                <a:latin typeface="Arial"/>
                <a:cs typeface="Arial"/>
              </a:rPr>
              <a:t>software</a:t>
            </a:r>
            <a:r>
              <a:rPr sz="1600" spc="40" dirty="0">
                <a:solidFill>
                  <a:srgbClr val="0D0D0D"/>
                </a:solidFill>
                <a:latin typeface="Arial"/>
                <a:cs typeface="Arial"/>
              </a:rPr>
              <a:t> </a:t>
            </a:r>
            <a:r>
              <a:rPr sz="1600" spc="-10" dirty="0">
                <a:solidFill>
                  <a:srgbClr val="0D0D0D"/>
                </a:solidFill>
                <a:latin typeface="Arial"/>
                <a:cs typeface="Arial"/>
              </a:rPr>
              <a:t>tools</a:t>
            </a:r>
            <a:endParaRPr sz="1600">
              <a:latin typeface="Arial"/>
              <a:cs typeface="Arial"/>
            </a:endParaRPr>
          </a:p>
          <a:p>
            <a:pPr marL="990600" lvl="1" indent="-520700">
              <a:lnSpc>
                <a:spcPct val="100000"/>
              </a:lnSpc>
              <a:spcBef>
                <a:spcPts val="384"/>
              </a:spcBef>
              <a:buClr>
                <a:srgbClr val="D1282D"/>
              </a:buClr>
              <a:buAutoNum type="romanUcPeriod"/>
              <a:tabLst>
                <a:tab pos="990600" algn="l"/>
                <a:tab pos="991235" algn="l"/>
              </a:tabLst>
            </a:pPr>
            <a:r>
              <a:rPr sz="1600" spc="-5" dirty="0">
                <a:solidFill>
                  <a:srgbClr val="0D0D0D"/>
                </a:solidFill>
                <a:latin typeface="Arial"/>
                <a:cs typeface="Arial"/>
              </a:rPr>
              <a:t>Required </a:t>
            </a:r>
            <a:r>
              <a:rPr sz="1600" spc="-10" dirty="0">
                <a:solidFill>
                  <a:srgbClr val="0D0D0D"/>
                </a:solidFill>
                <a:latin typeface="Arial"/>
                <a:cs typeface="Arial"/>
              </a:rPr>
              <a:t>development</a:t>
            </a:r>
            <a:r>
              <a:rPr sz="1600" spc="15" dirty="0">
                <a:solidFill>
                  <a:srgbClr val="0D0D0D"/>
                </a:solidFill>
                <a:latin typeface="Arial"/>
                <a:cs typeface="Arial"/>
              </a:rPr>
              <a:t> </a:t>
            </a:r>
            <a:r>
              <a:rPr sz="1600" dirty="0">
                <a:solidFill>
                  <a:srgbClr val="0D0D0D"/>
                </a:solidFill>
                <a:latin typeface="Arial"/>
                <a:cs typeface="Arial"/>
              </a:rPr>
              <a:t>schedule</a:t>
            </a:r>
            <a:endParaRPr sz="1600">
              <a:latin typeface="Arial"/>
              <a:cs typeface="Arial"/>
            </a:endParaRPr>
          </a:p>
          <a:p>
            <a:pPr marL="990600" lvl="1" indent="-520700">
              <a:lnSpc>
                <a:spcPct val="100000"/>
              </a:lnSpc>
              <a:spcBef>
                <a:spcPts val="380"/>
              </a:spcBef>
              <a:buClr>
                <a:srgbClr val="D1282D"/>
              </a:buClr>
              <a:buAutoNum type="romanUcPeriod"/>
              <a:tabLst>
                <a:tab pos="990600" algn="l"/>
                <a:tab pos="991235" algn="l"/>
              </a:tabLst>
            </a:pPr>
            <a:r>
              <a:rPr sz="1600" spc="-10" dirty="0">
                <a:solidFill>
                  <a:srgbClr val="0D0D0D"/>
                </a:solidFill>
                <a:latin typeface="Arial"/>
                <a:cs typeface="Arial"/>
              </a:rPr>
              <a:t>Application </a:t>
            </a:r>
            <a:r>
              <a:rPr sz="1600" spc="-20" dirty="0">
                <a:solidFill>
                  <a:srgbClr val="0D0D0D"/>
                </a:solidFill>
                <a:latin typeface="Arial"/>
                <a:cs typeface="Arial"/>
              </a:rPr>
              <a:t>of </a:t>
            </a:r>
            <a:r>
              <a:rPr sz="1600" spc="-5" dirty="0">
                <a:solidFill>
                  <a:srgbClr val="0D0D0D"/>
                </a:solidFill>
                <a:latin typeface="Arial"/>
                <a:cs typeface="Arial"/>
              </a:rPr>
              <a:t>software </a:t>
            </a:r>
            <a:r>
              <a:rPr sz="1600" spc="-10" dirty="0">
                <a:solidFill>
                  <a:srgbClr val="0D0D0D"/>
                </a:solidFill>
                <a:latin typeface="Arial"/>
                <a:cs typeface="Arial"/>
              </a:rPr>
              <a:t>engineering</a:t>
            </a:r>
            <a:r>
              <a:rPr sz="1600" spc="55" dirty="0">
                <a:solidFill>
                  <a:srgbClr val="0D0D0D"/>
                </a:solidFill>
                <a:latin typeface="Arial"/>
                <a:cs typeface="Arial"/>
              </a:rPr>
              <a:t> </a:t>
            </a:r>
            <a:r>
              <a:rPr sz="1600" spc="-5" dirty="0">
                <a:solidFill>
                  <a:srgbClr val="0D0D0D"/>
                </a:solidFill>
                <a:latin typeface="Arial"/>
                <a:cs typeface="Arial"/>
              </a:rPr>
              <a:t>methods</a:t>
            </a:r>
            <a:endParaRPr sz="1600">
              <a:latin typeface="Arial"/>
              <a:cs typeface="Arial"/>
            </a:endParaRPr>
          </a:p>
          <a:p>
            <a:pPr>
              <a:lnSpc>
                <a:spcPct val="100000"/>
              </a:lnSpc>
              <a:spcBef>
                <a:spcPts val="30"/>
              </a:spcBef>
            </a:pPr>
            <a:endParaRPr sz="2500">
              <a:latin typeface="Times New Roman"/>
              <a:cs typeface="Times New Roman"/>
            </a:endParaRPr>
          </a:p>
          <a:p>
            <a:pPr marL="12700" marR="5080">
              <a:lnSpc>
                <a:spcPts val="1850"/>
              </a:lnSpc>
            </a:pPr>
            <a:r>
              <a:rPr sz="1600" spc="-20" dirty="0">
                <a:latin typeface="Arial"/>
                <a:cs typeface="Arial"/>
              </a:rPr>
              <a:t>Now </a:t>
            </a:r>
            <a:r>
              <a:rPr sz="1600" dirty="0">
                <a:latin typeface="Arial"/>
                <a:cs typeface="Arial"/>
              </a:rPr>
              <a:t>these </a:t>
            </a:r>
            <a:r>
              <a:rPr sz="1600" u="sng" dirty="0">
                <a:uFill>
                  <a:solidFill>
                    <a:srgbClr val="000000"/>
                  </a:solidFill>
                </a:uFill>
                <a:latin typeface="Arial"/>
                <a:cs typeface="Arial"/>
              </a:rPr>
              <a:t>15 </a:t>
            </a:r>
            <a:r>
              <a:rPr sz="1600" u="sng" spc="-10" dirty="0">
                <a:uFill>
                  <a:solidFill>
                    <a:srgbClr val="000000"/>
                  </a:solidFill>
                </a:uFill>
                <a:latin typeface="Arial"/>
                <a:cs typeface="Arial"/>
              </a:rPr>
              <a:t>attributes</a:t>
            </a:r>
            <a:r>
              <a:rPr sz="1600" spc="-10" dirty="0">
                <a:latin typeface="Arial"/>
                <a:cs typeface="Arial"/>
              </a:rPr>
              <a:t> </a:t>
            </a:r>
            <a:r>
              <a:rPr sz="1600" spc="-15" dirty="0">
                <a:latin typeface="Arial"/>
                <a:cs typeface="Arial"/>
              </a:rPr>
              <a:t>get </a:t>
            </a:r>
            <a:r>
              <a:rPr sz="1600" u="sng" dirty="0">
                <a:uFill>
                  <a:solidFill>
                    <a:srgbClr val="000000"/>
                  </a:solidFill>
                </a:uFill>
                <a:latin typeface="Arial"/>
                <a:cs typeface="Arial"/>
              </a:rPr>
              <a:t>a </a:t>
            </a:r>
            <a:r>
              <a:rPr sz="1600" u="sng" spc="-5" dirty="0">
                <a:uFill>
                  <a:solidFill>
                    <a:srgbClr val="000000"/>
                  </a:solidFill>
                </a:uFill>
                <a:latin typeface="Arial"/>
                <a:cs typeface="Arial"/>
              </a:rPr>
              <a:t>6-point </a:t>
            </a:r>
            <a:r>
              <a:rPr sz="1600" u="sng" spc="5" dirty="0">
                <a:uFill>
                  <a:solidFill>
                    <a:srgbClr val="000000"/>
                  </a:solidFill>
                </a:uFill>
                <a:latin typeface="Arial"/>
                <a:cs typeface="Arial"/>
              </a:rPr>
              <a:t>scale</a:t>
            </a:r>
            <a:r>
              <a:rPr sz="1600" spc="5" dirty="0">
                <a:latin typeface="Arial"/>
                <a:cs typeface="Arial"/>
              </a:rPr>
              <a:t> </a:t>
            </a:r>
            <a:r>
              <a:rPr sz="1600" spc="-5" dirty="0">
                <a:latin typeface="Arial"/>
                <a:cs typeface="Arial"/>
              </a:rPr>
              <a:t>ranging </a:t>
            </a:r>
            <a:r>
              <a:rPr sz="1600" spc="5" dirty="0">
                <a:latin typeface="Arial"/>
                <a:cs typeface="Arial"/>
              </a:rPr>
              <a:t>from </a:t>
            </a:r>
            <a:r>
              <a:rPr sz="1600" spc="-5" dirty="0">
                <a:latin typeface="Arial"/>
                <a:cs typeface="Arial"/>
              </a:rPr>
              <a:t>“very </a:t>
            </a:r>
            <a:r>
              <a:rPr sz="1600" dirty="0">
                <a:latin typeface="Arial"/>
                <a:cs typeface="Arial"/>
              </a:rPr>
              <a:t>low” to </a:t>
            </a:r>
            <a:r>
              <a:rPr sz="1600" spc="5" dirty="0">
                <a:latin typeface="Arial"/>
                <a:cs typeface="Arial"/>
              </a:rPr>
              <a:t>“extra high”. </a:t>
            </a:r>
            <a:r>
              <a:rPr sz="1600" spc="-5" dirty="0">
                <a:latin typeface="Arial"/>
                <a:cs typeface="Arial"/>
              </a:rPr>
              <a:t>These  </a:t>
            </a:r>
            <a:r>
              <a:rPr sz="1600" spc="-10" dirty="0">
                <a:latin typeface="Arial"/>
                <a:cs typeface="Arial"/>
              </a:rPr>
              <a:t>ratings </a:t>
            </a:r>
            <a:r>
              <a:rPr sz="1600" dirty="0">
                <a:latin typeface="Arial"/>
                <a:cs typeface="Arial"/>
              </a:rPr>
              <a:t>can </a:t>
            </a:r>
            <a:r>
              <a:rPr sz="1600" spc="5" dirty="0">
                <a:latin typeface="Arial"/>
                <a:cs typeface="Arial"/>
              </a:rPr>
              <a:t>be </a:t>
            </a:r>
            <a:r>
              <a:rPr sz="1600" spc="-5" dirty="0">
                <a:latin typeface="Arial"/>
                <a:cs typeface="Arial"/>
              </a:rPr>
              <a:t>viewed</a:t>
            </a:r>
            <a:r>
              <a:rPr sz="1600" spc="-30" dirty="0">
                <a:latin typeface="Arial"/>
                <a:cs typeface="Arial"/>
              </a:rPr>
              <a:t> </a:t>
            </a:r>
            <a:r>
              <a:rPr sz="1600" spc="-15" dirty="0">
                <a:latin typeface="Arial"/>
                <a:cs typeface="Arial"/>
              </a:rPr>
              <a:t>as:</a:t>
            </a:r>
            <a:endParaRPr sz="1600">
              <a:latin typeface="Arial"/>
              <a:cs typeface="Arial"/>
            </a:endParaRPr>
          </a:p>
          <a:p>
            <a:pPr marL="1353185">
              <a:lnSpc>
                <a:spcPct val="100000"/>
              </a:lnSpc>
              <a:spcBef>
                <a:spcPts val="935"/>
              </a:spcBef>
            </a:pPr>
            <a:r>
              <a:rPr sz="1600" dirty="0">
                <a:latin typeface="Arial"/>
                <a:cs typeface="Arial"/>
              </a:rPr>
              <a:t>Very </a:t>
            </a:r>
            <a:r>
              <a:rPr sz="1600" spc="-15" dirty="0">
                <a:latin typeface="Arial"/>
                <a:cs typeface="Arial"/>
              </a:rPr>
              <a:t>Low, </a:t>
            </a:r>
            <a:r>
              <a:rPr sz="1600" dirty="0">
                <a:latin typeface="Arial"/>
                <a:cs typeface="Arial"/>
              </a:rPr>
              <a:t>Low, </a:t>
            </a:r>
            <a:r>
              <a:rPr sz="1600" spc="-5" dirty="0">
                <a:latin typeface="Arial"/>
                <a:cs typeface="Arial"/>
              </a:rPr>
              <a:t>Nominal </a:t>
            </a:r>
            <a:r>
              <a:rPr sz="1600" dirty="0">
                <a:latin typeface="Arial"/>
                <a:cs typeface="Arial"/>
              </a:rPr>
              <a:t>High, </a:t>
            </a:r>
            <a:r>
              <a:rPr sz="1600" spc="-10" dirty="0">
                <a:latin typeface="Arial"/>
                <a:cs typeface="Arial"/>
              </a:rPr>
              <a:t>High, </a:t>
            </a:r>
            <a:r>
              <a:rPr sz="1600" spc="10" dirty="0">
                <a:latin typeface="Arial"/>
                <a:cs typeface="Arial"/>
              </a:rPr>
              <a:t>Very </a:t>
            </a:r>
            <a:r>
              <a:rPr sz="1600" spc="-10" dirty="0">
                <a:latin typeface="Arial"/>
                <a:cs typeface="Arial"/>
              </a:rPr>
              <a:t>high, </a:t>
            </a:r>
            <a:r>
              <a:rPr sz="1600" spc="-5" dirty="0">
                <a:latin typeface="Arial"/>
                <a:cs typeface="Arial"/>
              </a:rPr>
              <a:t>Extra</a:t>
            </a:r>
            <a:r>
              <a:rPr sz="1600" spc="-105" dirty="0">
                <a:latin typeface="Arial"/>
                <a:cs typeface="Arial"/>
              </a:rPr>
              <a:t> </a:t>
            </a:r>
            <a:r>
              <a:rPr sz="1600" dirty="0">
                <a:latin typeface="Arial"/>
                <a:cs typeface="Arial"/>
              </a:rPr>
              <a:t>high</a:t>
            </a:r>
            <a:endParaRPr sz="1600">
              <a:latin typeface="Arial"/>
              <a:cs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6505" y="3923029"/>
            <a:ext cx="6562725" cy="16764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46417" y="444817"/>
            <a:ext cx="7847965" cy="287020"/>
          </a:xfrm>
          <a:prstGeom prst="rect">
            <a:avLst/>
          </a:prstGeom>
          <a:solidFill>
            <a:srgbClr val="C0C0C0"/>
          </a:solidFill>
        </p:spPr>
        <p:txBody>
          <a:bodyPr vert="horz" wrap="square" lIns="0" tIns="0" rIns="0" bIns="0" rtlCol="0">
            <a:spAutoFit/>
          </a:bodyPr>
          <a:lstStyle/>
          <a:p>
            <a:pPr>
              <a:lnSpc>
                <a:spcPts val="2200"/>
              </a:lnSpc>
            </a:pPr>
            <a:r>
              <a:rPr sz="2000" spc="-10" dirty="0"/>
              <a:t>Based </a:t>
            </a:r>
            <a:r>
              <a:rPr sz="2000" spc="10" dirty="0"/>
              <a:t>on </a:t>
            </a:r>
            <a:r>
              <a:rPr sz="2000" dirty="0"/>
              <a:t>the rating </a:t>
            </a:r>
            <a:r>
              <a:rPr sz="2000" spc="-5" dirty="0"/>
              <a:t>effort multipliers </a:t>
            </a:r>
            <a:r>
              <a:rPr sz="2000" spc="20" dirty="0"/>
              <a:t>is </a:t>
            </a:r>
            <a:r>
              <a:rPr sz="2000" spc="-10" dirty="0"/>
              <a:t>determined. </a:t>
            </a:r>
            <a:r>
              <a:rPr sz="2000" spc="-5" dirty="0"/>
              <a:t>The</a:t>
            </a:r>
            <a:r>
              <a:rPr sz="2000" spc="-25" dirty="0"/>
              <a:t> </a:t>
            </a:r>
            <a:r>
              <a:rPr sz="2000" spc="-5" dirty="0"/>
              <a:t>product</a:t>
            </a:r>
            <a:endParaRPr sz="2000"/>
          </a:p>
        </p:txBody>
      </p:sp>
      <p:sp>
        <p:nvSpPr>
          <p:cNvPr id="4" name="object 4"/>
          <p:cNvSpPr/>
          <p:nvPr/>
        </p:nvSpPr>
        <p:spPr>
          <a:xfrm>
            <a:off x="546417" y="737171"/>
            <a:ext cx="7847965" cy="292735"/>
          </a:xfrm>
          <a:custGeom>
            <a:avLst/>
            <a:gdLst/>
            <a:ahLst/>
            <a:cxnLst/>
            <a:rect l="l" t="t" r="r" b="b"/>
            <a:pathLst>
              <a:path w="7847965" h="292734">
                <a:moveTo>
                  <a:pt x="0" y="292417"/>
                </a:moveTo>
                <a:lnTo>
                  <a:pt x="7847583" y="292417"/>
                </a:lnTo>
                <a:lnTo>
                  <a:pt x="7847583" y="0"/>
                </a:lnTo>
                <a:lnTo>
                  <a:pt x="0" y="0"/>
                </a:lnTo>
                <a:lnTo>
                  <a:pt x="0" y="292417"/>
                </a:lnTo>
                <a:close/>
              </a:path>
            </a:pathLst>
          </a:custGeom>
          <a:solidFill>
            <a:srgbClr val="C0C0C0"/>
          </a:solidFill>
        </p:spPr>
        <p:txBody>
          <a:bodyPr wrap="square" lIns="0" tIns="0" rIns="0" bIns="0" rtlCol="0"/>
          <a:lstStyle/>
          <a:p>
            <a:endParaRPr/>
          </a:p>
        </p:txBody>
      </p:sp>
      <p:sp>
        <p:nvSpPr>
          <p:cNvPr id="5" name="object 5"/>
          <p:cNvSpPr txBox="1"/>
          <p:nvPr/>
        </p:nvSpPr>
        <p:spPr>
          <a:xfrm>
            <a:off x="533717" y="559625"/>
            <a:ext cx="7860665" cy="3343275"/>
          </a:xfrm>
          <a:prstGeom prst="rect">
            <a:avLst/>
          </a:prstGeom>
        </p:spPr>
        <p:txBody>
          <a:bodyPr vert="horz" wrap="square" lIns="0" tIns="12700" rIns="0" bIns="0" rtlCol="0">
            <a:spAutoFit/>
          </a:bodyPr>
          <a:lstStyle/>
          <a:p>
            <a:pPr marL="12700">
              <a:lnSpc>
                <a:spcPct val="145900"/>
              </a:lnSpc>
              <a:spcBef>
                <a:spcPts val="100"/>
              </a:spcBef>
            </a:pPr>
            <a:r>
              <a:rPr sz="2000" b="1" spc="-15" dirty="0">
                <a:latin typeface="Arial"/>
                <a:cs typeface="Arial"/>
              </a:rPr>
              <a:t>of </a:t>
            </a:r>
            <a:r>
              <a:rPr sz="2000" b="1" spc="-10" dirty="0">
                <a:latin typeface="Arial"/>
                <a:cs typeface="Arial"/>
              </a:rPr>
              <a:t>all </a:t>
            </a:r>
            <a:r>
              <a:rPr sz="2000" b="1" spc="-5" dirty="0">
                <a:latin typeface="Arial"/>
                <a:cs typeface="Arial"/>
              </a:rPr>
              <a:t>effort Multipliers </a:t>
            </a:r>
            <a:r>
              <a:rPr sz="2000" b="1" dirty="0">
                <a:latin typeface="Arial"/>
                <a:cs typeface="Arial"/>
              </a:rPr>
              <a:t>result </a:t>
            </a:r>
            <a:r>
              <a:rPr sz="2000" b="1" spc="20" dirty="0">
                <a:latin typeface="Arial"/>
                <a:cs typeface="Arial"/>
              </a:rPr>
              <a:t>in </a:t>
            </a:r>
            <a:r>
              <a:rPr sz="2000" b="1" spc="-5" dirty="0">
                <a:latin typeface="Arial"/>
                <a:cs typeface="Arial"/>
              </a:rPr>
              <a:t>“</a:t>
            </a:r>
            <a:r>
              <a:rPr sz="2000" b="1" spc="-5" dirty="0">
                <a:solidFill>
                  <a:srgbClr val="A6431A"/>
                </a:solidFill>
                <a:latin typeface="Arial"/>
                <a:cs typeface="Arial"/>
              </a:rPr>
              <a:t>Effort </a:t>
            </a:r>
            <a:r>
              <a:rPr sz="2000" b="1" spc="-10" dirty="0">
                <a:solidFill>
                  <a:srgbClr val="A6431A"/>
                </a:solidFill>
                <a:latin typeface="Arial"/>
                <a:cs typeface="Arial"/>
              </a:rPr>
              <a:t>Adjustment </a:t>
            </a:r>
            <a:r>
              <a:rPr sz="2000" b="1" spc="-5" dirty="0">
                <a:solidFill>
                  <a:srgbClr val="A6431A"/>
                </a:solidFill>
                <a:latin typeface="Arial"/>
                <a:cs typeface="Arial"/>
              </a:rPr>
              <a:t>Factor” </a:t>
            </a:r>
            <a:r>
              <a:rPr sz="2000" b="1" spc="-10" dirty="0">
                <a:solidFill>
                  <a:srgbClr val="A6431A"/>
                </a:solidFill>
                <a:latin typeface="Arial"/>
                <a:cs typeface="Arial"/>
              </a:rPr>
              <a:t>(EAF).  </a:t>
            </a:r>
            <a:r>
              <a:rPr sz="2000" b="1" spc="-20" dirty="0">
                <a:latin typeface="Arial"/>
                <a:cs typeface="Arial"/>
              </a:rPr>
              <a:t>The </a:t>
            </a:r>
            <a:r>
              <a:rPr sz="2000" b="1" spc="-5" dirty="0">
                <a:latin typeface="Arial"/>
                <a:cs typeface="Arial"/>
              </a:rPr>
              <a:t>intermediate </a:t>
            </a:r>
            <a:r>
              <a:rPr sz="2000" b="1" spc="5" dirty="0">
                <a:latin typeface="Arial"/>
                <a:cs typeface="Arial"/>
              </a:rPr>
              <a:t>COCOMO </a:t>
            </a:r>
            <a:r>
              <a:rPr sz="2000" b="1" spc="-5" dirty="0">
                <a:latin typeface="Arial"/>
                <a:cs typeface="Arial"/>
              </a:rPr>
              <a:t>takes </a:t>
            </a:r>
            <a:r>
              <a:rPr sz="2000" b="1" dirty="0">
                <a:latin typeface="Arial"/>
                <a:cs typeface="Arial"/>
              </a:rPr>
              <a:t>the</a:t>
            </a:r>
            <a:r>
              <a:rPr sz="2000" b="1" spc="-25" dirty="0">
                <a:latin typeface="Arial"/>
                <a:cs typeface="Arial"/>
              </a:rPr>
              <a:t> </a:t>
            </a:r>
            <a:r>
              <a:rPr sz="2000" b="1" spc="-5" dirty="0">
                <a:latin typeface="Arial"/>
                <a:cs typeface="Arial"/>
              </a:rPr>
              <a:t>form.</a:t>
            </a:r>
            <a:endParaRPr sz="2000">
              <a:latin typeface="Arial"/>
              <a:cs typeface="Arial"/>
            </a:endParaRPr>
          </a:p>
          <a:p>
            <a:pPr marL="1156335">
              <a:lnSpc>
                <a:spcPct val="100000"/>
              </a:lnSpc>
              <a:spcBef>
                <a:spcPts val="1705"/>
              </a:spcBef>
            </a:pPr>
            <a:r>
              <a:rPr sz="1800" spc="-10" dirty="0">
                <a:latin typeface="Arial"/>
                <a:cs typeface="Arial"/>
              </a:rPr>
              <a:t>E=</a:t>
            </a:r>
            <a:r>
              <a:rPr sz="2200" spc="-10" dirty="0">
                <a:latin typeface="Arial"/>
                <a:cs typeface="Arial"/>
              </a:rPr>
              <a:t>a</a:t>
            </a:r>
            <a:r>
              <a:rPr sz="1100" spc="-10" dirty="0">
                <a:latin typeface="Arial"/>
                <a:cs typeface="Arial"/>
              </a:rPr>
              <a:t>i </a:t>
            </a:r>
            <a:r>
              <a:rPr sz="1800" spc="-5" dirty="0">
                <a:latin typeface="Arial"/>
                <a:cs typeface="Arial"/>
              </a:rPr>
              <a:t>*(KLOC^</a:t>
            </a:r>
            <a:r>
              <a:rPr sz="2200" spc="-5" dirty="0">
                <a:latin typeface="Arial"/>
                <a:cs typeface="Arial"/>
              </a:rPr>
              <a:t>b</a:t>
            </a:r>
            <a:r>
              <a:rPr sz="1200" spc="-5" dirty="0">
                <a:latin typeface="Arial"/>
                <a:cs typeface="Arial"/>
              </a:rPr>
              <a:t>i</a:t>
            </a:r>
            <a:r>
              <a:rPr sz="1800" spc="-5" dirty="0">
                <a:latin typeface="Arial"/>
                <a:cs typeface="Arial"/>
              </a:rPr>
              <a:t>)*EAF</a:t>
            </a:r>
            <a:r>
              <a:rPr sz="1800" spc="50" dirty="0">
                <a:latin typeface="Arial"/>
                <a:cs typeface="Arial"/>
              </a:rPr>
              <a:t> </a:t>
            </a:r>
            <a:r>
              <a:rPr sz="1800" spc="-10" dirty="0">
                <a:latin typeface="Arial"/>
                <a:cs typeface="Arial"/>
              </a:rPr>
              <a:t>where</a:t>
            </a:r>
            <a:endParaRPr sz="1800">
              <a:latin typeface="Arial"/>
              <a:cs typeface="Arial"/>
            </a:endParaRPr>
          </a:p>
          <a:p>
            <a:pPr marL="1614170" marR="1898650">
              <a:lnSpc>
                <a:spcPct val="170300"/>
              </a:lnSpc>
              <a:spcBef>
                <a:spcPts val="40"/>
              </a:spcBef>
            </a:pPr>
            <a:r>
              <a:rPr sz="1800" spc="-5" dirty="0">
                <a:latin typeface="Arial"/>
                <a:cs typeface="Arial"/>
              </a:rPr>
              <a:t>E: Effort </a:t>
            </a:r>
            <a:r>
              <a:rPr sz="1800" spc="-10" dirty="0">
                <a:latin typeface="Arial"/>
                <a:cs typeface="Arial"/>
              </a:rPr>
              <a:t>applied </a:t>
            </a:r>
            <a:r>
              <a:rPr sz="1800" dirty="0">
                <a:latin typeface="Arial"/>
                <a:cs typeface="Arial"/>
              </a:rPr>
              <a:t>in </a:t>
            </a:r>
            <a:r>
              <a:rPr sz="1800" spc="5" dirty="0">
                <a:latin typeface="Arial"/>
                <a:cs typeface="Arial"/>
              </a:rPr>
              <a:t>terms </a:t>
            </a:r>
            <a:r>
              <a:rPr sz="1800" dirty="0">
                <a:latin typeface="Arial"/>
                <a:cs typeface="Arial"/>
              </a:rPr>
              <a:t>of </a:t>
            </a:r>
            <a:r>
              <a:rPr sz="1800" spc="-5" dirty="0">
                <a:latin typeface="Arial"/>
                <a:cs typeface="Arial"/>
              </a:rPr>
              <a:t>person-months  KLOC </a:t>
            </a:r>
            <a:r>
              <a:rPr sz="1800" dirty="0">
                <a:latin typeface="Arial"/>
                <a:cs typeface="Arial"/>
              </a:rPr>
              <a:t>: </a:t>
            </a:r>
            <a:r>
              <a:rPr sz="1800" spc="-20" dirty="0">
                <a:latin typeface="Arial"/>
                <a:cs typeface="Arial"/>
              </a:rPr>
              <a:t>Kilo </a:t>
            </a:r>
            <a:r>
              <a:rPr sz="1800" spc="-15" dirty="0">
                <a:latin typeface="Arial"/>
                <a:cs typeface="Arial"/>
              </a:rPr>
              <a:t>lines </a:t>
            </a:r>
            <a:r>
              <a:rPr sz="1800" spc="-5" dirty="0">
                <a:latin typeface="Arial"/>
                <a:cs typeface="Arial"/>
              </a:rPr>
              <a:t>of code for the </a:t>
            </a:r>
            <a:r>
              <a:rPr sz="1800" dirty="0">
                <a:latin typeface="Arial"/>
                <a:cs typeface="Arial"/>
              </a:rPr>
              <a:t>project  </a:t>
            </a:r>
            <a:r>
              <a:rPr sz="1800" spc="-20" dirty="0">
                <a:latin typeface="Arial"/>
                <a:cs typeface="Arial"/>
              </a:rPr>
              <a:t>EAF </a:t>
            </a:r>
            <a:r>
              <a:rPr sz="1800" dirty="0">
                <a:latin typeface="Arial"/>
                <a:cs typeface="Arial"/>
              </a:rPr>
              <a:t>: </a:t>
            </a:r>
            <a:r>
              <a:rPr sz="1800" spc="-30" dirty="0">
                <a:latin typeface="Arial"/>
                <a:cs typeface="Arial"/>
              </a:rPr>
              <a:t>It is </a:t>
            </a:r>
            <a:r>
              <a:rPr sz="1800" spc="-5" dirty="0">
                <a:latin typeface="Arial"/>
                <a:cs typeface="Arial"/>
              </a:rPr>
              <a:t>the effort adjustment</a:t>
            </a:r>
            <a:r>
              <a:rPr sz="1800" spc="175" dirty="0">
                <a:latin typeface="Arial"/>
                <a:cs typeface="Arial"/>
              </a:rPr>
              <a:t> </a:t>
            </a:r>
            <a:r>
              <a:rPr sz="1800" spc="-5" dirty="0">
                <a:latin typeface="Arial"/>
                <a:cs typeface="Arial"/>
              </a:rPr>
              <a:t>factor</a:t>
            </a:r>
            <a:endParaRPr sz="1800">
              <a:latin typeface="Arial"/>
              <a:cs typeface="Arial"/>
            </a:endParaRPr>
          </a:p>
          <a:p>
            <a:pPr marL="12700">
              <a:lnSpc>
                <a:spcPct val="100000"/>
              </a:lnSpc>
              <a:spcBef>
                <a:spcPts val="1295"/>
              </a:spcBef>
            </a:pPr>
            <a:r>
              <a:rPr sz="2000" b="1" spc="-20" dirty="0">
                <a:latin typeface="Arial"/>
                <a:cs typeface="Arial"/>
              </a:rPr>
              <a:t>The </a:t>
            </a:r>
            <a:r>
              <a:rPr sz="2000" b="1" spc="-5" dirty="0">
                <a:latin typeface="Arial"/>
                <a:cs typeface="Arial"/>
              </a:rPr>
              <a:t>values </a:t>
            </a:r>
            <a:r>
              <a:rPr sz="2000" b="1" spc="10" dirty="0">
                <a:latin typeface="Arial"/>
                <a:cs typeface="Arial"/>
              </a:rPr>
              <a:t>of </a:t>
            </a:r>
            <a:r>
              <a:rPr sz="2000" b="1" dirty="0">
                <a:latin typeface="Arial"/>
                <a:cs typeface="Arial"/>
              </a:rPr>
              <a:t>a</a:t>
            </a:r>
            <a:r>
              <a:rPr sz="1200" b="1" dirty="0">
                <a:latin typeface="Arial"/>
                <a:cs typeface="Arial"/>
              </a:rPr>
              <a:t>i </a:t>
            </a:r>
            <a:r>
              <a:rPr sz="2000" b="1" dirty="0">
                <a:latin typeface="Arial"/>
                <a:cs typeface="Arial"/>
              </a:rPr>
              <a:t>and </a:t>
            </a:r>
            <a:r>
              <a:rPr sz="2000" b="1" spc="-10" dirty="0">
                <a:latin typeface="Arial"/>
                <a:cs typeface="Arial"/>
              </a:rPr>
              <a:t>b</a:t>
            </a:r>
            <a:r>
              <a:rPr sz="1200" b="1" spc="-10" dirty="0">
                <a:latin typeface="Arial"/>
                <a:cs typeface="Arial"/>
              </a:rPr>
              <a:t>i </a:t>
            </a:r>
            <a:r>
              <a:rPr sz="2000" b="1" spc="-15" dirty="0">
                <a:latin typeface="Arial"/>
                <a:cs typeface="Arial"/>
              </a:rPr>
              <a:t>for </a:t>
            </a:r>
            <a:r>
              <a:rPr sz="2000" b="1" spc="-10" dirty="0">
                <a:latin typeface="Arial"/>
                <a:cs typeface="Arial"/>
              </a:rPr>
              <a:t>various </a:t>
            </a:r>
            <a:r>
              <a:rPr sz="2000" b="1" dirty="0">
                <a:latin typeface="Arial"/>
                <a:cs typeface="Arial"/>
              </a:rPr>
              <a:t>class </a:t>
            </a:r>
            <a:r>
              <a:rPr sz="2000" b="1" spc="-15" dirty="0">
                <a:latin typeface="Arial"/>
                <a:cs typeface="Arial"/>
              </a:rPr>
              <a:t>of </a:t>
            </a:r>
            <a:r>
              <a:rPr sz="2000" b="1" dirty="0">
                <a:latin typeface="Arial"/>
                <a:cs typeface="Arial"/>
              </a:rPr>
              <a:t>software </a:t>
            </a:r>
            <a:r>
              <a:rPr sz="2000" b="1" spc="-5" dirty="0">
                <a:latin typeface="Arial"/>
                <a:cs typeface="Arial"/>
              </a:rPr>
              <a:t>projects</a:t>
            </a:r>
            <a:r>
              <a:rPr sz="2000" b="1" spc="-100" dirty="0">
                <a:latin typeface="Arial"/>
                <a:cs typeface="Arial"/>
              </a:rPr>
              <a:t> </a:t>
            </a:r>
            <a:r>
              <a:rPr sz="2000" b="1" spc="-5" dirty="0">
                <a:latin typeface="Arial"/>
                <a:cs typeface="Arial"/>
              </a:rPr>
              <a:t>are:</a:t>
            </a:r>
            <a:endParaRPr sz="2000">
              <a:latin typeface="Arial"/>
              <a:cs typeface="Arial"/>
            </a:endParaRPr>
          </a:p>
        </p:txBody>
      </p:sp>
      <p:sp>
        <p:nvSpPr>
          <p:cNvPr id="6" name="object 6"/>
          <p:cNvSpPr txBox="1"/>
          <p:nvPr/>
        </p:nvSpPr>
        <p:spPr>
          <a:xfrm>
            <a:off x="3056635" y="5650547"/>
            <a:ext cx="1624965" cy="177800"/>
          </a:xfrm>
          <a:prstGeom prst="rect">
            <a:avLst/>
          </a:prstGeom>
        </p:spPr>
        <p:txBody>
          <a:bodyPr vert="horz" wrap="square" lIns="0" tIns="12700" rIns="0" bIns="0" rtlCol="0">
            <a:spAutoFit/>
          </a:bodyPr>
          <a:lstStyle/>
          <a:p>
            <a:pPr marL="12700">
              <a:lnSpc>
                <a:spcPct val="100000"/>
              </a:lnSpc>
              <a:spcBef>
                <a:spcPts val="100"/>
              </a:spcBef>
            </a:pPr>
            <a:r>
              <a:rPr sz="1000" b="1" dirty="0">
                <a:latin typeface="Times New Roman"/>
                <a:cs typeface="Times New Roman"/>
              </a:rPr>
              <a:t>Memorize </a:t>
            </a:r>
            <a:r>
              <a:rPr sz="1000" b="1" spc="-20" dirty="0">
                <a:latin typeface="Times New Roman"/>
                <a:cs typeface="Times New Roman"/>
              </a:rPr>
              <a:t>the </a:t>
            </a:r>
            <a:r>
              <a:rPr sz="1000" b="1" spc="-15" dirty="0">
                <a:latin typeface="Times New Roman"/>
                <a:cs typeface="Times New Roman"/>
              </a:rPr>
              <a:t>table </a:t>
            </a:r>
            <a:r>
              <a:rPr sz="1000" b="1" spc="5" dirty="0">
                <a:latin typeface="Times New Roman"/>
                <a:cs typeface="Times New Roman"/>
              </a:rPr>
              <a:t>for</a:t>
            </a:r>
            <a:r>
              <a:rPr sz="1000" b="1" spc="105" dirty="0">
                <a:latin typeface="Times New Roman"/>
                <a:cs typeface="Times New Roman"/>
              </a:rPr>
              <a:t> </a:t>
            </a:r>
            <a:r>
              <a:rPr sz="1000" b="1" spc="-30" dirty="0">
                <a:latin typeface="Times New Roman"/>
                <a:cs typeface="Times New Roman"/>
              </a:rPr>
              <a:t>maths</a:t>
            </a:r>
            <a:endParaRPr sz="1000">
              <a:latin typeface="Times New Roman"/>
              <a:cs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1125" y="0"/>
            <a:ext cx="142875" cy="685037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567998" y="1295399"/>
            <a:ext cx="4304952" cy="1999005"/>
          </a:xfrm>
          <a:prstGeom prst="rect">
            <a:avLst/>
          </a:prstGeom>
          <a:blipFill>
            <a:blip r:embed="rId3" cstate="print"/>
            <a:srcRect/>
            <a:stretch>
              <a:fillRect t="-17529" b="2"/>
            </a:stretch>
          </a:blipFill>
        </p:spPr>
        <p:txBody>
          <a:bodyPr wrap="square" lIns="0" tIns="0" rIns="0" bIns="0" rtlCol="0"/>
          <a:lstStyle/>
          <a:p>
            <a:endParaRPr/>
          </a:p>
        </p:txBody>
      </p:sp>
      <p:sp>
        <p:nvSpPr>
          <p:cNvPr id="4" name="object 4"/>
          <p:cNvSpPr txBox="1">
            <a:spLocks noGrp="1"/>
          </p:cNvSpPr>
          <p:nvPr>
            <p:ph type="title"/>
          </p:nvPr>
        </p:nvSpPr>
        <p:spPr>
          <a:xfrm>
            <a:off x="546417" y="565784"/>
            <a:ext cx="7313930" cy="266700"/>
          </a:xfrm>
          <a:prstGeom prst="rect">
            <a:avLst/>
          </a:prstGeom>
          <a:solidFill>
            <a:srgbClr val="C0C0C0"/>
          </a:solidFill>
        </p:spPr>
        <p:txBody>
          <a:bodyPr vert="horz" wrap="square" lIns="0" tIns="0" rIns="0" bIns="0" rtlCol="0">
            <a:spAutoFit/>
          </a:bodyPr>
          <a:lstStyle/>
          <a:p>
            <a:pPr>
              <a:lnSpc>
                <a:spcPts val="1980"/>
              </a:lnSpc>
            </a:pPr>
            <a:r>
              <a:rPr sz="1900" spc="-10" dirty="0"/>
              <a:t>The </a:t>
            </a:r>
            <a:r>
              <a:rPr sz="1900" spc="-5" dirty="0"/>
              <a:t>duration </a:t>
            </a:r>
            <a:r>
              <a:rPr sz="1900" spc="-10" dirty="0"/>
              <a:t>and person </a:t>
            </a:r>
            <a:r>
              <a:rPr sz="1900" dirty="0"/>
              <a:t>estimate </a:t>
            </a:r>
            <a:r>
              <a:rPr sz="1900" spc="5" dirty="0"/>
              <a:t>is </a:t>
            </a:r>
            <a:r>
              <a:rPr sz="1900" spc="-5" dirty="0"/>
              <a:t>same as </a:t>
            </a:r>
            <a:r>
              <a:rPr sz="1900" spc="5" dirty="0"/>
              <a:t>in </a:t>
            </a:r>
            <a:r>
              <a:rPr sz="1900" spc="-5" dirty="0"/>
              <a:t>basic</a:t>
            </a:r>
            <a:r>
              <a:rPr sz="1900" spc="60" dirty="0"/>
              <a:t> </a:t>
            </a:r>
            <a:r>
              <a:rPr sz="1900" spc="-10" dirty="0"/>
              <a:t>COCOMO</a:t>
            </a:r>
            <a:endParaRPr sz="1900"/>
          </a:p>
        </p:txBody>
      </p:sp>
      <p:sp>
        <p:nvSpPr>
          <p:cNvPr id="5" name="object 5"/>
          <p:cNvSpPr txBox="1"/>
          <p:nvPr/>
        </p:nvSpPr>
        <p:spPr>
          <a:xfrm>
            <a:off x="546417" y="832421"/>
            <a:ext cx="1112520" cy="254635"/>
          </a:xfrm>
          <a:prstGeom prst="rect">
            <a:avLst/>
          </a:prstGeom>
          <a:solidFill>
            <a:srgbClr val="C0C0C0"/>
          </a:solidFill>
        </p:spPr>
        <p:txBody>
          <a:bodyPr vert="horz" wrap="square" lIns="0" tIns="0" rIns="0" bIns="0" rtlCol="0">
            <a:spAutoFit/>
          </a:bodyPr>
          <a:lstStyle/>
          <a:p>
            <a:pPr>
              <a:lnSpc>
                <a:spcPts val="1925"/>
              </a:lnSpc>
            </a:pPr>
            <a:r>
              <a:rPr sz="1850" b="1" spc="10" dirty="0">
                <a:latin typeface="Arial"/>
                <a:cs typeface="Arial"/>
              </a:rPr>
              <a:t>model</a:t>
            </a:r>
            <a:r>
              <a:rPr sz="1850" b="1" spc="-110" dirty="0">
                <a:latin typeface="Arial"/>
                <a:cs typeface="Arial"/>
              </a:rPr>
              <a:t> </a:t>
            </a:r>
            <a:r>
              <a:rPr sz="1850" b="1" spc="-5" dirty="0">
                <a:latin typeface="Arial"/>
                <a:cs typeface="Arial"/>
              </a:rPr>
              <a:t>i.e;</a:t>
            </a:r>
            <a:endParaRPr sz="1850">
              <a:latin typeface="Arial"/>
              <a:cs typeface="Arial"/>
            </a:endParaRPr>
          </a:p>
        </p:txBody>
      </p:sp>
      <p:sp>
        <p:nvSpPr>
          <p:cNvPr id="6" name="object 6"/>
          <p:cNvSpPr txBox="1"/>
          <p:nvPr/>
        </p:nvSpPr>
        <p:spPr>
          <a:xfrm>
            <a:off x="533717" y="1182017"/>
            <a:ext cx="7579995" cy="4800600"/>
          </a:xfrm>
          <a:prstGeom prst="rect">
            <a:avLst/>
          </a:prstGeom>
        </p:spPr>
        <p:txBody>
          <a:bodyPr vert="horz" wrap="square" lIns="0" tIns="31750" rIns="0" bIns="0" rtlCol="0">
            <a:spAutoFit/>
          </a:bodyPr>
          <a:lstStyle/>
          <a:p>
            <a:pPr marL="469900">
              <a:lnSpc>
                <a:spcPct val="100000"/>
              </a:lnSpc>
              <a:spcBef>
                <a:spcPts val="250"/>
              </a:spcBef>
            </a:pPr>
            <a:r>
              <a:rPr sz="1900" spc="-5" dirty="0">
                <a:latin typeface="Arial"/>
                <a:cs typeface="Arial"/>
              </a:rPr>
              <a:t>D=</a:t>
            </a:r>
            <a:r>
              <a:rPr sz="2400" spc="-5" dirty="0">
                <a:latin typeface="Arial"/>
                <a:cs typeface="Arial"/>
              </a:rPr>
              <a:t>c</a:t>
            </a:r>
            <a:r>
              <a:rPr sz="1600" spc="-5" dirty="0">
                <a:latin typeface="Arial"/>
                <a:cs typeface="Arial"/>
              </a:rPr>
              <a:t>b*</a:t>
            </a:r>
            <a:r>
              <a:rPr sz="1900" spc="-5" dirty="0">
                <a:latin typeface="Arial"/>
                <a:cs typeface="Arial"/>
              </a:rPr>
              <a:t>(E^ </a:t>
            </a:r>
            <a:r>
              <a:rPr sz="2000" spc="5" dirty="0">
                <a:latin typeface="Arial"/>
                <a:cs typeface="Arial"/>
              </a:rPr>
              <a:t>d</a:t>
            </a:r>
            <a:r>
              <a:rPr sz="1200" spc="5" dirty="0">
                <a:latin typeface="Arial"/>
                <a:cs typeface="Arial"/>
              </a:rPr>
              <a:t>b</a:t>
            </a:r>
            <a:r>
              <a:rPr sz="1900" spc="5" dirty="0">
                <a:latin typeface="Arial"/>
                <a:cs typeface="Arial"/>
              </a:rPr>
              <a:t>)</a:t>
            </a:r>
            <a:r>
              <a:rPr sz="1900" spc="-235" dirty="0">
                <a:latin typeface="Arial"/>
                <a:cs typeface="Arial"/>
              </a:rPr>
              <a:t> </a:t>
            </a:r>
            <a:r>
              <a:rPr sz="1900" spc="5" dirty="0">
                <a:latin typeface="Arial"/>
                <a:cs typeface="Arial"/>
              </a:rPr>
              <a:t>months</a:t>
            </a:r>
            <a:endParaRPr sz="1900" dirty="0">
              <a:latin typeface="Arial"/>
              <a:cs typeface="Arial"/>
            </a:endParaRPr>
          </a:p>
          <a:p>
            <a:pPr marL="539750">
              <a:lnSpc>
                <a:spcPct val="100000"/>
              </a:lnSpc>
              <a:spcBef>
                <a:spcPts val="125"/>
              </a:spcBef>
            </a:pPr>
            <a:r>
              <a:rPr sz="1900" spc="-5" dirty="0">
                <a:latin typeface="Arial"/>
                <a:cs typeface="Arial"/>
              </a:rPr>
              <a:t>i.e; use </a:t>
            </a:r>
            <a:r>
              <a:rPr sz="1900" spc="-10" dirty="0">
                <a:latin typeface="Arial"/>
                <a:cs typeface="Arial"/>
              </a:rPr>
              <a:t>values </a:t>
            </a:r>
            <a:r>
              <a:rPr sz="1900" spc="-5" dirty="0">
                <a:latin typeface="Arial"/>
                <a:cs typeface="Arial"/>
              </a:rPr>
              <a:t>of </a:t>
            </a:r>
            <a:r>
              <a:rPr sz="1900" dirty="0">
                <a:latin typeface="Arial"/>
                <a:cs typeface="Arial"/>
              </a:rPr>
              <a:t>c</a:t>
            </a:r>
            <a:r>
              <a:rPr sz="1200" dirty="0">
                <a:latin typeface="Arial"/>
                <a:cs typeface="Arial"/>
              </a:rPr>
              <a:t>b </a:t>
            </a:r>
            <a:r>
              <a:rPr sz="1900" spc="-10" dirty="0">
                <a:latin typeface="Arial"/>
                <a:cs typeface="Arial"/>
              </a:rPr>
              <a:t>and</a:t>
            </a:r>
            <a:r>
              <a:rPr sz="1900" spc="-40" dirty="0">
                <a:latin typeface="Arial"/>
                <a:cs typeface="Arial"/>
              </a:rPr>
              <a:t> </a:t>
            </a:r>
            <a:r>
              <a:rPr sz="1900" spc="-5" dirty="0">
                <a:latin typeface="Arial"/>
                <a:cs typeface="Arial"/>
              </a:rPr>
              <a:t>d</a:t>
            </a:r>
            <a:r>
              <a:rPr sz="1200" spc="-5" dirty="0">
                <a:latin typeface="Arial"/>
                <a:cs typeface="Arial"/>
              </a:rPr>
              <a:t>b</a:t>
            </a:r>
            <a:endParaRPr sz="1200" dirty="0">
              <a:latin typeface="Arial"/>
              <a:cs typeface="Arial"/>
            </a:endParaRPr>
          </a:p>
          <a:p>
            <a:pPr marL="469900" marR="3757929">
              <a:lnSpc>
                <a:spcPts val="2050"/>
              </a:lnSpc>
              <a:spcBef>
                <a:spcPts val="380"/>
              </a:spcBef>
            </a:pPr>
            <a:r>
              <a:rPr sz="1900" spc="-5" dirty="0">
                <a:latin typeface="Arial"/>
                <a:cs typeface="Arial"/>
              </a:rPr>
              <a:t>coefficients. </a:t>
            </a:r>
            <a:r>
              <a:rPr sz="1400" spc="-5" dirty="0">
                <a:latin typeface="Arial"/>
                <a:cs typeface="Arial"/>
              </a:rPr>
              <a:t>[Values </a:t>
            </a:r>
            <a:r>
              <a:rPr sz="1400" spc="-15" dirty="0">
                <a:latin typeface="Arial"/>
                <a:cs typeface="Arial"/>
              </a:rPr>
              <a:t>of </a:t>
            </a:r>
            <a:r>
              <a:rPr sz="1400" spc="-5" dirty="0">
                <a:latin typeface="Arial"/>
                <a:cs typeface="Arial"/>
              </a:rPr>
              <a:t>coefficients </a:t>
            </a:r>
            <a:r>
              <a:rPr sz="1400" spc="-25" dirty="0">
                <a:latin typeface="Arial"/>
                <a:cs typeface="Arial"/>
              </a:rPr>
              <a:t>will  </a:t>
            </a:r>
            <a:r>
              <a:rPr sz="1400" spc="-5" dirty="0">
                <a:latin typeface="Arial"/>
                <a:cs typeface="Arial"/>
              </a:rPr>
              <a:t>not </a:t>
            </a:r>
            <a:r>
              <a:rPr sz="1400" spc="5" dirty="0">
                <a:latin typeface="Arial"/>
                <a:cs typeface="Arial"/>
              </a:rPr>
              <a:t>be </a:t>
            </a:r>
            <a:r>
              <a:rPr sz="1400" spc="-15" dirty="0">
                <a:latin typeface="Arial"/>
                <a:cs typeface="Arial"/>
              </a:rPr>
              <a:t>given. </a:t>
            </a:r>
            <a:r>
              <a:rPr sz="1400" spc="-5" dirty="0">
                <a:latin typeface="Arial"/>
                <a:cs typeface="Arial"/>
              </a:rPr>
              <a:t>Memorize</a:t>
            </a:r>
            <a:r>
              <a:rPr sz="1400" spc="15" dirty="0">
                <a:latin typeface="Arial"/>
                <a:cs typeface="Arial"/>
              </a:rPr>
              <a:t> </a:t>
            </a:r>
            <a:r>
              <a:rPr sz="1400" dirty="0">
                <a:latin typeface="Arial"/>
                <a:cs typeface="Arial"/>
              </a:rPr>
              <a:t>it.]</a:t>
            </a:r>
          </a:p>
          <a:p>
            <a:pPr marL="469900">
              <a:lnSpc>
                <a:spcPts val="2125"/>
              </a:lnSpc>
            </a:pPr>
            <a:r>
              <a:rPr sz="1900" spc="-10" dirty="0">
                <a:latin typeface="Arial"/>
                <a:cs typeface="Arial"/>
              </a:rPr>
              <a:t>N=E/D </a:t>
            </a:r>
            <a:r>
              <a:rPr sz="1900" spc="-5" dirty="0">
                <a:latin typeface="Arial"/>
                <a:cs typeface="Arial"/>
              </a:rPr>
              <a:t>persons</a:t>
            </a:r>
            <a:endParaRPr sz="1900" dirty="0">
              <a:latin typeface="Arial"/>
              <a:cs typeface="Arial"/>
            </a:endParaRPr>
          </a:p>
          <a:p>
            <a:pPr>
              <a:lnSpc>
                <a:spcPct val="100000"/>
              </a:lnSpc>
              <a:spcBef>
                <a:spcPts val="40"/>
              </a:spcBef>
            </a:pPr>
            <a:endParaRPr sz="2900" dirty="0">
              <a:latin typeface="Times New Roman"/>
              <a:cs typeface="Times New Roman"/>
            </a:endParaRPr>
          </a:p>
          <a:p>
            <a:pPr marL="12700">
              <a:lnSpc>
                <a:spcPct val="100000"/>
              </a:lnSpc>
            </a:pPr>
            <a:r>
              <a:rPr sz="1800" b="1" u="heavy" spc="-10" dirty="0">
                <a:uFill>
                  <a:solidFill>
                    <a:srgbClr val="000000"/>
                  </a:solidFill>
                </a:uFill>
                <a:latin typeface="Arial"/>
                <a:cs typeface="Arial"/>
              </a:rPr>
              <a:t>Merits:</a:t>
            </a:r>
            <a:endParaRPr sz="1800" dirty="0">
              <a:latin typeface="Arial"/>
              <a:cs typeface="Arial"/>
            </a:endParaRPr>
          </a:p>
          <a:p>
            <a:pPr marL="12700" marR="5080">
              <a:lnSpc>
                <a:spcPts val="2000"/>
              </a:lnSpc>
              <a:spcBef>
                <a:spcPts val="1045"/>
              </a:spcBef>
              <a:buSzPct val="94444"/>
              <a:buAutoNum type="arabicPeriod"/>
              <a:tabLst>
                <a:tab pos="204470" algn="l"/>
              </a:tabLst>
            </a:pPr>
            <a:r>
              <a:rPr sz="1800" spc="-20" dirty="0">
                <a:latin typeface="Arial"/>
                <a:cs typeface="Arial"/>
              </a:rPr>
              <a:t>This </a:t>
            </a:r>
            <a:r>
              <a:rPr sz="1800" spc="5" dirty="0">
                <a:latin typeface="Arial"/>
                <a:cs typeface="Arial"/>
              </a:rPr>
              <a:t>model </a:t>
            </a:r>
            <a:r>
              <a:rPr sz="1800" spc="10" dirty="0">
                <a:latin typeface="Arial"/>
                <a:cs typeface="Arial"/>
              </a:rPr>
              <a:t>can </a:t>
            </a:r>
            <a:r>
              <a:rPr sz="1800" dirty="0">
                <a:latin typeface="Arial"/>
                <a:cs typeface="Arial"/>
              </a:rPr>
              <a:t>be </a:t>
            </a:r>
            <a:r>
              <a:rPr sz="1800" spc="-5" dirty="0">
                <a:latin typeface="Arial"/>
                <a:cs typeface="Arial"/>
              </a:rPr>
              <a:t>applied </a:t>
            </a:r>
            <a:r>
              <a:rPr sz="1800" dirty="0">
                <a:latin typeface="Arial"/>
                <a:cs typeface="Arial"/>
              </a:rPr>
              <a:t>to </a:t>
            </a:r>
            <a:r>
              <a:rPr sz="1800" spc="5" dirty="0">
                <a:latin typeface="Arial"/>
                <a:cs typeface="Arial"/>
              </a:rPr>
              <a:t>almost </a:t>
            </a:r>
            <a:r>
              <a:rPr sz="1800" spc="-10" dirty="0">
                <a:latin typeface="Arial"/>
                <a:cs typeface="Arial"/>
              </a:rPr>
              <a:t>entire </a:t>
            </a:r>
            <a:r>
              <a:rPr sz="1800" spc="-5" dirty="0">
                <a:latin typeface="Arial"/>
                <a:cs typeface="Arial"/>
              </a:rPr>
              <a:t>software </a:t>
            </a:r>
            <a:r>
              <a:rPr sz="1800" spc="5" dirty="0">
                <a:latin typeface="Arial"/>
                <a:cs typeface="Arial"/>
              </a:rPr>
              <a:t>product </a:t>
            </a:r>
            <a:r>
              <a:rPr sz="1800" spc="10" dirty="0">
                <a:latin typeface="Arial"/>
                <a:cs typeface="Arial"/>
              </a:rPr>
              <a:t>for </a:t>
            </a:r>
            <a:r>
              <a:rPr sz="1800" spc="-5" dirty="0">
                <a:latin typeface="Arial"/>
                <a:cs typeface="Arial"/>
              </a:rPr>
              <a:t>easy</a:t>
            </a:r>
            <a:r>
              <a:rPr sz="1800" spc="-130" dirty="0">
                <a:latin typeface="Arial"/>
                <a:cs typeface="Arial"/>
              </a:rPr>
              <a:t> </a:t>
            </a:r>
            <a:r>
              <a:rPr sz="1800" spc="-5" dirty="0">
                <a:latin typeface="Arial"/>
                <a:cs typeface="Arial"/>
              </a:rPr>
              <a:t>and  rough cost </a:t>
            </a:r>
            <a:r>
              <a:rPr sz="1800" dirty="0">
                <a:latin typeface="Arial"/>
                <a:cs typeface="Arial"/>
              </a:rPr>
              <a:t>estimation </a:t>
            </a:r>
            <a:r>
              <a:rPr sz="1800" spc="-5" dirty="0">
                <a:latin typeface="Arial"/>
                <a:cs typeface="Arial"/>
              </a:rPr>
              <a:t>during </a:t>
            </a:r>
            <a:r>
              <a:rPr sz="1800" spc="5" dirty="0">
                <a:latin typeface="Arial"/>
                <a:cs typeface="Arial"/>
              </a:rPr>
              <a:t>early</a:t>
            </a:r>
            <a:r>
              <a:rPr sz="1800" spc="-150" dirty="0">
                <a:latin typeface="Arial"/>
                <a:cs typeface="Arial"/>
              </a:rPr>
              <a:t> </a:t>
            </a:r>
            <a:r>
              <a:rPr sz="1800" spc="-5" dirty="0">
                <a:latin typeface="Arial"/>
                <a:cs typeface="Arial"/>
              </a:rPr>
              <a:t>stage.</a:t>
            </a:r>
            <a:endParaRPr sz="1800" dirty="0">
              <a:latin typeface="Arial"/>
              <a:cs typeface="Arial"/>
            </a:endParaRPr>
          </a:p>
          <a:p>
            <a:pPr marL="12700" marR="690245" indent="69850">
              <a:lnSpc>
                <a:spcPts val="2000"/>
              </a:lnSpc>
              <a:spcBef>
                <a:spcPts val="955"/>
              </a:spcBef>
              <a:buSzPct val="94444"/>
              <a:buAutoNum type="arabicPeriod"/>
              <a:tabLst>
                <a:tab pos="274320" algn="l"/>
              </a:tabLst>
            </a:pPr>
            <a:r>
              <a:rPr sz="1800" spc="-30" dirty="0">
                <a:latin typeface="Arial"/>
                <a:cs typeface="Arial"/>
              </a:rPr>
              <a:t>It </a:t>
            </a:r>
            <a:r>
              <a:rPr sz="1800" spc="10" dirty="0">
                <a:latin typeface="Arial"/>
                <a:cs typeface="Arial"/>
              </a:rPr>
              <a:t>can </a:t>
            </a:r>
            <a:r>
              <a:rPr sz="1800" spc="-5" dirty="0">
                <a:latin typeface="Arial"/>
                <a:cs typeface="Arial"/>
              </a:rPr>
              <a:t>also be applied </a:t>
            </a:r>
            <a:r>
              <a:rPr sz="1800" dirty="0">
                <a:latin typeface="Arial"/>
                <a:cs typeface="Arial"/>
              </a:rPr>
              <a:t>at </a:t>
            </a:r>
            <a:r>
              <a:rPr sz="1800" spc="-5" dirty="0">
                <a:latin typeface="Arial"/>
                <a:cs typeface="Arial"/>
              </a:rPr>
              <a:t>the software product </a:t>
            </a:r>
            <a:r>
              <a:rPr sz="1800" dirty="0">
                <a:latin typeface="Arial"/>
                <a:cs typeface="Arial"/>
              </a:rPr>
              <a:t>component </a:t>
            </a:r>
            <a:r>
              <a:rPr sz="1800" spc="-5" dirty="0">
                <a:latin typeface="Arial"/>
                <a:cs typeface="Arial"/>
              </a:rPr>
              <a:t>level </a:t>
            </a:r>
            <a:r>
              <a:rPr sz="1800" dirty="0">
                <a:latin typeface="Arial"/>
                <a:cs typeface="Arial"/>
              </a:rPr>
              <a:t>for  </a:t>
            </a:r>
            <a:r>
              <a:rPr sz="1800" spc="-10" dirty="0">
                <a:latin typeface="Arial"/>
                <a:cs typeface="Arial"/>
              </a:rPr>
              <a:t>obtaining </a:t>
            </a:r>
            <a:r>
              <a:rPr sz="1800" spc="10" dirty="0">
                <a:latin typeface="Arial"/>
                <a:cs typeface="Arial"/>
              </a:rPr>
              <a:t>more </a:t>
            </a:r>
            <a:r>
              <a:rPr sz="1800" spc="-5" dirty="0">
                <a:latin typeface="Arial"/>
                <a:cs typeface="Arial"/>
              </a:rPr>
              <a:t>accurate cost</a:t>
            </a:r>
            <a:r>
              <a:rPr sz="1800" spc="-10" dirty="0">
                <a:latin typeface="Arial"/>
                <a:cs typeface="Arial"/>
              </a:rPr>
              <a:t> </a:t>
            </a:r>
            <a:r>
              <a:rPr sz="1800" spc="-5" dirty="0">
                <a:latin typeface="Arial"/>
                <a:cs typeface="Arial"/>
              </a:rPr>
              <a:t>estimation.</a:t>
            </a:r>
            <a:endParaRPr sz="1800" dirty="0">
              <a:latin typeface="Arial"/>
              <a:cs typeface="Arial"/>
            </a:endParaRPr>
          </a:p>
          <a:p>
            <a:pPr>
              <a:lnSpc>
                <a:spcPct val="100000"/>
              </a:lnSpc>
              <a:spcBef>
                <a:spcPts val="15"/>
              </a:spcBef>
            </a:pPr>
            <a:endParaRPr sz="1600" dirty="0">
              <a:latin typeface="Times New Roman"/>
              <a:cs typeface="Times New Roman"/>
            </a:endParaRPr>
          </a:p>
          <a:p>
            <a:pPr marL="76200">
              <a:lnSpc>
                <a:spcPct val="100000"/>
              </a:lnSpc>
            </a:pPr>
            <a:r>
              <a:rPr sz="1800" b="1" u="heavy" spc="-10" dirty="0">
                <a:uFill>
                  <a:solidFill>
                    <a:srgbClr val="000000"/>
                  </a:solidFill>
                </a:uFill>
                <a:latin typeface="Arial"/>
                <a:cs typeface="Arial"/>
              </a:rPr>
              <a:t>Limitations:</a:t>
            </a:r>
            <a:endParaRPr sz="1800" dirty="0">
              <a:latin typeface="Arial"/>
              <a:cs typeface="Arial"/>
            </a:endParaRPr>
          </a:p>
          <a:p>
            <a:pPr marL="203835" indent="-191135">
              <a:lnSpc>
                <a:spcPct val="100000"/>
              </a:lnSpc>
              <a:spcBef>
                <a:spcPts val="890"/>
              </a:spcBef>
              <a:buSzPct val="94444"/>
              <a:buAutoNum type="arabicPeriod"/>
              <a:tabLst>
                <a:tab pos="204470" algn="l"/>
              </a:tabLst>
            </a:pPr>
            <a:r>
              <a:rPr sz="1800" spc="-20" dirty="0">
                <a:latin typeface="Arial"/>
                <a:cs typeface="Arial"/>
              </a:rPr>
              <a:t>The </a:t>
            </a:r>
            <a:r>
              <a:rPr sz="1800" spc="-5" dirty="0">
                <a:latin typeface="Arial"/>
                <a:cs typeface="Arial"/>
              </a:rPr>
              <a:t>effort multipliers are </a:t>
            </a:r>
            <a:r>
              <a:rPr sz="1800" spc="-20" dirty="0">
                <a:latin typeface="Arial"/>
                <a:cs typeface="Arial"/>
              </a:rPr>
              <a:t>not </a:t>
            </a:r>
            <a:r>
              <a:rPr sz="1800" spc="-5" dirty="0">
                <a:latin typeface="Arial"/>
                <a:cs typeface="Arial"/>
              </a:rPr>
              <a:t>dependent </a:t>
            </a:r>
            <a:r>
              <a:rPr sz="1800" spc="20" dirty="0">
                <a:latin typeface="Arial"/>
                <a:cs typeface="Arial"/>
              </a:rPr>
              <a:t>on</a:t>
            </a:r>
            <a:r>
              <a:rPr sz="1800" spc="45" dirty="0">
                <a:latin typeface="Arial"/>
                <a:cs typeface="Arial"/>
              </a:rPr>
              <a:t> </a:t>
            </a:r>
            <a:r>
              <a:rPr sz="1800" spc="5" dirty="0">
                <a:latin typeface="Arial"/>
                <a:cs typeface="Arial"/>
              </a:rPr>
              <a:t>phases.</a:t>
            </a:r>
            <a:endParaRPr sz="1800" dirty="0">
              <a:latin typeface="Arial"/>
              <a:cs typeface="Arial"/>
            </a:endParaRPr>
          </a:p>
          <a:p>
            <a:pPr marL="266700" indent="-254000">
              <a:lnSpc>
                <a:spcPct val="100000"/>
              </a:lnSpc>
              <a:spcBef>
                <a:spcPts val="795"/>
              </a:spcBef>
              <a:buSzPct val="94444"/>
              <a:buAutoNum type="arabicPeriod"/>
              <a:tabLst>
                <a:tab pos="267335" algn="l"/>
              </a:tabLst>
            </a:pPr>
            <a:r>
              <a:rPr sz="1800" dirty="0">
                <a:latin typeface="Arial"/>
                <a:cs typeface="Arial"/>
              </a:rPr>
              <a:t>A </a:t>
            </a:r>
            <a:r>
              <a:rPr sz="1800" spc="-5" dirty="0">
                <a:latin typeface="Arial"/>
                <a:cs typeface="Arial"/>
              </a:rPr>
              <a:t>product with </a:t>
            </a:r>
            <a:r>
              <a:rPr sz="1800" spc="10" dirty="0">
                <a:latin typeface="Arial"/>
                <a:cs typeface="Arial"/>
              </a:rPr>
              <a:t>many </a:t>
            </a:r>
            <a:r>
              <a:rPr sz="1800" spc="-5" dirty="0">
                <a:latin typeface="Arial"/>
                <a:cs typeface="Arial"/>
              </a:rPr>
              <a:t>components </a:t>
            </a:r>
            <a:r>
              <a:rPr sz="1800" spc="-30" dirty="0">
                <a:latin typeface="Arial"/>
                <a:cs typeface="Arial"/>
              </a:rPr>
              <a:t>is </a:t>
            </a:r>
            <a:r>
              <a:rPr sz="1800" spc="-5" dirty="0">
                <a:latin typeface="Arial"/>
                <a:cs typeface="Arial"/>
              </a:rPr>
              <a:t>difficult </a:t>
            </a:r>
            <a:r>
              <a:rPr sz="1800" dirty="0">
                <a:latin typeface="Arial"/>
                <a:cs typeface="Arial"/>
              </a:rPr>
              <a:t>to</a:t>
            </a:r>
            <a:r>
              <a:rPr sz="1800" spc="-35" dirty="0">
                <a:latin typeface="Arial"/>
                <a:cs typeface="Arial"/>
              </a:rPr>
              <a:t> </a:t>
            </a:r>
            <a:r>
              <a:rPr sz="1800" dirty="0">
                <a:latin typeface="Arial"/>
                <a:cs typeface="Arial"/>
              </a:rPr>
              <a:t>estimate.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73898" y="1289685"/>
            <a:ext cx="3112797" cy="2004571"/>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5743575" y="3416300"/>
            <a:ext cx="3013709" cy="167640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546417" y="527684"/>
            <a:ext cx="794385" cy="203200"/>
          </a:xfrm>
          <a:prstGeom prst="rect">
            <a:avLst/>
          </a:prstGeom>
          <a:solidFill>
            <a:srgbClr val="C0C0C0"/>
          </a:solidFill>
        </p:spPr>
        <p:txBody>
          <a:bodyPr vert="horz" wrap="square" lIns="0" tIns="0" rIns="0" bIns="0" rtlCol="0">
            <a:spAutoFit/>
          </a:bodyPr>
          <a:lstStyle/>
          <a:p>
            <a:pPr>
              <a:lnSpc>
                <a:spcPts val="1530"/>
              </a:lnSpc>
            </a:pPr>
            <a:r>
              <a:rPr sz="1400" b="1" spc="10" dirty="0">
                <a:latin typeface="Arial"/>
                <a:cs typeface="Arial"/>
              </a:rPr>
              <a:t>E</a:t>
            </a:r>
            <a:r>
              <a:rPr sz="1400" b="1" spc="15" dirty="0">
                <a:latin typeface="Arial"/>
                <a:cs typeface="Arial"/>
              </a:rPr>
              <a:t>x</a:t>
            </a:r>
            <a:r>
              <a:rPr sz="1400" b="1" spc="-30" dirty="0">
                <a:latin typeface="Arial"/>
                <a:cs typeface="Arial"/>
              </a:rPr>
              <a:t>a</a:t>
            </a:r>
            <a:r>
              <a:rPr sz="1400" b="1" spc="50" dirty="0">
                <a:latin typeface="Arial"/>
                <a:cs typeface="Arial"/>
              </a:rPr>
              <a:t>m</a:t>
            </a:r>
            <a:r>
              <a:rPr sz="1400" b="1" spc="-10" dirty="0">
                <a:latin typeface="Arial"/>
                <a:cs typeface="Arial"/>
              </a:rPr>
              <a:t>p</a:t>
            </a:r>
            <a:r>
              <a:rPr sz="1400" b="1" spc="-40" dirty="0">
                <a:latin typeface="Arial"/>
                <a:cs typeface="Arial"/>
              </a:rPr>
              <a:t>l</a:t>
            </a:r>
            <a:r>
              <a:rPr sz="1400" b="1" spc="-30" dirty="0">
                <a:latin typeface="Arial"/>
                <a:cs typeface="Arial"/>
              </a:rPr>
              <a:t>e</a:t>
            </a:r>
            <a:r>
              <a:rPr sz="1400" b="1" dirty="0">
                <a:latin typeface="Arial"/>
                <a:cs typeface="Arial"/>
              </a:rPr>
              <a:t>:</a:t>
            </a:r>
            <a:endParaRPr sz="1400">
              <a:latin typeface="Arial"/>
              <a:cs typeface="Arial"/>
            </a:endParaRPr>
          </a:p>
        </p:txBody>
      </p:sp>
      <p:sp>
        <p:nvSpPr>
          <p:cNvPr id="5" name="object 5"/>
          <p:cNvSpPr txBox="1"/>
          <p:nvPr/>
        </p:nvSpPr>
        <p:spPr>
          <a:xfrm>
            <a:off x="533717" y="842835"/>
            <a:ext cx="7143115" cy="5008880"/>
          </a:xfrm>
          <a:prstGeom prst="rect">
            <a:avLst/>
          </a:prstGeom>
        </p:spPr>
        <p:txBody>
          <a:bodyPr vert="horz" wrap="square" lIns="0" tIns="12700" rIns="0" bIns="0" rtlCol="0">
            <a:spAutoFit/>
          </a:bodyPr>
          <a:lstStyle/>
          <a:p>
            <a:pPr marL="12700" marR="5080" indent="50800">
              <a:lnSpc>
                <a:spcPct val="116199"/>
              </a:lnSpc>
              <a:spcBef>
                <a:spcPts val="100"/>
              </a:spcBef>
            </a:pPr>
            <a:r>
              <a:rPr sz="1400" b="1" spc="-10" dirty="0">
                <a:solidFill>
                  <a:srgbClr val="A6431A"/>
                </a:solidFill>
                <a:latin typeface="Arial"/>
                <a:cs typeface="Arial"/>
              </a:rPr>
              <a:t>Consider </a:t>
            </a:r>
            <a:r>
              <a:rPr sz="1400" b="1" dirty="0">
                <a:solidFill>
                  <a:srgbClr val="A6431A"/>
                </a:solidFill>
                <a:latin typeface="Arial"/>
                <a:cs typeface="Arial"/>
              </a:rPr>
              <a:t>a project </a:t>
            </a:r>
            <a:r>
              <a:rPr sz="1400" b="1" spc="-15" dirty="0">
                <a:solidFill>
                  <a:srgbClr val="A6431A"/>
                </a:solidFill>
                <a:latin typeface="Arial"/>
                <a:cs typeface="Arial"/>
              </a:rPr>
              <a:t>having </a:t>
            </a:r>
            <a:r>
              <a:rPr sz="1400" b="1" spc="-5" dirty="0">
                <a:solidFill>
                  <a:srgbClr val="A6431A"/>
                </a:solidFill>
                <a:latin typeface="Arial"/>
                <a:cs typeface="Arial"/>
              </a:rPr>
              <a:t>30,000 </a:t>
            </a:r>
            <a:r>
              <a:rPr sz="1400" b="1" spc="-10" dirty="0">
                <a:solidFill>
                  <a:srgbClr val="A6431A"/>
                </a:solidFill>
                <a:latin typeface="Arial"/>
                <a:cs typeface="Arial"/>
              </a:rPr>
              <a:t>lines </a:t>
            </a:r>
            <a:r>
              <a:rPr sz="1400" b="1" spc="-5" dirty="0">
                <a:solidFill>
                  <a:srgbClr val="A6431A"/>
                </a:solidFill>
                <a:latin typeface="Arial"/>
                <a:cs typeface="Arial"/>
              </a:rPr>
              <a:t>of </a:t>
            </a:r>
            <a:r>
              <a:rPr sz="1400" b="1" dirty="0">
                <a:solidFill>
                  <a:srgbClr val="A6431A"/>
                </a:solidFill>
                <a:latin typeface="Arial"/>
                <a:cs typeface="Arial"/>
              </a:rPr>
              <a:t>code </a:t>
            </a:r>
            <a:r>
              <a:rPr sz="1400" b="1" spc="5" dirty="0">
                <a:solidFill>
                  <a:srgbClr val="A6431A"/>
                </a:solidFill>
                <a:latin typeface="Arial"/>
                <a:cs typeface="Arial"/>
              </a:rPr>
              <a:t>which </a:t>
            </a:r>
            <a:r>
              <a:rPr sz="1400" b="1" dirty="0">
                <a:solidFill>
                  <a:srgbClr val="A6431A"/>
                </a:solidFill>
                <a:latin typeface="Arial"/>
                <a:cs typeface="Arial"/>
              </a:rPr>
              <a:t>in </a:t>
            </a:r>
            <a:r>
              <a:rPr sz="1400" b="1" spc="5" dirty="0">
                <a:solidFill>
                  <a:srgbClr val="A6431A"/>
                </a:solidFill>
                <a:latin typeface="Arial"/>
                <a:cs typeface="Arial"/>
              </a:rPr>
              <a:t>an </a:t>
            </a:r>
            <a:r>
              <a:rPr sz="1400" b="1" u="heavy" spc="-5" dirty="0">
                <a:solidFill>
                  <a:srgbClr val="A6431A"/>
                </a:solidFill>
                <a:uFill>
                  <a:solidFill>
                    <a:srgbClr val="A6431A"/>
                  </a:solidFill>
                </a:uFill>
                <a:latin typeface="Arial"/>
                <a:cs typeface="Arial"/>
              </a:rPr>
              <a:t>embedded </a:t>
            </a:r>
            <a:r>
              <a:rPr sz="1400" b="1" u="heavy" spc="-10" dirty="0">
                <a:solidFill>
                  <a:srgbClr val="A6431A"/>
                </a:solidFill>
                <a:uFill>
                  <a:solidFill>
                    <a:srgbClr val="A6431A"/>
                  </a:solidFill>
                </a:uFill>
                <a:latin typeface="Arial"/>
                <a:cs typeface="Arial"/>
              </a:rPr>
              <a:t>software</a:t>
            </a:r>
            <a:r>
              <a:rPr sz="1400" b="1" spc="-10" dirty="0">
                <a:solidFill>
                  <a:srgbClr val="A6431A"/>
                </a:solidFill>
                <a:latin typeface="Arial"/>
                <a:cs typeface="Arial"/>
              </a:rPr>
              <a:t> </a:t>
            </a:r>
            <a:r>
              <a:rPr sz="1400" b="1" spc="10" dirty="0">
                <a:solidFill>
                  <a:srgbClr val="A6431A"/>
                </a:solidFill>
                <a:latin typeface="Arial"/>
                <a:cs typeface="Arial"/>
              </a:rPr>
              <a:t>with  </a:t>
            </a:r>
            <a:r>
              <a:rPr sz="1400" b="1" dirty="0">
                <a:solidFill>
                  <a:srgbClr val="A6431A"/>
                </a:solidFill>
                <a:latin typeface="Arial"/>
                <a:cs typeface="Arial"/>
              </a:rPr>
              <a:t>critical </a:t>
            </a:r>
            <a:r>
              <a:rPr sz="1400" b="1" spc="-5" dirty="0">
                <a:solidFill>
                  <a:srgbClr val="A6431A"/>
                </a:solidFill>
                <a:latin typeface="Arial"/>
                <a:cs typeface="Arial"/>
              </a:rPr>
              <a:t>area </a:t>
            </a:r>
            <a:r>
              <a:rPr sz="1400" b="1" spc="-10" dirty="0">
                <a:solidFill>
                  <a:srgbClr val="A6431A"/>
                </a:solidFill>
                <a:latin typeface="Arial"/>
                <a:cs typeface="Arial"/>
              </a:rPr>
              <a:t>hence </a:t>
            </a:r>
            <a:r>
              <a:rPr sz="1400" b="1" spc="-5" dirty="0">
                <a:solidFill>
                  <a:srgbClr val="A6431A"/>
                </a:solidFill>
                <a:latin typeface="Arial"/>
                <a:cs typeface="Arial"/>
              </a:rPr>
              <a:t>reliability </a:t>
            </a:r>
            <a:r>
              <a:rPr sz="1400" b="1" dirty="0">
                <a:solidFill>
                  <a:srgbClr val="A6431A"/>
                </a:solidFill>
                <a:latin typeface="Arial"/>
                <a:cs typeface="Arial"/>
              </a:rPr>
              <a:t>is </a:t>
            </a:r>
            <a:r>
              <a:rPr sz="1400" b="1" spc="-5" dirty="0">
                <a:solidFill>
                  <a:srgbClr val="A6431A"/>
                </a:solidFill>
                <a:latin typeface="Arial"/>
                <a:cs typeface="Arial"/>
              </a:rPr>
              <a:t>high</a:t>
            </a:r>
            <a:r>
              <a:rPr sz="1400" b="1" spc="35" dirty="0">
                <a:solidFill>
                  <a:srgbClr val="A6431A"/>
                </a:solidFill>
                <a:latin typeface="Arial"/>
                <a:cs typeface="Arial"/>
              </a:rPr>
              <a:t> </a:t>
            </a:r>
            <a:r>
              <a:rPr sz="1400" b="1" spc="-10" dirty="0">
                <a:solidFill>
                  <a:srgbClr val="A6431A"/>
                </a:solidFill>
                <a:latin typeface="Arial"/>
                <a:cs typeface="Arial"/>
              </a:rPr>
              <a:t>(EAF=1.15).</a:t>
            </a:r>
            <a:endParaRPr sz="1400">
              <a:latin typeface="Arial"/>
              <a:cs typeface="Arial"/>
            </a:endParaRPr>
          </a:p>
          <a:p>
            <a:pPr>
              <a:lnSpc>
                <a:spcPct val="100000"/>
              </a:lnSpc>
              <a:spcBef>
                <a:spcPts val="30"/>
              </a:spcBef>
            </a:pPr>
            <a:endParaRPr sz="1850">
              <a:latin typeface="Times New Roman"/>
              <a:cs typeface="Times New Roman"/>
            </a:endParaRPr>
          </a:p>
          <a:p>
            <a:pPr marL="469900" marR="4986655" indent="-457834">
              <a:lnSpc>
                <a:spcPts val="1950"/>
              </a:lnSpc>
              <a:spcBef>
                <a:spcPts val="5"/>
              </a:spcBef>
            </a:pPr>
            <a:r>
              <a:rPr sz="1400" spc="-15" dirty="0">
                <a:latin typeface="Arial"/>
                <a:cs typeface="Arial"/>
              </a:rPr>
              <a:t>The </a:t>
            </a:r>
            <a:r>
              <a:rPr sz="1400" spc="-10" dirty="0">
                <a:latin typeface="Arial"/>
                <a:cs typeface="Arial"/>
              </a:rPr>
              <a:t>estimation </a:t>
            </a:r>
            <a:r>
              <a:rPr sz="1400" spc="-15" dirty="0">
                <a:latin typeface="Arial"/>
                <a:cs typeface="Arial"/>
              </a:rPr>
              <a:t>can </a:t>
            </a:r>
            <a:r>
              <a:rPr sz="1400" spc="5" dirty="0">
                <a:latin typeface="Arial"/>
                <a:cs typeface="Arial"/>
              </a:rPr>
              <a:t>be  </a:t>
            </a:r>
            <a:r>
              <a:rPr sz="1400" spc="10" dirty="0">
                <a:latin typeface="Arial"/>
                <a:cs typeface="Arial"/>
              </a:rPr>
              <a:t>E</a:t>
            </a:r>
            <a:r>
              <a:rPr sz="1400" spc="-20" dirty="0">
                <a:latin typeface="Arial"/>
                <a:cs typeface="Arial"/>
              </a:rPr>
              <a:t>=</a:t>
            </a:r>
            <a:r>
              <a:rPr sz="1800" spc="-5" dirty="0">
                <a:latin typeface="Arial"/>
                <a:cs typeface="Arial"/>
              </a:rPr>
              <a:t>a</a:t>
            </a:r>
            <a:r>
              <a:rPr sz="1000" spc="-30" dirty="0">
                <a:latin typeface="Arial"/>
                <a:cs typeface="Arial"/>
              </a:rPr>
              <a:t>i</a:t>
            </a:r>
            <a:r>
              <a:rPr sz="1400" spc="5" dirty="0">
                <a:latin typeface="Arial"/>
                <a:cs typeface="Arial"/>
              </a:rPr>
              <a:t>*</a:t>
            </a:r>
            <a:r>
              <a:rPr sz="1400" spc="-20" dirty="0">
                <a:latin typeface="Arial"/>
                <a:cs typeface="Arial"/>
              </a:rPr>
              <a:t>(</a:t>
            </a:r>
            <a:r>
              <a:rPr sz="1400" spc="10" dirty="0">
                <a:latin typeface="Arial"/>
                <a:cs typeface="Arial"/>
              </a:rPr>
              <a:t>K</a:t>
            </a:r>
            <a:r>
              <a:rPr sz="1400" spc="15" dirty="0">
                <a:latin typeface="Arial"/>
                <a:cs typeface="Arial"/>
              </a:rPr>
              <a:t>L</a:t>
            </a:r>
            <a:r>
              <a:rPr sz="1400" spc="5" dirty="0">
                <a:latin typeface="Arial"/>
                <a:cs typeface="Arial"/>
              </a:rPr>
              <a:t>O</a:t>
            </a:r>
            <a:r>
              <a:rPr sz="1400" spc="-15" dirty="0">
                <a:latin typeface="Arial"/>
                <a:cs typeface="Arial"/>
              </a:rPr>
              <a:t>C</a:t>
            </a:r>
            <a:r>
              <a:rPr sz="1400" spc="50" dirty="0">
                <a:latin typeface="Arial"/>
                <a:cs typeface="Arial"/>
              </a:rPr>
              <a:t>^</a:t>
            </a:r>
            <a:r>
              <a:rPr sz="1400" spc="20" dirty="0">
                <a:latin typeface="Arial"/>
                <a:cs typeface="Arial"/>
              </a:rPr>
              <a:t>b</a:t>
            </a:r>
            <a:r>
              <a:rPr sz="900" spc="-5" dirty="0">
                <a:latin typeface="Arial"/>
                <a:cs typeface="Arial"/>
              </a:rPr>
              <a:t>i</a:t>
            </a:r>
            <a:r>
              <a:rPr sz="1400" spc="-20" dirty="0">
                <a:latin typeface="Arial"/>
                <a:cs typeface="Arial"/>
              </a:rPr>
              <a:t>)</a:t>
            </a:r>
            <a:r>
              <a:rPr sz="1400" dirty="0">
                <a:latin typeface="Arial"/>
                <a:cs typeface="Arial"/>
              </a:rPr>
              <a:t>*</a:t>
            </a:r>
            <a:r>
              <a:rPr sz="1400" spc="-40" dirty="0">
                <a:latin typeface="Arial"/>
                <a:cs typeface="Arial"/>
              </a:rPr>
              <a:t>E</a:t>
            </a:r>
            <a:r>
              <a:rPr sz="1400" spc="10" dirty="0">
                <a:latin typeface="Arial"/>
                <a:cs typeface="Arial"/>
              </a:rPr>
              <a:t>A</a:t>
            </a:r>
            <a:r>
              <a:rPr sz="1400" dirty="0">
                <a:latin typeface="Arial"/>
                <a:cs typeface="Arial"/>
              </a:rPr>
              <a:t>F</a:t>
            </a:r>
            <a:endParaRPr sz="1400">
              <a:latin typeface="Arial"/>
              <a:cs typeface="Arial"/>
            </a:endParaRPr>
          </a:p>
          <a:p>
            <a:pPr marL="469900">
              <a:lnSpc>
                <a:spcPts val="1614"/>
              </a:lnSpc>
              <a:spcBef>
                <a:spcPts val="1515"/>
              </a:spcBef>
            </a:pPr>
            <a:r>
              <a:rPr sz="1400" spc="5" dirty="0">
                <a:latin typeface="Arial"/>
                <a:cs typeface="Arial"/>
              </a:rPr>
              <a:t>As </a:t>
            </a:r>
            <a:r>
              <a:rPr sz="1400" spc="-10" dirty="0">
                <a:latin typeface="Arial"/>
                <a:cs typeface="Arial"/>
              </a:rPr>
              <a:t>reliability is </a:t>
            </a:r>
            <a:r>
              <a:rPr sz="1400" spc="5" dirty="0">
                <a:latin typeface="Arial"/>
                <a:cs typeface="Arial"/>
              </a:rPr>
              <a:t>high </a:t>
            </a:r>
            <a:r>
              <a:rPr sz="1400" spc="-5" dirty="0">
                <a:latin typeface="Arial"/>
                <a:cs typeface="Arial"/>
              </a:rPr>
              <a:t>EAF=1.15 (product</a:t>
            </a:r>
            <a:r>
              <a:rPr sz="1400" spc="15" dirty="0">
                <a:latin typeface="Arial"/>
                <a:cs typeface="Arial"/>
              </a:rPr>
              <a:t> </a:t>
            </a:r>
            <a:r>
              <a:rPr sz="1400" spc="-5" dirty="0">
                <a:latin typeface="Arial"/>
                <a:cs typeface="Arial"/>
              </a:rPr>
              <a:t>attribute)</a:t>
            </a:r>
            <a:endParaRPr sz="1400">
              <a:latin typeface="Arial"/>
              <a:cs typeface="Arial"/>
            </a:endParaRPr>
          </a:p>
          <a:p>
            <a:pPr marL="1156335">
              <a:lnSpc>
                <a:spcPts val="2510"/>
              </a:lnSpc>
            </a:pPr>
            <a:r>
              <a:rPr sz="2200" spc="-15" dirty="0">
                <a:latin typeface="Arial"/>
                <a:cs typeface="Arial"/>
              </a:rPr>
              <a:t>a</a:t>
            </a:r>
            <a:r>
              <a:rPr sz="1600" spc="-15" dirty="0">
                <a:latin typeface="Arial"/>
                <a:cs typeface="Arial"/>
              </a:rPr>
              <a:t>i </a:t>
            </a:r>
            <a:r>
              <a:rPr sz="1600" dirty="0">
                <a:latin typeface="Arial"/>
                <a:cs typeface="Arial"/>
              </a:rPr>
              <a:t>=</a:t>
            </a:r>
            <a:r>
              <a:rPr sz="1600" spc="25" dirty="0">
                <a:latin typeface="Arial"/>
                <a:cs typeface="Arial"/>
              </a:rPr>
              <a:t> </a:t>
            </a:r>
            <a:r>
              <a:rPr sz="1600" dirty="0">
                <a:latin typeface="Arial"/>
                <a:cs typeface="Arial"/>
              </a:rPr>
              <a:t>2.8</a:t>
            </a:r>
            <a:endParaRPr sz="1600">
              <a:latin typeface="Arial"/>
              <a:cs typeface="Arial"/>
            </a:endParaRPr>
          </a:p>
          <a:p>
            <a:pPr marL="1156335">
              <a:lnSpc>
                <a:spcPts val="2550"/>
              </a:lnSpc>
            </a:pPr>
            <a:r>
              <a:rPr sz="2200" spc="10" dirty="0">
                <a:latin typeface="Arial"/>
                <a:cs typeface="Arial"/>
              </a:rPr>
              <a:t>b</a:t>
            </a:r>
            <a:r>
              <a:rPr sz="1600" spc="10" dirty="0">
                <a:latin typeface="Arial"/>
                <a:cs typeface="Arial"/>
              </a:rPr>
              <a:t>i </a:t>
            </a:r>
            <a:r>
              <a:rPr sz="1600" dirty="0">
                <a:latin typeface="Arial"/>
                <a:cs typeface="Arial"/>
              </a:rPr>
              <a:t>= </a:t>
            </a:r>
            <a:r>
              <a:rPr sz="1600" spc="-10" dirty="0">
                <a:latin typeface="Arial"/>
                <a:cs typeface="Arial"/>
              </a:rPr>
              <a:t>1.20 </a:t>
            </a:r>
            <a:r>
              <a:rPr sz="1200" spc="-5" dirty="0">
                <a:latin typeface="Times New Roman"/>
                <a:cs typeface="Times New Roman"/>
              </a:rPr>
              <a:t>[f</a:t>
            </a:r>
            <a:r>
              <a:rPr sz="1200" spc="-5" dirty="0">
                <a:latin typeface="Arial"/>
                <a:cs typeface="Arial"/>
              </a:rPr>
              <a:t>or embedded software which </a:t>
            </a:r>
            <a:r>
              <a:rPr sz="1200" spc="-20" dirty="0">
                <a:latin typeface="Arial"/>
                <a:cs typeface="Arial"/>
              </a:rPr>
              <a:t>will </a:t>
            </a:r>
            <a:r>
              <a:rPr sz="1200" dirty="0">
                <a:latin typeface="Arial"/>
                <a:cs typeface="Arial"/>
              </a:rPr>
              <a:t>not</a:t>
            </a:r>
            <a:r>
              <a:rPr sz="1200" spc="-25" dirty="0">
                <a:latin typeface="Arial"/>
                <a:cs typeface="Arial"/>
              </a:rPr>
              <a:t> </a:t>
            </a:r>
            <a:r>
              <a:rPr sz="1200" spc="10" dirty="0">
                <a:latin typeface="Arial"/>
                <a:cs typeface="Arial"/>
              </a:rPr>
              <a:t>be</a:t>
            </a:r>
            <a:endParaRPr sz="1200">
              <a:latin typeface="Arial"/>
              <a:cs typeface="Arial"/>
            </a:endParaRPr>
          </a:p>
          <a:p>
            <a:pPr marL="1156335">
              <a:lnSpc>
                <a:spcPts val="1420"/>
              </a:lnSpc>
            </a:pPr>
            <a:r>
              <a:rPr sz="1200" spc="-10" dirty="0">
                <a:latin typeface="Arial"/>
                <a:cs typeface="Arial"/>
              </a:rPr>
              <a:t>given]</a:t>
            </a:r>
            <a:endParaRPr sz="1200">
              <a:latin typeface="Arial"/>
              <a:cs typeface="Arial"/>
            </a:endParaRPr>
          </a:p>
          <a:p>
            <a:pPr>
              <a:lnSpc>
                <a:spcPct val="100000"/>
              </a:lnSpc>
              <a:spcBef>
                <a:spcPts val="45"/>
              </a:spcBef>
            </a:pPr>
            <a:endParaRPr sz="1100">
              <a:latin typeface="Times New Roman"/>
              <a:cs typeface="Times New Roman"/>
            </a:endParaRPr>
          </a:p>
          <a:p>
            <a:pPr marL="469900">
              <a:lnSpc>
                <a:spcPct val="100000"/>
              </a:lnSpc>
            </a:pPr>
            <a:r>
              <a:rPr sz="1400" spc="5" dirty="0">
                <a:latin typeface="Arial"/>
                <a:cs typeface="Arial"/>
              </a:rPr>
              <a:t>E=2.8*( </a:t>
            </a:r>
            <a:r>
              <a:rPr sz="1400" spc="-5" dirty="0">
                <a:latin typeface="Arial"/>
                <a:cs typeface="Arial"/>
              </a:rPr>
              <a:t>(</a:t>
            </a:r>
            <a:r>
              <a:rPr sz="1600" spc="-5" dirty="0">
                <a:latin typeface="Arial"/>
                <a:cs typeface="Arial"/>
              </a:rPr>
              <a:t>30^</a:t>
            </a:r>
            <a:r>
              <a:rPr sz="1400" spc="-5" dirty="0">
                <a:latin typeface="Arial"/>
                <a:cs typeface="Arial"/>
              </a:rPr>
              <a:t>1.20)</a:t>
            </a:r>
            <a:r>
              <a:rPr sz="1400" spc="-25" dirty="0">
                <a:latin typeface="Arial"/>
                <a:cs typeface="Arial"/>
              </a:rPr>
              <a:t> </a:t>
            </a:r>
            <a:r>
              <a:rPr sz="1400" spc="-5" dirty="0">
                <a:latin typeface="Arial"/>
                <a:cs typeface="Arial"/>
              </a:rPr>
              <a:t>)*1.15</a:t>
            </a:r>
            <a:endParaRPr sz="1400">
              <a:latin typeface="Arial"/>
              <a:cs typeface="Arial"/>
            </a:endParaRPr>
          </a:p>
          <a:p>
            <a:pPr marL="469900" marR="4272915" indent="686435">
              <a:lnSpc>
                <a:spcPct val="163900"/>
              </a:lnSpc>
              <a:spcBef>
                <a:spcPts val="160"/>
              </a:spcBef>
            </a:pPr>
            <a:r>
              <a:rPr sz="1200" spc="5" dirty="0">
                <a:latin typeface="Arial"/>
                <a:cs typeface="Arial"/>
              </a:rPr>
              <a:t>=</a:t>
            </a:r>
            <a:r>
              <a:rPr sz="1400" spc="5" dirty="0">
                <a:latin typeface="Arial"/>
                <a:cs typeface="Arial"/>
              </a:rPr>
              <a:t>191 </a:t>
            </a:r>
            <a:r>
              <a:rPr sz="1400" spc="-15" dirty="0">
                <a:latin typeface="Arial"/>
                <a:cs typeface="Arial"/>
              </a:rPr>
              <a:t>person </a:t>
            </a:r>
            <a:r>
              <a:rPr sz="1400" spc="5" dirty="0">
                <a:latin typeface="Arial"/>
                <a:cs typeface="Arial"/>
              </a:rPr>
              <a:t>month  </a:t>
            </a:r>
            <a:r>
              <a:rPr sz="1400" dirty="0">
                <a:latin typeface="Arial"/>
                <a:cs typeface="Arial"/>
              </a:rPr>
              <a:t>D=</a:t>
            </a:r>
            <a:r>
              <a:rPr sz="2000" dirty="0">
                <a:latin typeface="Arial"/>
                <a:cs typeface="Arial"/>
              </a:rPr>
              <a:t>c</a:t>
            </a:r>
            <a:r>
              <a:rPr sz="1400" dirty="0">
                <a:latin typeface="Arial"/>
                <a:cs typeface="Arial"/>
              </a:rPr>
              <a:t>b*(E^d</a:t>
            </a:r>
            <a:r>
              <a:rPr sz="1050" dirty="0">
                <a:latin typeface="Arial"/>
                <a:cs typeface="Arial"/>
              </a:rPr>
              <a:t>b</a:t>
            </a:r>
            <a:r>
              <a:rPr sz="1400" dirty="0">
                <a:latin typeface="Arial"/>
                <a:cs typeface="Arial"/>
              </a:rPr>
              <a:t>) =</a:t>
            </a:r>
            <a:r>
              <a:rPr sz="1400" spc="-40" dirty="0">
                <a:latin typeface="Arial"/>
                <a:cs typeface="Arial"/>
              </a:rPr>
              <a:t> </a:t>
            </a:r>
            <a:r>
              <a:rPr sz="1400" spc="-5" dirty="0">
                <a:latin typeface="Arial"/>
                <a:cs typeface="Arial"/>
              </a:rPr>
              <a:t>2.5*(191^0.32)</a:t>
            </a:r>
            <a:endParaRPr sz="1400">
              <a:latin typeface="Arial"/>
              <a:cs typeface="Arial"/>
            </a:endParaRPr>
          </a:p>
          <a:p>
            <a:pPr marL="1156335">
              <a:lnSpc>
                <a:spcPct val="100000"/>
              </a:lnSpc>
              <a:spcBef>
                <a:spcPts val="1250"/>
              </a:spcBef>
            </a:pPr>
            <a:r>
              <a:rPr sz="1400" dirty="0">
                <a:latin typeface="Arial"/>
                <a:cs typeface="Arial"/>
              </a:rPr>
              <a:t>=13.422 = </a:t>
            </a:r>
            <a:r>
              <a:rPr sz="1400" spc="5" dirty="0">
                <a:latin typeface="Arial"/>
                <a:cs typeface="Arial"/>
              </a:rPr>
              <a:t>14 months</a:t>
            </a:r>
            <a:r>
              <a:rPr sz="1400" spc="-114" dirty="0">
                <a:latin typeface="Arial"/>
                <a:cs typeface="Arial"/>
              </a:rPr>
              <a:t> </a:t>
            </a:r>
            <a:r>
              <a:rPr sz="1400" spc="-5" dirty="0">
                <a:latin typeface="Arial"/>
                <a:cs typeface="Arial"/>
              </a:rPr>
              <a:t>approximately</a:t>
            </a:r>
            <a:endParaRPr sz="1400">
              <a:latin typeface="Arial"/>
              <a:cs typeface="Arial"/>
            </a:endParaRPr>
          </a:p>
          <a:p>
            <a:pPr marL="469900">
              <a:lnSpc>
                <a:spcPts val="1614"/>
              </a:lnSpc>
              <a:spcBef>
                <a:spcPts val="1175"/>
              </a:spcBef>
            </a:pPr>
            <a:r>
              <a:rPr sz="1400" spc="-5" dirty="0">
                <a:latin typeface="Arial"/>
                <a:cs typeface="Arial"/>
              </a:rPr>
              <a:t>N=E/D</a:t>
            </a:r>
            <a:endParaRPr sz="1400">
              <a:latin typeface="Arial"/>
              <a:cs typeface="Arial"/>
            </a:endParaRPr>
          </a:p>
          <a:p>
            <a:pPr marL="622935">
              <a:lnSpc>
                <a:spcPts val="1855"/>
              </a:lnSpc>
            </a:pPr>
            <a:r>
              <a:rPr sz="1600" spc="-5" dirty="0">
                <a:latin typeface="Arial"/>
                <a:cs typeface="Arial"/>
              </a:rPr>
              <a:t>=191/14</a:t>
            </a:r>
            <a:endParaRPr sz="1600">
              <a:latin typeface="Arial"/>
              <a:cs typeface="Arial"/>
            </a:endParaRPr>
          </a:p>
          <a:p>
            <a:pPr marL="469900">
              <a:lnSpc>
                <a:spcPct val="100000"/>
              </a:lnSpc>
              <a:spcBef>
                <a:spcPts val="780"/>
              </a:spcBef>
            </a:pPr>
            <a:r>
              <a:rPr sz="1400" spc="-5" dirty="0">
                <a:latin typeface="Arial"/>
                <a:cs typeface="Arial"/>
              </a:rPr>
              <a:t>N=14 </a:t>
            </a:r>
            <a:r>
              <a:rPr sz="1400" spc="-10" dirty="0">
                <a:latin typeface="Arial"/>
                <a:cs typeface="Arial"/>
              </a:rPr>
              <a:t>persons</a:t>
            </a:r>
            <a:r>
              <a:rPr sz="1400" spc="30" dirty="0">
                <a:latin typeface="Arial"/>
                <a:cs typeface="Arial"/>
              </a:rPr>
              <a:t> </a:t>
            </a:r>
            <a:r>
              <a:rPr sz="1400" spc="-10" dirty="0">
                <a:latin typeface="Arial"/>
                <a:cs typeface="Arial"/>
              </a:rPr>
              <a:t>approx.</a:t>
            </a:r>
            <a:endParaRPr sz="1400">
              <a:latin typeface="Arial"/>
              <a:cs typeface="Aria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717" y="324167"/>
            <a:ext cx="6137275"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AF50"/>
                </a:solidFill>
              </a:rPr>
              <a:t>DETAILED/ADVANCED </a:t>
            </a:r>
            <a:r>
              <a:rPr sz="2400" spc="5" dirty="0">
                <a:solidFill>
                  <a:srgbClr val="00AF50"/>
                </a:solidFill>
              </a:rPr>
              <a:t>COCOMO</a:t>
            </a:r>
            <a:r>
              <a:rPr sz="2400" spc="-100" dirty="0">
                <a:solidFill>
                  <a:srgbClr val="00AF50"/>
                </a:solidFill>
              </a:rPr>
              <a:t> </a:t>
            </a:r>
            <a:r>
              <a:rPr sz="2400" dirty="0">
                <a:solidFill>
                  <a:srgbClr val="00AF50"/>
                </a:solidFill>
              </a:rPr>
              <a:t>MODEL:</a:t>
            </a:r>
            <a:endParaRPr sz="2400"/>
          </a:p>
        </p:txBody>
      </p:sp>
      <p:sp>
        <p:nvSpPr>
          <p:cNvPr id="3" name="object 3"/>
          <p:cNvSpPr txBox="1"/>
          <p:nvPr/>
        </p:nvSpPr>
        <p:spPr>
          <a:xfrm>
            <a:off x="381317" y="864298"/>
            <a:ext cx="8284845" cy="5125720"/>
          </a:xfrm>
          <a:prstGeom prst="rect">
            <a:avLst/>
          </a:prstGeom>
        </p:spPr>
        <p:txBody>
          <a:bodyPr vert="horz" wrap="square" lIns="0" tIns="18415" rIns="0" bIns="0" rtlCol="0">
            <a:spAutoFit/>
          </a:bodyPr>
          <a:lstStyle/>
          <a:p>
            <a:pPr marL="12700" marR="310515">
              <a:lnSpc>
                <a:spcPct val="97800"/>
              </a:lnSpc>
              <a:spcBef>
                <a:spcPts val="145"/>
              </a:spcBef>
            </a:pPr>
            <a:r>
              <a:rPr sz="1600" dirty="0">
                <a:latin typeface="Times New Roman"/>
                <a:cs typeface="Times New Roman"/>
              </a:rPr>
              <a:t>A </a:t>
            </a:r>
            <a:r>
              <a:rPr sz="1600" spc="-15" dirty="0">
                <a:latin typeface="Times New Roman"/>
                <a:cs typeface="Times New Roman"/>
              </a:rPr>
              <a:t>major </a:t>
            </a:r>
            <a:r>
              <a:rPr sz="1600" spc="-5" dirty="0">
                <a:latin typeface="Times New Roman"/>
                <a:cs typeface="Times New Roman"/>
              </a:rPr>
              <a:t>shortcoming </a:t>
            </a:r>
            <a:r>
              <a:rPr sz="1600" dirty="0">
                <a:latin typeface="Times New Roman"/>
                <a:cs typeface="Times New Roman"/>
              </a:rPr>
              <a:t>of </a:t>
            </a:r>
            <a:r>
              <a:rPr sz="1600" spc="10" dirty="0">
                <a:latin typeface="Times New Roman"/>
                <a:cs typeface="Times New Roman"/>
              </a:rPr>
              <a:t>both </a:t>
            </a:r>
            <a:r>
              <a:rPr sz="1600" spc="-5" dirty="0">
                <a:latin typeface="Times New Roman"/>
                <a:cs typeface="Times New Roman"/>
              </a:rPr>
              <a:t>the </a:t>
            </a:r>
            <a:r>
              <a:rPr sz="1600" dirty="0">
                <a:latin typeface="Times New Roman"/>
                <a:cs typeface="Times New Roman"/>
              </a:rPr>
              <a:t>basic </a:t>
            </a:r>
            <a:r>
              <a:rPr sz="1600" spc="-10" dirty="0">
                <a:latin typeface="Times New Roman"/>
                <a:cs typeface="Times New Roman"/>
              </a:rPr>
              <a:t>and </a:t>
            </a:r>
            <a:r>
              <a:rPr sz="1600" spc="-5" dirty="0">
                <a:latin typeface="Times New Roman"/>
                <a:cs typeface="Times New Roman"/>
              </a:rPr>
              <a:t>Intermediate COCOMO </a:t>
            </a:r>
            <a:r>
              <a:rPr sz="1600" spc="5" dirty="0">
                <a:latin typeface="Times New Roman"/>
                <a:cs typeface="Times New Roman"/>
              </a:rPr>
              <a:t>models </a:t>
            </a:r>
            <a:r>
              <a:rPr sz="1600" spc="25" dirty="0">
                <a:latin typeface="Times New Roman"/>
                <a:cs typeface="Times New Roman"/>
              </a:rPr>
              <a:t>is </a:t>
            </a:r>
            <a:r>
              <a:rPr sz="1600" spc="-5" dirty="0">
                <a:latin typeface="Times New Roman"/>
                <a:cs typeface="Times New Roman"/>
              </a:rPr>
              <a:t>that </a:t>
            </a:r>
            <a:r>
              <a:rPr sz="1600" spc="5" dirty="0">
                <a:latin typeface="Times New Roman"/>
                <a:cs typeface="Times New Roman"/>
              </a:rPr>
              <a:t>they </a:t>
            </a:r>
            <a:r>
              <a:rPr sz="1600" dirty="0">
                <a:latin typeface="Times New Roman"/>
                <a:cs typeface="Times New Roman"/>
              </a:rPr>
              <a:t>consider</a:t>
            </a:r>
            <a:r>
              <a:rPr sz="1600" spc="-185" dirty="0">
                <a:latin typeface="Times New Roman"/>
                <a:cs typeface="Times New Roman"/>
              </a:rPr>
              <a:t> </a:t>
            </a:r>
            <a:r>
              <a:rPr sz="1600" dirty="0">
                <a:latin typeface="Times New Roman"/>
                <a:cs typeface="Times New Roman"/>
              </a:rPr>
              <a:t>a  </a:t>
            </a:r>
            <a:r>
              <a:rPr sz="1600" spc="-10" dirty="0">
                <a:latin typeface="Times New Roman"/>
                <a:cs typeface="Times New Roman"/>
              </a:rPr>
              <a:t>software </a:t>
            </a:r>
            <a:r>
              <a:rPr sz="1600" spc="-5" dirty="0">
                <a:latin typeface="Times New Roman"/>
                <a:cs typeface="Times New Roman"/>
              </a:rPr>
              <a:t>product </a:t>
            </a:r>
            <a:r>
              <a:rPr sz="1600" spc="20" dirty="0">
                <a:latin typeface="Times New Roman"/>
                <a:cs typeface="Times New Roman"/>
              </a:rPr>
              <a:t>as </a:t>
            </a:r>
            <a:r>
              <a:rPr sz="1600" dirty="0">
                <a:latin typeface="Times New Roman"/>
                <a:cs typeface="Times New Roman"/>
              </a:rPr>
              <a:t>a </a:t>
            </a:r>
            <a:r>
              <a:rPr sz="1600" spc="-15" dirty="0">
                <a:latin typeface="Times New Roman"/>
                <a:cs typeface="Times New Roman"/>
              </a:rPr>
              <a:t>single </a:t>
            </a:r>
            <a:r>
              <a:rPr sz="1600" dirty="0">
                <a:latin typeface="Times New Roman"/>
                <a:cs typeface="Times New Roman"/>
              </a:rPr>
              <a:t>homogeneous </a:t>
            </a:r>
            <a:r>
              <a:rPr sz="1600" spc="-5" dirty="0">
                <a:latin typeface="Times New Roman"/>
                <a:cs typeface="Times New Roman"/>
              </a:rPr>
              <a:t>entity. </a:t>
            </a:r>
            <a:r>
              <a:rPr sz="1600" dirty="0">
                <a:latin typeface="Times New Roman"/>
                <a:cs typeface="Times New Roman"/>
              </a:rPr>
              <a:t>However, </a:t>
            </a:r>
            <a:r>
              <a:rPr sz="1600" spc="-20" dirty="0">
                <a:latin typeface="Times New Roman"/>
                <a:cs typeface="Times New Roman"/>
              </a:rPr>
              <a:t>most </a:t>
            </a:r>
            <a:r>
              <a:rPr sz="1600" dirty="0">
                <a:latin typeface="Times New Roman"/>
                <a:cs typeface="Times New Roman"/>
              </a:rPr>
              <a:t>large </a:t>
            </a:r>
            <a:r>
              <a:rPr sz="1600" spc="-5" dirty="0">
                <a:latin typeface="Times New Roman"/>
                <a:cs typeface="Times New Roman"/>
              </a:rPr>
              <a:t>systems are </a:t>
            </a:r>
            <a:r>
              <a:rPr sz="1600" spc="-30" dirty="0">
                <a:latin typeface="Times New Roman"/>
                <a:cs typeface="Times New Roman"/>
              </a:rPr>
              <a:t>made up  </a:t>
            </a:r>
            <a:r>
              <a:rPr sz="1600" spc="-10" dirty="0">
                <a:latin typeface="Times New Roman"/>
                <a:cs typeface="Times New Roman"/>
              </a:rPr>
              <a:t>several </a:t>
            </a:r>
            <a:r>
              <a:rPr sz="1600" spc="-15" dirty="0">
                <a:latin typeface="Times New Roman"/>
                <a:cs typeface="Times New Roman"/>
              </a:rPr>
              <a:t>smaller </a:t>
            </a:r>
            <a:r>
              <a:rPr sz="1600" spc="-10" dirty="0">
                <a:latin typeface="Times New Roman"/>
                <a:cs typeface="Times New Roman"/>
              </a:rPr>
              <a:t>sub-systems. </a:t>
            </a:r>
            <a:r>
              <a:rPr sz="1600" spc="-5" dirty="0">
                <a:latin typeface="Times New Roman"/>
                <a:cs typeface="Times New Roman"/>
              </a:rPr>
              <a:t>These sub-systems may have </a:t>
            </a:r>
            <a:r>
              <a:rPr sz="1600" spc="5" dirty="0">
                <a:latin typeface="Times New Roman"/>
                <a:cs typeface="Times New Roman"/>
              </a:rPr>
              <a:t>widely </a:t>
            </a:r>
            <a:r>
              <a:rPr sz="1600" spc="-5" dirty="0">
                <a:latin typeface="Times New Roman"/>
                <a:cs typeface="Times New Roman"/>
              </a:rPr>
              <a:t>different</a:t>
            </a:r>
            <a:r>
              <a:rPr sz="1600" spc="200" dirty="0">
                <a:latin typeface="Times New Roman"/>
                <a:cs typeface="Times New Roman"/>
              </a:rPr>
              <a:t> </a:t>
            </a:r>
            <a:r>
              <a:rPr sz="1600" spc="-5" dirty="0">
                <a:latin typeface="Times New Roman"/>
                <a:cs typeface="Times New Roman"/>
              </a:rPr>
              <a:t>characteristics.</a:t>
            </a:r>
            <a:endParaRPr sz="1600">
              <a:latin typeface="Times New Roman"/>
              <a:cs typeface="Times New Roman"/>
            </a:endParaRPr>
          </a:p>
          <a:p>
            <a:pPr marL="12700" marR="160020">
              <a:lnSpc>
                <a:spcPct val="97800"/>
              </a:lnSpc>
              <a:spcBef>
                <a:spcPts val="120"/>
              </a:spcBef>
            </a:pPr>
            <a:r>
              <a:rPr sz="1600" spc="-15" dirty="0">
                <a:latin typeface="Times New Roman"/>
                <a:cs typeface="Times New Roman"/>
              </a:rPr>
              <a:t>The </a:t>
            </a:r>
            <a:r>
              <a:rPr sz="1600" spc="-5" dirty="0">
                <a:latin typeface="Times New Roman"/>
                <a:cs typeface="Times New Roman"/>
              </a:rPr>
              <a:t>Detailed </a:t>
            </a:r>
            <a:r>
              <a:rPr sz="1600" dirty="0">
                <a:latin typeface="Times New Roman"/>
                <a:cs typeface="Times New Roman"/>
              </a:rPr>
              <a:t>COCOMO </a:t>
            </a:r>
            <a:r>
              <a:rPr sz="1600" spc="-10" dirty="0">
                <a:latin typeface="Times New Roman"/>
                <a:cs typeface="Times New Roman"/>
              </a:rPr>
              <a:t>Model </a:t>
            </a:r>
            <a:r>
              <a:rPr sz="1600" spc="10" dirty="0">
                <a:latin typeface="Times New Roman"/>
                <a:cs typeface="Times New Roman"/>
              </a:rPr>
              <a:t>differs </a:t>
            </a:r>
            <a:r>
              <a:rPr sz="1600" spc="5" dirty="0">
                <a:latin typeface="Times New Roman"/>
                <a:cs typeface="Times New Roman"/>
              </a:rPr>
              <a:t>from </a:t>
            </a:r>
            <a:r>
              <a:rPr sz="1600" spc="-5" dirty="0">
                <a:latin typeface="Times New Roman"/>
                <a:cs typeface="Times New Roman"/>
              </a:rPr>
              <a:t>the Intermediate COCOMO </a:t>
            </a:r>
            <a:r>
              <a:rPr sz="1600" spc="-15" dirty="0">
                <a:latin typeface="Times New Roman"/>
                <a:cs typeface="Times New Roman"/>
              </a:rPr>
              <a:t>model </a:t>
            </a:r>
            <a:r>
              <a:rPr sz="1600" dirty="0">
                <a:latin typeface="Times New Roman"/>
                <a:cs typeface="Times New Roman"/>
              </a:rPr>
              <a:t>in </a:t>
            </a:r>
            <a:r>
              <a:rPr sz="1600" spc="-5" dirty="0">
                <a:latin typeface="Times New Roman"/>
                <a:cs typeface="Times New Roman"/>
              </a:rPr>
              <a:t>that </a:t>
            </a:r>
            <a:r>
              <a:rPr sz="1600" dirty="0">
                <a:latin typeface="Times New Roman"/>
                <a:cs typeface="Times New Roman"/>
              </a:rPr>
              <a:t>it </a:t>
            </a:r>
            <a:r>
              <a:rPr sz="1600" spc="-15" dirty="0">
                <a:latin typeface="Times New Roman"/>
                <a:cs typeface="Times New Roman"/>
              </a:rPr>
              <a:t>uses </a:t>
            </a:r>
            <a:r>
              <a:rPr sz="1600" spc="-5" dirty="0">
                <a:latin typeface="Times New Roman"/>
                <a:cs typeface="Times New Roman"/>
              </a:rPr>
              <a:t>effort  </a:t>
            </a:r>
            <a:r>
              <a:rPr sz="1600" dirty="0">
                <a:latin typeface="Times New Roman"/>
                <a:cs typeface="Times New Roman"/>
              </a:rPr>
              <a:t>multipliers </a:t>
            </a:r>
            <a:r>
              <a:rPr sz="1600" spc="-15" dirty="0">
                <a:latin typeface="Times New Roman"/>
                <a:cs typeface="Times New Roman"/>
              </a:rPr>
              <a:t>for </a:t>
            </a:r>
            <a:r>
              <a:rPr sz="1600" spc="10" dirty="0">
                <a:latin typeface="Times New Roman"/>
                <a:cs typeface="Times New Roman"/>
              </a:rPr>
              <a:t>each </a:t>
            </a:r>
            <a:r>
              <a:rPr sz="1600" spc="-10" dirty="0">
                <a:latin typeface="Times New Roman"/>
                <a:cs typeface="Times New Roman"/>
              </a:rPr>
              <a:t>phase </a:t>
            </a:r>
            <a:r>
              <a:rPr sz="1600" spc="20" dirty="0">
                <a:latin typeface="Times New Roman"/>
                <a:cs typeface="Times New Roman"/>
              </a:rPr>
              <a:t>of </a:t>
            </a:r>
            <a:r>
              <a:rPr sz="1600" spc="-5" dirty="0">
                <a:latin typeface="Times New Roman"/>
                <a:cs typeface="Times New Roman"/>
              </a:rPr>
              <a:t>the </a:t>
            </a:r>
            <a:r>
              <a:rPr sz="1600" dirty="0">
                <a:latin typeface="Times New Roman"/>
                <a:cs typeface="Times New Roman"/>
              </a:rPr>
              <a:t>project. </a:t>
            </a:r>
            <a:r>
              <a:rPr sz="1600" spc="-15" dirty="0">
                <a:latin typeface="Times New Roman"/>
                <a:cs typeface="Times New Roman"/>
              </a:rPr>
              <a:t>These </a:t>
            </a:r>
            <a:r>
              <a:rPr sz="1600" dirty="0">
                <a:latin typeface="Times New Roman"/>
                <a:cs typeface="Times New Roman"/>
              </a:rPr>
              <a:t>phase dependent </a:t>
            </a:r>
            <a:r>
              <a:rPr sz="1600" spc="-5" dirty="0">
                <a:latin typeface="Times New Roman"/>
                <a:cs typeface="Times New Roman"/>
              </a:rPr>
              <a:t>effort multipliers </a:t>
            </a:r>
            <a:r>
              <a:rPr sz="1600" spc="-15" dirty="0">
                <a:latin typeface="Times New Roman"/>
                <a:cs typeface="Times New Roman"/>
              </a:rPr>
              <a:t>yield </a:t>
            </a:r>
            <a:r>
              <a:rPr sz="1600" dirty="0">
                <a:latin typeface="Times New Roman"/>
                <a:cs typeface="Times New Roman"/>
              </a:rPr>
              <a:t>better  </a:t>
            </a:r>
            <a:r>
              <a:rPr sz="1600" spc="-5" dirty="0">
                <a:latin typeface="Times New Roman"/>
                <a:cs typeface="Times New Roman"/>
              </a:rPr>
              <a:t>estimates because the </a:t>
            </a:r>
            <a:r>
              <a:rPr sz="1600" spc="-15" dirty="0">
                <a:latin typeface="Times New Roman"/>
                <a:cs typeface="Times New Roman"/>
              </a:rPr>
              <a:t>cost </a:t>
            </a:r>
            <a:r>
              <a:rPr sz="1600" dirty="0">
                <a:latin typeface="Times New Roman"/>
                <a:cs typeface="Times New Roman"/>
              </a:rPr>
              <a:t>driver ratings </a:t>
            </a:r>
            <a:r>
              <a:rPr sz="1600" spc="-5" dirty="0">
                <a:latin typeface="Times New Roman"/>
                <a:cs typeface="Times New Roman"/>
              </a:rPr>
              <a:t>may </a:t>
            </a:r>
            <a:r>
              <a:rPr sz="1600" dirty="0">
                <a:latin typeface="Times New Roman"/>
                <a:cs typeface="Times New Roman"/>
              </a:rPr>
              <a:t>be </a:t>
            </a:r>
            <a:r>
              <a:rPr sz="1600" spc="-5" dirty="0">
                <a:latin typeface="Times New Roman"/>
                <a:cs typeface="Times New Roman"/>
              </a:rPr>
              <a:t>different </a:t>
            </a:r>
            <a:r>
              <a:rPr sz="1600" dirty="0">
                <a:latin typeface="Times New Roman"/>
                <a:cs typeface="Times New Roman"/>
              </a:rPr>
              <a:t>during each</a:t>
            </a:r>
            <a:r>
              <a:rPr sz="1600" spc="-90" dirty="0">
                <a:latin typeface="Times New Roman"/>
                <a:cs typeface="Times New Roman"/>
              </a:rPr>
              <a:t> </a:t>
            </a:r>
            <a:r>
              <a:rPr sz="1600" spc="-5" dirty="0">
                <a:latin typeface="Times New Roman"/>
                <a:cs typeface="Times New Roman"/>
              </a:rPr>
              <a:t>phase.</a:t>
            </a:r>
            <a:endParaRPr sz="1600">
              <a:latin typeface="Times New Roman"/>
              <a:cs typeface="Times New Roman"/>
            </a:endParaRPr>
          </a:p>
          <a:p>
            <a:pPr>
              <a:lnSpc>
                <a:spcPct val="100000"/>
              </a:lnSpc>
            </a:pPr>
            <a:endParaRPr sz="1700">
              <a:latin typeface="Times New Roman"/>
              <a:cs typeface="Times New Roman"/>
            </a:endParaRPr>
          </a:p>
          <a:p>
            <a:pPr marL="12700" marR="1128395">
              <a:lnSpc>
                <a:spcPts val="1850"/>
              </a:lnSpc>
              <a:spcBef>
                <a:spcPts val="1150"/>
              </a:spcBef>
            </a:pPr>
            <a:r>
              <a:rPr sz="1600" spc="5" dirty="0">
                <a:latin typeface="Times New Roman"/>
                <a:cs typeface="Times New Roman"/>
              </a:rPr>
              <a:t>In </a:t>
            </a:r>
            <a:r>
              <a:rPr sz="1600" spc="-15" dirty="0">
                <a:latin typeface="Times New Roman"/>
                <a:cs typeface="Times New Roman"/>
              </a:rPr>
              <a:t>Advanced </a:t>
            </a:r>
            <a:r>
              <a:rPr sz="1600" spc="-5" dirty="0">
                <a:latin typeface="Times New Roman"/>
                <a:cs typeface="Times New Roman"/>
              </a:rPr>
              <a:t>COCOMO </a:t>
            </a:r>
            <a:r>
              <a:rPr sz="1600" dirty="0">
                <a:latin typeface="Times New Roman"/>
                <a:cs typeface="Times New Roman"/>
              </a:rPr>
              <a:t>Model </a:t>
            </a:r>
            <a:r>
              <a:rPr sz="1600" spc="-20" dirty="0">
                <a:latin typeface="Times New Roman"/>
                <a:cs typeface="Times New Roman"/>
              </a:rPr>
              <a:t>the </a:t>
            </a:r>
            <a:r>
              <a:rPr sz="1600" spc="-15" dirty="0">
                <a:latin typeface="Times New Roman"/>
                <a:cs typeface="Times New Roman"/>
              </a:rPr>
              <a:t>cost </a:t>
            </a:r>
            <a:r>
              <a:rPr sz="1600" spc="25" dirty="0">
                <a:latin typeface="Times New Roman"/>
                <a:cs typeface="Times New Roman"/>
              </a:rPr>
              <a:t>of </a:t>
            </a:r>
            <a:r>
              <a:rPr sz="1600" dirty="0">
                <a:latin typeface="Times New Roman"/>
                <a:cs typeface="Times New Roman"/>
              </a:rPr>
              <a:t>each subsystem </a:t>
            </a:r>
            <a:r>
              <a:rPr sz="1600" spc="25" dirty="0">
                <a:latin typeface="Times New Roman"/>
                <a:cs typeface="Times New Roman"/>
              </a:rPr>
              <a:t>is </a:t>
            </a:r>
            <a:r>
              <a:rPr sz="1600" spc="-5" dirty="0">
                <a:latin typeface="Times New Roman"/>
                <a:cs typeface="Times New Roman"/>
              </a:rPr>
              <a:t>estimated </a:t>
            </a:r>
            <a:r>
              <a:rPr sz="1600" spc="-15" dirty="0">
                <a:latin typeface="Times New Roman"/>
                <a:cs typeface="Times New Roman"/>
              </a:rPr>
              <a:t>separately. </a:t>
            </a:r>
            <a:r>
              <a:rPr sz="1600" dirty="0">
                <a:latin typeface="Times New Roman"/>
                <a:cs typeface="Times New Roman"/>
              </a:rPr>
              <a:t>This  </a:t>
            </a:r>
            <a:r>
              <a:rPr sz="1600" spc="-5" dirty="0">
                <a:latin typeface="Times New Roman"/>
                <a:cs typeface="Times New Roman"/>
              </a:rPr>
              <a:t>approach </a:t>
            </a:r>
            <a:r>
              <a:rPr sz="1550" spc="-5" dirty="0">
                <a:latin typeface="Times New Roman"/>
                <a:cs typeface="Times New Roman"/>
              </a:rPr>
              <a:t>reduces the </a:t>
            </a:r>
            <a:r>
              <a:rPr sz="1550" spc="-10" dirty="0">
                <a:latin typeface="Times New Roman"/>
                <a:cs typeface="Times New Roman"/>
              </a:rPr>
              <a:t>margin </a:t>
            </a:r>
            <a:r>
              <a:rPr sz="1550" spc="10" dirty="0">
                <a:latin typeface="Times New Roman"/>
                <a:cs typeface="Times New Roman"/>
              </a:rPr>
              <a:t>of </a:t>
            </a:r>
            <a:r>
              <a:rPr sz="1550" spc="-5" dirty="0">
                <a:latin typeface="Times New Roman"/>
                <a:cs typeface="Times New Roman"/>
              </a:rPr>
              <a:t>error </a:t>
            </a:r>
            <a:r>
              <a:rPr sz="1550" spc="5" dirty="0">
                <a:latin typeface="Times New Roman"/>
                <a:cs typeface="Times New Roman"/>
              </a:rPr>
              <a:t>in </a:t>
            </a:r>
            <a:r>
              <a:rPr sz="1550" spc="-5" dirty="0">
                <a:latin typeface="Times New Roman"/>
                <a:cs typeface="Times New Roman"/>
              </a:rPr>
              <a:t>the </a:t>
            </a:r>
            <a:r>
              <a:rPr sz="1550" spc="-10" dirty="0">
                <a:latin typeface="Times New Roman"/>
                <a:cs typeface="Times New Roman"/>
              </a:rPr>
              <a:t>final</a:t>
            </a:r>
            <a:r>
              <a:rPr sz="1550" spc="25" dirty="0">
                <a:latin typeface="Times New Roman"/>
                <a:cs typeface="Times New Roman"/>
              </a:rPr>
              <a:t> </a:t>
            </a:r>
            <a:r>
              <a:rPr sz="1550" spc="-10" dirty="0">
                <a:latin typeface="Times New Roman"/>
                <a:cs typeface="Times New Roman"/>
              </a:rPr>
              <a:t>estimate.</a:t>
            </a:r>
            <a:endParaRPr sz="1550">
              <a:latin typeface="Times New Roman"/>
              <a:cs typeface="Times New Roman"/>
            </a:endParaRPr>
          </a:p>
          <a:p>
            <a:pPr>
              <a:lnSpc>
                <a:spcPct val="100000"/>
              </a:lnSpc>
              <a:spcBef>
                <a:spcPts val="15"/>
              </a:spcBef>
            </a:pPr>
            <a:endParaRPr sz="1850">
              <a:latin typeface="Times New Roman"/>
              <a:cs typeface="Times New Roman"/>
            </a:endParaRPr>
          </a:p>
          <a:p>
            <a:pPr marL="12700" marR="718185">
              <a:lnSpc>
                <a:spcPts val="1800"/>
              </a:lnSpc>
              <a:spcBef>
                <a:spcPts val="5"/>
              </a:spcBef>
            </a:pPr>
            <a:r>
              <a:rPr sz="1600" b="1" spc="-5" dirty="0">
                <a:latin typeface="Times New Roman"/>
                <a:cs typeface="Times New Roman"/>
              </a:rPr>
              <a:t>Example: </a:t>
            </a:r>
            <a:r>
              <a:rPr sz="1600" dirty="0">
                <a:latin typeface="Times New Roman"/>
                <a:cs typeface="Times New Roman"/>
              </a:rPr>
              <a:t>A </a:t>
            </a:r>
            <a:r>
              <a:rPr sz="1600" spc="-5" dirty="0">
                <a:latin typeface="Times New Roman"/>
                <a:cs typeface="Times New Roman"/>
              </a:rPr>
              <a:t>distributed Management Information </a:t>
            </a:r>
            <a:r>
              <a:rPr sz="1600" spc="10" dirty="0">
                <a:latin typeface="Times New Roman"/>
                <a:cs typeface="Times New Roman"/>
              </a:rPr>
              <a:t>System </a:t>
            </a:r>
            <a:r>
              <a:rPr sz="1600" dirty="0">
                <a:latin typeface="Times New Roman"/>
                <a:cs typeface="Times New Roman"/>
              </a:rPr>
              <a:t>(MIS) </a:t>
            </a:r>
            <a:r>
              <a:rPr sz="1600" spc="-10" dirty="0">
                <a:latin typeface="Times New Roman"/>
                <a:cs typeface="Times New Roman"/>
              </a:rPr>
              <a:t>product </a:t>
            </a:r>
            <a:r>
              <a:rPr sz="1600" spc="-15" dirty="0">
                <a:latin typeface="Times New Roman"/>
                <a:cs typeface="Times New Roman"/>
              </a:rPr>
              <a:t>for </a:t>
            </a:r>
            <a:r>
              <a:rPr sz="1600" spc="15" dirty="0">
                <a:latin typeface="Times New Roman"/>
                <a:cs typeface="Times New Roman"/>
              </a:rPr>
              <a:t>an </a:t>
            </a:r>
            <a:r>
              <a:rPr sz="1600" spc="-5" dirty="0">
                <a:latin typeface="Times New Roman"/>
                <a:cs typeface="Times New Roman"/>
              </a:rPr>
              <a:t>organization  having </a:t>
            </a:r>
            <a:r>
              <a:rPr sz="1600" spc="5" dirty="0">
                <a:latin typeface="Times New Roman"/>
                <a:cs typeface="Times New Roman"/>
              </a:rPr>
              <a:t>offices </a:t>
            </a:r>
            <a:r>
              <a:rPr sz="1600" spc="-10" dirty="0">
                <a:latin typeface="Times New Roman"/>
                <a:cs typeface="Times New Roman"/>
              </a:rPr>
              <a:t>at several </a:t>
            </a:r>
            <a:r>
              <a:rPr sz="1600" dirty="0">
                <a:latin typeface="Times New Roman"/>
                <a:cs typeface="Times New Roman"/>
              </a:rPr>
              <a:t>places across </a:t>
            </a:r>
            <a:r>
              <a:rPr sz="1600" spc="-5" dirty="0">
                <a:latin typeface="Times New Roman"/>
                <a:cs typeface="Times New Roman"/>
              </a:rPr>
              <a:t>the </a:t>
            </a:r>
            <a:r>
              <a:rPr sz="1600" spc="5" dirty="0">
                <a:latin typeface="Times New Roman"/>
                <a:cs typeface="Times New Roman"/>
              </a:rPr>
              <a:t>country can </a:t>
            </a:r>
            <a:r>
              <a:rPr sz="1600" spc="-20" dirty="0">
                <a:latin typeface="Times New Roman"/>
                <a:cs typeface="Times New Roman"/>
              </a:rPr>
              <a:t>have </a:t>
            </a:r>
            <a:r>
              <a:rPr sz="1600" spc="15" dirty="0">
                <a:latin typeface="Times New Roman"/>
                <a:cs typeface="Times New Roman"/>
              </a:rPr>
              <a:t>the </a:t>
            </a:r>
            <a:r>
              <a:rPr sz="1600" dirty="0">
                <a:latin typeface="Times New Roman"/>
                <a:cs typeface="Times New Roman"/>
              </a:rPr>
              <a:t>following</a:t>
            </a:r>
            <a:r>
              <a:rPr sz="1600" spc="-120" dirty="0">
                <a:latin typeface="Times New Roman"/>
                <a:cs typeface="Times New Roman"/>
              </a:rPr>
              <a:t> </a:t>
            </a:r>
            <a:r>
              <a:rPr sz="1600" b="1" dirty="0">
                <a:latin typeface="Times New Roman"/>
                <a:cs typeface="Times New Roman"/>
              </a:rPr>
              <a:t>sub-components:</a:t>
            </a:r>
            <a:endParaRPr sz="1600">
              <a:latin typeface="Times New Roman"/>
              <a:cs typeface="Times New Roman"/>
            </a:endParaRPr>
          </a:p>
          <a:p>
            <a:pPr marL="533400" indent="-241300">
              <a:lnSpc>
                <a:spcPct val="100000"/>
              </a:lnSpc>
              <a:spcBef>
                <a:spcPts val="940"/>
              </a:spcBef>
              <a:buClr>
                <a:srgbClr val="D1282D"/>
              </a:buClr>
              <a:buFont typeface="Courier New"/>
              <a:buChar char="o"/>
              <a:tabLst>
                <a:tab pos="534035" algn="l"/>
              </a:tabLst>
            </a:pPr>
            <a:r>
              <a:rPr sz="1600" b="1" spc="-5" dirty="0">
                <a:latin typeface="Times New Roman"/>
                <a:cs typeface="Times New Roman"/>
              </a:rPr>
              <a:t>Database</a:t>
            </a:r>
            <a:r>
              <a:rPr sz="1600" b="1" spc="-20" dirty="0">
                <a:latin typeface="Times New Roman"/>
                <a:cs typeface="Times New Roman"/>
              </a:rPr>
              <a:t> </a:t>
            </a:r>
            <a:r>
              <a:rPr sz="1600" b="1" spc="-5" dirty="0">
                <a:latin typeface="Times New Roman"/>
                <a:cs typeface="Times New Roman"/>
              </a:rPr>
              <a:t>part</a:t>
            </a:r>
            <a:endParaRPr sz="1600">
              <a:latin typeface="Times New Roman"/>
              <a:cs typeface="Times New Roman"/>
            </a:endParaRPr>
          </a:p>
          <a:p>
            <a:pPr marL="533400" indent="-241300">
              <a:lnSpc>
                <a:spcPct val="100000"/>
              </a:lnSpc>
              <a:spcBef>
                <a:spcPts val="385"/>
              </a:spcBef>
              <a:buClr>
                <a:srgbClr val="D1282D"/>
              </a:buClr>
              <a:buFont typeface="Courier New"/>
              <a:buChar char="o"/>
              <a:tabLst>
                <a:tab pos="534035" algn="l"/>
              </a:tabLst>
            </a:pPr>
            <a:r>
              <a:rPr sz="1600" b="1" dirty="0">
                <a:latin typeface="Times New Roman"/>
                <a:cs typeface="Times New Roman"/>
              </a:rPr>
              <a:t>Graphical </a:t>
            </a:r>
            <a:r>
              <a:rPr sz="1600" b="1" spc="-15" dirty="0">
                <a:latin typeface="Times New Roman"/>
                <a:cs typeface="Times New Roman"/>
              </a:rPr>
              <a:t>User </a:t>
            </a:r>
            <a:r>
              <a:rPr sz="1600" b="1" spc="-5" dirty="0">
                <a:latin typeface="Times New Roman"/>
                <a:cs typeface="Times New Roman"/>
              </a:rPr>
              <a:t>Interface </a:t>
            </a:r>
            <a:r>
              <a:rPr sz="1600" b="1" spc="-10" dirty="0">
                <a:latin typeface="Times New Roman"/>
                <a:cs typeface="Times New Roman"/>
              </a:rPr>
              <a:t>(GUI)</a:t>
            </a:r>
            <a:r>
              <a:rPr sz="1600" b="1" spc="50" dirty="0">
                <a:latin typeface="Times New Roman"/>
                <a:cs typeface="Times New Roman"/>
              </a:rPr>
              <a:t> </a:t>
            </a:r>
            <a:r>
              <a:rPr sz="1600" b="1" spc="-5" dirty="0">
                <a:latin typeface="Times New Roman"/>
                <a:cs typeface="Times New Roman"/>
              </a:rPr>
              <a:t>part</a:t>
            </a:r>
            <a:endParaRPr sz="1600">
              <a:latin typeface="Times New Roman"/>
              <a:cs typeface="Times New Roman"/>
            </a:endParaRPr>
          </a:p>
          <a:p>
            <a:pPr marL="533400" indent="-241300">
              <a:lnSpc>
                <a:spcPct val="100000"/>
              </a:lnSpc>
              <a:spcBef>
                <a:spcPts val="380"/>
              </a:spcBef>
              <a:buClr>
                <a:srgbClr val="D1282D"/>
              </a:buClr>
              <a:buFont typeface="Courier New"/>
              <a:buChar char="o"/>
              <a:tabLst>
                <a:tab pos="534035" algn="l"/>
              </a:tabLst>
            </a:pPr>
            <a:r>
              <a:rPr sz="1600" b="1" dirty="0">
                <a:latin typeface="Times New Roman"/>
                <a:cs typeface="Times New Roman"/>
              </a:rPr>
              <a:t>Communication</a:t>
            </a:r>
            <a:r>
              <a:rPr sz="1600" b="1" spc="170" dirty="0">
                <a:latin typeface="Times New Roman"/>
                <a:cs typeface="Times New Roman"/>
              </a:rPr>
              <a:t> </a:t>
            </a:r>
            <a:r>
              <a:rPr sz="1600" spc="-5" dirty="0">
                <a:latin typeface="Times New Roman"/>
                <a:cs typeface="Times New Roman"/>
              </a:rPr>
              <a:t>part</a:t>
            </a:r>
            <a:endParaRPr sz="1600">
              <a:latin typeface="Times New Roman"/>
              <a:cs typeface="Times New Roman"/>
            </a:endParaRPr>
          </a:p>
          <a:p>
            <a:pPr marL="12700" marR="5080">
              <a:lnSpc>
                <a:spcPct val="147300"/>
              </a:lnSpc>
              <a:spcBef>
                <a:spcPts val="225"/>
              </a:spcBef>
            </a:pPr>
            <a:r>
              <a:rPr sz="1600" spc="-5" dirty="0">
                <a:latin typeface="Times New Roman"/>
                <a:cs typeface="Times New Roman"/>
              </a:rPr>
              <a:t>Of these, </a:t>
            </a:r>
            <a:r>
              <a:rPr sz="1600" dirty="0">
                <a:latin typeface="Times New Roman"/>
                <a:cs typeface="Times New Roman"/>
              </a:rPr>
              <a:t>the </a:t>
            </a:r>
            <a:r>
              <a:rPr sz="1600" u="sng" dirty="0">
                <a:uFill>
                  <a:solidFill>
                    <a:srgbClr val="000000"/>
                  </a:solidFill>
                </a:uFill>
                <a:latin typeface="Times New Roman"/>
                <a:cs typeface="Times New Roman"/>
              </a:rPr>
              <a:t>communication </a:t>
            </a:r>
            <a:r>
              <a:rPr sz="1600" u="sng" spc="-5" dirty="0">
                <a:uFill>
                  <a:solidFill>
                    <a:srgbClr val="000000"/>
                  </a:solidFill>
                </a:uFill>
                <a:latin typeface="Times New Roman"/>
                <a:cs typeface="Times New Roman"/>
              </a:rPr>
              <a:t>part</a:t>
            </a:r>
            <a:r>
              <a:rPr sz="1600" spc="-5" dirty="0">
                <a:latin typeface="Times New Roman"/>
                <a:cs typeface="Times New Roman"/>
              </a:rPr>
              <a:t> </a:t>
            </a:r>
            <a:r>
              <a:rPr sz="1600" spc="5" dirty="0">
                <a:latin typeface="Times New Roman"/>
                <a:cs typeface="Times New Roman"/>
              </a:rPr>
              <a:t>can </a:t>
            </a:r>
            <a:r>
              <a:rPr sz="1600" dirty="0">
                <a:latin typeface="Times New Roman"/>
                <a:cs typeface="Times New Roman"/>
              </a:rPr>
              <a:t>be considered </a:t>
            </a:r>
            <a:r>
              <a:rPr sz="1600" spc="15" dirty="0">
                <a:latin typeface="Times New Roman"/>
                <a:cs typeface="Times New Roman"/>
              </a:rPr>
              <a:t>as </a:t>
            </a:r>
            <a:r>
              <a:rPr sz="1600" b="1" spc="-5" dirty="0">
                <a:latin typeface="Times New Roman"/>
                <a:cs typeface="Times New Roman"/>
              </a:rPr>
              <a:t>Embedded </a:t>
            </a:r>
            <a:r>
              <a:rPr sz="1600" b="1" dirty="0">
                <a:latin typeface="Times New Roman"/>
                <a:cs typeface="Times New Roman"/>
              </a:rPr>
              <a:t>software</a:t>
            </a:r>
            <a:r>
              <a:rPr sz="1600" dirty="0">
                <a:latin typeface="Times New Roman"/>
                <a:cs typeface="Times New Roman"/>
              </a:rPr>
              <a:t>. </a:t>
            </a:r>
            <a:r>
              <a:rPr sz="1600" spc="-30" dirty="0">
                <a:latin typeface="Times New Roman"/>
                <a:cs typeface="Times New Roman"/>
              </a:rPr>
              <a:t>The </a:t>
            </a:r>
            <a:r>
              <a:rPr sz="1600" u="sng" spc="-5" dirty="0">
                <a:uFill>
                  <a:solidFill>
                    <a:srgbClr val="000000"/>
                  </a:solidFill>
                </a:uFill>
                <a:latin typeface="Times New Roman"/>
                <a:cs typeface="Times New Roman"/>
              </a:rPr>
              <a:t>database</a:t>
            </a:r>
            <a:r>
              <a:rPr sz="1600" spc="-5" dirty="0">
                <a:latin typeface="Times New Roman"/>
                <a:cs typeface="Times New Roman"/>
              </a:rPr>
              <a:t> </a:t>
            </a:r>
            <a:r>
              <a:rPr sz="1600" spc="10" dirty="0">
                <a:latin typeface="Times New Roman"/>
                <a:cs typeface="Times New Roman"/>
              </a:rPr>
              <a:t>part </a:t>
            </a:r>
            <a:r>
              <a:rPr sz="1600" spc="-15" dirty="0">
                <a:latin typeface="Times New Roman"/>
                <a:cs typeface="Times New Roman"/>
              </a:rPr>
              <a:t>could  </a:t>
            </a:r>
            <a:r>
              <a:rPr sz="1600" dirty="0">
                <a:latin typeface="Times New Roman"/>
                <a:cs typeface="Times New Roman"/>
              </a:rPr>
              <a:t>be </a:t>
            </a:r>
            <a:r>
              <a:rPr sz="1600" b="1" dirty="0">
                <a:latin typeface="Times New Roman"/>
                <a:cs typeface="Times New Roman"/>
              </a:rPr>
              <a:t>Semi-detached </a:t>
            </a:r>
            <a:r>
              <a:rPr sz="1600" b="1" spc="-5" dirty="0">
                <a:latin typeface="Times New Roman"/>
                <a:cs typeface="Times New Roman"/>
              </a:rPr>
              <a:t>software</a:t>
            </a:r>
            <a:r>
              <a:rPr sz="1600" spc="-5" dirty="0">
                <a:latin typeface="Times New Roman"/>
                <a:cs typeface="Times New Roman"/>
              </a:rPr>
              <a:t>, </a:t>
            </a:r>
            <a:r>
              <a:rPr sz="1600" spc="-25" dirty="0">
                <a:latin typeface="Times New Roman"/>
                <a:cs typeface="Times New Roman"/>
              </a:rPr>
              <a:t>and </a:t>
            </a:r>
            <a:r>
              <a:rPr sz="1600" dirty="0">
                <a:latin typeface="Times New Roman"/>
                <a:cs typeface="Times New Roman"/>
              </a:rPr>
              <a:t>the </a:t>
            </a:r>
            <a:r>
              <a:rPr sz="1600" u="sng" spc="-10" dirty="0">
                <a:uFill>
                  <a:solidFill>
                    <a:srgbClr val="000000"/>
                  </a:solidFill>
                </a:uFill>
                <a:latin typeface="Times New Roman"/>
                <a:cs typeface="Times New Roman"/>
              </a:rPr>
              <a:t>GUI</a:t>
            </a:r>
            <a:r>
              <a:rPr sz="1600" spc="-10" dirty="0">
                <a:latin typeface="Times New Roman"/>
                <a:cs typeface="Times New Roman"/>
              </a:rPr>
              <a:t> </a:t>
            </a:r>
            <a:r>
              <a:rPr sz="1600" spc="-5" dirty="0">
                <a:latin typeface="Times New Roman"/>
                <a:cs typeface="Times New Roman"/>
              </a:rPr>
              <a:t>part </a:t>
            </a:r>
            <a:r>
              <a:rPr sz="1600" b="1" spc="-5" dirty="0">
                <a:latin typeface="Times New Roman"/>
                <a:cs typeface="Times New Roman"/>
              </a:rPr>
              <a:t>Organic </a:t>
            </a:r>
            <a:r>
              <a:rPr sz="1600" b="1" dirty="0">
                <a:latin typeface="Times New Roman"/>
                <a:cs typeface="Times New Roman"/>
              </a:rPr>
              <a:t>software</a:t>
            </a:r>
            <a:r>
              <a:rPr sz="1600" dirty="0">
                <a:latin typeface="Times New Roman"/>
                <a:cs typeface="Times New Roman"/>
              </a:rPr>
              <a:t>. </a:t>
            </a:r>
            <a:r>
              <a:rPr sz="1600" spc="-30" dirty="0">
                <a:latin typeface="Times New Roman"/>
                <a:cs typeface="Times New Roman"/>
              </a:rPr>
              <a:t>The </a:t>
            </a:r>
            <a:r>
              <a:rPr sz="1600" spc="10" dirty="0">
                <a:latin typeface="Times New Roman"/>
                <a:cs typeface="Times New Roman"/>
              </a:rPr>
              <a:t>costs </a:t>
            </a:r>
            <a:r>
              <a:rPr sz="1600" dirty="0">
                <a:latin typeface="Times New Roman"/>
                <a:cs typeface="Times New Roman"/>
              </a:rPr>
              <a:t>for </a:t>
            </a:r>
            <a:r>
              <a:rPr sz="1600" spc="-20" dirty="0">
                <a:latin typeface="Times New Roman"/>
                <a:cs typeface="Times New Roman"/>
              </a:rPr>
              <a:t>these </a:t>
            </a:r>
            <a:r>
              <a:rPr sz="1600" spc="-5" dirty="0">
                <a:latin typeface="Times New Roman"/>
                <a:cs typeface="Times New Roman"/>
              </a:rPr>
              <a:t>three  components </a:t>
            </a:r>
            <a:r>
              <a:rPr sz="1600" spc="5" dirty="0">
                <a:latin typeface="Times New Roman"/>
                <a:cs typeface="Times New Roman"/>
              </a:rPr>
              <a:t>can </a:t>
            </a:r>
            <a:r>
              <a:rPr sz="1600" dirty="0">
                <a:latin typeface="Times New Roman"/>
                <a:cs typeface="Times New Roman"/>
              </a:rPr>
              <a:t>be </a:t>
            </a:r>
            <a:r>
              <a:rPr sz="1600" spc="-5" dirty="0">
                <a:latin typeface="Times New Roman"/>
                <a:cs typeface="Times New Roman"/>
              </a:rPr>
              <a:t>estimated </a:t>
            </a:r>
            <a:r>
              <a:rPr sz="1600" spc="-10" dirty="0">
                <a:latin typeface="Times New Roman"/>
                <a:cs typeface="Times New Roman"/>
              </a:rPr>
              <a:t>separately, and </a:t>
            </a:r>
            <a:r>
              <a:rPr sz="1600" spc="-15" dirty="0">
                <a:latin typeface="Times New Roman"/>
                <a:cs typeface="Times New Roman"/>
              </a:rPr>
              <a:t>summed </a:t>
            </a:r>
            <a:r>
              <a:rPr sz="1600" spc="-30" dirty="0">
                <a:latin typeface="Times New Roman"/>
                <a:cs typeface="Times New Roman"/>
              </a:rPr>
              <a:t>up </a:t>
            </a:r>
            <a:r>
              <a:rPr sz="1600" dirty="0">
                <a:latin typeface="Times New Roman"/>
                <a:cs typeface="Times New Roman"/>
              </a:rPr>
              <a:t>to </a:t>
            </a:r>
            <a:r>
              <a:rPr sz="1600" spc="-15" dirty="0">
                <a:latin typeface="Times New Roman"/>
                <a:cs typeface="Times New Roman"/>
              </a:rPr>
              <a:t>give </a:t>
            </a:r>
            <a:r>
              <a:rPr sz="1600" spc="-5" dirty="0">
                <a:latin typeface="Times New Roman"/>
                <a:cs typeface="Times New Roman"/>
              </a:rPr>
              <a:t>the </a:t>
            </a:r>
            <a:r>
              <a:rPr sz="1600" dirty="0">
                <a:latin typeface="Times New Roman"/>
                <a:cs typeface="Times New Roman"/>
              </a:rPr>
              <a:t>overall cost of the</a:t>
            </a:r>
            <a:r>
              <a:rPr sz="1600" spc="254" dirty="0">
                <a:latin typeface="Times New Roman"/>
                <a:cs typeface="Times New Roman"/>
              </a:rPr>
              <a:t> </a:t>
            </a:r>
            <a:r>
              <a:rPr sz="1600" spc="-10" dirty="0">
                <a:latin typeface="Times New Roman"/>
                <a:cs typeface="Times New Roman"/>
              </a:rPr>
              <a:t>system.</a:t>
            </a:r>
            <a:endParaRPr sz="1600">
              <a:latin typeface="Times New Roman"/>
              <a:cs typeface="Times New Roma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TotalTime>
  <Words>1514</Words>
  <Application>Microsoft Office PowerPoint</Application>
  <PresentationFormat>On-screen Show (4:3)</PresentationFormat>
  <Paragraphs>186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 Black</vt:lpstr>
      <vt:lpstr>Calibri</vt:lpstr>
      <vt:lpstr>Courier New</vt:lpstr>
      <vt:lpstr>Helvetica</vt:lpstr>
      <vt:lpstr>Times New Roman</vt:lpstr>
      <vt:lpstr>TimesNewRomanPS</vt:lpstr>
      <vt:lpstr>Verdana</vt:lpstr>
      <vt:lpstr>Office Theme</vt:lpstr>
      <vt:lpstr>Software Engineering COCOMO</vt:lpstr>
      <vt:lpstr>The function point approach</vt:lpstr>
      <vt:lpstr>Step 1: Estimate System Size</vt:lpstr>
      <vt:lpstr>PowerPoint Presentation</vt:lpstr>
      <vt:lpstr>PowerPoint Presentation</vt:lpstr>
      <vt:lpstr>Adjusted Project Complexity</vt:lpstr>
      <vt:lpstr>Lines of code</vt:lpstr>
      <vt:lpstr>Estimating Staff and Project size</vt:lpstr>
      <vt:lpstr>Boehm introduces three forms of COCOMO. It can be applied in three  classes of software project:</vt:lpstr>
      <vt:lpstr>DEVELOPMENT MODE WITH  PROJECT CHARACTERISTICS:</vt:lpstr>
      <vt:lpstr>PowerPoint Presentation</vt:lpstr>
      <vt:lpstr>PowerPoint Presentation</vt:lpstr>
      <vt:lpstr>FORMS OF COCOMO MODEL</vt:lpstr>
      <vt:lpstr>MERITS AND DEMERITS OF BASIC COCOMO MODEL</vt:lpstr>
      <vt:lpstr>PowerPoint Presentation</vt:lpstr>
      <vt:lpstr>Intermediate COCOMO:</vt:lpstr>
      <vt:lpstr>(2) Hardware Attributes:</vt:lpstr>
      <vt:lpstr>Based on the rating effort multipliers is determined. The product</vt:lpstr>
      <vt:lpstr>The duration and person estimate is same as in basic COCOMO</vt:lpstr>
      <vt:lpstr>PowerPoint Presentation</vt:lpstr>
      <vt:lpstr>DETAILED/ADVANCED COCOMO MODEL: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COCOMO</dc:title>
  <dc:creator>Asus</dc:creator>
  <cp:lastModifiedBy>Muhammad Iqbal Hossain</cp:lastModifiedBy>
  <cp:revision>5</cp:revision>
  <dcterms:created xsi:type="dcterms:W3CDTF">2019-01-19T17:12:45Z</dcterms:created>
  <dcterms:modified xsi:type="dcterms:W3CDTF">2019-07-13T05:50:26Z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2018-09-17T00:00:00Z</vt:filetime>
  </property>
  <property fmtid="{D5CDD505-2E9C-101B-9397-08002B2CF9AE}" pid="3" name="Creator">
    <vt:lpwstr>Microsoft® Word 2013</vt:lpwstr>
  </property>
  <property fmtid="{D5CDD505-2E9C-101B-9397-08002B2CF9AE}" pid="4" name="LastSaved">
    <vt:filetime>2019-01-19T00:00:00Z</vt:filetime>
  </property>
</Properties>
</file>