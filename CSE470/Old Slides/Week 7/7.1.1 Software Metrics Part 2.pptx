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nO3gKCkHRHvcDCxhB0jPX6Gu+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AlfaSlabOne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49a9877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49a9877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49a9877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49a9877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0" y="69232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" sz="6000" u="sng"/>
              <a:t>CSE470:Software Engineering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061025" y="2834125"/>
            <a:ext cx="6241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video lecture series produced by: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A.M.Esfar-E-Alam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Afrina Khatun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Dr.Muhammad Zavid Parvez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Hossain Arif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3359400"/>
            <a:ext cx="2406350" cy="18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7650" y="0"/>
            <a:ext cx="2406350" cy="177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measurement and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Software measurement is concerned with deriving a numeric value for an attribute of a software product or process.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This allows for objective comparisons between techniques and processes.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Although some companies have introduced measurement programmes, most organisations still don’t make systematic use of software measurement.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There are few established standards in this area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metric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311700" y="1152475"/>
            <a:ext cx="852060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Any type of measurement which relates to a software system, process or related documentation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b="1" lang="en" sz="1700">
                <a:solidFill>
                  <a:srgbClr val="404040"/>
                </a:solidFill>
              </a:rPr>
              <a:t>Lines of code in a program</a:t>
            </a:r>
            <a:r>
              <a:rPr lang="en" sz="1700">
                <a:solidFill>
                  <a:srgbClr val="404040"/>
                </a:solidFill>
              </a:rPr>
              <a:t>, the </a:t>
            </a:r>
            <a:r>
              <a:rPr b="1" lang="en" sz="1700">
                <a:solidFill>
                  <a:srgbClr val="404040"/>
                </a:solidFill>
              </a:rPr>
              <a:t>Fog index</a:t>
            </a:r>
            <a:r>
              <a:rPr lang="en" sz="1700">
                <a:solidFill>
                  <a:srgbClr val="404040"/>
                </a:solidFill>
              </a:rPr>
              <a:t>, </a:t>
            </a:r>
            <a:r>
              <a:rPr b="1" lang="en" sz="1700">
                <a:solidFill>
                  <a:srgbClr val="404040"/>
                </a:solidFill>
              </a:rPr>
              <a:t>number of person-days </a:t>
            </a:r>
            <a:r>
              <a:rPr lang="en" sz="1700">
                <a:solidFill>
                  <a:srgbClr val="404040"/>
                </a:solidFill>
              </a:rPr>
              <a:t>required to develop a component.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Allow the software and the software process to be quantified.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May be used to predict product attributes or to control the software process.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Product metrics can be used for general predictions or to identify anomalous components.</a:t>
            </a:r>
            <a:endParaRPr sz="17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240250"/>
            <a:ext cx="85206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Relationships between internal and external software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311700" y="1505700"/>
            <a:ext cx="85206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75" y="1437975"/>
            <a:ext cx="8470924" cy="31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Product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A quality metric should be a predictor of product quality.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Classes of product metric</a:t>
            </a:r>
            <a:endParaRPr sz="2000"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Dynamic metrics </a:t>
            </a:r>
            <a:r>
              <a:rPr lang="en">
                <a:solidFill>
                  <a:srgbClr val="404040"/>
                </a:solidFill>
              </a:rPr>
              <a:t>which are collected by measurements made of a program in execution;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Static metrics </a:t>
            </a:r>
            <a:r>
              <a:rPr lang="en">
                <a:solidFill>
                  <a:srgbClr val="404040"/>
                </a:solidFill>
              </a:rPr>
              <a:t>which are collected by measurements made of the system representations;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Dynamic metrics help assess efficiency and reliability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Static metrics help assess complexity, understandability and maintainability.</a:t>
            </a:r>
            <a:endParaRPr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49a98778b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g2a49a98778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3854"/>
            <a:ext cx="9144000" cy="447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Fan-in/Fan-out, Length of code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Fan-in/Fan-out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1500">
              <a:solidFill>
                <a:srgbClr val="40404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Length of code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This is a measure of the size of a program. Generally, the larger the size of the code of a component, the more complex and error-prone that component is likely to be. Length of code has been shown to be one of the </a:t>
            </a:r>
            <a:r>
              <a:rPr b="1" lang="en" sz="1500">
                <a:solidFill>
                  <a:srgbClr val="404040"/>
                </a:solidFill>
              </a:rPr>
              <a:t>most reliable metrics</a:t>
            </a:r>
            <a:r>
              <a:rPr lang="en" sz="1500">
                <a:solidFill>
                  <a:srgbClr val="404040"/>
                </a:solidFill>
              </a:rPr>
              <a:t> for predicting error-proneness in components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49a98778b_0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200">
                <a:solidFill>
                  <a:srgbClr val="000000"/>
                </a:solidFill>
              </a:rPr>
              <a:t>Fan-in/Fan-out Example</a:t>
            </a:r>
            <a:endParaRPr/>
          </a:p>
        </p:txBody>
      </p:sp>
      <p:sp>
        <p:nvSpPr>
          <p:cNvPr id="102" name="Google Shape;102;g2a49a98778b_0_31"/>
          <p:cNvSpPr txBox="1"/>
          <p:nvPr>
            <p:ph idx="1" type="body"/>
          </p:nvPr>
        </p:nvSpPr>
        <p:spPr>
          <a:xfrm>
            <a:off x="311700" y="1152475"/>
            <a:ext cx="4473000" cy="13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def process_payment(payment_info):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validate_payment(payment_info)        # Fan-out 1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calculate_tax(payment_info)           # Fan-out 2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check_fraud(payment_info)             # Fan-out 3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send_confirmation_email(payment_info) # Fan-out 4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update_transaction_record(payment_info) # Fan-out 5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process_credit(payment_info)          # Fan-out 6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g2a49a98778b_0_31"/>
          <p:cNvSpPr txBox="1"/>
          <p:nvPr>
            <p:ph idx="1" type="body"/>
          </p:nvPr>
        </p:nvSpPr>
        <p:spPr>
          <a:xfrm>
            <a:off x="443825" y="3138950"/>
            <a:ext cx="33867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# Logging Utility Module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def log_error(error_message):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# Logs the error message to a file or monitoring system.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pass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g2a49a98778b_0_31"/>
          <p:cNvSpPr txBox="1"/>
          <p:nvPr/>
        </p:nvSpPr>
        <p:spPr>
          <a:xfrm>
            <a:off x="4229825" y="2645625"/>
            <a:ext cx="4852500" cy="2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process_payment(payment_info):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is_valid(payment_info):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log_error("Invalid payment info")  # Fan-in 1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process_order(order_info):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is_available(order_info):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log_error("Out of stock")  # Fan-in 2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user_login(username, password):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is_authenticated(username, password):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log_error("Failed login attempt")  # Fan-in 3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CYCLOMATIC COMPLEXITY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311700" y="1152475"/>
            <a:ext cx="8520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5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Cyclomatic complexity is a source code complexity measurement that is being correlated to a number of coding errors. 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is calculated by developing a Control Flow Graph of the code that measures the number of linearly-independent paths through a program module.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Lower the Program's cyclomatic complexity, lower the risk to modify and easier to understand. It can be represented using the below formula: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solidFill>
                  <a:srgbClr val="000000"/>
                </a:solidFill>
              </a:rPr>
              <a:t>  </a:t>
            </a:r>
            <a:r>
              <a:rPr b="1" lang="en" sz="1900">
                <a:solidFill>
                  <a:srgbClr val="000000"/>
                </a:solidFill>
              </a:rPr>
              <a:t>M = E − N + 2P</a:t>
            </a:r>
            <a:r>
              <a:rPr lang="en" sz="1900">
                <a:solidFill>
                  <a:srgbClr val="000000"/>
                </a:solidFill>
              </a:rPr>
              <a:t>,where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E </a:t>
            </a:r>
            <a:r>
              <a:rPr lang="en" sz="1500">
                <a:solidFill>
                  <a:srgbClr val="000000"/>
                </a:solidFill>
              </a:rPr>
              <a:t>= the number of edges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N </a:t>
            </a:r>
            <a:r>
              <a:rPr lang="en" sz="1500">
                <a:solidFill>
                  <a:srgbClr val="000000"/>
                </a:solidFill>
              </a:rPr>
              <a:t>= the number of nodes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P </a:t>
            </a:r>
            <a:r>
              <a:rPr lang="en" sz="1500">
                <a:solidFill>
                  <a:srgbClr val="000000"/>
                </a:solidFill>
              </a:rPr>
              <a:t>= the number of connected components.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311700" y="1152475"/>
            <a:ext cx="8520600" cy="3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R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R </a:t>
            </a:r>
            <a:r>
              <a:rPr lang="en" sz="2000">
                <a:solidFill>
                  <a:srgbClr val="000000"/>
                </a:solidFill>
              </a:rPr>
              <a:t>= the number of regions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P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P </a:t>
            </a:r>
            <a:r>
              <a:rPr lang="en" sz="2000">
                <a:solidFill>
                  <a:srgbClr val="000000"/>
                </a:solidFill>
              </a:rPr>
              <a:t>= the number of predicate nodes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two formulas are easy to use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311700" y="168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00000"/>
                </a:solidFill>
              </a:rPr>
              <a:t>SPECIALIZATION INDEX (SIX)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➔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Specialization Index metric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measures the extent to which subclasses override their ancestors classes. This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the ratio between the number of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overridden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methods and total number of methods in a Class, weighted by the depth of inheritance for this class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metric provides a percentage, where the class contains at least one operation. For a root class, the specialization indicator is zero. Nominal range is between 0 % and 120 %.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NMO – Number of Overridden Methods not Overloaded.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650" y="2508675"/>
            <a:ext cx="7805599" cy="1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6650" y="4283025"/>
            <a:ext cx="2905050" cy="6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DIT(D)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DIT(E) = 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075" y="2097550"/>
            <a:ext cx="4238325" cy="24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311700" y="783225"/>
            <a:ext cx="86496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Person{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Student extends Person{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getAverage();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GraduateStudent extends Student{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workStatus();                                             						</a:t>
            </a:r>
            <a:r>
              <a:rPr lang="en" sz="2200">
                <a:solidFill>
                  <a:srgbClr val="404040"/>
                </a:solidFill>
              </a:rPr>
              <a:t>-&gt; 100% [(4/4)*100]</a:t>
            </a:r>
            <a:endParaRPr sz="22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"/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0975" y="2895600"/>
            <a:ext cx="3326125" cy="10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4525" y="527475"/>
            <a:ext cx="4986926" cy="7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 txBox="1"/>
          <p:nvPr/>
        </p:nvSpPr>
        <p:spPr>
          <a:xfrm>
            <a:off x="5263950" y="1794800"/>
            <a:ext cx="28911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 X DIT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NMO+NMA+NMI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41" name="Google Shape;141;p11"/>
          <p:cNvCxnSpPr/>
          <p:nvPr/>
        </p:nvCxnSpPr>
        <p:spPr>
          <a:xfrm>
            <a:off x="5263950" y="2190050"/>
            <a:ext cx="18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1"/>
          <p:cNvSpPr txBox="1"/>
          <p:nvPr/>
        </p:nvSpPr>
        <p:spPr>
          <a:xfrm>
            <a:off x="4704500" y="1951450"/>
            <a:ext cx="73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SIX =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DEFECT REMOVAL EFFICIENCY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</a:t>
            </a:r>
            <a:r>
              <a:rPr b="1" i="1" lang="en" sz="1500">
                <a:solidFill>
                  <a:srgbClr val="404040"/>
                </a:solidFill>
              </a:rPr>
              <a:t>defect </a:t>
            </a:r>
            <a:r>
              <a:rPr i="1" lang="en" sz="1500">
                <a:solidFill>
                  <a:srgbClr val="404040"/>
                </a:solidFill>
              </a:rPr>
              <a:t>is found when the application does not conform to the requirement specification. </a:t>
            </a:r>
            <a:endParaRPr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mistake in coding is called </a:t>
            </a:r>
            <a:r>
              <a:rPr b="1" i="1" lang="en" sz="1500">
                <a:solidFill>
                  <a:srgbClr val="404040"/>
                </a:solidFill>
              </a:rPr>
              <a:t>Error</a:t>
            </a:r>
            <a:endParaRPr b="1"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An average DRE score is usually around 85% across a full testing program.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DRE = E / (E + D) where: </a:t>
            </a:r>
            <a:endParaRPr i="1" sz="15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E </a:t>
            </a:r>
            <a:r>
              <a:rPr lang="en" sz="2000">
                <a:solidFill>
                  <a:srgbClr val="404040"/>
                </a:solidFill>
              </a:rPr>
              <a:t>is the number of errors found before delivery of the software to the end-user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D </a:t>
            </a:r>
            <a:r>
              <a:rPr lang="en" sz="2000">
                <a:solidFill>
                  <a:srgbClr val="404040"/>
                </a:solidFill>
              </a:rPr>
              <a:t>is the number of defects found after delivery. </a:t>
            </a:r>
            <a:endParaRPr sz="20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We found 100 defects during the testing phase and then later, say within 90 days after software release (in production), found five defects, 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  DRE = 100/(100+5) = 95.2%</a:t>
            </a:r>
            <a:endParaRPr sz="15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