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17348200" cy="9753600"/>
  <p:embeddedFontLst>
    <p:embeddedFont>
      <p:font typeface="Nunito SemiBold"/>
      <p:regular r:id="rId23"/>
      <p:bold r:id="rId24"/>
      <p:italic r:id="rId25"/>
      <p:boldItalic r:id="rId26"/>
    </p:embeddedFont>
    <p:embeddedFont>
      <p:font typeface="BenchNine"/>
      <p:regular r:id="rId27"/>
      <p:bold r:id="rId28"/>
    </p:embeddedFont>
    <p:embeddedFont>
      <p:font typeface="Tahoma"/>
      <p:regular r:id="rId29"/>
      <p:bold r:id="rId30"/>
    </p:embeddedFont>
    <p:embeddedFont>
      <p:font typeface="Helvetica Neue"/>
      <p:regular r:id="rId31"/>
      <p:bold r:id="rId32"/>
      <p:italic r:id="rId33"/>
      <p:boldItalic r:id="rId34"/>
    </p:embeddedFont>
    <p:embeddedFont>
      <p:font typeface="Oswald"/>
      <p:regular r:id="rId35"/>
      <p:bold r:id="rId36"/>
    </p:embeddedFont>
    <p:embeddedFont>
      <p:font typeface="Advent Pro Light"/>
      <p:regular r:id="rId37"/>
      <p:bold r:id="rId38"/>
      <p:italic r:id="rId39"/>
      <p:boldItalic r:id="rId40"/>
    </p:embeddedFont>
    <p:embeddedFont>
      <p:font typeface="Advent Pr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icKx8UAyy3oGH/EE2gK+i/cJU3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DDA032-6C51-4F11-9112-2E9E8803CBD6}">
  <a:tblStyle styleId="{10DDA032-6C51-4F11-9112-2E9E8803CBD6}"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dventProLight-boldItalic.fntdata"/><Relationship Id="rId20" Type="http://schemas.openxmlformats.org/officeDocument/2006/relationships/slide" Target="slides/slide15.xml"/><Relationship Id="rId42" Type="http://schemas.openxmlformats.org/officeDocument/2006/relationships/font" Target="fonts/AdventPro-bold.fntdata"/><Relationship Id="rId41" Type="http://schemas.openxmlformats.org/officeDocument/2006/relationships/font" Target="fonts/AdventPro-regular.fntdata"/><Relationship Id="rId22" Type="http://schemas.openxmlformats.org/officeDocument/2006/relationships/slide" Target="slides/slide17.xml"/><Relationship Id="rId44" Type="http://schemas.openxmlformats.org/officeDocument/2006/relationships/font" Target="fonts/AdventPro-boldItalic.fntdata"/><Relationship Id="rId21" Type="http://schemas.openxmlformats.org/officeDocument/2006/relationships/slide" Target="slides/slide16.xml"/><Relationship Id="rId43" Type="http://schemas.openxmlformats.org/officeDocument/2006/relationships/font" Target="fonts/AdventPro-italic.fntdata"/><Relationship Id="rId24" Type="http://schemas.openxmlformats.org/officeDocument/2006/relationships/font" Target="fonts/NunitoSemiBold-bold.fntdata"/><Relationship Id="rId23" Type="http://schemas.openxmlformats.org/officeDocument/2006/relationships/font" Target="fonts/NunitoSemiBold-regular.fntdata"/><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SemiBold-boldItalic.fntdata"/><Relationship Id="rId25" Type="http://schemas.openxmlformats.org/officeDocument/2006/relationships/font" Target="fonts/NunitoSemiBold-italic.fntdata"/><Relationship Id="rId28" Type="http://schemas.openxmlformats.org/officeDocument/2006/relationships/font" Target="fonts/BenchNine-bold.fntdata"/><Relationship Id="rId27" Type="http://schemas.openxmlformats.org/officeDocument/2006/relationships/font" Target="fonts/BenchNin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Tahoma-bold.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Oswald-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AdventProLight-regular.fntdata"/><Relationship Id="rId14" Type="http://schemas.openxmlformats.org/officeDocument/2006/relationships/slide" Target="slides/slide9.xml"/><Relationship Id="rId36" Type="http://schemas.openxmlformats.org/officeDocument/2006/relationships/font" Target="fonts/Oswald-bold.fntdata"/><Relationship Id="rId17" Type="http://schemas.openxmlformats.org/officeDocument/2006/relationships/slide" Target="slides/slide12.xml"/><Relationship Id="rId39" Type="http://schemas.openxmlformats.org/officeDocument/2006/relationships/font" Target="fonts/AdventProLight-italic.fntdata"/><Relationship Id="rId16" Type="http://schemas.openxmlformats.org/officeDocument/2006/relationships/slide" Target="slides/slide11.xml"/><Relationship Id="rId38" Type="http://schemas.openxmlformats.org/officeDocument/2006/relationships/font" Target="fonts/AdventPro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894760" y="731500"/>
            <a:ext cx="115605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734800" y="4632950"/>
            <a:ext cx="13878551"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8: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9: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10: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1" name="Google Shape;881;p1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9" name="Google Shape;889;p1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5" name="Google Shape;895;p1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p1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1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p1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p1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spTree>
      <p:nvGrpSpPr>
        <p:cNvPr id="9" name="Shape 9"/>
        <p:cNvGrpSpPr/>
        <p:nvPr/>
      </p:nvGrpSpPr>
      <p:grpSpPr>
        <a:xfrm>
          <a:off x="0" y="0"/>
          <a:ext cx="0" cy="0"/>
          <a:chOff x="0" y="0"/>
          <a:chExt cx="0" cy="0"/>
        </a:xfrm>
      </p:grpSpPr>
      <p:sp>
        <p:nvSpPr>
          <p:cNvPr id="10" name="Google Shape;10;p19"/>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C39F"/>
              </a:buClr>
              <a:buSzPts val="6000"/>
              <a:buNone/>
              <a:defRPr i="0" sz="6000">
                <a:solidFill>
                  <a:srgbClr val="FFC39F"/>
                </a:solidFill>
              </a:defRPr>
            </a:lvl1pPr>
            <a:lvl2pPr lvl="1" algn="l">
              <a:lnSpc>
                <a:spcPct val="100000"/>
              </a:lnSpc>
              <a:spcBef>
                <a:spcPts val="0"/>
              </a:spcBef>
              <a:spcAft>
                <a:spcPts val="0"/>
              </a:spcAft>
              <a:buClr>
                <a:srgbClr val="FFC39F"/>
              </a:buClr>
              <a:buSzPts val="3300"/>
              <a:buNone/>
              <a:defRPr sz="3300">
                <a:solidFill>
                  <a:srgbClr val="FFC39F"/>
                </a:solidFill>
              </a:defRPr>
            </a:lvl2pPr>
            <a:lvl3pPr lvl="2" algn="l">
              <a:lnSpc>
                <a:spcPct val="100000"/>
              </a:lnSpc>
              <a:spcBef>
                <a:spcPts val="0"/>
              </a:spcBef>
              <a:spcAft>
                <a:spcPts val="0"/>
              </a:spcAft>
              <a:buClr>
                <a:srgbClr val="FFC39F"/>
              </a:buClr>
              <a:buSzPts val="3300"/>
              <a:buNone/>
              <a:defRPr sz="3300">
                <a:solidFill>
                  <a:srgbClr val="FFC39F"/>
                </a:solidFill>
              </a:defRPr>
            </a:lvl3pPr>
            <a:lvl4pPr lvl="3" algn="l">
              <a:lnSpc>
                <a:spcPct val="100000"/>
              </a:lnSpc>
              <a:spcBef>
                <a:spcPts val="0"/>
              </a:spcBef>
              <a:spcAft>
                <a:spcPts val="0"/>
              </a:spcAft>
              <a:buClr>
                <a:srgbClr val="FFC39F"/>
              </a:buClr>
              <a:buSzPts val="3300"/>
              <a:buNone/>
              <a:defRPr sz="3300">
                <a:solidFill>
                  <a:srgbClr val="FFC39F"/>
                </a:solidFill>
              </a:defRPr>
            </a:lvl4pPr>
            <a:lvl5pPr lvl="4" algn="l">
              <a:lnSpc>
                <a:spcPct val="100000"/>
              </a:lnSpc>
              <a:spcBef>
                <a:spcPts val="0"/>
              </a:spcBef>
              <a:spcAft>
                <a:spcPts val="0"/>
              </a:spcAft>
              <a:buClr>
                <a:srgbClr val="FFC39F"/>
              </a:buClr>
              <a:buSzPts val="3300"/>
              <a:buNone/>
              <a:defRPr sz="3300">
                <a:solidFill>
                  <a:srgbClr val="FFC39F"/>
                </a:solidFill>
              </a:defRPr>
            </a:lvl5pPr>
            <a:lvl6pPr lvl="5" algn="l">
              <a:lnSpc>
                <a:spcPct val="100000"/>
              </a:lnSpc>
              <a:spcBef>
                <a:spcPts val="0"/>
              </a:spcBef>
              <a:spcAft>
                <a:spcPts val="0"/>
              </a:spcAft>
              <a:buClr>
                <a:srgbClr val="FFC39F"/>
              </a:buClr>
              <a:buSzPts val="3300"/>
              <a:buNone/>
              <a:defRPr sz="3300">
                <a:solidFill>
                  <a:srgbClr val="FFC39F"/>
                </a:solidFill>
              </a:defRPr>
            </a:lvl6pPr>
            <a:lvl7pPr lvl="6" algn="l">
              <a:lnSpc>
                <a:spcPct val="100000"/>
              </a:lnSpc>
              <a:spcBef>
                <a:spcPts val="0"/>
              </a:spcBef>
              <a:spcAft>
                <a:spcPts val="0"/>
              </a:spcAft>
              <a:buClr>
                <a:srgbClr val="FFC39F"/>
              </a:buClr>
              <a:buSzPts val="3300"/>
              <a:buNone/>
              <a:defRPr sz="3300">
                <a:solidFill>
                  <a:srgbClr val="FFC39F"/>
                </a:solidFill>
              </a:defRPr>
            </a:lvl7pPr>
            <a:lvl8pPr lvl="7" algn="l">
              <a:lnSpc>
                <a:spcPct val="100000"/>
              </a:lnSpc>
              <a:spcBef>
                <a:spcPts val="0"/>
              </a:spcBef>
              <a:spcAft>
                <a:spcPts val="0"/>
              </a:spcAft>
              <a:buClr>
                <a:srgbClr val="FFC39F"/>
              </a:buClr>
              <a:buSzPts val="3300"/>
              <a:buNone/>
              <a:defRPr sz="3300">
                <a:solidFill>
                  <a:srgbClr val="FFC39F"/>
                </a:solidFill>
              </a:defRPr>
            </a:lvl8pPr>
            <a:lvl9pPr lvl="8" algn="l">
              <a:lnSpc>
                <a:spcPct val="100000"/>
              </a:lnSpc>
              <a:spcBef>
                <a:spcPts val="0"/>
              </a:spcBef>
              <a:spcAft>
                <a:spcPts val="0"/>
              </a:spcAft>
              <a:buClr>
                <a:srgbClr val="FFC39F"/>
              </a:buClr>
              <a:buSzPts val="3300"/>
              <a:buNone/>
              <a:defRPr sz="3300">
                <a:solidFill>
                  <a:srgbClr val="FFC39F"/>
                </a:solidFill>
              </a:defRPr>
            </a:lvl9pPr>
          </a:lstStyle>
          <a:p/>
        </p:txBody>
      </p:sp>
      <p:sp>
        <p:nvSpPr>
          <p:cNvPr id="11" name="Google Shape;11;p19"/>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rgbClr val="FFC39F"/>
                </a:solidFill>
              </a:defRPr>
            </a:lvl1pPr>
            <a:lvl2pPr lvl="1" algn="l">
              <a:lnSpc>
                <a:spcPct val="100000"/>
              </a:lnSpc>
              <a:spcBef>
                <a:spcPts val="0"/>
              </a:spcBef>
              <a:spcAft>
                <a:spcPts val="0"/>
              </a:spcAft>
              <a:buSzPts val="1200"/>
              <a:buNone/>
              <a:defRPr sz="1100">
                <a:solidFill>
                  <a:srgbClr val="FFC39F"/>
                </a:solidFill>
              </a:defRPr>
            </a:lvl2pPr>
            <a:lvl3pPr lvl="2" algn="l">
              <a:lnSpc>
                <a:spcPct val="100000"/>
              </a:lnSpc>
              <a:spcBef>
                <a:spcPts val="0"/>
              </a:spcBef>
              <a:spcAft>
                <a:spcPts val="0"/>
              </a:spcAft>
              <a:buSzPts val="1200"/>
              <a:buNone/>
              <a:defRPr sz="1100">
                <a:solidFill>
                  <a:srgbClr val="FFC39F"/>
                </a:solidFill>
              </a:defRPr>
            </a:lvl3pPr>
            <a:lvl4pPr lvl="3" algn="l">
              <a:lnSpc>
                <a:spcPct val="100000"/>
              </a:lnSpc>
              <a:spcBef>
                <a:spcPts val="0"/>
              </a:spcBef>
              <a:spcAft>
                <a:spcPts val="0"/>
              </a:spcAft>
              <a:buSzPts val="1200"/>
              <a:buNone/>
              <a:defRPr sz="1100">
                <a:solidFill>
                  <a:srgbClr val="FFC39F"/>
                </a:solidFill>
              </a:defRPr>
            </a:lvl4pPr>
            <a:lvl5pPr lvl="4" algn="l">
              <a:lnSpc>
                <a:spcPct val="100000"/>
              </a:lnSpc>
              <a:spcBef>
                <a:spcPts val="0"/>
              </a:spcBef>
              <a:spcAft>
                <a:spcPts val="0"/>
              </a:spcAft>
              <a:buSzPts val="1200"/>
              <a:buNone/>
              <a:defRPr sz="1100">
                <a:solidFill>
                  <a:srgbClr val="FFC39F"/>
                </a:solidFill>
              </a:defRPr>
            </a:lvl5pPr>
            <a:lvl6pPr lvl="5" algn="l">
              <a:lnSpc>
                <a:spcPct val="100000"/>
              </a:lnSpc>
              <a:spcBef>
                <a:spcPts val="0"/>
              </a:spcBef>
              <a:spcAft>
                <a:spcPts val="0"/>
              </a:spcAft>
              <a:buSzPts val="1200"/>
              <a:buNone/>
              <a:defRPr sz="1100">
                <a:solidFill>
                  <a:srgbClr val="FFC39F"/>
                </a:solidFill>
              </a:defRPr>
            </a:lvl6pPr>
            <a:lvl7pPr lvl="6" algn="l">
              <a:lnSpc>
                <a:spcPct val="100000"/>
              </a:lnSpc>
              <a:spcBef>
                <a:spcPts val="0"/>
              </a:spcBef>
              <a:spcAft>
                <a:spcPts val="0"/>
              </a:spcAft>
              <a:buSzPts val="1200"/>
              <a:buNone/>
              <a:defRPr sz="1100">
                <a:solidFill>
                  <a:srgbClr val="FFC39F"/>
                </a:solidFill>
              </a:defRPr>
            </a:lvl7pPr>
            <a:lvl8pPr lvl="7" algn="l">
              <a:lnSpc>
                <a:spcPct val="100000"/>
              </a:lnSpc>
              <a:spcBef>
                <a:spcPts val="0"/>
              </a:spcBef>
              <a:spcAft>
                <a:spcPts val="0"/>
              </a:spcAft>
              <a:buSzPts val="1200"/>
              <a:buNone/>
              <a:defRPr sz="1100">
                <a:solidFill>
                  <a:srgbClr val="FFC39F"/>
                </a:solidFill>
              </a:defRPr>
            </a:lvl8pPr>
            <a:lvl9pPr lvl="8" algn="l">
              <a:lnSpc>
                <a:spcPct val="100000"/>
              </a:lnSpc>
              <a:spcBef>
                <a:spcPts val="0"/>
              </a:spcBef>
              <a:spcAft>
                <a:spcPts val="0"/>
              </a:spcAft>
              <a:buSzPts val="1200"/>
              <a:buNone/>
              <a:defRPr sz="1100">
                <a:solidFill>
                  <a:srgbClr val="FFC39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spTree>
      <p:nvGrpSpPr>
        <p:cNvPr id="12" name="Shape 12"/>
        <p:cNvGrpSpPr/>
        <p:nvPr/>
      </p:nvGrpSpPr>
      <p:grpSpPr>
        <a:xfrm>
          <a:off x="0" y="0"/>
          <a:ext cx="0" cy="0"/>
          <a:chOff x="0" y="0"/>
          <a:chExt cx="0" cy="0"/>
        </a:xfrm>
      </p:grpSpPr>
      <p:sp>
        <p:nvSpPr>
          <p:cNvPr id="13" name="Google Shape;13;p20"/>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4" name="Google Shape;14;p20"/>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5" name="Google Shape;15;p20"/>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6" name="Google Shape;16;p20"/>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20"/>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p20"/>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20"/>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0" name="Google Shape;20;p20"/>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1" name="Google Shape;21;p20"/>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2" name="Google Shape;22;p20"/>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3" name="Google Shape;23;p20"/>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4" name="Google Shape;24;p20"/>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5" name="Google Shape;25;p20"/>
          <p:cNvCxnSpPr/>
          <p:nvPr/>
        </p:nvCxnSpPr>
        <p:spPr>
          <a:xfrm>
            <a:off x="6703425" y="702675"/>
            <a:ext cx="0" cy="3672000"/>
          </a:xfrm>
          <a:prstGeom prst="straightConnector1">
            <a:avLst/>
          </a:prstGeom>
          <a:noFill/>
          <a:ln cap="flat" cmpd="sng" w="19050">
            <a:solidFill>
              <a:srgbClr val="434343"/>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spTree>
      <p:nvGrpSpPr>
        <p:cNvPr id="26" name="Shape 26"/>
        <p:cNvGrpSpPr/>
        <p:nvPr/>
      </p:nvGrpSpPr>
      <p:grpSpPr>
        <a:xfrm>
          <a:off x="0" y="0"/>
          <a:ext cx="0" cy="0"/>
          <a:chOff x="0" y="0"/>
          <a:chExt cx="0" cy="0"/>
        </a:xfrm>
      </p:grpSpPr>
      <p:sp>
        <p:nvSpPr>
          <p:cNvPr id="27" name="Google Shape;27;p2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28" name="Google Shape;28;p2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spTree>
      <p:nvGrpSpPr>
        <p:cNvPr id="29" name="Shape 29"/>
        <p:cNvGrpSpPr/>
        <p:nvPr/>
      </p:nvGrpSpPr>
      <p:grpSpPr>
        <a:xfrm>
          <a:off x="0" y="0"/>
          <a:ext cx="0" cy="0"/>
          <a:chOff x="0" y="0"/>
          <a:chExt cx="0" cy="0"/>
        </a:xfrm>
      </p:grpSpPr>
      <p:sp>
        <p:nvSpPr>
          <p:cNvPr id="30" name="Google Shape;30;p2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spTree>
      <p:nvGrpSpPr>
        <p:cNvPr id="32" name="Shape 32"/>
        <p:cNvGrpSpPr/>
        <p:nvPr/>
      </p:nvGrpSpPr>
      <p:grpSpPr>
        <a:xfrm>
          <a:off x="0" y="0"/>
          <a:ext cx="0" cy="0"/>
          <a:chOff x="0" y="0"/>
          <a:chExt cx="0" cy="0"/>
        </a:xfrm>
      </p:grpSpPr>
      <p:sp>
        <p:nvSpPr>
          <p:cNvPr id="33" name="Google Shape;33;p2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FC39F"/>
              </a:buClr>
              <a:buSzPts val="1200"/>
              <a:buNone/>
              <a:defRPr i="0" sz="1200">
                <a:solidFill>
                  <a:srgbClr val="FFC39F"/>
                </a:solidFill>
              </a:defRPr>
            </a:lvl1pPr>
            <a:lvl2pPr lvl="1"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2pPr>
            <a:lvl3pPr lvl="2"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3pPr>
            <a:lvl4pPr lvl="3"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4pPr>
            <a:lvl5pPr lvl="4"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5pPr>
            <a:lvl6pPr lvl="5"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6pPr>
            <a:lvl7pPr lvl="6"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7pPr>
            <a:lvl8pPr lvl="7"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8pPr>
            <a:lvl9pPr lvl="8"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9pPr>
          </a:lstStyle>
          <a:p/>
        </p:txBody>
      </p:sp>
      <p:sp>
        <p:nvSpPr>
          <p:cNvPr id="34" name="Google Shape;34;p2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rgbClr val="FFC39F"/>
                </a:solidFill>
              </a:defRPr>
            </a:lvl1pPr>
            <a:lvl2pPr lvl="1" algn="l">
              <a:lnSpc>
                <a:spcPct val="100000"/>
              </a:lnSpc>
              <a:spcBef>
                <a:spcPts val="0"/>
              </a:spcBef>
              <a:spcAft>
                <a:spcPts val="0"/>
              </a:spcAft>
              <a:buSzPts val="1200"/>
              <a:buNone/>
              <a:defRPr sz="600">
                <a:solidFill>
                  <a:srgbClr val="FFC39F"/>
                </a:solidFill>
              </a:defRPr>
            </a:lvl2pPr>
            <a:lvl3pPr lvl="2" algn="l">
              <a:lnSpc>
                <a:spcPct val="100000"/>
              </a:lnSpc>
              <a:spcBef>
                <a:spcPts val="0"/>
              </a:spcBef>
              <a:spcAft>
                <a:spcPts val="0"/>
              </a:spcAft>
              <a:buSzPts val="1200"/>
              <a:buNone/>
              <a:defRPr sz="600">
                <a:solidFill>
                  <a:srgbClr val="FFC39F"/>
                </a:solidFill>
              </a:defRPr>
            </a:lvl3pPr>
            <a:lvl4pPr lvl="3" algn="l">
              <a:lnSpc>
                <a:spcPct val="100000"/>
              </a:lnSpc>
              <a:spcBef>
                <a:spcPts val="0"/>
              </a:spcBef>
              <a:spcAft>
                <a:spcPts val="0"/>
              </a:spcAft>
              <a:buSzPts val="1200"/>
              <a:buNone/>
              <a:defRPr sz="600">
                <a:solidFill>
                  <a:srgbClr val="FFC39F"/>
                </a:solidFill>
              </a:defRPr>
            </a:lvl4pPr>
            <a:lvl5pPr lvl="4" algn="l">
              <a:lnSpc>
                <a:spcPct val="100000"/>
              </a:lnSpc>
              <a:spcBef>
                <a:spcPts val="0"/>
              </a:spcBef>
              <a:spcAft>
                <a:spcPts val="0"/>
              </a:spcAft>
              <a:buSzPts val="1200"/>
              <a:buNone/>
              <a:defRPr sz="600">
                <a:solidFill>
                  <a:srgbClr val="FFC39F"/>
                </a:solidFill>
              </a:defRPr>
            </a:lvl5pPr>
            <a:lvl6pPr lvl="5" algn="l">
              <a:lnSpc>
                <a:spcPct val="100000"/>
              </a:lnSpc>
              <a:spcBef>
                <a:spcPts val="0"/>
              </a:spcBef>
              <a:spcAft>
                <a:spcPts val="0"/>
              </a:spcAft>
              <a:buSzPts val="1200"/>
              <a:buNone/>
              <a:defRPr sz="600">
                <a:solidFill>
                  <a:srgbClr val="FFC39F"/>
                </a:solidFill>
              </a:defRPr>
            </a:lvl6pPr>
            <a:lvl7pPr lvl="6" algn="l">
              <a:lnSpc>
                <a:spcPct val="100000"/>
              </a:lnSpc>
              <a:spcBef>
                <a:spcPts val="0"/>
              </a:spcBef>
              <a:spcAft>
                <a:spcPts val="0"/>
              </a:spcAft>
              <a:buSzPts val="1200"/>
              <a:buNone/>
              <a:defRPr sz="600">
                <a:solidFill>
                  <a:srgbClr val="FFC39F"/>
                </a:solidFill>
              </a:defRPr>
            </a:lvl7pPr>
            <a:lvl8pPr lvl="7" algn="l">
              <a:lnSpc>
                <a:spcPct val="100000"/>
              </a:lnSpc>
              <a:spcBef>
                <a:spcPts val="0"/>
              </a:spcBef>
              <a:spcAft>
                <a:spcPts val="0"/>
              </a:spcAft>
              <a:buSzPts val="1200"/>
              <a:buNone/>
              <a:defRPr sz="600">
                <a:solidFill>
                  <a:srgbClr val="FFC39F"/>
                </a:solidFill>
              </a:defRPr>
            </a:lvl8pPr>
            <a:lvl9pPr lvl="8" algn="l">
              <a:lnSpc>
                <a:spcPct val="100000"/>
              </a:lnSpc>
              <a:spcBef>
                <a:spcPts val="0"/>
              </a:spcBef>
              <a:spcAft>
                <a:spcPts val="0"/>
              </a:spcAft>
              <a:buSzPts val="1200"/>
              <a:buNone/>
              <a:defRPr sz="600">
                <a:solidFill>
                  <a:srgbClr val="FFC39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spTree>
      <p:nvGrpSpPr>
        <p:cNvPr id="35" name="Shape 35"/>
        <p:cNvGrpSpPr/>
        <p:nvPr/>
      </p:nvGrpSpPr>
      <p:grpSpPr>
        <a:xfrm>
          <a:off x="0" y="0"/>
          <a:ext cx="0" cy="0"/>
          <a:chOff x="0" y="0"/>
          <a:chExt cx="0" cy="0"/>
        </a:xfrm>
      </p:grpSpPr>
      <p:sp>
        <p:nvSpPr>
          <p:cNvPr id="36" name="Google Shape;36;p24"/>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rgbClr val="FFC39F"/>
                </a:solidFill>
              </a:defRPr>
            </a:lvl1pPr>
            <a:lvl2pPr lvl="1" algn="ctr">
              <a:lnSpc>
                <a:spcPct val="100000"/>
              </a:lnSpc>
              <a:spcBef>
                <a:spcPts val="0"/>
              </a:spcBef>
              <a:spcAft>
                <a:spcPts val="0"/>
              </a:spcAft>
              <a:buSzPts val="1200"/>
              <a:buNone/>
              <a:defRPr sz="1000">
                <a:solidFill>
                  <a:srgbClr val="FFC39F"/>
                </a:solidFill>
              </a:defRPr>
            </a:lvl2pPr>
            <a:lvl3pPr lvl="2" algn="ctr">
              <a:lnSpc>
                <a:spcPct val="100000"/>
              </a:lnSpc>
              <a:spcBef>
                <a:spcPts val="0"/>
              </a:spcBef>
              <a:spcAft>
                <a:spcPts val="0"/>
              </a:spcAft>
              <a:buSzPts val="1200"/>
              <a:buNone/>
              <a:defRPr sz="1000">
                <a:solidFill>
                  <a:srgbClr val="FFC39F"/>
                </a:solidFill>
              </a:defRPr>
            </a:lvl3pPr>
            <a:lvl4pPr lvl="3" algn="ctr">
              <a:lnSpc>
                <a:spcPct val="100000"/>
              </a:lnSpc>
              <a:spcBef>
                <a:spcPts val="0"/>
              </a:spcBef>
              <a:spcAft>
                <a:spcPts val="0"/>
              </a:spcAft>
              <a:buSzPts val="1200"/>
              <a:buNone/>
              <a:defRPr sz="1000">
                <a:solidFill>
                  <a:srgbClr val="FFC39F"/>
                </a:solidFill>
              </a:defRPr>
            </a:lvl4pPr>
            <a:lvl5pPr lvl="4" algn="ctr">
              <a:lnSpc>
                <a:spcPct val="100000"/>
              </a:lnSpc>
              <a:spcBef>
                <a:spcPts val="0"/>
              </a:spcBef>
              <a:spcAft>
                <a:spcPts val="0"/>
              </a:spcAft>
              <a:buSzPts val="1200"/>
              <a:buNone/>
              <a:defRPr sz="1000">
                <a:solidFill>
                  <a:srgbClr val="FFC39F"/>
                </a:solidFill>
              </a:defRPr>
            </a:lvl5pPr>
            <a:lvl6pPr lvl="5" algn="ctr">
              <a:lnSpc>
                <a:spcPct val="100000"/>
              </a:lnSpc>
              <a:spcBef>
                <a:spcPts val="0"/>
              </a:spcBef>
              <a:spcAft>
                <a:spcPts val="0"/>
              </a:spcAft>
              <a:buSzPts val="1200"/>
              <a:buNone/>
              <a:defRPr sz="1000">
                <a:solidFill>
                  <a:srgbClr val="FFC39F"/>
                </a:solidFill>
              </a:defRPr>
            </a:lvl6pPr>
            <a:lvl7pPr lvl="6" algn="ctr">
              <a:lnSpc>
                <a:spcPct val="100000"/>
              </a:lnSpc>
              <a:spcBef>
                <a:spcPts val="0"/>
              </a:spcBef>
              <a:spcAft>
                <a:spcPts val="0"/>
              </a:spcAft>
              <a:buSzPts val="1200"/>
              <a:buNone/>
              <a:defRPr sz="1000">
                <a:solidFill>
                  <a:srgbClr val="FFC39F"/>
                </a:solidFill>
              </a:defRPr>
            </a:lvl7pPr>
            <a:lvl8pPr lvl="7" algn="ctr">
              <a:lnSpc>
                <a:spcPct val="100000"/>
              </a:lnSpc>
              <a:spcBef>
                <a:spcPts val="0"/>
              </a:spcBef>
              <a:spcAft>
                <a:spcPts val="0"/>
              </a:spcAft>
              <a:buSzPts val="1200"/>
              <a:buNone/>
              <a:defRPr sz="1000">
                <a:solidFill>
                  <a:srgbClr val="FFC39F"/>
                </a:solidFill>
              </a:defRPr>
            </a:lvl8pPr>
            <a:lvl9pPr lvl="8" algn="ctr">
              <a:lnSpc>
                <a:spcPct val="100000"/>
              </a:lnSpc>
              <a:spcBef>
                <a:spcPts val="0"/>
              </a:spcBef>
              <a:spcAft>
                <a:spcPts val="0"/>
              </a:spcAft>
              <a:buSzPts val="1200"/>
              <a:buNone/>
              <a:defRPr sz="1000">
                <a:solidFill>
                  <a:srgbClr val="FFC39F"/>
                </a:solidFill>
              </a:defRPr>
            </a:lvl9pPr>
          </a:lstStyle>
          <a:p/>
        </p:txBody>
      </p:sp>
      <p:sp>
        <p:nvSpPr>
          <p:cNvPr id="37" name="Google Shape;37;p24"/>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rgbClr val="FFC39F"/>
              </a:buClr>
              <a:buSzPts val="6000"/>
              <a:buNone/>
              <a:defRPr sz="6000">
                <a:solidFill>
                  <a:srgbClr val="FFC39F"/>
                </a:solidFill>
              </a:defRPr>
            </a:lvl1pPr>
            <a:lvl2pPr lvl="1" algn="ctr">
              <a:lnSpc>
                <a:spcPct val="100000"/>
              </a:lnSpc>
              <a:spcBef>
                <a:spcPts val="0"/>
              </a:spcBef>
              <a:spcAft>
                <a:spcPts val="0"/>
              </a:spcAft>
              <a:buClr>
                <a:srgbClr val="FFC39F"/>
              </a:buClr>
              <a:buSzPts val="6000"/>
              <a:buNone/>
              <a:defRPr sz="6000">
                <a:solidFill>
                  <a:srgbClr val="FFC39F"/>
                </a:solidFill>
              </a:defRPr>
            </a:lvl2pPr>
            <a:lvl3pPr lvl="2" algn="ctr">
              <a:lnSpc>
                <a:spcPct val="100000"/>
              </a:lnSpc>
              <a:spcBef>
                <a:spcPts val="0"/>
              </a:spcBef>
              <a:spcAft>
                <a:spcPts val="0"/>
              </a:spcAft>
              <a:buClr>
                <a:srgbClr val="FFC39F"/>
              </a:buClr>
              <a:buSzPts val="6000"/>
              <a:buNone/>
              <a:defRPr sz="6000">
                <a:solidFill>
                  <a:srgbClr val="FFC39F"/>
                </a:solidFill>
              </a:defRPr>
            </a:lvl3pPr>
            <a:lvl4pPr lvl="3" algn="ctr">
              <a:lnSpc>
                <a:spcPct val="100000"/>
              </a:lnSpc>
              <a:spcBef>
                <a:spcPts val="0"/>
              </a:spcBef>
              <a:spcAft>
                <a:spcPts val="0"/>
              </a:spcAft>
              <a:buClr>
                <a:srgbClr val="FFC39F"/>
              </a:buClr>
              <a:buSzPts val="6000"/>
              <a:buNone/>
              <a:defRPr sz="6000">
                <a:solidFill>
                  <a:srgbClr val="FFC39F"/>
                </a:solidFill>
              </a:defRPr>
            </a:lvl4pPr>
            <a:lvl5pPr lvl="4" algn="ctr">
              <a:lnSpc>
                <a:spcPct val="100000"/>
              </a:lnSpc>
              <a:spcBef>
                <a:spcPts val="0"/>
              </a:spcBef>
              <a:spcAft>
                <a:spcPts val="0"/>
              </a:spcAft>
              <a:buClr>
                <a:srgbClr val="FFC39F"/>
              </a:buClr>
              <a:buSzPts val="6000"/>
              <a:buNone/>
              <a:defRPr sz="6000">
                <a:solidFill>
                  <a:srgbClr val="FFC39F"/>
                </a:solidFill>
              </a:defRPr>
            </a:lvl5pPr>
            <a:lvl6pPr lvl="5" algn="ctr">
              <a:lnSpc>
                <a:spcPct val="100000"/>
              </a:lnSpc>
              <a:spcBef>
                <a:spcPts val="0"/>
              </a:spcBef>
              <a:spcAft>
                <a:spcPts val="0"/>
              </a:spcAft>
              <a:buClr>
                <a:srgbClr val="FFC39F"/>
              </a:buClr>
              <a:buSzPts val="6000"/>
              <a:buNone/>
              <a:defRPr sz="6000">
                <a:solidFill>
                  <a:srgbClr val="FFC39F"/>
                </a:solidFill>
              </a:defRPr>
            </a:lvl6pPr>
            <a:lvl7pPr lvl="6" algn="ctr">
              <a:lnSpc>
                <a:spcPct val="100000"/>
              </a:lnSpc>
              <a:spcBef>
                <a:spcPts val="0"/>
              </a:spcBef>
              <a:spcAft>
                <a:spcPts val="0"/>
              </a:spcAft>
              <a:buClr>
                <a:srgbClr val="FFC39F"/>
              </a:buClr>
              <a:buSzPts val="6000"/>
              <a:buNone/>
              <a:defRPr sz="6000">
                <a:solidFill>
                  <a:srgbClr val="FFC39F"/>
                </a:solidFill>
              </a:defRPr>
            </a:lvl7pPr>
            <a:lvl8pPr lvl="7" algn="ctr">
              <a:lnSpc>
                <a:spcPct val="100000"/>
              </a:lnSpc>
              <a:spcBef>
                <a:spcPts val="0"/>
              </a:spcBef>
              <a:spcAft>
                <a:spcPts val="0"/>
              </a:spcAft>
              <a:buClr>
                <a:srgbClr val="FFC39F"/>
              </a:buClr>
              <a:buSzPts val="6000"/>
              <a:buNone/>
              <a:defRPr sz="6000">
                <a:solidFill>
                  <a:srgbClr val="FFC39F"/>
                </a:solidFill>
              </a:defRPr>
            </a:lvl8pPr>
            <a:lvl9pPr lvl="8" algn="ctr">
              <a:lnSpc>
                <a:spcPct val="100000"/>
              </a:lnSpc>
              <a:spcBef>
                <a:spcPts val="0"/>
              </a:spcBef>
              <a:spcAft>
                <a:spcPts val="0"/>
              </a:spcAft>
              <a:buClr>
                <a:srgbClr val="FFC39F"/>
              </a:buClr>
              <a:buSzPts val="6000"/>
              <a:buNone/>
              <a:defRPr sz="6000">
                <a:solidFill>
                  <a:srgbClr val="FFC39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18"/>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pic>
        <p:nvPicPr>
          <p:cNvPr id="8" name="Google Shape;8;p18"/>
          <p:cNvPicPr preferRelativeResize="0"/>
          <p:nvPr/>
        </p:nvPicPr>
        <p:blipFill rotWithShape="1">
          <a:blip r:embed="rId1">
            <a:alphaModFix/>
          </a:blip>
          <a:srcRect b="0" l="0" r="0" t="0"/>
          <a:stretch/>
        </p:blipFill>
        <p:spPr>
          <a:xfrm>
            <a:off x="8373438" y="4402763"/>
            <a:ext cx="657544" cy="6032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 name="Shape 44"/>
        <p:cNvGrpSpPr/>
        <p:nvPr/>
      </p:nvGrpSpPr>
      <p:grpSpPr>
        <a:xfrm>
          <a:off x="0" y="0"/>
          <a:ext cx="0" cy="0"/>
          <a:chOff x="0" y="0"/>
          <a:chExt cx="0" cy="0"/>
        </a:xfrm>
      </p:grpSpPr>
      <p:sp>
        <p:nvSpPr>
          <p:cNvPr id="45" name="Google Shape;45;p1"/>
          <p:cNvSpPr txBox="1"/>
          <p:nvPr>
            <p:ph type="title"/>
          </p:nvPr>
        </p:nvSpPr>
        <p:spPr>
          <a:xfrm>
            <a:off x="84225" y="1819448"/>
            <a:ext cx="5633100" cy="1218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US" sz="4000"/>
              <a:t>SOFTWARE</a:t>
            </a:r>
            <a:r>
              <a:rPr lang="en-US" sz="4000">
                <a:solidFill>
                  <a:srgbClr val="FFC39F"/>
                </a:solidFill>
              </a:rPr>
              <a:t> ARCHITECTURE</a:t>
            </a:r>
            <a:endParaRPr sz="4000">
              <a:solidFill>
                <a:srgbClr val="FFC39F"/>
              </a:solidFill>
            </a:endParaRPr>
          </a:p>
        </p:txBody>
      </p:sp>
      <p:sp>
        <p:nvSpPr>
          <p:cNvPr id="46" name="Google Shape;46;p1"/>
          <p:cNvSpPr txBox="1"/>
          <p:nvPr>
            <p:ph idx="1" type="subTitle"/>
          </p:nvPr>
        </p:nvSpPr>
        <p:spPr>
          <a:xfrm>
            <a:off x="720100" y="3379500"/>
            <a:ext cx="3756900" cy="91135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latin typeface="Advent Pro"/>
                <a:ea typeface="Advent Pro"/>
                <a:cs typeface="Advent Pro"/>
                <a:sym typeface="Advent Pro"/>
              </a:rPr>
              <a:t>CSE470 slide presented by </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A.M.ESFAR-E-ALAM</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AFRINA KHATUN</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DR.ZAVID PARVEZ</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HOSSAIN ARIF</a:t>
            </a:r>
            <a:endParaRPr/>
          </a:p>
        </p:txBody>
      </p:sp>
      <p:grpSp>
        <p:nvGrpSpPr>
          <p:cNvPr id="47" name="Google Shape;47;p1"/>
          <p:cNvGrpSpPr/>
          <p:nvPr/>
        </p:nvGrpSpPr>
        <p:grpSpPr>
          <a:xfrm>
            <a:off x="4432326" y="248872"/>
            <a:ext cx="4330674" cy="4627928"/>
            <a:chOff x="4432326" y="248872"/>
            <a:chExt cx="4330674" cy="4627928"/>
          </a:xfrm>
        </p:grpSpPr>
        <p:sp>
          <p:nvSpPr>
            <p:cNvPr id="48" name="Google Shape;48;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rgbClr val="F7B6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152" name="Google Shape;152;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02</a:t>
            </a:r>
            <a:endParaRPr sz="7200">
              <a:solidFill>
                <a:srgbClr val="434343"/>
              </a:solidFill>
            </a:endParaRPr>
          </a:p>
        </p:txBody>
      </p:sp>
      <p:sp>
        <p:nvSpPr>
          <p:cNvPr id="238" name="Google Shape;238;p2"/>
          <p:cNvSpPr txBox="1"/>
          <p:nvPr>
            <p:ph idx="2" type="title"/>
          </p:nvPr>
        </p:nvSpPr>
        <p:spPr>
          <a:xfrm>
            <a:off x="6883588"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CLIENT SERVER PATTERN</a:t>
            </a:r>
            <a:endParaRPr>
              <a:solidFill>
                <a:srgbClr val="434343"/>
              </a:solidFill>
            </a:endParaRPr>
          </a:p>
        </p:txBody>
      </p:sp>
      <p:sp>
        <p:nvSpPr>
          <p:cNvPr id="239" name="Google Shape;239;p2"/>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sz="7200">
                <a:solidFill>
                  <a:srgbClr val="434343"/>
                </a:solidFill>
              </a:rPr>
              <a:t>01</a:t>
            </a:r>
            <a:endParaRPr sz="7200">
              <a:solidFill>
                <a:srgbClr val="434343"/>
              </a:solidFill>
            </a:endParaRPr>
          </a:p>
        </p:txBody>
      </p:sp>
      <p:sp>
        <p:nvSpPr>
          <p:cNvPr id="240" name="Google Shape;240;p2"/>
          <p:cNvSpPr txBox="1"/>
          <p:nvPr>
            <p:ph idx="4" type="title"/>
          </p:nvPr>
        </p:nvSpPr>
        <p:spPr>
          <a:xfrm>
            <a:off x="6796314"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Advantages and Disadvantages</a:t>
            </a:r>
            <a:endParaRPr>
              <a:solidFill>
                <a:srgbClr val="434343"/>
              </a:solidFill>
            </a:endParaRPr>
          </a:p>
        </p:txBody>
      </p:sp>
      <p:sp>
        <p:nvSpPr>
          <p:cNvPr id="241" name="Google Shape;241;p2"/>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a:t>
            </a:r>
            <a:r>
              <a:rPr lang="en-US">
                <a:solidFill>
                  <a:srgbClr val="434343"/>
                </a:solidFill>
              </a:rPr>
              <a:t>4</a:t>
            </a:r>
            <a:endParaRPr sz="7200">
              <a:solidFill>
                <a:srgbClr val="434343"/>
              </a:solidFill>
            </a:endParaRPr>
          </a:p>
        </p:txBody>
      </p:sp>
      <p:grpSp>
        <p:nvGrpSpPr>
          <p:cNvPr id="242" name="Google Shape;242;p2"/>
          <p:cNvGrpSpPr/>
          <p:nvPr/>
        </p:nvGrpSpPr>
        <p:grpSpPr>
          <a:xfrm>
            <a:off x="228600" y="152411"/>
            <a:ext cx="5095783" cy="4486582"/>
            <a:chOff x="238225" y="-1129267"/>
            <a:chExt cx="7978366" cy="6979748"/>
          </a:xfrm>
        </p:grpSpPr>
        <p:sp>
          <p:nvSpPr>
            <p:cNvPr id="243" name="Google Shape;243;p2"/>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p2"/>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PIPE AND FILTER PATTERN</a:t>
            </a:r>
            <a:endParaRPr>
              <a:solidFill>
                <a:srgbClr val="434343"/>
              </a:solidFill>
            </a:endParaRPr>
          </a:p>
        </p:txBody>
      </p:sp>
      <p:sp>
        <p:nvSpPr>
          <p:cNvPr id="367" name="Google Shape;367;p2"/>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a:solidFill>
                  <a:srgbClr val="434343"/>
                </a:solidFill>
              </a:rPr>
              <a:t>03</a:t>
            </a:r>
            <a:endParaRPr>
              <a:solidFill>
                <a:srgbClr val="434343"/>
              </a:solidFill>
            </a:endParaRPr>
          </a:p>
        </p:txBody>
      </p:sp>
      <p:sp>
        <p:nvSpPr>
          <p:cNvPr id="368" name="Google Shape;368;p2"/>
          <p:cNvSpPr txBox="1"/>
          <p:nvPr>
            <p:ph type="title"/>
          </p:nvPr>
        </p:nvSpPr>
        <p:spPr>
          <a:xfrm>
            <a:off x="4294627" y="1483522"/>
            <a:ext cx="2164198"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REPOSITORY PATTERN</a:t>
            </a:r>
            <a:endParaRPr>
              <a:solidFill>
                <a:srgbClr val="434343"/>
              </a:solidFill>
            </a:endParaRPr>
          </a:p>
        </p:txBody>
      </p:sp>
      <p:sp>
        <p:nvSpPr>
          <p:cNvPr id="369" name="Google Shape;369;p2"/>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0" name="Google Shape;370;p2"/>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371" name="Google Shape;371;p2"/>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2" name="Google Shape;372;p2"/>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3"/>
          <p:cNvGrpSpPr/>
          <p:nvPr/>
        </p:nvGrpSpPr>
        <p:grpSpPr>
          <a:xfrm>
            <a:off x="0" y="962950"/>
            <a:ext cx="9144015" cy="4191831"/>
            <a:chOff x="0" y="962950"/>
            <a:chExt cx="9144015" cy="4191831"/>
          </a:xfrm>
        </p:grpSpPr>
        <p:sp>
          <p:nvSpPr>
            <p:cNvPr id="378" name="Google Shape;378;p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1" name="Google Shape;381;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2" name="Google Shape;382;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3"/>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latin typeface="Oswald"/>
                <a:ea typeface="Oswald"/>
                <a:cs typeface="Oswald"/>
                <a:sym typeface="Oswald"/>
              </a:rPr>
              <a:t>REPOSITORY PATTERN</a:t>
            </a:r>
            <a:endParaRPr b="1">
              <a:solidFill>
                <a:srgbClr val="434343"/>
              </a:solidFill>
              <a:latin typeface="Oswald"/>
              <a:ea typeface="Oswald"/>
              <a:cs typeface="Oswald"/>
              <a:sym typeface="Oswald"/>
            </a:endParaRPr>
          </a:p>
        </p:txBody>
      </p:sp>
      <p:sp>
        <p:nvSpPr>
          <p:cNvPr id="388" name="Google Shape;388;p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
          <p:cNvSpPr txBox="1"/>
          <p:nvPr>
            <p:ph idx="1" type="subTitle"/>
          </p:nvPr>
        </p:nvSpPr>
        <p:spPr>
          <a:xfrm>
            <a:off x="105225" y="1788550"/>
            <a:ext cx="5611200" cy="280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900">
                <a:latin typeface="Nunito SemiBold"/>
                <a:ea typeface="Nunito SemiBold"/>
                <a:cs typeface="Nunito SemiBold"/>
                <a:sym typeface="Nunito SemiBold"/>
              </a:rPr>
              <a:t>Before going into repository design pattern </a:t>
            </a:r>
            <a:r>
              <a:rPr lang="en-US" sz="1900">
                <a:latin typeface="Nunito SemiBold"/>
                <a:ea typeface="Nunito SemiBold"/>
                <a:cs typeface="Nunito SemiBold"/>
                <a:sym typeface="Nunito SemiBold"/>
              </a:rPr>
              <a:t>let's</a:t>
            </a:r>
            <a:r>
              <a:rPr lang="en-US" sz="1900">
                <a:latin typeface="Nunito SemiBold"/>
                <a:ea typeface="Nunito SemiBold"/>
                <a:cs typeface="Nunito SemiBold"/>
                <a:sym typeface="Nunito SemiBold"/>
              </a:rPr>
              <a:t> first understand what is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In generic terms repository simply means a place where things are or can be stored.</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This term has wide array of use in computer science for example code repository.</a:t>
            </a:r>
            <a:endParaRPr sz="1900">
              <a:latin typeface="Nunito SemiBold"/>
              <a:ea typeface="Nunito SemiBold"/>
              <a:cs typeface="Nunito SemiBold"/>
              <a:sym typeface="Nunito SemiBold"/>
            </a:endParaRPr>
          </a:p>
          <a:p>
            <a:pPr indent="-349250" lvl="0" marL="457200" rtl="0" algn="l">
              <a:lnSpc>
                <a:spcPct val="115000"/>
              </a:lnSpc>
              <a:spcBef>
                <a:spcPts val="0"/>
              </a:spcBef>
              <a:spcAft>
                <a:spcPts val="0"/>
              </a:spcAft>
              <a:buSzPts val="1900"/>
              <a:buFont typeface="Nunito SemiBold"/>
              <a:buChar char="●"/>
            </a:pPr>
            <a:r>
              <a:rPr lang="en-US" sz="1900">
                <a:latin typeface="Nunito SemiBold"/>
                <a:ea typeface="Nunito SemiBold"/>
                <a:cs typeface="Nunito SemiBold"/>
                <a:sym typeface="Nunito SemiBold"/>
              </a:rPr>
              <a:t>We are all familiar with GITHUB. it’s a code repository</a:t>
            </a:r>
            <a:endParaRPr sz="1900">
              <a:latin typeface="Nunito SemiBold"/>
              <a:ea typeface="Nunito SemiBold"/>
              <a:cs typeface="Nunito SemiBold"/>
              <a:sym typeface="Nunito SemiBold"/>
            </a:endParaRPr>
          </a:p>
          <a:p>
            <a:pPr indent="0" lvl="0" marL="0" rtl="0" algn="l">
              <a:lnSpc>
                <a:spcPct val="115000"/>
              </a:lnSpc>
              <a:spcBef>
                <a:spcPts val="0"/>
              </a:spcBef>
              <a:spcAft>
                <a:spcPts val="0"/>
              </a:spcAft>
              <a:buClr>
                <a:schemeClr val="dk1"/>
              </a:buClr>
              <a:buSzPts val="600"/>
              <a:buFont typeface="Arial"/>
              <a:buNone/>
            </a:pPr>
            <a:r>
              <a:t/>
            </a:r>
            <a:endParaRPr sz="1500">
              <a:solidFill>
                <a:srgbClr val="434343"/>
              </a:solidFill>
            </a:endParaRPr>
          </a:p>
        </p:txBody>
      </p:sp>
      <p:sp>
        <p:nvSpPr>
          <p:cNvPr id="394" name="Google Shape;394;p4"/>
          <p:cNvSpPr txBox="1"/>
          <p:nvPr>
            <p:ph type="title"/>
          </p:nvPr>
        </p:nvSpPr>
        <p:spPr>
          <a:xfrm>
            <a:off x="2311025" y="678050"/>
            <a:ext cx="2031900" cy="6585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t>REPOSITORY</a:t>
            </a:r>
            <a:endParaRPr>
              <a:solidFill>
                <a:srgbClr val="434343"/>
              </a:solidFill>
            </a:endParaRPr>
          </a:p>
        </p:txBody>
      </p:sp>
      <p:grpSp>
        <p:nvGrpSpPr>
          <p:cNvPr id="395" name="Google Shape;395;p4"/>
          <p:cNvGrpSpPr/>
          <p:nvPr/>
        </p:nvGrpSpPr>
        <p:grpSpPr>
          <a:xfrm>
            <a:off x="6055209" y="211942"/>
            <a:ext cx="2967879" cy="2488467"/>
            <a:chOff x="4646550" y="1170475"/>
            <a:chExt cx="3581800" cy="2800120"/>
          </a:xfrm>
        </p:grpSpPr>
        <p:sp>
          <p:nvSpPr>
            <p:cNvPr id="396" name="Google Shape;396;p4"/>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
          <p:cNvSpPr txBox="1"/>
          <p:nvPr>
            <p:ph idx="1" type="subTitle"/>
          </p:nvPr>
        </p:nvSpPr>
        <p:spPr>
          <a:xfrm>
            <a:off x="499625" y="1370550"/>
            <a:ext cx="5999700" cy="359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lang="en-US" sz="1600">
                <a:latin typeface="Nunito SemiBold"/>
                <a:ea typeface="Nunito SemiBold"/>
                <a:cs typeface="Nunito SemiBold"/>
                <a:sym typeface="Nunito SemiBold"/>
              </a:rPr>
              <a:t>So now we have a idea of what repository means, </a:t>
            </a:r>
            <a:r>
              <a:rPr lang="en-US" sz="1600">
                <a:latin typeface="Nunito SemiBold"/>
                <a:ea typeface="Nunito SemiBold"/>
                <a:cs typeface="Nunito SemiBold"/>
                <a:sym typeface="Nunito SemiBold"/>
              </a:rPr>
              <a:t>let's</a:t>
            </a:r>
            <a:r>
              <a:rPr lang="en-US" sz="1600">
                <a:latin typeface="Nunito SemiBold"/>
                <a:ea typeface="Nunito SemiBold"/>
                <a:cs typeface="Nunito SemiBold"/>
                <a:sym typeface="Nunito SemiBold"/>
              </a:rPr>
              <a:t> think how that is connected to software architecture</a:t>
            </a:r>
            <a:r>
              <a:rPr lang="en-US" sz="1600">
                <a:solidFill>
                  <a:srgbClr val="434343"/>
                </a:solidFill>
                <a:latin typeface="Nunito SemiBold"/>
                <a:ea typeface="Nunito SemiBold"/>
                <a:cs typeface="Nunito SemiBold"/>
                <a:sym typeface="Nunito SemiBold"/>
              </a:rPr>
              <a:t>:</a:t>
            </a:r>
            <a:endParaRPr sz="1600">
              <a:latin typeface="Nunito SemiBold"/>
              <a:ea typeface="Nunito SemiBold"/>
              <a:cs typeface="Nunito SemiBold"/>
              <a:sym typeface="Nunito SemiBold"/>
            </a:endParaRPr>
          </a:p>
          <a:p>
            <a:pPr indent="-20320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Here we will have multiple sub systems.</a:t>
            </a:r>
            <a:endParaRPr sz="1600">
              <a:latin typeface="Nunito SemiBold"/>
              <a:ea typeface="Nunito SemiBold"/>
              <a:cs typeface="Nunito SemiBold"/>
              <a:sym typeface="Nunito SemiBold"/>
            </a:endParaRPr>
          </a:p>
          <a:p>
            <a:pPr indent="-203200" lvl="0" marL="171450" rtl="0" algn="l">
              <a:lnSpc>
                <a:spcPct val="115000"/>
              </a:lnSpc>
              <a:spcBef>
                <a:spcPts val="0"/>
              </a:spcBef>
              <a:spcAft>
                <a:spcPts val="0"/>
              </a:spcAft>
              <a:buClr>
                <a:schemeClr val="dk1"/>
              </a:buClr>
              <a:buSzPts val="1281"/>
              <a:buFont typeface="Nunito SemiBold"/>
              <a:buChar char="⮚"/>
            </a:pPr>
            <a:r>
              <a:rPr lang="en-US" sz="1600">
                <a:latin typeface="Nunito SemiBold"/>
                <a:ea typeface="Nunito SemiBold"/>
                <a:cs typeface="Nunito SemiBold"/>
                <a:sym typeface="Nunito SemiBold"/>
              </a:rPr>
              <a:t>Sub-systems must exchange data. This may be done in two ways:</a:t>
            </a:r>
            <a:endParaRPr sz="16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Shared data is held in a central database or repository and may be accessed by all sub-systems;</a:t>
            </a:r>
            <a:endParaRPr sz="1700">
              <a:latin typeface="Nunito SemiBold"/>
              <a:ea typeface="Nunito SemiBold"/>
              <a:cs typeface="Nunito SemiBold"/>
              <a:sym typeface="Nunito SemiBold"/>
            </a:endParaRPr>
          </a:p>
          <a:p>
            <a:pPr indent="-260350" lvl="1" marL="914400" rtl="0" algn="l">
              <a:lnSpc>
                <a:spcPct val="90000"/>
              </a:lnSpc>
              <a:spcBef>
                <a:spcPts val="0"/>
              </a:spcBef>
              <a:spcAft>
                <a:spcPts val="0"/>
              </a:spcAft>
              <a:buSzPts val="1700"/>
              <a:buFont typeface="Nunito SemiBold"/>
              <a:buChar char="•"/>
            </a:pPr>
            <a:r>
              <a:rPr lang="en-US" sz="1700">
                <a:latin typeface="Nunito SemiBold"/>
                <a:ea typeface="Nunito SemiBold"/>
                <a:cs typeface="Nunito SemiBold"/>
                <a:sym typeface="Nunito SemiBold"/>
              </a:rPr>
              <a:t>Each sub-system maintains its own database and passes data explicitly to other sub-systems.</a:t>
            </a:r>
            <a:endParaRPr sz="17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When large amounts of data are to be shared, the repository model of sharing is most commonly used as this is an efficient data sharing mechanism.</a:t>
            </a:r>
            <a:endParaRPr sz="1600">
              <a:latin typeface="Nunito SemiBold"/>
              <a:ea typeface="Nunito SemiBold"/>
              <a:cs typeface="Nunito SemiBold"/>
              <a:sym typeface="Nunito SemiBold"/>
            </a:endParaRPr>
          </a:p>
          <a:p>
            <a:pPr indent="-260350" lvl="0" marL="457200" rtl="0" algn="l">
              <a:lnSpc>
                <a:spcPct val="90000"/>
              </a:lnSpc>
              <a:spcBef>
                <a:spcPts val="0"/>
              </a:spcBef>
              <a:spcAft>
                <a:spcPts val="0"/>
              </a:spcAft>
              <a:buSzPts val="1700"/>
              <a:buFont typeface="Nunito SemiBold"/>
              <a:buChar char="⮚"/>
            </a:pPr>
            <a:r>
              <a:rPr lang="en-US" sz="1600">
                <a:latin typeface="Nunito SemiBold"/>
                <a:ea typeface="Nunito SemiBold"/>
                <a:cs typeface="Nunito SemiBold"/>
                <a:sym typeface="Nunito SemiBold"/>
              </a:rPr>
              <a:t>So lets define repository pattern formally</a:t>
            </a:r>
            <a:endParaRPr sz="1600">
              <a:latin typeface="Nunito SemiBold"/>
              <a:ea typeface="Nunito SemiBold"/>
              <a:cs typeface="Nunito SemiBold"/>
              <a:sym typeface="Nunito SemiBold"/>
            </a:endParaRPr>
          </a:p>
        </p:txBody>
      </p:sp>
      <p:sp>
        <p:nvSpPr>
          <p:cNvPr id="613" name="Google Shape;613;p5"/>
          <p:cNvSpPr txBox="1"/>
          <p:nvPr>
            <p:ph type="title"/>
          </p:nvPr>
        </p:nvSpPr>
        <p:spPr>
          <a:xfrm>
            <a:off x="703499" y="432914"/>
            <a:ext cx="4609179" cy="4814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sz="2800">
                <a:solidFill>
                  <a:srgbClr val="434343"/>
                </a:solidFill>
              </a:rPr>
              <a:t>DEFINING REPOSITORY PATTERN</a:t>
            </a:r>
            <a:endParaRPr sz="2800">
              <a:solidFill>
                <a:srgbClr val="434343"/>
              </a:solidFill>
            </a:endParaRPr>
          </a:p>
        </p:txBody>
      </p:sp>
      <p:grpSp>
        <p:nvGrpSpPr>
          <p:cNvPr id="614" name="Google Shape;614;p5"/>
          <p:cNvGrpSpPr/>
          <p:nvPr/>
        </p:nvGrpSpPr>
        <p:grpSpPr>
          <a:xfrm>
            <a:off x="6499392" y="118316"/>
            <a:ext cx="2535198" cy="2336420"/>
            <a:chOff x="4646550" y="1170475"/>
            <a:chExt cx="3581800" cy="2800120"/>
          </a:xfrm>
        </p:grpSpPr>
        <p:sp>
          <p:nvSpPr>
            <p:cNvPr id="615" name="Google Shape;615;p5"/>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0" name="Shape 830"/>
        <p:cNvGrpSpPr/>
        <p:nvPr/>
      </p:nvGrpSpPr>
      <p:grpSpPr>
        <a:xfrm>
          <a:off x="0" y="0"/>
          <a:ext cx="0" cy="0"/>
          <a:chOff x="0" y="0"/>
          <a:chExt cx="0" cy="0"/>
        </a:xfrm>
      </p:grpSpPr>
      <p:sp>
        <p:nvSpPr>
          <p:cNvPr id="831" name="Google Shape;831;p6"/>
          <p:cNvSpPr txBox="1"/>
          <p:nvPr>
            <p:ph type="title"/>
          </p:nvPr>
        </p:nvSpPr>
        <p:spPr>
          <a:xfrm>
            <a:off x="5502977" y="4102650"/>
            <a:ext cx="25218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US" sz="1800">
                <a:solidFill>
                  <a:srgbClr val="FFC39F"/>
                </a:solidFill>
                <a:latin typeface="Oswald"/>
                <a:ea typeface="Oswald"/>
                <a:cs typeface="Oswald"/>
                <a:sym typeface="Oswald"/>
              </a:rPr>
              <a:t>—</a:t>
            </a:r>
            <a:r>
              <a:rPr b="1" lang="en-US" sz="1800">
                <a:latin typeface="Oswald"/>
                <a:ea typeface="Oswald"/>
                <a:cs typeface="Oswald"/>
                <a:sym typeface="Oswald"/>
              </a:rPr>
              <a:t>FORMAL DEFINITION</a:t>
            </a:r>
            <a:endParaRPr b="1" sz="1800">
              <a:solidFill>
                <a:srgbClr val="FFC39F"/>
              </a:solidFill>
              <a:latin typeface="Oswald"/>
              <a:ea typeface="Oswald"/>
              <a:cs typeface="Oswald"/>
              <a:sym typeface="Oswald"/>
            </a:endParaRPr>
          </a:p>
        </p:txBody>
      </p:sp>
      <p:sp>
        <p:nvSpPr>
          <p:cNvPr id="832" name="Google Shape;832;p6"/>
          <p:cNvSpPr txBox="1"/>
          <p:nvPr>
            <p:ph idx="1" type="subTitle"/>
          </p:nvPr>
        </p:nvSpPr>
        <p:spPr>
          <a:xfrm>
            <a:off x="657800" y="2305350"/>
            <a:ext cx="7418100" cy="1797300"/>
          </a:xfrm>
          <a:prstGeom prst="rect">
            <a:avLst/>
          </a:prstGeom>
          <a:noFill/>
          <a:ln>
            <a:noFill/>
          </a:ln>
        </p:spPr>
        <p:txBody>
          <a:bodyPr anchorCtr="0" anchor="b" bIns="0" lIns="0" spcFirstLastPara="1" rIns="0" wrap="square" tIns="0">
            <a:noAutofit/>
          </a:bodyPr>
          <a:lstStyle/>
          <a:p>
            <a:pPr indent="-215900" lvl="0" marL="241300" rtl="0" algn="l">
              <a:lnSpc>
                <a:spcPct val="115000"/>
              </a:lnSpc>
              <a:spcBef>
                <a:spcPts val="0"/>
              </a:spcBef>
              <a:spcAft>
                <a:spcPts val="0"/>
              </a:spcAft>
              <a:buClr>
                <a:schemeClr val="accent5"/>
              </a:buClr>
              <a:buSzPts val="1400"/>
              <a:buFont typeface="Tahoma"/>
              <a:buChar char="●"/>
            </a:pPr>
            <a:r>
              <a:rPr b="1" lang="en-US" sz="1500">
                <a:solidFill>
                  <a:schemeClr val="accent5"/>
                </a:solidFill>
                <a:latin typeface="Tahoma"/>
                <a:ea typeface="Tahoma"/>
                <a:cs typeface="Tahoma"/>
                <a:sym typeface="Tahoma"/>
              </a:rPr>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b="1" sz="1500">
              <a:solidFill>
                <a:schemeClr val="accent5"/>
              </a:solidFill>
              <a:latin typeface="Tahoma"/>
              <a:ea typeface="Tahoma"/>
              <a:cs typeface="Tahoma"/>
              <a:sym typeface="Tahoma"/>
            </a:endParaRPr>
          </a:p>
        </p:txBody>
      </p:sp>
      <p:sp>
        <p:nvSpPr>
          <p:cNvPr id="833" name="Google Shape;833;p6"/>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p6"/>
          <p:cNvGrpSpPr/>
          <p:nvPr/>
        </p:nvGrpSpPr>
        <p:grpSpPr>
          <a:xfrm rot="10800000">
            <a:off x="1750973" y="-27141"/>
            <a:ext cx="6601046" cy="1682330"/>
            <a:chOff x="1574550" y="3472451"/>
            <a:chExt cx="6601046" cy="1682330"/>
          </a:xfrm>
        </p:grpSpPr>
        <p:sp>
          <p:nvSpPr>
            <p:cNvPr id="835" name="Google Shape;835;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6" name="Google Shape;836;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7" name="Google Shape;837;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
          <p:cNvSpPr txBox="1"/>
          <p:nvPr>
            <p:ph idx="1" type="subTitle"/>
          </p:nvPr>
        </p:nvSpPr>
        <p:spPr>
          <a:xfrm>
            <a:off x="145500" y="1336075"/>
            <a:ext cx="4520700" cy="30432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Comic Sans MS"/>
                <a:ea typeface="Comic Sans MS"/>
                <a:cs typeface="Comic Sans MS"/>
                <a:sym typeface="Comic Sans MS"/>
              </a:rPr>
              <a:t>Let's</a:t>
            </a:r>
            <a:r>
              <a:rPr lang="en-US">
                <a:latin typeface="Comic Sans MS"/>
                <a:ea typeface="Comic Sans MS"/>
                <a:cs typeface="Comic Sans MS"/>
                <a:sym typeface="Comic Sans MS"/>
              </a:rPr>
              <a:t> think you are developing an IDE like ’eclipse’.What will you have there</a:t>
            </a:r>
            <a:r>
              <a:rPr lang="en-US" sz="1100">
                <a:solidFill>
                  <a:srgbClr val="434343"/>
                </a:solidFill>
                <a:latin typeface="Comic Sans MS"/>
                <a:ea typeface="Comic Sans MS"/>
                <a:cs typeface="Comic Sans MS"/>
                <a:sym typeface="Comic Sans MS"/>
              </a:rPr>
              <a:t>:</a:t>
            </a:r>
            <a:br>
              <a:rPr lang="en-US" sz="1100">
                <a:solidFill>
                  <a:srgbClr val="434343"/>
                </a:solidFill>
                <a:latin typeface="Comic Sans MS"/>
                <a:ea typeface="Comic Sans MS"/>
                <a:cs typeface="Comic Sans MS"/>
                <a:sym typeface="Comic Sans MS"/>
              </a:rPr>
            </a:br>
            <a:endParaRPr sz="11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editor for different language like java,c++.python</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code generator.Auto complete system</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UML editor</a:t>
            </a:r>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Translator to compile the code etc.</a:t>
            </a:r>
            <a:endParaRPr sz="1200">
              <a:solidFill>
                <a:srgbClr val="434343"/>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sz="1100">
                <a:solidFill>
                  <a:schemeClr val="dk1"/>
                </a:solidFill>
                <a:latin typeface="Comic Sans MS"/>
                <a:ea typeface="Comic Sans MS"/>
                <a:cs typeface="Comic Sans MS"/>
                <a:sym typeface="Comic Sans MS"/>
              </a:rPr>
              <a:t>So here in the </a:t>
            </a:r>
            <a:r>
              <a:rPr lang="en-US">
                <a:solidFill>
                  <a:schemeClr val="dk1"/>
                </a:solidFill>
                <a:latin typeface="Comic Sans MS"/>
                <a:ea typeface="Comic Sans MS"/>
                <a:cs typeface="Comic Sans MS"/>
                <a:sym typeface="Comic Sans MS"/>
              </a:rPr>
              <a:t>IDE where the components use a repository of system design information.</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 Each software tool generates information which is then available for use by other tools.</a:t>
            </a:r>
            <a:endParaRPr>
              <a:solidFill>
                <a:schemeClr val="dk1"/>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And, sub-components do not communicate with each other, means they are independent.</a:t>
            </a:r>
            <a:endParaRPr>
              <a:solidFill>
                <a:schemeClr val="dk1"/>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Have a look at the figure for the example</a:t>
            </a:r>
            <a:endParaRPr sz="1100">
              <a:solidFill>
                <a:srgbClr val="434343"/>
              </a:solidFill>
            </a:endParaRPr>
          </a:p>
        </p:txBody>
      </p:sp>
      <p:sp>
        <p:nvSpPr>
          <p:cNvPr id="845" name="Google Shape;845;p7"/>
          <p:cNvSpPr txBox="1"/>
          <p:nvPr>
            <p:ph type="title"/>
          </p:nvPr>
        </p:nvSpPr>
        <p:spPr>
          <a:xfrm>
            <a:off x="674799" y="660312"/>
            <a:ext cx="3189000" cy="5468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r>
              <a:rPr lang="en-US">
                <a:solidFill>
                  <a:srgbClr val="434343"/>
                </a:solidFill>
              </a:rPr>
              <a:t>!</a:t>
            </a:r>
            <a:endParaRPr>
              <a:solidFill>
                <a:srgbClr val="434343"/>
              </a:solidFill>
            </a:endParaRPr>
          </a:p>
        </p:txBody>
      </p:sp>
      <p:sp>
        <p:nvSpPr>
          <p:cNvPr id="846" name="Google Shape;846;p7"/>
          <p:cNvSpPr/>
          <p:nvPr/>
        </p:nvSpPr>
        <p:spPr>
          <a:xfrm>
            <a:off x="4666268" y="660313"/>
            <a:ext cx="4110087" cy="4317040"/>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9 RepositoryIDE.eps" id="847" name="Google Shape;847;p7"/>
          <p:cNvPicPr preferRelativeResize="0"/>
          <p:nvPr/>
        </p:nvPicPr>
        <p:blipFill rotWithShape="1">
          <a:blip r:embed="rId3">
            <a:alphaModFix/>
          </a:blip>
          <a:srcRect b="-12285" l="0" r="0" t="-12286"/>
          <a:stretch/>
        </p:blipFill>
        <p:spPr>
          <a:xfrm>
            <a:off x="4755078" y="1574278"/>
            <a:ext cx="3945861" cy="25112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graphicFrame>
        <p:nvGraphicFramePr>
          <p:cNvPr id="852" name="Google Shape;852;p8"/>
          <p:cNvGraphicFramePr/>
          <p:nvPr/>
        </p:nvGraphicFramePr>
        <p:xfrm>
          <a:off x="683884" y="616385"/>
          <a:ext cx="3000000" cy="3000000"/>
        </p:xfrm>
        <a:graphic>
          <a:graphicData uri="http://schemas.openxmlformats.org/drawingml/2006/table">
            <a:tbl>
              <a:tblPr bandRow="1" firstRow="1">
                <a:noFill/>
                <a:tableStyleId>{10DDA032-6C51-4F11-9112-2E9E8803CBD6}</a:tableStyleId>
              </a:tblPr>
              <a:tblGrid>
                <a:gridCol w="3233600"/>
                <a:gridCol w="4442750"/>
              </a:tblGrid>
              <a:tr h="2270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Repository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711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All data in a system is managed in a central repository that is accessible to all system components. Components do not interact directly, only through the repository.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08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703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Components can be independent—they do not need to know of the existence of other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Changes made by one component can be propagated to all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All data can be managed consistently (e.g., backups done at the same time) as it is all in one place. </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695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The repository is a single point of failure so problems in the repository affect the whole system.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May be inefficiencies in organizing all communication through the repository</a:t>
                      </a:r>
                      <a:r>
                        <a:rPr lang="en-US" sz="1100">
                          <a:latin typeface="Helvetica Neue"/>
                          <a:ea typeface="Helvetica Neue"/>
                          <a:cs typeface="Helvetica Neue"/>
                          <a:sym typeface="Helvetica Neue"/>
                        </a:rPr>
                        <a:t> – latency and processing overhead.</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Distributing the repository across several computers may be difficult. (Sca</a:t>
                      </a:r>
                      <a:r>
                        <a:rPr lang="en-US" sz="1100">
                          <a:latin typeface="Helvetica Neue"/>
                          <a:ea typeface="Helvetica Neue"/>
                          <a:cs typeface="Helvetica Neue"/>
                          <a:sym typeface="Helvetica Neue"/>
                        </a:rPr>
                        <a:t>lability issue, can be solved by synchronization, but, complex and costly. Also, lacks fault tolerance if distributed</a:t>
                      </a:r>
                      <a:r>
                        <a:rPr lang="en-US" sz="1100" u="none" cap="none" strike="noStrike">
                          <a:solidFill>
                            <a:srgbClr val="000000"/>
                          </a:solidFill>
                          <a:latin typeface="Helvetica Neue"/>
                          <a:ea typeface="Helvetica Neue"/>
                          <a:cs typeface="Helvetica Neue"/>
                          <a:sym typeface="Helvetica Neue"/>
                        </a:rPr>
                        <a:t>)</a:t>
                      </a:r>
                      <a:endParaRPr sz="1400" u="none" cap="none" strike="noStrike"/>
                    </a:p>
                  </a:txBody>
                  <a:tcPr marT="0" marB="0"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53" name="Google Shape;853;p8"/>
          <p:cNvSpPr txBox="1"/>
          <p:nvPr/>
        </p:nvSpPr>
        <p:spPr>
          <a:xfrm>
            <a:off x="899033" y="162621"/>
            <a:ext cx="4376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Summarising</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9"/>
          <p:cNvGrpSpPr/>
          <p:nvPr/>
        </p:nvGrpSpPr>
        <p:grpSpPr>
          <a:xfrm>
            <a:off x="0" y="962950"/>
            <a:ext cx="9144015" cy="4191831"/>
            <a:chOff x="0" y="962950"/>
            <a:chExt cx="9144015" cy="4191831"/>
          </a:xfrm>
        </p:grpSpPr>
        <p:sp>
          <p:nvSpPr>
            <p:cNvPr id="859" name="Google Shape;859;p9"/>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2" name="Google Shape;862;p9"/>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3" name="Google Shape;863;p9"/>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9"/>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t>2. Client-server pattern</a:t>
            </a:r>
            <a:endParaRPr b="1">
              <a:solidFill>
                <a:srgbClr val="434343"/>
              </a:solidFill>
              <a:latin typeface="Oswald"/>
              <a:ea typeface="Oswald"/>
              <a:cs typeface="Oswald"/>
              <a:sym typeface="Oswald"/>
            </a:endParaRPr>
          </a:p>
        </p:txBody>
      </p:sp>
      <p:sp>
        <p:nvSpPr>
          <p:cNvPr id="869" name="Google Shape;869;p9"/>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
          <p:cNvSpPr txBox="1"/>
          <p:nvPr>
            <p:ph idx="1" type="subTitle"/>
          </p:nvPr>
        </p:nvSpPr>
        <p:spPr>
          <a:xfrm>
            <a:off x="703500" y="1942175"/>
            <a:ext cx="3912000" cy="2974500"/>
          </a:xfrm>
          <a:prstGeom prst="rect">
            <a:avLst/>
          </a:prstGeom>
          <a:noFill/>
          <a:ln cap="flat" cmpd="sng" w="9525">
            <a:solidFill>
              <a:schemeClr val="lt2"/>
            </a:solidFill>
            <a:prstDash val="solid"/>
            <a:round/>
            <a:headEnd len="sm" w="sm" type="none"/>
            <a:tailEnd len="sm" w="sm" type="none"/>
          </a:ln>
        </p:spPr>
        <p:txBody>
          <a:bodyPr anchorCtr="0" anchor="t" bIns="0" lIns="0" spcFirstLastPara="1" rIns="0" wrap="square" tIns="0">
            <a:noAutofit/>
          </a:bodyPr>
          <a:lstStyle/>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This pattern consists of two parties; </a:t>
            </a:r>
            <a:r>
              <a:rPr b="1" lang="en-US" sz="1300">
                <a:solidFill>
                  <a:srgbClr val="0000FF"/>
                </a:solidFill>
                <a:latin typeface="Arial"/>
                <a:ea typeface="Arial"/>
                <a:cs typeface="Arial"/>
                <a:sym typeface="Arial"/>
              </a:rPr>
              <a:t>a server and multiple clients.</a:t>
            </a:r>
            <a:endParaRPr b="1" sz="1300">
              <a:solidFill>
                <a:srgbClr val="0000FF"/>
              </a:solidFill>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The server component will provide services to multiple client components. </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Clients request services from the server and the server provides relevant services to those clients.</a:t>
            </a:r>
            <a:endParaRPr b="1" sz="1300">
              <a:latin typeface="Arial"/>
              <a:ea typeface="Arial"/>
              <a:cs typeface="Arial"/>
              <a:sym typeface="Arial"/>
            </a:endParaRPr>
          </a:p>
          <a:p>
            <a:pPr indent="-241300" lvl="0" marL="457200" rtl="0" algn="l">
              <a:lnSpc>
                <a:spcPct val="100000"/>
              </a:lnSpc>
              <a:spcBef>
                <a:spcPts val="0"/>
              </a:spcBef>
              <a:spcAft>
                <a:spcPts val="0"/>
              </a:spcAft>
              <a:buSzPts val="1400"/>
              <a:buFont typeface="Arial"/>
              <a:buChar char="⮚"/>
            </a:pPr>
            <a:r>
              <a:rPr b="1" lang="en-US" sz="1300">
                <a:latin typeface="Arial"/>
                <a:ea typeface="Arial"/>
                <a:cs typeface="Arial"/>
                <a:sym typeface="Arial"/>
              </a:rPr>
              <a:t> Furthermore, the server continues to listen to client requests.</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stand-alone servers which provide specific services such as printing, data management, etc.</a:t>
            </a:r>
            <a:endParaRPr b="1" sz="1300">
              <a:latin typeface="Arial"/>
              <a:ea typeface="Arial"/>
              <a:cs typeface="Arial"/>
              <a:sym typeface="Arial"/>
            </a:endParaRPr>
          </a:p>
          <a:p>
            <a:pPr indent="-241300" lvl="0" marL="457200" rtl="0" algn="l">
              <a:lnSpc>
                <a:spcPct val="90000"/>
              </a:lnSpc>
              <a:spcBef>
                <a:spcPts val="0"/>
              </a:spcBef>
              <a:spcAft>
                <a:spcPts val="0"/>
              </a:spcAft>
              <a:buSzPts val="1400"/>
              <a:buFont typeface="Arial"/>
              <a:buChar char="⮚"/>
            </a:pPr>
            <a:r>
              <a:rPr b="1" lang="en-US" sz="1300">
                <a:latin typeface="Arial"/>
                <a:ea typeface="Arial"/>
                <a:cs typeface="Arial"/>
                <a:sym typeface="Arial"/>
              </a:rPr>
              <a:t>Set of clients which call on these services.</a:t>
            </a:r>
            <a:endParaRPr b="1" sz="1300">
              <a:latin typeface="Arial"/>
              <a:ea typeface="Arial"/>
              <a:cs typeface="Arial"/>
              <a:sym typeface="Arial"/>
            </a:endParaRPr>
          </a:p>
          <a:p>
            <a:pPr indent="-228600" lvl="0" marL="457200" rtl="0" algn="l">
              <a:lnSpc>
                <a:spcPct val="90000"/>
              </a:lnSpc>
              <a:spcBef>
                <a:spcPts val="0"/>
              </a:spcBef>
              <a:spcAft>
                <a:spcPts val="0"/>
              </a:spcAft>
              <a:buSzPts val="1200"/>
              <a:buFont typeface="Noto Sans Symbols"/>
              <a:buChar char="⮚"/>
            </a:pPr>
            <a:r>
              <a:rPr b="1" lang="en-US" sz="1300">
                <a:solidFill>
                  <a:srgbClr val="0000FF"/>
                </a:solidFill>
                <a:latin typeface="Arial"/>
                <a:ea typeface="Arial"/>
                <a:cs typeface="Arial"/>
                <a:sym typeface="Arial"/>
              </a:rPr>
              <a:t>Network</a:t>
            </a:r>
            <a:r>
              <a:rPr b="1" lang="en-US" sz="1300">
                <a:latin typeface="Arial"/>
                <a:ea typeface="Arial"/>
                <a:cs typeface="Arial"/>
                <a:sym typeface="Arial"/>
              </a:rPr>
              <a:t> which allows clients to access servers.</a:t>
            </a:r>
            <a:br>
              <a:rPr lang="en-US"/>
            </a:br>
            <a:endParaRPr sz="1100">
              <a:solidFill>
                <a:srgbClr val="434343"/>
              </a:solidFill>
            </a:endParaRPr>
          </a:p>
        </p:txBody>
      </p:sp>
      <p:sp>
        <p:nvSpPr>
          <p:cNvPr id="875" name="Google Shape;875;p10"/>
          <p:cNvSpPr txBox="1"/>
          <p:nvPr>
            <p:ph type="title"/>
          </p:nvPr>
        </p:nvSpPr>
        <p:spPr>
          <a:xfrm>
            <a:off x="703500" y="73082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b="1" lang="en-US"/>
              <a:t>Client-server pattern</a:t>
            </a:r>
            <a:endParaRPr/>
          </a:p>
        </p:txBody>
      </p:sp>
      <p:pic>
        <p:nvPicPr>
          <p:cNvPr id="876" name="Google Shape;876;p10"/>
          <p:cNvPicPr preferRelativeResize="0"/>
          <p:nvPr/>
        </p:nvPicPr>
        <p:blipFill rotWithShape="1">
          <a:blip r:embed="rId3">
            <a:alphaModFix/>
          </a:blip>
          <a:srcRect b="-2630" l="0" r="0" t="2630"/>
          <a:stretch/>
        </p:blipFill>
        <p:spPr>
          <a:xfrm>
            <a:off x="5618963" y="409200"/>
            <a:ext cx="1858700" cy="2094310"/>
          </a:xfrm>
          <a:prstGeom prst="rect">
            <a:avLst/>
          </a:prstGeom>
          <a:noFill/>
          <a:ln>
            <a:noFill/>
          </a:ln>
        </p:spPr>
      </p:pic>
      <p:pic>
        <p:nvPicPr>
          <p:cNvPr id="877" name="Google Shape;877;p10"/>
          <p:cNvPicPr preferRelativeResize="0"/>
          <p:nvPr/>
        </p:nvPicPr>
        <p:blipFill>
          <a:blip r:embed="rId4">
            <a:alphaModFix/>
          </a:blip>
          <a:stretch>
            <a:fillRect/>
          </a:stretch>
        </p:blipFill>
        <p:spPr>
          <a:xfrm>
            <a:off x="4795550" y="2625926"/>
            <a:ext cx="3505525" cy="2352000"/>
          </a:xfrm>
          <a:prstGeom prst="rect">
            <a:avLst/>
          </a:prstGeom>
          <a:noFill/>
          <a:ln>
            <a:noFill/>
          </a:ln>
        </p:spPr>
      </p:pic>
      <p:sp>
        <p:nvSpPr>
          <p:cNvPr id="878" name="Google Shape;878;p10"/>
          <p:cNvSpPr/>
          <p:nvPr/>
        </p:nvSpPr>
        <p:spPr>
          <a:xfrm>
            <a:off x="703509" y="17739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
          <p:cNvSpPr txBox="1"/>
          <p:nvPr>
            <p:ph idx="1" type="subTitle"/>
          </p:nvPr>
        </p:nvSpPr>
        <p:spPr>
          <a:xfrm>
            <a:off x="499406" y="2296771"/>
            <a:ext cx="3639900" cy="14496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b="1" lang="en-US">
                <a:latin typeface="Helvetica Neue"/>
                <a:ea typeface="Helvetica Neue"/>
                <a:cs typeface="Helvetica Neue"/>
                <a:sym typeface="Helvetica Neue"/>
              </a:rPr>
              <a:t>Online applications such as email, document sharing and banking.</a:t>
            </a:r>
            <a:endParaRPr b="1">
              <a:latin typeface="Advent Pro"/>
              <a:ea typeface="Advent Pro"/>
              <a:cs typeface="Advent Pro"/>
              <a:sym typeface="Advent Pro"/>
            </a:endParaRPr>
          </a:p>
          <a:p>
            <a:pPr indent="-171450" lvl="0" marL="171450" rtl="0" algn="l">
              <a:lnSpc>
                <a:spcPct val="115000"/>
              </a:lnSpc>
              <a:spcBef>
                <a:spcPts val="0"/>
              </a:spcBef>
              <a:spcAft>
                <a:spcPts val="0"/>
              </a:spcAft>
              <a:buClr>
                <a:schemeClr val="dk1"/>
              </a:buClr>
              <a:buSzPts val="600"/>
              <a:buFont typeface="Noto Sans Symbols"/>
              <a:buChar char="⮚"/>
            </a:pPr>
            <a:r>
              <a:rPr b="1" lang="en-US">
                <a:solidFill>
                  <a:schemeClr val="dk1"/>
                </a:solidFill>
                <a:latin typeface="Helvetica Neue"/>
                <a:ea typeface="Helvetica Neue"/>
                <a:cs typeface="Helvetica Neue"/>
                <a:sym typeface="Helvetica Neue"/>
              </a:rPr>
              <a:t>Figure  is an example of a film and video/DVD library organized as a client–server system.</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None/>
            </a:pPr>
            <a:r>
              <a:t/>
            </a:r>
            <a:endParaRPr>
              <a:solidFill>
                <a:srgbClr val="000000"/>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600"/>
              <a:buNone/>
            </a:pPr>
            <a:r>
              <a:t/>
            </a:r>
            <a:endParaRPr/>
          </a:p>
          <a:p>
            <a:pPr indent="0" lvl="0" marL="0" rtl="0" algn="l">
              <a:lnSpc>
                <a:spcPct val="115000"/>
              </a:lnSpc>
              <a:spcBef>
                <a:spcPts val="0"/>
              </a:spcBef>
              <a:spcAft>
                <a:spcPts val="0"/>
              </a:spcAft>
              <a:buClr>
                <a:schemeClr val="dk1"/>
              </a:buClr>
              <a:buSzPts val="600"/>
              <a:buFont typeface="Arial"/>
              <a:buNone/>
            </a:pPr>
            <a:br>
              <a:rPr lang="en-US" sz="1100">
                <a:solidFill>
                  <a:srgbClr val="434343"/>
                </a:solidFill>
              </a:rPr>
            </a:br>
            <a:endParaRPr sz="1100">
              <a:solidFill>
                <a:srgbClr val="434343"/>
              </a:solidFill>
            </a:endParaRPr>
          </a:p>
        </p:txBody>
      </p:sp>
      <p:sp>
        <p:nvSpPr>
          <p:cNvPr id="884" name="Google Shape;884;p11"/>
          <p:cNvSpPr txBox="1"/>
          <p:nvPr>
            <p:ph type="title"/>
          </p:nvPr>
        </p:nvSpPr>
        <p:spPr>
          <a:xfrm>
            <a:off x="703500" y="1403875"/>
            <a:ext cx="3189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endParaRPr>
              <a:solidFill>
                <a:srgbClr val="434343"/>
              </a:solidFill>
            </a:endParaRPr>
          </a:p>
        </p:txBody>
      </p:sp>
      <p:sp>
        <p:nvSpPr>
          <p:cNvPr id="885" name="Google Shape;885;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1 ClientServerFilmPhoto.eps" id="886" name="Google Shape;886;p11"/>
          <p:cNvPicPr preferRelativeResize="0"/>
          <p:nvPr/>
        </p:nvPicPr>
        <p:blipFill rotWithShape="1">
          <a:blip r:embed="rId3">
            <a:alphaModFix/>
          </a:blip>
          <a:srcRect b="0" l="-1062" r="-1062" t="0"/>
          <a:stretch/>
        </p:blipFill>
        <p:spPr>
          <a:xfrm>
            <a:off x="5486399" y="1558117"/>
            <a:ext cx="3287486" cy="1952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2"/>
          <p:cNvSpPr txBox="1"/>
          <p:nvPr>
            <p:ph type="title"/>
          </p:nvPr>
        </p:nvSpPr>
        <p:spPr>
          <a:xfrm>
            <a:off x="779699" y="76982"/>
            <a:ext cx="6873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a:t>
            </a:r>
            <a:r>
              <a:rPr lang="en-US"/>
              <a:t> Client-Server Architecture</a:t>
            </a:r>
            <a:endParaRPr/>
          </a:p>
        </p:txBody>
      </p:sp>
      <p:graphicFrame>
        <p:nvGraphicFramePr>
          <p:cNvPr id="892" name="Google Shape;892;p12"/>
          <p:cNvGraphicFramePr/>
          <p:nvPr/>
        </p:nvGraphicFramePr>
        <p:xfrm>
          <a:off x="779710" y="663014"/>
          <a:ext cx="3000000" cy="3000000"/>
        </p:xfrm>
        <a:graphic>
          <a:graphicData uri="http://schemas.openxmlformats.org/drawingml/2006/table">
            <a:tbl>
              <a:tblPr bandRow="1" firstRow="1">
                <a:noFill/>
                <a:tableStyleId>{10DDA032-6C51-4F11-9112-2E9E8803CBD6}</a:tableStyleId>
              </a:tblPr>
              <a:tblGrid>
                <a:gridCol w="1884225"/>
                <a:gridCol w="5560075"/>
              </a:tblGrid>
              <a:tr h="2130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Name </a:t>
                      </a:r>
                      <a:endParaRPr sz="14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Client-server</a:t>
                      </a:r>
                      <a:endParaRPr sz="14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52025">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Description</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lang="en-US" sz="1200" u="none" cap="none" strike="noStrike">
                          <a:solidFill>
                            <a:srgbClr val="000000"/>
                          </a:solidFill>
                          <a:latin typeface="Helvetica Neue"/>
                          <a:ea typeface="Helvetica Neue"/>
                          <a:cs typeface="Helvetica Neue"/>
                          <a:sym typeface="Helvetica Neue"/>
                        </a:rPr>
                        <a:t>In a client–server architecture, the functionality of the system is organized into </a:t>
                      </a:r>
                      <a:r>
                        <a:rPr lang="en-US" sz="1200" u="none" cap="none" strike="noStrike">
                          <a:solidFill>
                            <a:srgbClr val="0000FF"/>
                          </a:solidFill>
                          <a:latin typeface="Helvetica Neue"/>
                          <a:ea typeface="Helvetica Neue"/>
                          <a:cs typeface="Helvetica Neue"/>
                          <a:sym typeface="Helvetica Neue"/>
                        </a:rPr>
                        <a:t>services</a:t>
                      </a:r>
                      <a:r>
                        <a:rPr lang="en-US" sz="1200" u="none" cap="none" strike="noStrike">
                          <a:solidFill>
                            <a:srgbClr val="000000"/>
                          </a:solidFill>
                          <a:latin typeface="Helvetica Neue"/>
                          <a:ea typeface="Helvetica Neue"/>
                          <a:cs typeface="Helvetica Neue"/>
                          <a:sym typeface="Helvetica Neue"/>
                        </a:rPr>
                        <a:t>, with each service delivered from a separate server. Clients are users of these services and access servers to make use of them.</a:t>
                      </a:r>
                      <a:endParaRPr sz="12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9025">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When used</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lang="en-US" sz="1200" u="none" cap="none" strike="noStrike">
                          <a:solidFill>
                            <a:srgbClr val="000000"/>
                          </a:solidFill>
                          <a:latin typeface="Helvetica Neue"/>
                          <a:ea typeface="Helvetica Neue"/>
                          <a:cs typeface="Helvetica Neue"/>
                          <a:sym typeface="Helvetica Neue"/>
                        </a:rPr>
                        <a:t>Used when data in a shared database has to be accessed from a range of </a:t>
                      </a:r>
                      <a:r>
                        <a:rPr lang="en-US" sz="1200" u="none" cap="none" strike="noStrike">
                          <a:solidFill>
                            <a:srgbClr val="0000FF"/>
                          </a:solidFill>
                          <a:latin typeface="Helvetica Neue"/>
                          <a:ea typeface="Helvetica Neue"/>
                          <a:cs typeface="Helvetica Neue"/>
                          <a:sym typeface="Helvetica Neue"/>
                        </a:rPr>
                        <a:t>locations</a:t>
                      </a:r>
                      <a:r>
                        <a:rPr lang="en-US" sz="1200" u="none" cap="none" strike="noStrike">
                          <a:solidFill>
                            <a:srgbClr val="000000"/>
                          </a:solidFill>
                          <a:latin typeface="Helvetica Neue"/>
                          <a:ea typeface="Helvetica Neue"/>
                          <a:cs typeface="Helvetica Neue"/>
                          <a:sym typeface="Helvetica Neue"/>
                        </a:rPr>
                        <a:t>. Because servers can be </a:t>
                      </a:r>
                      <a:r>
                        <a:rPr lang="en-US" sz="1200" u="none" cap="none" strike="noStrike">
                          <a:solidFill>
                            <a:srgbClr val="0000FF"/>
                          </a:solidFill>
                          <a:latin typeface="Helvetica Neue"/>
                          <a:ea typeface="Helvetica Neue"/>
                          <a:cs typeface="Helvetica Neue"/>
                          <a:sym typeface="Helvetica Neue"/>
                        </a:rPr>
                        <a:t>replicated</a:t>
                      </a:r>
                      <a:r>
                        <a:rPr lang="en-US" sz="1200" u="none" cap="none" strike="noStrike">
                          <a:solidFill>
                            <a:srgbClr val="000000"/>
                          </a:solidFill>
                          <a:latin typeface="Helvetica Neue"/>
                          <a:ea typeface="Helvetica Neue"/>
                          <a:cs typeface="Helvetica Neue"/>
                          <a:sym typeface="Helvetica Neue"/>
                        </a:rPr>
                        <a:t>, may also be used when the </a:t>
                      </a:r>
                      <a:r>
                        <a:rPr lang="en-US" sz="1200" u="none" cap="none" strike="noStrike">
                          <a:solidFill>
                            <a:srgbClr val="0000FF"/>
                          </a:solidFill>
                          <a:latin typeface="Helvetica Neue"/>
                          <a:ea typeface="Helvetica Neue"/>
                          <a:cs typeface="Helvetica Neue"/>
                          <a:sym typeface="Helvetica Neue"/>
                        </a:rPr>
                        <a:t>load on a system is variable</a:t>
                      </a:r>
                      <a:r>
                        <a:rPr lang="en-US" sz="1200">
                          <a:latin typeface="Helvetica Neue"/>
                          <a:ea typeface="Helvetica Neue"/>
                          <a:cs typeface="Helvetica Neue"/>
                          <a:sym typeface="Helvetica Neue"/>
                        </a:rPr>
                        <a:t> and can be resolved by a load balancer.</a:t>
                      </a:r>
                      <a:endParaRPr sz="12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12050">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Advantages</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34950" lvl="0" marL="285750" marR="0" rtl="0" algn="just">
                        <a:lnSpc>
                          <a:spcPct val="100000"/>
                        </a:lnSpc>
                        <a:spcBef>
                          <a:spcPts val="0"/>
                        </a:spcBef>
                        <a:spcAft>
                          <a:spcPts val="0"/>
                        </a:spcAft>
                        <a:buClr>
                          <a:srgbClr val="000000"/>
                        </a:buClr>
                        <a:buSzPts val="600"/>
                        <a:buFont typeface="Arial"/>
                        <a:buChar char="●"/>
                      </a:pPr>
                      <a:r>
                        <a:rPr lang="en-US" sz="1200" u="none" cap="none" strike="noStrike">
                          <a:solidFill>
                            <a:srgbClr val="000000"/>
                          </a:solidFill>
                          <a:latin typeface="Helvetica Neue"/>
                          <a:ea typeface="Helvetica Neue"/>
                          <a:cs typeface="Helvetica Neue"/>
                          <a:sym typeface="Helvetica Neue"/>
                        </a:rPr>
                        <a:t>The principal advantage of this model is that </a:t>
                      </a:r>
                      <a:r>
                        <a:rPr lang="en-US" sz="1200" u="none" cap="none" strike="noStrike">
                          <a:solidFill>
                            <a:srgbClr val="0000FF"/>
                          </a:solidFill>
                          <a:latin typeface="Helvetica Neue"/>
                          <a:ea typeface="Helvetica Neue"/>
                          <a:cs typeface="Helvetica Neue"/>
                          <a:sym typeface="Helvetica Neue"/>
                        </a:rPr>
                        <a:t>servers can be distributed</a:t>
                      </a:r>
                      <a:r>
                        <a:rPr lang="en-US" sz="1200" u="none" cap="none" strike="noStrike">
                          <a:solidFill>
                            <a:srgbClr val="000000"/>
                          </a:solidFill>
                          <a:latin typeface="Helvetica Neue"/>
                          <a:ea typeface="Helvetica Neue"/>
                          <a:cs typeface="Helvetica Neue"/>
                          <a:sym typeface="Helvetica Neue"/>
                        </a:rPr>
                        <a:t> across a network. </a:t>
                      </a:r>
                      <a:endParaRPr sz="1200" u="none" cap="none" strike="noStrike">
                        <a:solidFill>
                          <a:srgbClr val="000000"/>
                        </a:solidFill>
                        <a:latin typeface="Helvetica Neue"/>
                        <a:ea typeface="Helvetica Neue"/>
                        <a:cs typeface="Helvetica Neue"/>
                        <a:sym typeface="Helvetica Neue"/>
                      </a:endParaRPr>
                    </a:p>
                    <a:p>
                      <a:pPr indent="-234950" lvl="0" marL="285750" marR="0" rtl="0" algn="just">
                        <a:lnSpc>
                          <a:spcPct val="100000"/>
                        </a:lnSpc>
                        <a:spcBef>
                          <a:spcPts val="0"/>
                        </a:spcBef>
                        <a:spcAft>
                          <a:spcPts val="0"/>
                        </a:spcAft>
                        <a:buClr>
                          <a:srgbClr val="000000"/>
                        </a:buClr>
                        <a:buSzPts val="600"/>
                        <a:buFont typeface="Arial"/>
                        <a:buChar char="●"/>
                      </a:pPr>
                      <a:r>
                        <a:rPr lang="en-US" sz="1200">
                          <a:latin typeface="Helvetica Neue"/>
                          <a:ea typeface="Helvetica Neue"/>
                          <a:cs typeface="Helvetica Neue"/>
                          <a:sym typeface="Helvetica Neue"/>
                        </a:rPr>
                        <a:t>Cost efficient as requires less maintenance cost and Data recovery is possible.</a:t>
                      </a:r>
                      <a:endParaRPr sz="1200">
                        <a:latin typeface="Helvetica Neue"/>
                        <a:ea typeface="Helvetica Neue"/>
                        <a:cs typeface="Helvetica Neue"/>
                        <a:sym typeface="Helvetica Neue"/>
                      </a:endParaRPr>
                    </a:p>
                    <a:p>
                      <a:pPr indent="-234950" lvl="0" marL="285750" marR="0" rtl="0" algn="just">
                        <a:lnSpc>
                          <a:spcPct val="100000"/>
                        </a:lnSpc>
                        <a:spcBef>
                          <a:spcPts val="0"/>
                        </a:spcBef>
                        <a:spcAft>
                          <a:spcPts val="0"/>
                        </a:spcAft>
                        <a:buSzPts val="600"/>
                        <a:buFont typeface="Helvetica Neue"/>
                        <a:buChar char="●"/>
                      </a:pPr>
                      <a:r>
                        <a:rPr lang="en-US" sz="1200">
                          <a:latin typeface="Helvetica Neue"/>
                          <a:ea typeface="Helvetica Neue"/>
                          <a:cs typeface="Helvetica Neue"/>
                          <a:sym typeface="Helvetica Neue"/>
                        </a:rPr>
                        <a:t>Can be </a:t>
                      </a:r>
                      <a:r>
                        <a:rPr lang="en-US" sz="1200">
                          <a:solidFill>
                            <a:srgbClr val="0000FF"/>
                          </a:solidFill>
                          <a:latin typeface="Helvetica Neue"/>
                          <a:ea typeface="Helvetica Neue"/>
                          <a:cs typeface="Helvetica Neue"/>
                          <a:sym typeface="Helvetica Neue"/>
                        </a:rPr>
                        <a:t>deployed </a:t>
                      </a:r>
                      <a:r>
                        <a:rPr lang="en-US" sz="1200">
                          <a:latin typeface="Helvetica Neue"/>
                          <a:ea typeface="Helvetica Neue"/>
                          <a:cs typeface="Helvetica Neue"/>
                          <a:sym typeface="Helvetica Neue"/>
                        </a:rPr>
                        <a:t>to the cloud, hosted and managed by third-parties (AWS, Azure) which offloads physical infrastructure burden and easy to manage.</a:t>
                      </a:r>
                      <a:endParaRPr sz="1200">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78075">
                <a:tc>
                  <a:txBody>
                    <a:bodyPr/>
                    <a:lstStyle/>
                    <a:p>
                      <a:pPr indent="0" lvl="0" marL="0" marR="0" rtl="0" algn="just">
                        <a:lnSpc>
                          <a:spcPct val="100000"/>
                        </a:lnSpc>
                        <a:spcBef>
                          <a:spcPts val="0"/>
                        </a:spcBef>
                        <a:spcAft>
                          <a:spcPts val="0"/>
                        </a:spcAft>
                        <a:buClr>
                          <a:srgbClr val="000000"/>
                        </a:buClr>
                        <a:buSzPts val="1400"/>
                        <a:buFont typeface="Arial"/>
                        <a:buNone/>
                      </a:pPr>
                      <a:r>
                        <a:rPr b="1" lang="en-US" sz="1200" u="none" cap="none" strike="noStrike">
                          <a:solidFill>
                            <a:srgbClr val="000000"/>
                          </a:solidFill>
                          <a:latin typeface="Helvetica Neue"/>
                          <a:ea typeface="Helvetica Neue"/>
                          <a:cs typeface="Helvetica Neue"/>
                          <a:sym typeface="Helvetica Neue"/>
                        </a:rPr>
                        <a:t>Disadvantages</a:t>
                      </a:r>
                      <a:endParaRPr sz="1200" u="none" cap="none" strike="noStrike">
                        <a:solidFill>
                          <a:srgbClr val="000000"/>
                        </a:solidFill>
                        <a:latin typeface="Helvetica Neue"/>
                        <a:ea typeface="Helvetica Neue"/>
                        <a:cs typeface="Helvetica Neue"/>
                        <a:sym typeface="Helvetica Neue"/>
                      </a:endParaRPr>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Each service is a single point of failure so susceptible to denial of service (DoS) </a:t>
                      </a:r>
                      <a:r>
                        <a:rPr lang="en-US" sz="1200">
                          <a:latin typeface="Helvetica Neue"/>
                          <a:ea typeface="Helvetica Neue"/>
                          <a:cs typeface="Helvetica Neue"/>
                          <a:sym typeface="Helvetica Neue"/>
                        </a:rPr>
                        <a:t>attacks</a:t>
                      </a:r>
                      <a:r>
                        <a:rPr lang="en-US" sz="1200" u="none" cap="none" strike="noStrike">
                          <a:solidFill>
                            <a:srgbClr val="000000"/>
                          </a:solidFill>
                          <a:latin typeface="Helvetica Neue"/>
                          <a:ea typeface="Helvetica Neue"/>
                          <a:cs typeface="Helvetica Neue"/>
                          <a:sym typeface="Helvetica Neue"/>
                        </a:rPr>
                        <a:t> or server failure. </a:t>
                      </a:r>
                      <a:endParaRPr sz="1200" u="none" cap="none" strike="noStrike">
                        <a:solidFill>
                          <a:srgbClr val="000000"/>
                        </a:solidFill>
                        <a:latin typeface="Helvetica Neue"/>
                        <a:ea typeface="Helvetica Neue"/>
                        <a:cs typeface="Helvetica Neue"/>
                        <a:sym typeface="Helvetica Neue"/>
                      </a:endParaRPr>
                    </a:p>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Performance may be unpredictable because it depends on the network as well as the system. </a:t>
                      </a:r>
                      <a:endParaRPr sz="1200" u="none" cap="none" strike="noStrike">
                        <a:solidFill>
                          <a:srgbClr val="000000"/>
                        </a:solidFill>
                        <a:latin typeface="Helvetica Neue"/>
                        <a:ea typeface="Helvetica Neue"/>
                        <a:cs typeface="Helvetica Neue"/>
                        <a:sym typeface="Helvetica Neue"/>
                      </a:endParaRPr>
                    </a:p>
                    <a:p>
                      <a:pPr indent="-2730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May be management problems if servers are owned by different organizations.</a:t>
                      </a:r>
                      <a:endParaRPr sz="1200" u="none" cap="none" strike="noStrike"/>
                    </a:p>
                  </a:txBody>
                  <a:tcPr marT="0" marB="0"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grpSp>
        <p:nvGrpSpPr>
          <p:cNvPr id="897" name="Google Shape;897;p13"/>
          <p:cNvGrpSpPr/>
          <p:nvPr/>
        </p:nvGrpSpPr>
        <p:grpSpPr>
          <a:xfrm>
            <a:off x="0" y="962950"/>
            <a:ext cx="9144015" cy="4191831"/>
            <a:chOff x="0" y="962950"/>
            <a:chExt cx="9144015" cy="4191831"/>
          </a:xfrm>
        </p:grpSpPr>
        <p:sp>
          <p:nvSpPr>
            <p:cNvPr id="898" name="Google Shape;898;p1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1" name="Google Shape;901;p1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2" name="Google Shape;902;p1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7" name="Google Shape;907;p13"/>
          <p:cNvSpPr txBox="1"/>
          <p:nvPr>
            <p:ph type="title"/>
          </p:nvPr>
        </p:nvSpPr>
        <p:spPr>
          <a:xfrm>
            <a:off x="1094578" y="1917806"/>
            <a:ext cx="7368600" cy="159110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6000"/>
              <a:buNone/>
            </a:pPr>
            <a:r>
              <a:rPr b="1" lang="en-US"/>
              <a:t>3.  Pipe-filter pattern</a:t>
            </a:r>
            <a:br>
              <a:rPr b="1" lang="en-US"/>
            </a:br>
            <a:endParaRPr/>
          </a:p>
        </p:txBody>
      </p:sp>
      <p:sp>
        <p:nvSpPr>
          <p:cNvPr id="908" name="Google Shape;908;p1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4"/>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txBox="1"/>
          <p:nvPr>
            <p:ph idx="1" type="subTitle"/>
          </p:nvPr>
        </p:nvSpPr>
        <p:spPr>
          <a:xfrm>
            <a:off x="703500" y="2579800"/>
            <a:ext cx="3835728"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None/>
            </a:pPr>
            <a:r>
              <a:rPr b="1" lang="en-US">
                <a:latin typeface="Arial"/>
                <a:ea typeface="Arial"/>
                <a:cs typeface="Arial"/>
                <a:sym typeface="Arial"/>
              </a:rPr>
              <a:t>This pattern can be used to structure systems which produce and process a stream of data. Each processing step is enclosed within a filter component. Data to be processed is passed through pipes. These pipes can be used for buffering or for synchronization purposes.</a:t>
            </a:r>
            <a:endParaRPr b="1" sz="1100">
              <a:solidFill>
                <a:srgbClr val="434343"/>
              </a:solidFill>
              <a:latin typeface="Arial"/>
              <a:ea typeface="Arial"/>
              <a:cs typeface="Arial"/>
              <a:sym typeface="Arial"/>
            </a:endParaRPr>
          </a:p>
        </p:txBody>
      </p:sp>
      <p:sp>
        <p:nvSpPr>
          <p:cNvPr id="915" name="Google Shape;915;p1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solidFill>
                  <a:srgbClr val="434343"/>
                </a:solidFill>
              </a:rPr>
              <a:t>What is it about?</a:t>
            </a:r>
            <a:endParaRPr>
              <a:solidFill>
                <a:srgbClr val="434343"/>
              </a:solidFill>
            </a:endParaRPr>
          </a:p>
        </p:txBody>
      </p:sp>
      <p:pic>
        <p:nvPicPr>
          <p:cNvPr id="916" name="Google Shape;916;p14"/>
          <p:cNvPicPr preferRelativeResize="0"/>
          <p:nvPr/>
        </p:nvPicPr>
        <p:blipFill rotWithShape="1">
          <a:blip r:embed="rId3">
            <a:alphaModFix/>
          </a:blip>
          <a:srcRect b="0" l="0" r="0" t="0"/>
          <a:stretch/>
        </p:blipFill>
        <p:spPr>
          <a:xfrm>
            <a:off x="5399315" y="1959428"/>
            <a:ext cx="3211287" cy="13569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5"/>
          <p:cNvSpPr txBox="1"/>
          <p:nvPr>
            <p:ph idx="1" type="subTitle"/>
          </p:nvPr>
        </p:nvSpPr>
        <p:spPr>
          <a:xfrm>
            <a:off x="373725" y="2087700"/>
            <a:ext cx="3518700" cy="9729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Arial"/>
              <a:buChar char="•"/>
            </a:pPr>
            <a:r>
              <a:rPr b="1" lang="en-US">
                <a:latin typeface="Arial"/>
                <a:ea typeface="Arial"/>
                <a:cs typeface="Arial"/>
                <a:sym typeface="Arial"/>
              </a:rPr>
              <a:t>Compilers. The consecutive filters perform lexical analysis, parsing, semantic analysis, and code generation.</a:t>
            </a:r>
            <a:endParaRPr b="1">
              <a:latin typeface="Arial"/>
              <a:ea typeface="Arial"/>
              <a:cs typeface="Arial"/>
              <a:sym typeface="Arial"/>
            </a:endParaRPr>
          </a:p>
          <a:p>
            <a:pPr indent="-228600" lvl="0" marL="457200" rtl="0" algn="l">
              <a:lnSpc>
                <a:spcPct val="100000"/>
              </a:lnSpc>
              <a:spcBef>
                <a:spcPts val="0"/>
              </a:spcBef>
              <a:spcAft>
                <a:spcPts val="0"/>
              </a:spcAft>
              <a:buSzPts val="1200"/>
              <a:buFont typeface="Arial"/>
              <a:buChar char="•"/>
            </a:pPr>
            <a:r>
              <a:rPr b="1" lang="en-US">
                <a:solidFill>
                  <a:schemeClr val="dk1"/>
                </a:solidFill>
                <a:latin typeface="Arial"/>
                <a:ea typeface="Arial"/>
                <a:cs typeface="Arial"/>
                <a:sym typeface="Arial"/>
              </a:rPr>
              <a:t>Figure beside is an </a:t>
            </a:r>
            <a:r>
              <a:rPr b="1" lang="en-US">
                <a:latin typeface="Arial"/>
                <a:ea typeface="Arial"/>
                <a:cs typeface="Arial"/>
                <a:sym typeface="Arial"/>
              </a:rPr>
              <a:t>example of the pipe and filter architecture used in a payments system</a:t>
            </a:r>
            <a:endParaRPr sz="1100">
              <a:solidFill>
                <a:srgbClr val="434343"/>
              </a:solidFill>
              <a:latin typeface="Arial"/>
              <a:ea typeface="Arial"/>
              <a:cs typeface="Arial"/>
              <a:sym typeface="Arial"/>
            </a:endParaRPr>
          </a:p>
        </p:txBody>
      </p:sp>
      <p:sp>
        <p:nvSpPr>
          <p:cNvPr id="923" name="Google Shape;923;p15"/>
          <p:cNvSpPr txBox="1"/>
          <p:nvPr>
            <p:ph type="title"/>
          </p:nvPr>
        </p:nvSpPr>
        <p:spPr>
          <a:xfrm>
            <a:off x="703500" y="1403875"/>
            <a:ext cx="3189000" cy="68383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b="1" lang="en-US"/>
              <a:t>Usage</a:t>
            </a:r>
            <a:endParaRPr/>
          </a:p>
        </p:txBody>
      </p:sp>
      <p:sp>
        <p:nvSpPr>
          <p:cNvPr descr="mage for post" id="924" name="Google Shape;924;p15"/>
          <p:cNvSpPr/>
          <p:nvPr/>
        </p:nvSpPr>
        <p:spPr>
          <a:xfrm>
            <a:off x="0" y="0"/>
            <a:ext cx="7581900"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3 InvoiceProc.eps" id="925" name="Google Shape;925;p15"/>
          <p:cNvPicPr preferRelativeResize="0"/>
          <p:nvPr/>
        </p:nvPicPr>
        <p:blipFill rotWithShape="1">
          <a:blip r:embed="rId3">
            <a:alphaModFix/>
          </a:blip>
          <a:srcRect b="0" l="0" r="0" t="0"/>
          <a:stretch/>
        </p:blipFill>
        <p:spPr>
          <a:xfrm>
            <a:off x="5100975" y="1675650"/>
            <a:ext cx="3814325" cy="1797001"/>
          </a:xfrm>
          <a:prstGeom prst="rect">
            <a:avLst/>
          </a:prstGeom>
          <a:noFill/>
          <a:ln>
            <a:noFill/>
          </a:ln>
        </p:spPr>
      </p:pic>
      <p:pic>
        <p:nvPicPr>
          <p:cNvPr id="926" name="Google Shape;926;p15"/>
          <p:cNvPicPr preferRelativeResize="0"/>
          <p:nvPr/>
        </p:nvPicPr>
        <p:blipFill>
          <a:blip r:embed="rId4">
            <a:alphaModFix/>
          </a:blip>
          <a:stretch>
            <a:fillRect/>
          </a:stretch>
        </p:blipFill>
        <p:spPr>
          <a:xfrm>
            <a:off x="703488" y="3141325"/>
            <a:ext cx="3551766" cy="177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6"/>
          <p:cNvSpPr txBox="1"/>
          <p:nvPr>
            <p:ph type="title"/>
          </p:nvPr>
        </p:nvSpPr>
        <p:spPr>
          <a:xfrm>
            <a:off x="707569" y="228781"/>
            <a:ext cx="6052459"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SUMMARIZING</a:t>
            </a:r>
            <a:r>
              <a:rPr lang="en-US"/>
              <a:t> PIPE-FILTER</a:t>
            </a:r>
            <a:endParaRPr>
              <a:solidFill>
                <a:srgbClr val="434343"/>
              </a:solidFill>
            </a:endParaRPr>
          </a:p>
        </p:txBody>
      </p:sp>
      <p:graphicFrame>
        <p:nvGraphicFramePr>
          <p:cNvPr id="932" name="Google Shape;932;p16"/>
          <p:cNvGraphicFramePr/>
          <p:nvPr/>
        </p:nvGraphicFramePr>
        <p:xfrm>
          <a:off x="707571" y="825633"/>
          <a:ext cx="3000000" cy="3000000"/>
        </p:xfrm>
        <a:graphic>
          <a:graphicData uri="http://schemas.openxmlformats.org/drawingml/2006/table">
            <a:tbl>
              <a:tblPr bandRow="1" firstRow="1">
                <a:noFill/>
                <a:tableStyleId>{10DDA032-6C51-4F11-9112-2E9E8803CBD6}</a:tableStyleId>
              </a:tblPr>
              <a:tblGrid>
                <a:gridCol w="1575300"/>
                <a:gridCol w="6090550"/>
              </a:tblGrid>
              <a:tr h="254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Pipe and filter</a:t>
                      </a:r>
                      <a:endParaRPr sz="1400" u="none" cap="none" strike="noStrike"/>
                    </a:p>
                  </a:txBody>
                  <a:tcPr marT="0" marB="0" marR="68575" marL="68575"/>
                </a:tc>
              </a:tr>
              <a:tr h="883450">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Description</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The processing of the data in a system is organized so that each processing component (filter) is discrete and carries out one type of data transformation. The data flows (as in a pipe) from one component to another for processing. </a:t>
                      </a:r>
                      <a:endParaRPr sz="1400" u="none" cap="none" strike="noStrike"/>
                    </a:p>
                  </a:txBody>
                  <a:tcPr marT="0" marB="0" marR="68575" marL="68575"/>
                </a:tc>
              </a:tr>
              <a:tr h="662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When used</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Commonly used in data processing applications (both batch- and transaction-based) where inputs are processed in separate stages to generate related outputs.</a:t>
                      </a:r>
                      <a:endParaRPr sz="1400" u="none" cap="none" strike="noStrike"/>
                    </a:p>
                  </a:txBody>
                  <a:tcPr marT="0" marB="0" marR="68575" marL="68575"/>
                </a:tc>
              </a:tr>
              <a:tr h="8233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Easy to understand and supports transformation reuse.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Workflow style matches the structure of many business processes.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Evolution by adding transformations is straightforward.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Can be implemented as either a sequential or concurrent system.</a:t>
                      </a:r>
                      <a:endParaRPr sz="1400" u="none" cap="none" strike="noStrike"/>
                    </a:p>
                  </a:txBody>
                  <a:tcPr marT="0" marB="0" marR="68575" marL="68575"/>
                </a:tc>
              </a:tr>
              <a:tr h="14408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Disadvantages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The format for data transfer has to be agreed upon between communicating transformations.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Each transformation must parse its input and unparse its output to the agreed form.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This increases system overhead and may mean that it is impossible to reuse functional transformations that use incompatible data structures.</a:t>
                      </a:r>
                      <a:endParaRPr sz="1400" u="none" cap="none" strike="noStrike"/>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6" name="Shape 936"/>
        <p:cNvGrpSpPr/>
        <p:nvPr/>
      </p:nvGrpSpPr>
      <p:grpSpPr>
        <a:xfrm>
          <a:off x="0" y="0"/>
          <a:ext cx="0" cy="0"/>
          <a:chOff x="0" y="0"/>
          <a:chExt cx="0" cy="0"/>
        </a:xfrm>
      </p:grpSpPr>
      <p:sp>
        <p:nvSpPr>
          <p:cNvPr id="937" name="Google Shape;937;p17"/>
          <p:cNvSpPr txBox="1"/>
          <p:nvPr>
            <p:ph idx="1" type="subTitle"/>
          </p:nvPr>
        </p:nvSpPr>
        <p:spPr>
          <a:xfrm>
            <a:off x="1863725" y="2681732"/>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US"/>
              <a:t>Read supplementary slides</a:t>
            </a:r>
            <a:endParaRPr/>
          </a:p>
          <a:p>
            <a:pPr indent="0" lvl="0" marL="0" rtl="0" algn="ctr">
              <a:lnSpc>
                <a:spcPct val="100000"/>
              </a:lnSpc>
              <a:spcBef>
                <a:spcPts val="0"/>
              </a:spcBef>
              <a:spcAft>
                <a:spcPts val="0"/>
              </a:spcAft>
              <a:buClr>
                <a:schemeClr val="dk1"/>
              </a:buClr>
              <a:buSzPts val="1100"/>
              <a:buNone/>
            </a:pPr>
            <a:r>
              <a:rPr lang="en-US"/>
              <a:t>More Reading:</a:t>
            </a:r>
            <a:endParaRPr/>
          </a:p>
          <a:p>
            <a:pPr indent="0" lvl="0" marL="0" rtl="0" algn="ctr">
              <a:lnSpc>
                <a:spcPct val="100000"/>
              </a:lnSpc>
              <a:spcBef>
                <a:spcPts val="0"/>
              </a:spcBef>
              <a:spcAft>
                <a:spcPts val="0"/>
              </a:spcAft>
              <a:buClr>
                <a:schemeClr val="dk1"/>
              </a:buClr>
              <a:buSzPts val="1100"/>
              <a:buNone/>
            </a:pPr>
            <a:r>
              <a:rPr lang="en-US"/>
              <a:t> https://towardsdatascience.com/10-common-software-architectural-patterns-in-a-nutshell-a0b47a1e9013 </a:t>
            </a:r>
            <a:endParaRPr/>
          </a:p>
          <a:p>
            <a:pPr indent="0" lvl="0" marL="0" rtl="0" algn="ctr">
              <a:lnSpc>
                <a:spcPct val="100000"/>
              </a:lnSpc>
              <a:spcBef>
                <a:spcPts val="0"/>
              </a:spcBef>
              <a:spcAft>
                <a:spcPts val="0"/>
              </a:spcAft>
              <a:buClr>
                <a:schemeClr val="dk1"/>
              </a:buClr>
              <a:buSzPts val="1100"/>
              <a:buNone/>
            </a:pPr>
            <a:r>
              <a:rPr lang="en-US"/>
              <a:t>https://medium.com/@tkchandravadhana/pipe-and-filter-architecture-style-f0e317df4c85</a:t>
            </a:r>
            <a:br>
              <a:rPr lang="en-US">
                <a:solidFill>
                  <a:srgbClr val="FFC39F"/>
                </a:solidFill>
              </a:rPr>
            </a:br>
            <a:endParaRPr>
              <a:solidFill>
                <a:srgbClr val="FFC39F"/>
              </a:solidFill>
            </a:endParaRPr>
          </a:p>
          <a:p>
            <a:pPr indent="0" lvl="0" marL="0" rtl="0" algn="ctr">
              <a:lnSpc>
                <a:spcPct val="100000"/>
              </a:lnSpc>
              <a:spcBef>
                <a:spcPts val="0"/>
              </a:spcBef>
              <a:spcAft>
                <a:spcPts val="0"/>
              </a:spcAft>
              <a:buSzPts val="1200"/>
              <a:buNone/>
            </a:pPr>
            <a:r>
              <a:t/>
            </a:r>
            <a:endParaRPr>
              <a:solidFill>
                <a:srgbClr val="FFC39F"/>
              </a:solidFill>
            </a:endParaRPr>
          </a:p>
        </p:txBody>
      </p:sp>
      <p:sp>
        <p:nvSpPr>
          <p:cNvPr id="938" name="Google Shape;938;p17"/>
          <p:cNvSpPr txBox="1"/>
          <p:nvPr>
            <p:ph type="title"/>
          </p:nvPr>
        </p:nvSpPr>
        <p:spPr>
          <a:xfrm>
            <a:off x="1587750" y="1535172"/>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US" sz="7200"/>
              <a:t>Thank you </a:t>
            </a:r>
            <a:endParaRPr sz="7200">
              <a:solidFill>
                <a:srgbClr val="FFC39F"/>
              </a:solidFill>
            </a:endParaRPr>
          </a:p>
        </p:txBody>
      </p:sp>
      <p:grpSp>
        <p:nvGrpSpPr>
          <p:cNvPr id="939" name="Google Shape;939;p17"/>
          <p:cNvGrpSpPr/>
          <p:nvPr/>
        </p:nvGrpSpPr>
        <p:grpSpPr>
          <a:xfrm>
            <a:off x="1133044" y="2663625"/>
            <a:ext cx="7456207" cy="2479868"/>
            <a:chOff x="1133044" y="2663625"/>
            <a:chExt cx="7456207" cy="2479868"/>
          </a:xfrm>
        </p:grpSpPr>
        <p:sp>
          <p:nvSpPr>
            <p:cNvPr id="940" name="Google Shape;940;p17"/>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7"/>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7"/>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7"/>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7"/>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arning presentation by Slidesgo">
  <a:themeElements>
    <a:clrScheme name="Office">
      <a:dk1>
        <a:srgbClr val="434343"/>
      </a:dk1>
      <a:lt1>
        <a:srgbClr val="FFC39F"/>
      </a:lt1>
      <a:dk2>
        <a:srgbClr val="F7965C"/>
      </a:dk2>
      <a:lt2>
        <a:srgbClr val="FFFFFF"/>
      </a:lt2>
      <a:accent1>
        <a:srgbClr val="434343"/>
      </a:accent1>
      <a:accent2>
        <a:srgbClr val="FDD8C2"/>
      </a:accent2>
      <a:accent3>
        <a:srgbClr val="FFC39F"/>
      </a:accent3>
      <a:accent4>
        <a:srgbClr val="F7965C"/>
      </a:accent4>
      <a:accent5>
        <a:srgbClr val="FB8A47"/>
      </a:accent5>
      <a:accent6>
        <a:srgbClr val="FFFFFF"/>
      </a:accent6>
      <a:hlink>
        <a:srgbClr val="FFC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