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Lexend Light"/>
      <p:regular r:id="rId40"/>
      <p:bold r:id="rId41"/>
    </p:embeddedFont>
    <p:embeddedFont>
      <p:font typeface="Lexen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htLNQZuwk6CwOJP6ib0sVjbT1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18BD2F-64E2-4A1C-B0DC-0B3D3D9C7D5B}">
  <a:tblStyle styleId="{A118BD2F-64E2-4A1C-B0DC-0B3D3D9C7D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F1C43BD-5C70-4B85-A566-877A8E06742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Light-regular.fntdata"/><Relationship Id="rId20" Type="http://schemas.openxmlformats.org/officeDocument/2006/relationships/slide" Target="slides/slide14.xml"/><Relationship Id="rId42" Type="http://schemas.openxmlformats.org/officeDocument/2006/relationships/font" Target="fonts/Lexend-regular.fntdata"/><Relationship Id="rId41" Type="http://schemas.openxmlformats.org/officeDocument/2006/relationships/font" Target="fonts/LexendLight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Lexe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e53946d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6e53946d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e53946d2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6e53946d2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73cca48f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673cca48f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73cca48f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73cca48f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73cca48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673cca4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73cca48f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673cca48f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73cca48f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673cca48f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73cca48f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673cca48f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73cca48f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673cca48f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73cca48f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673cca48f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73cca48f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673cca48f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73cca48f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673cca48f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77f8c1a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677f8c1a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77f8c1aa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677f8c1a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77f8c1aa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677f8c1aa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77f8c1aa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677f8c1aa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77f8c1aa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677f8c1aa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a82f033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6a82f033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6a82f033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6a82f033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6a82f033e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6a82f033e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ba811d23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6ba811d23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ba811d23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6ba811d23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a82f033e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6a82f033e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a82f033e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6a82f033e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a82f033e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6a82f033e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ba811d23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6ba811d23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c5ad717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76c5ad717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6ba811d23b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6ba811d23b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6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Lecture </a:t>
            </a:r>
            <a:r>
              <a:rPr lang="en" sz="6000">
                <a:latin typeface="Lexend"/>
                <a:ea typeface="Lexend"/>
                <a:cs typeface="Lexend"/>
                <a:sym typeface="Lexend"/>
              </a:rPr>
              <a:t>8</a:t>
            </a:r>
            <a:endParaRPr b="0" i="0" sz="6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Flip-Flops &amp; Timing Diagrams</a:t>
            </a:r>
            <a:endParaRPr b="0" i="0" sz="4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b="0" i="0" sz="5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600" y="2037525"/>
            <a:ext cx="2380449" cy="238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9650" y="2037525"/>
            <a:ext cx="3756201" cy="238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" name="Google Shape;68;p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5"/>
          <p:cNvSpPr txBox="1"/>
          <p:nvPr/>
        </p:nvSpPr>
        <p:spPr>
          <a:xfrm>
            <a:off x="333250" y="15240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Introduction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6650" y="818925"/>
            <a:ext cx="91107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702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classes of logic circuits: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7019" lvl="1" marL="7429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66FF"/>
              </a:buClr>
              <a:buSzPts val="2000"/>
              <a:buFont typeface="Lexend"/>
              <a:buChar char="❖"/>
            </a:pPr>
            <a:r>
              <a:rPr b="0" i="0" lang="en" sz="2000" u="none" cap="none" strike="noStrike">
                <a:solidFill>
                  <a:srgbClr val="0066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combinational 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7019" lvl="1" marL="7429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exend"/>
              <a:buChar char="❖"/>
            </a:pPr>
            <a:r>
              <a:rPr b="0"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sequential</a:t>
            </a:r>
            <a:endParaRPr b="0" i="0" sz="2000" u="none" cap="none" strike="noStrike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702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Combinational Circuit</a:t>
            </a: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5" name="Google Shape;75;p5"/>
          <p:cNvGrpSpPr/>
          <p:nvPr/>
        </p:nvGrpSpPr>
        <p:grpSpPr>
          <a:xfrm>
            <a:off x="1428750" y="2571750"/>
            <a:ext cx="6286500" cy="1428750"/>
            <a:chOff x="864" y="2304"/>
            <a:chExt cx="3960" cy="900"/>
          </a:xfrm>
        </p:grpSpPr>
        <p:grpSp>
          <p:nvGrpSpPr>
            <p:cNvPr id="76" name="Google Shape;76;p5"/>
            <p:cNvGrpSpPr/>
            <p:nvPr/>
          </p:nvGrpSpPr>
          <p:grpSpPr>
            <a:xfrm>
              <a:off x="2208" y="2304"/>
              <a:ext cx="1248" cy="900"/>
              <a:chOff x="2208" y="2304"/>
              <a:chExt cx="1248" cy="900"/>
            </a:xfrm>
          </p:grpSpPr>
          <p:sp>
            <p:nvSpPr>
              <p:cNvPr id="77" name="Google Shape;77;p5"/>
              <p:cNvSpPr txBox="1"/>
              <p:nvPr/>
            </p:nvSpPr>
            <p:spPr>
              <a:xfrm>
                <a:off x="2208" y="2304"/>
                <a:ext cx="1200" cy="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" name="Google Shape;78;p5"/>
              <p:cNvSpPr txBox="1"/>
              <p:nvPr/>
            </p:nvSpPr>
            <p:spPr>
              <a:xfrm>
                <a:off x="2256" y="2544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Combinational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1" i="0" lang="en" sz="1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Logic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5"/>
            <p:cNvGrpSpPr/>
            <p:nvPr/>
          </p:nvGrpSpPr>
          <p:grpSpPr>
            <a:xfrm>
              <a:off x="1536" y="2448"/>
              <a:ext cx="600" cy="576"/>
              <a:chOff x="1536" y="2448"/>
              <a:chExt cx="600" cy="576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1536" y="2448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536" y="2544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536" y="2640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1536" y="2928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1536" y="3024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85" name="Google Shape;85;p5"/>
              <p:cNvSpPr txBox="1"/>
              <p:nvPr/>
            </p:nvSpPr>
            <p:spPr>
              <a:xfrm>
                <a:off x="1728" y="259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Times New Roman"/>
                  <a:buNone/>
                </a:pPr>
                <a:r>
                  <a:rPr b="1" i="0" lang="en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>
              <a:off x="3504" y="2448"/>
              <a:ext cx="600" cy="576"/>
              <a:chOff x="1536" y="2448"/>
              <a:chExt cx="600" cy="576"/>
            </a:xfrm>
          </p:grpSpPr>
          <p:cxnSp>
            <p:nvCxnSpPr>
              <p:cNvPr id="87" name="Google Shape;87;p5"/>
              <p:cNvCxnSpPr/>
              <p:nvPr/>
            </p:nvCxnSpPr>
            <p:spPr>
              <a:xfrm>
                <a:off x="1536" y="2448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1536" y="2544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1536" y="2640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1536" y="2928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1536" y="3024"/>
                <a:ext cx="6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92" name="Google Shape;92;p5"/>
              <p:cNvSpPr txBox="1"/>
              <p:nvPr/>
            </p:nvSpPr>
            <p:spPr>
              <a:xfrm>
                <a:off x="1728" y="259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Times New Roman"/>
                  <a:buNone/>
                </a:pPr>
                <a:r>
                  <a:rPr b="1" i="0" lang="en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: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5"/>
            <p:cNvSpPr txBox="1"/>
            <p:nvPr/>
          </p:nvSpPr>
          <p:spPr>
            <a:xfrm>
              <a:off x="864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 txBox="1"/>
            <p:nvPr/>
          </p:nvSpPr>
          <p:spPr>
            <a:xfrm>
              <a:off x="4224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53946d27_0_0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g36e53946d2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6e53946d27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g36e53946d27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03" name="Google Shape;103;g36e53946d27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6e53946d27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6e53946d27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g36e53946d27_0_0"/>
          <p:cNvSpPr txBox="1"/>
          <p:nvPr/>
        </p:nvSpPr>
        <p:spPr>
          <a:xfrm>
            <a:off x="561850" y="0"/>
            <a:ext cx="9045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Combinational Circuit vs. Sequential Circuit</a:t>
            </a:r>
            <a:endParaRPr b="0" i="0" sz="29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g36e53946d27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g36e53946d27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g36e53946d27_0_0"/>
          <p:cNvSpPr/>
          <p:nvPr/>
        </p:nvSpPr>
        <p:spPr>
          <a:xfrm>
            <a:off x="142875" y="782050"/>
            <a:ext cx="4308900" cy="4101900"/>
          </a:xfrm>
          <a:prstGeom prst="roundRect">
            <a:avLst>
              <a:gd fmla="val 2991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Combinational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combinational circuit consists of logic gates whose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outputs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at any time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are determined directly from the present combination of inputs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without regard to previous inputs.</a:t>
            </a:r>
            <a:endParaRPr b="1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combinational circuit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performs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specific information-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processing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operation fully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specified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logically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set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of Boolean 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b="0" i="0" sz="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g36e53946d27_0_0"/>
          <p:cNvSpPr/>
          <p:nvPr/>
        </p:nvSpPr>
        <p:spPr>
          <a:xfrm>
            <a:off x="4699825" y="782050"/>
            <a:ext cx="4130400" cy="4101900"/>
          </a:xfrm>
          <a:prstGeom prst="roundRect">
            <a:avLst>
              <a:gd fmla="val 2991" name="adj"/>
            </a:avLst>
          </a:prstGeom>
          <a:solidFill>
            <a:srgbClr val="DCDFF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 circuits employ memory elements in addition to logic gates.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Their outputs are a function of the inputs and the state of memory elements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state of memory elements, in turn, is a function of previous inputs. As a consequence, the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outputs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a sequential circuit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depend not only on present inputs, but also on past inputs.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e53946d27_0_16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" name="Google Shape;116;g36e53946d27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6e53946d27_0_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g36e53946d27_0_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9" name="Google Shape;119;g36e53946d27_0_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6e53946d27_0_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6e53946d27_0_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g36e53946d27_0_16"/>
          <p:cNvSpPr txBox="1"/>
          <p:nvPr/>
        </p:nvSpPr>
        <p:spPr>
          <a:xfrm>
            <a:off x="561850" y="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 Circuit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g36e53946d27_0_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g36e53946d27_0_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g36e53946d27_0_16"/>
          <p:cNvSpPr txBox="1"/>
          <p:nvPr/>
        </p:nvSpPr>
        <p:spPr>
          <a:xfrm>
            <a:off x="16650" y="590325"/>
            <a:ext cx="911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sequential circuit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consists of a </a:t>
            </a:r>
            <a:r>
              <a:rPr b="0" i="1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feedback path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employs some </a:t>
            </a:r>
            <a:r>
              <a:rPr b="0" i="1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memory elements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g36e53946d27_0_16"/>
          <p:cNvSpPr txBox="1"/>
          <p:nvPr/>
        </p:nvSpPr>
        <p:spPr>
          <a:xfrm>
            <a:off x="615700" y="4047625"/>
            <a:ext cx="801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Sequential circuit = Combinational logic + Memory Elements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output= external input + present state of memory element</a:t>
            </a:r>
            <a:endParaRPr b="0" i="0" sz="14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" name="Google Shape;127;g36e53946d27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976" y="1186375"/>
            <a:ext cx="4438049" cy="292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73cca48f6_0_76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g3673cca48f6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673cca48f6_0_7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g3673cca48f6_0_7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g3673cca48f6_0_7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673cca48f6_0_7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673cca48f6_0_7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g3673cca48f6_0_76"/>
          <p:cNvSpPr txBox="1"/>
          <p:nvPr/>
        </p:nvSpPr>
        <p:spPr>
          <a:xfrm>
            <a:off x="561850" y="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Introduction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g3673cca48f6_0_7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g3673cca48f6_0_7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g3673cca48f6_0_76"/>
          <p:cNvSpPr txBox="1"/>
          <p:nvPr/>
        </p:nvSpPr>
        <p:spPr>
          <a:xfrm>
            <a:off x="16650" y="590325"/>
            <a:ext cx="9110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two types of sequential circuits: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synchronous: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outputs change only at specific time (i.e. with clock input)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asynchronous: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outputs change at any time (i.e. without clock input)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Multivibrator: a class of sequential circuits.  They can be: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bistable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(2 stable states)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monostable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one-shot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(1 stable state)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astable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(no stable state)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Bistable logic devices: </a:t>
            </a:r>
            <a:r>
              <a:rPr b="0" i="1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flip-flops.</a:t>
            </a:r>
            <a:endParaRPr b="0" i="1" sz="1800" u="none" cap="none" strike="noStrike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Flip-flops differ in the method used for changing their state.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73cca48f6_0_91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g3673cca48f6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673cca48f6_0_9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g3673cca48f6_0_9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1" name="Google Shape;151;g3673cca48f6_0_9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673cca48f6_0_9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673cca48f6_0_9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3673cca48f6_0_91"/>
          <p:cNvSpPr txBox="1"/>
          <p:nvPr/>
        </p:nvSpPr>
        <p:spPr>
          <a:xfrm>
            <a:off x="552325" y="-20737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Memory Elements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g3673cca48f6_0_9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g3673cca48f6_0_9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g3673cca48f6_0_91"/>
          <p:cNvSpPr txBox="1"/>
          <p:nvPr/>
        </p:nvSpPr>
        <p:spPr>
          <a:xfrm>
            <a:off x="0" y="686175"/>
            <a:ext cx="911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Memory element: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device which can remember value indefinitely, or change value on command from its inputs.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" name="Google Shape;158;g3673cca48f6_0_91"/>
          <p:cNvGrpSpPr/>
          <p:nvPr/>
        </p:nvGrpSpPr>
        <p:grpSpPr>
          <a:xfrm>
            <a:off x="2026950" y="1797825"/>
            <a:ext cx="5091688" cy="952500"/>
            <a:chOff x="1515" y="1632"/>
            <a:chExt cx="3207" cy="600"/>
          </a:xfrm>
        </p:grpSpPr>
        <p:sp>
          <p:nvSpPr>
            <p:cNvPr id="159" name="Google Shape;159;g3673cca48f6_0_91"/>
            <p:cNvSpPr txBox="1"/>
            <p:nvPr/>
          </p:nvSpPr>
          <p:spPr>
            <a:xfrm>
              <a:off x="1515" y="175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command</a:t>
              </a: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673cca48f6_0_91"/>
            <p:cNvSpPr txBox="1"/>
            <p:nvPr/>
          </p:nvSpPr>
          <p:spPr>
            <a:xfrm>
              <a:off x="2644" y="1632"/>
              <a:ext cx="900" cy="6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g3673cca48f6_0_91"/>
            <p:cNvSpPr txBox="1"/>
            <p:nvPr/>
          </p:nvSpPr>
          <p:spPr>
            <a:xfrm>
              <a:off x="2636" y="175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 element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g3673cca48f6_0_91"/>
            <p:cNvCxnSpPr/>
            <p:nvPr/>
          </p:nvCxnSpPr>
          <p:spPr>
            <a:xfrm>
              <a:off x="2328" y="1901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63" name="Google Shape;163;g3673cca48f6_0_91"/>
            <p:cNvSpPr txBox="1"/>
            <p:nvPr/>
          </p:nvSpPr>
          <p:spPr>
            <a:xfrm>
              <a:off x="3822" y="175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stored value</a:t>
              </a: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g3673cca48f6_0_91"/>
            <p:cNvCxnSpPr/>
            <p:nvPr/>
          </p:nvCxnSpPr>
          <p:spPr>
            <a:xfrm>
              <a:off x="3544" y="1901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65" name="Google Shape;165;g3673cca48f6_0_91"/>
            <p:cNvSpPr txBox="1"/>
            <p:nvPr/>
          </p:nvSpPr>
          <p:spPr>
            <a:xfrm>
              <a:off x="3522" y="169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g3673cca48f6_0_91"/>
          <p:cNvSpPr txBox="1"/>
          <p:nvPr/>
        </p:nvSpPr>
        <p:spPr>
          <a:xfrm>
            <a:off x="3062250" y="3169050"/>
            <a:ext cx="30195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Q(t)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current state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Q(t+1)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b="0" baseline="3000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next state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73cca48f6_0_0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g3673cca48f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673cca48f6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g3673cca48f6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5" name="Google Shape;175;g3673cca48f6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673cca48f6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673cca48f6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g3673cca48f6_0_0"/>
          <p:cNvSpPr txBox="1"/>
          <p:nvPr/>
        </p:nvSpPr>
        <p:spPr>
          <a:xfrm>
            <a:off x="561850" y="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Clock Pulse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g3673cca48f6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g3673cca48f6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g3673cca48f6_0_0"/>
          <p:cNvSpPr txBox="1"/>
          <p:nvPr/>
        </p:nvSpPr>
        <p:spPr>
          <a:xfrm>
            <a:off x="16650" y="590325"/>
            <a:ext cx="9110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clock pulse is a periodic signal (HIGH/LOW) that synchronizes state changes in sequential digital circuits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Controls timing in flip-flops, counters, registers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Properties: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0" i="1" lang="en" sz="15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Clock Period</a:t>
            </a:r>
            <a:r>
              <a:rPr b="0" i="1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The time taken to complete one cycle of a clock signal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(measured in seconds (s) or milliseconds (ms)).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0" i="1" lang="en" sz="15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Clock Frequency</a:t>
            </a:r>
            <a:r>
              <a:rPr b="0" i="1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The number of cycles per second (measured in Hertz (Hz)).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g3673cca48f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751" y="2616400"/>
            <a:ext cx="4117350" cy="23548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pic>
        <p:nvPicPr>
          <p:cNvPr descr="{&quot;id&quot;:&quot;4&quot;,&quot;backgroundColorModified&quot;:false,&quot;font&quot;:{&quot;family&quot;:&quot;Arial&quot;,&quot;color&quot;:&quot;#000000&quot;,&quot;size&quot;:14},&quot;aid&quot;:null,&quot;code&quot;:&quot;$$Time\\,=\\,\\frac{1}{frequency}$$&quot;,&quot;backgroundColor&quot;:&quot;#FFFFFF&quot;,&quot;type&quot;:&quot;$$&quot;,&quot;ts&quot;:1749734005513,&quot;cs&quot;:&quot;3KZ3qy+Tf5NJJAkEhe0wlw==&quot;,&quot;size&quot;:{&quot;width&quot;:193.83333333333334,&quot;height&quot;:49}}" id="183" name="Google Shape;183;g3673cca48f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8125" y="2812025"/>
            <a:ext cx="1846263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code&quot;:&quot;$$Frequency=\\,\\frac{1}{Time}$$&quot;,&quot;font&quot;:{&quot;color&quot;:&quot;#000000&quot;,&quot;size&quot;:14,&quot;family&quot;:&quot;Arial&quot;},&quot;id&quot;:&quot;5&quot;,&quot;backgroundColorModified&quot;:false,&quot;backgroundColor&quot;:&quot;#FFFFFF&quot;,&quot;ts&quot;:1749734042361,&quot;cs&quot;:&quot;ly0a/9As+NECI5Pl3ZHvVg==&quot;,&quot;size&quot;:{&quot;width&quot;:194.33333333333334,&quot;height&quot;:44.666666666666664}}" id="184" name="Google Shape;184;g3673cca48f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45750" y="3810700"/>
            <a:ext cx="1851025" cy="4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6"/>
          <p:cNvSpPr txBox="1"/>
          <p:nvPr/>
        </p:nvSpPr>
        <p:spPr>
          <a:xfrm>
            <a:off x="561850" y="0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Clock Pulse</a:t>
            </a:r>
            <a:endParaRPr b="0" i="0" sz="3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42300" y="757475"/>
            <a:ext cx="8459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Duty Cycle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percentage of time the clock signal stays at a high (1) level within one cycle.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{&quot;font&quot;:{&quot;family&quot;:&quot;Arial&quot;,&quot;color&quot;:&quot;#000000&quot;,&quot;size&quot;:15},&quot;code&quot;:&quot;$$Duty\\,Cycle\\,\\left(\\%\\right)=\\,\\left(\\frac{High\\,Time}{Clock\\,Period}\\right)\\,\\times100$$&quot;,&quot;backgroundColorModified&quot;:false,&quot;aid&quot;:null,&quot;id&quot;:&quot;6&quot;,&quot;backgroundColor&quot;:&quot;#EEEEEE&quot;,&quot;type&quot;:&quot;$$&quot;,&quot;ts&quot;:1749734141736,&quot;cs&quot;:&quot;oaZ2StVkx4icW/tOM7ZT5Q==&quot;,&quot;size&quot;:{&quot;width&quot;:439.3333333333333,&quot;height&quot;:56.333333333333336}}" id="200" name="Google Shape;2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775" y="1617350"/>
            <a:ext cx="4184650" cy="5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275" y="2290725"/>
            <a:ext cx="4184651" cy="198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331855"/>
            <a:ext cx="4270250" cy="190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pic>
        <p:nvPicPr>
          <p:cNvPr descr="{&quot;aid&quot;:null,&quot;backgroundColorModified&quot;:false,&quot;font&quot;:{&quot;size&quot;:14,&quot;family&quot;:&quot;Arial&quot;,&quot;color&quot;:&quot;#000000&quot;},&quot;backgroundColor&quot;:&quot;#FFFFFF&quot;,&quot;type&quot;:&quot;$$&quot;,&quot;code&quot;:&quot;$$Duty\\,Cycle\\,=\\,\\frac{25}{25+25}\\,\\times100\\,=\\,50\\%$$&quot;,&quot;id&quot;:&quot;7&quot;,&quot;ts&quot;:1749734769686,&quot;cs&quot;:&quot;rmmK55m4Kqq6ASzPzeZiyA==&quot;,&quot;size&quot;:{&quot;width&quot;:361.3333333333333,&quot;height&quot;:46.333333333333336}}" id="203" name="Google Shape;20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100" y="4160219"/>
            <a:ext cx="3441700" cy="4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Duty\\,Cycle\\,=\\,\\frac{20}{20+5}\\,\\times\\,100\\,=\\,80\\%$$&quot;,&quot;backgroundColorModified&quot;:false,&quot;backgroundColor&quot;:&quot;#FFFFFF&quot;,&quot;id&quot;:&quot;8&quot;,&quot;type&quot;:&quot;$$&quot;,&quot;aid&quot;:null,&quot;font&quot;:{&quot;color&quot;:&quot;#000000&quot;,&quot;family&quot;:&quot;Arial&quot;,&quot;size&quot;:14},&quot;ts&quot;:1749734751501,&quot;cs&quot;:&quot;OqiiKniUAkSE5uCc6sZuCw==&quot;,&quot;size&quot;:{&quot;width&quot;:354,&quot;height&quot;:46.333333333333336}}" id="204" name="Google Shape;20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7075" y="4123629"/>
            <a:ext cx="3371850" cy="4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9&quot;,&quot;aid&quot;:null,&quot;type&quot;:&quot;$$&quot;,&quot;font&quot;:{&quot;size&quot;:14,&quot;family&quot;:&quot;Arial&quot;,&quot;color&quot;:&quot;#000000&quot;},&quot;code&quot;:&quot;$$Clock\\,Period\\,=\\,High\\,Time\\,+\\,Low\\,Time$$&quot;,&quot;backgroundColor&quot;:&quot;#FFFFFF&quot;,&quot;backgroundColorModified&quot;:false,&quot;ts&quot;:1749734922290,&quot;cs&quot;:&quot;ykeDFCj3UyWfy4n+bqN+Wg==&quot;,&quot;size&quot;:{&quot;width&quot;:396.6666666666667,&quot;height&quot;:20}}" id="205" name="Google Shape;20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52900" y="1714675"/>
            <a:ext cx="3778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4" name="Google Shape;214;p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7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Triggering Mechanisms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50475" y="561825"/>
            <a:ext cx="909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Triggering refers to </a:t>
            </a:r>
            <a:r>
              <a:rPr b="0" i="0" lang="en" sz="16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how and when</a:t>
            </a: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latch or flip-flop changes state based on the clock signal.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determines when the stored value updates in a sequential circuit.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75850" y="1849376"/>
            <a:ext cx="3723600" cy="2919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7"/>
          <p:cNvGrpSpPr/>
          <p:nvPr/>
        </p:nvGrpSpPr>
        <p:grpSpPr>
          <a:xfrm>
            <a:off x="372105" y="1922444"/>
            <a:ext cx="277873" cy="55459"/>
            <a:chOff x="411700" y="2416840"/>
            <a:chExt cx="277873" cy="68400"/>
          </a:xfrm>
        </p:grpSpPr>
        <p:sp>
          <p:nvSpPr>
            <p:cNvPr id="223" name="Google Shape;223;p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7"/>
          <p:cNvSpPr txBox="1"/>
          <p:nvPr/>
        </p:nvSpPr>
        <p:spPr>
          <a:xfrm>
            <a:off x="328350" y="1960638"/>
            <a:ext cx="3618600" cy="26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circuit gives output during the entire duration when the clock is HIGH.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Positive Level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Active During High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Negative Level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Active During Low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Mostly Used in latches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28350" y="1428150"/>
            <a:ext cx="3671100" cy="3192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Level Triggering</a:t>
            </a:r>
            <a:endParaRPr b="0" i="0" sz="2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827575" y="1833075"/>
            <a:ext cx="4006500" cy="2919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7"/>
          <p:cNvGrpSpPr/>
          <p:nvPr/>
        </p:nvGrpSpPr>
        <p:grpSpPr>
          <a:xfrm>
            <a:off x="4912476" y="1922449"/>
            <a:ext cx="277873" cy="55459"/>
            <a:chOff x="411700" y="2416840"/>
            <a:chExt cx="277873" cy="68400"/>
          </a:xfrm>
        </p:grpSpPr>
        <p:sp>
          <p:nvSpPr>
            <p:cNvPr id="230" name="Google Shape;230;p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7"/>
          <p:cNvSpPr txBox="1"/>
          <p:nvPr/>
        </p:nvSpPr>
        <p:spPr>
          <a:xfrm>
            <a:off x="4827576" y="1849379"/>
            <a:ext cx="38730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Circuit reacts only at the transition point of the clock pulse.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Positive Edge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(↑): Triggers when clock transitions from LOW to HIGH (0 → 1).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Negative Edge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(↓): Triggers when clock transitions from HIGH to LOW (1 → 0).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Used in Flip flops, Registers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819750" y="1428150"/>
            <a:ext cx="4006500" cy="301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Edge Triggering</a:t>
            </a:r>
            <a:endParaRPr b="0" i="0" sz="2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3" name="Google Shape;243;p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8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Triggering Mechanisms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63" y="1034681"/>
            <a:ext cx="4551374" cy="2211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5000" y="2759625"/>
            <a:ext cx="4436100" cy="23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9450" y="1040101"/>
            <a:ext cx="4496100" cy="20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75" y="2824152"/>
            <a:ext cx="4551349" cy="221169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1034200" y="646500"/>
            <a:ext cx="3033000" cy="393600"/>
          </a:xfrm>
          <a:prstGeom prst="rect">
            <a:avLst/>
          </a:prstGeom>
          <a:noFill/>
          <a:ln cap="flat" cmpd="sng" w="9525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Flip Flop’s State Changes</a:t>
            </a:r>
            <a:endParaRPr b="0" i="0" sz="18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5281650" y="646500"/>
            <a:ext cx="2757600" cy="393600"/>
          </a:xfrm>
          <a:prstGeom prst="rect">
            <a:avLst/>
          </a:prstGeom>
          <a:noFill/>
          <a:ln cap="flat" cmpd="sng" w="9525">
            <a:solidFill>
              <a:srgbClr val="FF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Latch’s State Changes</a:t>
            </a:r>
            <a:endParaRPr b="0" i="0" sz="18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73cca48f6_0_122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1" name="Google Shape;261;g3673cca48f6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673cca48f6_0_1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673cca48f6_0_1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64" name="Google Shape;264;g3673cca48f6_0_1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673cca48f6_0_1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3673cca48f6_0_1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g3673cca48f6_0_122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Latch Using NAND Gate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g3673cca48f6_0_1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g3673cca48f6_0_1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g3673cca48f6_0_122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g3673cca48f6_0_122"/>
          <p:cNvGraphicFramePr/>
          <p:nvPr/>
        </p:nvGraphicFramePr>
        <p:xfrm>
          <a:off x="6390200" y="268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608200"/>
                <a:gridCol w="608200"/>
                <a:gridCol w="814475"/>
              </a:tblGrid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g3673cca48f6_0_122"/>
          <p:cNvSpPr txBox="1"/>
          <p:nvPr/>
        </p:nvSpPr>
        <p:spPr>
          <a:xfrm>
            <a:off x="2009775" y="3724275"/>
            <a:ext cx="3467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need the knowledge of this truth table later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g3673cca48f6_0_122"/>
          <p:cNvSpPr/>
          <p:nvPr/>
        </p:nvSpPr>
        <p:spPr>
          <a:xfrm>
            <a:off x="5476875" y="3870825"/>
            <a:ext cx="720900" cy="3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673cca48f6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850" y="828150"/>
            <a:ext cx="4773752" cy="28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673cca48f6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3675" y="961132"/>
            <a:ext cx="3557476" cy="14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73cca48f6_0_149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1" name="Google Shape;281;g3673cca48f6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673cca48f6_0_1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g3673cca48f6_0_1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4" name="Google Shape;284;g3673cca48f6_0_1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673cca48f6_0_1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673cca48f6_0_1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g3673cca48f6_0_149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Latch Using NAND Gate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g3673cca48f6_0_1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g3673cca48f6_0_1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g3673cca48f6_0_149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1" name="Google Shape;291;g3673cca48f6_0_149"/>
          <p:cNvGraphicFramePr/>
          <p:nvPr/>
        </p:nvGraphicFramePr>
        <p:xfrm>
          <a:off x="328350" y="82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847500"/>
                <a:gridCol w="502975"/>
                <a:gridCol w="442900"/>
                <a:gridCol w="472950"/>
                <a:gridCol w="524125"/>
                <a:gridCol w="2943450"/>
              </a:tblGrid>
              <a:tr h="57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Notes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9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 of Q done first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05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 and Q’ remains unchanged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059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 of Q’ done first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7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 and Q’ remains unchanged</a:t>
                      </a:r>
                      <a:endParaRPr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0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FF6B4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Impossible!</a:t>
                      </a:r>
                      <a:endParaRPr sz="1400" u="none" cap="none" strike="noStrike">
                        <a:solidFill>
                          <a:srgbClr val="FF6B4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2" name="Google Shape;292;g3673cca48f6_0_149"/>
          <p:cNvGraphicFramePr/>
          <p:nvPr/>
        </p:nvGraphicFramePr>
        <p:xfrm>
          <a:off x="6479550" y="126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95975"/>
                <a:gridCol w="595975"/>
                <a:gridCol w="595975"/>
              </a:tblGrid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Used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Memory/ No Change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93" name="Google Shape;293;g3673cca48f6_0_149"/>
          <p:cNvSpPr txBox="1"/>
          <p:nvPr/>
        </p:nvSpPr>
        <p:spPr>
          <a:xfrm>
            <a:off x="6404975" y="713325"/>
            <a:ext cx="2530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Latch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" name="Google Shape;294;g3673cca48f6_0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7775" y="3496900"/>
            <a:ext cx="2868352" cy="14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73cca48f6_0_17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0" name="Google Shape;300;g3673cca48f6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673cca48f6_0_17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g3673cca48f6_0_17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03" name="Google Shape;303;g3673cca48f6_0_17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673cca48f6_0_17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673cca48f6_0_17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g3673cca48f6_0_175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g3673cca48f6_0_17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g3673cca48f6_0_17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g3673cca48f6_0_175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673cca48f6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537" y="646500"/>
            <a:ext cx="7161876" cy="3007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sp>
        <p:nvSpPr>
          <p:cNvPr id="311" name="Google Shape;311;g3673cca48f6_0_175"/>
          <p:cNvSpPr txBox="1"/>
          <p:nvPr/>
        </p:nvSpPr>
        <p:spPr>
          <a:xfrm>
            <a:off x="1187150" y="3745463"/>
            <a:ext cx="70851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we will use the knowledge of SR latch to build the truth table for SR FF. But before that, we need to do some calculation.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73cca48f6_0_193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g3673cca48f6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673cca48f6_0_19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g3673cca48f6_0_19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0" name="Google Shape;320;g3673cca48f6_0_19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673cca48f6_0_19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673cca48f6_0_19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3673cca48f6_0_193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g3673cca48f6_0_19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g3673cca48f6_0_19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g3673cca48f6_0_193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7" name="Google Shape;327;g3673cca48f6_0_193"/>
          <p:cNvGraphicFramePr/>
          <p:nvPr/>
        </p:nvGraphicFramePr>
        <p:xfrm>
          <a:off x="561850" y="253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625650"/>
                <a:gridCol w="594600"/>
                <a:gridCol w="667000"/>
                <a:gridCol w="691425"/>
                <a:gridCol w="839350"/>
                <a:gridCol w="959725"/>
              </a:tblGrid>
              <a:tr h="48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S*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R*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7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</a:tr>
              <a:tr h="37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328" name="Google Shape;328;g3673cca48f6_0_193"/>
          <p:cNvGraphicFramePr/>
          <p:nvPr/>
        </p:nvGraphicFramePr>
        <p:xfrm>
          <a:off x="5960650" y="262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95975"/>
                <a:gridCol w="595975"/>
                <a:gridCol w="595975"/>
              </a:tblGrid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29" name="Google Shape;329;g3673cca48f6_0_193"/>
          <p:cNvSpPr txBox="1"/>
          <p:nvPr/>
        </p:nvSpPr>
        <p:spPr>
          <a:xfrm>
            <a:off x="5803000" y="2256600"/>
            <a:ext cx="283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FF Final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g3673cca48f6_0_193"/>
          <p:cNvSpPr txBox="1"/>
          <p:nvPr/>
        </p:nvSpPr>
        <p:spPr>
          <a:xfrm>
            <a:off x="561850" y="646500"/>
            <a:ext cx="28020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14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S* = (S.CLK)’ = S’+ CLK’</a:t>
            </a:r>
            <a:endParaRPr b="0" i="0" sz="800" u="none" cap="none" strike="noStrike">
              <a:solidFill>
                <a:srgbClr val="0000C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R* = (R.CLK)’ = R’+ CLK’</a:t>
            </a:r>
            <a:endParaRPr b="0" i="0" sz="1400" u="none" cap="none" strike="noStrike">
              <a:solidFill>
                <a:srgbClr val="0000C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for a FF to work, 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CLK must be 1.</a:t>
            </a:r>
            <a:r>
              <a:rPr b="0" i="0" lang="en" sz="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CLK=1, then, </a:t>
            </a:r>
            <a:endParaRPr b="0" i="0" sz="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S* = S’+0 = S’</a:t>
            </a:r>
            <a:endParaRPr b="0" i="0" sz="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R* = R’+0 = R’</a:t>
            </a:r>
            <a:endParaRPr b="0" i="0" sz="1200" u="none" cap="none" strike="noStrike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g3673cca48f6_0_193"/>
          <p:cNvSpPr txBox="1"/>
          <p:nvPr/>
        </p:nvSpPr>
        <p:spPr>
          <a:xfrm>
            <a:off x="4170350" y="403425"/>
            <a:ext cx="45204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If, 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S=0, R=0, then S*=1, R*=1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S=0, R=1, then S*=1, R*=0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S=1, R=0, then S*=0, R*=1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S=1, R=1, then S*=0, R*=0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build the truth table now [this table also includes latch inputs,  which are S* and R*. 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73cca48f6_0_219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7" name="Google Shape;337;g3673cca48f6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673cca48f6_0_2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g3673cca48f6_0_2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0" name="Google Shape;340;g3673cca48f6_0_2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673cca48f6_0_2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673cca48f6_0_2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g3673cca48f6_0_219"/>
          <p:cNvSpPr txBox="1"/>
          <p:nvPr/>
        </p:nvSpPr>
        <p:spPr>
          <a:xfrm>
            <a:off x="561850" y="0"/>
            <a:ext cx="66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Clocked S-R FF Diagram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g3673cca48f6_0_2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g3673cca48f6_0_2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g3673cca48f6_0_219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673cca48f6_0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889" y="1540661"/>
            <a:ext cx="4128773" cy="1748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sp>
        <p:nvSpPr>
          <p:cNvPr id="348" name="Google Shape;348;g3673cca48f6_0_219"/>
          <p:cNvSpPr txBox="1"/>
          <p:nvPr/>
        </p:nvSpPr>
        <p:spPr>
          <a:xfrm>
            <a:off x="561850" y="699050"/>
            <a:ext cx="74178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S-R FF + Clock Pulse (CP) and 2 NAND gates → Clocked </a:t>
            </a:r>
            <a:r>
              <a:rPr b="0" i="1" lang="en" sz="1800" u="none" cap="none" strike="noStrike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</a:rPr>
              <a:t>S-R FF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g3673cca48f6_0_2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6588" y="3445825"/>
            <a:ext cx="2336175" cy="146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sp>
        <p:nvSpPr>
          <p:cNvPr id="350" name="Google Shape;350;g3673cca48f6_0_219"/>
          <p:cNvSpPr txBox="1"/>
          <p:nvPr/>
        </p:nvSpPr>
        <p:spPr>
          <a:xfrm>
            <a:off x="1050400" y="3919675"/>
            <a:ext cx="19974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Block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g3673cca48f6_0_219"/>
          <p:cNvSpPr txBox="1"/>
          <p:nvPr/>
        </p:nvSpPr>
        <p:spPr>
          <a:xfrm>
            <a:off x="1050400" y="1183450"/>
            <a:ext cx="19974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Circuit Diagram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2" name="Google Shape;352;g3673cca48f6_0_219"/>
          <p:cNvGraphicFramePr/>
          <p:nvPr/>
        </p:nvGraphicFramePr>
        <p:xfrm>
          <a:off x="5362875" y="19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665225"/>
                <a:gridCol w="665225"/>
                <a:gridCol w="665225"/>
                <a:gridCol w="665225"/>
                <a:gridCol w="665225"/>
              </a:tblGrid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53" name="Google Shape;353;g3673cca48f6_0_219"/>
          <p:cNvSpPr txBox="1"/>
          <p:nvPr/>
        </p:nvSpPr>
        <p:spPr>
          <a:xfrm>
            <a:off x="6082925" y="1308650"/>
            <a:ext cx="19974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73cca48f6_0_249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9" name="Google Shape;359;g3673cca48f6_0_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673cca48f6_0_2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g3673cca48f6_0_2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2" name="Google Shape;362;g3673cca48f6_0_2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673cca48f6_0_2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673cca48f6_0_2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g3673cca48f6_0_249"/>
          <p:cNvSpPr txBox="1"/>
          <p:nvPr/>
        </p:nvSpPr>
        <p:spPr>
          <a:xfrm>
            <a:off x="561850" y="0"/>
            <a:ext cx="769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Types of tables in sequential circuit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g3673cca48f6_0_2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g3673cca48f6_0_2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g3673cca48f6_0_249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673cca48f6_0_249"/>
          <p:cNvSpPr txBox="1"/>
          <p:nvPr/>
        </p:nvSpPr>
        <p:spPr>
          <a:xfrm>
            <a:off x="561850" y="834200"/>
            <a:ext cx="7417800" cy="3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Truth/Criteria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Lists all possible input combinations and corresponding outputs. </a:t>
            </a: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[FF input = FF output]</a:t>
            </a:r>
            <a:endParaRPr b="0" i="0" sz="18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Characteristic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Shows the flip-flop’s next state for given inputs and current state. </a:t>
            </a: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[Present State + FF input = Next State]</a:t>
            </a:r>
            <a:endParaRPr b="0" i="0" sz="18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Excitation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➢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Shows the required inputs to flip-flops to cause a desired state transition. </a:t>
            </a:r>
            <a:r>
              <a:rPr b="0" i="0" lang="en" sz="18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[Present State + Next State = FF input]</a:t>
            </a:r>
            <a:endParaRPr b="0" i="0" sz="18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73cca48f6_0_271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5" name="Google Shape;375;g3673cca48f6_0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673cca48f6_0_27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g3673cca48f6_0_27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8" name="Google Shape;378;g3673cca48f6_0_27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673cca48f6_0_27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673cca48f6_0_27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g3673cca48f6_0_271"/>
          <p:cNvSpPr txBox="1"/>
          <p:nvPr/>
        </p:nvSpPr>
        <p:spPr>
          <a:xfrm>
            <a:off x="518100" y="0"/>
            <a:ext cx="79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S-R Flip-Flop Truth + Characteristics Table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g3673cca48f6_0_27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g3673cca48f6_0_27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g3673cca48f6_0_271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673cca48f6_0_271"/>
          <p:cNvSpPr txBox="1"/>
          <p:nvPr/>
        </p:nvSpPr>
        <p:spPr>
          <a:xfrm>
            <a:off x="3963325" y="727925"/>
            <a:ext cx="47994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While building the Characteristics table, always consider Q from the truth table as Q’ is just the complement of Q.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6" name="Google Shape;386;g3673cca48f6_0_271"/>
          <p:cNvGraphicFramePr/>
          <p:nvPr/>
        </p:nvGraphicFramePr>
        <p:xfrm>
          <a:off x="689500" y="72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88475"/>
                <a:gridCol w="603475"/>
                <a:gridCol w="6785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387" name="Google Shape;387;g3673cca48f6_0_271"/>
          <p:cNvSpPr txBox="1"/>
          <p:nvPr/>
        </p:nvSpPr>
        <p:spPr>
          <a:xfrm>
            <a:off x="518100" y="3056075"/>
            <a:ext cx="45879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always need to remember the truth table to build the characteristics table. Meaning, truth table comes first, characteristics table comes second. You can’t build characteristics table before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8" name="Google Shape;388;g3673cca48f6_0_271"/>
          <p:cNvGraphicFramePr/>
          <p:nvPr/>
        </p:nvGraphicFramePr>
        <p:xfrm>
          <a:off x="5434125" y="238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552450"/>
                <a:gridCol w="552450"/>
                <a:gridCol w="514350"/>
                <a:gridCol w="14192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Q(t)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Q(t+1)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indeterminate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indeterminate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g3673cca48f6_0_271"/>
          <p:cNvSpPr txBox="1"/>
          <p:nvPr/>
        </p:nvSpPr>
        <p:spPr>
          <a:xfrm>
            <a:off x="5518950" y="1929750"/>
            <a:ext cx="286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Characteristic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77f8c1aa6_0_0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5" name="Google Shape;395;g3677f8c1aa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677f8c1aa6_0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7" name="Google Shape;397;g3677f8c1aa6_0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98" name="Google Shape;398;g3677f8c1aa6_0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677f8c1aa6_0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677f8c1aa6_0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g3677f8c1aa6_0_0"/>
          <p:cNvSpPr txBox="1"/>
          <p:nvPr/>
        </p:nvSpPr>
        <p:spPr>
          <a:xfrm>
            <a:off x="518100" y="0"/>
            <a:ext cx="79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Clocked D-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g3677f8c1aa6_0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g3677f8c1aa6_0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g3677f8c1aa6_0_0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77f8c1aa6_0_0"/>
          <p:cNvSpPr txBox="1"/>
          <p:nvPr/>
        </p:nvSpPr>
        <p:spPr>
          <a:xfrm>
            <a:off x="518100" y="727925"/>
            <a:ext cx="82446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Make 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input equal to 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S'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</a:t>
            </a:r>
            <a:r>
              <a:rPr b="0" i="1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b="0" i="1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FF</a:t>
            </a:r>
            <a:endParaRPr b="0" i="1" sz="1800" u="none" cap="none" strike="noStrike">
              <a:solidFill>
                <a:srgbClr val="0000C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D FF eliminates the undesirable condition of invalid state in the S-R FF.</a:t>
            </a:r>
            <a:endParaRPr b="0" i="0" sz="1800" u="none" cap="none" strike="noStrike">
              <a:solidFill>
                <a:srgbClr val="0000C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55C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6" name="Google Shape;406;g3677f8c1aa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300" y="2062788"/>
            <a:ext cx="5334656" cy="203696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pic>
        <p:nvPicPr>
          <p:cNvPr id="407" name="Google Shape;407;g3677f8c1aa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8800" y="2317275"/>
            <a:ext cx="2432933" cy="15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77f8c1aa6_0_24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3" name="Google Shape;413;g3677f8c1aa6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677f8c1aa6_0_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g3677f8c1aa6_0_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6" name="Google Shape;416;g3677f8c1aa6_0_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677f8c1aa6_0_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677f8c1aa6_0_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g3677f8c1aa6_0_24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- FF Truth Table + Characteristic Table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g3677f8c1aa6_0_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g3677f8c1aa6_0_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g3677f8c1aa6_0_24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3" name="Google Shape;423;g3677f8c1aa6_0_24"/>
          <p:cNvGraphicFramePr/>
          <p:nvPr/>
        </p:nvGraphicFramePr>
        <p:xfrm>
          <a:off x="825500" y="196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872400"/>
                <a:gridCol w="883375"/>
                <a:gridCol w="993275"/>
              </a:tblGrid>
              <a:tr h="68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b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6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6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4" name="Google Shape;424;g3677f8c1aa6_0_24"/>
          <p:cNvGraphicFramePr/>
          <p:nvPr/>
        </p:nvGraphicFramePr>
        <p:xfrm>
          <a:off x="4541950" y="189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1189500"/>
                <a:gridCol w="1131500"/>
                <a:gridCol w="157725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Q(t)</a:t>
                      </a:r>
                      <a:endParaRPr b="1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b="1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Q(t+1)</a:t>
                      </a:r>
                      <a:endParaRPr b="1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37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37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37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37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25" name="Google Shape;425;g3677f8c1aa6_0_24"/>
          <p:cNvSpPr txBox="1"/>
          <p:nvPr/>
        </p:nvSpPr>
        <p:spPr>
          <a:xfrm>
            <a:off x="1107575" y="1449200"/>
            <a:ext cx="218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- FF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g3677f8c1aa6_0_24"/>
          <p:cNvSpPr txBox="1"/>
          <p:nvPr/>
        </p:nvSpPr>
        <p:spPr>
          <a:xfrm>
            <a:off x="4962900" y="1404150"/>
            <a:ext cx="3477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- FF Characteristic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677f8c1aa6_0_4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2" name="Google Shape;432;g3677f8c1aa6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677f8c1aa6_0_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g3677f8c1aa6_0_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5" name="Google Shape;435;g3677f8c1aa6_0_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677f8c1aa6_0_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677f8c1aa6_0_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g3677f8c1aa6_0_45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J-K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g3677f8c1aa6_0_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g3677f8c1aa6_0_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g3677f8c1aa6_0_45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677f8c1aa6_0_45"/>
          <p:cNvSpPr txBox="1"/>
          <p:nvPr/>
        </p:nvSpPr>
        <p:spPr>
          <a:xfrm>
            <a:off x="480550" y="863500"/>
            <a:ext cx="7638900" cy="3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b="0" i="0" lang="en" sz="20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J-K flip-flop</a:t>
            </a: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Q and Q' are fed back to the  NAND gates.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4D"/>
              </a:buClr>
              <a:buSzPts val="2000"/>
              <a:buFont typeface="Lexend"/>
              <a:buChar char="❖"/>
            </a:pPr>
            <a:r>
              <a:rPr b="0" i="0" lang="en" sz="2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No invalid state.</a:t>
            </a:r>
            <a:endParaRPr b="0" i="0" sz="2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Include a toggle state.</a:t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J=HIGH (and K=LOW) 🢧 SET state 		</a:t>
            </a:r>
            <a:r>
              <a:rPr b="0" i="0" lang="en" sz="2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[Q = 1]</a:t>
            </a:r>
            <a:endParaRPr b="0" i="0" sz="2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K=HIGH (and J=LOW) 🢧 RESET state 	</a:t>
            </a:r>
            <a:r>
              <a:rPr b="0" i="0" lang="en" sz="2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[Q = 0]</a:t>
            </a:r>
            <a:endParaRPr b="0" i="0" sz="2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inputs LOW 🢧 no change 			</a:t>
            </a:r>
            <a:r>
              <a:rPr b="0" i="0" lang="en" sz="2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[Memory]</a:t>
            </a:r>
            <a:endParaRPr b="0" i="0" sz="2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inputs HIGH 🢧 toggle 				</a:t>
            </a:r>
            <a:r>
              <a:rPr b="0" i="0" lang="en" sz="2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[Q = Q’]</a:t>
            </a:r>
            <a:endParaRPr b="0" i="0" sz="2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77f8c1aa6_0_63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8" name="Google Shape;448;g3677f8c1aa6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677f8c1aa6_0_6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g3677f8c1aa6_0_6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1" name="Google Shape;451;g3677f8c1aa6_0_6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677f8c1aa6_0_6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677f8c1aa6_0_6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4" name="Google Shape;454;g3677f8c1aa6_0_63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J-K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g3677f8c1aa6_0_6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g3677f8c1aa6_0_6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g3677f8c1aa6_0_63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g3677f8c1aa6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51" y="646500"/>
            <a:ext cx="4768374" cy="17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677f8c1aa6_0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0250" y="680575"/>
            <a:ext cx="2499476" cy="1308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</p:pic>
      <p:graphicFrame>
        <p:nvGraphicFramePr>
          <p:cNvPr id="460" name="Google Shape;460;g3677f8c1aa6_0_63"/>
          <p:cNvGraphicFramePr/>
          <p:nvPr/>
        </p:nvGraphicFramePr>
        <p:xfrm>
          <a:off x="1733200" y="255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88475"/>
                <a:gridCol w="603475"/>
                <a:gridCol w="6785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461" name="Google Shape;461;g3677f8c1aa6_0_63"/>
          <p:cNvGraphicFramePr/>
          <p:nvPr/>
        </p:nvGraphicFramePr>
        <p:xfrm>
          <a:off x="54689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552450"/>
                <a:gridCol w="552450"/>
                <a:gridCol w="514350"/>
                <a:gridCol w="14192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Q(t)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Q(t+1)</a:t>
                      </a:r>
                      <a:endParaRPr b="1" i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62" name="Google Shape;462;g3677f8c1aa6_0_63"/>
          <p:cNvSpPr txBox="1"/>
          <p:nvPr/>
        </p:nvSpPr>
        <p:spPr>
          <a:xfrm>
            <a:off x="5752646" y="2178150"/>
            <a:ext cx="238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Characteristic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g3677f8c1aa6_0_63"/>
          <p:cNvSpPr txBox="1"/>
          <p:nvPr/>
        </p:nvSpPr>
        <p:spPr>
          <a:xfrm>
            <a:off x="172700" y="2964725"/>
            <a:ext cx="14832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Flip 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677f8c1aa6_0_8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g3677f8c1aa6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677f8c1aa6_0_8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g3677f8c1aa6_0_8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2" name="Google Shape;472;g3677f8c1aa6_0_8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677f8c1aa6_0_8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677f8c1aa6_0_8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5" name="Google Shape;475;g3677f8c1aa6_0_85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Flip Flop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g3677f8c1aa6_0_8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g3677f8c1aa6_0_8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g3677f8c1aa6_0_85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g3677f8c1aa6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375" y="1411650"/>
            <a:ext cx="4609300" cy="160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677f8c1aa6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8925" y="1317850"/>
            <a:ext cx="3185624" cy="15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677f8c1aa6_0_85"/>
          <p:cNvSpPr txBox="1"/>
          <p:nvPr/>
        </p:nvSpPr>
        <p:spPr>
          <a:xfrm>
            <a:off x="660775" y="705825"/>
            <a:ext cx="776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T flip-flop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single-input version of the J-K flip-flop, formed by tying both inputs together.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g3677f8c1aa6_0_85"/>
          <p:cNvGraphicFramePr/>
          <p:nvPr/>
        </p:nvGraphicFramePr>
        <p:xfrm>
          <a:off x="1238500" y="344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765175"/>
                <a:gridCol w="774800"/>
                <a:gridCol w="871175"/>
              </a:tblGrid>
              <a:tr h="4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b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2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change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82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483" name="Google Shape;483;g3677f8c1aa6_0_85"/>
          <p:cNvGraphicFramePr/>
          <p:nvPr/>
        </p:nvGraphicFramePr>
        <p:xfrm>
          <a:off x="5337475" y="33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942050"/>
                <a:gridCol w="896125"/>
                <a:gridCol w="1249125"/>
              </a:tblGrid>
              <a:tr h="36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Q(t)</a:t>
                      </a:r>
                      <a:endParaRPr b="1" i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b="1" i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1" lang="en" sz="17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Q(t+1)</a:t>
                      </a:r>
                      <a:endParaRPr b="1" i="1" sz="17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23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23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23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  <a:tr h="23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g3677f8c1aa6_0_85"/>
          <p:cNvSpPr txBox="1"/>
          <p:nvPr/>
        </p:nvSpPr>
        <p:spPr>
          <a:xfrm>
            <a:off x="1351625" y="2980975"/>
            <a:ext cx="218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- FF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g3677f8c1aa6_0_85"/>
          <p:cNvSpPr txBox="1"/>
          <p:nvPr/>
        </p:nvSpPr>
        <p:spPr>
          <a:xfrm>
            <a:off x="5518925" y="2900300"/>
            <a:ext cx="290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Characteristic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a82f033e6_0_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1" name="Google Shape;491;g36a82f033e6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6a82f033e6_0_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g36a82f033e6_0_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4" name="Google Shape;494;g36a82f033e6_0_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36a82f033e6_0_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6a82f033e6_0_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g36a82f033e6_0_5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 </a:t>
            </a:r>
            <a:r>
              <a:rPr b="0" i="0" lang="en" sz="3000" u="none" cap="none" strike="noStrike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(Self Study)</a:t>
            </a:r>
            <a:endParaRPr b="0" i="0" sz="3000" u="none" cap="none" strike="noStrike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g36a82f033e6_0_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g36a82f033e6_0_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g36a82f033e6_0_5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6a82f033e6_0_5"/>
          <p:cNvSpPr txBox="1"/>
          <p:nvPr/>
        </p:nvSpPr>
        <p:spPr>
          <a:xfrm>
            <a:off x="660775" y="705825"/>
            <a:ext cx="7764000" cy="1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(Learn it yourself) (Draw both circuit and block diagram)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D FF using SR FF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T FF using JK FF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D FF using JK FF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a82f033e6_0_26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7" name="Google Shape;507;g36a82f033e6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6a82f033e6_0_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9" name="Google Shape;509;g36a82f033e6_0_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0" name="Google Shape;510;g36a82f033e6_0_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6a82f033e6_0_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6a82f033e6_0_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g36a82f033e6_0_26"/>
          <p:cNvSpPr txBox="1"/>
          <p:nvPr/>
        </p:nvSpPr>
        <p:spPr>
          <a:xfrm>
            <a:off x="428000" y="0"/>
            <a:ext cx="807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Flip Flop Excitation Tables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g36a82f033e6_0_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g36a82f033e6_0_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g36a82f033e6_0_26"/>
          <p:cNvSpPr txBox="1"/>
          <p:nvPr/>
        </p:nvSpPr>
        <p:spPr>
          <a:xfrm>
            <a:off x="8472450" y="4737707"/>
            <a:ext cx="548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6a82f033e6_0_26"/>
          <p:cNvSpPr txBox="1"/>
          <p:nvPr/>
        </p:nvSpPr>
        <p:spPr>
          <a:xfrm>
            <a:off x="690000" y="590325"/>
            <a:ext cx="776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❖"/>
            </a:pPr>
            <a:r>
              <a:rPr b="0" i="0" lang="en" sz="1800" u="none" cap="none" strike="noStrike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Excitation Tables </a:t>
            </a: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Given the required transition from present state to next state, determine the flip-flop input(s)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6a82f033e6_0_26"/>
          <p:cNvSpPr txBox="1"/>
          <p:nvPr/>
        </p:nvSpPr>
        <p:spPr>
          <a:xfrm>
            <a:off x="1457975" y="1255875"/>
            <a:ext cx="16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Flip-Flop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9" name="Google Shape;519;g36a82f033e6_0_26"/>
          <p:cNvGraphicFramePr/>
          <p:nvPr/>
        </p:nvGraphicFramePr>
        <p:xfrm>
          <a:off x="1207650" y="16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482825"/>
                <a:gridCol w="550425"/>
                <a:gridCol w="488250"/>
                <a:gridCol w="638450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0" name="Google Shape;520;g36a82f033e6_0_26"/>
          <p:cNvGraphicFramePr/>
          <p:nvPr/>
        </p:nvGraphicFramePr>
        <p:xfrm>
          <a:off x="5090500" y="166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482825"/>
                <a:gridCol w="550425"/>
                <a:gridCol w="488250"/>
                <a:gridCol w="638450"/>
              </a:tblGrid>
              <a:tr h="39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 anchor="ctr">
                    <a:solidFill>
                      <a:srgbClr val="FFD966"/>
                    </a:solidFill>
                  </a:tcPr>
                </a:tc>
              </a:tr>
              <a:tr h="23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3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23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23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 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1" name="Google Shape;521;g36a82f033e6_0_26"/>
          <p:cNvGraphicFramePr/>
          <p:nvPr/>
        </p:nvGraphicFramePr>
        <p:xfrm>
          <a:off x="1222775" y="3449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675825"/>
                <a:gridCol w="770450"/>
                <a:gridCol w="6834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2" name="Google Shape;522;g36a82f033e6_0_26"/>
          <p:cNvGraphicFramePr/>
          <p:nvPr/>
        </p:nvGraphicFramePr>
        <p:xfrm>
          <a:off x="5105625" y="344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{EF1C43BD-5C70-4B85-A566-877A8E067425}</a:tableStyleId>
              </a:tblPr>
              <a:tblGrid>
                <a:gridCol w="675825"/>
                <a:gridCol w="770450"/>
                <a:gridCol w="68342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r>
                        <a:rPr baseline="30000"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baseline="30000"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i="1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D96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F2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23" name="Google Shape;523;g36a82f033e6_0_26"/>
          <p:cNvSpPr txBox="1"/>
          <p:nvPr/>
        </p:nvSpPr>
        <p:spPr>
          <a:xfrm>
            <a:off x="5340825" y="1236825"/>
            <a:ext cx="16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 Flip-Flop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g36a82f033e6_0_26"/>
          <p:cNvSpPr txBox="1"/>
          <p:nvPr/>
        </p:nvSpPr>
        <p:spPr>
          <a:xfrm>
            <a:off x="5468600" y="3036950"/>
            <a:ext cx="16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 Flip-Flop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g36a82f033e6_0_26"/>
          <p:cNvSpPr txBox="1"/>
          <p:nvPr/>
        </p:nvSpPr>
        <p:spPr>
          <a:xfrm>
            <a:off x="1457975" y="3036950"/>
            <a:ext cx="165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Flip-Flop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a82f033e6_0_58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1" name="Google Shape;531;g36a82f033e6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6a82f033e6_0_5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g36a82f033e6_0_5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4" name="Google Shape;534;g36a82f033e6_0_5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6a82f033e6_0_5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6a82f033e6_0_5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7" name="Google Shape;537;g36a82f033e6_0_58"/>
          <p:cNvSpPr txBox="1"/>
          <p:nvPr/>
        </p:nvSpPr>
        <p:spPr>
          <a:xfrm>
            <a:off x="148100" y="76200"/>
            <a:ext cx="842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Analyzing Flip-Flop Behavior with Timing Diagrams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g36a82f033e6_0_5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9" name="Google Shape;539;g36a82f033e6_0_5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g36a82f033e6_0_58"/>
          <p:cNvSpPr txBox="1"/>
          <p:nvPr/>
        </p:nvSpPr>
        <p:spPr>
          <a:xfrm>
            <a:off x="263775" y="1421250"/>
            <a:ext cx="8441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❖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types based on the triggering mechanism of the Flip Flop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➢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Level Triggered               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➢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Level Triggered           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➢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Positive/ Rising Edge Triggered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➢"/>
            </a:pPr>
            <a:r>
              <a:rPr b="0" i="0" lang="en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Negative/ Falling Edge Triggered </a:t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g36a82f033e6_0_58"/>
          <p:cNvSpPr/>
          <p:nvPr/>
        </p:nvSpPr>
        <p:spPr>
          <a:xfrm rot="10800000">
            <a:off x="3788000" y="2034750"/>
            <a:ext cx="236700" cy="398100"/>
          </a:xfrm>
          <a:prstGeom prst="leftBrace">
            <a:avLst>
              <a:gd fmla="val 101796" name="adj1"/>
              <a:gd fmla="val 45271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6a82f033e6_0_58"/>
          <p:cNvSpPr txBox="1"/>
          <p:nvPr/>
        </p:nvSpPr>
        <p:spPr>
          <a:xfrm>
            <a:off x="4182375" y="2008800"/>
            <a:ext cx="107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Latch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g36a82f033e6_0_58"/>
          <p:cNvSpPr/>
          <p:nvPr/>
        </p:nvSpPr>
        <p:spPr>
          <a:xfrm rot="10800000">
            <a:off x="4489750" y="2914800"/>
            <a:ext cx="236700" cy="398100"/>
          </a:xfrm>
          <a:prstGeom prst="leftBrace">
            <a:avLst>
              <a:gd fmla="val 101796" name="adj1"/>
              <a:gd fmla="val 45271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6a82f033e6_0_58"/>
          <p:cNvSpPr txBox="1"/>
          <p:nvPr/>
        </p:nvSpPr>
        <p:spPr>
          <a:xfrm>
            <a:off x="4812350" y="2881750"/>
            <a:ext cx="12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Flip Flop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ba811d23b_0_31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0" name="Google Shape;550;g36ba811d23b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6626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6ba811d23b_0_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g36ba811d23b_0_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3" name="Google Shape;553;g36ba811d23b_0_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6ba811d23b_0_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6ba811d23b_0_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g36ba811d23b_0_31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Level Triggered Timing Diagram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g36ba811d23b_0_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g36ba811d23b_0_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g36ba811d23b_0_31"/>
          <p:cNvSpPr txBox="1"/>
          <p:nvPr/>
        </p:nvSpPr>
        <p:spPr>
          <a:xfrm>
            <a:off x="6483675" y="1579375"/>
            <a:ext cx="2488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SR Latch Truth Table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6ba811d23b_0_31" title="Positive Level SR Latch.drawio.png"/>
          <p:cNvPicPr preferRelativeResize="0"/>
          <p:nvPr/>
        </p:nvPicPr>
        <p:blipFill rotWithShape="1">
          <a:blip r:embed="rId4">
            <a:alphaModFix/>
          </a:blip>
          <a:srcRect b="0" l="0" r="5605" t="0"/>
          <a:stretch/>
        </p:blipFill>
        <p:spPr>
          <a:xfrm>
            <a:off x="156200" y="645450"/>
            <a:ext cx="5365850" cy="419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1" name="Google Shape;561;g36ba811d23b_0_31"/>
          <p:cNvGraphicFramePr/>
          <p:nvPr/>
        </p:nvGraphicFramePr>
        <p:xfrm>
          <a:off x="6077200" y="216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407550"/>
                <a:gridCol w="455225"/>
                <a:gridCol w="995250"/>
                <a:gridCol w="9952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Q'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ba811d23b_0_108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7" name="Google Shape;567;g36ba811d23b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6626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6ba811d23b_0_10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g36ba811d23b_0_10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0" name="Google Shape;570;g36ba811d23b_0_10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6ba811d23b_0_10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6ba811d23b_0_10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g36ba811d23b_0_108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Level Triggered Timing Diagram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g36ba811d23b_0_10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5" name="Google Shape;575;g36ba811d23b_0_10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g36ba811d23b_0_108"/>
          <p:cNvSpPr txBox="1"/>
          <p:nvPr/>
        </p:nvSpPr>
        <p:spPr>
          <a:xfrm>
            <a:off x="6324200" y="1579375"/>
            <a:ext cx="2631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SR Latch Truth Table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7" name="Google Shape;577;g36ba811d23b_0_108"/>
          <p:cNvGraphicFramePr/>
          <p:nvPr/>
        </p:nvGraphicFramePr>
        <p:xfrm>
          <a:off x="5925675" y="216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407550"/>
                <a:gridCol w="455225"/>
                <a:gridCol w="995250"/>
                <a:gridCol w="9952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Q'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Used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578" name="Google Shape;578;g36ba811d23b_0_108" title="Negative Level SR Latch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25" y="642925"/>
            <a:ext cx="5574100" cy="423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a82f033e6_0_117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4" name="Google Shape;584;g36a82f033e6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6a82f033e6_0_1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" name="Google Shape;586;g36a82f033e6_0_1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7" name="Google Shape;587;g36a82f033e6_0_1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6a82f033e6_0_1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6a82f033e6_0_1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0" name="Google Shape;590;g36a82f033e6_0_117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Edge Triggered Timing Diagram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g36a82f033e6_0_1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g36a82f033e6_0_1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g36a82f033e6_0_117"/>
          <p:cNvSpPr txBox="1"/>
          <p:nvPr/>
        </p:nvSpPr>
        <p:spPr>
          <a:xfrm>
            <a:off x="6737975" y="1579375"/>
            <a:ext cx="216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FF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4" name="Google Shape;594;g36a82f033e6_0_117" title="Positive Edge Unmarked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650" y="722700"/>
            <a:ext cx="5632600" cy="4101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5" name="Google Shape;595;g36a82f033e6_0_117"/>
          <p:cNvGraphicFramePr/>
          <p:nvPr/>
        </p:nvGraphicFramePr>
        <p:xfrm>
          <a:off x="6433600" y="22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88475"/>
                <a:gridCol w="603475"/>
                <a:gridCol w="6785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a82f033e6_0_133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1" name="Google Shape;601;g36a82f033e6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36a82f033e6_0_1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3" name="Google Shape;603;g36a82f033e6_0_1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4" name="Google Shape;604;g36a82f033e6_0_1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36a82f033e6_0_1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6a82f033e6_0_1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g36a82f033e6_0_133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Edge Triggered Timing Diagram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g36a82f033e6_0_1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g36a82f033e6_0_1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0" name="Google Shape;610;g36a82f033e6_0_133"/>
          <p:cNvSpPr txBox="1"/>
          <p:nvPr/>
        </p:nvSpPr>
        <p:spPr>
          <a:xfrm>
            <a:off x="6737975" y="1579375"/>
            <a:ext cx="216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FF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1" name="Google Shape;611;g36a82f033e6_0_133" title="Positive Edge Marked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200" y="661175"/>
            <a:ext cx="6048300" cy="41632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2" name="Google Shape;612;g36a82f033e6_0_133"/>
          <p:cNvGraphicFramePr/>
          <p:nvPr/>
        </p:nvGraphicFramePr>
        <p:xfrm>
          <a:off x="6433588" y="234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88475"/>
                <a:gridCol w="603475"/>
                <a:gridCol w="6785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6a82f033e6_0_149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8" name="Google Shape;618;g36a82f033e6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6a82f033e6_0_1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0" name="Google Shape;620;g36a82f033e6_0_1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21" name="Google Shape;621;g36a82f033e6_0_1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6a82f033e6_0_1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6a82f033e6_0_1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g36a82f033e6_0_149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Edge Triggered Timing Diagram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g36a82f033e6_0_1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g36a82f033e6_0_1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g36a82f033e6_0_149"/>
          <p:cNvSpPr txBox="1"/>
          <p:nvPr/>
        </p:nvSpPr>
        <p:spPr>
          <a:xfrm>
            <a:off x="6737975" y="1579375"/>
            <a:ext cx="216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JK FF Truth Table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8" name="Google Shape;628;g36a82f033e6_0_149" title="Negative Edge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700" y="661700"/>
            <a:ext cx="5632600" cy="4222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9" name="Google Shape;629;g36a82f033e6_0_149"/>
          <p:cNvGraphicFramePr/>
          <p:nvPr/>
        </p:nvGraphicFramePr>
        <p:xfrm>
          <a:off x="6396300" y="22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{A118BD2F-64E2-4A1C-B0DC-0B3D3D9C7D5B}</a:tableStyleId>
              </a:tblPr>
              <a:tblGrid>
                <a:gridCol w="595975"/>
                <a:gridCol w="588475"/>
                <a:gridCol w="603475"/>
                <a:gridCol w="678550"/>
              </a:tblGrid>
              <a:tr h="32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Q’</a:t>
                      </a:r>
                      <a:endParaRPr b="1" sz="15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Memory/ No Change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Toggle</a:t>
                      </a:r>
                      <a:endParaRPr sz="14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ba811d23b_0_169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5" name="Google Shape;635;g36ba811d23b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6626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36ba811d23b_0_16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7" name="Google Shape;637;g36ba811d23b_0_16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8" name="Google Shape;638;g36ba811d23b_0_16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6ba811d23b_0_16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6ba811d23b_0_16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g36ba811d23b_0_169"/>
          <p:cNvSpPr txBox="1"/>
          <p:nvPr/>
        </p:nvSpPr>
        <p:spPr>
          <a:xfrm>
            <a:off x="156200" y="76200"/>
            <a:ext cx="822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Draw Timing Diagram for A, DB, B and C 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g36ba811d23b_0_16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g36ba811d23b_0_16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4" name="Google Shape;644;g36ba811d23b_0_169" title="Problem FF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1311025"/>
            <a:ext cx="71437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76c5ad717e_4_0"/>
          <p:cNvSpPr/>
          <p:nvPr/>
        </p:nvSpPr>
        <p:spPr>
          <a:xfrm>
            <a:off x="0" y="33350"/>
            <a:ext cx="9144000" cy="5110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Here,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Find out value of A based upon D FF’s truth table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DB = A xor X [use XOR gate truth table to find out values]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Find out value of C based upon T FF’s truth table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50" name="Google Shape;650;g376c5ad717e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6626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g376c5ad717e_4_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2" name="Google Shape;652;g376c5ad717e_4_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53" name="Google Shape;653;g376c5ad717e_4_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76c5ad717e_4_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76c5ad717e_4_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g376c5ad717e_4_0"/>
          <p:cNvSpPr txBox="1"/>
          <p:nvPr/>
        </p:nvSpPr>
        <p:spPr>
          <a:xfrm>
            <a:off x="156200" y="76200"/>
            <a:ext cx="822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Draw Timing Diagram for A, DB, B and C </a:t>
            </a:r>
            <a:endParaRPr sz="3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g376c5ad717e_4_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g376c5ad717e_4_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9" name="Google Shape;659;g376c5ad717e_4_0" title="Problem FF without title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182650"/>
            <a:ext cx="4648199" cy="21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76c5ad717e_4_0"/>
          <p:cNvSpPr txBox="1"/>
          <p:nvPr/>
        </p:nvSpPr>
        <p:spPr>
          <a:xfrm>
            <a:off x="824100" y="3635538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Here,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Find out value of A based upon D FF’s truth table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DB = A xor X [use XOR gate truth table to find out values]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Find out value of C based upon T FF’s truth table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61" name="Google Shape;661;g376c5ad717e_4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3900" y="505025"/>
            <a:ext cx="3712200" cy="4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ba811d23b_0_228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Here,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Find out value of A based upon D FF’s truth table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DB = A xor X [use XOR gate truth table to find out values]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Find out value of C based upon T FF’s truth table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67" name="Google Shape;667;g36ba811d23b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6626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6ba811d23b_0_2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g36ba811d23b_0_2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70" name="Google Shape;670;g36ba811d23b_0_2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6ba811d23b_0_2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6ba811d23b_0_2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g36ba811d23b_0_228"/>
          <p:cNvSpPr txBox="1"/>
          <p:nvPr/>
        </p:nvSpPr>
        <p:spPr>
          <a:xfrm>
            <a:off x="156200" y="76200"/>
            <a:ext cx="822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(CLK, DA and X are Given)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g36ba811d23b_0_2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g36ba811d23b_0_2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6" name="Google Shape;676;g36ba811d23b_0_228" title="FF Solve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630025"/>
            <a:ext cx="4331474" cy="418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36ba811d23b_0_228" title="Problem FF without title.drawi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182650"/>
            <a:ext cx="4648199" cy="21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6ba811d23b_0_228"/>
          <p:cNvSpPr txBox="1"/>
          <p:nvPr/>
        </p:nvSpPr>
        <p:spPr>
          <a:xfrm>
            <a:off x="824100" y="3635538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Here,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Find out value of A based upon D FF’s truth table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DB = A xor X [use XOR gate truth table to find out values]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Find out value of C based upon T FF’s truth table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