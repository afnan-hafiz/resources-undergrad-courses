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Lexend Light"/>
      <p:regular r:id="rId51"/>
      <p:bold r:id="rId52"/>
    </p:embeddedFont>
    <p:embeddedFont>
      <p:font typeface="Lexend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hipDUmdM3hUAVbxL2QDF9JEEN+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28CFB3-9273-45AF-B9FC-13B583136839}">
  <a:tblStyle styleId="{9B28CFB3-9273-45AF-B9FC-13B58313683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EDD5233-FA63-4C99-903D-10B9574F9620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0D6B50D-D2BD-452E-9D45-DE09D1FB1D0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870F91E-795E-43A2-A361-96EAE6878B99}" styleName="Table_3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exendLight-regular.fntdata"/><Relationship Id="rId50" Type="http://schemas.openxmlformats.org/officeDocument/2006/relationships/slide" Target="slides/slide44.xml"/><Relationship Id="rId53" Type="http://schemas.openxmlformats.org/officeDocument/2006/relationships/font" Target="fonts/Lexend-regular.fntdata"/><Relationship Id="rId52" Type="http://schemas.openxmlformats.org/officeDocument/2006/relationships/font" Target="fonts/LexendLight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Lexen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73cca48f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673cca48f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73cca48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673cca4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aab7e4371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6aab7e4371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aab7e437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6aab7e43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aab7e437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aab7e437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aab7e437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6aab7e437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aab7e437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6aab7e437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aab7e437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6aab7e437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aab7e437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6aab7e437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aab7e437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6aab7e437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aab7e437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6aab7e437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aab7e437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6aab7e437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aab7e437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6aab7e437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aab7e4371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6aab7e437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aab7e4371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6aab7e437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aab7e4371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6aab7e4371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aab7e4371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6aab7e4371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aab7e4371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6aab7e4371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a0d759e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6a0d759e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a0d759e1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6a0d759e1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a0d759e1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a0d759e1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a0d759e1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6a0d759e1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6a0d759e1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6a0d759e1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b927a0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6b927a0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6b927a0f4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6b927a0f4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b950665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6b950665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b9506652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6b9506652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b9506652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6b9506652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6b9506652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g36b9506652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6b9506652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36b9506652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6b9506652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6b9506652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6b9506652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36b9506652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6b9506652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6b9506652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6b9506652f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6b9506652f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6b9506652f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6b9506652f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6b9506652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6b9506652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6b9506652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g36b9506652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6b9506652f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6b9506652f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6b9506652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6b9506652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6b9506652f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g36b9506652f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6b9506652f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g36b9506652f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6b9506652f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g36b9506652f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hyperlink" Target="https://www.youtube.com/watch?v=svFUEJkoeVY&amp;list=PLBlnK6fEyqRjMH3mWf6kwqiTbT798eAOm&amp;index=190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vFUEJkoeVY&amp;list=PLBlnK6fEyqRjMH3mWf6kwqiTbT798eAOm&amp;index=190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vFUEJkoeVY&amp;list=PLBlnK6fEyqRjMH3mWf6kwqiTbT798eAOm&amp;index=190" TargetMode="External"/><Relationship Id="rId5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208725" y="344175"/>
            <a:ext cx="85011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6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Lecture 9</a:t>
            </a:r>
            <a:endParaRPr b="0" i="0" sz="6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Sequential Circuit Analysis</a:t>
            </a:r>
            <a:endParaRPr b="0" i="0" sz="4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b="0" i="0" sz="5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389575" y="2170450"/>
            <a:ext cx="5139600" cy="19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❏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Circuit Diagram to State Diagram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❏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 Diagram to Circuit Diagram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❏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Counters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❏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 of Counters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7" name="Google Shape;67;p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5"/>
          <p:cNvSpPr txBox="1"/>
          <p:nvPr/>
        </p:nvSpPr>
        <p:spPr>
          <a:xfrm>
            <a:off x="561850" y="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Sequential Logic ?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6650" y="848950"/>
            <a:ext cx="91107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 circuit has additional dimension which is time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Combinational logic only depends on current input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 circuit output depends on previous input other than current  input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powerful than combination logic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Able to model condition which can’t be modeled by combinational logic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73cca48f6_0_91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g3673cca48f6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673cca48f6_0_9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g3673cca48f6_0_9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" name="Google Shape;82;g3673cca48f6_0_9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673cca48f6_0_9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673cca48f6_0_9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g3673cca48f6_0_91"/>
          <p:cNvSpPr txBox="1"/>
          <p:nvPr/>
        </p:nvSpPr>
        <p:spPr>
          <a:xfrm>
            <a:off x="2224200" y="1066475"/>
            <a:ext cx="46956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Circuit Diagram</a:t>
            </a:r>
            <a:b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b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State Diagram</a:t>
            </a:r>
            <a:endParaRPr b="0" i="0" sz="4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g3673cca48f6_0_9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g3673cca48f6_0_9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" name="Google Shape;88;g3673cca48f6_0_91"/>
          <p:cNvCxnSpPr/>
          <p:nvPr/>
        </p:nvCxnSpPr>
        <p:spPr>
          <a:xfrm>
            <a:off x="500575" y="3395625"/>
            <a:ext cx="80571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73cca48f6_0_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673cca48f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673cca48f6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g3673cca48f6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7" name="Google Shape;97;g3673cca48f6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673cca48f6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673cca48f6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3673cca48f6_0_0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1: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g3673cca48f6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g3673cca48f6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" name="Google Shape;103;g3673cca48f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150" y="719225"/>
            <a:ext cx="4712651" cy="39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673cca48f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125" y="2262925"/>
            <a:ext cx="417702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673cca48f6_0_0"/>
          <p:cNvSpPr txBox="1"/>
          <p:nvPr/>
        </p:nvSpPr>
        <p:spPr>
          <a:xfrm>
            <a:off x="398900" y="2491150"/>
            <a:ext cx="190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Present States:</a:t>
            </a:r>
            <a:b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 and B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g3673cca48f6_0_0"/>
          <p:cNvSpPr txBox="1"/>
          <p:nvPr/>
        </p:nvSpPr>
        <p:spPr>
          <a:xfrm>
            <a:off x="2621350" y="2491150"/>
            <a:ext cx="18318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Next States: </a:t>
            </a:r>
            <a:b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A+ and B+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g3673cca48f6_0_0"/>
          <p:cNvSpPr txBox="1"/>
          <p:nvPr/>
        </p:nvSpPr>
        <p:spPr>
          <a:xfrm>
            <a:off x="398900" y="3585650"/>
            <a:ext cx="17910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Input:</a:t>
            </a:r>
            <a:b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DA, DB, x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g3673cca48f6_0_0"/>
          <p:cNvSpPr txBox="1"/>
          <p:nvPr/>
        </p:nvSpPr>
        <p:spPr>
          <a:xfrm>
            <a:off x="2641750" y="3585650"/>
            <a:ext cx="17910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Output:</a:t>
            </a:r>
            <a:b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673cca48f6_0_0"/>
          <p:cNvSpPr/>
          <p:nvPr/>
        </p:nvSpPr>
        <p:spPr>
          <a:xfrm>
            <a:off x="398900" y="862950"/>
            <a:ext cx="3761700" cy="128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Sequential Circuit using</a:t>
            </a:r>
            <a:b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 Flip Flop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aab7e4371_0_351"/>
          <p:cNvSpPr/>
          <p:nvPr/>
        </p:nvSpPr>
        <p:spPr>
          <a:xfrm>
            <a:off x="-485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" name="Google Shape;115;g36aab7e4371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6aab7e4371_0_3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g36aab7e4371_0_3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8" name="Google Shape;118;g36aab7e4371_0_3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6aab7e4371_0_3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6aab7e4371_0_3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g36aab7e4371_0_351"/>
          <p:cNvSpPr txBox="1"/>
          <p:nvPr/>
        </p:nvSpPr>
        <p:spPr>
          <a:xfrm>
            <a:off x="383800" y="56213"/>
            <a:ext cx="818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Sequential Circuit to State Diagram Design Workflow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g36aab7e4371_0_3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g36aab7e4371_0_3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4" name="Google Shape;124;g36aab7e4371_0_351"/>
          <p:cNvGraphicFramePr/>
          <p:nvPr/>
        </p:nvGraphicFramePr>
        <p:xfrm>
          <a:off x="154013" y="7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702825"/>
                <a:gridCol w="3350200"/>
                <a:gridCol w="4773250"/>
              </a:tblGrid>
              <a:tr h="3406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Steps: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Description: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Identify Flip-Flop Type and Equations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Extract the input equations of the Flip-Flops and external output(s) from the given circuit.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413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Build State Table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Construct the state table using the Flip-Flop Input and output equations found in 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step-1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 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4137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state table should contain the following: 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States, external input(s), FF input and outputs.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Determine Next States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Compute the next states from the FF inputs and present state with the help of 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Truth Tables.</a:t>
                      </a:r>
                      <a:endParaRPr sz="1400" u="none" cap="none" strike="noStrike">
                        <a:solidFill>
                          <a:srgbClr val="FF6B4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88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 State Diagram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Convert the State Table into a graphical State Diagram with labeled input transitions and output(s) if available.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aab7e4371_0_1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g36aab7e4371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6aab7e4371_0_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g36aab7e4371_0_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g36aab7e4371_0_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6aab7e4371_0_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6aab7e4371_0_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g36aab7e4371_0_14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1: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g36aab7e4371_0_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g36aab7e4371_0_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g36aab7e4371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825" y="2608175"/>
            <a:ext cx="2995525" cy="17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6aab7e4371_0_14"/>
          <p:cNvSpPr txBox="1"/>
          <p:nvPr/>
        </p:nvSpPr>
        <p:spPr>
          <a:xfrm>
            <a:off x="1412150" y="2792900"/>
            <a:ext cx="19050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 = </a:t>
            </a: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Ax + Bx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</a:t>
            </a: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A’x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 = </a:t>
            </a: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(A+B)x’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g36aab7e4371_0_14"/>
          <p:cNvSpPr/>
          <p:nvPr/>
        </p:nvSpPr>
        <p:spPr>
          <a:xfrm>
            <a:off x="4510190" y="828775"/>
            <a:ext cx="4557600" cy="3816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g36aab7e4371_0_14"/>
          <p:cNvSpPr/>
          <p:nvPr/>
        </p:nvSpPr>
        <p:spPr>
          <a:xfrm>
            <a:off x="442075" y="923400"/>
            <a:ext cx="3880500" cy="1616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	Find out the input equations of  the flip-flop and the output  equation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aab7e4371_0_37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g36aab7e4371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6aab7e4371_0_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g36aab7e4371_0_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1" name="Google Shape;151;g36aab7e4371_0_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6aab7e4371_0_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6aab7e4371_0_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36aab7e4371_0_37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1: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g36aab7e4371_0_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g36aab7e4371_0_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" name="Google Shape;157;g36aab7e4371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475" y="2275950"/>
            <a:ext cx="1957750" cy="13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6aab7e4371_0_37"/>
          <p:cNvSpPr txBox="1"/>
          <p:nvPr/>
        </p:nvSpPr>
        <p:spPr>
          <a:xfrm>
            <a:off x="1111800" y="2323575"/>
            <a:ext cx="17691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Ax + Bx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A’x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(A+B)x’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g36aab7e4371_0_37"/>
          <p:cNvSpPr/>
          <p:nvPr/>
        </p:nvSpPr>
        <p:spPr>
          <a:xfrm>
            <a:off x="561850" y="881300"/>
            <a:ext cx="3782100" cy="1308000"/>
          </a:xfrm>
          <a:prstGeom prst="rightArrowCallout">
            <a:avLst>
              <a:gd fmla="val 25000" name="adj1"/>
              <a:gd fmla="val 25563" name="adj2"/>
              <a:gd fmla="val 49719" name="adj3"/>
              <a:gd fmla="val 75512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Construct the state table  according to the flip-flop  input and output equations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g36aab7e4371_0_37"/>
          <p:cNvGraphicFramePr/>
          <p:nvPr/>
        </p:nvGraphicFramePr>
        <p:xfrm>
          <a:off x="4572005" y="5903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{DEDD5233-FA63-4C99-903D-10B9574F9620}</a:tableStyleId>
              </a:tblPr>
              <a:tblGrid>
                <a:gridCol w="384800"/>
                <a:gridCol w="229875"/>
                <a:gridCol w="230500"/>
                <a:gridCol w="200000"/>
                <a:gridCol w="229875"/>
                <a:gridCol w="230500"/>
                <a:gridCol w="200000"/>
                <a:gridCol w="200000"/>
                <a:gridCol w="200000"/>
                <a:gridCol w="581650"/>
                <a:gridCol w="581650"/>
                <a:gridCol w="581650"/>
                <a:gridCol w="586750"/>
              </a:tblGrid>
              <a:tr h="460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7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42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6775">
                <a:tc>
                  <a:txBody>
                    <a:bodyPr/>
                    <a:lstStyle/>
                    <a:p>
                      <a:pPr indent="0" lvl="0" marL="0" marR="21590" rtl="0" algn="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r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752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937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0142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677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635" marR="2540" rtl="0" algn="l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240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450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650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650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775">
                <a:tc>
                  <a:txBody>
                    <a:bodyPr/>
                    <a:lstStyle/>
                    <a:p>
                      <a:pPr indent="0" lvl="0" marL="0" marR="215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62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67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77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61" name="Google Shape;161;g36aab7e4371_0_37"/>
          <p:cNvSpPr/>
          <p:nvPr/>
        </p:nvSpPr>
        <p:spPr>
          <a:xfrm>
            <a:off x="4708450" y="1164825"/>
            <a:ext cx="1769100" cy="246000"/>
          </a:xfrm>
          <a:prstGeom prst="rect">
            <a:avLst/>
          </a:prstGeom>
          <a:noFill/>
          <a:ln cap="flat" cmpd="sng" w="19050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6aab7e4371_0_37"/>
          <p:cNvSpPr/>
          <p:nvPr/>
        </p:nvSpPr>
        <p:spPr>
          <a:xfrm>
            <a:off x="4708450" y="1652250"/>
            <a:ext cx="1769100" cy="246000"/>
          </a:xfrm>
          <a:prstGeom prst="rect">
            <a:avLst/>
          </a:prstGeom>
          <a:noFill/>
          <a:ln cap="flat" cmpd="sng" w="19050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6aab7e4371_0_37"/>
          <p:cNvSpPr txBox="1"/>
          <p:nvPr/>
        </p:nvSpPr>
        <p:spPr>
          <a:xfrm>
            <a:off x="328350" y="3654338"/>
            <a:ext cx="2015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A=0, B=0, x=0,  </a:t>
            </a:r>
            <a:b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 = 0.0 + 0.0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0’.0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 = (0+0).0’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6aab7e4371_0_37"/>
          <p:cNvSpPr txBox="1"/>
          <p:nvPr/>
        </p:nvSpPr>
        <p:spPr>
          <a:xfrm>
            <a:off x="2328550" y="3654338"/>
            <a:ext cx="2015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A=0, B=0, x=1,  DA = 0.1 + 0.1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0’.1 = 1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 = (0+0).1’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aab7e4371_0_61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g36aab7e4371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6aab7e4371_0_6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g36aab7e4371_0_6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3" name="Google Shape;173;g36aab7e4371_0_6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6aab7e4371_0_6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6aab7e4371_0_6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g36aab7e4371_0_61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1: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g36aab7e4371_0_6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g36aab7e4371_0_6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g36aab7e4371_0_61"/>
          <p:cNvSpPr/>
          <p:nvPr/>
        </p:nvSpPr>
        <p:spPr>
          <a:xfrm>
            <a:off x="561850" y="849075"/>
            <a:ext cx="3339600" cy="1066500"/>
          </a:xfrm>
          <a:prstGeom prst="rightArrowCallout">
            <a:avLst>
              <a:gd fmla="val 25366" name="adj1"/>
              <a:gd fmla="val 25563" name="adj2"/>
              <a:gd fmla="val 40131" name="adj3"/>
              <a:gd fmla="val 77086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Find out the next  states from the flip flop  input values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6aab7e4371_0_61"/>
          <p:cNvSpPr txBox="1"/>
          <p:nvPr/>
        </p:nvSpPr>
        <p:spPr>
          <a:xfrm>
            <a:off x="1127675" y="4124500"/>
            <a:ext cx="20217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∴ DA = A+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∴ DB = B+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g36aab7e4371_0_61"/>
          <p:cNvGraphicFramePr/>
          <p:nvPr/>
        </p:nvGraphicFramePr>
        <p:xfrm>
          <a:off x="1087488" y="270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1004550"/>
                <a:gridCol w="1017175"/>
              </a:tblGrid>
              <a:tr h="3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b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g36aab7e4371_0_61"/>
          <p:cNvSpPr txBox="1"/>
          <p:nvPr/>
        </p:nvSpPr>
        <p:spPr>
          <a:xfrm>
            <a:off x="771850" y="2131600"/>
            <a:ext cx="29259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Flip-Flop Truth Table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g36aab7e4371_0_61"/>
          <p:cNvGraphicFramePr/>
          <p:nvPr/>
        </p:nvGraphicFramePr>
        <p:xfrm>
          <a:off x="4076418" y="5903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{DEDD5233-FA63-4C99-903D-10B9574F9620}</a:tableStyleId>
              </a:tblPr>
              <a:tblGrid>
                <a:gridCol w="497850"/>
                <a:gridCol w="492750"/>
                <a:gridCol w="492750"/>
                <a:gridCol w="405125"/>
                <a:gridCol w="526425"/>
                <a:gridCol w="525775"/>
                <a:gridCol w="514350"/>
                <a:gridCol w="492750"/>
                <a:gridCol w="481325"/>
                <a:gridCol w="515625"/>
              </a:tblGrid>
              <a:tr h="48362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84" name="Google Shape;184;g36aab7e4371_0_61"/>
          <p:cNvSpPr/>
          <p:nvPr/>
        </p:nvSpPr>
        <p:spPr>
          <a:xfrm>
            <a:off x="5994050" y="1073950"/>
            <a:ext cx="454500" cy="3733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aab7e4371_0_61"/>
          <p:cNvSpPr/>
          <p:nvPr/>
        </p:nvSpPr>
        <p:spPr>
          <a:xfrm>
            <a:off x="6562600" y="1073950"/>
            <a:ext cx="454500" cy="3733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6aab7e4371_0_61"/>
          <p:cNvCxnSpPr/>
          <p:nvPr/>
        </p:nvCxnSpPr>
        <p:spPr>
          <a:xfrm flipH="1" rot="10800000">
            <a:off x="6448550" y="2602275"/>
            <a:ext cx="1810800" cy="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g36aab7e4371_0_61"/>
          <p:cNvCxnSpPr/>
          <p:nvPr/>
        </p:nvCxnSpPr>
        <p:spPr>
          <a:xfrm>
            <a:off x="7006650" y="1985275"/>
            <a:ext cx="16242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g36aab7e4371_0_61"/>
          <p:cNvCxnSpPr/>
          <p:nvPr/>
        </p:nvCxnSpPr>
        <p:spPr>
          <a:xfrm flipH="1" rot="10800000">
            <a:off x="4245325" y="1000775"/>
            <a:ext cx="4706700" cy="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aab7e4371_0_93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g36aab7e4371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6aab7e4371_0_9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g36aab7e4371_0_9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7" name="Google Shape;197;g36aab7e4371_0_9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6aab7e4371_0_9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6aab7e4371_0_9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g36aab7e4371_0_93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1: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g36aab7e4371_0_9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g36aab7e4371_0_9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" name="Google Shape;203;g36aab7e4371_0_93"/>
          <p:cNvGraphicFramePr/>
          <p:nvPr/>
        </p:nvGraphicFramePr>
        <p:xfrm>
          <a:off x="150170" y="781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{DEDD5233-FA63-4C99-903D-10B9574F9620}</a:tableStyleId>
              </a:tblPr>
              <a:tblGrid>
                <a:gridCol w="587375"/>
                <a:gridCol w="582300"/>
                <a:gridCol w="582300"/>
                <a:gridCol w="582300"/>
                <a:gridCol w="582300"/>
                <a:gridCol w="582300"/>
                <a:gridCol w="587375"/>
              </a:tblGrid>
              <a:tr h="453100">
                <a:tc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2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1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1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1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2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07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1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4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22288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04" name="Google Shape;204;g36aab7e4371_0_93"/>
          <p:cNvSpPr/>
          <p:nvPr/>
        </p:nvSpPr>
        <p:spPr>
          <a:xfrm>
            <a:off x="4851000" y="754100"/>
            <a:ext cx="3880500" cy="1259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 Draw the state diagram  from the state table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6aab7e4371_0_93"/>
          <p:cNvSpPr/>
          <p:nvPr/>
        </p:nvSpPr>
        <p:spPr>
          <a:xfrm>
            <a:off x="5446227" y="2681692"/>
            <a:ext cx="765175" cy="516889"/>
          </a:xfrm>
          <a:custGeom>
            <a:rect b="b" l="l" r="r" t="t"/>
            <a:pathLst>
              <a:path extrusionOk="0" h="516889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6aab7e4371_0_93"/>
          <p:cNvSpPr txBox="1"/>
          <p:nvPr/>
        </p:nvSpPr>
        <p:spPr>
          <a:xfrm>
            <a:off x="5637108" y="2753447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aab7e4371_0_93"/>
          <p:cNvSpPr/>
          <p:nvPr/>
        </p:nvSpPr>
        <p:spPr>
          <a:xfrm>
            <a:off x="5446227" y="4216360"/>
            <a:ext cx="765175" cy="516889"/>
          </a:xfrm>
          <a:custGeom>
            <a:rect b="b" l="l" r="r" t="t"/>
            <a:pathLst>
              <a:path extrusionOk="0" h="516889" w="765175">
                <a:moveTo>
                  <a:pt x="0" y="258317"/>
                </a:moveTo>
                <a:lnTo>
                  <a:pt x="4148" y="220147"/>
                </a:lnTo>
                <a:lnTo>
                  <a:pt x="16200" y="183714"/>
                </a:lnTo>
                <a:lnTo>
                  <a:pt x="35562" y="149420"/>
                </a:lnTo>
                <a:lnTo>
                  <a:pt x="61642" y="117663"/>
                </a:lnTo>
                <a:lnTo>
                  <a:pt x="93847" y="88844"/>
                </a:lnTo>
                <a:lnTo>
                  <a:pt x="131584" y="63363"/>
                </a:lnTo>
                <a:lnTo>
                  <a:pt x="174262" y="41618"/>
                </a:lnTo>
                <a:lnTo>
                  <a:pt x="221288" y="24009"/>
                </a:lnTo>
                <a:lnTo>
                  <a:pt x="272068" y="10937"/>
                </a:lnTo>
                <a:lnTo>
                  <a:pt x="326011" y="2800"/>
                </a:lnTo>
                <a:lnTo>
                  <a:pt x="382524" y="0"/>
                </a:lnTo>
                <a:lnTo>
                  <a:pt x="439036" y="2800"/>
                </a:lnTo>
                <a:lnTo>
                  <a:pt x="492979" y="10937"/>
                </a:lnTo>
                <a:lnTo>
                  <a:pt x="543759" y="24009"/>
                </a:lnTo>
                <a:lnTo>
                  <a:pt x="590785" y="41618"/>
                </a:lnTo>
                <a:lnTo>
                  <a:pt x="633463" y="63363"/>
                </a:lnTo>
                <a:lnTo>
                  <a:pt x="671200" y="88844"/>
                </a:lnTo>
                <a:lnTo>
                  <a:pt x="703405" y="117663"/>
                </a:lnTo>
                <a:lnTo>
                  <a:pt x="729485" y="149420"/>
                </a:lnTo>
                <a:lnTo>
                  <a:pt x="748847" y="183714"/>
                </a:lnTo>
                <a:lnTo>
                  <a:pt x="760899" y="220147"/>
                </a:lnTo>
                <a:lnTo>
                  <a:pt x="765048" y="258317"/>
                </a:lnTo>
                <a:lnTo>
                  <a:pt x="760899" y="296488"/>
                </a:lnTo>
                <a:lnTo>
                  <a:pt x="748847" y="332921"/>
                </a:lnTo>
                <a:lnTo>
                  <a:pt x="729485" y="367215"/>
                </a:lnTo>
                <a:lnTo>
                  <a:pt x="703405" y="398972"/>
                </a:lnTo>
                <a:lnTo>
                  <a:pt x="671200" y="427791"/>
                </a:lnTo>
                <a:lnTo>
                  <a:pt x="633463" y="453272"/>
                </a:lnTo>
                <a:lnTo>
                  <a:pt x="590785" y="475017"/>
                </a:lnTo>
                <a:lnTo>
                  <a:pt x="543759" y="492626"/>
                </a:lnTo>
                <a:lnTo>
                  <a:pt x="492979" y="505698"/>
                </a:lnTo>
                <a:lnTo>
                  <a:pt x="439036" y="513835"/>
                </a:lnTo>
                <a:lnTo>
                  <a:pt x="382524" y="516635"/>
                </a:lnTo>
                <a:lnTo>
                  <a:pt x="326011" y="513835"/>
                </a:lnTo>
                <a:lnTo>
                  <a:pt x="272068" y="505698"/>
                </a:lnTo>
                <a:lnTo>
                  <a:pt x="221288" y="492626"/>
                </a:lnTo>
                <a:lnTo>
                  <a:pt x="174262" y="475017"/>
                </a:lnTo>
                <a:lnTo>
                  <a:pt x="131584" y="453272"/>
                </a:lnTo>
                <a:lnTo>
                  <a:pt x="93847" y="427791"/>
                </a:lnTo>
                <a:lnTo>
                  <a:pt x="61642" y="398972"/>
                </a:lnTo>
                <a:lnTo>
                  <a:pt x="35562" y="367215"/>
                </a:lnTo>
                <a:lnTo>
                  <a:pt x="16200" y="332921"/>
                </a:lnTo>
                <a:lnTo>
                  <a:pt x="4148" y="296488"/>
                </a:lnTo>
                <a:lnTo>
                  <a:pt x="0" y="258317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6aab7e4371_0_93"/>
          <p:cNvSpPr txBox="1"/>
          <p:nvPr/>
        </p:nvSpPr>
        <p:spPr>
          <a:xfrm>
            <a:off x="5637108" y="4287785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aab7e4371_0_93"/>
          <p:cNvSpPr/>
          <p:nvPr/>
        </p:nvSpPr>
        <p:spPr>
          <a:xfrm>
            <a:off x="7585922" y="2681692"/>
            <a:ext cx="765175" cy="2051685"/>
          </a:xfrm>
          <a:custGeom>
            <a:rect b="b" l="l" r="r" t="t"/>
            <a:pathLst>
              <a:path extrusionOk="0" h="2051685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  <a:path extrusionOk="0" h="2051685" w="765175">
                <a:moveTo>
                  <a:pt x="0" y="1792986"/>
                </a:moveTo>
                <a:lnTo>
                  <a:pt x="4148" y="1754815"/>
                </a:lnTo>
                <a:lnTo>
                  <a:pt x="16200" y="1718382"/>
                </a:lnTo>
                <a:lnTo>
                  <a:pt x="35562" y="1684088"/>
                </a:lnTo>
                <a:lnTo>
                  <a:pt x="61642" y="1652331"/>
                </a:lnTo>
                <a:lnTo>
                  <a:pt x="93847" y="1623512"/>
                </a:lnTo>
                <a:lnTo>
                  <a:pt x="131584" y="1598031"/>
                </a:lnTo>
                <a:lnTo>
                  <a:pt x="174262" y="1576286"/>
                </a:lnTo>
                <a:lnTo>
                  <a:pt x="221288" y="1558677"/>
                </a:lnTo>
                <a:lnTo>
                  <a:pt x="272068" y="1545605"/>
                </a:lnTo>
                <a:lnTo>
                  <a:pt x="326011" y="1537468"/>
                </a:lnTo>
                <a:lnTo>
                  <a:pt x="382524" y="1534667"/>
                </a:lnTo>
                <a:lnTo>
                  <a:pt x="439036" y="1537468"/>
                </a:lnTo>
                <a:lnTo>
                  <a:pt x="492979" y="1545605"/>
                </a:lnTo>
                <a:lnTo>
                  <a:pt x="543759" y="1558677"/>
                </a:lnTo>
                <a:lnTo>
                  <a:pt x="590785" y="1576286"/>
                </a:lnTo>
                <a:lnTo>
                  <a:pt x="633463" y="1598031"/>
                </a:lnTo>
                <a:lnTo>
                  <a:pt x="671200" y="1623512"/>
                </a:lnTo>
                <a:lnTo>
                  <a:pt x="703405" y="1652331"/>
                </a:lnTo>
                <a:lnTo>
                  <a:pt x="729485" y="1684088"/>
                </a:lnTo>
                <a:lnTo>
                  <a:pt x="748847" y="1718382"/>
                </a:lnTo>
                <a:lnTo>
                  <a:pt x="760899" y="1754815"/>
                </a:lnTo>
                <a:lnTo>
                  <a:pt x="765048" y="1792986"/>
                </a:lnTo>
                <a:lnTo>
                  <a:pt x="760899" y="1831156"/>
                </a:lnTo>
                <a:lnTo>
                  <a:pt x="748847" y="1867589"/>
                </a:lnTo>
                <a:lnTo>
                  <a:pt x="729485" y="1901883"/>
                </a:lnTo>
                <a:lnTo>
                  <a:pt x="703405" y="1933640"/>
                </a:lnTo>
                <a:lnTo>
                  <a:pt x="671200" y="1962459"/>
                </a:lnTo>
                <a:lnTo>
                  <a:pt x="633463" y="1987940"/>
                </a:lnTo>
                <a:lnTo>
                  <a:pt x="590785" y="2009685"/>
                </a:lnTo>
                <a:lnTo>
                  <a:pt x="543759" y="2027294"/>
                </a:lnTo>
                <a:lnTo>
                  <a:pt x="492979" y="2040366"/>
                </a:lnTo>
                <a:lnTo>
                  <a:pt x="439036" y="2048503"/>
                </a:lnTo>
                <a:lnTo>
                  <a:pt x="382524" y="2051303"/>
                </a:lnTo>
                <a:lnTo>
                  <a:pt x="326011" y="2048503"/>
                </a:lnTo>
                <a:lnTo>
                  <a:pt x="272068" y="2040366"/>
                </a:lnTo>
                <a:lnTo>
                  <a:pt x="221288" y="2027294"/>
                </a:lnTo>
                <a:lnTo>
                  <a:pt x="174262" y="2009685"/>
                </a:lnTo>
                <a:lnTo>
                  <a:pt x="131584" y="1987940"/>
                </a:lnTo>
                <a:lnTo>
                  <a:pt x="93847" y="1962459"/>
                </a:lnTo>
                <a:lnTo>
                  <a:pt x="61642" y="1933640"/>
                </a:lnTo>
                <a:lnTo>
                  <a:pt x="35562" y="1901883"/>
                </a:lnTo>
                <a:lnTo>
                  <a:pt x="16200" y="1867589"/>
                </a:lnTo>
                <a:lnTo>
                  <a:pt x="4148" y="1831156"/>
                </a:lnTo>
                <a:lnTo>
                  <a:pt x="0" y="1792986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6aab7e4371_0_93"/>
          <p:cNvSpPr txBox="1"/>
          <p:nvPr/>
        </p:nvSpPr>
        <p:spPr>
          <a:xfrm>
            <a:off x="7777693" y="4287785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aab7e4371_0_93"/>
          <p:cNvSpPr/>
          <p:nvPr/>
        </p:nvSpPr>
        <p:spPr>
          <a:xfrm>
            <a:off x="5194132" y="2490939"/>
            <a:ext cx="641350" cy="457200"/>
          </a:xfrm>
          <a:custGeom>
            <a:rect b="b" l="l" r="r" t="t"/>
            <a:pathLst>
              <a:path extrusionOk="0" h="457200" w="641350">
                <a:moveTo>
                  <a:pt x="320420" y="0"/>
                </a:moveTo>
                <a:lnTo>
                  <a:pt x="275589" y="2921"/>
                </a:lnTo>
                <a:lnTo>
                  <a:pt x="231520" y="11175"/>
                </a:lnTo>
                <a:lnTo>
                  <a:pt x="175513" y="29718"/>
                </a:lnTo>
                <a:lnTo>
                  <a:pt x="124078" y="55372"/>
                </a:lnTo>
                <a:lnTo>
                  <a:pt x="79247" y="87122"/>
                </a:lnTo>
                <a:lnTo>
                  <a:pt x="50926" y="114173"/>
                </a:lnTo>
                <a:lnTo>
                  <a:pt x="21716" y="153669"/>
                </a:lnTo>
                <a:lnTo>
                  <a:pt x="4190" y="195961"/>
                </a:lnTo>
                <a:lnTo>
                  <a:pt x="0" y="228600"/>
                </a:lnTo>
                <a:lnTo>
                  <a:pt x="380" y="239394"/>
                </a:lnTo>
                <a:lnTo>
                  <a:pt x="8889" y="282067"/>
                </a:lnTo>
                <a:lnTo>
                  <a:pt x="33527" y="332740"/>
                </a:lnTo>
                <a:lnTo>
                  <a:pt x="62229" y="369188"/>
                </a:lnTo>
                <a:lnTo>
                  <a:pt x="97535" y="401193"/>
                </a:lnTo>
                <a:lnTo>
                  <a:pt x="137921" y="426847"/>
                </a:lnTo>
                <a:lnTo>
                  <a:pt x="182117" y="445516"/>
                </a:lnTo>
                <a:lnTo>
                  <a:pt x="228472" y="455422"/>
                </a:lnTo>
                <a:lnTo>
                  <a:pt x="251967" y="456692"/>
                </a:lnTo>
                <a:lnTo>
                  <a:pt x="252221" y="443992"/>
                </a:lnTo>
                <a:lnTo>
                  <a:pt x="240664" y="443738"/>
                </a:lnTo>
                <a:lnTo>
                  <a:pt x="229615" y="442722"/>
                </a:lnTo>
                <a:lnTo>
                  <a:pt x="185419" y="433197"/>
                </a:lnTo>
                <a:lnTo>
                  <a:pt x="143382" y="415417"/>
                </a:lnTo>
                <a:lnTo>
                  <a:pt x="104775" y="390779"/>
                </a:lnTo>
                <a:lnTo>
                  <a:pt x="71119" y="360172"/>
                </a:lnTo>
                <a:lnTo>
                  <a:pt x="43814" y="325374"/>
                </a:lnTo>
                <a:lnTo>
                  <a:pt x="24383" y="287528"/>
                </a:lnTo>
                <a:lnTo>
                  <a:pt x="14096" y="248157"/>
                </a:lnTo>
                <a:lnTo>
                  <a:pt x="12700" y="228092"/>
                </a:lnTo>
                <a:lnTo>
                  <a:pt x="13207" y="218312"/>
                </a:lnTo>
                <a:lnTo>
                  <a:pt x="23240" y="179069"/>
                </a:lnTo>
                <a:lnTo>
                  <a:pt x="45338" y="140716"/>
                </a:lnTo>
                <a:lnTo>
                  <a:pt x="77977" y="105029"/>
                </a:lnTo>
                <a:lnTo>
                  <a:pt x="108457" y="80772"/>
                </a:lnTo>
                <a:lnTo>
                  <a:pt x="155066" y="52831"/>
                </a:lnTo>
                <a:lnTo>
                  <a:pt x="207390" y="31368"/>
                </a:lnTo>
                <a:lnTo>
                  <a:pt x="263270" y="17525"/>
                </a:lnTo>
                <a:lnTo>
                  <a:pt x="306196" y="12954"/>
                </a:lnTo>
                <a:lnTo>
                  <a:pt x="320675" y="12700"/>
                </a:lnTo>
                <a:lnTo>
                  <a:pt x="423022" y="12700"/>
                </a:lnTo>
                <a:lnTo>
                  <a:pt x="409066" y="9398"/>
                </a:lnTo>
                <a:lnTo>
                  <a:pt x="379983" y="4191"/>
                </a:lnTo>
                <a:lnTo>
                  <a:pt x="350265" y="1016"/>
                </a:lnTo>
                <a:lnTo>
                  <a:pt x="320420" y="0"/>
                </a:lnTo>
                <a:close/>
              </a:path>
              <a:path extrusionOk="0" h="457200" w="641350">
                <a:moveTo>
                  <a:pt x="598706" y="124781"/>
                </a:moveTo>
                <a:lnTo>
                  <a:pt x="570738" y="136271"/>
                </a:lnTo>
                <a:lnTo>
                  <a:pt x="634872" y="192278"/>
                </a:lnTo>
                <a:lnTo>
                  <a:pt x="639030" y="136651"/>
                </a:lnTo>
                <a:lnTo>
                  <a:pt x="605281" y="136651"/>
                </a:lnTo>
                <a:lnTo>
                  <a:pt x="598706" y="124781"/>
                </a:lnTo>
                <a:close/>
              </a:path>
              <a:path extrusionOk="0" h="457200" w="641350">
                <a:moveTo>
                  <a:pt x="610576" y="119904"/>
                </a:moveTo>
                <a:lnTo>
                  <a:pt x="598706" y="124781"/>
                </a:lnTo>
                <a:lnTo>
                  <a:pt x="605281" y="136651"/>
                </a:lnTo>
                <a:lnTo>
                  <a:pt x="616330" y="130429"/>
                </a:lnTo>
                <a:lnTo>
                  <a:pt x="610576" y="119904"/>
                </a:lnTo>
                <a:close/>
              </a:path>
              <a:path extrusionOk="0" h="457200" w="641350">
                <a:moveTo>
                  <a:pt x="641222" y="107315"/>
                </a:moveTo>
                <a:lnTo>
                  <a:pt x="610576" y="119904"/>
                </a:lnTo>
                <a:lnTo>
                  <a:pt x="616330" y="130429"/>
                </a:lnTo>
                <a:lnTo>
                  <a:pt x="605281" y="136651"/>
                </a:lnTo>
                <a:lnTo>
                  <a:pt x="639030" y="136651"/>
                </a:lnTo>
                <a:lnTo>
                  <a:pt x="641222" y="107315"/>
                </a:lnTo>
                <a:close/>
              </a:path>
              <a:path extrusionOk="0" h="457200" w="641350">
                <a:moveTo>
                  <a:pt x="595751" y="119447"/>
                </a:moveTo>
                <a:lnTo>
                  <a:pt x="598706" y="124781"/>
                </a:lnTo>
                <a:lnTo>
                  <a:pt x="609690" y="120268"/>
                </a:lnTo>
                <a:lnTo>
                  <a:pt x="596518" y="120268"/>
                </a:lnTo>
                <a:lnTo>
                  <a:pt x="595751" y="119447"/>
                </a:lnTo>
                <a:close/>
              </a:path>
              <a:path extrusionOk="0" h="457200" w="641350">
                <a:moveTo>
                  <a:pt x="595502" y="118999"/>
                </a:moveTo>
                <a:lnTo>
                  <a:pt x="595751" y="119447"/>
                </a:lnTo>
                <a:lnTo>
                  <a:pt x="596518" y="120268"/>
                </a:lnTo>
                <a:lnTo>
                  <a:pt x="595502" y="118999"/>
                </a:lnTo>
                <a:close/>
              </a:path>
              <a:path extrusionOk="0" h="457200" w="641350">
                <a:moveTo>
                  <a:pt x="610081" y="118999"/>
                </a:moveTo>
                <a:lnTo>
                  <a:pt x="595502" y="118999"/>
                </a:lnTo>
                <a:lnTo>
                  <a:pt x="596518" y="120268"/>
                </a:lnTo>
                <a:lnTo>
                  <a:pt x="609690" y="120268"/>
                </a:lnTo>
                <a:lnTo>
                  <a:pt x="610576" y="119904"/>
                </a:lnTo>
                <a:lnTo>
                  <a:pt x="610081" y="118999"/>
                </a:lnTo>
                <a:close/>
              </a:path>
              <a:path extrusionOk="0" h="457200" w="641350">
                <a:moveTo>
                  <a:pt x="423022" y="12700"/>
                </a:moveTo>
                <a:lnTo>
                  <a:pt x="320675" y="12700"/>
                </a:lnTo>
                <a:lnTo>
                  <a:pt x="349757" y="13716"/>
                </a:lnTo>
                <a:lnTo>
                  <a:pt x="378587" y="16891"/>
                </a:lnTo>
                <a:lnTo>
                  <a:pt x="434593" y="28575"/>
                </a:lnTo>
                <a:lnTo>
                  <a:pt x="486790" y="46609"/>
                </a:lnTo>
                <a:lnTo>
                  <a:pt x="533653" y="69976"/>
                </a:lnTo>
                <a:lnTo>
                  <a:pt x="572896" y="97536"/>
                </a:lnTo>
                <a:lnTo>
                  <a:pt x="595751" y="119447"/>
                </a:lnTo>
                <a:lnTo>
                  <a:pt x="595502" y="118999"/>
                </a:lnTo>
                <a:lnTo>
                  <a:pt x="610081" y="118999"/>
                </a:lnTo>
                <a:lnTo>
                  <a:pt x="606678" y="112775"/>
                </a:lnTo>
                <a:lnTo>
                  <a:pt x="606425" y="112394"/>
                </a:lnTo>
                <a:lnTo>
                  <a:pt x="606043" y="111887"/>
                </a:lnTo>
                <a:lnTo>
                  <a:pt x="605663" y="111506"/>
                </a:lnTo>
                <a:lnTo>
                  <a:pt x="598042" y="103378"/>
                </a:lnTo>
                <a:lnTo>
                  <a:pt x="561339" y="72771"/>
                </a:lnTo>
                <a:lnTo>
                  <a:pt x="516254" y="46228"/>
                </a:lnTo>
                <a:lnTo>
                  <a:pt x="465073" y="24637"/>
                </a:lnTo>
                <a:lnTo>
                  <a:pt x="437514" y="16129"/>
                </a:lnTo>
                <a:lnTo>
                  <a:pt x="423022" y="1270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6aab7e4371_0_93"/>
          <p:cNvSpPr txBox="1"/>
          <p:nvPr/>
        </p:nvSpPr>
        <p:spPr>
          <a:xfrm>
            <a:off x="5195783" y="2139275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6aab7e4371_0_93"/>
          <p:cNvSpPr/>
          <p:nvPr/>
        </p:nvSpPr>
        <p:spPr>
          <a:xfrm>
            <a:off x="6211275" y="2902673"/>
            <a:ext cx="1375409" cy="76200"/>
          </a:xfrm>
          <a:custGeom>
            <a:rect b="b" l="l" r="r" t="t"/>
            <a:pathLst>
              <a:path extrusionOk="0" h="76200" w="1375409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1375409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1375409">
                <a:moveTo>
                  <a:pt x="137490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74902" y="44450"/>
                </a:lnTo>
                <a:lnTo>
                  <a:pt x="13749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6aab7e4371_0_93"/>
          <p:cNvSpPr txBox="1"/>
          <p:nvPr/>
        </p:nvSpPr>
        <p:spPr>
          <a:xfrm>
            <a:off x="6691081" y="2615017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6aab7e4371_0_93"/>
          <p:cNvSpPr/>
          <p:nvPr/>
        </p:nvSpPr>
        <p:spPr>
          <a:xfrm>
            <a:off x="5520014" y="3123652"/>
            <a:ext cx="76200" cy="1169035"/>
          </a:xfrm>
          <a:custGeom>
            <a:rect b="b" l="l" r="r" t="t"/>
            <a:pathLst>
              <a:path extrusionOk="0" h="1169035" w="76200">
                <a:moveTo>
                  <a:pt x="31750" y="1092606"/>
                </a:moveTo>
                <a:lnTo>
                  <a:pt x="0" y="1092606"/>
                </a:lnTo>
                <a:lnTo>
                  <a:pt x="38100" y="1168806"/>
                </a:lnTo>
                <a:lnTo>
                  <a:pt x="69850" y="1105306"/>
                </a:lnTo>
                <a:lnTo>
                  <a:pt x="31750" y="1105306"/>
                </a:lnTo>
                <a:lnTo>
                  <a:pt x="31750" y="1092606"/>
                </a:lnTo>
                <a:close/>
              </a:path>
              <a:path extrusionOk="0" h="1169035" w="76200">
                <a:moveTo>
                  <a:pt x="43814" y="0"/>
                </a:moveTo>
                <a:lnTo>
                  <a:pt x="31114" y="0"/>
                </a:lnTo>
                <a:lnTo>
                  <a:pt x="31369" y="557149"/>
                </a:lnTo>
                <a:lnTo>
                  <a:pt x="31496" y="606171"/>
                </a:lnTo>
                <a:lnTo>
                  <a:pt x="31623" y="629031"/>
                </a:lnTo>
                <a:lnTo>
                  <a:pt x="31750" y="1105306"/>
                </a:lnTo>
                <a:lnTo>
                  <a:pt x="44450" y="1105306"/>
                </a:lnTo>
                <a:lnTo>
                  <a:pt x="44323" y="628904"/>
                </a:lnTo>
                <a:lnTo>
                  <a:pt x="44196" y="605790"/>
                </a:lnTo>
                <a:lnTo>
                  <a:pt x="44069" y="557022"/>
                </a:lnTo>
                <a:lnTo>
                  <a:pt x="43941" y="543941"/>
                </a:lnTo>
                <a:lnTo>
                  <a:pt x="43814" y="0"/>
                </a:lnTo>
                <a:close/>
              </a:path>
              <a:path extrusionOk="0" h="1169035" w="76200">
                <a:moveTo>
                  <a:pt x="76200" y="1092606"/>
                </a:moveTo>
                <a:lnTo>
                  <a:pt x="44450" y="1092606"/>
                </a:lnTo>
                <a:lnTo>
                  <a:pt x="44450" y="1105306"/>
                </a:lnTo>
                <a:lnTo>
                  <a:pt x="69850" y="1105306"/>
                </a:lnTo>
                <a:lnTo>
                  <a:pt x="76200" y="1092606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6aab7e4371_0_93"/>
          <p:cNvSpPr txBox="1"/>
          <p:nvPr/>
        </p:nvSpPr>
        <p:spPr>
          <a:xfrm>
            <a:off x="5038547" y="3523963"/>
            <a:ext cx="1693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1/0	     0/1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6aab7e4371_0_93"/>
          <p:cNvSpPr/>
          <p:nvPr/>
        </p:nvSpPr>
        <p:spPr>
          <a:xfrm>
            <a:off x="6187625" y="4551175"/>
            <a:ext cx="1423548" cy="76200"/>
          </a:xfrm>
          <a:custGeom>
            <a:rect b="b" l="l" r="r" t="t"/>
            <a:pathLst>
              <a:path extrusionOk="0" h="76200" w="1375409">
                <a:moveTo>
                  <a:pt x="1298702" y="0"/>
                </a:moveTo>
                <a:lnTo>
                  <a:pt x="1298702" y="76200"/>
                </a:lnTo>
                <a:lnTo>
                  <a:pt x="1362202" y="44450"/>
                </a:lnTo>
                <a:lnTo>
                  <a:pt x="1311402" y="44450"/>
                </a:lnTo>
                <a:lnTo>
                  <a:pt x="1311402" y="31750"/>
                </a:lnTo>
                <a:lnTo>
                  <a:pt x="1362202" y="31750"/>
                </a:lnTo>
                <a:lnTo>
                  <a:pt x="1298702" y="0"/>
                </a:lnTo>
                <a:close/>
              </a:path>
              <a:path extrusionOk="0" h="76200" w="1375409">
                <a:moveTo>
                  <a:pt x="129870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8702" y="44450"/>
                </a:lnTo>
                <a:lnTo>
                  <a:pt x="1298702" y="31750"/>
                </a:lnTo>
                <a:close/>
              </a:path>
              <a:path extrusionOk="0" h="76200" w="1375409">
                <a:moveTo>
                  <a:pt x="1362202" y="31750"/>
                </a:moveTo>
                <a:lnTo>
                  <a:pt x="1311402" y="31750"/>
                </a:lnTo>
                <a:lnTo>
                  <a:pt x="1311402" y="44450"/>
                </a:lnTo>
                <a:lnTo>
                  <a:pt x="1362202" y="44450"/>
                </a:lnTo>
                <a:lnTo>
                  <a:pt x="1374902" y="38100"/>
                </a:lnTo>
                <a:lnTo>
                  <a:pt x="13622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6aab7e4371_0_93"/>
          <p:cNvSpPr txBox="1"/>
          <p:nvPr/>
        </p:nvSpPr>
        <p:spPr>
          <a:xfrm>
            <a:off x="6612468" y="4102162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aab7e4371_0_93"/>
          <p:cNvSpPr/>
          <p:nvPr/>
        </p:nvSpPr>
        <p:spPr>
          <a:xfrm>
            <a:off x="6098498" y="3123652"/>
            <a:ext cx="1873250" cy="1099185"/>
          </a:xfrm>
          <a:custGeom>
            <a:rect b="b" l="l" r="r" t="t"/>
            <a:pathLst>
              <a:path extrusionOk="0" h="1099185" w="1873250">
                <a:moveTo>
                  <a:pt x="69006" y="32956"/>
                </a:moveTo>
                <a:lnTo>
                  <a:pt x="62556" y="44020"/>
                </a:lnTo>
                <a:lnTo>
                  <a:pt x="1866392" y="1098677"/>
                </a:lnTo>
                <a:lnTo>
                  <a:pt x="1872742" y="1087716"/>
                </a:lnTo>
                <a:lnTo>
                  <a:pt x="69006" y="32956"/>
                </a:lnTo>
                <a:close/>
              </a:path>
              <a:path extrusionOk="0" h="1099185" w="1873250">
                <a:moveTo>
                  <a:pt x="0" y="0"/>
                </a:moveTo>
                <a:lnTo>
                  <a:pt x="46609" y="71374"/>
                </a:lnTo>
                <a:lnTo>
                  <a:pt x="62556" y="44020"/>
                </a:lnTo>
                <a:lnTo>
                  <a:pt x="51562" y="37592"/>
                </a:lnTo>
                <a:lnTo>
                  <a:pt x="58038" y="26543"/>
                </a:lnTo>
                <a:lnTo>
                  <a:pt x="72745" y="26543"/>
                </a:lnTo>
                <a:lnTo>
                  <a:pt x="84962" y="5587"/>
                </a:lnTo>
                <a:lnTo>
                  <a:pt x="0" y="0"/>
                </a:lnTo>
                <a:close/>
              </a:path>
              <a:path extrusionOk="0" h="1099185" w="1873250">
                <a:moveTo>
                  <a:pt x="58038" y="26543"/>
                </a:moveTo>
                <a:lnTo>
                  <a:pt x="51562" y="37592"/>
                </a:lnTo>
                <a:lnTo>
                  <a:pt x="62556" y="44020"/>
                </a:lnTo>
                <a:lnTo>
                  <a:pt x="69006" y="32956"/>
                </a:lnTo>
                <a:lnTo>
                  <a:pt x="58038" y="26543"/>
                </a:lnTo>
                <a:close/>
              </a:path>
              <a:path extrusionOk="0" h="1099185" w="1873250">
                <a:moveTo>
                  <a:pt x="72745" y="26543"/>
                </a:moveTo>
                <a:lnTo>
                  <a:pt x="58038" y="26543"/>
                </a:lnTo>
                <a:lnTo>
                  <a:pt x="69006" y="32956"/>
                </a:lnTo>
                <a:lnTo>
                  <a:pt x="72745" y="26543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6aab7e4371_0_93"/>
          <p:cNvSpPr txBox="1"/>
          <p:nvPr/>
        </p:nvSpPr>
        <p:spPr>
          <a:xfrm>
            <a:off x="6998420" y="3345648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aab7e4371_0_93"/>
          <p:cNvSpPr/>
          <p:nvPr/>
        </p:nvSpPr>
        <p:spPr>
          <a:xfrm>
            <a:off x="5790651" y="3123652"/>
            <a:ext cx="2487295" cy="1169035"/>
          </a:xfrm>
          <a:custGeom>
            <a:rect b="b" l="l" r="r" t="t"/>
            <a:pathLst>
              <a:path extrusionOk="0" h="1169035" w="2487295">
                <a:moveTo>
                  <a:pt x="76200" y="150876"/>
                </a:moveTo>
                <a:lnTo>
                  <a:pt x="69850" y="138176"/>
                </a:lnTo>
                <a:lnTo>
                  <a:pt x="38100" y="74676"/>
                </a:lnTo>
                <a:lnTo>
                  <a:pt x="0" y="150876"/>
                </a:lnTo>
                <a:lnTo>
                  <a:pt x="31750" y="150876"/>
                </a:lnTo>
                <a:lnTo>
                  <a:pt x="31750" y="1092276"/>
                </a:lnTo>
                <a:lnTo>
                  <a:pt x="44450" y="1092276"/>
                </a:lnTo>
                <a:lnTo>
                  <a:pt x="44450" y="150876"/>
                </a:lnTo>
                <a:lnTo>
                  <a:pt x="76200" y="150876"/>
                </a:lnTo>
                <a:close/>
              </a:path>
              <a:path extrusionOk="0" h="1169035" w="2487295">
                <a:moveTo>
                  <a:pt x="2487168" y="76200"/>
                </a:moveTo>
                <a:lnTo>
                  <a:pt x="2480818" y="63500"/>
                </a:lnTo>
                <a:lnTo>
                  <a:pt x="2449068" y="0"/>
                </a:lnTo>
                <a:lnTo>
                  <a:pt x="2410968" y="76200"/>
                </a:lnTo>
                <a:lnTo>
                  <a:pt x="2442718" y="76200"/>
                </a:lnTo>
                <a:lnTo>
                  <a:pt x="2442718" y="1168793"/>
                </a:lnTo>
                <a:lnTo>
                  <a:pt x="2455418" y="1168793"/>
                </a:lnTo>
                <a:lnTo>
                  <a:pt x="2455418" y="76200"/>
                </a:lnTo>
                <a:lnTo>
                  <a:pt x="2487168" y="7620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6aab7e4371_0_93"/>
          <p:cNvSpPr txBox="1"/>
          <p:nvPr/>
        </p:nvSpPr>
        <p:spPr>
          <a:xfrm>
            <a:off x="8265118" y="3523956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aab7e4371_0_93"/>
          <p:cNvSpPr/>
          <p:nvPr/>
        </p:nvSpPr>
        <p:spPr>
          <a:xfrm>
            <a:off x="7962096" y="2490939"/>
            <a:ext cx="641350" cy="457200"/>
          </a:xfrm>
          <a:custGeom>
            <a:rect b="b" l="l" r="r" t="t"/>
            <a:pathLst>
              <a:path extrusionOk="0" h="457200" w="641350">
                <a:moveTo>
                  <a:pt x="414953" y="12700"/>
                </a:moveTo>
                <a:lnTo>
                  <a:pt x="320421" y="12700"/>
                </a:lnTo>
                <a:lnTo>
                  <a:pt x="334899" y="12954"/>
                </a:lnTo>
                <a:lnTo>
                  <a:pt x="349250" y="13843"/>
                </a:lnTo>
                <a:lnTo>
                  <a:pt x="406146" y="23368"/>
                </a:lnTo>
                <a:lnTo>
                  <a:pt x="460375" y="41275"/>
                </a:lnTo>
                <a:lnTo>
                  <a:pt x="510031" y="66040"/>
                </a:lnTo>
                <a:lnTo>
                  <a:pt x="553466" y="96774"/>
                </a:lnTo>
                <a:lnTo>
                  <a:pt x="588518" y="131572"/>
                </a:lnTo>
                <a:lnTo>
                  <a:pt x="613409" y="169291"/>
                </a:lnTo>
                <a:lnTo>
                  <a:pt x="626618" y="208406"/>
                </a:lnTo>
                <a:lnTo>
                  <a:pt x="628396" y="228092"/>
                </a:lnTo>
                <a:lnTo>
                  <a:pt x="628014" y="238125"/>
                </a:lnTo>
                <a:lnTo>
                  <a:pt x="620141" y="277749"/>
                </a:lnTo>
                <a:lnTo>
                  <a:pt x="597280" y="325374"/>
                </a:lnTo>
                <a:lnTo>
                  <a:pt x="569976" y="360172"/>
                </a:lnTo>
                <a:lnTo>
                  <a:pt x="536321" y="390779"/>
                </a:lnTo>
                <a:lnTo>
                  <a:pt x="497712" y="415417"/>
                </a:lnTo>
                <a:lnTo>
                  <a:pt x="455675" y="433197"/>
                </a:lnTo>
                <a:lnTo>
                  <a:pt x="411352" y="442722"/>
                </a:lnTo>
                <a:lnTo>
                  <a:pt x="388747" y="443992"/>
                </a:lnTo>
                <a:lnTo>
                  <a:pt x="389000" y="456692"/>
                </a:lnTo>
                <a:lnTo>
                  <a:pt x="435991" y="451612"/>
                </a:lnTo>
                <a:lnTo>
                  <a:pt x="481329" y="437261"/>
                </a:lnTo>
                <a:lnTo>
                  <a:pt x="523875" y="414781"/>
                </a:lnTo>
                <a:lnTo>
                  <a:pt x="561975" y="385825"/>
                </a:lnTo>
                <a:lnTo>
                  <a:pt x="594232" y="351536"/>
                </a:lnTo>
                <a:lnTo>
                  <a:pt x="619125" y="313055"/>
                </a:lnTo>
                <a:lnTo>
                  <a:pt x="635253" y="271525"/>
                </a:lnTo>
                <a:lnTo>
                  <a:pt x="641096" y="228600"/>
                </a:lnTo>
                <a:lnTo>
                  <a:pt x="640587" y="217678"/>
                </a:lnTo>
                <a:lnTo>
                  <a:pt x="629793" y="174498"/>
                </a:lnTo>
                <a:lnTo>
                  <a:pt x="606044" y="133476"/>
                </a:lnTo>
                <a:lnTo>
                  <a:pt x="571880" y="95885"/>
                </a:lnTo>
                <a:lnTo>
                  <a:pt x="540384" y="70612"/>
                </a:lnTo>
                <a:lnTo>
                  <a:pt x="491998" y="41782"/>
                </a:lnTo>
                <a:lnTo>
                  <a:pt x="438150" y="19431"/>
                </a:lnTo>
                <a:lnTo>
                  <a:pt x="414953" y="12700"/>
                </a:lnTo>
                <a:close/>
              </a:path>
              <a:path extrusionOk="0" h="457200" w="641350">
                <a:moveTo>
                  <a:pt x="0" y="107315"/>
                </a:moveTo>
                <a:lnTo>
                  <a:pt x="6350" y="192278"/>
                </a:lnTo>
                <a:lnTo>
                  <a:pt x="70048" y="136651"/>
                </a:lnTo>
                <a:lnTo>
                  <a:pt x="35941" y="136651"/>
                </a:lnTo>
                <a:lnTo>
                  <a:pt x="24892" y="130429"/>
                </a:lnTo>
                <a:lnTo>
                  <a:pt x="30646" y="119904"/>
                </a:lnTo>
                <a:lnTo>
                  <a:pt x="0" y="107315"/>
                </a:lnTo>
                <a:close/>
              </a:path>
              <a:path extrusionOk="0" h="457200" w="641350">
                <a:moveTo>
                  <a:pt x="30646" y="119904"/>
                </a:moveTo>
                <a:lnTo>
                  <a:pt x="24892" y="130429"/>
                </a:lnTo>
                <a:lnTo>
                  <a:pt x="35941" y="136651"/>
                </a:lnTo>
                <a:lnTo>
                  <a:pt x="42516" y="124781"/>
                </a:lnTo>
                <a:lnTo>
                  <a:pt x="30646" y="119904"/>
                </a:lnTo>
                <a:close/>
              </a:path>
              <a:path extrusionOk="0" h="457200" w="641350">
                <a:moveTo>
                  <a:pt x="42516" y="124781"/>
                </a:moveTo>
                <a:lnTo>
                  <a:pt x="35941" y="136651"/>
                </a:lnTo>
                <a:lnTo>
                  <a:pt x="70048" y="136651"/>
                </a:lnTo>
                <a:lnTo>
                  <a:pt x="70484" y="136271"/>
                </a:lnTo>
                <a:lnTo>
                  <a:pt x="42516" y="124781"/>
                </a:lnTo>
                <a:close/>
              </a:path>
              <a:path extrusionOk="0" h="457200" w="641350">
                <a:moveTo>
                  <a:pt x="320675" y="0"/>
                </a:moveTo>
                <a:lnTo>
                  <a:pt x="261366" y="4191"/>
                </a:lnTo>
                <a:lnTo>
                  <a:pt x="203707" y="16129"/>
                </a:lnTo>
                <a:lnTo>
                  <a:pt x="149859" y="34671"/>
                </a:lnTo>
                <a:lnTo>
                  <a:pt x="101473" y="58928"/>
                </a:lnTo>
                <a:lnTo>
                  <a:pt x="60451" y="87630"/>
                </a:lnTo>
                <a:lnTo>
                  <a:pt x="35559" y="111506"/>
                </a:lnTo>
                <a:lnTo>
                  <a:pt x="35178" y="111887"/>
                </a:lnTo>
                <a:lnTo>
                  <a:pt x="34544" y="112775"/>
                </a:lnTo>
                <a:lnTo>
                  <a:pt x="30646" y="119904"/>
                </a:lnTo>
                <a:lnTo>
                  <a:pt x="42516" y="124781"/>
                </a:lnTo>
                <a:lnTo>
                  <a:pt x="45016" y="120268"/>
                </a:lnTo>
                <a:lnTo>
                  <a:pt x="44830" y="120268"/>
                </a:lnTo>
                <a:lnTo>
                  <a:pt x="45720" y="118999"/>
                </a:lnTo>
                <a:lnTo>
                  <a:pt x="45996" y="118999"/>
                </a:lnTo>
                <a:lnTo>
                  <a:pt x="51943" y="112522"/>
                </a:lnTo>
                <a:lnTo>
                  <a:pt x="59944" y="104901"/>
                </a:lnTo>
                <a:lnTo>
                  <a:pt x="107569" y="69976"/>
                </a:lnTo>
                <a:lnTo>
                  <a:pt x="154431" y="46609"/>
                </a:lnTo>
                <a:lnTo>
                  <a:pt x="206755" y="28575"/>
                </a:lnTo>
                <a:lnTo>
                  <a:pt x="262635" y="16891"/>
                </a:lnTo>
                <a:lnTo>
                  <a:pt x="320421" y="12700"/>
                </a:lnTo>
                <a:lnTo>
                  <a:pt x="414953" y="12700"/>
                </a:lnTo>
                <a:lnTo>
                  <a:pt x="409701" y="11175"/>
                </a:lnTo>
                <a:lnTo>
                  <a:pt x="380492" y="5080"/>
                </a:lnTo>
                <a:lnTo>
                  <a:pt x="365505" y="2921"/>
                </a:lnTo>
                <a:lnTo>
                  <a:pt x="350647" y="1269"/>
                </a:lnTo>
                <a:lnTo>
                  <a:pt x="335660" y="254"/>
                </a:lnTo>
                <a:lnTo>
                  <a:pt x="320675" y="0"/>
                </a:lnTo>
                <a:close/>
              </a:path>
              <a:path extrusionOk="0" h="457200" w="641350">
                <a:moveTo>
                  <a:pt x="45720" y="118999"/>
                </a:moveTo>
                <a:lnTo>
                  <a:pt x="44830" y="120268"/>
                </a:lnTo>
                <a:lnTo>
                  <a:pt x="45298" y="119759"/>
                </a:lnTo>
                <a:lnTo>
                  <a:pt x="45720" y="118999"/>
                </a:lnTo>
                <a:close/>
              </a:path>
              <a:path extrusionOk="0" h="457200" w="641350">
                <a:moveTo>
                  <a:pt x="45298" y="119759"/>
                </a:moveTo>
                <a:lnTo>
                  <a:pt x="44830" y="120268"/>
                </a:lnTo>
                <a:lnTo>
                  <a:pt x="45016" y="120268"/>
                </a:lnTo>
                <a:lnTo>
                  <a:pt x="45298" y="119759"/>
                </a:lnTo>
                <a:close/>
              </a:path>
              <a:path extrusionOk="0" h="457200" w="641350">
                <a:moveTo>
                  <a:pt x="45996" y="118999"/>
                </a:moveTo>
                <a:lnTo>
                  <a:pt x="45720" y="118999"/>
                </a:lnTo>
                <a:lnTo>
                  <a:pt x="45298" y="119759"/>
                </a:lnTo>
                <a:lnTo>
                  <a:pt x="45996" y="118999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6aab7e4371_0_93"/>
          <p:cNvSpPr txBox="1"/>
          <p:nvPr/>
        </p:nvSpPr>
        <p:spPr>
          <a:xfrm>
            <a:off x="7777693" y="2139275"/>
            <a:ext cx="698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63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aab7e4371_0_93"/>
          <p:cNvSpPr txBox="1"/>
          <p:nvPr/>
        </p:nvSpPr>
        <p:spPr>
          <a:xfrm>
            <a:off x="5962375" y="1959175"/>
            <a:ext cx="1873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aab7e4371_0_143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6aab7e4371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6aab7e4371_0_1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g36aab7e4371_0_1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4" name="Google Shape;234;g36aab7e4371_0_1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6aab7e4371_0_1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6aab7e4371_0_1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g36aab7e4371_0_143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2: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g36aab7e4371_0_1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g36aab7e4371_0_1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g36aab7e4371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125" y="2262925"/>
            <a:ext cx="417702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6aab7e4371_0_143"/>
          <p:cNvSpPr txBox="1"/>
          <p:nvPr/>
        </p:nvSpPr>
        <p:spPr>
          <a:xfrm>
            <a:off x="398900" y="2491150"/>
            <a:ext cx="190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Present States:</a:t>
            </a:r>
            <a:b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 and B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g36aab7e4371_0_143"/>
          <p:cNvSpPr txBox="1"/>
          <p:nvPr/>
        </p:nvSpPr>
        <p:spPr>
          <a:xfrm>
            <a:off x="2621350" y="2491150"/>
            <a:ext cx="18318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Next States: </a:t>
            </a:r>
            <a:b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A+ and B+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g36aab7e4371_0_143"/>
          <p:cNvSpPr txBox="1"/>
          <p:nvPr/>
        </p:nvSpPr>
        <p:spPr>
          <a:xfrm>
            <a:off x="398900" y="3585650"/>
            <a:ext cx="23889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Input:</a:t>
            </a:r>
            <a:b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JA, KA, JB, KB, x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g36aab7e4371_0_143"/>
          <p:cNvSpPr/>
          <p:nvPr/>
        </p:nvSpPr>
        <p:spPr>
          <a:xfrm>
            <a:off x="398900" y="862950"/>
            <a:ext cx="3761700" cy="128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Sequential Circuit using</a:t>
            </a:r>
            <a:b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JK Flip Flop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g36aab7e4371_0_143"/>
          <p:cNvSpPr/>
          <p:nvPr/>
        </p:nvSpPr>
        <p:spPr>
          <a:xfrm>
            <a:off x="4572000" y="977701"/>
            <a:ext cx="4353600" cy="31881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aab7e4371_0_16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g36aab7e4371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6aab7e4371_0_16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g36aab7e4371_0_16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4" name="Google Shape;254;g36aab7e4371_0_16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6aab7e4371_0_16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6aab7e4371_0_16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g36aab7e4371_0_164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2: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g36aab7e4371_0_16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g36aab7e4371_0_16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g36aab7e4371_0_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825" y="2608175"/>
            <a:ext cx="2995525" cy="17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6aab7e4371_0_164"/>
          <p:cNvSpPr txBox="1"/>
          <p:nvPr/>
        </p:nvSpPr>
        <p:spPr>
          <a:xfrm>
            <a:off x="1412150" y="2792900"/>
            <a:ext cx="19050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Bx’ 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xor X</a:t>
            </a:r>
            <a:endParaRPr b="0" i="0" sz="21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g36aab7e4371_0_164"/>
          <p:cNvSpPr/>
          <p:nvPr/>
        </p:nvSpPr>
        <p:spPr>
          <a:xfrm>
            <a:off x="442075" y="923400"/>
            <a:ext cx="3880500" cy="1616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	Find out the input equations of  the flip-flop and the output  equation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aab7e4371_0_164"/>
          <p:cNvSpPr/>
          <p:nvPr/>
        </p:nvSpPr>
        <p:spPr>
          <a:xfrm>
            <a:off x="4437025" y="1169218"/>
            <a:ext cx="4443600" cy="3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aab7e4371_0_182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g36aab7e4371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6aab7e4371_0_18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g36aab7e4371_0_18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g36aab7e4371_0_18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6aab7e4371_0_18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6aab7e4371_0_18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g36aab7e4371_0_182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2: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g36aab7e4371_0_18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g36aab7e4371_0_18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8" name="Google Shape;278;g36aab7e4371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475" y="2275950"/>
            <a:ext cx="1957750" cy="13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6aab7e4371_0_182"/>
          <p:cNvSpPr txBox="1"/>
          <p:nvPr/>
        </p:nvSpPr>
        <p:spPr>
          <a:xfrm>
            <a:off x="1111800" y="2323575"/>
            <a:ext cx="17691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Bx’ 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267" lvl="0" marL="216533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 =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xor X</a:t>
            </a:r>
            <a:endParaRPr b="1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g36aab7e4371_0_182"/>
          <p:cNvSpPr/>
          <p:nvPr/>
        </p:nvSpPr>
        <p:spPr>
          <a:xfrm>
            <a:off x="561850" y="881300"/>
            <a:ext cx="3782100" cy="1308000"/>
          </a:xfrm>
          <a:prstGeom prst="rightArrowCallout">
            <a:avLst>
              <a:gd fmla="val 25000" name="adj1"/>
              <a:gd fmla="val 25563" name="adj2"/>
              <a:gd fmla="val 49719" name="adj3"/>
              <a:gd fmla="val 75512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Construct the state table  according to the flip-flop  input and output equations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6aab7e4371_0_182"/>
          <p:cNvSpPr txBox="1"/>
          <p:nvPr/>
        </p:nvSpPr>
        <p:spPr>
          <a:xfrm>
            <a:off x="328350" y="3654338"/>
            <a:ext cx="2015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A=0, B=0, x=0,  JA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0.0’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 = 0’ = 1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 = 0 xor 0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6aab7e4371_0_182"/>
          <p:cNvSpPr txBox="1"/>
          <p:nvPr/>
        </p:nvSpPr>
        <p:spPr>
          <a:xfrm>
            <a:off x="2328550" y="3654338"/>
            <a:ext cx="2015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A=0, B=0, x=1,  JA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0.1’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 = 1’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 = 0 xor 0 = 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6aab7e4371_0_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3284" y="590334"/>
            <a:ext cx="42481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aab7e4371_0_20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9" name="Google Shape;289;g36aab7e4371_0_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6aab7e4371_0_20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g36aab7e4371_0_20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2" name="Google Shape;292;g36aab7e4371_0_20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6aab7e4371_0_20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6aab7e4371_0_20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g36aab7e4371_0_205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2: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g36aab7e4371_0_20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g36aab7e4371_0_20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g36aab7e4371_0_205"/>
          <p:cNvSpPr/>
          <p:nvPr/>
        </p:nvSpPr>
        <p:spPr>
          <a:xfrm>
            <a:off x="561850" y="849075"/>
            <a:ext cx="2853300" cy="1066500"/>
          </a:xfrm>
          <a:prstGeom prst="rightArrowCallout">
            <a:avLst>
              <a:gd fmla="val 25366" name="adj1"/>
              <a:gd fmla="val 25563" name="adj2"/>
              <a:gd fmla="val 31957" name="adj3"/>
              <a:gd fmla="val 83984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Find out the next  states from the flip flop  input values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6aab7e4371_0_205"/>
          <p:cNvSpPr txBox="1"/>
          <p:nvPr/>
        </p:nvSpPr>
        <p:spPr>
          <a:xfrm>
            <a:off x="561850" y="2100025"/>
            <a:ext cx="29259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Flip-Flop Truth Table</a:t>
            </a:r>
            <a:endParaRPr b="0" i="0" sz="18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g36aab7e4371_0_205"/>
          <p:cNvGraphicFramePr/>
          <p:nvPr/>
        </p:nvGraphicFramePr>
        <p:xfrm>
          <a:off x="3631168" y="5903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{DEDD5233-FA63-4C99-903D-10B9574F9620}</a:tableStyleId>
              </a:tblPr>
              <a:tblGrid>
                <a:gridCol w="489575"/>
                <a:gridCol w="484500"/>
                <a:gridCol w="484500"/>
                <a:gridCol w="376550"/>
                <a:gridCol w="514350"/>
                <a:gridCol w="563250"/>
                <a:gridCol w="485150"/>
                <a:gridCol w="530850"/>
                <a:gridCol w="439425"/>
                <a:gridCol w="485150"/>
                <a:gridCol w="490225"/>
              </a:tblGrid>
              <a:tr h="483625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301" name="Google Shape;301;g36aab7e4371_0_205"/>
          <p:cNvGraphicFramePr/>
          <p:nvPr/>
        </p:nvGraphicFramePr>
        <p:xfrm>
          <a:off x="4632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625850"/>
                <a:gridCol w="699075"/>
                <a:gridCol w="1528375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aab7e4371_0_230"/>
          <p:cNvSpPr/>
          <p:nvPr/>
        </p:nvSpPr>
        <p:spPr>
          <a:xfrm>
            <a:off x="-485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g36aab7e4371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6aab7e4371_0_2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g36aab7e4371_0_2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g36aab7e4371_0_2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6aab7e4371_0_2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6aab7e4371_0_2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g36aab7e4371_0_230"/>
          <p:cNvSpPr txBox="1"/>
          <p:nvPr/>
        </p:nvSpPr>
        <p:spPr>
          <a:xfrm>
            <a:off x="561850" y="0"/>
            <a:ext cx="801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Example 2: Draw the state diagram for the given circuit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g36aab7e4371_0_2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g36aab7e4371_0_2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g36aab7e4371_0_230"/>
          <p:cNvSpPr/>
          <p:nvPr/>
        </p:nvSpPr>
        <p:spPr>
          <a:xfrm>
            <a:off x="4851000" y="754100"/>
            <a:ext cx="3880500" cy="1259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 Draw the state diagram  from the state table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6aab7e4371_0_230"/>
          <p:cNvSpPr/>
          <p:nvPr/>
        </p:nvSpPr>
        <p:spPr>
          <a:xfrm>
            <a:off x="5446227" y="2681692"/>
            <a:ext cx="765175" cy="516889"/>
          </a:xfrm>
          <a:custGeom>
            <a:rect b="b" l="l" r="r" t="t"/>
            <a:pathLst>
              <a:path extrusionOk="0" h="516889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6aab7e4371_0_230"/>
          <p:cNvSpPr txBox="1"/>
          <p:nvPr/>
        </p:nvSpPr>
        <p:spPr>
          <a:xfrm>
            <a:off x="5637108" y="2753447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6aab7e4371_0_230"/>
          <p:cNvSpPr/>
          <p:nvPr/>
        </p:nvSpPr>
        <p:spPr>
          <a:xfrm>
            <a:off x="5422815" y="4063185"/>
            <a:ext cx="765175" cy="516889"/>
          </a:xfrm>
          <a:custGeom>
            <a:rect b="b" l="l" r="r" t="t"/>
            <a:pathLst>
              <a:path extrusionOk="0" h="516889" w="765175">
                <a:moveTo>
                  <a:pt x="0" y="258317"/>
                </a:moveTo>
                <a:lnTo>
                  <a:pt x="4148" y="220147"/>
                </a:lnTo>
                <a:lnTo>
                  <a:pt x="16200" y="183714"/>
                </a:lnTo>
                <a:lnTo>
                  <a:pt x="35562" y="149420"/>
                </a:lnTo>
                <a:lnTo>
                  <a:pt x="61642" y="117663"/>
                </a:lnTo>
                <a:lnTo>
                  <a:pt x="93847" y="88844"/>
                </a:lnTo>
                <a:lnTo>
                  <a:pt x="131584" y="63363"/>
                </a:lnTo>
                <a:lnTo>
                  <a:pt x="174262" y="41618"/>
                </a:lnTo>
                <a:lnTo>
                  <a:pt x="221288" y="24009"/>
                </a:lnTo>
                <a:lnTo>
                  <a:pt x="272068" y="10937"/>
                </a:lnTo>
                <a:lnTo>
                  <a:pt x="326011" y="2800"/>
                </a:lnTo>
                <a:lnTo>
                  <a:pt x="382524" y="0"/>
                </a:lnTo>
                <a:lnTo>
                  <a:pt x="439036" y="2800"/>
                </a:lnTo>
                <a:lnTo>
                  <a:pt x="492979" y="10937"/>
                </a:lnTo>
                <a:lnTo>
                  <a:pt x="543759" y="24009"/>
                </a:lnTo>
                <a:lnTo>
                  <a:pt x="590785" y="41618"/>
                </a:lnTo>
                <a:lnTo>
                  <a:pt x="633463" y="63363"/>
                </a:lnTo>
                <a:lnTo>
                  <a:pt x="671200" y="88844"/>
                </a:lnTo>
                <a:lnTo>
                  <a:pt x="703405" y="117663"/>
                </a:lnTo>
                <a:lnTo>
                  <a:pt x="729485" y="149420"/>
                </a:lnTo>
                <a:lnTo>
                  <a:pt x="748847" y="183714"/>
                </a:lnTo>
                <a:lnTo>
                  <a:pt x="760899" y="220147"/>
                </a:lnTo>
                <a:lnTo>
                  <a:pt x="765048" y="258317"/>
                </a:lnTo>
                <a:lnTo>
                  <a:pt x="760899" y="296488"/>
                </a:lnTo>
                <a:lnTo>
                  <a:pt x="748847" y="332921"/>
                </a:lnTo>
                <a:lnTo>
                  <a:pt x="729485" y="367215"/>
                </a:lnTo>
                <a:lnTo>
                  <a:pt x="703405" y="398972"/>
                </a:lnTo>
                <a:lnTo>
                  <a:pt x="671200" y="427791"/>
                </a:lnTo>
                <a:lnTo>
                  <a:pt x="633463" y="453272"/>
                </a:lnTo>
                <a:lnTo>
                  <a:pt x="590785" y="475017"/>
                </a:lnTo>
                <a:lnTo>
                  <a:pt x="543759" y="492626"/>
                </a:lnTo>
                <a:lnTo>
                  <a:pt x="492979" y="505698"/>
                </a:lnTo>
                <a:lnTo>
                  <a:pt x="439036" y="513835"/>
                </a:lnTo>
                <a:lnTo>
                  <a:pt x="382524" y="516635"/>
                </a:lnTo>
                <a:lnTo>
                  <a:pt x="326011" y="513835"/>
                </a:lnTo>
                <a:lnTo>
                  <a:pt x="272068" y="505698"/>
                </a:lnTo>
                <a:lnTo>
                  <a:pt x="221288" y="492626"/>
                </a:lnTo>
                <a:lnTo>
                  <a:pt x="174262" y="475017"/>
                </a:lnTo>
                <a:lnTo>
                  <a:pt x="131584" y="453272"/>
                </a:lnTo>
                <a:lnTo>
                  <a:pt x="93847" y="427791"/>
                </a:lnTo>
                <a:lnTo>
                  <a:pt x="61642" y="398972"/>
                </a:lnTo>
                <a:lnTo>
                  <a:pt x="35562" y="367215"/>
                </a:lnTo>
                <a:lnTo>
                  <a:pt x="16200" y="332921"/>
                </a:lnTo>
                <a:lnTo>
                  <a:pt x="4148" y="296488"/>
                </a:lnTo>
                <a:lnTo>
                  <a:pt x="0" y="258317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6aab7e4371_0_230"/>
          <p:cNvSpPr txBox="1"/>
          <p:nvPr/>
        </p:nvSpPr>
        <p:spPr>
          <a:xfrm>
            <a:off x="5637108" y="4176385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6aab7e4371_0_230"/>
          <p:cNvSpPr/>
          <p:nvPr/>
        </p:nvSpPr>
        <p:spPr>
          <a:xfrm>
            <a:off x="7585925" y="2681699"/>
            <a:ext cx="765175" cy="1846517"/>
          </a:xfrm>
          <a:custGeom>
            <a:rect b="b" l="l" r="r" t="t"/>
            <a:pathLst>
              <a:path extrusionOk="0" h="2051685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  <a:path extrusionOk="0" h="2051685" w="765175">
                <a:moveTo>
                  <a:pt x="0" y="1792986"/>
                </a:moveTo>
                <a:lnTo>
                  <a:pt x="4148" y="1754815"/>
                </a:lnTo>
                <a:lnTo>
                  <a:pt x="16200" y="1718382"/>
                </a:lnTo>
                <a:lnTo>
                  <a:pt x="35562" y="1684088"/>
                </a:lnTo>
                <a:lnTo>
                  <a:pt x="61642" y="1652331"/>
                </a:lnTo>
                <a:lnTo>
                  <a:pt x="93847" y="1623512"/>
                </a:lnTo>
                <a:lnTo>
                  <a:pt x="131584" y="1598031"/>
                </a:lnTo>
                <a:lnTo>
                  <a:pt x="174262" y="1576286"/>
                </a:lnTo>
                <a:lnTo>
                  <a:pt x="221288" y="1558677"/>
                </a:lnTo>
                <a:lnTo>
                  <a:pt x="272068" y="1545605"/>
                </a:lnTo>
                <a:lnTo>
                  <a:pt x="326011" y="1537468"/>
                </a:lnTo>
                <a:lnTo>
                  <a:pt x="382524" y="1534667"/>
                </a:lnTo>
                <a:lnTo>
                  <a:pt x="439036" y="1537468"/>
                </a:lnTo>
                <a:lnTo>
                  <a:pt x="492979" y="1545605"/>
                </a:lnTo>
                <a:lnTo>
                  <a:pt x="543759" y="1558677"/>
                </a:lnTo>
                <a:lnTo>
                  <a:pt x="590785" y="1576286"/>
                </a:lnTo>
                <a:lnTo>
                  <a:pt x="633463" y="1598031"/>
                </a:lnTo>
                <a:lnTo>
                  <a:pt x="671200" y="1623512"/>
                </a:lnTo>
                <a:lnTo>
                  <a:pt x="703405" y="1652331"/>
                </a:lnTo>
                <a:lnTo>
                  <a:pt x="729485" y="1684088"/>
                </a:lnTo>
                <a:lnTo>
                  <a:pt x="748847" y="1718382"/>
                </a:lnTo>
                <a:lnTo>
                  <a:pt x="760899" y="1754815"/>
                </a:lnTo>
                <a:lnTo>
                  <a:pt x="765048" y="1792986"/>
                </a:lnTo>
                <a:lnTo>
                  <a:pt x="760899" y="1831156"/>
                </a:lnTo>
                <a:lnTo>
                  <a:pt x="748847" y="1867589"/>
                </a:lnTo>
                <a:lnTo>
                  <a:pt x="729485" y="1901883"/>
                </a:lnTo>
                <a:lnTo>
                  <a:pt x="703405" y="1933640"/>
                </a:lnTo>
                <a:lnTo>
                  <a:pt x="671200" y="1962459"/>
                </a:lnTo>
                <a:lnTo>
                  <a:pt x="633463" y="1987940"/>
                </a:lnTo>
                <a:lnTo>
                  <a:pt x="590785" y="2009685"/>
                </a:lnTo>
                <a:lnTo>
                  <a:pt x="543759" y="2027294"/>
                </a:lnTo>
                <a:lnTo>
                  <a:pt x="492979" y="2040366"/>
                </a:lnTo>
                <a:lnTo>
                  <a:pt x="439036" y="2048503"/>
                </a:lnTo>
                <a:lnTo>
                  <a:pt x="382524" y="2051303"/>
                </a:lnTo>
                <a:lnTo>
                  <a:pt x="326011" y="2048503"/>
                </a:lnTo>
                <a:lnTo>
                  <a:pt x="272068" y="2040366"/>
                </a:lnTo>
                <a:lnTo>
                  <a:pt x="221288" y="2027294"/>
                </a:lnTo>
                <a:lnTo>
                  <a:pt x="174262" y="2009685"/>
                </a:lnTo>
                <a:lnTo>
                  <a:pt x="131584" y="1987940"/>
                </a:lnTo>
                <a:lnTo>
                  <a:pt x="93847" y="1962459"/>
                </a:lnTo>
                <a:lnTo>
                  <a:pt x="61642" y="1933640"/>
                </a:lnTo>
                <a:lnTo>
                  <a:pt x="35562" y="1901883"/>
                </a:lnTo>
                <a:lnTo>
                  <a:pt x="16200" y="1867589"/>
                </a:lnTo>
                <a:lnTo>
                  <a:pt x="4148" y="1831156"/>
                </a:lnTo>
                <a:lnTo>
                  <a:pt x="0" y="1792986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6aab7e4371_0_230"/>
          <p:cNvSpPr txBox="1"/>
          <p:nvPr/>
        </p:nvSpPr>
        <p:spPr>
          <a:xfrm>
            <a:off x="7824243" y="4146285"/>
            <a:ext cx="33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6aab7e4371_0_230"/>
          <p:cNvSpPr/>
          <p:nvPr/>
        </p:nvSpPr>
        <p:spPr>
          <a:xfrm>
            <a:off x="5194132" y="2490939"/>
            <a:ext cx="641350" cy="457200"/>
          </a:xfrm>
          <a:custGeom>
            <a:rect b="b" l="l" r="r" t="t"/>
            <a:pathLst>
              <a:path extrusionOk="0" h="457200" w="641350">
                <a:moveTo>
                  <a:pt x="320420" y="0"/>
                </a:moveTo>
                <a:lnTo>
                  <a:pt x="275589" y="2921"/>
                </a:lnTo>
                <a:lnTo>
                  <a:pt x="231520" y="11175"/>
                </a:lnTo>
                <a:lnTo>
                  <a:pt x="175513" y="29718"/>
                </a:lnTo>
                <a:lnTo>
                  <a:pt x="124078" y="55372"/>
                </a:lnTo>
                <a:lnTo>
                  <a:pt x="79247" y="87122"/>
                </a:lnTo>
                <a:lnTo>
                  <a:pt x="50926" y="114173"/>
                </a:lnTo>
                <a:lnTo>
                  <a:pt x="21716" y="153669"/>
                </a:lnTo>
                <a:lnTo>
                  <a:pt x="4190" y="195961"/>
                </a:lnTo>
                <a:lnTo>
                  <a:pt x="0" y="228600"/>
                </a:lnTo>
                <a:lnTo>
                  <a:pt x="380" y="239394"/>
                </a:lnTo>
                <a:lnTo>
                  <a:pt x="8889" y="282067"/>
                </a:lnTo>
                <a:lnTo>
                  <a:pt x="33527" y="332740"/>
                </a:lnTo>
                <a:lnTo>
                  <a:pt x="62229" y="369188"/>
                </a:lnTo>
                <a:lnTo>
                  <a:pt x="97535" y="401193"/>
                </a:lnTo>
                <a:lnTo>
                  <a:pt x="137921" y="426847"/>
                </a:lnTo>
                <a:lnTo>
                  <a:pt x="182117" y="445516"/>
                </a:lnTo>
                <a:lnTo>
                  <a:pt x="228472" y="455422"/>
                </a:lnTo>
                <a:lnTo>
                  <a:pt x="251967" y="456692"/>
                </a:lnTo>
                <a:lnTo>
                  <a:pt x="252221" y="443992"/>
                </a:lnTo>
                <a:lnTo>
                  <a:pt x="240664" y="443738"/>
                </a:lnTo>
                <a:lnTo>
                  <a:pt x="229615" y="442722"/>
                </a:lnTo>
                <a:lnTo>
                  <a:pt x="185419" y="433197"/>
                </a:lnTo>
                <a:lnTo>
                  <a:pt x="143382" y="415417"/>
                </a:lnTo>
                <a:lnTo>
                  <a:pt x="104775" y="390779"/>
                </a:lnTo>
                <a:lnTo>
                  <a:pt x="71119" y="360172"/>
                </a:lnTo>
                <a:lnTo>
                  <a:pt x="43814" y="325374"/>
                </a:lnTo>
                <a:lnTo>
                  <a:pt x="24383" y="287528"/>
                </a:lnTo>
                <a:lnTo>
                  <a:pt x="14096" y="248157"/>
                </a:lnTo>
                <a:lnTo>
                  <a:pt x="12700" y="228092"/>
                </a:lnTo>
                <a:lnTo>
                  <a:pt x="13207" y="218312"/>
                </a:lnTo>
                <a:lnTo>
                  <a:pt x="23240" y="179069"/>
                </a:lnTo>
                <a:lnTo>
                  <a:pt x="45338" y="140716"/>
                </a:lnTo>
                <a:lnTo>
                  <a:pt x="77977" y="105029"/>
                </a:lnTo>
                <a:lnTo>
                  <a:pt x="108457" y="80772"/>
                </a:lnTo>
                <a:lnTo>
                  <a:pt x="155066" y="52831"/>
                </a:lnTo>
                <a:lnTo>
                  <a:pt x="207390" y="31368"/>
                </a:lnTo>
                <a:lnTo>
                  <a:pt x="263270" y="17525"/>
                </a:lnTo>
                <a:lnTo>
                  <a:pt x="306196" y="12954"/>
                </a:lnTo>
                <a:lnTo>
                  <a:pt x="320675" y="12700"/>
                </a:lnTo>
                <a:lnTo>
                  <a:pt x="423022" y="12700"/>
                </a:lnTo>
                <a:lnTo>
                  <a:pt x="409066" y="9398"/>
                </a:lnTo>
                <a:lnTo>
                  <a:pt x="379983" y="4191"/>
                </a:lnTo>
                <a:lnTo>
                  <a:pt x="350265" y="1016"/>
                </a:lnTo>
                <a:lnTo>
                  <a:pt x="320420" y="0"/>
                </a:lnTo>
                <a:close/>
              </a:path>
              <a:path extrusionOk="0" h="457200" w="641350">
                <a:moveTo>
                  <a:pt x="598706" y="124781"/>
                </a:moveTo>
                <a:lnTo>
                  <a:pt x="570738" y="136271"/>
                </a:lnTo>
                <a:lnTo>
                  <a:pt x="634872" y="192278"/>
                </a:lnTo>
                <a:lnTo>
                  <a:pt x="639030" y="136651"/>
                </a:lnTo>
                <a:lnTo>
                  <a:pt x="605281" y="136651"/>
                </a:lnTo>
                <a:lnTo>
                  <a:pt x="598706" y="124781"/>
                </a:lnTo>
                <a:close/>
              </a:path>
              <a:path extrusionOk="0" h="457200" w="641350">
                <a:moveTo>
                  <a:pt x="610576" y="119904"/>
                </a:moveTo>
                <a:lnTo>
                  <a:pt x="598706" y="124781"/>
                </a:lnTo>
                <a:lnTo>
                  <a:pt x="605281" y="136651"/>
                </a:lnTo>
                <a:lnTo>
                  <a:pt x="616330" y="130429"/>
                </a:lnTo>
                <a:lnTo>
                  <a:pt x="610576" y="119904"/>
                </a:lnTo>
                <a:close/>
              </a:path>
              <a:path extrusionOk="0" h="457200" w="641350">
                <a:moveTo>
                  <a:pt x="641222" y="107315"/>
                </a:moveTo>
                <a:lnTo>
                  <a:pt x="610576" y="119904"/>
                </a:lnTo>
                <a:lnTo>
                  <a:pt x="616330" y="130429"/>
                </a:lnTo>
                <a:lnTo>
                  <a:pt x="605281" y="136651"/>
                </a:lnTo>
                <a:lnTo>
                  <a:pt x="639030" y="136651"/>
                </a:lnTo>
                <a:lnTo>
                  <a:pt x="641222" y="107315"/>
                </a:lnTo>
                <a:close/>
              </a:path>
              <a:path extrusionOk="0" h="457200" w="641350">
                <a:moveTo>
                  <a:pt x="595751" y="119447"/>
                </a:moveTo>
                <a:lnTo>
                  <a:pt x="598706" y="124781"/>
                </a:lnTo>
                <a:lnTo>
                  <a:pt x="609690" y="120268"/>
                </a:lnTo>
                <a:lnTo>
                  <a:pt x="596518" y="120268"/>
                </a:lnTo>
                <a:lnTo>
                  <a:pt x="595751" y="119447"/>
                </a:lnTo>
                <a:close/>
              </a:path>
              <a:path extrusionOk="0" h="457200" w="641350">
                <a:moveTo>
                  <a:pt x="595502" y="118999"/>
                </a:moveTo>
                <a:lnTo>
                  <a:pt x="595751" y="119447"/>
                </a:lnTo>
                <a:lnTo>
                  <a:pt x="596518" y="120268"/>
                </a:lnTo>
                <a:lnTo>
                  <a:pt x="595502" y="118999"/>
                </a:lnTo>
                <a:close/>
              </a:path>
              <a:path extrusionOk="0" h="457200" w="641350">
                <a:moveTo>
                  <a:pt x="610081" y="118999"/>
                </a:moveTo>
                <a:lnTo>
                  <a:pt x="595502" y="118999"/>
                </a:lnTo>
                <a:lnTo>
                  <a:pt x="596518" y="120268"/>
                </a:lnTo>
                <a:lnTo>
                  <a:pt x="609690" y="120268"/>
                </a:lnTo>
                <a:lnTo>
                  <a:pt x="610576" y="119904"/>
                </a:lnTo>
                <a:lnTo>
                  <a:pt x="610081" y="118999"/>
                </a:lnTo>
                <a:close/>
              </a:path>
              <a:path extrusionOk="0" h="457200" w="641350">
                <a:moveTo>
                  <a:pt x="423022" y="12700"/>
                </a:moveTo>
                <a:lnTo>
                  <a:pt x="320675" y="12700"/>
                </a:lnTo>
                <a:lnTo>
                  <a:pt x="349757" y="13716"/>
                </a:lnTo>
                <a:lnTo>
                  <a:pt x="378587" y="16891"/>
                </a:lnTo>
                <a:lnTo>
                  <a:pt x="434593" y="28575"/>
                </a:lnTo>
                <a:lnTo>
                  <a:pt x="486790" y="46609"/>
                </a:lnTo>
                <a:lnTo>
                  <a:pt x="533653" y="69976"/>
                </a:lnTo>
                <a:lnTo>
                  <a:pt x="572896" y="97536"/>
                </a:lnTo>
                <a:lnTo>
                  <a:pt x="595751" y="119447"/>
                </a:lnTo>
                <a:lnTo>
                  <a:pt x="595502" y="118999"/>
                </a:lnTo>
                <a:lnTo>
                  <a:pt x="610081" y="118999"/>
                </a:lnTo>
                <a:lnTo>
                  <a:pt x="606678" y="112775"/>
                </a:lnTo>
                <a:lnTo>
                  <a:pt x="606425" y="112394"/>
                </a:lnTo>
                <a:lnTo>
                  <a:pt x="606043" y="111887"/>
                </a:lnTo>
                <a:lnTo>
                  <a:pt x="605663" y="111506"/>
                </a:lnTo>
                <a:lnTo>
                  <a:pt x="598042" y="103378"/>
                </a:lnTo>
                <a:lnTo>
                  <a:pt x="561339" y="72771"/>
                </a:lnTo>
                <a:lnTo>
                  <a:pt x="516254" y="46228"/>
                </a:lnTo>
                <a:lnTo>
                  <a:pt x="465073" y="24637"/>
                </a:lnTo>
                <a:lnTo>
                  <a:pt x="437514" y="16129"/>
                </a:lnTo>
                <a:lnTo>
                  <a:pt x="423022" y="1270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6aab7e4371_0_230"/>
          <p:cNvSpPr txBox="1"/>
          <p:nvPr/>
        </p:nvSpPr>
        <p:spPr>
          <a:xfrm>
            <a:off x="5195783" y="2139275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6aab7e4371_0_230"/>
          <p:cNvSpPr/>
          <p:nvPr/>
        </p:nvSpPr>
        <p:spPr>
          <a:xfrm>
            <a:off x="6211275" y="2902673"/>
            <a:ext cx="1375409" cy="76200"/>
          </a:xfrm>
          <a:custGeom>
            <a:rect b="b" l="l" r="r" t="t"/>
            <a:pathLst>
              <a:path extrusionOk="0" h="76200" w="1375409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1375409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1375409">
                <a:moveTo>
                  <a:pt x="137490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74902" y="44450"/>
                </a:lnTo>
                <a:lnTo>
                  <a:pt x="13749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6aab7e4371_0_230"/>
          <p:cNvSpPr txBox="1"/>
          <p:nvPr/>
        </p:nvSpPr>
        <p:spPr>
          <a:xfrm>
            <a:off x="6691081" y="2615017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6aab7e4371_0_230"/>
          <p:cNvSpPr/>
          <p:nvPr/>
        </p:nvSpPr>
        <p:spPr>
          <a:xfrm>
            <a:off x="5790700" y="3198575"/>
            <a:ext cx="76200" cy="844628"/>
          </a:xfrm>
          <a:custGeom>
            <a:rect b="b" l="l" r="r" t="t"/>
            <a:pathLst>
              <a:path extrusionOk="0" h="1169035" w="76200">
                <a:moveTo>
                  <a:pt x="31750" y="1092606"/>
                </a:moveTo>
                <a:lnTo>
                  <a:pt x="0" y="1092606"/>
                </a:lnTo>
                <a:lnTo>
                  <a:pt x="38100" y="1168806"/>
                </a:lnTo>
                <a:lnTo>
                  <a:pt x="69850" y="1105306"/>
                </a:lnTo>
                <a:lnTo>
                  <a:pt x="31750" y="1105306"/>
                </a:lnTo>
                <a:lnTo>
                  <a:pt x="31750" y="1092606"/>
                </a:lnTo>
                <a:close/>
              </a:path>
              <a:path extrusionOk="0" h="1169035" w="76200">
                <a:moveTo>
                  <a:pt x="43814" y="0"/>
                </a:moveTo>
                <a:lnTo>
                  <a:pt x="31114" y="0"/>
                </a:lnTo>
                <a:lnTo>
                  <a:pt x="31369" y="557149"/>
                </a:lnTo>
                <a:lnTo>
                  <a:pt x="31496" y="606171"/>
                </a:lnTo>
                <a:lnTo>
                  <a:pt x="31623" y="629031"/>
                </a:lnTo>
                <a:lnTo>
                  <a:pt x="31750" y="1105306"/>
                </a:lnTo>
                <a:lnTo>
                  <a:pt x="44450" y="1105306"/>
                </a:lnTo>
                <a:lnTo>
                  <a:pt x="44323" y="628904"/>
                </a:lnTo>
                <a:lnTo>
                  <a:pt x="44196" y="605790"/>
                </a:lnTo>
                <a:lnTo>
                  <a:pt x="44069" y="557022"/>
                </a:lnTo>
                <a:lnTo>
                  <a:pt x="43941" y="543941"/>
                </a:lnTo>
                <a:lnTo>
                  <a:pt x="43814" y="0"/>
                </a:lnTo>
                <a:close/>
              </a:path>
              <a:path extrusionOk="0" h="1169035" w="76200">
                <a:moveTo>
                  <a:pt x="76200" y="1092606"/>
                </a:moveTo>
                <a:lnTo>
                  <a:pt x="44450" y="1092606"/>
                </a:lnTo>
                <a:lnTo>
                  <a:pt x="44450" y="1105306"/>
                </a:lnTo>
                <a:lnTo>
                  <a:pt x="69850" y="1105306"/>
                </a:lnTo>
                <a:lnTo>
                  <a:pt x="76200" y="1092606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6aab7e4371_0_230"/>
          <p:cNvSpPr txBox="1"/>
          <p:nvPr/>
        </p:nvSpPr>
        <p:spPr>
          <a:xfrm>
            <a:off x="5433573" y="3390300"/>
            <a:ext cx="3729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	    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6aab7e4371_0_230"/>
          <p:cNvSpPr/>
          <p:nvPr/>
        </p:nvSpPr>
        <p:spPr>
          <a:xfrm>
            <a:off x="6187200" y="4315750"/>
            <a:ext cx="1423548" cy="76200"/>
          </a:xfrm>
          <a:custGeom>
            <a:rect b="b" l="l" r="r" t="t"/>
            <a:pathLst>
              <a:path extrusionOk="0" h="76200" w="1375409">
                <a:moveTo>
                  <a:pt x="1298702" y="0"/>
                </a:moveTo>
                <a:lnTo>
                  <a:pt x="1298702" y="76200"/>
                </a:lnTo>
                <a:lnTo>
                  <a:pt x="1362202" y="44450"/>
                </a:lnTo>
                <a:lnTo>
                  <a:pt x="1311402" y="44450"/>
                </a:lnTo>
                <a:lnTo>
                  <a:pt x="1311402" y="31750"/>
                </a:lnTo>
                <a:lnTo>
                  <a:pt x="1362202" y="31750"/>
                </a:lnTo>
                <a:lnTo>
                  <a:pt x="1298702" y="0"/>
                </a:lnTo>
                <a:close/>
              </a:path>
              <a:path extrusionOk="0" h="76200" w="1375409">
                <a:moveTo>
                  <a:pt x="129870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8702" y="44450"/>
                </a:lnTo>
                <a:lnTo>
                  <a:pt x="1298702" y="31750"/>
                </a:lnTo>
                <a:close/>
              </a:path>
              <a:path extrusionOk="0" h="76200" w="1375409">
                <a:moveTo>
                  <a:pt x="1362202" y="31750"/>
                </a:moveTo>
                <a:lnTo>
                  <a:pt x="1311402" y="31750"/>
                </a:lnTo>
                <a:lnTo>
                  <a:pt x="1311402" y="44450"/>
                </a:lnTo>
                <a:lnTo>
                  <a:pt x="1362202" y="44450"/>
                </a:lnTo>
                <a:lnTo>
                  <a:pt x="1374902" y="38100"/>
                </a:lnTo>
                <a:lnTo>
                  <a:pt x="13622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6aab7e4371_0_230"/>
          <p:cNvSpPr txBox="1"/>
          <p:nvPr/>
        </p:nvSpPr>
        <p:spPr>
          <a:xfrm>
            <a:off x="6782618" y="3975187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6aab7e4371_0_230"/>
          <p:cNvSpPr txBox="1"/>
          <p:nvPr/>
        </p:nvSpPr>
        <p:spPr>
          <a:xfrm>
            <a:off x="8265118" y="3523956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aab7e4371_0_230"/>
          <p:cNvSpPr/>
          <p:nvPr/>
        </p:nvSpPr>
        <p:spPr>
          <a:xfrm>
            <a:off x="7962096" y="2490939"/>
            <a:ext cx="641350" cy="457200"/>
          </a:xfrm>
          <a:custGeom>
            <a:rect b="b" l="l" r="r" t="t"/>
            <a:pathLst>
              <a:path extrusionOk="0" h="457200" w="641350">
                <a:moveTo>
                  <a:pt x="414953" y="12700"/>
                </a:moveTo>
                <a:lnTo>
                  <a:pt x="320421" y="12700"/>
                </a:lnTo>
                <a:lnTo>
                  <a:pt x="334899" y="12954"/>
                </a:lnTo>
                <a:lnTo>
                  <a:pt x="349250" y="13843"/>
                </a:lnTo>
                <a:lnTo>
                  <a:pt x="406146" y="23368"/>
                </a:lnTo>
                <a:lnTo>
                  <a:pt x="460375" y="41275"/>
                </a:lnTo>
                <a:lnTo>
                  <a:pt x="510031" y="66040"/>
                </a:lnTo>
                <a:lnTo>
                  <a:pt x="553466" y="96774"/>
                </a:lnTo>
                <a:lnTo>
                  <a:pt x="588518" y="131572"/>
                </a:lnTo>
                <a:lnTo>
                  <a:pt x="613409" y="169291"/>
                </a:lnTo>
                <a:lnTo>
                  <a:pt x="626618" y="208406"/>
                </a:lnTo>
                <a:lnTo>
                  <a:pt x="628396" y="228092"/>
                </a:lnTo>
                <a:lnTo>
                  <a:pt x="628014" y="238125"/>
                </a:lnTo>
                <a:lnTo>
                  <a:pt x="620141" y="277749"/>
                </a:lnTo>
                <a:lnTo>
                  <a:pt x="597280" y="325374"/>
                </a:lnTo>
                <a:lnTo>
                  <a:pt x="569976" y="360172"/>
                </a:lnTo>
                <a:lnTo>
                  <a:pt x="536321" y="390779"/>
                </a:lnTo>
                <a:lnTo>
                  <a:pt x="497712" y="415417"/>
                </a:lnTo>
                <a:lnTo>
                  <a:pt x="455675" y="433197"/>
                </a:lnTo>
                <a:lnTo>
                  <a:pt x="411352" y="442722"/>
                </a:lnTo>
                <a:lnTo>
                  <a:pt x="388747" y="443992"/>
                </a:lnTo>
                <a:lnTo>
                  <a:pt x="389000" y="456692"/>
                </a:lnTo>
                <a:lnTo>
                  <a:pt x="435991" y="451612"/>
                </a:lnTo>
                <a:lnTo>
                  <a:pt x="481329" y="437261"/>
                </a:lnTo>
                <a:lnTo>
                  <a:pt x="523875" y="414781"/>
                </a:lnTo>
                <a:lnTo>
                  <a:pt x="561975" y="385825"/>
                </a:lnTo>
                <a:lnTo>
                  <a:pt x="594232" y="351536"/>
                </a:lnTo>
                <a:lnTo>
                  <a:pt x="619125" y="313055"/>
                </a:lnTo>
                <a:lnTo>
                  <a:pt x="635253" y="271525"/>
                </a:lnTo>
                <a:lnTo>
                  <a:pt x="641096" y="228600"/>
                </a:lnTo>
                <a:lnTo>
                  <a:pt x="640587" y="217678"/>
                </a:lnTo>
                <a:lnTo>
                  <a:pt x="629793" y="174498"/>
                </a:lnTo>
                <a:lnTo>
                  <a:pt x="606044" y="133476"/>
                </a:lnTo>
                <a:lnTo>
                  <a:pt x="571880" y="95885"/>
                </a:lnTo>
                <a:lnTo>
                  <a:pt x="540384" y="70612"/>
                </a:lnTo>
                <a:lnTo>
                  <a:pt x="491998" y="41782"/>
                </a:lnTo>
                <a:lnTo>
                  <a:pt x="438150" y="19431"/>
                </a:lnTo>
                <a:lnTo>
                  <a:pt x="414953" y="12700"/>
                </a:lnTo>
                <a:close/>
              </a:path>
              <a:path extrusionOk="0" h="457200" w="641350">
                <a:moveTo>
                  <a:pt x="0" y="107315"/>
                </a:moveTo>
                <a:lnTo>
                  <a:pt x="6350" y="192278"/>
                </a:lnTo>
                <a:lnTo>
                  <a:pt x="70048" y="136651"/>
                </a:lnTo>
                <a:lnTo>
                  <a:pt x="35941" y="136651"/>
                </a:lnTo>
                <a:lnTo>
                  <a:pt x="24892" y="130429"/>
                </a:lnTo>
                <a:lnTo>
                  <a:pt x="30646" y="119904"/>
                </a:lnTo>
                <a:lnTo>
                  <a:pt x="0" y="107315"/>
                </a:lnTo>
                <a:close/>
              </a:path>
              <a:path extrusionOk="0" h="457200" w="641350">
                <a:moveTo>
                  <a:pt x="30646" y="119904"/>
                </a:moveTo>
                <a:lnTo>
                  <a:pt x="24892" y="130429"/>
                </a:lnTo>
                <a:lnTo>
                  <a:pt x="35941" y="136651"/>
                </a:lnTo>
                <a:lnTo>
                  <a:pt x="42516" y="124781"/>
                </a:lnTo>
                <a:lnTo>
                  <a:pt x="30646" y="119904"/>
                </a:lnTo>
                <a:close/>
              </a:path>
              <a:path extrusionOk="0" h="457200" w="641350">
                <a:moveTo>
                  <a:pt x="42516" y="124781"/>
                </a:moveTo>
                <a:lnTo>
                  <a:pt x="35941" y="136651"/>
                </a:lnTo>
                <a:lnTo>
                  <a:pt x="70048" y="136651"/>
                </a:lnTo>
                <a:lnTo>
                  <a:pt x="70484" y="136271"/>
                </a:lnTo>
                <a:lnTo>
                  <a:pt x="42516" y="124781"/>
                </a:lnTo>
                <a:close/>
              </a:path>
              <a:path extrusionOk="0" h="457200" w="641350">
                <a:moveTo>
                  <a:pt x="320675" y="0"/>
                </a:moveTo>
                <a:lnTo>
                  <a:pt x="261366" y="4191"/>
                </a:lnTo>
                <a:lnTo>
                  <a:pt x="203707" y="16129"/>
                </a:lnTo>
                <a:lnTo>
                  <a:pt x="149859" y="34671"/>
                </a:lnTo>
                <a:lnTo>
                  <a:pt x="101473" y="58928"/>
                </a:lnTo>
                <a:lnTo>
                  <a:pt x="60451" y="87630"/>
                </a:lnTo>
                <a:lnTo>
                  <a:pt x="35559" y="111506"/>
                </a:lnTo>
                <a:lnTo>
                  <a:pt x="35178" y="111887"/>
                </a:lnTo>
                <a:lnTo>
                  <a:pt x="34544" y="112775"/>
                </a:lnTo>
                <a:lnTo>
                  <a:pt x="30646" y="119904"/>
                </a:lnTo>
                <a:lnTo>
                  <a:pt x="42516" y="124781"/>
                </a:lnTo>
                <a:lnTo>
                  <a:pt x="45016" y="120268"/>
                </a:lnTo>
                <a:lnTo>
                  <a:pt x="44830" y="120268"/>
                </a:lnTo>
                <a:lnTo>
                  <a:pt x="45720" y="118999"/>
                </a:lnTo>
                <a:lnTo>
                  <a:pt x="45996" y="118999"/>
                </a:lnTo>
                <a:lnTo>
                  <a:pt x="51943" y="112522"/>
                </a:lnTo>
                <a:lnTo>
                  <a:pt x="59944" y="104901"/>
                </a:lnTo>
                <a:lnTo>
                  <a:pt x="107569" y="69976"/>
                </a:lnTo>
                <a:lnTo>
                  <a:pt x="154431" y="46609"/>
                </a:lnTo>
                <a:lnTo>
                  <a:pt x="206755" y="28575"/>
                </a:lnTo>
                <a:lnTo>
                  <a:pt x="262635" y="16891"/>
                </a:lnTo>
                <a:lnTo>
                  <a:pt x="320421" y="12700"/>
                </a:lnTo>
                <a:lnTo>
                  <a:pt x="414953" y="12700"/>
                </a:lnTo>
                <a:lnTo>
                  <a:pt x="409701" y="11175"/>
                </a:lnTo>
                <a:lnTo>
                  <a:pt x="380492" y="5080"/>
                </a:lnTo>
                <a:lnTo>
                  <a:pt x="365505" y="2921"/>
                </a:lnTo>
                <a:lnTo>
                  <a:pt x="350647" y="1269"/>
                </a:lnTo>
                <a:lnTo>
                  <a:pt x="335660" y="254"/>
                </a:lnTo>
                <a:lnTo>
                  <a:pt x="320675" y="0"/>
                </a:lnTo>
                <a:close/>
              </a:path>
              <a:path extrusionOk="0" h="457200" w="641350">
                <a:moveTo>
                  <a:pt x="45720" y="118999"/>
                </a:moveTo>
                <a:lnTo>
                  <a:pt x="44830" y="120268"/>
                </a:lnTo>
                <a:lnTo>
                  <a:pt x="45298" y="119759"/>
                </a:lnTo>
                <a:lnTo>
                  <a:pt x="45720" y="118999"/>
                </a:lnTo>
                <a:close/>
              </a:path>
              <a:path extrusionOk="0" h="457200" w="641350">
                <a:moveTo>
                  <a:pt x="45298" y="119759"/>
                </a:moveTo>
                <a:lnTo>
                  <a:pt x="44830" y="120268"/>
                </a:lnTo>
                <a:lnTo>
                  <a:pt x="45016" y="120268"/>
                </a:lnTo>
                <a:lnTo>
                  <a:pt x="45298" y="119759"/>
                </a:lnTo>
                <a:close/>
              </a:path>
              <a:path extrusionOk="0" h="457200" w="641350">
                <a:moveTo>
                  <a:pt x="45996" y="118999"/>
                </a:moveTo>
                <a:lnTo>
                  <a:pt x="45720" y="118999"/>
                </a:lnTo>
                <a:lnTo>
                  <a:pt x="45298" y="119759"/>
                </a:lnTo>
                <a:lnTo>
                  <a:pt x="45996" y="118999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6aab7e4371_0_230"/>
          <p:cNvSpPr txBox="1"/>
          <p:nvPr/>
        </p:nvSpPr>
        <p:spPr>
          <a:xfrm>
            <a:off x="7777693" y="2139275"/>
            <a:ext cx="698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63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6aab7e4371_0_230"/>
          <p:cNvSpPr txBox="1"/>
          <p:nvPr/>
        </p:nvSpPr>
        <p:spPr>
          <a:xfrm>
            <a:off x="5962375" y="1959175"/>
            <a:ext cx="1873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5" name="Google Shape;335;g36aab7e4371_0_230"/>
          <p:cNvGraphicFramePr/>
          <p:nvPr/>
        </p:nvGraphicFramePr>
        <p:xfrm>
          <a:off x="150170" y="754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{DEDD5233-FA63-4C99-903D-10B9574F9620}</a:tableStyleId>
              </a:tblPr>
              <a:tblGrid>
                <a:gridCol w="587375"/>
                <a:gridCol w="582300"/>
                <a:gridCol w="582300"/>
                <a:gridCol w="582300"/>
                <a:gridCol w="582300"/>
                <a:gridCol w="587375"/>
              </a:tblGrid>
              <a:tr h="449450">
                <a:tc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B+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555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55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0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050">
                <a:tc>
                  <a:txBody>
                    <a:bodyPr/>
                    <a:lstStyle/>
                    <a:p>
                      <a:pPr indent="0" lvl="0" marL="23050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36" name="Google Shape;336;g36aab7e4371_0_230"/>
          <p:cNvSpPr/>
          <p:nvPr/>
        </p:nvSpPr>
        <p:spPr>
          <a:xfrm flipH="1" rot="10800000">
            <a:off x="7951550" y="3152289"/>
            <a:ext cx="76200" cy="897234"/>
          </a:xfrm>
          <a:custGeom>
            <a:rect b="b" l="l" r="r" t="t"/>
            <a:pathLst>
              <a:path extrusionOk="0" h="1169035" w="76200">
                <a:moveTo>
                  <a:pt x="31750" y="1092606"/>
                </a:moveTo>
                <a:lnTo>
                  <a:pt x="0" y="1092606"/>
                </a:lnTo>
                <a:lnTo>
                  <a:pt x="38100" y="1168806"/>
                </a:lnTo>
                <a:lnTo>
                  <a:pt x="69850" y="1105306"/>
                </a:lnTo>
                <a:lnTo>
                  <a:pt x="31750" y="1105306"/>
                </a:lnTo>
                <a:lnTo>
                  <a:pt x="31750" y="1092606"/>
                </a:lnTo>
                <a:close/>
              </a:path>
              <a:path extrusionOk="0" h="1169035" w="76200">
                <a:moveTo>
                  <a:pt x="43814" y="0"/>
                </a:moveTo>
                <a:lnTo>
                  <a:pt x="31114" y="0"/>
                </a:lnTo>
                <a:lnTo>
                  <a:pt x="31369" y="557149"/>
                </a:lnTo>
                <a:lnTo>
                  <a:pt x="31496" y="606171"/>
                </a:lnTo>
                <a:lnTo>
                  <a:pt x="31623" y="629031"/>
                </a:lnTo>
                <a:lnTo>
                  <a:pt x="31750" y="1105306"/>
                </a:lnTo>
                <a:lnTo>
                  <a:pt x="44450" y="1105306"/>
                </a:lnTo>
                <a:lnTo>
                  <a:pt x="44323" y="628904"/>
                </a:lnTo>
                <a:lnTo>
                  <a:pt x="44196" y="605790"/>
                </a:lnTo>
                <a:lnTo>
                  <a:pt x="44069" y="557022"/>
                </a:lnTo>
                <a:lnTo>
                  <a:pt x="43941" y="543941"/>
                </a:lnTo>
                <a:lnTo>
                  <a:pt x="43814" y="0"/>
                </a:lnTo>
                <a:close/>
              </a:path>
              <a:path extrusionOk="0" h="1169035" w="76200">
                <a:moveTo>
                  <a:pt x="76200" y="1092606"/>
                </a:moveTo>
                <a:lnTo>
                  <a:pt x="44450" y="1092606"/>
                </a:lnTo>
                <a:lnTo>
                  <a:pt x="44450" y="1105306"/>
                </a:lnTo>
                <a:lnTo>
                  <a:pt x="69850" y="1105306"/>
                </a:lnTo>
                <a:lnTo>
                  <a:pt x="76200" y="1092606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6aab7e4371_0_230"/>
          <p:cNvSpPr/>
          <p:nvPr/>
        </p:nvSpPr>
        <p:spPr>
          <a:xfrm flipH="1">
            <a:off x="6089926" y="3162300"/>
            <a:ext cx="1699974" cy="970031"/>
          </a:xfrm>
          <a:custGeom>
            <a:rect b="b" l="l" r="r" t="t"/>
            <a:pathLst>
              <a:path extrusionOk="0" h="1099185" w="1873250">
                <a:moveTo>
                  <a:pt x="69006" y="32956"/>
                </a:moveTo>
                <a:lnTo>
                  <a:pt x="62556" y="44020"/>
                </a:lnTo>
                <a:lnTo>
                  <a:pt x="1866392" y="1098677"/>
                </a:lnTo>
                <a:lnTo>
                  <a:pt x="1872742" y="1087716"/>
                </a:lnTo>
                <a:lnTo>
                  <a:pt x="69006" y="32956"/>
                </a:lnTo>
                <a:close/>
              </a:path>
              <a:path extrusionOk="0" h="1099185" w="1873250">
                <a:moveTo>
                  <a:pt x="0" y="0"/>
                </a:moveTo>
                <a:lnTo>
                  <a:pt x="46609" y="71374"/>
                </a:lnTo>
                <a:lnTo>
                  <a:pt x="62556" y="44020"/>
                </a:lnTo>
                <a:lnTo>
                  <a:pt x="51562" y="37592"/>
                </a:lnTo>
                <a:lnTo>
                  <a:pt x="58038" y="26543"/>
                </a:lnTo>
                <a:lnTo>
                  <a:pt x="72745" y="26543"/>
                </a:lnTo>
                <a:lnTo>
                  <a:pt x="84962" y="5587"/>
                </a:lnTo>
                <a:lnTo>
                  <a:pt x="0" y="0"/>
                </a:lnTo>
                <a:close/>
              </a:path>
              <a:path extrusionOk="0" h="1099185" w="1873250">
                <a:moveTo>
                  <a:pt x="58038" y="26543"/>
                </a:moveTo>
                <a:lnTo>
                  <a:pt x="51562" y="37592"/>
                </a:lnTo>
                <a:lnTo>
                  <a:pt x="62556" y="44020"/>
                </a:lnTo>
                <a:lnTo>
                  <a:pt x="69006" y="32956"/>
                </a:lnTo>
                <a:lnTo>
                  <a:pt x="58038" y="26543"/>
                </a:lnTo>
                <a:close/>
              </a:path>
              <a:path extrusionOk="0" h="1099185" w="1873250">
                <a:moveTo>
                  <a:pt x="72745" y="26543"/>
                </a:moveTo>
                <a:lnTo>
                  <a:pt x="58038" y="26543"/>
                </a:lnTo>
                <a:lnTo>
                  <a:pt x="69006" y="32956"/>
                </a:lnTo>
                <a:lnTo>
                  <a:pt x="72745" y="26543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aab7e4371_0_230"/>
          <p:cNvSpPr txBox="1"/>
          <p:nvPr/>
        </p:nvSpPr>
        <p:spPr>
          <a:xfrm>
            <a:off x="6477025" y="3285775"/>
            <a:ext cx="3729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	    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6aab7e4371_0_230"/>
          <p:cNvSpPr/>
          <p:nvPr/>
        </p:nvSpPr>
        <p:spPr>
          <a:xfrm>
            <a:off x="8079100" y="4252800"/>
            <a:ext cx="510057" cy="494695"/>
          </a:xfrm>
          <a:custGeom>
            <a:rect b="b" l="l" r="r" t="t"/>
            <a:pathLst>
              <a:path extrusionOk="0" h="495935" w="593090">
                <a:moveTo>
                  <a:pt x="12700" y="263906"/>
                </a:moveTo>
                <a:lnTo>
                  <a:pt x="0" y="264363"/>
                </a:lnTo>
                <a:lnTo>
                  <a:pt x="364" y="274472"/>
                </a:lnTo>
                <a:lnTo>
                  <a:pt x="436" y="275412"/>
                </a:lnTo>
                <a:lnTo>
                  <a:pt x="10414" y="318528"/>
                </a:lnTo>
                <a:lnTo>
                  <a:pt x="32257" y="360045"/>
                </a:lnTo>
                <a:lnTo>
                  <a:pt x="73025" y="406920"/>
                </a:lnTo>
                <a:lnTo>
                  <a:pt x="114426" y="439216"/>
                </a:lnTo>
                <a:lnTo>
                  <a:pt x="162051" y="465353"/>
                </a:lnTo>
                <a:lnTo>
                  <a:pt x="213868" y="484111"/>
                </a:lnTo>
                <a:lnTo>
                  <a:pt x="254634" y="492620"/>
                </a:lnTo>
                <a:lnTo>
                  <a:pt x="296291" y="495554"/>
                </a:lnTo>
                <a:lnTo>
                  <a:pt x="310133" y="495173"/>
                </a:lnTo>
                <a:lnTo>
                  <a:pt x="351535" y="490220"/>
                </a:lnTo>
                <a:lnTo>
                  <a:pt x="381204" y="482854"/>
                </a:lnTo>
                <a:lnTo>
                  <a:pt x="296545" y="482854"/>
                </a:lnTo>
                <a:lnTo>
                  <a:pt x="283209" y="482587"/>
                </a:lnTo>
                <a:lnTo>
                  <a:pt x="243585" y="477939"/>
                </a:lnTo>
                <a:lnTo>
                  <a:pt x="192277" y="463981"/>
                </a:lnTo>
                <a:lnTo>
                  <a:pt x="144145" y="442226"/>
                </a:lnTo>
                <a:lnTo>
                  <a:pt x="101092" y="414058"/>
                </a:lnTo>
                <a:lnTo>
                  <a:pt x="64643" y="380631"/>
                </a:lnTo>
                <a:lnTo>
                  <a:pt x="36829" y="343700"/>
                </a:lnTo>
                <a:lnTo>
                  <a:pt x="18923" y="304520"/>
                </a:lnTo>
                <a:lnTo>
                  <a:pt x="13080" y="274472"/>
                </a:lnTo>
                <a:lnTo>
                  <a:pt x="12700" y="263906"/>
                </a:lnTo>
                <a:close/>
              </a:path>
              <a:path extrusionOk="0" h="495935" w="593090">
                <a:moveTo>
                  <a:pt x="443187" y="46163"/>
                </a:moveTo>
                <a:lnTo>
                  <a:pt x="479171" y="68351"/>
                </a:lnTo>
                <a:lnTo>
                  <a:pt x="512064" y="97612"/>
                </a:lnTo>
                <a:lnTo>
                  <a:pt x="539876" y="132295"/>
                </a:lnTo>
                <a:lnTo>
                  <a:pt x="561213" y="170903"/>
                </a:lnTo>
                <a:lnTo>
                  <a:pt x="575182" y="212178"/>
                </a:lnTo>
                <a:lnTo>
                  <a:pt x="580008" y="254482"/>
                </a:lnTo>
                <a:lnTo>
                  <a:pt x="579627" y="264934"/>
                </a:lnTo>
                <a:lnTo>
                  <a:pt x="570356" y="306819"/>
                </a:lnTo>
                <a:lnTo>
                  <a:pt x="549909" y="347408"/>
                </a:lnTo>
                <a:lnTo>
                  <a:pt x="510921" y="394055"/>
                </a:lnTo>
                <a:lnTo>
                  <a:pt x="471170" y="426300"/>
                </a:lnTo>
                <a:lnTo>
                  <a:pt x="425323" y="452589"/>
                </a:lnTo>
                <a:lnTo>
                  <a:pt x="375284" y="471449"/>
                </a:lnTo>
                <a:lnTo>
                  <a:pt x="336296" y="479945"/>
                </a:lnTo>
                <a:lnTo>
                  <a:pt x="296545" y="482854"/>
                </a:lnTo>
                <a:lnTo>
                  <a:pt x="381204" y="482854"/>
                </a:lnTo>
                <a:lnTo>
                  <a:pt x="430275" y="464286"/>
                </a:lnTo>
                <a:lnTo>
                  <a:pt x="477900" y="437045"/>
                </a:lnTo>
                <a:lnTo>
                  <a:pt x="519429" y="403567"/>
                </a:lnTo>
                <a:lnTo>
                  <a:pt x="545719" y="374865"/>
                </a:lnTo>
                <a:lnTo>
                  <a:pt x="572516" y="333451"/>
                </a:lnTo>
                <a:lnTo>
                  <a:pt x="588772" y="289128"/>
                </a:lnTo>
                <a:lnTo>
                  <a:pt x="592708" y="254914"/>
                </a:lnTo>
                <a:lnTo>
                  <a:pt x="592327" y="243573"/>
                </a:lnTo>
                <a:lnTo>
                  <a:pt x="581532" y="187833"/>
                </a:lnTo>
                <a:lnTo>
                  <a:pt x="562864" y="145491"/>
                </a:lnTo>
                <a:lnTo>
                  <a:pt x="536955" y="106845"/>
                </a:lnTo>
                <a:lnTo>
                  <a:pt x="504951" y="73152"/>
                </a:lnTo>
                <a:lnTo>
                  <a:pt x="469344" y="46367"/>
                </a:lnTo>
                <a:lnTo>
                  <a:pt x="443865" y="46367"/>
                </a:lnTo>
                <a:lnTo>
                  <a:pt x="443187" y="46163"/>
                </a:lnTo>
                <a:close/>
              </a:path>
              <a:path extrusionOk="0" h="495935" w="593090">
                <a:moveTo>
                  <a:pt x="446785" y="0"/>
                </a:moveTo>
                <a:lnTo>
                  <a:pt x="363981" y="20193"/>
                </a:lnTo>
                <a:lnTo>
                  <a:pt x="429768" y="74295"/>
                </a:lnTo>
                <a:lnTo>
                  <a:pt x="436662" y="44197"/>
                </a:lnTo>
                <a:lnTo>
                  <a:pt x="424052" y="40398"/>
                </a:lnTo>
                <a:lnTo>
                  <a:pt x="427735" y="28244"/>
                </a:lnTo>
                <a:lnTo>
                  <a:pt x="440316" y="28244"/>
                </a:lnTo>
                <a:lnTo>
                  <a:pt x="446785" y="0"/>
                </a:lnTo>
                <a:close/>
              </a:path>
              <a:path extrusionOk="0" h="495935" w="593090">
                <a:moveTo>
                  <a:pt x="442595" y="45834"/>
                </a:moveTo>
                <a:lnTo>
                  <a:pt x="443187" y="46163"/>
                </a:lnTo>
                <a:lnTo>
                  <a:pt x="443865" y="46367"/>
                </a:lnTo>
                <a:lnTo>
                  <a:pt x="442595" y="45834"/>
                </a:lnTo>
                <a:close/>
              </a:path>
              <a:path extrusionOk="0" h="495935" w="593090">
                <a:moveTo>
                  <a:pt x="468562" y="45834"/>
                </a:moveTo>
                <a:lnTo>
                  <a:pt x="442595" y="45834"/>
                </a:lnTo>
                <a:lnTo>
                  <a:pt x="443865" y="46367"/>
                </a:lnTo>
                <a:lnTo>
                  <a:pt x="469344" y="46367"/>
                </a:lnTo>
                <a:lnTo>
                  <a:pt x="468562" y="45834"/>
                </a:lnTo>
                <a:close/>
              </a:path>
              <a:path extrusionOk="0" h="495935" w="593090">
                <a:moveTo>
                  <a:pt x="439499" y="31811"/>
                </a:moveTo>
                <a:lnTo>
                  <a:pt x="436662" y="44197"/>
                </a:lnTo>
                <a:lnTo>
                  <a:pt x="443187" y="46163"/>
                </a:lnTo>
                <a:lnTo>
                  <a:pt x="442595" y="45834"/>
                </a:lnTo>
                <a:lnTo>
                  <a:pt x="468562" y="45834"/>
                </a:lnTo>
                <a:lnTo>
                  <a:pt x="468375" y="45707"/>
                </a:lnTo>
                <a:lnTo>
                  <a:pt x="448691" y="34747"/>
                </a:lnTo>
                <a:lnTo>
                  <a:pt x="448309" y="34518"/>
                </a:lnTo>
                <a:lnTo>
                  <a:pt x="447928" y="34340"/>
                </a:lnTo>
                <a:lnTo>
                  <a:pt x="447421" y="34213"/>
                </a:lnTo>
                <a:lnTo>
                  <a:pt x="439499" y="31811"/>
                </a:lnTo>
                <a:close/>
              </a:path>
              <a:path extrusionOk="0" h="495935" w="593090">
                <a:moveTo>
                  <a:pt x="427735" y="28244"/>
                </a:moveTo>
                <a:lnTo>
                  <a:pt x="424052" y="40398"/>
                </a:lnTo>
                <a:lnTo>
                  <a:pt x="436662" y="44197"/>
                </a:lnTo>
                <a:lnTo>
                  <a:pt x="439499" y="31811"/>
                </a:lnTo>
                <a:lnTo>
                  <a:pt x="427735" y="28244"/>
                </a:lnTo>
                <a:close/>
              </a:path>
              <a:path extrusionOk="0" h="495935" w="593090">
                <a:moveTo>
                  <a:pt x="440316" y="28244"/>
                </a:moveTo>
                <a:lnTo>
                  <a:pt x="427735" y="28244"/>
                </a:lnTo>
                <a:lnTo>
                  <a:pt x="439499" y="31811"/>
                </a:lnTo>
                <a:lnTo>
                  <a:pt x="440316" y="28244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6aab7e4371_0_230"/>
          <p:cNvSpPr txBox="1"/>
          <p:nvPr/>
        </p:nvSpPr>
        <p:spPr>
          <a:xfrm>
            <a:off x="8603443" y="4324806"/>
            <a:ext cx="447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ab7e4371_0_27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g36aab7e4371_0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6aab7e4371_0_27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g36aab7e4371_0_27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9" name="Google Shape;349;g36aab7e4371_0_27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6aab7e4371_0_27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6aab7e4371_0_27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g36aab7e4371_0_275"/>
          <p:cNvSpPr txBox="1"/>
          <p:nvPr/>
        </p:nvSpPr>
        <p:spPr>
          <a:xfrm>
            <a:off x="2224200" y="1066475"/>
            <a:ext cx="46956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State Diagram</a:t>
            </a:r>
            <a:b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b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4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Circuit Diagram</a:t>
            </a:r>
            <a:endParaRPr b="0" i="0" sz="4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g36aab7e4371_0_27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g36aab7e4371_0_27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5" name="Google Shape;355;g36aab7e4371_0_275"/>
          <p:cNvCxnSpPr/>
          <p:nvPr/>
        </p:nvCxnSpPr>
        <p:spPr>
          <a:xfrm>
            <a:off x="500575" y="3395625"/>
            <a:ext cx="80571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aab7e4371_0_289"/>
          <p:cNvSpPr/>
          <p:nvPr/>
        </p:nvSpPr>
        <p:spPr>
          <a:xfrm>
            <a:off x="-485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1" name="Google Shape;361;g36aab7e4371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6aab7e4371_0_28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g36aab7e4371_0_28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4" name="Google Shape;364;g36aab7e4371_0_28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6aab7e4371_0_28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6aab7e4371_0_28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g36aab7e4371_0_289"/>
          <p:cNvSpPr txBox="1"/>
          <p:nvPr/>
        </p:nvSpPr>
        <p:spPr>
          <a:xfrm>
            <a:off x="561850" y="0"/>
            <a:ext cx="80106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1: 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Given state diagram as follows, get the sequential circuit using JK Flip Flop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g36aab7e4371_0_28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g36aab7e4371_0_28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g36aab7e4371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3099" y="1403700"/>
            <a:ext cx="3510968" cy="3315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aab7e4371_0_334"/>
          <p:cNvSpPr/>
          <p:nvPr/>
        </p:nvSpPr>
        <p:spPr>
          <a:xfrm>
            <a:off x="-485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6" name="Google Shape;376;g36aab7e4371_0_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6aab7e4371_0_3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g36aab7e4371_0_3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9" name="Google Shape;379;g36aab7e4371_0_3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6aab7e4371_0_3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6aab7e4371_0_3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g36aab7e4371_0_334"/>
          <p:cNvSpPr txBox="1"/>
          <p:nvPr/>
        </p:nvSpPr>
        <p:spPr>
          <a:xfrm>
            <a:off x="383800" y="56213"/>
            <a:ext cx="818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State Diagram to Sequential Circuit Design Workflow</a:t>
            </a:r>
            <a:endParaRPr b="0" i="0" sz="24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g36aab7e4371_0_3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g36aab7e4371_0_3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g36aab7e4371_0_334"/>
          <p:cNvGraphicFramePr/>
          <p:nvPr/>
        </p:nvGraphicFramePr>
        <p:xfrm>
          <a:off x="117788" y="686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709375"/>
                <a:gridCol w="3381375"/>
                <a:gridCol w="4817675"/>
              </a:tblGrid>
              <a:tr h="3406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Steps: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Description: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Build State table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List Present and Next States Transitions with corresponding inputs.  Include outputs if required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Determine Number of Flip-flops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If the number of states = 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then the number of flip-flops (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 required will be:  </a:t>
                      </a:r>
                      <a:r>
                        <a:rPr lang="en" sz="16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 = ⌈log</a:t>
                      </a:r>
                      <a:r>
                        <a:rPr baseline="-25000" lang="en" sz="16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" sz="16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(n)⌉</a:t>
                      </a:r>
                      <a:endParaRPr sz="16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Create Excitation Table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Determine and Populate Flip-Flop input columns based on present and next states using the 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excitation table</a:t>
                      </a: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88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Derive Input Functions using K-Map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 each FF input and output function using n-variable K-Map. </a:t>
                      </a:r>
                      <a:b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[n depends on the total number of present states and inputs]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Design Logic Diagram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 sequential circuit using logic gates and flip-flops based on the equations found in </a:t>
                      </a: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Step-4</a:t>
                      </a:r>
                      <a:endParaRPr sz="1400" u="none" cap="none" strike="noStrike">
                        <a:solidFill>
                          <a:srgbClr val="FF6B4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aab7e4371_0_365"/>
          <p:cNvSpPr/>
          <p:nvPr/>
        </p:nvSpPr>
        <p:spPr>
          <a:xfrm>
            <a:off x="-485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g36aab7e4371_0_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6aab7e4371_0_36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g36aab7e4371_0_36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94" name="Google Shape;394;g36aab7e4371_0_36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6aab7e4371_0_36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6aab7e4371_0_36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g36aab7e4371_0_365"/>
          <p:cNvSpPr txBox="1"/>
          <p:nvPr/>
        </p:nvSpPr>
        <p:spPr>
          <a:xfrm>
            <a:off x="328350" y="0"/>
            <a:ext cx="81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1: State Table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g36aab7e4371_0_36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g36aab7e4371_0_36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0" name="Google Shape;400;g36aab7e4371_0_3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900" y="502400"/>
            <a:ext cx="2626299" cy="2008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1" name="Google Shape;401;g36aab7e4371_0_365"/>
          <p:cNvGraphicFramePr/>
          <p:nvPr/>
        </p:nvGraphicFramePr>
        <p:xfrm>
          <a:off x="5468975" y="36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962025"/>
                <a:gridCol w="1047750"/>
                <a:gridCol w="1028700"/>
              </a:tblGrid>
              <a:tr h="2667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 hMerge="1"/>
              </a:tr>
              <a:tr h="266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 = 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 = 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aseline="30000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aseline="30000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aseline="30000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aseline="30000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02" name="Google Shape;402;g36aab7e4371_0_365"/>
          <p:cNvSpPr/>
          <p:nvPr/>
        </p:nvSpPr>
        <p:spPr>
          <a:xfrm>
            <a:off x="3263625" y="913475"/>
            <a:ext cx="1848000" cy="51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3" name="Google Shape;403;g36aab7e4371_0_365"/>
          <p:cNvGraphicFramePr/>
          <p:nvPr/>
        </p:nvGraphicFramePr>
        <p:xfrm>
          <a:off x="3263625" y="223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638175"/>
                <a:gridCol w="591800"/>
                <a:gridCol w="617875"/>
                <a:gridCol w="676275"/>
                <a:gridCol w="742950"/>
                <a:gridCol w="628650"/>
                <a:gridCol w="590550"/>
                <a:gridCol w="609600"/>
                <a:gridCol w="619125"/>
              </a:tblGrid>
              <a:tr h="4594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4" name="Google Shape;404;g36aab7e4371_0_365"/>
          <p:cNvGraphicFramePr/>
          <p:nvPr/>
        </p:nvGraphicFramePr>
        <p:xfrm>
          <a:off x="5118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82825"/>
                <a:gridCol w="550425"/>
                <a:gridCol w="488250"/>
                <a:gridCol w="638450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405;g36aab7e4371_0_365"/>
          <p:cNvSpPr txBox="1"/>
          <p:nvPr/>
        </p:nvSpPr>
        <p:spPr>
          <a:xfrm>
            <a:off x="511800" y="3998675"/>
            <a:ext cx="2546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Flip-Flop’s excitation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aab7e4371_0_39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⊐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g36aab7e4371_0_3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6aab7e4371_0_39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3" name="Google Shape;413;g36aab7e4371_0_39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g36aab7e4371_0_39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6aab7e4371_0_39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6aab7e4371_0_39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g36aab7e4371_0_394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1: Get FF input function using K-Map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g36aab7e4371_0_39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g36aab7e4371_0_39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0" name="Google Shape;420;g36aab7e4371_0_394"/>
          <p:cNvGraphicFramePr/>
          <p:nvPr/>
        </p:nvGraphicFramePr>
        <p:xfrm>
          <a:off x="561850" y="5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46200"/>
                <a:gridCol w="569600"/>
                <a:gridCol w="610650"/>
                <a:gridCol w="531750"/>
                <a:gridCol w="552300"/>
                <a:gridCol w="537300"/>
                <a:gridCol w="568425"/>
                <a:gridCol w="584125"/>
                <a:gridCol w="613950"/>
              </a:tblGrid>
              <a:tr h="3631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" name="Google Shape;421;g36aab7e4371_0_394"/>
          <p:cNvGraphicFramePr/>
          <p:nvPr/>
        </p:nvGraphicFramePr>
        <p:xfrm>
          <a:off x="6836400" y="1039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21500"/>
                <a:gridCol w="530900"/>
                <a:gridCol w="502650"/>
                <a:gridCol w="577725"/>
              </a:tblGrid>
              <a:tr h="29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422" name="Google Shape;422;g36aab7e4371_0_394"/>
          <p:cNvCxnSpPr/>
          <p:nvPr/>
        </p:nvCxnSpPr>
        <p:spPr>
          <a:xfrm rot="10800000">
            <a:off x="6452200" y="689238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g36aab7e4371_0_394"/>
          <p:cNvSpPr txBox="1"/>
          <p:nvPr/>
        </p:nvSpPr>
        <p:spPr>
          <a:xfrm>
            <a:off x="6264725" y="661225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g36aab7e4371_0_394"/>
          <p:cNvSpPr txBox="1"/>
          <p:nvPr/>
        </p:nvSpPr>
        <p:spPr>
          <a:xfrm>
            <a:off x="6482150" y="498400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g36aab7e4371_0_394"/>
          <p:cNvSpPr txBox="1"/>
          <p:nvPr/>
        </p:nvSpPr>
        <p:spPr>
          <a:xfrm>
            <a:off x="6864975" y="675425"/>
            <a:ext cx="213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00     01    11    10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g36aab7e4371_0_394"/>
          <p:cNvSpPr txBox="1"/>
          <p:nvPr/>
        </p:nvSpPr>
        <p:spPr>
          <a:xfrm>
            <a:off x="6482150" y="1020700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7" name="Google Shape;427;g36aab7e4371_0_394"/>
          <p:cNvGraphicFramePr/>
          <p:nvPr/>
        </p:nvGraphicFramePr>
        <p:xfrm>
          <a:off x="6822875" y="275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62875"/>
                <a:gridCol w="551975"/>
                <a:gridCol w="527625"/>
                <a:gridCol w="5317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428" name="Google Shape;428;g36aab7e4371_0_394"/>
          <p:cNvCxnSpPr/>
          <p:nvPr/>
        </p:nvCxnSpPr>
        <p:spPr>
          <a:xfrm rot="10800000">
            <a:off x="6430850" y="2396838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g36aab7e4371_0_394"/>
          <p:cNvSpPr txBox="1"/>
          <p:nvPr/>
        </p:nvSpPr>
        <p:spPr>
          <a:xfrm>
            <a:off x="6197400" y="2350775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g36aab7e4371_0_394"/>
          <p:cNvSpPr txBox="1"/>
          <p:nvPr/>
        </p:nvSpPr>
        <p:spPr>
          <a:xfrm>
            <a:off x="6815738" y="2337225"/>
            <a:ext cx="2174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00     01    11     10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g36aab7e4371_0_394"/>
          <p:cNvSpPr txBox="1"/>
          <p:nvPr/>
        </p:nvSpPr>
        <p:spPr>
          <a:xfrm>
            <a:off x="6430850" y="2671675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32" name="Google Shape;432;g36aab7e4371_0_394"/>
          <p:cNvGraphicFramePr/>
          <p:nvPr/>
        </p:nvGraphicFramePr>
        <p:xfrm>
          <a:off x="576100" y="375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31950"/>
                <a:gridCol w="643650"/>
                <a:gridCol w="608100"/>
                <a:gridCol w="5868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433" name="Google Shape;433;g36aab7e4371_0_394"/>
          <p:cNvCxnSpPr/>
          <p:nvPr/>
        </p:nvCxnSpPr>
        <p:spPr>
          <a:xfrm rot="10800000">
            <a:off x="203975" y="3411913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g36aab7e4371_0_394"/>
          <p:cNvSpPr txBox="1"/>
          <p:nvPr/>
        </p:nvSpPr>
        <p:spPr>
          <a:xfrm>
            <a:off x="0" y="3379550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g36aab7e4371_0_394"/>
          <p:cNvSpPr txBox="1"/>
          <p:nvPr/>
        </p:nvSpPr>
        <p:spPr>
          <a:xfrm>
            <a:off x="633250" y="3379550"/>
            <a:ext cx="2313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g36aab7e4371_0_394"/>
          <p:cNvSpPr txBox="1"/>
          <p:nvPr/>
        </p:nvSpPr>
        <p:spPr>
          <a:xfrm>
            <a:off x="255275" y="3678050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37" name="Google Shape;437;g36aab7e4371_0_394"/>
          <p:cNvGraphicFramePr/>
          <p:nvPr/>
        </p:nvGraphicFramePr>
        <p:xfrm>
          <a:off x="3852363" y="378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90300"/>
                <a:gridCol w="622150"/>
                <a:gridCol w="544950"/>
                <a:gridCol w="6368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438" name="Google Shape;438;g36aab7e4371_0_394"/>
          <p:cNvCxnSpPr/>
          <p:nvPr/>
        </p:nvCxnSpPr>
        <p:spPr>
          <a:xfrm rot="10800000">
            <a:off x="3480238" y="3444288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g36aab7e4371_0_394"/>
          <p:cNvSpPr txBox="1"/>
          <p:nvPr/>
        </p:nvSpPr>
        <p:spPr>
          <a:xfrm>
            <a:off x="3276263" y="3411925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g36aab7e4371_0_394"/>
          <p:cNvSpPr txBox="1"/>
          <p:nvPr/>
        </p:nvSpPr>
        <p:spPr>
          <a:xfrm>
            <a:off x="3909524" y="3429675"/>
            <a:ext cx="2237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00    01     11     10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g36aab7e4371_0_394"/>
          <p:cNvSpPr txBox="1"/>
          <p:nvPr/>
        </p:nvSpPr>
        <p:spPr>
          <a:xfrm>
            <a:off x="3531538" y="3710425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g36aab7e4371_0_394"/>
          <p:cNvSpPr txBox="1"/>
          <p:nvPr/>
        </p:nvSpPr>
        <p:spPr>
          <a:xfrm>
            <a:off x="6407600" y="2131700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g36aab7e4371_0_394"/>
          <p:cNvSpPr txBox="1"/>
          <p:nvPr/>
        </p:nvSpPr>
        <p:spPr>
          <a:xfrm>
            <a:off x="3531550" y="3261275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g36aab7e4371_0_394"/>
          <p:cNvSpPr txBox="1"/>
          <p:nvPr/>
        </p:nvSpPr>
        <p:spPr>
          <a:xfrm>
            <a:off x="255275" y="3193363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g36aab7e4371_0_394"/>
          <p:cNvSpPr/>
          <p:nvPr/>
        </p:nvSpPr>
        <p:spPr>
          <a:xfrm>
            <a:off x="8521450" y="1087650"/>
            <a:ext cx="327000" cy="51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g36aab7e4371_0_394"/>
          <p:cNvSpPr txBox="1"/>
          <p:nvPr/>
        </p:nvSpPr>
        <p:spPr>
          <a:xfrm>
            <a:off x="7084425" y="1728350"/>
            <a:ext cx="169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 = 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g36aab7e4371_0_394"/>
          <p:cNvSpPr txBox="1"/>
          <p:nvPr/>
        </p:nvSpPr>
        <p:spPr>
          <a:xfrm>
            <a:off x="7109600" y="3523513"/>
            <a:ext cx="169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B.x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g36aab7e4371_0_394"/>
          <p:cNvSpPr/>
          <p:nvPr/>
        </p:nvSpPr>
        <p:spPr>
          <a:xfrm>
            <a:off x="8064450" y="2795675"/>
            <a:ext cx="327000" cy="51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g36aab7e4371_0_394"/>
          <p:cNvSpPr/>
          <p:nvPr/>
        </p:nvSpPr>
        <p:spPr>
          <a:xfrm>
            <a:off x="4568100" y="4133050"/>
            <a:ext cx="800100" cy="21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6aab7e4371_0_394"/>
          <p:cNvSpPr txBox="1"/>
          <p:nvPr/>
        </p:nvSpPr>
        <p:spPr>
          <a:xfrm>
            <a:off x="4152575" y="4441913"/>
            <a:ext cx="169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KB= (A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x)’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g36aab7e4371_0_394"/>
          <p:cNvSpPr/>
          <p:nvPr/>
        </p:nvSpPr>
        <p:spPr>
          <a:xfrm>
            <a:off x="1263650" y="3810000"/>
            <a:ext cx="971700" cy="50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g36aab7e4371_0_394"/>
          <p:cNvSpPr txBox="1"/>
          <p:nvPr/>
        </p:nvSpPr>
        <p:spPr>
          <a:xfrm>
            <a:off x="902600" y="4381600"/>
            <a:ext cx="169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JB= 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g36aab7e4371_0_394"/>
          <p:cNvSpPr/>
          <p:nvPr/>
        </p:nvSpPr>
        <p:spPr>
          <a:xfrm>
            <a:off x="3950600" y="3824300"/>
            <a:ext cx="327000" cy="2112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6aab7e4371_0_394"/>
          <p:cNvSpPr/>
          <p:nvPr/>
        </p:nvSpPr>
        <p:spPr>
          <a:xfrm flipH="1">
            <a:off x="5676150" y="3824300"/>
            <a:ext cx="327000" cy="2112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aab7e4371_0_469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0" name="Google Shape;460;g36aab7e4371_0_4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6aab7e4371_0_46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g36aab7e4371_0_46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3" name="Google Shape;463;g36aab7e4371_0_46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6aab7e4371_0_46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6aab7e4371_0_46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466;g36aab7e4371_0_469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1: 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g36aab7e4371_0_46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g36aab7e4371_0_46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g36aab7e4371_0_469"/>
          <p:cNvSpPr txBox="1"/>
          <p:nvPr/>
        </p:nvSpPr>
        <p:spPr>
          <a:xfrm>
            <a:off x="567700" y="610300"/>
            <a:ext cx="3144300" cy="18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 Flip-Flop Functions: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eriod"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 = 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eriod"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 = B.x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eriod"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JB= 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eriod"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KB= (A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x)’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0" name="Google Shape;470;g36aab7e4371_0_4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2675" y="879029"/>
            <a:ext cx="4848948" cy="373608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6aab7e4371_0_469"/>
          <p:cNvSpPr txBox="1"/>
          <p:nvPr/>
        </p:nvSpPr>
        <p:spPr>
          <a:xfrm>
            <a:off x="5164550" y="435025"/>
            <a:ext cx="3250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g36aab7e4371_0_469"/>
          <p:cNvSpPr txBox="1"/>
          <p:nvPr/>
        </p:nvSpPr>
        <p:spPr>
          <a:xfrm>
            <a:off x="561375" y="2820850"/>
            <a:ext cx="2743800" cy="169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Note:</a:t>
            </a:r>
            <a:b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draw the circuit any way you wish (Horizontally or Vertically)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a0d759e1c_0_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8" name="Google Shape;478;g36a0d759e1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6a0d759e1c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g36a0d759e1c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81" name="Google Shape;481;g36a0d759e1c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6a0d759e1c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6a0d759e1c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4" name="Google Shape;484;g36a0d759e1c_0_0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2: 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g36a0d759e1c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g36a0d759e1c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g36a0d759e1c_0_0"/>
          <p:cNvSpPr txBox="1"/>
          <p:nvPr/>
        </p:nvSpPr>
        <p:spPr>
          <a:xfrm>
            <a:off x="583625" y="590325"/>
            <a:ext cx="78888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Design, using D flip-flop, circuit is based on state table below. (Exercise: How if using JK flip-flop)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8" name="Google Shape;488;g36a0d759e1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50" y="1354438"/>
            <a:ext cx="3027174" cy="3308777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6a0d759e1c_0_0"/>
          <p:cNvSpPr/>
          <p:nvPr/>
        </p:nvSpPr>
        <p:spPr>
          <a:xfrm>
            <a:off x="3670088" y="2650588"/>
            <a:ext cx="849600" cy="42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g36a0d759e1c_0_0"/>
          <p:cNvGraphicFramePr/>
          <p:nvPr/>
        </p:nvGraphicFramePr>
        <p:xfrm>
          <a:off x="4700750" y="183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653025"/>
                <a:gridCol w="681000"/>
                <a:gridCol w="730075"/>
                <a:gridCol w="635750"/>
                <a:gridCol w="660325"/>
                <a:gridCol w="854600"/>
              </a:tblGrid>
              <a:tr h="3631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7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a0d759e1c_0_39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6" name="Google Shape;496;g36a0d759e1c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6a0d759e1c_0_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g36a0d759e1c_0_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9" name="Google Shape;499;g36a0d759e1c_0_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6a0d759e1c_0_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36a0d759e1c_0_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g36a0d759e1c_0_39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2: Determine FF- Input and Y output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g36a0d759e1c_0_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g36a0d759e1c_0_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g36a0d759e1c_0_39"/>
          <p:cNvSpPr txBox="1"/>
          <p:nvPr/>
        </p:nvSpPr>
        <p:spPr>
          <a:xfrm>
            <a:off x="6264725" y="661225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06" name="Google Shape;506;g36a0d759e1c_0_39"/>
          <p:cNvGraphicFramePr/>
          <p:nvPr/>
        </p:nvGraphicFramePr>
        <p:xfrm>
          <a:off x="6634475" y="378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31325"/>
                <a:gridCol w="529075"/>
                <a:gridCol w="454525"/>
                <a:gridCol w="45805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507" name="Google Shape;507;g36a0d759e1c_0_39"/>
          <p:cNvCxnSpPr/>
          <p:nvPr/>
        </p:nvCxnSpPr>
        <p:spPr>
          <a:xfrm rot="10800000">
            <a:off x="6264725" y="3444288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g36a0d759e1c_0_39"/>
          <p:cNvSpPr txBox="1"/>
          <p:nvPr/>
        </p:nvSpPr>
        <p:spPr>
          <a:xfrm>
            <a:off x="6078575" y="3379550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g36a0d759e1c_0_39"/>
          <p:cNvSpPr txBox="1"/>
          <p:nvPr/>
        </p:nvSpPr>
        <p:spPr>
          <a:xfrm>
            <a:off x="6287975" y="3808250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0" name="Google Shape;510;g36a0d759e1c_0_39"/>
          <p:cNvGraphicFramePr/>
          <p:nvPr/>
        </p:nvGraphicFramePr>
        <p:xfrm>
          <a:off x="576100" y="375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95525"/>
                <a:gridCol w="433350"/>
                <a:gridCol w="480475"/>
                <a:gridCol w="463625"/>
              </a:tblGrid>
              <a:tr h="37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cxnSp>
        <p:nvCxnSpPr>
          <p:cNvPr id="511" name="Google Shape;511;g36a0d759e1c_0_39"/>
          <p:cNvCxnSpPr/>
          <p:nvPr/>
        </p:nvCxnSpPr>
        <p:spPr>
          <a:xfrm rot="10800000">
            <a:off x="203975" y="3411913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g36a0d759e1c_0_39"/>
          <p:cNvSpPr txBox="1"/>
          <p:nvPr/>
        </p:nvSpPr>
        <p:spPr>
          <a:xfrm>
            <a:off x="0" y="3379550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g36a0d759e1c_0_39"/>
          <p:cNvSpPr txBox="1"/>
          <p:nvPr/>
        </p:nvSpPr>
        <p:spPr>
          <a:xfrm>
            <a:off x="576175" y="3379550"/>
            <a:ext cx="187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00   01   11    10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g36a0d759e1c_0_39"/>
          <p:cNvSpPr txBox="1"/>
          <p:nvPr/>
        </p:nvSpPr>
        <p:spPr>
          <a:xfrm>
            <a:off x="255275" y="3678050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5" name="Google Shape;515;g36a0d759e1c_0_39"/>
          <p:cNvGraphicFramePr/>
          <p:nvPr/>
        </p:nvGraphicFramePr>
        <p:xfrm>
          <a:off x="3852350" y="3742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00275"/>
                <a:gridCol w="497975"/>
                <a:gridCol w="454850"/>
                <a:gridCol w="519875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cxnSp>
        <p:nvCxnSpPr>
          <p:cNvPr id="516" name="Google Shape;516;g36a0d759e1c_0_39"/>
          <p:cNvCxnSpPr/>
          <p:nvPr/>
        </p:nvCxnSpPr>
        <p:spPr>
          <a:xfrm rot="10800000">
            <a:off x="3480238" y="3411913"/>
            <a:ext cx="380400" cy="34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g36a0d759e1c_0_39"/>
          <p:cNvSpPr txBox="1"/>
          <p:nvPr/>
        </p:nvSpPr>
        <p:spPr>
          <a:xfrm>
            <a:off x="3253913" y="3341425"/>
            <a:ext cx="155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g36a0d759e1c_0_39"/>
          <p:cNvSpPr txBox="1"/>
          <p:nvPr/>
        </p:nvSpPr>
        <p:spPr>
          <a:xfrm>
            <a:off x="3470513" y="3752313"/>
            <a:ext cx="277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g36a0d759e1c_0_39"/>
          <p:cNvSpPr txBox="1"/>
          <p:nvPr/>
        </p:nvSpPr>
        <p:spPr>
          <a:xfrm>
            <a:off x="6287975" y="3229525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g36a0d759e1c_0_39"/>
          <p:cNvSpPr txBox="1"/>
          <p:nvPr/>
        </p:nvSpPr>
        <p:spPr>
          <a:xfrm>
            <a:off x="3531550" y="3203400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1" name="Google Shape;521;g36a0d759e1c_0_39"/>
          <p:cNvSpPr txBox="1"/>
          <p:nvPr/>
        </p:nvSpPr>
        <p:spPr>
          <a:xfrm>
            <a:off x="255275" y="3193363"/>
            <a:ext cx="4269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5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g36a0d759e1c_0_39"/>
          <p:cNvSpPr txBox="1"/>
          <p:nvPr/>
        </p:nvSpPr>
        <p:spPr>
          <a:xfrm>
            <a:off x="3480250" y="4441850"/>
            <a:ext cx="275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DB= A’.x + B’.x + A.B.x’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g36a0d759e1c_0_39"/>
          <p:cNvSpPr txBox="1"/>
          <p:nvPr/>
        </p:nvSpPr>
        <p:spPr>
          <a:xfrm>
            <a:off x="649100" y="4510125"/>
            <a:ext cx="1954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DA= A.B’ + 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24" name="Google Shape;524;g36a0d759e1c_0_39"/>
          <p:cNvGraphicFramePr/>
          <p:nvPr/>
        </p:nvGraphicFramePr>
        <p:xfrm>
          <a:off x="561850" y="5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621150"/>
                <a:gridCol w="647775"/>
                <a:gridCol w="694475"/>
                <a:gridCol w="590775"/>
                <a:gridCol w="842425"/>
                <a:gridCol w="792175"/>
                <a:gridCol w="759150"/>
                <a:gridCol w="609300"/>
              </a:tblGrid>
              <a:tr h="2806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DB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25" name="Google Shape;525;g36a0d759e1c_0_39"/>
          <p:cNvSpPr txBox="1"/>
          <p:nvPr/>
        </p:nvSpPr>
        <p:spPr>
          <a:xfrm>
            <a:off x="3852400" y="3379538"/>
            <a:ext cx="187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00   01   11    10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g36a0d759e1c_0_39"/>
          <p:cNvSpPr txBox="1"/>
          <p:nvPr/>
        </p:nvSpPr>
        <p:spPr>
          <a:xfrm>
            <a:off x="6634513" y="3437575"/>
            <a:ext cx="187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00   01   11    10</a:t>
            </a:r>
            <a:endParaRPr b="0" i="0" sz="18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g36a0d759e1c_0_39"/>
          <p:cNvSpPr txBox="1"/>
          <p:nvPr/>
        </p:nvSpPr>
        <p:spPr>
          <a:xfrm>
            <a:off x="6714875" y="4510113"/>
            <a:ext cx="1693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Y= B’.x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g36a0d759e1c_0_39"/>
          <p:cNvSpPr/>
          <p:nvPr/>
        </p:nvSpPr>
        <p:spPr>
          <a:xfrm>
            <a:off x="691450" y="4191000"/>
            <a:ext cx="712500" cy="25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6a0d759e1c_0_39"/>
          <p:cNvSpPr/>
          <p:nvPr/>
        </p:nvSpPr>
        <p:spPr>
          <a:xfrm>
            <a:off x="4385750" y="3784700"/>
            <a:ext cx="712500" cy="25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6a0d759e1c_0_39"/>
          <p:cNvSpPr/>
          <p:nvPr/>
        </p:nvSpPr>
        <p:spPr>
          <a:xfrm>
            <a:off x="2109600" y="3824100"/>
            <a:ext cx="240000" cy="61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6a0d759e1c_0_39"/>
          <p:cNvSpPr/>
          <p:nvPr/>
        </p:nvSpPr>
        <p:spPr>
          <a:xfrm>
            <a:off x="4372038" y="3791000"/>
            <a:ext cx="240000" cy="61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6a0d759e1c_0_39"/>
          <p:cNvSpPr/>
          <p:nvPr/>
        </p:nvSpPr>
        <p:spPr>
          <a:xfrm>
            <a:off x="7228075" y="3816200"/>
            <a:ext cx="240000" cy="61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6a0d759e1c_0_39"/>
          <p:cNvSpPr/>
          <p:nvPr/>
        </p:nvSpPr>
        <p:spPr>
          <a:xfrm>
            <a:off x="5348100" y="4176900"/>
            <a:ext cx="277800" cy="209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4" name="Google Shape;534;g36a0d759e1c_0_39"/>
          <p:cNvGraphicFramePr/>
          <p:nvPr/>
        </p:nvGraphicFramePr>
        <p:xfrm>
          <a:off x="6506125" y="103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675825"/>
                <a:gridCol w="770450"/>
                <a:gridCol w="6834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g36a0d759e1c_0_39"/>
          <p:cNvSpPr txBox="1"/>
          <p:nvPr/>
        </p:nvSpPr>
        <p:spPr>
          <a:xfrm>
            <a:off x="6576925" y="2515525"/>
            <a:ext cx="20589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- Flip 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a0d759e1c_0_147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41" name="Google Shape;541;g36a0d759e1c_0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6a0d759e1c_0_1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3" name="Google Shape;543;g36a0d759e1c_0_1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4" name="Google Shape;544;g36a0d759e1c_0_1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6a0d759e1c_0_1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6a0d759e1c_0_1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g36a0d759e1c_0_147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Design Example 2: 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g36a0d759e1c_0_1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g36a0d759e1c_0_1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g36a0d759e1c_0_147"/>
          <p:cNvSpPr txBox="1"/>
          <p:nvPr/>
        </p:nvSpPr>
        <p:spPr>
          <a:xfrm>
            <a:off x="229975" y="610300"/>
            <a:ext cx="3040200" cy="25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 Flip-Flop Functions: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 = A.B’ + 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A.x + B’.x + A.B.x’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 = B’.x</a:t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g36a0d759e1c_0_147"/>
          <p:cNvSpPr txBox="1"/>
          <p:nvPr/>
        </p:nvSpPr>
        <p:spPr>
          <a:xfrm>
            <a:off x="5164550" y="435025"/>
            <a:ext cx="3250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2" name="Google Shape;552;g36a0d759e1c_0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5225" y="838813"/>
            <a:ext cx="6016174" cy="378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6a0d759e1c_0_173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8" name="Google Shape;558;g36a0d759e1c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36a0d759e1c_0_17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g36a0d759e1c_0_17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61" name="Google Shape;561;g36a0d759e1c_0_17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6a0d759e1c_0_17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6a0d759e1c_0_17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g36a0d759e1c_0_173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Introduction: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g36a0d759e1c_0_17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6" name="Google Shape;566;g36a0d759e1c_0_17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g36a0d759e1c_0_173"/>
          <p:cNvSpPr txBox="1"/>
          <p:nvPr/>
        </p:nvSpPr>
        <p:spPr>
          <a:xfrm>
            <a:off x="545700" y="684213"/>
            <a:ext cx="79314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Counters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circuits that cycle through a specified number of states.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types of counters: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asynchronous (ripple) counters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Ripple counters allow some flip-flop outputs to be used as a source of clock for other flip-flops.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Synchronous counters apply the same clock to all flip-flops.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We will cover only synchronous this time</a:t>
            </a:r>
            <a:endParaRPr b="0" i="0" sz="18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a0d759e1c_0_19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73" name="Google Shape;573;g36a0d759e1c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6a0d759e1c_0_19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5" name="Google Shape;575;g36a0d759e1c_0_19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6" name="Google Shape;576;g36a0d759e1c_0_19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6a0d759e1c_0_19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6a0d759e1c_0_19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9" name="Google Shape;579;g36a0d759e1c_0_190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g36a0d759e1c_0_19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g36a0d759e1c_0_19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g36a0d759e1c_0_190"/>
          <p:cNvSpPr txBox="1"/>
          <p:nvPr/>
        </p:nvSpPr>
        <p:spPr>
          <a:xfrm>
            <a:off x="545700" y="684213"/>
            <a:ext cx="79314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the flip-flops are clocked at the same time by a common clock pulse.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design these counters using the sequential logic design process.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2-bit synchronous binary counter (using T flip-flops, or JK flip-flops with identical J,K inputs).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b927a0f4c_0_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8" name="Google Shape;588;g36b927a0f4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g36b927a0f4c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0" name="Google Shape;590;g36b927a0f4c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1" name="Google Shape;591;g36b927a0f4c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6b927a0f4c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6b927a0f4c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g36b927a0f4c_0_0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g36b927a0f4c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g36b927a0f4c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g36b927a0f4c_0_0"/>
          <p:cNvSpPr txBox="1"/>
          <p:nvPr/>
        </p:nvSpPr>
        <p:spPr>
          <a:xfrm>
            <a:off x="482250" y="732838"/>
            <a:ext cx="8179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Question: Design a 2-bit synchronous binary counter (using T flip-flops).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98" name="Google Shape;598;g36b927a0f4c_0_0"/>
          <p:cNvGrpSpPr/>
          <p:nvPr/>
        </p:nvGrpSpPr>
        <p:grpSpPr>
          <a:xfrm>
            <a:off x="2588589" y="1682026"/>
            <a:ext cx="1107585" cy="1082927"/>
            <a:chOff x="1152" y="2147"/>
            <a:chExt cx="930" cy="910"/>
          </a:xfrm>
        </p:grpSpPr>
        <p:grpSp>
          <p:nvGrpSpPr>
            <p:cNvPr id="599" name="Google Shape;599;g36b927a0f4c_0_0"/>
            <p:cNvGrpSpPr/>
            <p:nvPr/>
          </p:nvGrpSpPr>
          <p:grpSpPr>
            <a:xfrm>
              <a:off x="1770" y="2158"/>
              <a:ext cx="300" cy="310"/>
              <a:chOff x="1161" y="2494"/>
              <a:chExt cx="300" cy="310"/>
            </a:xfrm>
          </p:grpSpPr>
          <p:sp>
            <p:nvSpPr>
              <p:cNvPr id="600" name="Google Shape;600;g36b927a0f4c_0_0"/>
              <p:cNvSpPr/>
              <p:nvPr/>
            </p:nvSpPr>
            <p:spPr>
              <a:xfrm>
                <a:off x="1161" y="2494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g36b927a0f4c_0_0"/>
              <p:cNvSpPr txBox="1"/>
              <p:nvPr/>
            </p:nvSpPr>
            <p:spPr>
              <a:xfrm>
                <a:off x="1161" y="2504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02" name="Google Shape;602;g36b927a0f4c_0_0"/>
            <p:cNvCxnSpPr/>
            <p:nvPr/>
          </p:nvCxnSpPr>
          <p:spPr>
            <a:xfrm>
              <a:off x="1932" y="2436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603" name="Google Shape;603;g36b927a0f4c_0_0"/>
            <p:cNvGrpSpPr/>
            <p:nvPr/>
          </p:nvGrpSpPr>
          <p:grpSpPr>
            <a:xfrm>
              <a:off x="1152" y="2147"/>
              <a:ext cx="300" cy="311"/>
              <a:chOff x="1056" y="2483"/>
              <a:chExt cx="300" cy="311"/>
            </a:xfrm>
          </p:grpSpPr>
          <p:sp>
            <p:nvSpPr>
              <p:cNvPr id="604" name="Google Shape;604;g36b927a0f4c_0_0"/>
              <p:cNvSpPr/>
              <p:nvPr/>
            </p:nvSpPr>
            <p:spPr>
              <a:xfrm>
                <a:off x="1056" y="2483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g36b927a0f4c_0_0"/>
              <p:cNvSpPr txBox="1"/>
              <p:nvPr/>
            </p:nvSpPr>
            <p:spPr>
              <a:xfrm>
                <a:off x="1056" y="2494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g36b927a0f4c_0_0"/>
            <p:cNvGrpSpPr/>
            <p:nvPr/>
          </p:nvGrpSpPr>
          <p:grpSpPr>
            <a:xfrm>
              <a:off x="1782" y="2736"/>
              <a:ext cx="300" cy="321"/>
              <a:chOff x="1173" y="2640"/>
              <a:chExt cx="300" cy="321"/>
            </a:xfrm>
          </p:grpSpPr>
          <p:sp>
            <p:nvSpPr>
              <p:cNvPr id="607" name="Google Shape;607;g36b927a0f4c_0_0"/>
              <p:cNvSpPr/>
              <p:nvPr/>
            </p:nvSpPr>
            <p:spPr>
              <a:xfrm>
                <a:off x="1173" y="2640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g36b927a0f4c_0_0"/>
              <p:cNvSpPr txBox="1"/>
              <p:nvPr/>
            </p:nvSpPr>
            <p:spPr>
              <a:xfrm>
                <a:off x="1173" y="2661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9" name="Google Shape;609;g36b927a0f4c_0_0"/>
            <p:cNvGrpSpPr/>
            <p:nvPr/>
          </p:nvGrpSpPr>
          <p:grpSpPr>
            <a:xfrm>
              <a:off x="1158" y="2736"/>
              <a:ext cx="312" cy="316"/>
              <a:chOff x="1062" y="2640"/>
              <a:chExt cx="312" cy="316"/>
            </a:xfrm>
          </p:grpSpPr>
          <p:sp>
            <p:nvSpPr>
              <p:cNvPr id="610" name="Google Shape;610;g36b927a0f4c_0_0"/>
              <p:cNvSpPr/>
              <p:nvPr/>
            </p:nvSpPr>
            <p:spPr>
              <a:xfrm>
                <a:off x="1074" y="2640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g36b927a0f4c_0_0"/>
              <p:cNvSpPr txBox="1"/>
              <p:nvPr/>
            </p:nvSpPr>
            <p:spPr>
              <a:xfrm>
                <a:off x="1062" y="265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12" name="Google Shape;612;g36b927a0f4c_0_0"/>
            <p:cNvCxnSpPr/>
            <p:nvPr/>
          </p:nvCxnSpPr>
          <p:spPr>
            <a:xfrm>
              <a:off x="1461" y="2292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3" name="Google Shape;613;g36b927a0f4c_0_0"/>
            <p:cNvCxnSpPr/>
            <p:nvPr/>
          </p:nvCxnSpPr>
          <p:spPr>
            <a:xfrm rot="10800000">
              <a:off x="1296" y="2436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4" name="Google Shape;614;g36b927a0f4c_0_0"/>
            <p:cNvCxnSpPr/>
            <p:nvPr/>
          </p:nvCxnSpPr>
          <p:spPr>
            <a:xfrm rot="10800000">
              <a:off x="1470" y="287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615" name="Google Shape;615;g36b927a0f4c_0_0"/>
          <p:cNvGraphicFramePr/>
          <p:nvPr/>
        </p:nvGraphicFramePr>
        <p:xfrm>
          <a:off x="4976125" y="12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75575"/>
                <a:gridCol w="600225"/>
                <a:gridCol w="560350"/>
                <a:gridCol w="582000"/>
                <a:gridCol w="566200"/>
                <a:gridCol w="646975"/>
              </a:tblGrid>
              <a:tr h="5445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</a:tr>
              <a:tr h="26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5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5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6" name="Google Shape;616;g36b927a0f4c_0_0"/>
          <p:cNvGraphicFramePr/>
          <p:nvPr/>
        </p:nvGraphicFramePr>
        <p:xfrm>
          <a:off x="847350" y="2946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675825"/>
                <a:gridCol w="770450"/>
                <a:gridCol w="6834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baseline="-25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n+1</a:t>
                      </a:r>
                      <a:endParaRPr baseline="-25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cxnSp>
        <p:nvCxnSpPr>
          <p:cNvPr id="617" name="Google Shape;617;g36b927a0f4c_0_0"/>
          <p:cNvCxnSpPr/>
          <p:nvPr/>
        </p:nvCxnSpPr>
        <p:spPr>
          <a:xfrm>
            <a:off x="1319528" y="1820876"/>
            <a:ext cx="866100" cy="359700"/>
          </a:xfrm>
          <a:prstGeom prst="curvedConnector2">
            <a:avLst/>
          </a:prstGeom>
          <a:solidFill>
            <a:srgbClr val="CC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8" name="Google Shape;618;g36b927a0f4c_0_0"/>
          <p:cNvSpPr txBox="1"/>
          <p:nvPr/>
        </p:nvSpPr>
        <p:spPr>
          <a:xfrm>
            <a:off x="461850" y="1217175"/>
            <a:ext cx="2414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by drawing this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19" name="Google Shape;619;g36b927a0f4c_0_0"/>
          <p:cNvCxnSpPr/>
          <p:nvPr/>
        </p:nvCxnSpPr>
        <p:spPr>
          <a:xfrm>
            <a:off x="3821950" y="2109950"/>
            <a:ext cx="83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0" name="Google Shape;620;g36b927a0f4c_0_0"/>
          <p:cNvSpPr txBox="1"/>
          <p:nvPr/>
        </p:nvSpPr>
        <p:spPr>
          <a:xfrm>
            <a:off x="786975" y="4356625"/>
            <a:ext cx="3095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Excitation table of T Flip-Flop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6b927a0f4c_0_42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6" name="Google Shape;626;g36b927a0f4c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6b927a0f4c_0_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8" name="Google Shape;628;g36b927a0f4c_0_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29" name="Google Shape;629;g36b927a0f4c_0_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6b927a0f4c_0_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6b927a0f4c_0_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g36b927a0f4c_0_42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g36b927a0f4c_0_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g36b927a0f4c_0_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5" name="Google Shape;635;g36b927a0f4c_0_42"/>
          <p:cNvSpPr txBox="1"/>
          <p:nvPr/>
        </p:nvSpPr>
        <p:spPr>
          <a:xfrm>
            <a:off x="461850" y="684225"/>
            <a:ext cx="83373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Question: Design a 2-bit synchronous binary counter (using T flip-flops).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36" name="Google Shape;636;g36b927a0f4c_0_42"/>
          <p:cNvGraphicFramePr/>
          <p:nvPr/>
        </p:nvGraphicFramePr>
        <p:xfrm>
          <a:off x="688625" y="1357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75575"/>
                <a:gridCol w="600225"/>
                <a:gridCol w="560350"/>
                <a:gridCol w="582000"/>
                <a:gridCol w="566200"/>
                <a:gridCol w="646975"/>
              </a:tblGrid>
              <a:tr h="5445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</a:tr>
              <a:tr h="26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5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5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7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b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637" name="Google Shape;637;g36b927a0f4c_0_42"/>
          <p:cNvSpPr txBox="1"/>
          <p:nvPr/>
        </p:nvSpPr>
        <p:spPr>
          <a:xfrm>
            <a:off x="688625" y="3480550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g36b927a0f4c_0_42"/>
          <p:cNvSpPr txBox="1"/>
          <p:nvPr/>
        </p:nvSpPr>
        <p:spPr>
          <a:xfrm>
            <a:off x="995650" y="3221300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39" name="Google Shape;639;g36b927a0f4c_0_42"/>
          <p:cNvGraphicFramePr/>
          <p:nvPr/>
        </p:nvGraphicFramePr>
        <p:xfrm>
          <a:off x="1357762" y="3774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40" name="Google Shape;640;g36b927a0f4c_0_42"/>
          <p:cNvCxnSpPr/>
          <p:nvPr/>
        </p:nvCxnSpPr>
        <p:spPr>
          <a:xfrm rot="10800000">
            <a:off x="976242" y="339865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g36b927a0f4c_0_42"/>
          <p:cNvSpPr txBox="1"/>
          <p:nvPr/>
        </p:nvSpPr>
        <p:spPr>
          <a:xfrm>
            <a:off x="908550" y="3893875"/>
            <a:ext cx="449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A1’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g36b927a0f4c_0_42"/>
          <p:cNvSpPr txBox="1"/>
          <p:nvPr/>
        </p:nvSpPr>
        <p:spPr>
          <a:xfrm>
            <a:off x="1412950" y="3450200"/>
            <a:ext cx="10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A0’   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g36b927a0f4c_0_42"/>
          <p:cNvSpPr txBox="1"/>
          <p:nvPr/>
        </p:nvSpPr>
        <p:spPr>
          <a:xfrm>
            <a:off x="1962750" y="385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6b927a0f4c_0_42"/>
          <p:cNvSpPr txBox="1"/>
          <p:nvPr/>
        </p:nvSpPr>
        <p:spPr>
          <a:xfrm>
            <a:off x="4174225" y="3547425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5" name="Google Shape;645;g36b927a0f4c_0_42"/>
          <p:cNvSpPr txBox="1"/>
          <p:nvPr/>
        </p:nvSpPr>
        <p:spPr>
          <a:xfrm>
            <a:off x="4453287" y="3309800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46" name="Google Shape;646;g36b927a0f4c_0_42"/>
          <p:cNvGraphicFramePr/>
          <p:nvPr/>
        </p:nvGraphicFramePr>
        <p:xfrm>
          <a:off x="4768875" y="3804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47" name="Google Shape;647;g36b927a0f4c_0_42"/>
          <p:cNvCxnSpPr/>
          <p:nvPr/>
        </p:nvCxnSpPr>
        <p:spPr>
          <a:xfrm rot="10800000">
            <a:off x="4387354" y="34290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g36b927a0f4c_0_42"/>
          <p:cNvSpPr txBox="1"/>
          <p:nvPr/>
        </p:nvSpPr>
        <p:spPr>
          <a:xfrm>
            <a:off x="4848813" y="3887250"/>
            <a:ext cx="8775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6b927a0f4c_0_42"/>
          <p:cNvSpPr txBox="1"/>
          <p:nvPr/>
        </p:nvSpPr>
        <p:spPr>
          <a:xfrm>
            <a:off x="4453275" y="1184325"/>
            <a:ext cx="4520400" cy="20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Next, find out the equations for the flip-flop inputs.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A1’A0 + A1A0 = A0 (A1’+A1) = A0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FYI, these can also be calculated using K-Maps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g36b927a0f4c_0_42"/>
          <p:cNvSpPr txBox="1"/>
          <p:nvPr/>
        </p:nvSpPr>
        <p:spPr>
          <a:xfrm>
            <a:off x="3075275" y="3819200"/>
            <a:ext cx="104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A0</a:t>
            </a:r>
            <a:endParaRPr b="0" baseline="-2500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g36b927a0f4c_0_42"/>
          <p:cNvSpPr txBox="1"/>
          <p:nvPr/>
        </p:nvSpPr>
        <p:spPr>
          <a:xfrm>
            <a:off x="6727925" y="3726175"/>
            <a:ext cx="104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</a:t>
            </a:r>
            <a:endParaRPr b="0" baseline="-2500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2" name="Google Shape;652;g36b927a0f4c_0_42"/>
          <p:cNvCxnSpPr>
            <a:stCxn id="650" idx="1"/>
          </p:cNvCxnSpPr>
          <p:nvPr/>
        </p:nvCxnSpPr>
        <p:spPr>
          <a:xfrm flipH="1">
            <a:off x="2349275" y="3973100"/>
            <a:ext cx="726000" cy="23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3" name="Google Shape;653;g36b927a0f4c_0_42"/>
          <p:cNvCxnSpPr>
            <a:stCxn id="651" idx="1"/>
          </p:cNvCxnSpPr>
          <p:nvPr/>
        </p:nvCxnSpPr>
        <p:spPr>
          <a:xfrm flipH="1">
            <a:off x="5726225" y="3880075"/>
            <a:ext cx="1001700" cy="330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4" name="Google Shape;654;g36b927a0f4c_0_42"/>
          <p:cNvSpPr txBox="1"/>
          <p:nvPr/>
        </p:nvSpPr>
        <p:spPr>
          <a:xfrm>
            <a:off x="4848825" y="3460500"/>
            <a:ext cx="10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A0’   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g36b927a0f4c_0_42"/>
          <p:cNvSpPr txBox="1"/>
          <p:nvPr/>
        </p:nvSpPr>
        <p:spPr>
          <a:xfrm>
            <a:off x="4219075" y="3950513"/>
            <a:ext cx="449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A1’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b9506652f_0_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g36b9506652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6b9506652f_0_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" name="Google Shape;663;g36b9506652f_0_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4" name="Google Shape;664;g36b9506652f_0_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6b9506652f_0_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6b9506652f_0_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" name="Google Shape;667;g36b9506652f_0_5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g36b9506652f_0_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g36b9506652f_0_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g36b9506652f_0_5"/>
          <p:cNvSpPr txBox="1"/>
          <p:nvPr/>
        </p:nvSpPr>
        <p:spPr>
          <a:xfrm>
            <a:off x="547050" y="673725"/>
            <a:ext cx="38403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A1’A0 + A1A0 = A0 (A1’+A1) = A0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draw the circuit diagram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1" name="Google Shape;671;g36b9506652f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8075" y="1850450"/>
            <a:ext cx="5706649" cy="28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b9506652f_0_41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g36b9506652f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6b9506652f_0_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9" name="Google Shape;679;g36b9506652f_0_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0" name="Google Shape;680;g36b9506652f_0_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6b9506652f_0_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6b9506652f_0_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g36b9506652f_0_41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g36b9506652f_0_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g36b9506652f_0_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g36b9506652f_0_41"/>
          <p:cNvSpPr txBox="1"/>
          <p:nvPr/>
        </p:nvSpPr>
        <p:spPr>
          <a:xfrm>
            <a:off x="461850" y="590325"/>
            <a:ext cx="7865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Question: Design a 3-bit synchronous binary counter (using T FF).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87" name="Google Shape;687;g36b9506652f_0_41"/>
          <p:cNvGraphicFramePr/>
          <p:nvPr/>
        </p:nvGraphicFramePr>
        <p:xfrm>
          <a:off x="3336775" y="126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327000"/>
                <a:gridCol w="382850"/>
                <a:gridCol w="382850"/>
                <a:gridCol w="403900"/>
                <a:gridCol w="421050"/>
                <a:gridCol w="406550"/>
                <a:gridCol w="429000"/>
                <a:gridCol w="411950"/>
                <a:gridCol w="469375"/>
              </a:tblGrid>
              <a:tr h="5445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</a:tr>
              <a:tr h="33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5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5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7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7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7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3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5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8" name="Google Shape;688;g36b9506652f_0_41"/>
          <p:cNvGraphicFramePr/>
          <p:nvPr/>
        </p:nvGraphicFramePr>
        <p:xfrm>
          <a:off x="7386675" y="126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74500"/>
                <a:gridCol w="535375"/>
                <a:gridCol w="548500"/>
              </a:tblGrid>
              <a:tr h="23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n+1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D966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cxnSp>
        <p:nvCxnSpPr>
          <p:cNvPr id="689" name="Google Shape;689;g36b9506652f_0_41"/>
          <p:cNvCxnSpPr/>
          <p:nvPr/>
        </p:nvCxnSpPr>
        <p:spPr>
          <a:xfrm>
            <a:off x="415025" y="1515200"/>
            <a:ext cx="396000" cy="316800"/>
          </a:xfrm>
          <a:prstGeom prst="curvedConnector3">
            <a:avLst>
              <a:gd fmla="val 50000" name="adj1"/>
            </a:avLst>
          </a:prstGeom>
          <a:solidFill>
            <a:srgbClr val="CC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0" name="Google Shape;690;g36b9506652f_0_41"/>
          <p:cNvSpPr txBox="1"/>
          <p:nvPr/>
        </p:nvSpPr>
        <p:spPr>
          <a:xfrm>
            <a:off x="289150" y="1067000"/>
            <a:ext cx="2414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by drawing this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91" name="Google Shape;691;g36b9506652f_0_41"/>
          <p:cNvCxnSpPr/>
          <p:nvPr/>
        </p:nvCxnSpPr>
        <p:spPr>
          <a:xfrm>
            <a:off x="2410275" y="2549925"/>
            <a:ext cx="83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g36b9506652f_0_41"/>
          <p:cNvSpPr txBox="1"/>
          <p:nvPr/>
        </p:nvSpPr>
        <p:spPr>
          <a:xfrm>
            <a:off x="7168075" y="2571750"/>
            <a:ext cx="189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Excitation table of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Flip-Flop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g36b9506652f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50" y="1816752"/>
            <a:ext cx="1988825" cy="177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6b9506652f_0_8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g36b9506652f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g36b9506652f_0_8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1" name="Google Shape;701;g36b9506652f_0_8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2" name="Google Shape;702;g36b9506652f_0_8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6b9506652f_0_8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6b9506652f_0_8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g36b9506652f_0_80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Synchronous (Parallel)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6" name="Google Shape;706;g36b9506652f_0_8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7" name="Google Shape;707;g36b9506652f_0_8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g36b9506652f_0_80"/>
          <p:cNvSpPr txBox="1"/>
          <p:nvPr/>
        </p:nvSpPr>
        <p:spPr>
          <a:xfrm>
            <a:off x="281974" y="10390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A2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g36b9506652f_0_80"/>
          <p:cNvSpPr txBox="1"/>
          <p:nvPr/>
        </p:nvSpPr>
        <p:spPr>
          <a:xfrm>
            <a:off x="609265" y="731200"/>
            <a:ext cx="8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0" name="Google Shape;710;g36b9506652f_0_80"/>
          <p:cNvGraphicFramePr/>
          <p:nvPr/>
        </p:nvGraphicFramePr>
        <p:xfrm>
          <a:off x="1045475" y="141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435000"/>
                <a:gridCol w="495100"/>
                <a:gridCol w="420000"/>
                <a:gridCol w="421350"/>
              </a:tblGrid>
              <a:tr h="35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11" name="Google Shape;711;g36b9506652f_0_80"/>
          <p:cNvCxnSpPr/>
          <p:nvPr/>
        </p:nvCxnSpPr>
        <p:spPr>
          <a:xfrm rot="10800000">
            <a:off x="667479" y="103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g36b9506652f_0_80"/>
          <p:cNvSpPr txBox="1"/>
          <p:nvPr/>
        </p:nvSpPr>
        <p:spPr>
          <a:xfrm>
            <a:off x="609275" y="1417005"/>
            <a:ext cx="3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g36b9506652f_0_80"/>
          <p:cNvSpPr txBox="1"/>
          <p:nvPr/>
        </p:nvSpPr>
        <p:spPr>
          <a:xfrm>
            <a:off x="1032850" y="1109200"/>
            <a:ext cx="17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g36b9506652f_0_80"/>
          <p:cNvSpPr txBox="1"/>
          <p:nvPr/>
        </p:nvSpPr>
        <p:spPr>
          <a:xfrm>
            <a:off x="3394687" y="9969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A2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g36b9506652f_0_80"/>
          <p:cNvSpPr txBox="1"/>
          <p:nvPr/>
        </p:nvSpPr>
        <p:spPr>
          <a:xfrm>
            <a:off x="3721978" y="689175"/>
            <a:ext cx="8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6" name="Google Shape;716;g36b9506652f_0_80"/>
          <p:cNvGraphicFramePr/>
          <p:nvPr/>
        </p:nvGraphicFramePr>
        <p:xfrm>
          <a:off x="4158187" y="137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435000"/>
                <a:gridCol w="495100"/>
                <a:gridCol w="420000"/>
                <a:gridCol w="421350"/>
              </a:tblGrid>
              <a:tr h="35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17" name="Google Shape;717;g36b9506652f_0_80"/>
          <p:cNvCxnSpPr/>
          <p:nvPr/>
        </p:nvCxnSpPr>
        <p:spPr>
          <a:xfrm rot="10800000">
            <a:off x="3780192" y="9969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8" name="Google Shape;718;g36b9506652f_0_80"/>
          <p:cNvSpPr txBox="1"/>
          <p:nvPr/>
        </p:nvSpPr>
        <p:spPr>
          <a:xfrm>
            <a:off x="3721988" y="1374980"/>
            <a:ext cx="3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g36b9506652f_0_80"/>
          <p:cNvSpPr txBox="1"/>
          <p:nvPr/>
        </p:nvSpPr>
        <p:spPr>
          <a:xfrm>
            <a:off x="4145563" y="1067175"/>
            <a:ext cx="17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g36b9506652f_0_80"/>
          <p:cNvSpPr txBox="1"/>
          <p:nvPr/>
        </p:nvSpPr>
        <p:spPr>
          <a:xfrm>
            <a:off x="6342199" y="9969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A2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g36b9506652f_0_80"/>
          <p:cNvSpPr txBox="1"/>
          <p:nvPr/>
        </p:nvSpPr>
        <p:spPr>
          <a:xfrm>
            <a:off x="6669490" y="689175"/>
            <a:ext cx="8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A1A0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22" name="Google Shape;722;g36b9506652f_0_80"/>
          <p:cNvGraphicFramePr/>
          <p:nvPr/>
        </p:nvGraphicFramePr>
        <p:xfrm>
          <a:off x="7105699" y="137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435000"/>
                <a:gridCol w="495100"/>
                <a:gridCol w="420000"/>
                <a:gridCol w="421350"/>
              </a:tblGrid>
              <a:tr h="35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23" name="Google Shape;723;g36b9506652f_0_80"/>
          <p:cNvCxnSpPr/>
          <p:nvPr/>
        </p:nvCxnSpPr>
        <p:spPr>
          <a:xfrm rot="10800000">
            <a:off x="6727704" y="9969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g36b9506652f_0_80"/>
          <p:cNvSpPr txBox="1"/>
          <p:nvPr/>
        </p:nvSpPr>
        <p:spPr>
          <a:xfrm>
            <a:off x="6669500" y="1374980"/>
            <a:ext cx="3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4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g36b9506652f_0_80"/>
          <p:cNvSpPr txBox="1"/>
          <p:nvPr/>
        </p:nvSpPr>
        <p:spPr>
          <a:xfrm>
            <a:off x="7093075" y="1067175"/>
            <a:ext cx="17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g36b9506652f_0_80"/>
          <p:cNvSpPr txBox="1"/>
          <p:nvPr/>
        </p:nvSpPr>
        <p:spPr>
          <a:xfrm>
            <a:off x="2017575" y="1487325"/>
            <a:ext cx="315600" cy="514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6b9506652f_0_80"/>
          <p:cNvSpPr txBox="1"/>
          <p:nvPr/>
        </p:nvSpPr>
        <p:spPr>
          <a:xfrm>
            <a:off x="4700400" y="1428213"/>
            <a:ext cx="765900" cy="514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6b9506652f_0_80"/>
          <p:cNvSpPr txBox="1"/>
          <p:nvPr/>
        </p:nvSpPr>
        <p:spPr>
          <a:xfrm>
            <a:off x="7165525" y="1445175"/>
            <a:ext cx="1642200" cy="514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6b9506652f_0_80"/>
          <p:cNvSpPr txBox="1"/>
          <p:nvPr/>
        </p:nvSpPr>
        <p:spPr>
          <a:xfrm>
            <a:off x="1092950" y="2155900"/>
            <a:ext cx="1302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baseline="-2500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g36b9506652f_0_80"/>
          <p:cNvSpPr txBox="1"/>
          <p:nvPr/>
        </p:nvSpPr>
        <p:spPr>
          <a:xfrm>
            <a:off x="4205675" y="2113875"/>
            <a:ext cx="1302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baseline="-2500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g36b9506652f_0_80"/>
          <p:cNvSpPr txBox="1"/>
          <p:nvPr/>
        </p:nvSpPr>
        <p:spPr>
          <a:xfrm>
            <a:off x="7165525" y="2113875"/>
            <a:ext cx="1302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</a:t>
            </a:r>
            <a:endParaRPr b="0" baseline="-2500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g36b9506652f_0_80"/>
          <p:cNvSpPr txBox="1"/>
          <p:nvPr/>
        </p:nvSpPr>
        <p:spPr>
          <a:xfrm>
            <a:off x="668275" y="3221250"/>
            <a:ext cx="19374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3" name="Google Shape;733;g36b9506652f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5350" y="2491875"/>
            <a:ext cx="5645599" cy="243136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b9506652f_0_133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9" name="Google Shape;739;g36b9506652f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36b9506652f_0_1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1" name="Google Shape;741;g36b9506652f_0_1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2" name="Google Shape;742;g36b9506652f_0_1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6b9506652f_0_1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36b9506652f_0_1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5" name="Google Shape;745;g36b9506652f_0_133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Self Study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6" name="Google Shape;746;g36b9506652f_0_1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g36b9506652f_0_1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g36b9506652f_0_133"/>
          <p:cNvSpPr txBox="1"/>
          <p:nvPr/>
        </p:nvSpPr>
        <p:spPr>
          <a:xfrm>
            <a:off x="492225" y="1127775"/>
            <a:ext cx="4343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Equations and diagram will look like the following: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	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	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	TA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g36b9506652f_0_133"/>
          <p:cNvSpPr txBox="1"/>
          <p:nvPr/>
        </p:nvSpPr>
        <p:spPr>
          <a:xfrm>
            <a:off x="461850" y="610300"/>
            <a:ext cx="70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Synchronous up counter (Try it Yourself)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g36b9506652f_0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700" y="2315350"/>
            <a:ext cx="7701750" cy="25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b9506652f_0_17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6" name="Google Shape;756;g36b9506652f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6b9506652f_0_17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g36b9506652f_0_17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9" name="Google Shape;759;g36b9506652f_0_17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6b9506652f_0_17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6b9506652f_0_17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2" name="Google Shape;762;g36b9506652f_0_174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Up/Down Synchronous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g36b9506652f_0_17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g36b9506652f_0_17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5" name="Google Shape;765;g36b9506652f_0_174"/>
          <p:cNvSpPr txBox="1"/>
          <p:nvPr/>
        </p:nvSpPr>
        <p:spPr>
          <a:xfrm>
            <a:off x="416800" y="590325"/>
            <a:ext cx="70056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Up/down synchronous counter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a bidirectional counter that is capable of counting either up or down.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input (control) line Up/Down (or simply Up) specifies the direction of counting.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Up/Down = 0 → Count upward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Up/Down = 1 → Count downward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b9506652f_0_190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1" name="Google Shape;771;g36b9506652f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g36b9506652f_0_19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3" name="Google Shape;773;g36b9506652f_0_19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4" name="Google Shape;774;g36b9506652f_0_19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6b9506652f_0_19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36b9506652f_0_19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g36b9506652f_0_190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3- bit Up/Down Synchronous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g36b9506652f_0_19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g36b9506652f_0_19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0" name="Google Shape;780;g36b9506652f_0_190"/>
          <p:cNvGraphicFramePr/>
          <p:nvPr/>
        </p:nvGraphicFramePr>
        <p:xfrm>
          <a:off x="141525" y="6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60450"/>
                <a:gridCol w="417125"/>
                <a:gridCol w="390525"/>
                <a:gridCol w="442925"/>
                <a:gridCol w="411600"/>
                <a:gridCol w="427175"/>
                <a:gridCol w="457950"/>
                <a:gridCol w="492700"/>
                <a:gridCol w="429925"/>
                <a:gridCol w="500100"/>
              </a:tblGrid>
              <a:tr h="26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U/D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</a:tr>
              <a:tr h="23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pic>
        <p:nvPicPr>
          <p:cNvPr id="781" name="Google Shape;781;g36b9506652f_0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9050" y="590325"/>
            <a:ext cx="2119404" cy="2043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2" name="Google Shape;782;g36b9506652f_0_190"/>
          <p:cNvGraphicFramePr/>
          <p:nvPr/>
        </p:nvGraphicFramePr>
        <p:xfrm>
          <a:off x="5326800" y="272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27925"/>
                <a:gridCol w="601825"/>
                <a:gridCol w="533850"/>
              </a:tblGrid>
              <a:tr h="23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n+1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D966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783" name="Google Shape;783;g36b9506652f_0_190"/>
          <p:cNvSpPr txBox="1"/>
          <p:nvPr/>
        </p:nvSpPr>
        <p:spPr>
          <a:xfrm>
            <a:off x="7121550" y="2879100"/>
            <a:ext cx="189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Excitation table of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Flip-Flop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g36b9506652f_0_190"/>
          <p:cNvSpPr txBox="1"/>
          <p:nvPr/>
        </p:nvSpPr>
        <p:spPr>
          <a:xfrm>
            <a:off x="5249050" y="4178988"/>
            <a:ext cx="2770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Reference Video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6b9506652f_0_209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g36b9506652f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g36b9506652f_0_20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2" name="Google Shape;792;g36b9506652f_0_20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3" name="Google Shape;793;g36b9506652f_0_20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6b9506652f_0_20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6b9506652f_0_20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6" name="Google Shape;796;g36b9506652f_0_209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3- bit Up/Down Synchronous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g36b9506652f_0_20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g36b9506652f_0_20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99" name="Google Shape;799;g36b9506652f_0_209"/>
          <p:cNvGraphicFramePr/>
          <p:nvPr/>
        </p:nvGraphicFramePr>
        <p:xfrm>
          <a:off x="141525" y="6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37950"/>
                <a:gridCol w="334500"/>
                <a:gridCol w="382850"/>
                <a:gridCol w="382850"/>
                <a:gridCol w="357050"/>
                <a:gridCol w="382850"/>
                <a:gridCol w="382850"/>
                <a:gridCol w="398550"/>
                <a:gridCol w="382850"/>
                <a:gridCol w="442900"/>
              </a:tblGrid>
              <a:tr h="26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U/D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</a:tr>
              <a:tr h="23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TQ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800" name="Google Shape;800;g36b9506652f_0_209"/>
          <p:cNvSpPr txBox="1"/>
          <p:nvPr/>
        </p:nvSpPr>
        <p:spPr>
          <a:xfrm>
            <a:off x="6702900" y="3943475"/>
            <a:ext cx="2222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Reference Video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g36b9506652f_0_209"/>
          <p:cNvSpPr txBox="1"/>
          <p:nvPr/>
        </p:nvSpPr>
        <p:spPr>
          <a:xfrm>
            <a:off x="4101750" y="942275"/>
            <a:ext cx="56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2" name="Google Shape;802;g36b9506652f_0_209"/>
          <p:cNvGraphicFramePr/>
          <p:nvPr/>
        </p:nvGraphicFramePr>
        <p:xfrm>
          <a:off x="4737175" y="121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353500"/>
                <a:gridCol w="366900"/>
                <a:gridCol w="367125"/>
                <a:gridCol w="342650"/>
              </a:tblGrid>
              <a:tr h="2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03" name="Google Shape;803;g36b9506652f_0_209"/>
          <p:cNvCxnSpPr/>
          <p:nvPr/>
        </p:nvCxnSpPr>
        <p:spPr>
          <a:xfrm rot="10800000">
            <a:off x="4359179" y="838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g36b9506652f_0_209"/>
          <p:cNvSpPr txBox="1"/>
          <p:nvPr/>
        </p:nvSpPr>
        <p:spPr>
          <a:xfrm>
            <a:off x="4359166" y="680800"/>
            <a:ext cx="83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g36b9506652f_0_209"/>
          <p:cNvSpPr txBox="1"/>
          <p:nvPr/>
        </p:nvSpPr>
        <p:spPr>
          <a:xfrm>
            <a:off x="4737175" y="957725"/>
            <a:ext cx="152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00    01     11    10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g36b9506652f_0_209"/>
          <p:cNvSpPr txBox="1"/>
          <p:nvPr/>
        </p:nvSpPr>
        <p:spPr>
          <a:xfrm>
            <a:off x="4420370" y="1271600"/>
            <a:ext cx="37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g36b9506652f_0_209"/>
          <p:cNvSpPr txBox="1"/>
          <p:nvPr/>
        </p:nvSpPr>
        <p:spPr>
          <a:xfrm>
            <a:off x="6611900" y="942275"/>
            <a:ext cx="56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8" name="Google Shape;808;g36b9506652f_0_209"/>
          <p:cNvGraphicFramePr/>
          <p:nvPr/>
        </p:nvGraphicFramePr>
        <p:xfrm>
          <a:off x="7247325" y="121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353500"/>
                <a:gridCol w="366900"/>
                <a:gridCol w="367125"/>
                <a:gridCol w="342650"/>
              </a:tblGrid>
              <a:tr h="2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09" name="Google Shape;809;g36b9506652f_0_209"/>
          <p:cNvCxnSpPr/>
          <p:nvPr/>
        </p:nvCxnSpPr>
        <p:spPr>
          <a:xfrm rot="10800000">
            <a:off x="6869329" y="838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g36b9506652f_0_209"/>
          <p:cNvSpPr txBox="1"/>
          <p:nvPr/>
        </p:nvSpPr>
        <p:spPr>
          <a:xfrm>
            <a:off x="6869316" y="680800"/>
            <a:ext cx="83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g36b9506652f_0_209"/>
          <p:cNvSpPr txBox="1"/>
          <p:nvPr/>
        </p:nvSpPr>
        <p:spPr>
          <a:xfrm>
            <a:off x="7247325" y="957725"/>
            <a:ext cx="152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00    01     11    10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g36b9506652f_0_209"/>
          <p:cNvSpPr txBox="1"/>
          <p:nvPr/>
        </p:nvSpPr>
        <p:spPr>
          <a:xfrm>
            <a:off x="6930520" y="1271600"/>
            <a:ext cx="37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g36b9506652f_0_209"/>
          <p:cNvSpPr txBox="1"/>
          <p:nvPr/>
        </p:nvSpPr>
        <p:spPr>
          <a:xfrm>
            <a:off x="4101762" y="2986200"/>
            <a:ext cx="56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14" name="Google Shape;814;g36b9506652f_0_209"/>
          <p:cNvGraphicFramePr/>
          <p:nvPr/>
        </p:nvGraphicFramePr>
        <p:xfrm>
          <a:off x="4737188" y="32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353500"/>
                <a:gridCol w="366900"/>
                <a:gridCol w="367125"/>
                <a:gridCol w="342650"/>
              </a:tblGrid>
              <a:tr h="2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3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15" name="Google Shape;815;g36b9506652f_0_209"/>
          <p:cNvCxnSpPr/>
          <p:nvPr/>
        </p:nvCxnSpPr>
        <p:spPr>
          <a:xfrm rot="10800000">
            <a:off x="4359192" y="28826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g36b9506652f_0_209"/>
          <p:cNvSpPr txBox="1"/>
          <p:nvPr/>
        </p:nvSpPr>
        <p:spPr>
          <a:xfrm>
            <a:off x="4359179" y="2724725"/>
            <a:ext cx="83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baseline="-2500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g36b9506652f_0_209"/>
          <p:cNvSpPr txBox="1"/>
          <p:nvPr/>
        </p:nvSpPr>
        <p:spPr>
          <a:xfrm>
            <a:off x="4737187" y="3001650"/>
            <a:ext cx="152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00    01     11    10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g36b9506652f_0_209"/>
          <p:cNvSpPr txBox="1"/>
          <p:nvPr/>
        </p:nvSpPr>
        <p:spPr>
          <a:xfrm>
            <a:off x="4420382" y="3315525"/>
            <a:ext cx="37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g36b9506652f_0_209"/>
          <p:cNvSpPr/>
          <p:nvPr/>
        </p:nvSpPr>
        <p:spPr>
          <a:xfrm>
            <a:off x="4798375" y="1789100"/>
            <a:ext cx="231600" cy="4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6b9506652f_0_209"/>
          <p:cNvSpPr/>
          <p:nvPr/>
        </p:nvSpPr>
        <p:spPr>
          <a:xfrm>
            <a:off x="5521225" y="1223375"/>
            <a:ext cx="231600" cy="4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6b9506652f_0_209"/>
          <p:cNvSpPr/>
          <p:nvPr/>
        </p:nvSpPr>
        <p:spPr>
          <a:xfrm>
            <a:off x="7665563" y="1247525"/>
            <a:ext cx="593700" cy="440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36b9506652f_0_209"/>
          <p:cNvSpPr/>
          <p:nvPr/>
        </p:nvSpPr>
        <p:spPr>
          <a:xfrm>
            <a:off x="7276700" y="1789100"/>
            <a:ext cx="277800" cy="440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6b9506652f_0_209"/>
          <p:cNvSpPr/>
          <p:nvPr/>
        </p:nvSpPr>
        <p:spPr>
          <a:xfrm flipH="1">
            <a:off x="8399700" y="1789100"/>
            <a:ext cx="277800" cy="440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6b9506652f_0_209"/>
          <p:cNvSpPr/>
          <p:nvPr/>
        </p:nvSpPr>
        <p:spPr>
          <a:xfrm>
            <a:off x="4798375" y="3278550"/>
            <a:ext cx="1334700" cy="959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6b9506652f_0_209"/>
          <p:cNvSpPr txBox="1"/>
          <p:nvPr/>
        </p:nvSpPr>
        <p:spPr>
          <a:xfrm>
            <a:off x="4750550" y="2420875"/>
            <a:ext cx="203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=M’Q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MQ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’Q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g36b9506652f_0_209"/>
          <p:cNvSpPr txBox="1"/>
          <p:nvPr/>
        </p:nvSpPr>
        <p:spPr>
          <a:xfrm>
            <a:off x="7109100" y="2450600"/>
            <a:ext cx="181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=M’Q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MQ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g36b9506652f_0_209"/>
          <p:cNvSpPr txBox="1"/>
          <p:nvPr/>
        </p:nvSpPr>
        <p:spPr>
          <a:xfrm>
            <a:off x="4662150" y="4419075"/>
            <a:ext cx="143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TQ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6b9506652f_0_267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3" name="Google Shape;833;g36b9506652f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36b9506652f_0_26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5" name="Google Shape;835;g36b9506652f_0_26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36" name="Google Shape;836;g36b9506652f_0_26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g36b9506652f_0_26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g36b9506652f_0_26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9" name="Google Shape;839;g36b9506652f_0_267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3- bit Up/Down Synchronous Counters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g36b9506652f_0_26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g36b9506652f_0_26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g36b9506652f_0_267"/>
          <p:cNvSpPr txBox="1"/>
          <p:nvPr/>
        </p:nvSpPr>
        <p:spPr>
          <a:xfrm>
            <a:off x="6589325" y="4417800"/>
            <a:ext cx="2139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Reference Video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g36b9506652f_0_267"/>
          <p:cNvSpPr txBox="1"/>
          <p:nvPr/>
        </p:nvSpPr>
        <p:spPr>
          <a:xfrm>
            <a:off x="328350" y="541200"/>
            <a:ext cx="8179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diagram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(The number of present state will be equal to the number of flip-flops in the circuit)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g36b9506652f_0_2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400" y="1608351"/>
            <a:ext cx="7283702" cy="311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6b9506652f_0_288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0" name="Google Shape;850;g36b9506652f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g36b9506652f_0_28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2" name="Google Shape;852;g36b9506652f_0_28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3" name="Google Shape;853;g36b9506652f_0_28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36b9506652f_0_28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36b9506652f_0_28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6" name="Google Shape;856;g36b9506652f_0_288"/>
          <p:cNvSpPr txBox="1"/>
          <p:nvPr/>
        </p:nvSpPr>
        <p:spPr>
          <a:xfrm>
            <a:off x="1220700" y="1873600"/>
            <a:ext cx="670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Problems using Counters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g36b9506652f_0_28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g36b9506652f_0_28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9" name="Google Shape;859;g36b9506652f_0_288"/>
          <p:cNvCxnSpPr/>
          <p:nvPr/>
        </p:nvCxnSpPr>
        <p:spPr>
          <a:xfrm>
            <a:off x="500575" y="3395625"/>
            <a:ext cx="80571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b9506652f_0_30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g36b9506652f_0_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g36b9506652f_0_30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7" name="Google Shape;867;g36b9506652f_0_30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68" name="Google Shape;868;g36b9506652f_0_30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6b9506652f_0_30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6b9506652f_0_30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" name="Google Shape;871;g36b9506652f_0_305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- 1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g36b9506652f_0_30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g36b9506652f_0_30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g36b9506652f_0_305"/>
          <p:cNvSpPr txBox="1"/>
          <p:nvPr/>
        </p:nvSpPr>
        <p:spPr>
          <a:xfrm>
            <a:off x="498200" y="610300"/>
            <a:ext cx="7936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Implement the following counter using T FF: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27432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1—&gt;2—&gt;3—&gt;5—&gt;7—&gt;11—&gt;13—&gt;1</a:t>
            </a:r>
            <a:endParaRPr b="0" i="0" sz="18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5" name="Google Shape;875;g36b9506652f_0_3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5287" y="1564600"/>
            <a:ext cx="3502034" cy="3202802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g36b9506652f_0_305"/>
          <p:cNvSpPr txBox="1"/>
          <p:nvPr/>
        </p:nvSpPr>
        <p:spPr>
          <a:xfrm>
            <a:off x="328350" y="1515675"/>
            <a:ext cx="2546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by drawing this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g36b9506652f_0_3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77" y="2041975"/>
            <a:ext cx="939294" cy="98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6b9506652f_0_333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3" name="Google Shape;883;g36b9506652f_0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6b9506652f_0_3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Google Shape;885;g36b9506652f_0_3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6" name="Google Shape;886;g36b9506652f_0_3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6b9506652f_0_3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6b9506652f_0_3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9" name="Google Shape;889;g36b9506652f_0_333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- 1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g36b9506652f_0_3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g36b9506652f_0_3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2" name="Google Shape;892;g36b9506652f_0_333"/>
          <p:cNvGraphicFramePr/>
          <p:nvPr/>
        </p:nvGraphicFramePr>
        <p:xfrm>
          <a:off x="141525" y="6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386000"/>
                <a:gridCol w="393850"/>
                <a:gridCol w="386525"/>
                <a:gridCol w="386525"/>
                <a:gridCol w="360450"/>
                <a:gridCol w="360450"/>
                <a:gridCol w="386525"/>
                <a:gridCol w="386525"/>
                <a:gridCol w="402350"/>
                <a:gridCol w="402350"/>
                <a:gridCol w="386525"/>
                <a:gridCol w="447150"/>
              </a:tblGrid>
              <a:tr h="2614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</a:tr>
              <a:tr h="23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b="1" baseline="30000" lang="en" sz="1100" u="none" cap="none" strike="noStrike">
                          <a:solidFill>
                            <a:srgbClr val="BF9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BF9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3" name="Google Shape;893;g36b9506652f_0_333"/>
          <p:cNvGraphicFramePr/>
          <p:nvPr/>
        </p:nvGraphicFramePr>
        <p:xfrm>
          <a:off x="6197400" y="821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514575"/>
                <a:gridCol w="586600"/>
                <a:gridCol w="520350"/>
              </a:tblGrid>
              <a:tr h="29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n+1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D966"/>
                    </a:solidFill>
                  </a:tcPr>
                </a:tc>
              </a:tr>
              <a:tr h="27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7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27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7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894" name="Google Shape;894;g36b9506652f_0_333"/>
          <p:cNvSpPr txBox="1"/>
          <p:nvPr/>
        </p:nvSpPr>
        <p:spPr>
          <a:xfrm>
            <a:off x="4989125" y="2470000"/>
            <a:ext cx="4032000" cy="20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present states not mentioned in the question, next state will be the </a:t>
            </a:r>
            <a:r>
              <a:rPr b="0" i="0" lang="en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INITIAL STATE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[0001 in this question]. 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b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It’s important to show the states that are not mentioned in the question. Otherwise, the circuit will stop working if any of those states show up.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6b9506652f_0_35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0" name="Google Shape;900;g36b9506652f_0_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g36b9506652f_0_3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g36b9506652f_0_3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03" name="Google Shape;903;g36b9506652f_0_3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36b9506652f_0_3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6b9506652f_0_3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6" name="Google Shape;906;g36b9506652f_0_354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- 1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g36b9506652f_0_3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g36b9506652f_0_3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9" name="Google Shape;909;g36b9506652f_0_354"/>
          <p:cNvGraphicFramePr/>
          <p:nvPr/>
        </p:nvGraphicFramePr>
        <p:xfrm>
          <a:off x="141525" y="6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386000"/>
                <a:gridCol w="393850"/>
                <a:gridCol w="386525"/>
                <a:gridCol w="386525"/>
                <a:gridCol w="360450"/>
                <a:gridCol w="360450"/>
                <a:gridCol w="386525"/>
                <a:gridCol w="386525"/>
                <a:gridCol w="402350"/>
                <a:gridCol w="402350"/>
                <a:gridCol w="386525"/>
                <a:gridCol w="447150"/>
              </a:tblGrid>
              <a:tr h="2614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</a:tr>
              <a:tr h="23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b="1" baseline="30000" lang="en" sz="1100" u="none" cap="none" strike="noStrike">
                          <a:solidFill>
                            <a:srgbClr val="BF9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BF9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910" name="Google Shape;910;g36b9506652f_0_354"/>
          <p:cNvSpPr txBox="1"/>
          <p:nvPr/>
        </p:nvSpPr>
        <p:spPr>
          <a:xfrm>
            <a:off x="5169050" y="450200"/>
            <a:ext cx="77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1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1" name="Google Shape;911;g36b9506652f_0_354"/>
          <p:cNvGraphicFramePr/>
          <p:nvPr/>
        </p:nvGraphicFramePr>
        <p:xfrm>
          <a:off x="5896850" y="79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607050"/>
                <a:gridCol w="607050"/>
                <a:gridCol w="607050"/>
                <a:gridCol w="607050"/>
              </a:tblGrid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12" name="Google Shape;912;g36b9506652f_0_354"/>
          <p:cNvCxnSpPr/>
          <p:nvPr/>
        </p:nvCxnSpPr>
        <p:spPr>
          <a:xfrm rot="10800000">
            <a:off x="5508225" y="407000"/>
            <a:ext cx="386100" cy="37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3" name="Google Shape;913;g36b9506652f_0_354"/>
          <p:cNvSpPr txBox="1"/>
          <p:nvPr/>
        </p:nvSpPr>
        <p:spPr>
          <a:xfrm>
            <a:off x="5550337" y="273750"/>
            <a:ext cx="100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1" baseline="-2500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g36b9506652f_0_354"/>
          <p:cNvSpPr txBox="1"/>
          <p:nvPr/>
        </p:nvSpPr>
        <p:spPr>
          <a:xfrm>
            <a:off x="5896850" y="454825"/>
            <a:ext cx="273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g36b9506652f_0_354"/>
          <p:cNvSpPr txBox="1"/>
          <p:nvPr/>
        </p:nvSpPr>
        <p:spPr>
          <a:xfrm>
            <a:off x="5223350" y="789813"/>
            <a:ext cx="6651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g36b9506652f_0_354"/>
          <p:cNvSpPr txBox="1"/>
          <p:nvPr/>
        </p:nvSpPr>
        <p:spPr>
          <a:xfrm>
            <a:off x="5062200" y="2744250"/>
            <a:ext cx="77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1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7" name="Google Shape;917;g36b9506652f_0_354"/>
          <p:cNvGraphicFramePr/>
          <p:nvPr/>
        </p:nvGraphicFramePr>
        <p:xfrm>
          <a:off x="5832100" y="308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582500"/>
                <a:gridCol w="582500"/>
                <a:gridCol w="582500"/>
                <a:gridCol w="582500"/>
              </a:tblGrid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18" name="Google Shape;918;g36b9506652f_0_354"/>
          <p:cNvCxnSpPr/>
          <p:nvPr/>
        </p:nvCxnSpPr>
        <p:spPr>
          <a:xfrm rot="10800000">
            <a:off x="5443475" y="2701050"/>
            <a:ext cx="386100" cy="37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g36b9506652f_0_354"/>
          <p:cNvSpPr txBox="1"/>
          <p:nvPr/>
        </p:nvSpPr>
        <p:spPr>
          <a:xfrm>
            <a:off x="5401387" y="2481925"/>
            <a:ext cx="100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1" baseline="-2500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g36b9506652f_0_354"/>
          <p:cNvSpPr txBox="1"/>
          <p:nvPr/>
        </p:nvSpPr>
        <p:spPr>
          <a:xfrm>
            <a:off x="5832100" y="2748875"/>
            <a:ext cx="273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g36b9506652f_0_354"/>
          <p:cNvSpPr txBox="1"/>
          <p:nvPr/>
        </p:nvSpPr>
        <p:spPr>
          <a:xfrm>
            <a:off x="5223350" y="3149475"/>
            <a:ext cx="5604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g36b9506652f_0_354"/>
          <p:cNvSpPr txBox="1"/>
          <p:nvPr/>
        </p:nvSpPr>
        <p:spPr>
          <a:xfrm>
            <a:off x="5550850" y="2178550"/>
            <a:ext cx="32934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0" i="0" lang="en" sz="13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0" i="0" sz="1300" u="none" cap="none" strike="noStrike">
              <a:solidFill>
                <a:srgbClr val="FF99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g36b9506652f_0_354"/>
          <p:cNvSpPr txBox="1"/>
          <p:nvPr/>
        </p:nvSpPr>
        <p:spPr>
          <a:xfrm>
            <a:off x="5697200" y="4475105"/>
            <a:ext cx="3130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0" i="0" lang="en" sz="13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0" i="0" sz="1300" u="none" cap="none" strike="noStrike">
              <a:solidFill>
                <a:srgbClr val="00FF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g36b9506652f_0_354"/>
          <p:cNvSpPr/>
          <p:nvPr/>
        </p:nvSpPr>
        <p:spPr>
          <a:xfrm>
            <a:off x="7276225" y="1140825"/>
            <a:ext cx="277800" cy="554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6b9506652f_0_354"/>
          <p:cNvSpPr/>
          <p:nvPr/>
        </p:nvSpPr>
        <p:spPr>
          <a:xfrm>
            <a:off x="5939950" y="1401600"/>
            <a:ext cx="351000" cy="6774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6b9506652f_0_354"/>
          <p:cNvSpPr/>
          <p:nvPr/>
        </p:nvSpPr>
        <p:spPr>
          <a:xfrm flipH="1">
            <a:off x="7909325" y="1401600"/>
            <a:ext cx="351000" cy="6774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6b9506652f_0_354"/>
          <p:cNvSpPr/>
          <p:nvPr/>
        </p:nvSpPr>
        <p:spPr>
          <a:xfrm>
            <a:off x="6048700" y="1494625"/>
            <a:ext cx="919200" cy="470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6b9506652f_0_354"/>
          <p:cNvSpPr/>
          <p:nvPr/>
        </p:nvSpPr>
        <p:spPr>
          <a:xfrm>
            <a:off x="7154950" y="3117650"/>
            <a:ext cx="277800" cy="124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6b9506652f_0_354"/>
          <p:cNvSpPr/>
          <p:nvPr/>
        </p:nvSpPr>
        <p:spPr>
          <a:xfrm>
            <a:off x="5978525" y="3809925"/>
            <a:ext cx="2105100" cy="203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6b9506652f_0_354"/>
          <p:cNvSpPr/>
          <p:nvPr/>
        </p:nvSpPr>
        <p:spPr>
          <a:xfrm>
            <a:off x="5887300" y="3445375"/>
            <a:ext cx="403800" cy="5682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6b9506652f_0_354"/>
          <p:cNvSpPr/>
          <p:nvPr/>
        </p:nvSpPr>
        <p:spPr>
          <a:xfrm flipH="1">
            <a:off x="7679825" y="3445375"/>
            <a:ext cx="403800" cy="5682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6b9506652f_0_405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7" name="Google Shape;937;g36b9506652f_0_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g36b9506652f_0_40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9" name="Google Shape;939;g36b9506652f_0_40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0" name="Google Shape;940;g36b9506652f_0_40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6b9506652f_0_40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6b9506652f_0_40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3" name="Google Shape;943;g36b9506652f_0_405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- 1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g36b9506652f_0_40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g36b9506652f_0_40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6" name="Google Shape;946;g36b9506652f_0_405"/>
          <p:cNvGraphicFramePr/>
          <p:nvPr/>
        </p:nvGraphicFramePr>
        <p:xfrm>
          <a:off x="141525" y="6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386000"/>
                <a:gridCol w="393850"/>
                <a:gridCol w="386525"/>
                <a:gridCol w="386525"/>
                <a:gridCol w="360450"/>
                <a:gridCol w="360450"/>
                <a:gridCol w="386525"/>
                <a:gridCol w="386525"/>
                <a:gridCol w="402350"/>
                <a:gridCol w="402350"/>
                <a:gridCol w="386525"/>
                <a:gridCol w="447150"/>
              </a:tblGrid>
              <a:tr h="2614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</a:tr>
              <a:tr h="23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baseline="-25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b="1" baseline="30000" lang="en" sz="1100" u="none" cap="none" strike="noStrike">
                          <a:solidFill>
                            <a:srgbClr val="BF9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BF9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baseline="30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7F6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100" u="none" cap="none" strike="noStrike">
                        <a:solidFill>
                          <a:srgbClr val="7F6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 u="none" cap="none" strike="noStrike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</a:t>
                      </a:r>
                      <a:r>
                        <a:rPr b="1" baseline="-25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947" name="Google Shape;947;g36b9506652f_0_405"/>
          <p:cNvSpPr txBox="1"/>
          <p:nvPr/>
        </p:nvSpPr>
        <p:spPr>
          <a:xfrm>
            <a:off x="5169050" y="450200"/>
            <a:ext cx="77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1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8" name="Google Shape;948;g36b9506652f_0_405"/>
          <p:cNvGraphicFramePr/>
          <p:nvPr/>
        </p:nvGraphicFramePr>
        <p:xfrm>
          <a:off x="5896850" y="79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607050"/>
                <a:gridCol w="607050"/>
                <a:gridCol w="607050"/>
                <a:gridCol w="607050"/>
              </a:tblGrid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49" name="Google Shape;949;g36b9506652f_0_405"/>
          <p:cNvCxnSpPr/>
          <p:nvPr/>
        </p:nvCxnSpPr>
        <p:spPr>
          <a:xfrm rot="10800000">
            <a:off x="5508225" y="407000"/>
            <a:ext cx="386100" cy="37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0" name="Google Shape;950;g36b9506652f_0_405"/>
          <p:cNvSpPr txBox="1"/>
          <p:nvPr/>
        </p:nvSpPr>
        <p:spPr>
          <a:xfrm>
            <a:off x="5550337" y="273750"/>
            <a:ext cx="100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1" baseline="-2500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g36b9506652f_0_405"/>
          <p:cNvSpPr txBox="1"/>
          <p:nvPr/>
        </p:nvSpPr>
        <p:spPr>
          <a:xfrm>
            <a:off x="5896850" y="454825"/>
            <a:ext cx="273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g36b9506652f_0_405"/>
          <p:cNvSpPr txBox="1"/>
          <p:nvPr/>
        </p:nvSpPr>
        <p:spPr>
          <a:xfrm>
            <a:off x="5223350" y="789813"/>
            <a:ext cx="6651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g36b9506652f_0_405"/>
          <p:cNvSpPr txBox="1"/>
          <p:nvPr/>
        </p:nvSpPr>
        <p:spPr>
          <a:xfrm>
            <a:off x="5062200" y="2744250"/>
            <a:ext cx="77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1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4" name="Google Shape;954;g36b9506652f_0_405"/>
          <p:cNvGraphicFramePr/>
          <p:nvPr/>
        </p:nvGraphicFramePr>
        <p:xfrm>
          <a:off x="5832100" y="308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{9B28CFB3-9273-45AF-B9FC-13B583136839}</a:tableStyleId>
              </a:tblPr>
              <a:tblGrid>
                <a:gridCol w="582500"/>
                <a:gridCol w="582500"/>
                <a:gridCol w="582500"/>
                <a:gridCol w="582500"/>
              </a:tblGrid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55" name="Google Shape;955;g36b9506652f_0_405"/>
          <p:cNvCxnSpPr/>
          <p:nvPr/>
        </p:nvCxnSpPr>
        <p:spPr>
          <a:xfrm rot="10800000">
            <a:off x="5443475" y="2701050"/>
            <a:ext cx="386100" cy="37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6" name="Google Shape;956;g36b9506652f_0_405"/>
          <p:cNvSpPr txBox="1"/>
          <p:nvPr/>
        </p:nvSpPr>
        <p:spPr>
          <a:xfrm>
            <a:off x="5401387" y="2481925"/>
            <a:ext cx="100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3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1" baseline="-2500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g36b9506652f_0_405"/>
          <p:cNvSpPr txBox="1"/>
          <p:nvPr/>
        </p:nvSpPr>
        <p:spPr>
          <a:xfrm>
            <a:off x="5832100" y="2748875"/>
            <a:ext cx="273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         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g36b9506652f_0_405"/>
          <p:cNvSpPr txBox="1"/>
          <p:nvPr/>
        </p:nvSpPr>
        <p:spPr>
          <a:xfrm>
            <a:off x="5223350" y="3149475"/>
            <a:ext cx="5604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2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b="0" i="0" sz="1200" u="none" cap="none" strike="noStrike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g36b9506652f_0_405"/>
          <p:cNvSpPr txBox="1"/>
          <p:nvPr/>
        </p:nvSpPr>
        <p:spPr>
          <a:xfrm>
            <a:off x="5550850" y="2178550"/>
            <a:ext cx="32934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b="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0" i="0" lang="en" sz="13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g36b9506652f_0_405"/>
          <p:cNvSpPr txBox="1"/>
          <p:nvPr/>
        </p:nvSpPr>
        <p:spPr>
          <a:xfrm>
            <a:off x="5697200" y="4475105"/>
            <a:ext cx="3130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0" baseline="-2500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baseline="-2500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0" baseline="-2500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0" i="0" lang="en" sz="13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0" i="0" lang="en" sz="13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0" i="0" sz="1300" u="none" cap="none" strike="noStrike">
              <a:solidFill>
                <a:srgbClr val="00FF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g36b9506652f_0_405"/>
          <p:cNvSpPr/>
          <p:nvPr/>
        </p:nvSpPr>
        <p:spPr>
          <a:xfrm>
            <a:off x="6673225" y="830300"/>
            <a:ext cx="277800" cy="554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6b9506652f_0_405"/>
          <p:cNvSpPr/>
          <p:nvPr/>
        </p:nvSpPr>
        <p:spPr>
          <a:xfrm>
            <a:off x="7211575" y="1463250"/>
            <a:ext cx="1003200" cy="554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6b9506652f_0_405"/>
          <p:cNvSpPr/>
          <p:nvPr/>
        </p:nvSpPr>
        <p:spPr>
          <a:xfrm>
            <a:off x="7884300" y="1117363"/>
            <a:ext cx="277800" cy="554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6b9506652f_0_405"/>
          <p:cNvSpPr/>
          <p:nvPr/>
        </p:nvSpPr>
        <p:spPr>
          <a:xfrm>
            <a:off x="6624100" y="849075"/>
            <a:ext cx="955500" cy="21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6b9506652f_0_405"/>
          <p:cNvSpPr/>
          <p:nvPr/>
        </p:nvSpPr>
        <p:spPr>
          <a:xfrm>
            <a:off x="5922400" y="3115575"/>
            <a:ext cx="386100" cy="1249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6b9506652f_0_405"/>
          <p:cNvSpPr/>
          <p:nvPr/>
        </p:nvSpPr>
        <p:spPr>
          <a:xfrm flipH="1">
            <a:off x="7718000" y="3125688"/>
            <a:ext cx="386100" cy="1249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6b9506652f_0_405"/>
          <p:cNvSpPr/>
          <p:nvPr/>
        </p:nvSpPr>
        <p:spPr>
          <a:xfrm>
            <a:off x="5942750" y="3115563"/>
            <a:ext cx="955500" cy="21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6b9506652f_0_448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3" name="Google Shape;973;g36b9506652f_0_4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6b9506652f_0_4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" name="Google Shape;975;g36b9506652f_0_4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76" name="Google Shape;976;g36b9506652f_0_4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g36b9506652f_0_4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g36b9506652f_0_4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" name="Google Shape;979;g36b9506652f_0_448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- 1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g36b9506652f_0_4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g36b9506652f_0_4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g36b9506652f_0_448"/>
          <p:cNvSpPr txBox="1"/>
          <p:nvPr/>
        </p:nvSpPr>
        <p:spPr>
          <a:xfrm>
            <a:off x="2381850" y="985650"/>
            <a:ext cx="4259100" cy="158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1" baseline="-2500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1" i="0" lang="en" sz="16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i="0" sz="1600" u="none" cap="none" strike="noStrike">
              <a:solidFill>
                <a:srgbClr val="FF99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1" baseline="-2500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i="0" lang="en" sz="16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1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i="0" sz="1600" u="none" cap="none" strike="noStrike">
              <a:solidFill>
                <a:srgbClr val="00FF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1" baseline="-2500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b="1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1" i="0" lang="en" sz="16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1" baseline="-2500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baseline="-25000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’A</a:t>
            </a:r>
            <a:r>
              <a:rPr b="1" baseline="-25000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i="0" lang="en" sz="1600" u="none" cap="none" strike="noStrike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r>
              <a:rPr b="1" i="0" lang="en" sz="1600" u="none" cap="none" strike="noStrike">
                <a:solidFill>
                  <a:srgbClr val="00FF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g36b9506652f_0_448"/>
          <p:cNvSpPr txBox="1"/>
          <p:nvPr/>
        </p:nvSpPr>
        <p:spPr>
          <a:xfrm>
            <a:off x="1663050" y="2701550"/>
            <a:ext cx="65751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yourself </a:t>
            </a:r>
            <a:r>
              <a:rPr b="0"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(Self Study)</a:t>
            </a:r>
            <a:endParaRPr b="0" i="0" sz="24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6b9506652f_0_484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g36b9506652f_0_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36b9506652f_0_48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1" name="Google Shape;991;g36b9506652f_0_48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2" name="Google Shape;992;g36b9506652f_0_48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6b9506652f_0_48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6b9506652f_0_48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" name="Google Shape;995;g36b9506652f_0_484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- 2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g36b9506652f_0_48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g36b9506652f_0_48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8" name="Google Shape;998;g36b9506652f_0_484"/>
          <p:cNvGraphicFramePr/>
          <p:nvPr/>
        </p:nvGraphicFramePr>
        <p:xfrm>
          <a:off x="336825" y="1856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31725"/>
                <a:gridCol w="423675"/>
                <a:gridCol w="423675"/>
                <a:gridCol w="423675"/>
                <a:gridCol w="423675"/>
                <a:gridCol w="423675"/>
                <a:gridCol w="490150"/>
              </a:tblGrid>
              <a:tr h="3539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Present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Next State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 Inputs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EFEFEF"/>
                    </a:solidFill>
                  </a:tcPr>
                </a:tc>
                <a:tc hMerge="1"/>
              </a:tr>
              <a:tr h="27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baseline="-25000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baseline="-2500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b="1" baseline="30000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baseline="30000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b="1" baseline="30000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</a:t>
                      </a:r>
                      <a:endParaRPr b="1" sz="11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DB</a:t>
                      </a:r>
                      <a:endParaRPr b="1" sz="11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0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999" name="Google Shape;999;g36b9506652f_0_484"/>
          <p:cNvSpPr txBox="1"/>
          <p:nvPr/>
        </p:nvSpPr>
        <p:spPr>
          <a:xfrm>
            <a:off x="328350" y="527450"/>
            <a:ext cx="65061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Implement the following counter using D FF: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Green—&gt;Yellow—&gt;Red—&gt;Yellow—&gt;Green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assume Green = 00, Yellow = 01, Red = 10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g36b9506652f_0_484"/>
          <p:cNvSpPr txBox="1"/>
          <p:nvPr/>
        </p:nvSpPr>
        <p:spPr>
          <a:xfrm>
            <a:off x="3947625" y="2142375"/>
            <a:ext cx="209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g36b9506652f_0_484"/>
          <p:cNvSpPr txBox="1"/>
          <p:nvPr/>
        </p:nvSpPr>
        <p:spPr>
          <a:xfrm>
            <a:off x="4122619" y="2012025"/>
            <a:ext cx="37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2" name="Google Shape;1002;g36b9506652f_0_484"/>
          <p:cNvGraphicFramePr/>
          <p:nvPr/>
        </p:nvGraphicFramePr>
        <p:xfrm>
          <a:off x="4539950" y="2527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337150"/>
                <a:gridCol w="363700"/>
                <a:gridCol w="357825"/>
                <a:gridCol w="366375"/>
              </a:tblGrid>
              <a:tr h="23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03" name="Google Shape;1003;g36b9506652f_0_484"/>
          <p:cNvCxnSpPr>
            <a:endCxn id="1000" idx="0"/>
          </p:cNvCxnSpPr>
          <p:nvPr/>
        </p:nvCxnSpPr>
        <p:spPr>
          <a:xfrm rot="10800000">
            <a:off x="4052175" y="2142375"/>
            <a:ext cx="487800" cy="40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g36b9506652f_0_484"/>
          <p:cNvSpPr txBox="1"/>
          <p:nvPr/>
        </p:nvSpPr>
        <p:spPr>
          <a:xfrm>
            <a:off x="4103750" y="2528005"/>
            <a:ext cx="315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g36b9506652f_0_484"/>
          <p:cNvSpPr txBox="1"/>
          <p:nvPr/>
        </p:nvSpPr>
        <p:spPr>
          <a:xfrm>
            <a:off x="4527325" y="2220200"/>
            <a:ext cx="179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1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g36b9506652f_0_484"/>
          <p:cNvSpPr txBox="1"/>
          <p:nvPr/>
        </p:nvSpPr>
        <p:spPr>
          <a:xfrm>
            <a:off x="4601175" y="3091475"/>
            <a:ext cx="1302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 = Bx</a:t>
            </a:r>
            <a:endParaRPr b="0" baseline="-25000" i="0" sz="13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g36b9506652f_0_484"/>
          <p:cNvSpPr txBox="1"/>
          <p:nvPr/>
        </p:nvSpPr>
        <p:spPr>
          <a:xfrm>
            <a:off x="3903525" y="3479150"/>
            <a:ext cx="209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g36b9506652f_0_484"/>
          <p:cNvSpPr txBox="1"/>
          <p:nvPr/>
        </p:nvSpPr>
        <p:spPr>
          <a:xfrm>
            <a:off x="4078519" y="3348800"/>
            <a:ext cx="37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Bx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9" name="Google Shape;1009;g36b9506652f_0_484"/>
          <p:cNvGraphicFramePr/>
          <p:nvPr/>
        </p:nvGraphicFramePr>
        <p:xfrm>
          <a:off x="4495850" y="38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{9870F91E-795E-43A2-A361-96EAE6878B99}</a:tableStyleId>
              </a:tblPr>
              <a:tblGrid>
                <a:gridCol w="337150"/>
                <a:gridCol w="363700"/>
                <a:gridCol w="357825"/>
                <a:gridCol w="366375"/>
              </a:tblGrid>
              <a:tr h="23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10" name="Google Shape;1010;g36b9506652f_0_484"/>
          <p:cNvCxnSpPr>
            <a:endCxn id="1007" idx="0"/>
          </p:cNvCxnSpPr>
          <p:nvPr/>
        </p:nvCxnSpPr>
        <p:spPr>
          <a:xfrm rot="10800000">
            <a:off x="4008075" y="3479150"/>
            <a:ext cx="487800" cy="40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1" name="Google Shape;1011;g36b9506652f_0_484"/>
          <p:cNvSpPr txBox="1"/>
          <p:nvPr/>
        </p:nvSpPr>
        <p:spPr>
          <a:xfrm>
            <a:off x="4059650" y="3864780"/>
            <a:ext cx="315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00" u="none" cap="none" strike="noStrik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g36b9506652f_0_484"/>
          <p:cNvSpPr txBox="1"/>
          <p:nvPr/>
        </p:nvSpPr>
        <p:spPr>
          <a:xfrm>
            <a:off x="4483225" y="3556975"/>
            <a:ext cx="179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00     01      11     10</a:t>
            </a:r>
            <a:endParaRPr b="0" i="0" sz="11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g36b9506652f_0_484"/>
          <p:cNvSpPr txBox="1"/>
          <p:nvPr/>
        </p:nvSpPr>
        <p:spPr>
          <a:xfrm>
            <a:off x="4557075" y="4428250"/>
            <a:ext cx="1302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DB = B’</a:t>
            </a:r>
            <a:endParaRPr b="0" baseline="-25000" i="0" sz="13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g36b9506652f_0_484"/>
          <p:cNvSpPr/>
          <p:nvPr/>
        </p:nvSpPr>
        <p:spPr>
          <a:xfrm>
            <a:off x="5285225" y="2547200"/>
            <a:ext cx="277800" cy="45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6b9506652f_0_484"/>
          <p:cNvSpPr/>
          <p:nvPr/>
        </p:nvSpPr>
        <p:spPr>
          <a:xfrm>
            <a:off x="4527325" y="3918825"/>
            <a:ext cx="630300" cy="39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6" name="Google Shape;1016;g36b9506652f_0_484"/>
          <p:cNvGraphicFramePr/>
          <p:nvPr/>
        </p:nvGraphicFramePr>
        <p:xfrm>
          <a:off x="7049375" y="116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{80D6B50D-D2BD-452E-9D45-DE09D1FB1D0B}</a:tableStyleId>
              </a:tblPr>
              <a:tblGrid>
                <a:gridCol w="435325"/>
                <a:gridCol w="496300"/>
                <a:gridCol w="440250"/>
              </a:tblGrid>
              <a:tr h="35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-25000"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n+1</a:t>
                      </a:r>
                      <a:endParaRPr baseline="-25000"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i="1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D966"/>
                    </a:solidFill>
                  </a:tcPr>
                </a:tc>
              </a:tr>
              <a:tr h="25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5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25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5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017" name="Google Shape;1017;g36b9506652f_0_484"/>
          <p:cNvSpPr txBox="1"/>
          <p:nvPr/>
        </p:nvSpPr>
        <p:spPr>
          <a:xfrm>
            <a:off x="7003025" y="2600650"/>
            <a:ext cx="179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Excitation table of </a:t>
            </a:r>
            <a:endParaRPr b="0" i="0" sz="13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Flip-Flop</a:t>
            </a:r>
            <a:endParaRPr b="0" i="0" sz="13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g36b9506652f_0_484"/>
          <p:cNvSpPr txBox="1"/>
          <p:nvPr/>
        </p:nvSpPr>
        <p:spPr>
          <a:xfrm>
            <a:off x="4680300" y="1512875"/>
            <a:ext cx="185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out equations for </a:t>
            </a:r>
            <a:endParaRPr b="0"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Flip-Flop inputs</a:t>
            </a:r>
            <a:endParaRPr b="0"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g36b9506652f_0_484"/>
          <p:cNvSpPr txBox="1"/>
          <p:nvPr/>
        </p:nvSpPr>
        <p:spPr>
          <a:xfrm>
            <a:off x="6532800" y="3430025"/>
            <a:ext cx="25194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Special Note:</a:t>
            </a:r>
            <a:endParaRPr b="0" i="0" sz="13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You may need to use more than 1 external input depending upon the question</a:t>
            </a:r>
            <a:endParaRPr b="0" i="0" sz="13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6b9506652f_0_521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5" name="Google Shape;1025;g36b9506652f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g36b9506652f_0_5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7" name="Google Shape;1027;g36b9506652f_0_5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028" name="Google Shape;1028;g36b9506652f_0_5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6b9506652f_0_5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6b9506652f_0_5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g36b9506652f_0_521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- 2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g36b9506652f_0_5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g36b9506652f_0_5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g36b9506652f_0_521"/>
          <p:cNvSpPr txBox="1"/>
          <p:nvPr/>
        </p:nvSpPr>
        <p:spPr>
          <a:xfrm>
            <a:off x="328350" y="541200"/>
            <a:ext cx="8179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diagram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(The number of present state will be equal to the number of flip-flops in the circuit)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5" name="Google Shape;1035;g36b9506652f_0_5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6525" y="1656500"/>
            <a:ext cx="5840148" cy="289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6b9506652f_0_557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g36b9506652f_0_5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g36b9506652f_0_55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3" name="Google Shape;1043;g36b9506652f_0_55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044" name="Google Shape;1044;g36b9506652f_0_55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6b9506652f_0_55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6b9506652f_0_55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7" name="Google Shape;1047;g36b9506652f_0_557"/>
          <p:cNvSpPr txBox="1"/>
          <p:nvPr/>
        </p:nvSpPr>
        <p:spPr>
          <a:xfrm>
            <a:off x="461850" y="56200"/>
            <a:ext cx="80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24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Practice Problem - 3 (Self Study)</a:t>
            </a:r>
            <a:endParaRPr b="0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g36b9506652f_0_55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g36b9506652f_0_55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g36b9506652f_0_557"/>
          <p:cNvSpPr txBox="1"/>
          <p:nvPr/>
        </p:nvSpPr>
        <p:spPr>
          <a:xfrm>
            <a:off x="328350" y="653450"/>
            <a:ext cx="81792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Implement the following counter using D FF: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Green—&gt;Yellow—&gt;Red—&gt;Yellow—&gt;Blue—&gt;Red—&gt;Yellow—&gt;Green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g36b9506652f_0_557"/>
          <p:cNvSpPr txBox="1"/>
          <p:nvPr/>
        </p:nvSpPr>
        <p:spPr>
          <a:xfrm>
            <a:off x="419750" y="1878000"/>
            <a:ext cx="65118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b="0" i="0" sz="17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how many external inputs you will need in this case.</a:t>
            </a:r>
            <a:endParaRPr b="0" i="0" sz="17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