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Lexend Light"/>
      <p:regular r:id="rId68"/>
      <p:bold r:id="rId69"/>
    </p:embeddedFont>
    <p:embeddedFont>
      <p:font typeface="Lexend Medium"/>
      <p:regular r:id="rId70"/>
      <p:bold r:id="rId71"/>
    </p:embeddedFont>
    <p:embeddedFont>
      <p:font typeface="Lexend"/>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BF9E64-981C-45E9-A5D7-26F4CB7A94D0}">
  <a:tblStyle styleId="{27BF9E64-981C-45E9-A5D7-26F4CB7A94D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FE0573B-7167-4EFC-AAEA-AED1293AA952}"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4C6065F-247D-43F0-BCF5-F7A8994FE880}"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exend-bold.fntdata"/><Relationship Id="rId72" Type="http://schemas.openxmlformats.org/officeDocument/2006/relationships/font" Target="fonts/Lexend-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exendMedium-bold.fntdata"/><Relationship Id="rId70" Type="http://schemas.openxmlformats.org/officeDocument/2006/relationships/font" Target="fonts/LexendMedium-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LexendLight-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exendLigh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e3b8c75c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e3b8c75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e3b8c75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e3b8c75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e3b8c75cc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e3b8c75cc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e3b8c75cc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e3b8c75c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e3b8c75cc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e3b8c75cc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e3b8c75cc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e3b8c75cc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e3b8c75cc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e3b8c75cc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e3b8c75cc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e3b8c75cc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e3b8c75cc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e3b8c75cc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e3b8c75cc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6e3b8c75cc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e3b8c75cc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e3b8c75cc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e3b8c75cc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e3b8c75cc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e3b8c75cc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e3b8c75cc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e3b8c75cc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e3b8c75cc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e3b8c75cc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e3b8c75cc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e3b8c75cc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6e3b8c75cc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6e3b8c75cc_0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6e3b8c75cc_0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e3b8c75cc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e3b8c75cc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e3b8c75cc_0_1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6e3b8c75cc_0_1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e3b8c75cc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6e3b8c75cc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e3b8c75cc_0_1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e3b8c75cc_0_1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e3b8c75cc_0_1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e3b8c75cc_0_1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6e3b8c75cc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6e3b8c75cc_0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6e3b8c75cc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6e3b8c75cc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e3b8c75cc_0_2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e3b8c75cc_0_2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6e3b8c75cc_0_2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6e3b8c75cc_0_2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6da8b810c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6da8b810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6da8b810c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6da8b810c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6da8b810c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6da8b810c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6da8b810c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6da8b810c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da8b810c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6da8b810c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da8b810c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6da8b810c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da8b810c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da8b810c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6da8b810c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6da8b810c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6da8b810c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6da8b810c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6da8b810c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6da8b810c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6da8b810c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6da8b810c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da8b810c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da8b810c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6da8b810c5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6da8b810c5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6da8b810c5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6da8b810c5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6da8b810c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6da8b810c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6da8b810c5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6da8b810c5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da8b810c5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da8b810c5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6da8b810c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6da8b810c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6da8b810c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6da8b810c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6da8b810c5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6da8b810c5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6da8b810c5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6da8b810c5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6da8b810c5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6da8b810c5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6da8b810c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6da8b810c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6da8b810c5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6da8b810c5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6da8b810c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6da8b810c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6da8b810c5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6da8b810c5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6da8b810c5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6da8b810c5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6da8b810c5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6da8b810c5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6da8b810c5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6da8b810c5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7329b8843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7329b8843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7329b8843d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37329b8843d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7329b8843d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7329b8843d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7329b8843d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7329b8843d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7329b8843d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7329b8843d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7329b8843d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7329b8843d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1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hyperlink" Target="https://www.youtube.com/watch?v=c8lhlAX2JMk"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7.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2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30.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4" name="Google Shape;64;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 name="Google Shape;70;p1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2" name="Google Shape;72;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 name="Google Shape;79;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5" name="Google Shape;85;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7" name="Google Shape;87;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fmla="val 50000" name="adj1"/>
                <a:gd fmla="val 0" name="adj2"/>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6575700" y="2318025"/>
              <a:ext cx="1258500" cy="826800"/>
            </a:xfrm>
            <a:prstGeom prst="roundRect">
              <a:avLst>
                <a:gd fmla="val 5261" name="adj"/>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cap="flat" cmpd="sng" w="9525">
              <a:solidFill>
                <a:srgbClr val="28C84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fmla="val 50000" name="adj1"/>
                <a:gd fmla="val 0" name="adj2"/>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p:nvPr/>
          </p:nvSpPr>
          <p:spPr>
            <a:xfrm>
              <a:off x="4786850" y="2318025"/>
              <a:ext cx="1258500" cy="826800"/>
            </a:xfrm>
            <a:prstGeom prst="roundRect">
              <a:avLst>
                <a:gd fmla="val 5261" name="adj"/>
              </a:avLst>
            </a:prstGeom>
            <a:solidFill>
              <a:srgbClr val="FF6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cap="flat" cmpd="sng" w="9525">
              <a:solidFill>
                <a:srgbClr val="FF6B4D"/>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12" name="Google Shape;112;p15"/>
          <p:cNvSpPr/>
          <p:nvPr/>
        </p:nvSpPr>
        <p:spPr>
          <a:xfrm>
            <a:off x="2708075"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5"/>
          <p:cNvSpPr/>
          <p:nvPr/>
        </p:nvSpPr>
        <p:spPr>
          <a:xfrm>
            <a:off x="5875550"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p:nvPr/>
        </p:nvSpPr>
        <p:spPr>
          <a:xfrm rot="5400000">
            <a:off x="7559338" y="2808699"/>
            <a:ext cx="3603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5"/>
          <p:cNvSpPr/>
          <p:nvPr/>
        </p:nvSpPr>
        <p:spPr>
          <a:xfrm rot="10800000">
            <a:off x="583302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5"/>
          <p:cNvSpPr/>
          <p:nvPr/>
        </p:nvSpPr>
        <p:spPr>
          <a:xfrm rot="10800000">
            <a:off x="266907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5"/>
          <p:cNvSpPr txBox="1"/>
          <p:nvPr/>
        </p:nvSpPr>
        <p:spPr>
          <a:xfrm>
            <a:off x="209775" y="4578146"/>
            <a:ext cx="8630700" cy="3540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4" name="Google Shape;124;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anchorCtr="0" anchor="t" bIns="91425" lIns="91425" spcFirstLastPara="1" rIns="91425" wrap="square" tIns="91425">
            <a:spAutoFit/>
          </a:bodyPr>
          <a:lstStyle/>
          <a:p>
            <a:pPr indent="-29972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indent="-299720" lvl="0" marL="342900" rtl="0" algn="l">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0" name="Google Shape;130;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32" name="Google Shape;132;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39" name="Google Shape;139;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27940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indent="-279400" lvl="0" marL="342900" rtl="0" algn="l">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5" name="Google Shape;145;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47" name="Google Shape;147;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 name="Google Shape;153;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4" name="Google Shape;154;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anchorCtr="0" anchor="t" bIns="91425" lIns="91425" spcFirstLastPara="1" rIns="91425" wrap="square" tIns="91425">
            <a:spAutoFit/>
          </a:bodyPr>
          <a:lstStyle/>
          <a:p>
            <a:pPr indent="-318770" lvl="0" marL="342900" rtl="0" algn="l">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 name="Google Shape;160;p1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2" name="Google Shape;162;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3000000" cy="3000000"/>
        </p:xfrm>
        <a:graphic>
          <a:graphicData uri="http://schemas.openxmlformats.org/drawingml/2006/table">
            <a:tbl>
              <a:tblPr>
                <a:noFill/>
                <a:tableStyleId>{27BF9E64-981C-45E9-A5D7-26F4CB7A94D0}</a:tableStyleId>
              </a:tblPr>
              <a:tblGrid>
                <a:gridCol w="4230025"/>
                <a:gridCol w="4230025"/>
              </a:tblGrid>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i="0" sz="1800" u="none">
                        <a:solidFill>
                          <a:srgbClr val="0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 name="Google Shape;16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70" name="Google Shape;17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anchorCtr="0" anchor="t" bIns="91425" lIns="91425" spcFirstLastPara="1" rIns="91425" wrap="square" tIns="91425">
            <a:spAutoFit/>
          </a:bodyPr>
          <a:lstStyle/>
          <a:p>
            <a:pPr indent="-342900" lvl="0" marL="342900" rtl="0" algn="l">
              <a:lnSpc>
                <a:spcPct val="90000"/>
              </a:lnSpc>
              <a:spcBef>
                <a:spcPts val="1200"/>
              </a:spcBef>
              <a:spcAft>
                <a:spcPts val="0"/>
              </a:spcAft>
              <a:buClr>
                <a:srgbClr val="FF0000"/>
              </a:buClr>
              <a:buSzPts val="2880"/>
              <a:buFont typeface="Lexend"/>
              <a:buChar char="▪"/>
            </a:pPr>
            <a:r>
              <a:rPr i="1" lang="en" sz="2400">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6" name="Google Shape;17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78" name="Google Shape;17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85" name="Google Shape;185;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indent="-381000" lvl="0" marL="457200" rtl="0" algn="l">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i="1" sz="2400">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1" name="Google Shape;191;p2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93" name="Google Shape;193;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9" name="Google Shape;199;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00" name="Google Shape;200;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anchorCtr="0" anchor="t" bIns="91425" lIns="91425" spcFirstLastPara="1" rIns="91425" wrap="square" tIns="91425">
            <a:spAutoFit/>
          </a:bodyPr>
          <a:lstStyle/>
          <a:p>
            <a:pPr indent="-392430" lvl="0" marL="457200" rtl="0" algn="l">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indent="-386080" lvl="0" marL="457200" rtl="0" algn="l">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 name="Google Shape;206;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8" name="Google Shape;208;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09" name="Google Shape;209;p21"/>
          <p:cNvPicPr preferRelativeResize="0"/>
          <p:nvPr/>
        </p:nvPicPr>
        <p:blipFill>
          <a:blip r:embed="rId4">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5">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6">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7">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8" name="Google Shape;218;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9" name="Google Shape;219;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baseline="30000"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5" name="Google Shape;225;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27" name="Google Shape;227;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3" name="Google Shape;233;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34" name="Google Shape;234;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b="1" lang="en" sz="2000">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b="1" lang="en" sz="2000">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0" name="Google Shape;240;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42" name="Google Shape;242;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Dec</a:t>
              </a:r>
              <a:endParaRPr b="0" i="0" sz="2000" u="none" cap="none" strike="noStrik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7" name="Google Shape;247;p23"/>
            <p:cNvCxnSpPr/>
            <p:nvPr/>
          </p:nvCxnSpPr>
          <p:spPr>
            <a:xfrm>
              <a:off x="2812527" y="30672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8" name="Google Shape;248;p23"/>
            <p:cNvCxnSpPr/>
            <p:nvPr/>
          </p:nvCxnSpPr>
          <p:spPr>
            <a:xfrm>
              <a:off x="2812527" y="28386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9" name="Google Shape;249;p23"/>
            <p:cNvCxnSpPr/>
            <p:nvPr/>
          </p:nvCxnSpPr>
          <p:spPr>
            <a:xfrm>
              <a:off x="1386884" y="3372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0" name="Google Shape;250;p23"/>
            <p:cNvCxnSpPr/>
            <p:nvPr/>
          </p:nvCxnSpPr>
          <p:spPr>
            <a:xfrm>
              <a:off x="2812527" y="32958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1" name="Google Shape;251;p23"/>
            <p:cNvCxnSpPr/>
            <p:nvPr/>
          </p:nvCxnSpPr>
          <p:spPr>
            <a:xfrm>
              <a:off x="2812527" y="3524425"/>
              <a:ext cx="476400" cy="0"/>
            </a:xfrm>
            <a:prstGeom prst="straightConnector1">
              <a:avLst/>
            </a:prstGeom>
            <a:noFill/>
            <a:ln cap="flat" cmpd="sng" w="15875">
              <a:solidFill>
                <a:srgbClr val="000000"/>
              </a:solidFill>
              <a:prstDash val="solid"/>
              <a:round/>
              <a:headEnd len="sm" w="sm" type="none"/>
              <a:tailEnd len="med" w="med" type="triangle"/>
            </a:ln>
          </p:spPr>
        </p:cxnSp>
        <p:sp>
          <p:nvSpPr>
            <p:cNvPr id="252" name="Google Shape;252;p23"/>
            <p:cNvSpPr txBox="1"/>
            <p:nvPr/>
          </p:nvSpPr>
          <p:spPr>
            <a:xfrm>
              <a:off x="541775" y="2838625"/>
              <a:ext cx="732300" cy="50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00000"/>
                  </a:solidFill>
                  <a:latin typeface="Arial"/>
                  <a:ea typeface="Arial"/>
                  <a:cs typeface="Arial"/>
                  <a:sym typeface="Arial"/>
                </a:rPr>
                <a:t>2-bit code</a:t>
              </a:r>
              <a:endParaRPr b="0" i="0" sz="1700" u="none" cap="none" strike="noStrik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X</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Y</a:t>
              </a:r>
              <a:endParaRPr b="0" i="0" sz="2000" u="none" cap="none" strike="noStrik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0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1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2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3</a:t>
              </a:r>
              <a:endParaRPr b="1"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3</a:t>
              </a:r>
              <a:endParaRPr b="0" i="0" sz="2000" u="none" cap="none" strike="noStrik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3000000" cy="3000000"/>
        </p:xfrm>
        <a:graphic>
          <a:graphicData uri="http://schemas.openxmlformats.org/drawingml/2006/table">
            <a:tbl>
              <a:tblPr>
                <a:noFill/>
                <a:tableStyleId>{27BF9E64-981C-45E9-A5D7-26F4CB7A94D0}</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257" name="Google Shape;257;p23"/>
          <p:cNvPicPr preferRelativeResize="0"/>
          <p:nvPr/>
        </p:nvPicPr>
        <p:blipFill>
          <a:blip r:embed="rId4">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4" name="Google Shape;264;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 name="Google Shape;270;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2" name="Google Shape;272;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79" name="Google Shape;279;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5" name="Google Shape;285;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87" name="Google Shape;287;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88" name="Google Shape;288;p25"/>
          <p:cNvPicPr preferRelativeResize="0"/>
          <p:nvPr/>
        </p:nvPicPr>
        <p:blipFill>
          <a:blip r:embed="rId4">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3000000" cy="3000000"/>
        </p:xfrm>
        <a:graphic>
          <a:graphicData uri="http://schemas.openxmlformats.org/drawingml/2006/table">
            <a:tbl>
              <a:tblPr>
                <a:noFill/>
                <a:tableStyleId>{27BF9E64-981C-45E9-A5D7-26F4CB7A94D0}</a:tableStyleId>
              </a:tblPr>
              <a:tblGrid>
                <a:gridCol w="382900"/>
                <a:gridCol w="382900"/>
                <a:gridCol w="382900"/>
                <a:gridCol w="382900"/>
                <a:gridCol w="382900"/>
                <a:gridCol w="382900"/>
                <a:gridCol w="382900"/>
                <a:gridCol w="382900"/>
                <a:gridCol w="382900"/>
                <a:gridCol w="382900"/>
                <a:gridCol w="382900"/>
              </a:tblGrid>
              <a:tr h="40757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0</a:t>
                      </a:r>
                      <a:endParaRPr baseline="-25000"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1</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2</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3</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4</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5</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6</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7</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5" name="Google Shape;295;p2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6" name="Google Shape;296;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2" name="Google Shape;302;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4" name="Google Shape;304;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8" name="Google Shape;308;p26"/>
            <p:cNvCxnSpPr/>
            <p:nvPr/>
          </p:nvCxnSpPr>
          <p:spPr>
            <a:xfrm>
              <a:off x="2937080" y="21799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9" name="Google Shape;309;p26"/>
            <p:cNvCxnSpPr/>
            <p:nvPr/>
          </p:nvCxnSpPr>
          <p:spPr>
            <a:xfrm>
              <a:off x="2937080" y="2789525"/>
              <a:ext cx="476400" cy="0"/>
            </a:xfrm>
            <a:prstGeom prst="straightConnector1">
              <a:avLst/>
            </a:prstGeom>
            <a:noFill/>
            <a:ln cap="flat" cmpd="sng" w="15875">
              <a:solidFill>
                <a:srgbClr val="000000"/>
              </a:solidFill>
              <a:prstDash val="solid"/>
              <a:round/>
              <a:headEnd len="sm" w="sm" type="none"/>
              <a:tailEnd len="med" w="med" type="triangle"/>
            </a:ln>
          </p:spPr>
        </p:cxnSp>
        <p:sp>
          <p:nvSpPr>
            <p:cNvPr id="310" name="Google Shape;310;p26"/>
            <p:cNvSpPr txBox="1"/>
            <p:nvPr/>
          </p:nvSpPr>
          <p:spPr>
            <a:xfrm>
              <a:off x="2897750" y="2259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2" name="Google Shape;312;p26"/>
            <p:cNvCxnSpPr/>
            <p:nvPr/>
          </p:nvCxnSpPr>
          <p:spPr>
            <a:xfrm>
              <a:off x="5305425" y="20275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3" name="Google Shape;313;p26"/>
            <p:cNvCxnSpPr/>
            <p:nvPr/>
          </p:nvCxnSpPr>
          <p:spPr>
            <a:xfrm>
              <a:off x="5305425" y="27895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4" name="Google Shape;314;p26"/>
            <p:cNvSpPr txBox="1"/>
            <p:nvPr/>
          </p:nvSpPr>
          <p:spPr>
            <a:xfrm>
              <a:off x="5457825" y="2256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6" name="Google Shape;316;p26"/>
            <p:cNvCxnSpPr/>
            <p:nvPr/>
          </p:nvCxnSpPr>
          <p:spPr>
            <a:xfrm>
              <a:off x="5305425" y="18751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7" name="Google Shape;317;p26"/>
            <p:cNvCxnSpPr/>
            <p:nvPr/>
          </p:nvCxnSpPr>
          <p:spPr>
            <a:xfrm>
              <a:off x="5305425" y="21037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8" name="Google Shape;318;p26"/>
            <p:cNvSpPr txBox="1"/>
            <p:nvPr/>
          </p:nvSpPr>
          <p:spPr>
            <a:xfrm>
              <a:off x="1800225" y="1951325"/>
              <a:ext cx="952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-bit</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code</a:t>
              </a:r>
              <a:endParaRPr i="0" sz="1800" u="none" cap="none" strike="noStrik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decoder</a:t>
              </a:r>
              <a:endParaRPr i="0" sz="1800" u="none" cap="none" strike="noStrik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up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output lines</a:t>
              </a:r>
              <a:endParaRPr i="0" sz="1800" u="none" cap="none" strike="noStrik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fmla="val 13592" name="adj1"/>
              <a:gd fmla="val -60005"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7" name="Google Shape;32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28" name="Google Shape;32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6" name="Google Shape;336;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4">
            <a:alphaModFix/>
          </a:blip>
          <a:srcRect b="13487" l="0" r="0" t="0"/>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p2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44" name="Google Shape;344;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0" name="Google Shape;35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2" name="Google Shape;35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3000000" cy="3000000"/>
        </p:xfrm>
        <a:graphic>
          <a:graphicData uri="http://schemas.openxmlformats.org/drawingml/2006/table">
            <a:tbl>
              <a:tblPr>
                <a:noFill/>
                <a:tableStyleId>{27BF9E64-981C-45E9-A5D7-26F4CB7A94D0}</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b="1" lang="en" sz="1300">
                          <a:latin typeface="Lexend"/>
                          <a:ea typeface="Lexend"/>
                          <a:cs typeface="Lexend"/>
                          <a:sym typeface="Lexend"/>
                        </a:rPr>
                        <a:t>S</a:t>
                      </a:r>
                      <a:r>
                        <a:rPr b="1" baseline="-25000" lang="en" sz="1300">
                          <a:latin typeface="Lexend"/>
                          <a:ea typeface="Lexend"/>
                          <a:cs typeface="Lexend"/>
                          <a:sym typeface="Lexend"/>
                        </a:rPr>
                        <a:t>1</a:t>
                      </a:r>
                      <a:endParaRPr b="1" baseline="-25000"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S</a:t>
                      </a:r>
                      <a:r>
                        <a:rPr b="1" baseline="-25000" lang="en" sz="1300">
                          <a:solidFill>
                            <a:schemeClr val="dk1"/>
                          </a:solidFill>
                          <a:latin typeface="Lexend"/>
                          <a:ea typeface="Lexend"/>
                          <a:cs typeface="Lexend"/>
                          <a:sym typeface="Lexend"/>
                        </a:rPr>
                        <a:t>2</a:t>
                      </a:r>
                      <a:endParaRPr b="1"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0</a:t>
                      </a:r>
                      <a:endParaRPr baseline="-25000"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3</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357" name="Google Shape;357;p28"/>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58" name="Google Shape;358;p28"/>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359" name="Google Shape;359;p28"/>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360" name="Google Shape;360;p28"/>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61" name="Google Shape;361;p28"/>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362" name="Google Shape;362;p28"/>
            <p:cNvSpPr txBox="1"/>
            <p:nvPr/>
          </p:nvSpPr>
          <p:spPr>
            <a:xfrm>
              <a:off x="230759" y="3094505"/>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364" name="Google Shape;364;p28"/>
            <p:cNvSpPr/>
            <p:nvPr/>
          </p:nvSpPr>
          <p:spPr>
            <a:xfrm flipH="1" rot="-5400000">
              <a:off x="1420166" y="2580959"/>
              <a:ext cx="1367451" cy="1365801"/>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366" name="Google Shape;366;p28"/>
            <p:cNvSpPr txBox="1"/>
            <p:nvPr/>
          </p:nvSpPr>
          <p:spPr>
            <a:xfrm>
              <a:off x="1566677" y="4476333"/>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7" name="Google Shape;377;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78" name="Google Shape;378;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3" name="Google Shape;383;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84" name="Google Shape;384;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85" name="Google Shape;385;p29"/>
          <p:cNvPicPr preferRelativeResize="0"/>
          <p:nvPr>
            <p:ph idx="1" type="body"/>
          </p:nvPr>
        </p:nvPicPr>
        <p:blipFill rotWithShape="1">
          <a:blip r:embed="rId4">
            <a:alphaModFix/>
          </a:blip>
          <a:srcRect b="0" l="0" r="0" t="0"/>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1" name="Google Shape;391;p3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92" name="Google Shape;392;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anchorCtr="0" anchor="t" bIns="91425" lIns="91425" spcFirstLastPara="1" rIns="91425" wrap="square" tIns="91425">
            <a:spAutoFit/>
          </a:bodyPr>
          <a:lstStyle/>
          <a:p>
            <a:pPr indent="-336550" lvl="0" marL="457200" rtl="0" algn="l">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indent="-336550" lvl="0" marL="457200" rtl="0" algn="l">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8" name="Google Shape;398;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00" name="Google Shape;400;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 Decoder</a:t>
            </a:r>
            <a:endParaRPr b="0" i="0" sz="2000" u="none" cap="none" strike="noStrik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cap="flat" cmpd="sng" w="15875">
            <a:solidFill>
              <a:srgbClr val="000000"/>
            </a:solidFill>
            <a:prstDash val="solid"/>
            <a:round/>
            <a:headEnd len="sm" w="sm" type="none"/>
            <a:tailEnd len="med" w="med" type="triangle"/>
          </a:ln>
        </p:spPr>
      </p:cxnSp>
      <p:cxnSp>
        <p:nvCxnSpPr>
          <p:cNvPr id="403" name="Google Shape;403;p30"/>
          <p:cNvCxnSpPr/>
          <p:nvPr/>
        </p:nvCxnSpPr>
        <p:spPr>
          <a:xfrm>
            <a:off x="6601104" y="3377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4" name="Google Shape;404;p30"/>
          <p:cNvCxnSpPr/>
          <p:nvPr/>
        </p:nvCxnSpPr>
        <p:spPr>
          <a:xfrm>
            <a:off x="6601104" y="2615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5" name="Google Shape;405;p30"/>
          <p:cNvCxnSpPr/>
          <p:nvPr/>
        </p:nvCxnSpPr>
        <p:spPr>
          <a:xfrm rot="10800000">
            <a:off x="5825575" y="3894638"/>
            <a:ext cx="0" cy="476100"/>
          </a:xfrm>
          <a:prstGeom prst="straightConnector1">
            <a:avLst/>
          </a:prstGeom>
          <a:noFill/>
          <a:ln cap="flat" cmpd="sng" w="15875">
            <a:solidFill>
              <a:srgbClr val="000000"/>
            </a:solidFill>
            <a:prstDash val="solid"/>
            <a:round/>
            <a:headEnd len="sm" w="sm" type="none"/>
            <a:tailEnd len="med" w="med" type="triangle"/>
          </a:ln>
        </p:spPr>
      </p:cxnSp>
      <p:cxnSp>
        <p:nvCxnSpPr>
          <p:cNvPr id="406" name="Google Shape;406;p30"/>
          <p:cNvCxnSpPr/>
          <p:nvPr/>
        </p:nvCxnSpPr>
        <p:spPr>
          <a:xfrm>
            <a:off x="6601104" y="2996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7" name="Google Shape;407;p30"/>
          <p:cNvCxnSpPr/>
          <p:nvPr/>
        </p:nvCxnSpPr>
        <p:spPr>
          <a:xfrm>
            <a:off x="6601104" y="3758651"/>
            <a:ext cx="476400" cy="0"/>
          </a:xfrm>
          <a:prstGeom prst="straightConnector1">
            <a:avLst/>
          </a:prstGeom>
          <a:noFill/>
          <a:ln cap="flat" cmpd="sng" w="15875">
            <a:solidFill>
              <a:srgbClr val="000000"/>
            </a:solidFill>
            <a:prstDash val="solid"/>
            <a:round/>
            <a:headEnd len="sm" w="sm" type="none"/>
            <a:tailEnd len="med" w="med" type="triangle"/>
          </a:ln>
        </p:spPr>
      </p:cxnSp>
      <p:sp>
        <p:nvSpPr>
          <p:cNvPr id="408" name="Google Shape;408;p30"/>
          <p:cNvSpPr txBox="1"/>
          <p:nvPr/>
        </p:nvSpPr>
        <p:spPr>
          <a:xfrm>
            <a:off x="5649363" y="4370738"/>
            <a:ext cx="476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cap="flat" cmpd="sng" w="15875">
            <a:solidFill>
              <a:srgbClr val="000000"/>
            </a:solidFill>
            <a:prstDash val="solid"/>
            <a:round/>
            <a:headEnd len="sm" w="sm" type="none"/>
            <a:tailEnd len="med" w="med" type="triangle"/>
          </a:ln>
        </p:spPr>
      </p:cxnSp>
      <p:sp>
        <p:nvSpPr>
          <p:cNvPr id="416" name="Google Shape;416;p30"/>
          <p:cNvSpPr txBox="1"/>
          <p:nvPr/>
        </p:nvSpPr>
        <p:spPr>
          <a:xfrm>
            <a:off x="5584363" y="3608738"/>
            <a:ext cx="476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a:t>
            </a:r>
            <a:endParaRPr b="0" i="0" sz="2000" u="none" cap="none" strike="noStrik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421" name="Google Shape;421;p30"/>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2" name="Google Shape;422;p30"/>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423" name="Google Shape;423;p30"/>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424" name="Google Shape;424;p30"/>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5" name="Google Shape;425;p30"/>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426" name="Google Shape;426;p30"/>
            <p:cNvSpPr txBox="1"/>
            <p:nvPr/>
          </p:nvSpPr>
          <p:spPr>
            <a:xfrm>
              <a:off x="131244" y="3094497"/>
              <a:ext cx="1010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428" name="Google Shape;428;p30"/>
            <p:cNvSpPr/>
            <p:nvPr/>
          </p:nvSpPr>
          <p:spPr>
            <a:xfrm flipH="1" rot="-5400000">
              <a:off x="1420241" y="2580884"/>
              <a:ext cx="1367400" cy="1365900"/>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430" name="Google Shape;430;p30"/>
            <p:cNvSpPr txBox="1"/>
            <p:nvPr/>
          </p:nvSpPr>
          <p:spPr>
            <a:xfrm>
              <a:off x="1566677" y="4476333"/>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1" name="Google Shape;441;p3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42" name="Google Shape;442;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8" name="Google Shape;448;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50" name="Google Shape;450;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descr="AACFLPD0" id="451" name="Google Shape;451;p31"/>
          <p:cNvPicPr preferRelativeResize="0"/>
          <p:nvPr>
            <p:ph idx="1" type="body"/>
          </p:nvPr>
        </p:nvPicPr>
        <p:blipFill rotWithShape="1">
          <a:blip r:embed="rId4">
            <a:alphaModFix/>
          </a:blip>
          <a:srcRect b="0" l="0" r="0" t="0"/>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7" name="Google Shape;457;p3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8" name="Google Shape;458;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a:p>
            <a:pPr indent="-17780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indent="-177800" lvl="0" marL="228600" rtl="0" algn="l">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4" name="Google Shape;464;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6" name="Google Shape;466;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3000000" cy="3000000"/>
        </p:xfrm>
        <a:graphic>
          <a:graphicData uri="http://schemas.openxmlformats.org/drawingml/2006/table">
            <a:tbl>
              <a:tblPr>
                <a:noFill/>
                <a:tableStyleId>{27BF9E64-981C-45E9-A5D7-26F4CB7A94D0}</a:tableStyleId>
              </a:tblPr>
              <a:tblGrid>
                <a:gridCol w="410250"/>
                <a:gridCol w="410250"/>
                <a:gridCol w="410250"/>
                <a:gridCol w="410250"/>
              </a:tblGrid>
              <a:tr h="271250">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W</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X</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Y</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Z</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085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3" name="Google Shape;473;p3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74" name="Google Shape;474;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0" name="Google Shape;480;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2" name="Google Shape;482;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4">
            <a:alphaModFix/>
          </a:blip>
          <a:srcRect b="13325" l="8983" r="0" t="5571"/>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9" name="Google Shape;489;p34"/>
          <p:cNvPicPr preferRelativeResize="0"/>
          <p:nvPr/>
        </p:nvPicPr>
        <p:blipFill rotWithShape="1">
          <a:blip r:embed="rId3">
            <a:alphaModFix/>
          </a:blip>
          <a:srcRect b="0" l="0" r="0" t="0"/>
          <a:stretch/>
        </p:blipFill>
        <p:spPr>
          <a:xfrm>
            <a:off x="3763552" y="644775"/>
            <a:ext cx="5304248" cy="4153537"/>
          </a:xfrm>
          <a:prstGeom prst="rect">
            <a:avLst/>
          </a:prstGeom>
          <a:noFill/>
          <a:ln>
            <a:noFill/>
          </a:ln>
        </p:spPr>
      </p:pic>
      <p:pic>
        <p:nvPicPr>
          <p:cNvPr id="490" name="Google Shape;490;p3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97" name="Google Shape;497;p3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99" name="Google Shape;499;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5" name="Google Shape;50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6" name="Google Shape;50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i="1" lang="en" sz="2000">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i="1" lang="en" sz="2000">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i="1" lang="en" sz="2000">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baseline="30000"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i="1" lang="en" sz="2000">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2" name="Google Shape;512;p3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4" name="Google Shape;514;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a:t>
            </a:r>
            <a:r>
              <a:rPr b="0" baseline="30000" i="0" lang="en" sz="1600" u="none" cap="none" strike="noStrike">
                <a:solidFill>
                  <a:srgbClr val="000000"/>
                </a:solidFill>
                <a:latin typeface="Arial"/>
                <a:ea typeface="Arial"/>
                <a:cs typeface="Arial"/>
                <a:sym typeface="Arial"/>
              </a:rPr>
              <a:t>n</a:t>
            </a:r>
            <a:r>
              <a:rPr b="0" i="0" lang="en" sz="16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Multiplexer</a:t>
            </a:r>
            <a:endParaRPr b="0" i="0" sz="2000" u="none" cap="none" strike="noStrik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8" name="Google Shape;518;p35"/>
          <p:cNvCxnSpPr/>
          <p:nvPr/>
        </p:nvCxnSpPr>
        <p:spPr>
          <a:xfrm>
            <a:off x="3543300" y="33279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9" name="Google Shape;519;p35"/>
          <p:cNvCxnSpPr/>
          <p:nvPr/>
        </p:nvCxnSpPr>
        <p:spPr>
          <a:xfrm>
            <a:off x="3543300" y="3175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0" name="Google Shape;520;p35"/>
          <p:cNvCxnSpPr/>
          <p:nvPr/>
        </p:nvCxnSpPr>
        <p:spPr>
          <a:xfrm rot="10800000">
            <a:off x="43053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21" name="Google Shape;521;p35"/>
          <p:cNvCxnSpPr/>
          <p:nvPr/>
        </p:nvCxnSpPr>
        <p:spPr>
          <a:xfrm>
            <a:off x="3543300" y="34803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2" name="Google Shape;522;p35"/>
          <p:cNvCxnSpPr/>
          <p:nvPr/>
        </p:nvCxnSpPr>
        <p:spPr>
          <a:xfrm>
            <a:off x="3543300" y="39375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3" name="Google Shape;523;p35"/>
          <p:cNvSpPr txBox="1"/>
          <p:nvPr/>
        </p:nvSpPr>
        <p:spPr>
          <a:xfrm>
            <a:off x="5676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inputs</a:t>
            </a:r>
            <a:endParaRPr b="0" i="0" sz="2000" u="none" cap="none" strike="noStrik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26" name="Google Shape;526;p35"/>
          <p:cNvSpPr txBox="1"/>
          <p:nvPr/>
        </p:nvSpPr>
        <p:spPr>
          <a:xfrm>
            <a:off x="3619500" y="3556525"/>
            <a:ext cx="22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8" name="Google Shape;528;p35"/>
          <p:cNvSpPr txBox="1"/>
          <p:nvPr/>
        </p:nvSpPr>
        <p:spPr>
          <a:xfrm>
            <a:off x="4229100" y="4470926"/>
            <a:ext cx="91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30" name="Google Shape;530;p35"/>
          <p:cNvCxnSpPr/>
          <p:nvPr/>
        </p:nvCxnSpPr>
        <p:spPr>
          <a:xfrm rot="10800000">
            <a:off x="50673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31" name="Google Shape;531;p35"/>
          <p:cNvSpPr txBox="1"/>
          <p:nvPr/>
        </p:nvSpPr>
        <p:spPr>
          <a:xfrm>
            <a:off x="4686300" y="4166125"/>
            <a:ext cx="38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7" name="Google Shape;537;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8" name="Google Shape;538;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4" name="Google Shape;544;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00000" cy="3000000"/>
        </p:xfrm>
        <a:graphic>
          <a:graphicData uri="http://schemas.openxmlformats.org/drawingml/2006/table">
            <a:tbl>
              <a:tblPr>
                <a:noFill/>
                <a:tableStyleId>{27BF9E64-981C-45E9-A5D7-26F4CB7A94D0}</a:tableStyleId>
              </a:tblPr>
              <a:tblGrid>
                <a:gridCol w="429425"/>
                <a:gridCol w="429425"/>
                <a:gridCol w="429425"/>
                <a:gridCol w="429425"/>
                <a:gridCol w="429425"/>
                <a:gridCol w="457650"/>
                <a:gridCol w="457650"/>
              </a:tblGrid>
              <a:tr h="347775">
                <a:tc>
                  <a:txBody>
                    <a:bodyPr/>
                    <a:lstStyle/>
                    <a:p>
                      <a:pPr indent="0" lvl="0" marL="0" marR="0" rtl="0" algn="ctr">
                        <a:lnSpc>
                          <a:spcPct val="100000"/>
                        </a:lnSpc>
                        <a:spcBef>
                          <a:spcPts val="0"/>
                        </a:spcBef>
                        <a:spcAft>
                          <a:spcPts val="0"/>
                        </a:spcAft>
                        <a:buNone/>
                      </a:pPr>
                      <a:r>
                        <a:rPr b="1" lang="en" sz="1500">
                          <a:latin typeface="Lexend"/>
                          <a:ea typeface="Lexend"/>
                          <a:cs typeface="Lexend"/>
                          <a:sym typeface="Lexend"/>
                        </a:rPr>
                        <a:t>I</a:t>
                      </a:r>
                      <a:r>
                        <a:rPr b="1" baseline="-25000" lang="en" sz="1500">
                          <a:latin typeface="Lexend"/>
                          <a:ea typeface="Lexend"/>
                          <a:cs typeface="Lexend"/>
                          <a:sym typeface="Lexend"/>
                        </a:rPr>
                        <a:t>0</a:t>
                      </a:r>
                      <a:endParaRPr b="1"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3</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d</a:t>
                      </a:r>
                      <a:r>
                        <a:rPr baseline="-25000" lang="en" sz="1300">
                          <a:latin typeface="Lexend Medium"/>
                          <a:ea typeface="Lexend Medium"/>
                          <a:cs typeface="Lexend Medium"/>
                          <a:sym typeface="Lexend Medium"/>
                        </a:rPr>
                        <a:t>0</a:t>
                      </a:r>
                      <a:endParaRPr baseline="-25000"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7" name="Google Shape;547;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548" name="Google Shape;548;p36"/>
          <p:cNvGraphicFramePr/>
          <p:nvPr/>
        </p:nvGraphicFramePr>
        <p:xfrm>
          <a:off x="4261350" y="1282138"/>
          <a:ext cx="3000000" cy="3000000"/>
        </p:xfrm>
        <a:graphic>
          <a:graphicData uri="http://schemas.openxmlformats.org/drawingml/2006/table">
            <a:tbl>
              <a:tblPr>
                <a:noFill/>
                <a:tableStyleId>{27BF9E64-981C-45E9-A5D7-26F4CB7A94D0}</a:tableStyleId>
              </a:tblPr>
              <a:tblGrid>
                <a:gridCol w="429425"/>
                <a:gridCol w="457650"/>
                <a:gridCol w="457650"/>
              </a:tblGrid>
              <a:tr h="347775">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9" name="Google Shape;549;p36"/>
          <p:cNvSpPr/>
          <p:nvPr/>
        </p:nvSpPr>
        <p:spPr>
          <a:xfrm>
            <a:off x="3425526" y="2019975"/>
            <a:ext cx="682500" cy="3048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50" name="Google Shape;550;p36"/>
          <p:cNvPicPr preferRelativeResize="0"/>
          <p:nvPr/>
        </p:nvPicPr>
        <p:blipFill>
          <a:blip r:embed="rId4">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5">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7" name="Google Shape;557;p3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8" name="Google Shape;558;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3" name="Google Shape;563;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4" name="Google Shape;564;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4">
            <a:alphaModFix/>
          </a:blip>
          <a:srcRect b="0" l="0" r="0" t="0"/>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1" name="Google Shape;571;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2" name="Google Shape;572;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anchorCtr="0" anchor="t" bIns="91425" lIns="91425" spcFirstLastPara="1" rIns="91425" wrap="square" tIns="91425">
            <a:spAutoFit/>
          </a:bodyPr>
          <a:lstStyle/>
          <a:p>
            <a:pPr indent="-154940" lvl="0" marL="228600" rtl="0" algn="l">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i="1" lang="en" sz="2200">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i="1" lang="en" sz="2200">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171450" lvl="0" marL="228600" rtl="0" algn="l">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indent="-154940" lvl="0" marL="2286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rgbClr val="FF0000"/>
              </a:buClr>
              <a:buSzPts val="2800"/>
              <a:buFont typeface="Calibri"/>
              <a:buNone/>
            </a:pPr>
            <a:r>
              <a:rPr b="1" lang="en" sz="2200">
                <a:solidFill>
                  <a:srgbClr val="FF0000"/>
                </a:solidFill>
                <a:latin typeface="Lexend"/>
                <a:ea typeface="Lexend"/>
                <a:cs typeface="Lexend"/>
                <a:sym typeface="Lexend"/>
              </a:rPr>
              <a:t>Y = I</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2</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3</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3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8" name="Google Shape;578;p3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80" name="Google Shape;580;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6" name="Google Shape;586;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87" name="Google Shape;587;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3" name="Google Shape;593;p3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5" name="Google Shape;595;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96" name="Google Shape;596;p39"/>
          <p:cNvPicPr preferRelativeResize="0"/>
          <p:nvPr/>
        </p:nvPicPr>
        <p:blipFill>
          <a:blip r:embed="rId4">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3000000" cy="3000000"/>
        </p:xfrm>
        <a:graphic>
          <a:graphicData uri="http://schemas.openxmlformats.org/drawingml/2006/table">
            <a:tbl>
              <a:tblPr>
                <a:noFill/>
                <a:tableStyleId>{27BF9E64-981C-45E9-A5D7-26F4CB7A94D0}</a:tableStyleId>
              </a:tblPr>
              <a:tblGrid>
                <a:gridCol w="388625"/>
                <a:gridCol w="414150"/>
                <a:gridCol w="414150"/>
              </a:tblGrid>
              <a:tr h="306900">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598" name="Google Shape;598;p39"/>
          <p:cNvPicPr preferRelativeResize="0"/>
          <p:nvPr/>
        </p:nvPicPr>
        <p:blipFill>
          <a:blip r:embed="rId5">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(a) </a:t>
            </a:r>
            <a:r>
              <a:rPr lang="en" sz="1300">
                <a:solidFill>
                  <a:srgbClr val="674EA7"/>
                </a:solidFill>
                <a:latin typeface="Lexend"/>
                <a:ea typeface="Lexend"/>
                <a:cs typeface="Lexend"/>
                <a:sym typeface="Lexend"/>
              </a:rPr>
              <a:t>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7" name="Google Shape;607;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08" name="Google Shape;608;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indent="-342900" lvl="0" marL="457200" rtl="0" algn="l">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4" name="Google Shape;614;p4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6" name="Google Shape;616;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17" name="Google Shape;617;p40"/>
          <p:cNvPicPr preferRelativeResize="0"/>
          <p:nvPr/>
        </p:nvPicPr>
        <p:blipFill>
          <a:blip r:embed="rId4">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3000000" cy="3000000"/>
        </p:xfrm>
        <a:graphic>
          <a:graphicData uri="http://schemas.openxmlformats.org/drawingml/2006/table">
            <a:tbl>
              <a:tblPr>
                <a:noFill/>
                <a:tableStyleId>{27BF9E64-981C-45E9-A5D7-26F4CB7A94D0}</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4" name="Google Shape;624;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25" name="Google Shape;625;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31" name="Google Shape;631;p4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33" name="Google Shape;633;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3000000" cy="3000000"/>
        </p:xfrm>
        <a:graphic>
          <a:graphicData uri="http://schemas.openxmlformats.org/drawingml/2006/table">
            <a:tbl>
              <a:tblPr>
                <a:noFill/>
                <a:tableStyleId>{27BF9E64-981C-45E9-A5D7-26F4CB7A94D0}</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635" name="Google Shape;635;p41"/>
          <p:cNvPicPr preferRelativeResize="0"/>
          <p:nvPr/>
        </p:nvPicPr>
        <p:blipFill>
          <a:blip r:embed="rId4">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fmla="val 11276" name="adj1"/>
              <a:gd fmla="val -80531"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2" name="Google Shape;642;p42"/>
          <p:cNvPicPr preferRelativeResize="0"/>
          <p:nvPr/>
        </p:nvPicPr>
        <p:blipFill rotWithShape="1">
          <a:blip r:embed="rId3">
            <a:alphaModFix/>
          </a:blip>
          <a:srcRect b="0" l="0" r="0" t="0"/>
          <a:stretch/>
        </p:blipFill>
        <p:spPr>
          <a:xfrm>
            <a:off x="4192682" y="647302"/>
            <a:ext cx="4748295" cy="4284850"/>
          </a:xfrm>
          <a:prstGeom prst="rect">
            <a:avLst/>
          </a:prstGeom>
          <a:noFill/>
          <a:ln>
            <a:noFill/>
          </a:ln>
        </p:spPr>
      </p:pic>
      <p:pic>
        <p:nvPicPr>
          <p:cNvPr id="643" name="Google Shape;643;p4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50" name="Google Shape;650;p4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52" name="Google Shape;652;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8" name="Google Shape;658;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9" name="Google Shape;659;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a:t>
            </a:r>
            <a:r>
              <a:rPr lang="en" sz="1800">
                <a:solidFill>
                  <a:srgbClr val="C00000"/>
                </a:solidFill>
                <a:latin typeface="Lexend"/>
                <a:ea typeface="Lexend"/>
                <a:cs typeface="Lexend"/>
                <a:sym typeface="Lexend"/>
              </a:rPr>
              <a:t>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65" name="Google Shape;665;p4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7" name="Google Shape;667;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3" name="Google Shape;673;p4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74" name="Google Shape;674;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It has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80" name="Google Shape;680;p4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82" name="Google Shape;682;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83" name="Google Shape;683;p44"/>
          <p:cNvPicPr preferRelativeResize="0"/>
          <p:nvPr/>
        </p:nvPicPr>
        <p:blipFill>
          <a:blip r:embed="rId4">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9" name="Google Shape;68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90" name="Google Shape;69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a:t>
            </a:r>
            <a:r>
              <a:rPr lang="en" sz="2000">
                <a:solidFill>
                  <a:schemeClr val="dk1"/>
                </a:solidFill>
                <a:latin typeface="Lexend"/>
                <a:ea typeface="Lexend"/>
                <a:cs typeface="Lexend"/>
                <a:sym typeface="Lexend"/>
              </a:rPr>
              <a:t>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96" name="Google Shape;696;p4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98" name="Google Shape;69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3000000" cy="3000000"/>
        </p:xfrm>
        <a:graphic>
          <a:graphicData uri="http://schemas.openxmlformats.org/drawingml/2006/table">
            <a:tbl>
              <a:tblPr>
                <a:noFill/>
                <a:tableStyleId>{27BF9E64-981C-45E9-A5D7-26F4CB7A94D0}</a:tableStyleId>
              </a:tblPr>
              <a:tblGrid>
                <a:gridCol w="468675"/>
                <a:gridCol w="468675"/>
                <a:gridCol w="468675"/>
                <a:gridCol w="468675"/>
                <a:gridCol w="468675"/>
                <a:gridCol w="468675"/>
                <a:gridCol w="543575"/>
                <a:gridCol w="543575"/>
                <a:gridCol w="543575"/>
                <a:gridCol w="543575"/>
                <a:gridCol w="543575"/>
              </a:tblGrid>
              <a:tr h="32882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baseline="-25000" lang="en" sz="1500">
                          <a:latin typeface="Lexend"/>
                          <a:ea typeface="Lexend"/>
                          <a:cs typeface="Lexend"/>
                          <a:sym typeface="Lexend"/>
                        </a:rPr>
                        <a:t>0</a:t>
                      </a:r>
                      <a:endParaRPr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1</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2</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5" name="Google Shape;705;p4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06" name="Google Shape;706;p4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4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4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12" name="Google Shape;712;p4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14" name="Google Shape;714;p4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715" name="Google Shape;715;p46"/>
          <p:cNvPicPr preferRelativeResize="0"/>
          <p:nvPr/>
        </p:nvPicPr>
        <p:blipFill>
          <a:blip r:embed="rId4">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fmla="val 4981" name="adj1"/>
              <a:gd fmla="val -70672"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a:t>
            </a:r>
            <a:r>
              <a:rPr lang="en" sz="1300">
                <a:solidFill>
                  <a:srgbClr val="008000"/>
                </a:solidFill>
                <a:latin typeface="Lexend"/>
                <a:ea typeface="Lexend"/>
                <a:cs typeface="Lexend"/>
                <a:sym typeface="Lexend"/>
              </a:rPr>
              <a:t>e</a:t>
            </a:r>
            <a:r>
              <a:rPr lang="en" sz="1300">
                <a:solidFill>
                  <a:srgbClr val="008000"/>
                </a:solidFill>
                <a:latin typeface="Lexend"/>
                <a:ea typeface="Lexend"/>
                <a:cs typeface="Lexend"/>
                <a:sym typeface="Lexend"/>
              </a:rPr>
              <a:t>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5" name="Google Shape;725;p4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26" name="Google Shape;726;p4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baseline="30000" lang="en" sz="21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4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4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2" name="Google Shape;732;p4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34" name="Google Shape;734;p4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0" name="Google Shape;740;p4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41" name="Google Shape;741;p4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47" name="Google Shape;747;p4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49" name="Google Shape;749;p4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5" name="Google Shape;755;p4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56" name="Google Shape;756;p4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4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4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62" name="Google Shape;762;p4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64" name="Google Shape;764;p4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0" name="Google Shape;770;p5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71" name="Google Shape;771;p5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5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5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77" name="Google Shape;777;p5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79" name="Google Shape;779;p5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000000" cy="3000000"/>
        </p:xfrm>
        <a:graphic>
          <a:graphicData uri="http://schemas.openxmlformats.org/drawingml/2006/table">
            <a:tbl>
              <a:tblPr>
                <a:noFill/>
                <a:tableStyleId>{3FE0573B-7167-4EFC-AAEA-AED1293AA952}</a:tableStyleId>
              </a:tblPr>
              <a:tblGrid>
                <a:gridCol w="485300"/>
                <a:gridCol w="495150"/>
                <a:gridCol w="485950"/>
                <a:gridCol w="485950"/>
                <a:gridCol w="453175"/>
                <a:gridCol w="453175"/>
                <a:gridCol w="485950"/>
              </a:tblGrid>
              <a:tr h="251825">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a:solidFill>
                            <a:schemeClr val="dk1"/>
                          </a:solidFill>
                          <a:latin typeface="Lexend"/>
                          <a:ea typeface="Lexend"/>
                          <a:cs typeface="Lexend"/>
                          <a:sym typeface="Lexend"/>
                        </a:rPr>
                        <a:t>3</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2</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1</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0</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1</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0</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V</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781" name="Google Shape;781;p50"/>
          <p:cNvSpPr/>
          <p:nvPr/>
        </p:nvSpPr>
        <p:spPr>
          <a:xfrm>
            <a:off x="5128450" y="2675150"/>
            <a:ext cx="2026200" cy="30480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cap="flat" cmpd="sng" w="9525">
            <a:solidFill>
              <a:srgbClr val="5B9BD5"/>
            </a:solidFill>
            <a:prstDash val="solid"/>
            <a:miter lim="800000"/>
            <a:headEnd len="sm" w="sm" type="none"/>
            <a:tailEnd len="med" w="med" type="triangle"/>
          </a:ln>
        </p:spPr>
      </p:cxnSp>
      <p:sp>
        <p:nvSpPr>
          <p:cNvPr id="783" name="Google Shape;783;p50"/>
          <p:cNvSpPr/>
          <p:nvPr/>
        </p:nvSpPr>
        <p:spPr>
          <a:xfrm>
            <a:off x="849725" y="1847850"/>
            <a:ext cx="2362200" cy="1447800"/>
          </a:xfrm>
          <a:prstGeom prst="roundRect">
            <a:avLst>
              <a:gd fmla="val 16667"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rgbClr val="FFFFFF"/>
                </a:solidFill>
                <a:latin typeface="Lexend"/>
                <a:ea typeface="Lexend"/>
                <a:cs typeface="Lexend"/>
                <a:sym typeface="Lexend"/>
              </a:rPr>
              <a:t>Note: Amongst all 3 input, D</a:t>
            </a:r>
            <a:r>
              <a:rPr baseline="-25000" i="0" lang="en" sz="1600" u="none" cap="none" strike="noStrike">
                <a:solidFill>
                  <a:srgbClr val="FFFFFF"/>
                </a:solidFill>
                <a:latin typeface="Lexend"/>
                <a:ea typeface="Lexend"/>
                <a:cs typeface="Lexend"/>
                <a:sym typeface="Lexend"/>
              </a:rPr>
              <a:t>2</a:t>
            </a:r>
            <a:r>
              <a:rPr i="0" lang="en" sz="1600" u="none" cap="none" strike="noStrike">
                <a:solidFill>
                  <a:srgbClr val="FFFFFF"/>
                </a:solidFill>
                <a:latin typeface="Lexend"/>
                <a:ea typeface="Lexend"/>
                <a:cs typeface="Lexend"/>
                <a:sym typeface="Lexend"/>
              </a:rPr>
              <a:t> is highest so output reflects the binary value of 2</a:t>
            </a:r>
            <a:endParaRPr i="0" sz="1400" u="none" cap="none" strike="noStrik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cap="flat" cmpd="sng" w="9525">
            <a:solidFill>
              <a:srgbClr val="5B9BD5"/>
            </a:solidFill>
            <a:prstDash val="solid"/>
            <a:miter lim="800000"/>
            <a:headEnd len="sm" w="sm" type="none"/>
            <a:tailEnd len="med" w="med" type="triangle"/>
          </a:ln>
        </p:spPr>
      </p:cxnSp>
      <p:sp>
        <p:nvSpPr>
          <p:cNvPr id="785" name="Google Shape;785;p50"/>
          <p:cNvSpPr/>
          <p:nvPr/>
        </p:nvSpPr>
        <p:spPr>
          <a:xfrm>
            <a:off x="8068675" y="1265200"/>
            <a:ext cx="952500" cy="2966700"/>
          </a:xfrm>
          <a:prstGeom prst="roundRect">
            <a:avLst>
              <a:gd fmla="val 8685"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 u="none" cap="none" strike="noStrike">
                <a:solidFill>
                  <a:srgbClr val="FFFFFF"/>
                </a:solidFill>
                <a:latin typeface="Lexend"/>
                <a:ea typeface="Lexend"/>
                <a:cs typeface="Lexend"/>
                <a:sym typeface="Lexend"/>
              </a:rPr>
              <a:t>Note: V is not really an output, just shows whether there is an active input or not.</a:t>
            </a:r>
            <a:endParaRPr i="0" sz="1600" u="none" cap="none" strike="noStrik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2" name="Google Shape;792;p5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3" name="Google Shape;793;p5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5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5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8" name="Google Shape;798;p5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00" name="Google Shape;800;p5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3000000" cy="3000000"/>
        </p:xfrm>
        <a:graphic>
          <a:graphicData uri="http://schemas.openxmlformats.org/drawingml/2006/table">
            <a:tbl>
              <a:tblPr>
                <a:noFill/>
                <a:tableStyleId>{04C6065F-247D-43F0-BCF5-F7A8994FE880}</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04" name="Google Shape;804;p51"/>
          <p:cNvCxnSpPr/>
          <p:nvPr/>
        </p:nvCxnSpPr>
        <p:spPr>
          <a:xfrm rot="10800000">
            <a:off x="934979" y="1847688"/>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05" name="Google Shape;805;p51"/>
          <p:cNvSpPr txBox="1"/>
          <p:nvPr/>
        </p:nvSpPr>
        <p:spPr>
          <a:xfrm>
            <a:off x="1023625" y="1667338"/>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51"/>
          <p:cNvSpPr txBox="1"/>
          <p:nvPr/>
        </p:nvSpPr>
        <p:spPr>
          <a:xfrm>
            <a:off x="3224154" y="2926300"/>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51"/>
          <p:cNvSpPr txBox="1"/>
          <p:nvPr/>
        </p:nvSpPr>
        <p:spPr>
          <a:xfrm>
            <a:off x="2015475" y="4080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51"/>
          <p:cNvSpPr txBox="1"/>
          <p:nvPr/>
        </p:nvSpPr>
        <p:spPr>
          <a:xfrm>
            <a:off x="579029" y="335587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51"/>
          <p:cNvSpPr txBox="1"/>
          <p:nvPr/>
        </p:nvSpPr>
        <p:spPr>
          <a:xfrm>
            <a:off x="5127450" y="2042925"/>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3000000" cy="3000000"/>
        </p:xfrm>
        <a:graphic>
          <a:graphicData uri="http://schemas.openxmlformats.org/drawingml/2006/table">
            <a:tbl>
              <a:tblPr>
                <a:noFill/>
                <a:tableStyleId>{04C6065F-247D-43F0-BCF5-F7A8994FE880}</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18" name="Google Shape;818;p51"/>
          <p:cNvCxnSpPr/>
          <p:nvPr/>
        </p:nvCxnSpPr>
        <p:spPr>
          <a:xfrm rot="10800000">
            <a:off x="5634579" y="1913013"/>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19" name="Google Shape;819;p51"/>
          <p:cNvSpPr txBox="1"/>
          <p:nvPr/>
        </p:nvSpPr>
        <p:spPr>
          <a:xfrm>
            <a:off x="5723225" y="1732663"/>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51"/>
          <p:cNvSpPr txBox="1"/>
          <p:nvPr/>
        </p:nvSpPr>
        <p:spPr>
          <a:xfrm>
            <a:off x="7923754" y="2991625"/>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51"/>
          <p:cNvSpPr txBox="1"/>
          <p:nvPr/>
        </p:nvSpPr>
        <p:spPr>
          <a:xfrm>
            <a:off x="6715075" y="414552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51"/>
          <p:cNvSpPr txBox="1"/>
          <p:nvPr/>
        </p:nvSpPr>
        <p:spPr>
          <a:xfrm>
            <a:off x="5278629" y="3421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51"/>
          <p:cNvSpPr txBox="1"/>
          <p:nvPr/>
        </p:nvSpPr>
        <p:spPr>
          <a:xfrm>
            <a:off x="1374175" y="26811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cap="flat" cmpd="sng" w="254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292929"/>
              </a:solidFill>
              <a:latin typeface="Arial"/>
              <a:ea typeface="Arial"/>
              <a:cs typeface="Arial"/>
              <a:sym typeface="Arial"/>
            </a:endParaRPr>
          </a:p>
        </p:txBody>
      </p:sp>
      <p:sp>
        <p:nvSpPr>
          <p:cNvPr id="833" name="Google Shape;833;p51"/>
          <p:cNvSpPr/>
          <p:nvPr/>
        </p:nvSpPr>
        <p:spPr>
          <a:xfrm flipH="1" rot="5400000">
            <a:off x="7214380" y="206673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4" name="Google Shape;834;p51"/>
          <p:cNvSpPr/>
          <p:nvPr/>
        </p:nvSpPr>
        <p:spPr>
          <a:xfrm flipH="1" rot="-5400000">
            <a:off x="7192518" y="343688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5" name="Google Shape;835;p51"/>
          <p:cNvSpPr txBox="1"/>
          <p:nvPr/>
        </p:nvSpPr>
        <p:spPr>
          <a:xfrm>
            <a:off x="1526275" y="4429300"/>
            <a:ext cx="13770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endParaRPr baseline="-25000" sz="11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2" name="Google Shape;842;p5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43" name="Google Shape;843;p5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5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5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49" name="Google Shape;849;p5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51" name="Google Shape;851;p5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852" name="Google Shape;852;p52"/>
          <p:cNvPicPr preferRelativeResize="0"/>
          <p:nvPr/>
        </p:nvPicPr>
        <p:blipFill>
          <a:blip r:embed="rId4">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p5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58" name="Google Shape;858;p5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60" name="Google Shape;860;p5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3" name="Google Shape;863;p53"/>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4" name="Google Shape;864;p53"/>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5" name="Google Shape;865;p53"/>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6" name="Google Shape;866;p53"/>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867" name="Google Shape;867;p53"/>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868" name="Google Shape;868;p53"/>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a:t>
            </a:r>
            <a:r>
              <a:rPr lang="en" sz="3200">
                <a:latin typeface="Lexend"/>
                <a:ea typeface="Lexend"/>
                <a:cs typeface="Lexend"/>
                <a:sym typeface="Lexend"/>
              </a:rPr>
              <a:t>Implementation </a:t>
            </a:r>
            <a:r>
              <a:rPr lang="en" sz="3200">
                <a:latin typeface="Lexend"/>
                <a:ea typeface="Lexend"/>
                <a:cs typeface="Lexend"/>
                <a:sym typeface="Lexend"/>
              </a:rPr>
              <a:t>using MSI Circuits</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4" name="Google Shape;874;p5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75" name="Google Shape;875;p5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5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5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1" name="Google Shape;881;p5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83" name="Google Shape;883;p5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cap="flat" cmpd="sng" w="9525">
                <a:solidFill>
                  <a:srgbClr val="000000"/>
                </a:solidFill>
                <a:prstDash val="solid"/>
                <a:miter lim="800000"/>
                <a:headEnd len="sm" w="sm" type="none"/>
                <a:tailEnd len="sm" w="sm" type="none"/>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4">
                  <a:alphaModFix/>
                </a:blip>
                <a:srcRect b="0" l="0" r="0" t="0"/>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cap="flat" cmpd="sng" w="9525">
                    <a:solidFill>
                      <a:srgbClr val="000000"/>
                    </a:solidFill>
                    <a:prstDash val="solid"/>
                    <a:miter lim="800000"/>
                    <a:headEnd len="sm" w="sm" type="none"/>
                    <a:tailEnd len="sm" w="sm" type="none"/>
                  </a:ln>
                </p:spPr>
              </p:cxnSp>
              <p:cxnSp>
                <p:nvCxnSpPr>
                  <p:cNvPr id="891" name="Google Shape;891;p54"/>
                  <p:cNvCxnSpPr/>
                  <p:nvPr/>
                </p:nvCxnSpPr>
                <p:spPr>
                  <a:xfrm rot="10800000">
                    <a:off x="1236304" y="2895269"/>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892" name="Google Shape;892;p54"/>
                  <p:cNvCxnSpPr/>
                  <p:nvPr/>
                </p:nvCxnSpPr>
                <p:spPr>
                  <a:xfrm rot="10800000">
                    <a:off x="1260110" y="3200113"/>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893" name="Google Shape;893;p54"/>
                <p:cNvCxnSpPr/>
                <p:nvPr/>
              </p:nvCxnSpPr>
              <p:spPr>
                <a:xfrm rot="10800000">
                  <a:off x="990353" y="3684372"/>
                  <a:ext cx="4365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894" name="Google Shape;894;p54"/>
            <p:cNvSpPr txBox="1"/>
            <p:nvPr/>
          </p:nvSpPr>
          <p:spPr>
            <a:xfrm>
              <a:off x="386615" y="2562807"/>
              <a:ext cx="9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AND</a:t>
              </a:r>
              <a:endParaRPr i="0" sz="1400" u="none" cap="none" strike="noStrik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4">
                <a:alphaModFix/>
              </a:blip>
              <a:srcRect b="0" l="0" r="0" t="0"/>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cap="flat" cmpd="sng" w="9525">
                      <a:solidFill>
                        <a:srgbClr val="000000"/>
                      </a:solidFill>
                      <a:prstDash val="solid"/>
                      <a:miter lim="800000"/>
                      <a:headEnd len="sm" w="sm" type="none"/>
                      <a:tailEnd len="sm" w="sm" type="none"/>
                    </a:ln>
                  </p:spPr>
                </p:cxnSp>
                <p:cxnSp>
                  <p:nvCxnSpPr>
                    <p:cNvPr id="904" name="Google Shape;904;p54"/>
                    <p:cNvCxnSpPr/>
                    <p:nvPr/>
                  </p:nvCxnSpPr>
                  <p:spPr>
                    <a:xfrm rot="10800000">
                      <a:off x="1236003" y="2896382"/>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05" name="Google Shape;905;p54"/>
                    <p:cNvCxnSpPr/>
                    <p:nvPr/>
                  </p:nvCxnSpPr>
                  <p:spPr>
                    <a:xfrm rot="10800000">
                      <a:off x="1259814" y="3201182"/>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6" name="Google Shape;906;p54"/>
                  <p:cNvCxnSpPr/>
                  <p:nvPr/>
                </p:nvCxnSpPr>
                <p:spPr>
                  <a:xfrm rot="10800000">
                    <a:off x="5992957" y="3447245"/>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7" name="Google Shape;907;p54"/>
                <p:cNvCxnSpPr/>
                <p:nvPr/>
              </p:nvCxnSpPr>
              <p:spPr>
                <a:xfrm rot="10800000">
                  <a:off x="5723167" y="2921450"/>
                  <a:ext cx="436500" cy="0"/>
                </a:xfrm>
                <a:prstGeom prst="straightConnector1">
                  <a:avLst/>
                </a:prstGeom>
                <a:noFill/>
                <a:ln cap="flat" cmpd="sng" w="9525">
                  <a:solidFill>
                    <a:srgbClr val="000000"/>
                  </a:solidFill>
                  <a:prstDash val="solid"/>
                  <a:miter lim="800000"/>
                  <a:headEnd len="sm" w="sm" type="none"/>
                  <a:tailEnd len="sm" w="sm" type="none"/>
                </a:ln>
              </p:spPr>
            </p:cxnSp>
            <p:cxnSp>
              <p:nvCxnSpPr>
                <p:cNvPr id="908" name="Google Shape;908;p54"/>
                <p:cNvCxnSpPr/>
                <p:nvPr/>
              </p:nvCxnSpPr>
              <p:spPr>
                <a:xfrm rot="10800000">
                  <a:off x="5085087" y="3037338"/>
                  <a:ext cx="8841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909" name="Google Shape;909;p54"/>
            <p:cNvSpPr txBox="1"/>
            <p:nvPr/>
          </p:nvSpPr>
          <p:spPr>
            <a:xfrm>
              <a:off x="5084610" y="2620562"/>
              <a:ext cx="948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OR</a:t>
            </a:r>
            <a:endParaRPr i="0" sz="1400" u="none" cap="none" strike="noStrik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4">
            <a:alphaModFix/>
          </a:blip>
          <a:srcRect b="0" l="0" r="0" t="0"/>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cap="flat" cmpd="sng" w="9525">
            <a:solidFill>
              <a:srgbClr val="000000"/>
            </a:solidFill>
            <a:prstDash val="solid"/>
            <a:miter lim="800000"/>
            <a:headEnd len="sm" w="sm" type="none"/>
            <a:tailEnd len="sm" w="sm" type="none"/>
          </a:ln>
        </p:spPr>
      </p:cxnSp>
      <p:cxnSp>
        <p:nvCxnSpPr>
          <p:cNvPr id="914" name="Google Shape;914;p54"/>
          <p:cNvCxnSpPr/>
          <p:nvPr/>
        </p:nvCxnSpPr>
        <p:spPr>
          <a:xfrm rot="10800000">
            <a:off x="5787992" y="4169706"/>
            <a:ext cx="1071600" cy="0"/>
          </a:xfrm>
          <a:prstGeom prst="straightConnector1">
            <a:avLst/>
          </a:prstGeom>
          <a:noFill/>
          <a:ln cap="flat" cmpd="sng" w="9525">
            <a:solidFill>
              <a:srgbClr val="000000"/>
            </a:solidFill>
            <a:prstDash val="solid"/>
            <a:miter lim="800000"/>
            <a:headEnd len="sm" w="sm" type="none"/>
            <a:tailEnd len="sm" w="sm" type="none"/>
          </a:ln>
        </p:spPr>
      </p:cxnSp>
      <p:cxnSp>
        <p:nvCxnSpPr>
          <p:cNvPr id="915" name="Google Shape;915;p54"/>
          <p:cNvCxnSpPr/>
          <p:nvPr/>
        </p:nvCxnSpPr>
        <p:spPr>
          <a:xfrm rot="10800000">
            <a:off x="6535741" y="3712506"/>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16" name="Google Shape;916;p54"/>
          <p:cNvCxnSpPr/>
          <p:nvPr/>
        </p:nvCxnSpPr>
        <p:spPr>
          <a:xfrm rot="10800000">
            <a:off x="6451603" y="3941106"/>
            <a:ext cx="381000" cy="0"/>
          </a:xfrm>
          <a:prstGeom prst="straightConnector1">
            <a:avLst/>
          </a:prstGeom>
          <a:noFill/>
          <a:ln cap="flat" cmpd="sng" w="9525">
            <a:solidFill>
              <a:srgbClr val="000000"/>
            </a:solidFill>
            <a:prstDash val="solid"/>
            <a:miter lim="800000"/>
            <a:headEnd len="sm" w="sm" type="none"/>
            <a:tailEnd len="sm" w="sm" type="none"/>
          </a:ln>
        </p:spPr>
      </p:cxnSp>
      <p:sp>
        <p:nvSpPr>
          <p:cNvPr id="917" name="Google Shape;917;p54"/>
          <p:cNvSpPr txBox="1"/>
          <p:nvPr/>
        </p:nvSpPr>
        <p:spPr>
          <a:xfrm>
            <a:off x="5000628" y="3941107"/>
            <a:ext cx="979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NOT</a:t>
            </a:r>
            <a:endParaRPr i="0" sz="1400" u="none" cap="none" strike="noStrik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i="0" sz="1400" u="none" cap="none" strike="noStrik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cap="flat" cmpd="sng" w="9525">
            <a:solidFill>
              <a:srgbClr val="000000"/>
            </a:solidFill>
            <a:prstDash val="solid"/>
            <a:miter lim="800000"/>
            <a:headEnd len="sm" w="sm" type="none"/>
            <a:tailEnd len="sm" w="sm" type="none"/>
          </a:ln>
        </p:spPr>
      </p:cxnSp>
      <p:cxnSp>
        <p:nvCxnSpPr>
          <p:cNvPr id="925" name="Google Shape;925;p54"/>
          <p:cNvCxnSpPr/>
          <p:nvPr/>
        </p:nvCxnSpPr>
        <p:spPr>
          <a:xfrm rot="10800000">
            <a:off x="7502350" y="4531650"/>
            <a:ext cx="0" cy="103500"/>
          </a:xfrm>
          <a:prstGeom prst="straightConnector1">
            <a:avLst/>
          </a:prstGeom>
          <a:noFill/>
          <a:ln cap="flat" cmpd="sng" w="9525">
            <a:solidFill>
              <a:srgbClr val="000000"/>
            </a:solidFill>
            <a:prstDash val="solid"/>
            <a:miter lim="800000"/>
            <a:headEnd len="sm" w="sm" type="none"/>
            <a:tailEnd len="sm" w="sm"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1" name="Google Shape;931;p5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32" name="Google Shape;932;p5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5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5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8" name="Google Shape;938;p55"/>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40" name="Google Shape;940;p5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6" name="Google Shape;946;p5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47" name="Google Shape;947;p5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5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5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3" name="Google Shape;953;p5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55" name="Google Shape;955;p5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4">
              <a:alphaModFix/>
            </a:blip>
            <a:srcRect b="0" l="0" r="0" t="0"/>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0" name="Google Shape;960;p56"/>
              <p:cNvCxnSpPr/>
              <p:nvPr/>
            </p:nvCxnSpPr>
            <p:spPr>
              <a:xfrm rot="10800000">
                <a:off x="2438436" y="3886081"/>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1" name="Google Shape;961;p56"/>
              <p:cNvCxnSpPr/>
              <p:nvPr/>
            </p:nvCxnSpPr>
            <p:spPr>
              <a:xfrm rot="10800000">
                <a:off x="2438436" y="4119407"/>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2" name="Google Shape;962;p56"/>
              <p:cNvCxnSpPr/>
              <p:nvPr/>
            </p:nvCxnSpPr>
            <p:spPr>
              <a:xfrm>
                <a:off x="2438475" y="3124200"/>
                <a:ext cx="0" cy="1371300"/>
              </a:xfrm>
              <a:prstGeom prst="straightConnector1">
                <a:avLst/>
              </a:prstGeom>
              <a:noFill/>
              <a:ln cap="flat" cmpd="sng" w="9525">
                <a:solidFill>
                  <a:srgbClr val="5B9BD5"/>
                </a:solidFill>
                <a:prstDash val="solid"/>
                <a:miter lim="800000"/>
                <a:headEnd len="sm" w="sm" type="none"/>
                <a:tailEnd len="sm" w="sm" type="none"/>
              </a:ln>
            </p:spPr>
          </p:cxnSp>
          <p:sp>
            <p:nvSpPr>
              <p:cNvPr id="963" name="Google Shape;963;p56"/>
              <p:cNvSpPr txBox="1"/>
              <p:nvPr/>
            </p:nvSpPr>
            <p:spPr>
              <a:xfrm>
                <a:off x="2286000" y="45720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a)</a:t>
            </a:r>
            <a:endParaRPr i="0" sz="1000" u="none" cap="none" strike="noStrik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a:t>
            </a:r>
            <a:endParaRPr i="0" sz="1200" u="none" cap="none" strike="noStrik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5">
            <a:alphaModFix/>
          </a:blip>
          <a:srcRect b="0" l="0" r="0" t="0"/>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2" name="Google Shape;972;p5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3" name="Google Shape;973;p5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5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79" name="Google Shape;979;p57"/>
          <p:cNvSpPr txBox="1"/>
          <p:nvPr/>
        </p:nvSpPr>
        <p:spPr>
          <a:xfrm>
            <a:off x="209775" y="163775"/>
            <a:ext cx="90459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81" name="Google Shape;981;p5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7" name="Google Shape;987;p5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88" name="Google Shape;988;p5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5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5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94" name="Google Shape;994;p5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96" name="Google Shape;996;p5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4">
                <a:alphaModFix/>
              </a:blip>
              <a:srcRect b="0" l="0" r="0" t="0"/>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1     A    0    0</a:t>
              </a:r>
              <a:endParaRPr i="0" sz="1000" u="none" cap="none" strike="noStrik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   C</a:t>
              </a:r>
              <a:endParaRPr i="0" sz="1200" u="none" cap="none" strike="noStrik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5">
                <a:alphaModFix/>
              </a:blip>
              <a:srcRect b="0" l="0" r="0" t="0"/>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1</a:t>
                </a:r>
                <a:br>
                  <a:rPr b="0" i="0" lang="en" sz="2000" u="none" cap="none" strike="noStrike">
                    <a:solidFill>
                      <a:srgbClr val="000000"/>
                    </a:solidFill>
                    <a:latin typeface="Times New Roman"/>
                    <a:ea typeface="Times New Roman"/>
                    <a:cs typeface="Times New Roman"/>
                    <a:sym typeface="Times New Roman"/>
                  </a:rPr>
                </a:br>
                <a:r>
                  <a:rPr b="0" i="0" lang="en" sz="2000" u="none" cap="none" strike="noStrike">
                    <a:solidFill>
                      <a:srgbClr val="000000"/>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br>
                  <a:rPr b="0" i="0" lang="en" sz="2000" u="none" cap="none" strike="noStrike">
                    <a:solidFill>
                      <a:srgbClr val="000000"/>
                    </a:solidFill>
                    <a:latin typeface="Times New Roman"/>
                    <a:ea typeface="Times New Roman"/>
                    <a:cs typeface="Times New Roman"/>
                    <a:sym typeface="Times New Roman"/>
                  </a:rPr>
                </a:br>
                <a:endParaRPr b="0" i="0" sz="2000" u="none" cap="none" strike="noStrik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300" u="none" cap="none" strike="noStrike">
                <a:solidFill>
                  <a:srgbClr val="000000"/>
                </a:solidFill>
                <a:latin typeface="Lexend"/>
                <a:ea typeface="Lexend"/>
                <a:cs typeface="Lexend"/>
                <a:sym typeface="Lexend"/>
              </a:rPr>
              <a:t>Answer: Part ( c )</a:t>
            </a:r>
            <a:endParaRPr i="0" sz="1300" u="none" cap="none" strike="noStrik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5" name="Google Shape;1015;p5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16" name="Google Shape;1016;p5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22" name="Google Shape;1022;p59"/>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24" name="Google Shape;1024;p5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4">
            <a:alphaModFix/>
          </a:blip>
          <a:srcRect b="0" l="0" r="0" t="0"/>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5">
            <a:alphaModFix/>
          </a:blip>
          <a:srcRect b="8198" l="33528" r="32259" t="64571"/>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3" name="Google Shape;1033;p6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34" name="Google Shape;1034;p6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0" name="Google Shape;1040;p60"/>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42" name="Google Shape;1042;p6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indent="-368300" lvl="0" marL="457200" rtl="0" algn="l">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49" name="Google Shape;1049;p6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50" name="Google Shape;1050;p6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6" name="Google Shape;1056;p61"/>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8" name="Google Shape;1058;p6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4">
            <a:alphaModFix/>
          </a:blip>
          <a:srcRect b="0" l="0" r="0" t="0"/>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6" name="Google Shape;1066;p6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67" name="Google Shape;1067;p6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73" name="Google Shape;1073;p6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75" name="Google Shape;1075;p6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500">
              <a:solidFill>
                <a:schemeClr val="dk1"/>
              </a:solidFill>
              <a:latin typeface="Lexend"/>
              <a:ea typeface="Lexend"/>
              <a:cs typeface="Lexend"/>
              <a:sym typeface="Lexend"/>
            </a:endParaRPr>
          </a:p>
          <a:p>
            <a:pPr indent="0" lvl="0" marL="0" rtl="0" algn="l">
              <a:lnSpc>
                <a:spcPct val="90000"/>
              </a:lnSpc>
              <a:spcBef>
                <a:spcPts val="0"/>
              </a:spcBef>
              <a:spcAft>
                <a:spcPts val="0"/>
              </a:spcAft>
              <a:buClr>
                <a:schemeClr val="dk1"/>
              </a:buClr>
              <a:buSzPts val="2800"/>
              <a:buFont typeface="Arial"/>
              <a:buNone/>
            </a:pPr>
            <a:r>
              <a:rPr lang="en" sz="2500">
                <a:solidFill>
                  <a:schemeClr val="dk1"/>
                </a:solidFill>
                <a:latin typeface="Lexend"/>
                <a:ea typeface="Lexend"/>
                <a:cs typeface="Lexend"/>
                <a:sym typeface="Lexend"/>
              </a:rPr>
              <a:t>Using 2:1 MUX  design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AND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OR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NOT gate</a:t>
            </a:r>
            <a:endParaRPr sz="2500">
              <a:solidFill>
                <a:schemeClr val="dk1"/>
              </a:solidFill>
              <a:latin typeface="Lexend"/>
              <a:ea typeface="Lexend"/>
              <a:cs typeface="Lexend"/>
              <a:sym typeface="Lexend"/>
            </a:endParaRPr>
          </a:p>
          <a:p>
            <a:pPr indent="-50800" lvl="0" marL="228600" rtl="0" algn="l">
              <a:lnSpc>
                <a:spcPct val="90000"/>
              </a:lnSpc>
              <a:spcBef>
                <a:spcPts val="1000"/>
              </a:spcBef>
              <a:spcAft>
                <a:spcPts val="0"/>
              </a:spcAft>
              <a:buClr>
                <a:schemeClr val="dk1"/>
              </a:buClr>
              <a:buSzPts val="2800"/>
              <a:buFont typeface="Arial"/>
              <a:buNone/>
            </a:pPr>
            <a:r>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Solution: Try YOUTUBE</a:t>
            </a:r>
            <a:endParaRPr sz="25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19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2" name="Google Shape;1082;p6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83" name="Google Shape;1083;p6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0" name="Google Shape;1090;p6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92" name="Google Shape;1092;p6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3000000" cy="3000000"/>
        </p:xfrm>
        <a:graphic>
          <a:graphicData uri="http://schemas.openxmlformats.org/drawingml/2006/table">
            <a:tbl>
              <a:tblPr>
                <a:noFill/>
                <a:tableStyleId>{3FE0573B-7167-4EFC-AAEA-AED1293AA952}</a:tableStyleId>
              </a:tblPr>
              <a:tblGrid>
                <a:gridCol w="497750"/>
                <a:gridCol w="507850"/>
                <a:gridCol w="498425"/>
                <a:gridCol w="498425"/>
                <a:gridCol w="464800"/>
              </a:tblGrid>
              <a:tr h="263400">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B</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C</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min</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6</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7</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8</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9</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1095" name="Google Shape;1095;p63"/>
          <p:cNvSpPr/>
          <p:nvPr/>
        </p:nvSpPr>
        <p:spPr>
          <a:xfrm>
            <a:off x="1270000" y="2520150"/>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63"/>
          <p:cNvSpPr/>
          <p:nvPr/>
        </p:nvSpPr>
        <p:spPr>
          <a:xfrm>
            <a:off x="2229375" y="25333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63"/>
          <p:cNvSpPr/>
          <p:nvPr/>
        </p:nvSpPr>
        <p:spPr>
          <a:xfrm>
            <a:off x="781050" y="28268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63"/>
          <p:cNvSpPr/>
          <p:nvPr/>
        </p:nvSpPr>
        <p:spPr>
          <a:xfrm>
            <a:off x="2229375" y="31387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63"/>
          <p:cNvSpPr/>
          <p:nvPr/>
        </p:nvSpPr>
        <p:spPr>
          <a:xfrm>
            <a:off x="2229375"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63"/>
          <p:cNvSpPr/>
          <p:nvPr/>
        </p:nvSpPr>
        <p:spPr>
          <a:xfrm>
            <a:off x="17343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63"/>
          <p:cNvSpPr/>
          <p:nvPr/>
        </p:nvSpPr>
        <p:spPr>
          <a:xfrm>
            <a:off x="7810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02" name="Google Shape;1102;p63"/>
          <p:cNvGraphicFramePr/>
          <p:nvPr/>
        </p:nvGraphicFramePr>
        <p:xfrm>
          <a:off x="209775" y="2224401"/>
          <a:ext cx="3000000" cy="3000000"/>
        </p:xfrm>
        <a:graphic>
          <a:graphicData uri="http://schemas.openxmlformats.org/drawingml/2006/table">
            <a:tbl>
              <a:tblPr>
                <a:noFill/>
                <a:tableStyleId>{3FE0573B-7167-4EFC-AAEA-AED1293AA952}</a:tableStyleId>
              </a:tblPr>
              <a:tblGrid>
                <a:gridCol w="476225"/>
                <a:gridCol w="485900"/>
                <a:gridCol w="476900"/>
                <a:gridCol w="476900"/>
                <a:gridCol w="476900"/>
              </a:tblGrid>
              <a:tr h="263400">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I</a:t>
                      </a:r>
                      <a:r>
                        <a:rPr baseline="-25000" lang="en" sz="1100">
                          <a:latin typeface="Lexend"/>
                          <a:ea typeface="Lexend"/>
                          <a:cs typeface="Lexend"/>
                          <a:sym typeface="Lexend"/>
                        </a:rPr>
                        <a:t>0</a:t>
                      </a:r>
                      <a:endParaRPr baseline="-25000" sz="1100">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1</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2</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3</a:t>
                      </a:r>
                      <a:endParaRPr b="1" sz="1100">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3</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7</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15</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A+B’</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pic>
        <p:nvPicPr>
          <p:cNvPr id="1103" name="Google Shape;1103;p63"/>
          <p:cNvPicPr preferRelativeResize="0"/>
          <p:nvPr/>
        </p:nvPicPr>
        <p:blipFill rotWithShape="1">
          <a:blip r:embed="rId4">
            <a:alphaModFix/>
          </a:blip>
          <a:srcRect b="0" l="0" r="0" t="0"/>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u="sng">
                <a:solidFill>
                  <a:schemeClr val="hlink"/>
                </a:solidFill>
                <a:latin typeface="Lexend"/>
                <a:ea typeface="Lexend"/>
                <a:cs typeface="Lexend"/>
                <a:sym typeface="Lexend"/>
                <a:hlinkClick r:id="rId5"/>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0" name="Google Shape;1110;p6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11" name="Google Shape;1111;p6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17" name="Google Shape;1117;p6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19" name="Google Shape;1119;p6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4">
            <a:alphaModFix/>
          </a:blip>
          <a:srcRect b="0" l="6573" r="11148" t="0"/>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5">
            <a:alphaModFix/>
          </a:blip>
          <a:srcRect b="0" l="0" r="0" t="0"/>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6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28" name="Google Shape;1128;p6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30" name="Google Shape;1130;p6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3" name="Google Shape;1133;p65"/>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4" name="Google Shape;1134;p65"/>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5" name="Google Shape;1135;p65"/>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6" name="Google Shape;1136;p65"/>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1137" name="Google Shape;1137;p65"/>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1138" name="Google Shape;1138;p65"/>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44" name="Google Shape;1144;p6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45" name="Google Shape;1145;p6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1" name="Google Shape;1151;p6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53" name="Google Shape;1153;p6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9" name="Google Shape;1159;p67"/>
          <p:cNvPicPr preferRelativeResize="0"/>
          <p:nvPr/>
        </p:nvPicPr>
        <p:blipFill rotWithShape="1">
          <a:blip r:embed="rId3">
            <a:alphaModFix/>
          </a:blip>
          <a:srcRect b="16673" l="0" r="0" t="0"/>
          <a:stretch/>
        </p:blipFill>
        <p:spPr>
          <a:xfrm>
            <a:off x="868237" y="382350"/>
            <a:ext cx="7407514" cy="4494451"/>
          </a:xfrm>
          <a:prstGeom prst="rect">
            <a:avLst/>
          </a:prstGeom>
          <a:noFill/>
          <a:ln>
            <a:noFill/>
          </a:ln>
        </p:spPr>
      </p:pic>
      <p:pic>
        <p:nvPicPr>
          <p:cNvPr id="1160" name="Google Shape;1160;p6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6" name="Google Shape;1166;p67"/>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68" name="Google Shape;1168;p6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4" name="Google Shape;1174;p6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75" name="Google Shape;1175;p6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1" name="Google Shape;1181;p68"/>
          <p:cNvSpPr txBox="1"/>
          <p:nvPr/>
        </p:nvSpPr>
        <p:spPr>
          <a:xfrm>
            <a:off x="209775" y="163775"/>
            <a:ext cx="9045900" cy="140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83" name="Google Shape;1183;p6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9" name="Google Shape;1189;p6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90" name="Google Shape;1190;p69"/>
          <p:cNvSpPr txBox="1"/>
          <p:nvPr/>
        </p:nvSpPr>
        <p:spPr>
          <a:xfrm>
            <a:off x="8472258" y="45717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5" name="Google Shape;1195;p69"/>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97" name="Google Shape;1197;p6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descr="http://upload.wikimedia.org/wikipedia/commons/thumb/6/66/3x8_decoder_symbol.svg/512px-3x8_decoder_symbol.svg.png" id="1199" name="Google Shape;1199;p69"/>
            <p:cNvPicPr preferRelativeResize="0"/>
            <p:nvPr/>
          </p:nvPicPr>
          <p:blipFill rotWithShape="1">
            <a:blip r:embed="rId4">
              <a:alphaModFix/>
            </a:blip>
            <a:srcRect b="0" l="0" r="0" t="0"/>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5">
              <a:alphaModFix/>
            </a:blip>
            <a:srcRect b="0" l="0" r="0" t="0"/>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2" name="Google Shape;1202;p69"/>
          <p:cNvCxnSpPr/>
          <p:nvPr/>
        </p:nvCxnSpPr>
        <p:spPr>
          <a:xfrm>
            <a:off x="5755152" y="2002236"/>
            <a:ext cx="12405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3" name="Google Shape;1203;p69"/>
          <p:cNvCxnSpPr/>
          <p:nvPr/>
        </p:nvCxnSpPr>
        <p:spPr>
          <a:xfrm>
            <a:off x="5784688" y="2321320"/>
            <a:ext cx="1240500" cy="64200"/>
          </a:xfrm>
          <a:prstGeom prst="straightConnector1">
            <a:avLst/>
          </a:prstGeom>
          <a:noFill/>
          <a:ln cap="flat" cmpd="sng" w="9525">
            <a:solidFill>
              <a:srgbClr val="5B9BD5"/>
            </a:solidFill>
            <a:prstDash val="solid"/>
            <a:miter lim="800000"/>
            <a:headEnd len="sm" w="sm" type="none"/>
            <a:tailEnd len="sm" w="sm" type="none"/>
          </a:ln>
        </p:spPr>
      </p:cxnSp>
      <p:cxnSp>
        <p:nvCxnSpPr>
          <p:cNvPr id="1204" name="Google Shape;1204;p69"/>
          <p:cNvCxnSpPr/>
          <p:nvPr/>
        </p:nvCxnSpPr>
        <p:spPr>
          <a:xfrm>
            <a:off x="5799456" y="2528180"/>
            <a:ext cx="1181700" cy="191700"/>
          </a:xfrm>
          <a:prstGeom prst="straightConnector1">
            <a:avLst/>
          </a:prstGeom>
          <a:noFill/>
          <a:ln cap="flat" cmpd="sng" w="9525">
            <a:solidFill>
              <a:srgbClr val="5B9BD5"/>
            </a:solidFill>
            <a:prstDash val="solid"/>
            <a:miter lim="800000"/>
            <a:headEnd len="sm" w="sm" type="none"/>
            <a:tailEnd len="sm" w="sm" type="none"/>
          </a:ln>
        </p:spPr>
      </p:cxnSp>
      <p:cxnSp>
        <p:nvCxnSpPr>
          <p:cNvPr id="1205" name="Google Shape;1205;p69"/>
          <p:cNvCxnSpPr/>
          <p:nvPr/>
        </p:nvCxnSpPr>
        <p:spPr>
          <a:xfrm flipH="1" rot="10800000">
            <a:off x="5784688" y="2385154"/>
            <a:ext cx="1210800" cy="446700"/>
          </a:xfrm>
          <a:prstGeom prst="straightConnector1">
            <a:avLst/>
          </a:prstGeom>
          <a:noFill/>
          <a:ln cap="flat" cmpd="sng" w="9525">
            <a:solidFill>
              <a:srgbClr val="5B9BD5"/>
            </a:solidFill>
            <a:prstDash val="solid"/>
            <a:miter lim="800000"/>
            <a:headEnd len="sm" w="sm" type="none"/>
            <a:tailEnd len="sm" w="sm" type="none"/>
          </a:ln>
        </p:spPr>
      </p:cxnSp>
      <p:cxnSp>
        <p:nvCxnSpPr>
          <p:cNvPr id="1206" name="Google Shape;1206;p69"/>
          <p:cNvCxnSpPr/>
          <p:nvPr/>
        </p:nvCxnSpPr>
        <p:spPr>
          <a:xfrm flipH="1" rot="10800000">
            <a:off x="5799456" y="2751530"/>
            <a:ext cx="1181700" cy="351000"/>
          </a:xfrm>
          <a:prstGeom prst="straightConnector1">
            <a:avLst/>
          </a:prstGeom>
          <a:noFill/>
          <a:ln cap="flat" cmpd="sng" w="9525">
            <a:solidFill>
              <a:srgbClr val="5B9BD5"/>
            </a:solidFill>
            <a:prstDash val="solid"/>
            <a:miter lim="800000"/>
            <a:headEnd len="sm" w="sm" type="none"/>
            <a:tailEnd len="sm" w="sm" type="none"/>
          </a:ln>
        </p:spPr>
      </p:cxnSp>
      <p:cxnSp>
        <p:nvCxnSpPr>
          <p:cNvPr id="1207" name="Google Shape;1207;p69"/>
          <p:cNvCxnSpPr/>
          <p:nvPr/>
        </p:nvCxnSpPr>
        <p:spPr>
          <a:xfrm flipH="1" rot="10800000">
            <a:off x="5769920" y="2751743"/>
            <a:ext cx="1210800" cy="590100"/>
          </a:xfrm>
          <a:prstGeom prst="straightConnector1">
            <a:avLst/>
          </a:prstGeom>
          <a:noFill/>
          <a:ln cap="flat" cmpd="sng" w="9525">
            <a:solidFill>
              <a:srgbClr val="5B9BD5"/>
            </a:solidFill>
            <a:prstDash val="solid"/>
            <a:miter lim="800000"/>
            <a:headEnd len="sm" w="sm" type="none"/>
            <a:tailEnd len="sm" w="sm" type="none"/>
          </a:ln>
        </p:spPr>
      </p:cxnSp>
      <p:cxnSp>
        <p:nvCxnSpPr>
          <p:cNvPr id="1208" name="Google Shape;1208;p69"/>
          <p:cNvCxnSpPr/>
          <p:nvPr/>
        </p:nvCxnSpPr>
        <p:spPr>
          <a:xfrm flipH="1" rot="10800000">
            <a:off x="5769920" y="3134456"/>
            <a:ext cx="1210800" cy="446700"/>
          </a:xfrm>
          <a:prstGeom prst="straightConnector1">
            <a:avLst/>
          </a:prstGeom>
          <a:noFill/>
          <a:ln cap="flat" cmpd="sng" w="9525">
            <a:solidFill>
              <a:srgbClr val="5B9BD5"/>
            </a:solidFill>
            <a:prstDash val="solid"/>
            <a:miter lim="800000"/>
            <a:headEnd len="sm" w="sm" type="none"/>
            <a:tailEnd len="sm" w="sm" type="none"/>
          </a:ln>
        </p:spPr>
      </p:cxnSp>
      <p:graphicFrame>
        <p:nvGraphicFramePr>
          <p:cNvPr id="1209" name="Google Shape;1209;p69"/>
          <p:cNvGraphicFramePr/>
          <p:nvPr/>
        </p:nvGraphicFramePr>
        <p:xfrm>
          <a:off x="328350" y="1312863"/>
          <a:ext cx="3000000" cy="3000000"/>
        </p:xfrm>
        <a:graphic>
          <a:graphicData uri="http://schemas.openxmlformats.org/drawingml/2006/table">
            <a:tbl>
              <a:tblPr>
                <a:noFill/>
                <a:tableStyleId>{27BF9E64-981C-45E9-A5D7-26F4CB7A94D0}</a:tableStyleId>
              </a:tblPr>
              <a:tblGrid>
                <a:gridCol w="523650"/>
                <a:gridCol w="523650"/>
                <a:gridCol w="523650"/>
                <a:gridCol w="523650"/>
                <a:gridCol w="523650"/>
              </a:tblGrid>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15" name="Google Shape;1215;p7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16" name="Google Shape;1216;p7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22" name="Google Shape;1222;p70"/>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24" name="Google Shape;1224;p7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0" name="Google Shape;1230;p7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31" name="Google Shape;1231;p71"/>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6" name="Google Shape;1236;p71"/>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38" name="Google Shape;1238;p7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4">
            <a:alphaModFix/>
          </a:blip>
          <a:srcRect b="4451" l="0" r="0" t="5255"/>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9" name="Google Shape;1249;p7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50" name="Google Shape;1250;p7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6" name="Google Shape;1256;p72"/>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58" name="Google Shape;1258;p7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4" name="Google Shape;1264;p7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65" name="Google Shape;1265;p73"/>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70" name="Google Shape;1270;p73"/>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72" name="Google Shape;1272;p7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4">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3" name="Google Shape;1283;p7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4" name="Google Shape;1284;p7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0" name="Google Shape;1290;p7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Yourself</a:t>
            </a:r>
            <a:r>
              <a:rPr lang="en" sz="4400">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2" name="Google Shape;1292;p7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