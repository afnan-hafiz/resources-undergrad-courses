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5" r:id="rId7"/>
    <p:sldId id="26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33A16-CE6C-4AD3-9EED-E531F009E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20B5D-9714-47DA-BD62-A6ED19B95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81561-0AE9-46F8-AEEC-B6806230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660B4-344C-44D4-8F59-9BCB81A9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F919C-43E2-4C70-AA6A-03F7F5FC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0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144D-5B75-4A66-BF08-CA22A008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B46B9-7539-473F-BED5-69DB6F98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697CD-3AA8-47D8-BDA0-C54401F51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06FC0-4234-48A0-AE74-5E0CE5C7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A193C-0378-4378-B543-4A93F023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E17A-4620-4DAF-8377-09A484B97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73810-C10E-475B-BC89-526229FE0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E6C8-F97B-4090-8E63-F25F8122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0A58-BA4E-4FBD-9F3E-378485BE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BB67-43A6-4314-8E00-1F6BB9DE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F8591-A5B7-49A8-95AE-02751DE3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475D-EEA8-475D-B13B-60C5C2903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1A5D40-34EE-486F-9BD5-573C086E9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6E9C3-138B-48F7-80FA-B3764C3D3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220B4-E123-481E-B6FE-FAA34D0E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356E2-53BF-4520-B470-0C11957B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6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6E23-7CCD-4806-B65E-7788B218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17532-CC62-4593-8D54-F8FA991FD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EDCB97-8EFE-40F8-BF40-FEB400639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14BEA-1A56-40C3-A2A7-677723806D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2513F-E717-4DFB-9089-DB5FFF4FA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40DDA-CC1A-4F05-ACC3-D94E8E4D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88636-DFC3-4704-B919-7BCDC7566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A9007-B3D8-4ED4-BA46-966D2BA0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8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FE827-45BC-47B0-A2B6-5F6D5EAA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1153D-44AB-4F64-9062-E7F2C572B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FBBEE-AA3C-44C3-A4D8-F03ADDD7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4FC52-F00D-4C23-ABE1-67A7E2E6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1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F0426-55A9-4B70-94E8-5656768F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ECA99-FFAE-43FD-8511-A0E1EB84C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5F863-5768-4FC3-8784-45A1C793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9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54DBB-F94F-452B-847B-BE4CC374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909CD-362A-41F0-A34F-849DC91E1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144D3-5981-400B-8D37-56FD04C1C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E9385-A154-430A-A762-40DB1476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7B54E-712D-4E81-AABA-A253F706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39AC0-4690-4500-914F-C36B5813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8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AAC4-9E97-4412-A553-B3FE8D587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05A4F-D179-4F00-99C5-8BBFA7F1E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47949-8C2E-40E5-885D-DD50AC8DF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2E19D-607F-4F17-A2E0-792ACE5D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C6CDD-ECCB-4017-8695-D6EE99D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808A8D-A7B1-4B78-8424-86F04F3D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9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8CAF-80C3-4D28-86A4-1402A512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8D3E6-9862-4D05-B41F-B3DF61B6F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5E34B-86E3-427E-8C9F-F751DE95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043FE-EAE0-4189-8262-8C625335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CC7B-3DA1-4E6F-A2FA-CB055033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2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44A5D-67AC-47F4-A526-7806FD885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085D3-39B8-4FC0-9E1E-B89284D87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DED78-55D5-46E7-865B-C6B67B25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C1A7B-029C-4989-BBFF-18BFABB4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9B8C1-A814-4B81-B309-0735963E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98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2FD61B-5B1B-49DE-8EB1-F5C74CEE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13AE3-60BF-420B-9383-E3873F529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245EB-C8BE-4702-BE2E-187E597BB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BDBC7-B7D9-4492-BE2F-8EA6368BE52D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325C5-D0AA-40C9-B55B-9E8D4C0BC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745B-FEEE-455C-A4EE-CE8D1085C8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58CF1-6C68-44C0-80BC-DEADE1E59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1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C8526-1613-4259-8BF4-5D60F901F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FB268-D3F6-4C44-96E1-4C375097A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/>
              <a:t>Accounting for Limited Companies </a:t>
            </a:r>
          </a:p>
          <a:p>
            <a:r>
              <a:rPr lang="en-US" i="1" dirty="0"/>
              <a:t>(no book needed for this </a:t>
            </a:r>
            <a:r>
              <a:rPr lang="en-US" i="1"/>
              <a:t>chapter only)</a:t>
            </a:r>
            <a:endParaRPr lang="en-US" i="1" dirty="0"/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2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8154-444D-461E-8E2C-1338F102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Corporate entity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8BAA-07BC-475B-82F8-0A83963A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notion of </a:t>
            </a:r>
            <a:r>
              <a:rPr lang="en-US" b="1" dirty="0"/>
              <a:t>corporate entity </a:t>
            </a:r>
            <a:r>
              <a:rPr lang="en-US" dirty="0"/>
              <a:t>means that several people can band together as owners of a business by investing capital (</a:t>
            </a:r>
            <a:r>
              <a:rPr lang="en-US" i="1" dirty="0"/>
              <a:t>resources or assets that are contributed to a business to help it grow or operate</a:t>
            </a:r>
            <a:r>
              <a:rPr lang="en-US" dirty="0"/>
              <a:t>). </a:t>
            </a:r>
          </a:p>
          <a:p>
            <a:r>
              <a:rPr lang="en-US" dirty="0"/>
              <a:t>The business will be a legal entity separate from the owners (</a:t>
            </a:r>
            <a:r>
              <a:rPr lang="en-US" i="1" dirty="0"/>
              <a:t>meaning it can own assets, incur liabilities, and enter into contracts independently of its owners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022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38BA-3A16-487D-BA7A-EDEC7601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96" y="101600"/>
            <a:ext cx="10515600" cy="803275"/>
          </a:xfrm>
        </p:spPr>
        <p:txBody>
          <a:bodyPr/>
          <a:lstStyle/>
          <a:p>
            <a:r>
              <a:rPr lang="en-US" b="1" dirty="0"/>
              <a:t>Forms of capital and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56F11-2A42-4E84-A8C1-61A9F4D2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661" y="1160980"/>
            <a:ext cx="11928296" cy="490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Capital</a:t>
            </a:r>
            <a:r>
              <a:rPr lang="en-US" dirty="0"/>
              <a:t>: </a:t>
            </a:r>
            <a:r>
              <a:rPr lang="en-US" i="1" dirty="0"/>
              <a:t>resources or assets that are contributed to a business to help it grow or operate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What are the two sources of this capital?</a:t>
            </a:r>
          </a:p>
          <a:p>
            <a:pPr marL="514350" indent="-514350">
              <a:buFont typeface="+mj-lt"/>
              <a:buAutoNum type="alphaLcPeriod"/>
            </a:pPr>
            <a:r>
              <a:rPr lang="en-US" dirty="0"/>
              <a:t>What are the returns/rewards for contributing capital to a business?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 = L + O</a:t>
            </a:r>
          </a:p>
          <a:p>
            <a:pPr marL="0" indent="0">
              <a:buNone/>
            </a:pPr>
            <a:r>
              <a:rPr lang="en-US" dirty="0"/>
              <a:t>Assets (A) are essential for running a business. The funds needed to acquire these assets typically come from two sources:</a:t>
            </a:r>
          </a:p>
          <a:p>
            <a:r>
              <a:rPr lang="en-US" dirty="0"/>
              <a:t>Liabilities (L) (e.g. loan)</a:t>
            </a:r>
            <a:endParaRPr lang="en-US" i="1" dirty="0">
              <a:solidFill>
                <a:schemeClr val="accent1"/>
              </a:solidFill>
            </a:endParaRPr>
          </a:p>
          <a:p>
            <a:r>
              <a:rPr lang="en-US" dirty="0"/>
              <a:t>Owner’s Equity (O) (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portion of a company's assets that an owner can claim) </a:t>
            </a:r>
            <a:endParaRPr lang="en-US" b="0" i="1" dirty="0">
              <a:solidFill>
                <a:schemeClr val="accent1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46020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D38BA-3A16-487D-BA7A-EDEC76015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12" y="128824"/>
            <a:ext cx="10515600" cy="803275"/>
          </a:xfrm>
        </p:spPr>
        <p:txBody>
          <a:bodyPr/>
          <a:lstStyle/>
          <a:p>
            <a:r>
              <a:rPr lang="en-US" b="1" dirty="0"/>
              <a:t>Liabilities (L)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56F11-2A42-4E84-A8C1-61A9F4D2F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12" y="910518"/>
            <a:ext cx="11468928" cy="571631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CREDITOR: </a:t>
            </a:r>
            <a:r>
              <a:rPr lang="en-US" dirty="0"/>
              <a:t>an individual or institution that lends money to another party, expecting repayment in the future. This repayment typically includes the original amount borrowed plus any agreed-upon interest.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Loan </a:t>
            </a:r>
            <a:r>
              <a:rPr lang="en-US" sz="3400" dirty="0"/>
              <a:t>(e.g. from a bank):</a:t>
            </a:r>
            <a:r>
              <a:rPr lang="en-US" sz="3400" b="1" dirty="0"/>
              <a:t> </a:t>
            </a:r>
            <a:r>
              <a:rPr lang="en-US" sz="3400" dirty="0"/>
              <a:t>sum of money borrowed by corporations from a bank</a:t>
            </a:r>
          </a:p>
          <a:p>
            <a:pPr lvl="1"/>
            <a:r>
              <a:rPr lang="en-US" sz="2600" dirty="0"/>
              <a:t>As a reward for lending money to the corporation, creditor gets interest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Notes payable: </a:t>
            </a:r>
            <a:r>
              <a:rPr lang="en-US" sz="3400" dirty="0"/>
              <a:t>written agreement in which one party lends money to another party in exchange of future repayment including interest</a:t>
            </a:r>
          </a:p>
          <a:p>
            <a:pPr lvl="1"/>
            <a:r>
              <a:rPr lang="en-US" sz="2600" dirty="0"/>
              <a:t>As a reward for lending money to the corporation, creditor gets interest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Bond</a:t>
            </a:r>
            <a:r>
              <a:rPr lang="en-US" sz="3400" dirty="0"/>
              <a:t>: form of interest-bearing note payable issued by corporations</a:t>
            </a:r>
          </a:p>
          <a:p>
            <a:pPr lvl="1"/>
            <a:r>
              <a:rPr lang="en-US" sz="2600" dirty="0"/>
              <a:t>As a reward for lending money to the corporation, creditor gets interest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Debenture</a:t>
            </a:r>
            <a:r>
              <a:rPr lang="en-US" sz="3400" dirty="0"/>
              <a:t>: debt instrument used by corporations to borrow money, at a fixed rate of interest</a:t>
            </a:r>
          </a:p>
          <a:p>
            <a:pPr lvl="1"/>
            <a:r>
              <a:rPr lang="en-US" sz="2600" dirty="0"/>
              <a:t>As a reward for lending money to the corporation, creditor gets interest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400" b="1" dirty="0"/>
              <a:t>Mortgage</a:t>
            </a:r>
            <a:r>
              <a:rPr lang="en-US" sz="3400" dirty="0"/>
              <a:t>: type of loan used to purchase or maintain a home, land, or other types of real estate</a:t>
            </a:r>
          </a:p>
          <a:p>
            <a:pPr lvl="1"/>
            <a:r>
              <a:rPr lang="en-US" sz="2600" dirty="0"/>
              <a:t>As a reward for lending money to the corporation, creditor gets interest</a:t>
            </a:r>
          </a:p>
          <a:p>
            <a:pPr marL="457200" lvl="1" indent="0">
              <a:buNone/>
            </a:pPr>
            <a:endParaRPr lang="en-US" i="1" dirty="0"/>
          </a:p>
          <a:p>
            <a:pPr marL="457200" lvl="1" indent="0">
              <a:buNone/>
            </a:pPr>
            <a:r>
              <a:rPr lang="en-US" sz="2900" b="1" i="1" dirty="0">
                <a:solidFill>
                  <a:srgbClr val="FF0000"/>
                </a:solidFill>
              </a:rPr>
              <a:t>Long story short</a:t>
            </a:r>
            <a:r>
              <a:rPr lang="en-US" sz="2900" i="1" dirty="0">
                <a:solidFill>
                  <a:srgbClr val="FF0000"/>
                </a:solidFill>
              </a:rPr>
              <a:t>: loan, notes payable, bond, debenture, mortgage = corporation borrowing money from another entity and paying interest to that entity</a:t>
            </a:r>
          </a:p>
        </p:txBody>
      </p:sp>
    </p:spTree>
    <p:extLst>
      <p:ext uri="{BB962C8B-B14F-4D97-AF65-F5344CB8AC3E}">
        <p14:creationId xmlns:p14="http://schemas.microsoft.com/office/powerpoint/2010/main" val="399965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B30F2-CD9F-418B-0AA6-548D2C63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589" y="365125"/>
            <a:ext cx="11392389" cy="1325563"/>
          </a:xfrm>
        </p:spPr>
        <p:txBody>
          <a:bodyPr/>
          <a:lstStyle/>
          <a:p>
            <a:r>
              <a:rPr lang="en-US" sz="4400" b="1" dirty="0"/>
              <a:t>Owner’s Equity (O)/ Stockholders’ Equity/ Shareholders’ Equity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31B4-83A8-C292-5F17-067361D22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589" y="1825625"/>
            <a:ext cx="11614078" cy="49039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The capital of a company is divided into </a:t>
            </a:r>
            <a:r>
              <a:rPr lang="en-US" b="1" dirty="0"/>
              <a:t>shares </a:t>
            </a:r>
            <a:r>
              <a:rPr lang="en-US" dirty="0"/>
              <a:t>which are purchased by investors, who then become shareholders/owners of the company (e.g. Grameenphone). </a:t>
            </a:r>
          </a:p>
          <a:p>
            <a:pPr marL="0" indent="0">
              <a:buNone/>
            </a:pPr>
            <a:r>
              <a:rPr lang="en-US" dirty="0"/>
              <a:t>A person can become an owner of a corporation by purchasing one of two types of shares: Common Stock or Preferred Stock. The individual pays money to the corporation and receives shares/stock in exchange.</a:t>
            </a:r>
          </a:p>
          <a:p>
            <a:pPr marL="0" indent="0">
              <a:buNone/>
            </a:pPr>
            <a:r>
              <a:rPr lang="en-US" dirty="0"/>
              <a:t>For a sole proprietorship, there is a single owner. When this owner invests money into the business, the funds go into an account called “Owner’s Capital”. Similarly, in a corporation with multiple owners, their collective capital is categorized as “Common Stock” or “Preferred Stock” meaning the money invested by them goes into an account called “</a:t>
            </a:r>
            <a:r>
              <a:rPr lang="en-US" b="1" dirty="0"/>
              <a:t>Common Stock</a:t>
            </a:r>
            <a:r>
              <a:rPr lang="en-US" dirty="0"/>
              <a:t>” (if they buy “Common Stock”) or into an account called “</a:t>
            </a:r>
            <a:r>
              <a:rPr lang="en-US" b="1" dirty="0"/>
              <a:t>Preferred Stock</a:t>
            </a:r>
            <a:r>
              <a:rPr lang="en-US" dirty="0"/>
              <a:t>” (if they buy “Preferred Stock”).</a:t>
            </a:r>
          </a:p>
          <a:p>
            <a:r>
              <a:rPr lang="en-US" dirty="0"/>
              <a:t>As a reward for investing in a sole proprietorship, the owner receives a profit. Likewise, in a corporation, shareholders (investors) receive </a:t>
            </a:r>
            <a:r>
              <a:rPr lang="en-US" b="1" dirty="0"/>
              <a:t>dividends</a:t>
            </a:r>
            <a:r>
              <a:rPr lang="en-US" dirty="0"/>
              <a:t>—a share of the profits—as a reward for investing.</a:t>
            </a:r>
          </a:p>
        </p:txBody>
      </p:sp>
    </p:spTree>
    <p:extLst>
      <p:ext uri="{BB962C8B-B14F-4D97-AF65-F5344CB8AC3E}">
        <p14:creationId xmlns:p14="http://schemas.microsoft.com/office/powerpoint/2010/main" val="34634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2A2D638-F042-EAFB-6BF2-1D0FD54863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87505"/>
              </p:ext>
            </p:extLst>
          </p:nvPr>
        </p:nvGraphicFramePr>
        <p:xfrm>
          <a:off x="838200" y="1825625"/>
          <a:ext cx="10515600" cy="292608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92247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28640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 = Liabilities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 = </a:t>
                      </a:r>
                      <a:r>
                        <a:rPr lang="en-US" sz="2400" b="1" dirty="0"/>
                        <a:t>Owner’s Equity (O)/ Stockholders’ Equity/ Shareholders’ Equity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6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Contributor: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Creditor (e.g. bank)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Contributor: 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Owner/Stockholder/Shareholder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859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</a:rPr>
                        <a:t>Types: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</a:rPr>
                        <a:t>Loan, Notes payable, Bond, Debenture, Mortgage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</a:rPr>
                        <a:t>Types: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</a:rPr>
                        <a:t>Common Stock, Preferred Stock</a:t>
                      </a:r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59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/>
                        <a:t>Reward:</a:t>
                      </a:r>
                      <a:r>
                        <a:rPr lang="en-US" sz="2400" dirty="0"/>
                        <a:t>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Reward: </a:t>
                      </a:r>
                      <a:r>
                        <a:rPr lang="en-US" sz="2400" dirty="0"/>
                        <a:t>Dividend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741568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E5FEBE4-A394-7DA4-D2CC-A1530BB2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11" y="265986"/>
            <a:ext cx="10515600" cy="803275"/>
          </a:xfrm>
        </p:spPr>
        <p:txBody>
          <a:bodyPr/>
          <a:lstStyle/>
          <a:p>
            <a:r>
              <a:rPr lang="en-US" b="1" dirty="0"/>
              <a:t>Forms of capital and returns </a:t>
            </a:r>
            <a:r>
              <a:rPr lang="en-US" b="1" i="1" dirty="0"/>
              <a:t>(summary)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223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3CBF9-70ED-478F-9297-23A378CA3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Now we will prepare the first 3 financial statements of a company</a:t>
            </a:r>
            <a:endParaRPr lang="en-US" i="1" dirty="0"/>
          </a:p>
          <a:p>
            <a:r>
              <a:rPr lang="en-AU" dirty="0"/>
              <a:t>Financial statements: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AU" dirty="0"/>
              <a:t>Income statement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Stockholders’ Equity/ Shareholders’ Equity </a:t>
            </a:r>
            <a:r>
              <a:rPr lang="en-AU" dirty="0"/>
              <a:t>statement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AU" dirty="0"/>
              <a:t>Balance sheet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AU" i="1" dirty="0"/>
              <a:t>Cash flow statement (will be taught in higher level </a:t>
            </a:r>
            <a:r>
              <a:rPr lang="en-AU" i="1"/>
              <a:t>courses)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431615-75E4-42B2-A44F-6498667A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165"/>
            <a:ext cx="10515600" cy="1325563"/>
          </a:xfrm>
        </p:spPr>
        <p:txBody>
          <a:bodyPr/>
          <a:lstStyle/>
          <a:p>
            <a:r>
              <a:rPr lang="en-US" b="1" dirty="0"/>
              <a:t>Financial statement formats</a:t>
            </a:r>
          </a:p>
        </p:txBody>
      </p:sp>
    </p:spTree>
    <p:extLst>
      <p:ext uri="{BB962C8B-B14F-4D97-AF65-F5344CB8AC3E}">
        <p14:creationId xmlns:p14="http://schemas.microsoft.com/office/powerpoint/2010/main" val="703441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E94388-5FDC-4D89-BD02-F61952F4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80" y="1480053"/>
            <a:ext cx="10109200" cy="49861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9FF491B-880F-455C-BD2A-802253F6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04165"/>
            <a:ext cx="10795000" cy="9963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Financial statement formats (move to the Excel file)</a:t>
            </a:r>
          </a:p>
        </p:txBody>
      </p:sp>
    </p:spTree>
    <p:extLst>
      <p:ext uri="{BB962C8B-B14F-4D97-AF65-F5344CB8AC3E}">
        <p14:creationId xmlns:p14="http://schemas.microsoft.com/office/powerpoint/2010/main" val="146201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739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Office Theme</vt:lpstr>
      <vt:lpstr>Ch 8</vt:lpstr>
      <vt:lpstr>Corporate entity</vt:lpstr>
      <vt:lpstr>Forms of capital and returns</vt:lpstr>
      <vt:lpstr>Liabilities (L)</vt:lpstr>
      <vt:lpstr>Owner’s Equity (O)/ Stockholders’ Equity/ Shareholders’ Equity</vt:lpstr>
      <vt:lpstr>Forms of capital and returns (summary)</vt:lpstr>
      <vt:lpstr>Financial statement formats</vt:lpstr>
      <vt:lpstr>Financial statement formats (move to the Excel file)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8</dc:title>
  <dc:creator>USER</dc:creator>
  <cp:lastModifiedBy>USER</cp:lastModifiedBy>
  <cp:revision>68</cp:revision>
  <dcterms:created xsi:type="dcterms:W3CDTF">2022-11-30T10:17:12Z</dcterms:created>
  <dcterms:modified xsi:type="dcterms:W3CDTF">2025-04-20T11:01:27Z</dcterms:modified>
</cp:coreProperties>
</file>