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Open Sans SemiBold"/>
      <p:regular r:id="rId27"/>
      <p:bold r:id="rId28"/>
      <p:italic r:id="rId29"/>
      <p:boldItalic r:id="rId30"/>
    </p:embeddedFont>
    <p:embeddedFont>
      <p:font typeface="Open Sans ExtraBold"/>
      <p:bold r:id="rId31"/>
      <p:boldItalic r:id="rId32"/>
    </p:embeddedFont>
    <p:embeddedFont>
      <p:font typeface="Open Sans Medium"/>
      <p:regular r:id="rId33"/>
      <p:bold r:id="rId34"/>
      <p:italic r:id="rId35"/>
      <p:boldItalic r:id="rId36"/>
    </p:embeddedFont>
    <p:embeddedFont>
      <p:font typeface="Open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OpenSansSemiBold-bold.fntdata"/><Relationship Id="rId27" Type="http://schemas.openxmlformats.org/officeDocument/2006/relationships/font" Target="fonts/OpenSans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ExtraBold-bold.fntdata"/><Relationship Id="rId30" Type="http://schemas.openxmlformats.org/officeDocument/2006/relationships/font" Target="fonts/OpenSansSemiBold-boldItalic.fntdata"/><Relationship Id="rId11" Type="http://schemas.openxmlformats.org/officeDocument/2006/relationships/slide" Target="slides/slide6.xml"/><Relationship Id="rId33" Type="http://schemas.openxmlformats.org/officeDocument/2006/relationships/font" Target="fonts/OpenSansMedium-regular.fntdata"/><Relationship Id="rId10" Type="http://schemas.openxmlformats.org/officeDocument/2006/relationships/slide" Target="slides/slide5.xml"/><Relationship Id="rId32" Type="http://schemas.openxmlformats.org/officeDocument/2006/relationships/font" Target="fonts/OpenSansExtraBold-boldItalic.fntdata"/><Relationship Id="rId13" Type="http://schemas.openxmlformats.org/officeDocument/2006/relationships/slide" Target="slides/slide8.xml"/><Relationship Id="rId35" Type="http://schemas.openxmlformats.org/officeDocument/2006/relationships/font" Target="fonts/OpenSansMedium-italic.fntdata"/><Relationship Id="rId12" Type="http://schemas.openxmlformats.org/officeDocument/2006/relationships/slide" Target="slides/slide7.xml"/><Relationship Id="rId34" Type="http://schemas.openxmlformats.org/officeDocument/2006/relationships/font" Target="fonts/OpenSansMedium-bold.fntdata"/><Relationship Id="rId15" Type="http://schemas.openxmlformats.org/officeDocument/2006/relationships/slide" Target="slides/slide10.xml"/><Relationship Id="rId37" Type="http://schemas.openxmlformats.org/officeDocument/2006/relationships/font" Target="fonts/OpenSans-regular.fntdata"/><Relationship Id="rId14" Type="http://schemas.openxmlformats.org/officeDocument/2006/relationships/slide" Target="slides/slide9.xml"/><Relationship Id="rId36" Type="http://schemas.openxmlformats.org/officeDocument/2006/relationships/font" Target="fonts/OpenSansMedium-boldItalic.fntdata"/><Relationship Id="rId17" Type="http://schemas.openxmlformats.org/officeDocument/2006/relationships/slide" Target="slides/slide12.xml"/><Relationship Id="rId39" Type="http://schemas.openxmlformats.org/officeDocument/2006/relationships/font" Target="fonts/OpenSans-italic.fntdata"/><Relationship Id="rId16" Type="http://schemas.openxmlformats.org/officeDocument/2006/relationships/slide" Target="slides/slide11.xml"/><Relationship Id="rId38" Type="http://schemas.openxmlformats.org/officeDocument/2006/relationships/font" Target="fonts/Open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c6a1dee2f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c6a1dee2f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c6a1dee2f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c6a1dee2f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c6a1dee2f6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c6a1dee2f6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c6a1dee2f6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c6a1dee2f6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c6a1dee2f6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c6a1dee2f6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c6a1dee2f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c6a1dee2f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c6a1dee2f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c6a1dee2f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c6a1dee2f6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c6a1dee2f6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c6a1dee2f6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c6a1dee2f6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c6a1dee2f6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c6a1dee2f6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c6a1dee2f6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c6a1dee2f6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c6a1dee2f6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c6a1dee2f6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c76f01cf9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c76f01cf9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c6a1dee2f6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c6a1dee2f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c6a1dee2f6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c6a1dee2f6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c787a929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c787a929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c76f01cf9e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c76f01cf9e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c6a1dee2f6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c6a1dee2f6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c76f01cf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c76f01cf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c79a1eed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c79a1eed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8f3dad7b5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8f3dad7b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 SemiBold"/>
                <a:ea typeface="Open Sans SemiBold"/>
                <a:cs typeface="Open Sans SemiBold"/>
                <a:sym typeface="Open Sans SemiBold"/>
              </a:rPr>
              <a:t>Method</a:t>
            </a:r>
            <a:endParaRPr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311700" y="673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Introduction to Methods</a:t>
            </a:r>
            <a:endParaRPr b="1" sz="2500">
              <a:solidFill>
                <a:srgbClr val="000000"/>
              </a:solidFill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311700" y="1381075"/>
            <a:ext cx="8520600" cy="21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➢"/>
            </a:pPr>
            <a:r>
              <a:rPr lang="en" sz="1800"/>
              <a:t>Reusable blocks of code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➢"/>
            </a:pPr>
            <a:r>
              <a:rPr lang="en" sz="1800"/>
              <a:t>Perform specific tasks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➢"/>
            </a:pPr>
            <a:r>
              <a:rPr lang="en" sz="1800"/>
              <a:t>Can be called from any part of the code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➢"/>
            </a:pPr>
            <a:r>
              <a:rPr lang="en" sz="1800"/>
              <a:t>Consists of input parameters and return values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➢"/>
            </a:pPr>
            <a:r>
              <a:rPr lang="en" sz="1800"/>
              <a:t>Enhances code reusability, modularity, and maintainability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➢"/>
            </a:pPr>
            <a:r>
              <a:rPr lang="en" sz="1800"/>
              <a:t>Also known as function in some other languages</a:t>
            </a:r>
            <a:endParaRPr sz="1800"/>
          </a:p>
        </p:txBody>
      </p:sp>
      <p:sp>
        <p:nvSpPr>
          <p:cNvPr id="61" name="Google Shape;61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sz="1000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311700" y="1228675"/>
            <a:ext cx="8520600" cy="3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/>
              <a:t>Pre-defined/ built-in method:</a:t>
            </a:r>
            <a:endParaRPr sz="18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These methods are already defined in java libraries e.g: .length(), .equals(), .compareTo(), .toLowerCase() etc.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sz="1800"/>
              <a:t>User-defined method:</a:t>
            </a:r>
            <a:endParaRPr sz="18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These are the methods written by the programmer. </a:t>
            </a:r>
            <a:endParaRPr sz="18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</a:t>
            </a:r>
            <a:r>
              <a:rPr lang="en" sz="1800">
                <a:solidFill>
                  <a:schemeClr val="dk1"/>
                </a:solidFill>
              </a:rPr>
              <a:t>n this lesson, </a:t>
            </a:r>
            <a:r>
              <a:rPr lang="en" sz="1800"/>
              <a:t>w</a:t>
            </a:r>
            <a:r>
              <a:rPr lang="en" sz="1800"/>
              <a:t>e will learn how to write user-defined methods.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7" name="Google Shape;67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sz="1000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311700" y="673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Types of Methods</a:t>
            </a:r>
            <a:endParaRPr b="1" sz="2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540300" y="1228675"/>
            <a:ext cx="8520600" cy="28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There are mainly 2 parts of using a user-defined method: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Method declaration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Method calling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Method Declaration can be further broken down into more parts.</a:t>
            </a:r>
            <a:endParaRPr sz="1800"/>
          </a:p>
        </p:txBody>
      </p:sp>
      <p:sp>
        <p:nvSpPr>
          <p:cNvPr id="74" name="Google Shape;74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sz="1000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311700" y="673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User-Defined</a:t>
            </a:r>
            <a:r>
              <a:rPr b="1" lang="en" sz="2500"/>
              <a:t> Methods</a:t>
            </a:r>
            <a:endParaRPr b="1" sz="2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311700" y="749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Static Method</a:t>
            </a:r>
            <a:endParaRPr b="1" sz="2500">
              <a:solidFill>
                <a:srgbClr val="000000"/>
              </a:solidFill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331200" y="1476850"/>
            <a:ext cx="8481600" cy="29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 static method belongs to the class and not to the instance of a class.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As it belongs to the class, it can be called without creating any object.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We use the keyword “static” to define a method as static.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 can call a static method from inside any other static method.</a:t>
            </a:r>
            <a:endParaRPr sz="1800"/>
          </a:p>
        </p:txBody>
      </p:sp>
      <p:sp>
        <p:nvSpPr>
          <p:cNvPr id="82" name="Google Shape;82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sz="1000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/>
        </p:nvSpPr>
        <p:spPr>
          <a:xfrm>
            <a:off x="311700" y="6526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Method Declaration</a:t>
            </a:r>
            <a:endParaRPr b="1" sz="2500">
              <a:solidFill>
                <a:srgbClr val="000000"/>
              </a:solidFill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312575" y="1351588"/>
            <a:ext cx="8481600" cy="10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" sz="1800"/>
              <a:t>A method in java is written outside the main() method but inside the class.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➢"/>
            </a:pPr>
            <a:r>
              <a:rPr lang="en" sz="1800"/>
              <a:t>The following convention is followed when declaring a method:</a:t>
            </a:r>
            <a:endParaRPr sz="1800"/>
          </a:p>
        </p:txBody>
      </p:sp>
      <p:sp>
        <p:nvSpPr>
          <p:cNvPr id="89" name="Google Shape;89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sz="1000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563225" y="2542225"/>
            <a:ext cx="7980300" cy="165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FF"/>
                </a:solidFill>
              </a:rPr>
              <a:t>access_modifier static</a:t>
            </a:r>
            <a:r>
              <a:rPr lang="en" sz="1500"/>
              <a:t> </a:t>
            </a:r>
            <a:r>
              <a:rPr lang="en" sz="1500">
                <a:solidFill>
                  <a:srgbClr val="38761D"/>
                </a:solidFill>
              </a:rPr>
              <a:t>return_type </a:t>
            </a:r>
            <a:r>
              <a:rPr lang="en" sz="1500"/>
              <a:t>method_name</a:t>
            </a:r>
            <a:r>
              <a:rPr lang="en" sz="1500"/>
              <a:t> (</a:t>
            </a:r>
            <a:r>
              <a:rPr lang="en" sz="1500">
                <a:solidFill>
                  <a:srgbClr val="38761D"/>
                </a:solidFill>
              </a:rPr>
              <a:t>parameter_type parameter_name</a:t>
            </a:r>
            <a:r>
              <a:rPr lang="en" sz="1500"/>
              <a:t>) { 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	</a:t>
            </a:r>
            <a:r>
              <a:rPr lang="en" sz="1500">
                <a:solidFill>
                  <a:srgbClr val="38761D"/>
                </a:solidFill>
              </a:rPr>
              <a:t>method body;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	</a:t>
            </a:r>
            <a:r>
              <a:rPr lang="en" sz="1500">
                <a:solidFill>
                  <a:srgbClr val="0000FF"/>
                </a:solidFill>
              </a:rPr>
              <a:t>r</a:t>
            </a:r>
            <a:r>
              <a:rPr lang="en" sz="1500">
                <a:solidFill>
                  <a:srgbClr val="0000FF"/>
                </a:solidFill>
              </a:rPr>
              <a:t>eturn</a:t>
            </a:r>
            <a:r>
              <a:rPr lang="en" sz="1500"/>
              <a:t> return_value</a:t>
            </a:r>
            <a:r>
              <a:rPr lang="en" sz="1500"/>
              <a:t>;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}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1878675" y="2680975"/>
            <a:ext cx="4656300" cy="179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</a:rPr>
              <a:t>public</a:t>
            </a:r>
            <a:r>
              <a:rPr lang="en" sz="1800"/>
              <a:t> </a:t>
            </a:r>
            <a:r>
              <a:rPr lang="en" sz="1800">
                <a:solidFill>
                  <a:srgbClr val="0000FF"/>
                </a:solidFill>
              </a:rPr>
              <a:t>static</a:t>
            </a:r>
            <a:r>
              <a:rPr lang="en" sz="1800"/>
              <a:t> </a:t>
            </a:r>
            <a:r>
              <a:rPr lang="en" sz="1800">
                <a:solidFill>
                  <a:srgbClr val="38761D"/>
                </a:solidFill>
              </a:rPr>
              <a:t>int</a:t>
            </a:r>
            <a:r>
              <a:rPr lang="en" sz="1800"/>
              <a:t> add ( </a:t>
            </a:r>
            <a:r>
              <a:rPr lang="en" sz="1800">
                <a:solidFill>
                  <a:srgbClr val="38761D"/>
                </a:solidFill>
              </a:rPr>
              <a:t>int</a:t>
            </a:r>
            <a:r>
              <a:rPr lang="en" sz="1800"/>
              <a:t> a, </a:t>
            </a:r>
            <a:r>
              <a:rPr lang="en" sz="1800">
                <a:solidFill>
                  <a:srgbClr val="38761D"/>
                </a:solidFill>
              </a:rPr>
              <a:t>int</a:t>
            </a:r>
            <a:r>
              <a:rPr lang="en" sz="1800"/>
              <a:t> b){ 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	</a:t>
            </a:r>
            <a:r>
              <a:rPr lang="en" sz="1800">
                <a:solidFill>
                  <a:srgbClr val="38761D"/>
                </a:solidFill>
              </a:rPr>
              <a:t>int</a:t>
            </a:r>
            <a:r>
              <a:rPr lang="en" sz="1800"/>
              <a:t> sum = a+b;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	</a:t>
            </a:r>
            <a:r>
              <a:rPr lang="en" sz="1800">
                <a:solidFill>
                  <a:srgbClr val="0000FF"/>
                </a:solidFill>
              </a:rPr>
              <a:t>return</a:t>
            </a:r>
            <a:r>
              <a:rPr lang="en" sz="1800"/>
              <a:t> sum;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}</a:t>
            </a:r>
            <a:endParaRPr sz="1800"/>
          </a:p>
        </p:txBody>
      </p:sp>
      <p:sp>
        <p:nvSpPr>
          <p:cNvPr id="96" name="Google Shape;96;p19"/>
          <p:cNvSpPr/>
          <p:nvPr/>
        </p:nvSpPr>
        <p:spPr>
          <a:xfrm>
            <a:off x="2174285" y="2599246"/>
            <a:ext cx="298589" cy="205822"/>
          </a:xfrm>
          <a:prstGeom prst="flowChartMerg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/>
          <p:nvPr/>
        </p:nvSpPr>
        <p:spPr>
          <a:xfrm>
            <a:off x="3206677" y="2599246"/>
            <a:ext cx="298589" cy="205822"/>
          </a:xfrm>
          <a:prstGeom prst="flowChartMerg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/>
          <p:nvPr/>
        </p:nvSpPr>
        <p:spPr>
          <a:xfrm>
            <a:off x="3691003" y="2599246"/>
            <a:ext cx="298589" cy="205822"/>
          </a:xfrm>
          <a:prstGeom prst="flowChartMerg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/>
          <p:nvPr/>
        </p:nvSpPr>
        <p:spPr>
          <a:xfrm>
            <a:off x="4504865" y="2599246"/>
            <a:ext cx="298589" cy="205822"/>
          </a:xfrm>
          <a:prstGeom prst="flowChartMerg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/>
        </p:nvSpPr>
        <p:spPr>
          <a:xfrm>
            <a:off x="1599025" y="1808075"/>
            <a:ext cx="14490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Access modifier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2777674" y="2049435"/>
            <a:ext cx="14490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Return type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3352935" y="1822691"/>
            <a:ext cx="14490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Method name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4149658" y="2049435"/>
            <a:ext cx="18462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Method Parameters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4" name="Google Shape;104;p19"/>
          <p:cNvCxnSpPr>
            <a:endCxn id="96" idx="0"/>
          </p:cNvCxnSpPr>
          <p:nvPr/>
        </p:nvCxnSpPr>
        <p:spPr>
          <a:xfrm>
            <a:off x="2323580" y="2206246"/>
            <a:ext cx="0" cy="39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9"/>
          <p:cNvCxnSpPr/>
          <p:nvPr/>
        </p:nvCxnSpPr>
        <p:spPr>
          <a:xfrm>
            <a:off x="3839352" y="2199708"/>
            <a:ext cx="0" cy="399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9"/>
          <p:cNvCxnSpPr>
            <a:endCxn id="99" idx="0"/>
          </p:cNvCxnSpPr>
          <p:nvPr/>
        </p:nvCxnSpPr>
        <p:spPr>
          <a:xfrm flipH="1">
            <a:off x="4654159" y="2369746"/>
            <a:ext cx="3300" cy="22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9"/>
          <p:cNvCxnSpPr/>
          <p:nvPr/>
        </p:nvCxnSpPr>
        <p:spPr>
          <a:xfrm flipH="1">
            <a:off x="3353450" y="2384704"/>
            <a:ext cx="5100" cy="216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" name="Google Shape;108;p19"/>
          <p:cNvSpPr/>
          <p:nvPr/>
        </p:nvSpPr>
        <p:spPr>
          <a:xfrm rot="5400000">
            <a:off x="4521263" y="3324056"/>
            <a:ext cx="326894" cy="188000"/>
          </a:xfrm>
          <a:prstGeom prst="flowChartMerg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9" name="Google Shape;109;p19"/>
          <p:cNvCxnSpPr/>
          <p:nvPr/>
        </p:nvCxnSpPr>
        <p:spPr>
          <a:xfrm flipH="1">
            <a:off x="4778591" y="3415797"/>
            <a:ext cx="4419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" name="Google Shape;110;p19"/>
          <p:cNvSpPr/>
          <p:nvPr/>
        </p:nvSpPr>
        <p:spPr>
          <a:xfrm>
            <a:off x="4234525" y="3215199"/>
            <a:ext cx="298800" cy="393000"/>
          </a:xfrm>
          <a:prstGeom prst="rightBrace">
            <a:avLst>
              <a:gd fmla="val 14885" name="adj1"/>
              <a:gd fmla="val 51711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 txBox="1"/>
          <p:nvPr/>
        </p:nvSpPr>
        <p:spPr>
          <a:xfrm>
            <a:off x="5263265" y="3190497"/>
            <a:ext cx="12717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Method Body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19"/>
          <p:cNvSpPr/>
          <p:nvPr/>
        </p:nvSpPr>
        <p:spPr>
          <a:xfrm rot="5400000">
            <a:off x="3794038" y="3752106"/>
            <a:ext cx="326894" cy="188000"/>
          </a:xfrm>
          <a:prstGeom prst="flowChartMerg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3" name="Google Shape;113;p19"/>
          <p:cNvCxnSpPr/>
          <p:nvPr/>
        </p:nvCxnSpPr>
        <p:spPr>
          <a:xfrm flipH="1">
            <a:off x="4051366" y="3843847"/>
            <a:ext cx="4419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p19"/>
          <p:cNvSpPr txBox="1"/>
          <p:nvPr/>
        </p:nvSpPr>
        <p:spPr>
          <a:xfrm>
            <a:off x="4533315" y="3682647"/>
            <a:ext cx="12717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Return Value</a:t>
            </a:r>
            <a:endParaRPr b="1"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-148075" y="1087275"/>
            <a:ext cx="84816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Declaring a method that adds two numbers </a:t>
            </a:r>
            <a:r>
              <a:rPr lang="en" sz="1800"/>
              <a:t>received</a:t>
            </a:r>
            <a:r>
              <a:rPr lang="en" sz="1800"/>
              <a:t> as parameters.</a:t>
            </a:r>
            <a:endParaRPr sz="1800"/>
          </a:p>
        </p:txBody>
      </p:sp>
      <p:sp>
        <p:nvSpPr>
          <p:cNvPr id="116" name="Google Shape;116;p19"/>
          <p:cNvSpPr txBox="1"/>
          <p:nvPr/>
        </p:nvSpPr>
        <p:spPr>
          <a:xfrm>
            <a:off x="311700" y="6526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Method Declaration Cont.</a:t>
            </a:r>
            <a:endParaRPr b="1" sz="2500">
              <a:solidFill>
                <a:srgbClr val="000000"/>
              </a:solidFill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sz="1000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/>
        </p:nvSpPr>
        <p:spPr>
          <a:xfrm>
            <a:off x="311700" y="77901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Method Body</a:t>
            </a:r>
            <a:endParaRPr b="1" sz="2500">
              <a:solidFill>
                <a:srgbClr val="000000"/>
              </a:solidFill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331200" y="1457188"/>
            <a:ext cx="8481600" cy="29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Any set of code lines written inside the method.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Any variable declared inside the scope of a method is not accessible from outside including the parameter variables.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No line is executed after the </a:t>
            </a:r>
            <a:r>
              <a:rPr lang="en" sz="1800">
                <a:solidFill>
                  <a:srgbClr val="0000FF"/>
                </a:solidFill>
              </a:rPr>
              <a:t>“return”</a:t>
            </a:r>
            <a:r>
              <a:rPr lang="en" sz="1800"/>
              <a:t> statement.</a:t>
            </a:r>
            <a:endParaRPr sz="1800"/>
          </a:p>
        </p:txBody>
      </p:sp>
      <p:sp>
        <p:nvSpPr>
          <p:cNvPr id="124" name="Google Shape;124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sz="1000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/>
        </p:nvSpPr>
        <p:spPr>
          <a:xfrm>
            <a:off x="331200" y="1539225"/>
            <a:ext cx="8481600" cy="29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To declare a method we need to define what type of variable the method is returning.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If we do not </a:t>
            </a:r>
            <a:r>
              <a:rPr lang="en" sz="1800"/>
              <a:t>explicitly</a:t>
            </a:r>
            <a:r>
              <a:rPr lang="en" sz="1800"/>
              <a:t> return any data or variable from the method it returns Null and that is declared as “void” in the method declaration.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0" name="Google Shape;130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sz="1000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311700" y="749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Return Type</a:t>
            </a:r>
            <a:endParaRPr b="1" sz="2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sz="1000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37" name="Google Shape;137;p22"/>
          <p:cNvSpPr txBox="1"/>
          <p:nvPr>
            <p:ph type="title"/>
          </p:nvPr>
        </p:nvSpPr>
        <p:spPr>
          <a:xfrm>
            <a:off x="540300" y="410450"/>
            <a:ext cx="2579400" cy="4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</a:t>
            </a:r>
            <a:r>
              <a:rPr lang="en" sz="1800"/>
              <a:t>oid r</a:t>
            </a:r>
            <a:r>
              <a:rPr lang="en" sz="1800"/>
              <a:t>eturn </a:t>
            </a:r>
            <a:endParaRPr sz="1800"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311700" y="856200"/>
            <a:ext cx="2808000" cy="15789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FF"/>
                </a:solidFill>
              </a:rPr>
              <a:t>static </a:t>
            </a:r>
            <a:r>
              <a:rPr lang="en"/>
              <a:t>void print_sum( </a:t>
            </a:r>
            <a:r>
              <a:rPr lang="en">
                <a:solidFill>
                  <a:srgbClr val="0000FF"/>
                </a:solidFill>
              </a:rPr>
              <a:t>int </a:t>
            </a:r>
            <a:r>
              <a:rPr lang="en"/>
              <a:t>a, </a:t>
            </a:r>
            <a:r>
              <a:rPr lang="en">
                <a:solidFill>
                  <a:srgbClr val="0000FF"/>
                </a:solidFill>
              </a:rPr>
              <a:t>int </a:t>
            </a:r>
            <a:r>
              <a:rPr lang="en"/>
              <a:t>b) {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</a:t>
            </a:r>
            <a:r>
              <a:rPr lang="en">
                <a:solidFill>
                  <a:srgbClr val="0000FF"/>
                </a:solidFill>
              </a:rPr>
              <a:t>int </a:t>
            </a:r>
            <a:r>
              <a:rPr lang="en"/>
              <a:t>sum = a+b;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</a:t>
            </a:r>
            <a:r>
              <a:rPr lang="en">
                <a:solidFill>
                  <a:srgbClr val="0000FF"/>
                </a:solidFill>
              </a:rPr>
              <a:t>System</a:t>
            </a:r>
            <a:r>
              <a:rPr lang="en"/>
              <a:t>.out.println(sum);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} </a:t>
            </a:r>
            <a:r>
              <a:rPr lang="en">
                <a:solidFill>
                  <a:srgbClr val="6AA84F"/>
                </a:solidFill>
              </a:rPr>
              <a:t>//this method does not return any value.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139" name="Google Shape;139;p22"/>
          <p:cNvSpPr/>
          <p:nvPr/>
        </p:nvSpPr>
        <p:spPr>
          <a:xfrm>
            <a:off x="294400" y="421275"/>
            <a:ext cx="2460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1</a:t>
            </a:r>
            <a:endParaRPr sz="13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40" name="Google Shape;140;p22"/>
          <p:cNvSpPr txBox="1"/>
          <p:nvPr>
            <p:ph type="title"/>
          </p:nvPr>
        </p:nvSpPr>
        <p:spPr>
          <a:xfrm>
            <a:off x="3439800" y="421275"/>
            <a:ext cx="2579400" cy="4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</a:t>
            </a:r>
            <a:r>
              <a:rPr lang="en" sz="1800"/>
              <a:t>nt return</a:t>
            </a:r>
            <a:endParaRPr sz="1800"/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3211200" y="867025"/>
            <a:ext cx="2808000" cy="15675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static </a:t>
            </a:r>
            <a:r>
              <a:rPr lang="en"/>
              <a:t>int sum( </a:t>
            </a:r>
            <a:r>
              <a:rPr lang="en">
                <a:solidFill>
                  <a:srgbClr val="0000FF"/>
                </a:solidFill>
              </a:rPr>
              <a:t>int </a:t>
            </a:r>
            <a:r>
              <a:rPr lang="en"/>
              <a:t>a, </a:t>
            </a:r>
            <a:r>
              <a:rPr lang="en">
                <a:solidFill>
                  <a:srgbClr val="0000FF"/>
                </a:solidFill>
              </a:rPr>
              <a:t>int </a:t>
            </a:r>
            <a:r>
              <a:rPr lang="en"/>
              <a:t>b) {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</a:t>
            </a:r>
            <a:r>
              <a:rPr lang="en">
                <a:solidFill>
                  <a:srgbClr val="0000FF"/>
                </a:solidFill>
              </a:rPr>
              <a:t>int </a:t>
            </a:r>
            <a:r>
              <a:rPr lang="en"/>
              <a:t>sum = a+b;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</a:t>
            </a:r>
            <a:r>
              <a:rPr lang="en">
                <a:solidFill>
                  <a:srgbClr val="0000FF"/>
                </a:solidFill>
              </a:rPr>
              <a:t>r</a:t>
            </a:r>
            <a:r>
              <a:rPr lang="en">
                <a:solidFill>
                  <a:srgbClr val="0000FF"/>
                </a:solidFill>
              </a:rPr>
              <a:t>eturn </a:t>
            </a:r>
            <a:r>
              <a:rPr lang="en"/>
              <a:t>sum;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} </a:t>
            </a:r>
            <a:r>
              <a:rPr lang="en">
                <a:solidFill>
                  <a:srgbClr val="6AA84F"/>
                </a:solidFill>
              </a:rPr>
              <a:t>//this method returns an integer type value.</a:t>
            </a:r>
            <a:endParaRPr/>
          </a:p>
        </p:txBody>
      </p:sp>
      <p:sp>
        <p:nvSpPr>
          <p:cNvPr id="142" name="Google Shape;142;p22"/>
          <p:cNvSpPr/>
          <p:nvPr/>
        </p:nvSpPr>
        <p:spPr>
          <a:xfrm>
            <a:off x="3193900" y="432100"/>
            <a:ext cx="2460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2</a:t>
            </a:r>
            <a:endParaRPr sz="13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43" name="Google Shape;143;p22"/>
          <p:cNvSpPr txBox="1"/>
          <p:nvPr>
            <p:ph type="title"/>
          </p:nvPr>
        </p:nvSpPr>
        <p:spPr>
          <a:xfrm>
            <a:off x="6363125" y="421700"/>
            <a:ext cx="2579400" cy="4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boolean</a:t>
            </a:r>
            <a:r>
              <a:rPr lang="en" sz="1800"/>
              <a:t> return</a:t>
            </a:r>
            <a:endParaRPr sz="1800"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6134525" y="867450"/>
            <a:ext cx="2808000" cy="37854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static </a:t>
            </a:r>
            <a:r>
              <a:rPr lang="en"/>
              <a:t>boolean </a:t>
            </a:r>
            <a:r>
              <a:rPr lang="en"/>
              <a:t>check( </a:t>
            </a:r>
            <a:r>
              <a:rPr lang="en">
                <a:solidFill>
                  <a:srgbClr val="0000FF"/>
                </a:solidFill>
              </a:rPr>
              <a:t>int </a:t>
            </a:r>
            <a:r>
              <a:rPr lang="en"/>
              <a:t>a) {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if(a&gt;10){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return </a:t>
            </a:r>
            <a:r>
              <a:rPr lang="en"/>
              <a:t>true;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</a:t>
            </a:r>
            <a:r>
              <a:rPr lang="en"/>
              <a:t>e</a:t>
            </a:r>
            <a:r>
              <a:rPr lang="en"/>
              <a:t>lse{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solidFill>
                  <a:srgbClr val="0000FF"/>
                </a:solidFill>
              </a:rPr>
              <a:t>return </a:t>
            </a:r>
            <a:r>
              <a:rPr lang="en"/>
              <a:t>false;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}</a:t>
            </a:r>
            <a:r>
              <a:rPr lang="en">
                <a:solidFill>
                  <a:srgbClr val="0000FF"/>
                </a:solidFill>
              </a:rPr>
              <a:t>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} </a:t>
            </a:r>
            <a:r>
              <a:rPr lang="en">
                <a:solidFill>
                  <a:srgbClr val="6AA84F"/>
                </a:solidFill>
              </a:rPr>
              <a:t>//this method returns a boolean type value.</a:t>
            </a:r>
            <a:endParaRPr/>
          </a:p>
        </p:txBody>
      </p:sp>
      <p:sp>
        <p:nvSpPr>
          <p:cNvPr id="145" name="Google Shape;145;p22"/>
          <p:cNvSpPr/>
          <p:nvPr/>
        </p:nvSpPr>
        <p:spPr>
          <a:xfrm>
            <a:off x="6117225" y="432525"/>
            <a:ext cx="2460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3</a:t>
            </a:r>
            <a:endParaRPr sz="13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46" name="Google Shape;146;p22"/>
          <p:cNvSpPr txBox="1"/>
          <p:nvPr>
            <p:ph type="title"/>
          </p:nvPr>
        </p:nvSpPr>
        <p:spPr>
          <a:xfrm>
            <a:off x="548950" y="2628825"/>
            <a:ext cx="2579400" cy="4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String</a:t>
            </a:r>
            <a:r>
              <a:rPr lang="en" sz="1800"/>
              <a:t> return </a:t>
            </a:r>
            <a:endParaRPr sz="1800"/>
          </a:p>
        </p:txBody>
      </p:sp>
      <p:sp>
        <p:nvSpPr>
          <p:cNvPr id="147" name="Google Shape;147;p22"/>
          <p:cNvSpPr txBox="1"/>
          <p:nvPr>
            <p:ph idx="1" type="body"/>
          </p:nvPr>
        </p:nvSpPr>
        <p:spPr>
          <a:xfrm>
            <a:off x="320350" y="3074575"/>
            <a:ext cx="2808000" cy="15789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static </a:t>
            </a:r>
            <a:r>
              <a:rPr lang="en"/>
              <a:t>String okay</a:t>
            </a:r>
            <a:r>
              <a:rPr lang="en"/>
              <a:t>(int a, String str1) {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</a:t>
            </a:r>
            <a:r>
              <a:rPr lang="en">
                <a:solidFill>
                  <a:srgbClr val="0000FF"/>
                </a:solidFill>
              </a:rPr>
              <a:t>return </a:t>
            </a:r>
            <a:r>
              <a:rPr lang="en">
                <a:solidFill>
                  <a:srgbClr val="595959"/>
                </a:solidFill>
              </a:rPr>
              <a:t>(a+2)+str1;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} </a:t>
            </a:r>
            <a:r>
              <a:rPr lang="en">
                <a:solidFill>
                  <a:srgbClr val="6AA84F"/>
                </a:solidFill>
              </a:rPr>
              <a:t>//this method returns a String type value.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148" name="Google Shape;148;p22"/>
          <p:cNvSpPr/>
          <p:nvPr/>
        </p:nvSpPr>
        <p:spPr>
          <a:xfrm>
            <a:off x="303050" y="2639650"/>
            <a:ext cx="2460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4</a:t>
            </a:r>
            <a:endParaRPr sz="13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49" name="Google Shape;149;p22"/>
          <p:cNvSpPr txBox="1"/>
          <p:nvPr>
            <p:ph type="title"/>
          </p:nvPr>
        </p:nvSpPr>
        <p:spPr>
          <a:xfrm>
            <a:off x="3464675" y="2628250"/>
            <a:ext cx="2579400" cy="4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</a:t>
            </a:r>
            <a:r>
              <a:rPr lang="en" sz="1800"/>
              <a:t>ouble </a:t>
            </a:r>
            <a:r>
              <a:rPr lang="en" sz="1800"/>
              <a:t>return </a:t>
            </a:r>
            <a:endParaRPr sz="1800"/>
          </a:p>
        </p:txBody>
      </p:sp>
      <p:sp>
        <p:nvSpPr>
          <p:cNvPr id="150" name="Google Shape;150;p22"/>
          <p:cNvSpPr txBox="1"/>
          <p:nvPr>
            <p:ph idx="1" type="body"/>
          </p:nvPr>
        </p:nvSpPr>
        <p:spPr>
          <a:xfrm>
            <a:off x="3236075" y="3074000"/>
            <a:ext cx="2808000" cy="15789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static </a:t>
            </a:r>
            <a:r>
              <a:rPr lang="en"/>
              <a:t>double point</a:t>
            </a:r>
            <a:r>
              <a:rPr lang="en"/>
              <a:t>(int a) {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	</a:t>
            </a:r>
            <a:r>
              <a:rPr lang="en"/>
              <a:t>d</a:t>
            </a:r>
            <a:r>
              <a:rPr lang="en"/>
              <a:t>ouble db = a/10.0;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return </a:t>
            </a:r>
            <a:r>
              <a:rPr lang="en">
                <a:solidFill>
                  <a:srgbClr val="595959"/>
                </a:solidFill>
              </a:rPr>
              <a:t>db</a:t>
            </a:r>
            <a:r>
              <a:rPr lang="en">
                <a:solidFill>
                  <a:srgbClr val="595959"/>
                </a:solidFill>
              </a:rPr>
              <a:t>;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} </a:t>
            </a:r>
            <a:r>
              <a:rPr lang="en">
                <a:solidFill>
                  <a:srgbClr val="6AA84F"/>
                </a:solidFill>
              </a:rPr>
              <a:t>//this method returns a double type variable.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3218775" y="2639075"/>
            <a:ext cx="2460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5</a:t>
            </a:r>
            <a:endParaRPr sz="13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/>
        </p:nvSpPr>
        <p:spPr>
          <a:xfrm>
            <a:off x="311700" y="1476625"/>
            <a:ext cx="8481600" cy="28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/>
              <a:t>To run a method we MUST call the method.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/>
              <a:t>Method call is done inside the main() method.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/>
              <a:t>The number of arguments passed must be equal to parameters </a:t>
            </a:r>
            <a:r>
              <a:rPr lang="en" sz="1800"/>
              <a:t>received</a:t>
            </a:r>
            <a:r>
              <a:rPr lang="en" sz="1800"/>
              <a:t>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/>
              <a:t>The </a:t>
            </a:r>
            <a:r>
              <a:rPr lang="en" sz="1800"/>
              <a:t>sequence of the parameters passed is important.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/>
              <a:t>The type of the </a:t>
            </a:r>
            <a:r>
              <a:rPr lang="en" sz="1800"/>
              <a:t>arguments</a:t>
            </a:r>
            <a:r>
              <a:rPr lang="en" sz="1800"/>
              <a:t> passed must be same as type of parameters being </a:t>
            </a:r>
            <a:r>
              <a:rPr lang="en" sz="1800"/>
              <a:t>received</a:t>
            </a:r>
            <a:r>
              <a:rPr lang="en" sz="1800"/>
              <a:t>. 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/>
              <a:t>After method call, a value is returned to the line of method call. 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7" name="Google Shape;157;p23"/>
          <p:cNvSpPr txBox="1"/>
          <p:nvPr/>
        </p:nvSpPr>
        <p:spPr>
          <a:xfrm>
            <a:off x="311700" y="769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Method Call</a:t>
            </a:r>
            <a:endParaRPr b="1" sz="2500">
              <a:solidFill>
                <a:srgbClr val="000000"/>
              </a:solidFill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sz="1000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Method Call Cont.</a:t>
            </a:r>
            <a:endParaRPr b="1"/>
          </a:p>
        </p:txBody>
      </p:sp>
      <p:sp>
        <p:nvSpPr>
          <p:cNvPr id="164" name="Google Shape;164;p24"/>
          <p:cNvSpPr txBox="1"/>
          <p:nvPr/>
        </p:nvSpPr>
        <p:spPr>
          <a:xfrm>
            <a:off x="1612200" y="1722775"/>
            <a:ext cx="6162000" cy="188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 </a:t>
            </a:r>
            <a:r>
              <a:rPr lang="en" sz="1500">
                <a:solidFill>
                  <a:srgbClr val="0000FF"/>
                </a:solidFill>
              </a:rPr>
              <a:t>public static </a:t>
            </a:r>
            <a:r>
              <a:rPr lang="en" sz="1500">
                <a:solidFill>
                  <a:schemeClr val="dk1"/>
                </a:solidFill>
              </a:rPr>
              <a:t>void main(</a:t>
            </a:r>
            <a:r>
              <a:rPr lang="en" sz="1500">
                <a:solidFill>
                  <a:srgbClr val="38761D"/>
                </a:solidFill>
              </a:rPr>
              <a:t>String</a:t>
            </a:r>
            <a:r>
              <a:rPr lang="en" sz="1500">
                <a:solidFill>
                  <a:schemeClr val="dk1"/>
                </a:solidFill>
              </a:rPr>
              <a:t> [] args){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   </a:t>
            </a:r>
            <a:r>
              <a:rPr lang="en" sz="1500">
                <a:solidFill>
                  <a:srgbClr val="38761D"/>
                </a:solidFill>
              </a:rPr>
              <a:t>int</a:t>
            </a:r>
            <a:r>
              <a:rPr lang="en" sz="1500">
                <a:solidFill>
                  <a:srgbClr val="EFEFEF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answer = add(4,5);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    </a:t>
            </a:r>
            <a:r>
              <a:rPr lang="en" sz="1500">
                <a:solidFill>
                  <a:srgbClr val="0000FF"/>
                </a:solidFill>
              </a:rPr>
              <a:t>System</a:t>
            </a:r>
            <a:r>
              <a:rPr lang="en" sz="1500">
                <a:solidFill>
                  <a:schemeClr val="dk1"/>
                </a:solidFill>
              </a:rPr>
              <a:t>.out.println(answer);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 }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65" name="Google Shape;165;p24"/>
          <p:cNvSpPr txBox="1"/>
          <p:nvPr/>
        </p:nvSpPr>
        <p:spPr>
          <a:xfrm>
            <a:off x="311700" y="1000075"/>
            <a:ext cx="8481600" cy="7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Calling the previously written add method.</a:t>
            </a:r>
            <a:endParaRPr sz="1800"/>
          </a:p>
        </p:txBody>
      </p:sp>
      <p:sp>
        <p:nvSpPr>
          <p:cNvPr id="166" name="Google Shape;166;p24"/>
          <p:cNvSpPr txBox="1"/>
          <p:nvPr/>
        </p:nvSpPr>
        <p:spPr>
          <a:xfrm>
            <a:off x="1612200" y="3607075"/>
            <a:ext cx="6162000" cy="118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013">
                <a:solidFill>
                  <a:schemeClr val="dk1"/>
                </a:solidFill>
              </a:rPr>
              <a:t>Welcome to DrJava.  Working directory is E:\Java</a:t>
            </a:r>
            <a:endParaRPr sz="101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13">
                <a:solidFill>
                  <a:schemeClr val="dk1"/>
                </a:solidFill>
              </a:rPr>
              <a:t>&gt; run function1</a:t>
            </a:r>
            <a:endParaRPr sz="101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13">
                <a:solidFill>
                  <a:srgbClr val="38761D"/>
                </a:solidFill>
              </a:rPr>
              <a:t>9</a:t>
            </a:r>
            <a:endParaRPr sz="1013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rPr lang="en" sz="1013">
                <a:solidFill>
                  <a:schemeClr val="dk1"/>
                </a:solidFill>
              </a:rPr>
              <a:t>&gt; </a:t>
            </a:r>
            <a:endParaRPr sz="1013">
              <a:solidFill>
                <a:schemeClr val="dk1"/>
              </a:solidFill>
            </a:endParaRPr>
          </a:p>
        </p:txBody>
      </p:sp>
      <p:sp>
        <p:nvSpPr>
          <p:cNvPr id="167" name="Google Shape;167;p24"/>
          <p:cNvSpPr/>
          <p:nvPr/>
        </p:nvSpPr>
        <p:spPr>
          <a:xfrm rot="5400000">
            <a:off x="4650913" y="2280806"/>
            <a:ext cx="326894" cy="188000"/>
          </a:xfrm>
          <a:prstGeom prst="flowChartMerg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8" name="Google Shape;168;p24"/>
          <p:cNvCxnSpPr/>
          <p:nvPr/>
        </p:nvCxnSpPr>
        <p:spPr>
          <a:xfrm flipH="1">
            <a:off x="4908241" y="2372547"/>
            <a:ext cx="441900" cy="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24"/>
          <p:cNvSpPr txBox="1"/>
          <p:nvPr/>
        </p:nvSpPr>
        <p:spPr>
          <a:xfrm>
            <a:off x="5392927" y="2147250"/>
            <a:ext cx="17784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853"/>
              <a:buNone/>
            </a:pPr>
            <a:r>
              <a:rPr b="1" lang="en" sz="1230">
                <a:solidFill>
                  <a:srgbClr val="0000FF"/>
                </a:solidFill>
              </a:rPr>
              <a:t>Passing the same type of arguments as declared (int)</a:t>
            </a:r>
            <a:endParaRPr b="1" sz="1230">
              <a:solidFill>
                <a:srgbClr val="0000FF"/>
              </a:solidFill>
            </a:endParaRPr>
          </a:p>
        </p:txBody>
      </p:sp>
      <p:sp>
        <p:nvSpPr>
          <p:cNvPr id="170" name="Google Shape;170;p24"/>
          <p:cNvSpPr/>
          <p:nvPr/>
        </p:nvSpPr>
        <p:spPr>
          <a:xfrm rot="-5400000">
            <a:off x="1530919" y="2246081"/>
            <a:ext cx="326894" cy="188000"/>
          </a:xfrm>
          <a:prstGeom prst="flowChartMerge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" name="Google Shape;171;p24"/>
          <p:cNvCxnSpPr/>
          <p:nvPr/>
        </p:nvCxnSpPr>
        <p:spPr>
          <a:xfrm rot="10800000">
            <a:off x="1380475" y="2339775"/>
            <a:ext cx="219900" cy="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4"/>
          <p:cNvSpPr txBox="1"/>
          <p:nvPr/>
        </p:nvSpPr>
        <p:spPr>
          <a:xfrm>
            <a:off x="238353" y="2021850"/>
            <a:ext cx="12879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0000FF"/>
                </a:solidFill>
              </a:rPr>
              <a:t>Receiving</a:t>
            </a:r>
            <a:r>
              <a:rPr b="1" lang="en" sz="1200">
                <a:solidFill>
                  <a:srgbClr val="0000FF"/>
                </a:solidFill>
              </a:rPr>
              <a:t> the value of sum</a:t>
            </a:r>
            <a:endParaRPr b="1" sz="1200">
              <a:solidFill>
                <a:srgbClr val="0000FF"/>
              </a:solidFill>
            </a:endParaRPr>
          </a:p>
        </p:txBody>
      </p:sp>
      <p:sp>
        <p:nvSpPr>
          <p:cNvPr id="173" name="Google Shape;173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sz="1000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/>
          <p:nvPr/>
        </p:nvSpPr>
        <p:spPr>
          <a:xfrm>
            <a:off x="311700" y="322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Method Arguments &amp; Parameters</a:t>
            </a:r>
            <a:endParaRPr b="1" sz="2500">
              <a:solidFill>
                <a:srgbClr val="000000"/>
              </a:solidFill>
            </a:endParaRPr>
          </a:p>
        </p:txBody>
      </p:sp>
      <p:sp>
        <p:nvSpPr>
          <p:cNvPr id="179" name="Google Shape;179;p25"/>
          <p:cNvSpPr txBox="1"/>
          <p:nvPr/>
        </p:nvSpPr>
        <p:spPr>
          <a:xfrm>
            <a:off x="331200" y="997275"/>
            <a:ext cx="84816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The sequence of the arguments passed corresponds to the variables </a:t>
            </a:r>
            <a:r>
              <a:rPr lang="en" sz="1800"/>
              <a:t>receiving</a:t>
            </a:r>
            <a:r>
              <a:rPr lang="en" sz="1800"/>
              <a:t> the parameters.</a:t>
            </a:r>
            <a:endParaRPr sz="1800"/>
          </a:p>
        </p:txBody>
      </p:sp>
      <p:sp>
        <p:nvSpPr>
          <p:cNvPr id="180" name="Google Shape;180;p25"/>
          <p:cNvSpPr txBox="1"/>
          <p:nvPr>
            <p:ph type="title"/>
          </p:nvPr>
        </p:nvSpPr>
        <p:spPr>
          <a:xfrm>
            <a:off x="632175" y="1880975"/>
            <a:ext cx="2579400" cy="4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Method to subtract two numbers</a:t>
            </a:r>
            <a:endParaRPr sz="1300"/>
          </a:p>
        </p:txBody>
      </p:sp>
      <p:sp>
        <p:nvSpPr>
          <p:cNvPr id="181" name="Google Shape;181;p25"/>
          <p:cNvSpPr txBox="1"/>
          <p:nvPr>
            <p:ph idx="1" type="body"/>
          </p:nvPr>
        </p:nvSpPr>
        <p:spPr>
          <a:xfrm>
            <a:off x="403575" y="2326725"/>
            <a:ext cx="2808000" cy="15789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0000FF"/>
                </a:solidFill>
              </a:rPr>
              <a:t>static </a:t>
            </a:r>
            <a:r>
              <a:rPr lang="en"/>
              <a:t>void subtract( </a:t>
            </a:r>
            <a:r>
              <a:rPr lang="en">
                <a:solidFill>
                  <a:srgbClr val="0000FF"/>
                </a:solidFill>
              </a:rPr>
              <a:t>int </a:t>
            </a:r>
            <a:r>
              <a:rPr lang="en"/>
              <a:t>a, </a:t>
            </a:r>
            <a:r>
              <a:rPr lang="en">
                <a:solidFill>
                  <a:srgbClr val="0000FF"/>
                </a:solidFill>
              </a:rPr>
              <a:t>int </a:t>
            </a:r>
            <a:r>
              <a:rPr lang="en"/>
              <a:t>b) {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</a:t>
            </a:r>
            <a:r>
              <a:rPr lang="en">
                <a:solidFill>
                  <a:srgbClr val="0000FF"/>
                </a:solidFill>
              </a:rPr>
              <a:t>int </a:t>
            </a:r>
            <a:r>
              <a:rPr lang="en"/>
              <a:t>diff = a-b;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</a:t>
            </a:r>
            <a:r>
              <a:rPr lang="en">
                <a:solidFill>
                  <a:srgbClr val="0000FF"/>
                </a:solidFill>
              </a:rPr>
              <a:t>System</a:t>
            </a:r>
            <a:r>
              <a:rPr lang="en"/>
              <a:t>.out.println(diff);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} </a:t>
            </a:r>
            <a:r>
              <a:rPr lang="en">
                <a:solidFill>
                  <a:srgbClr val="6AA84F"/>
                </a:solidFill>
              </a:rPr>
              <a:t>//this method does not return any value.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386275" y="1891800"/>
            <a:ext cx="2460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83" name="Google Shape;183;p25"/>
          <p:cNvSpPr txBox="1"/>
          <p:nvPr>
            <p:ph type="title"/>
          </p:nvPr>
        </p:nvSpPr>
        <p:spPr>
          <a:xfrm>
            <a:off x="3509350" y="1880975"/>
            <a:ext cx="2579400" cy="4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Calling subtract</a:t>
            </a:r>
            <a:endParaRPr sz="1300"/>
          </a:p>
        </p:txBody>
      </p:sp>
      <p:sp>
        <p:nvSpPr>
          <p:cNvPr id="184" name="Google Shape;184;p25"/>
          <p:cNvSpPr txBox="1"/>
          <p:nvPr>
            <p:ph idx="1" type="body"/>
          </p:nvPr>
        </p:nvSpPr>
        <p:spPr>
          <a:xfrm>
            <a:off x="3280750" y="2326725"/>
            <a:ext cx="2808000" cy="15789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5D5C59"/>
                </a:solidFill>
              </a:rPr>
              <a:t>subtract</a:t>
            </a:r>
            <a:r>
              <a:rPr lang="en" sz="1250">
                <a:solidFill>
                  <a:srgbClr val="5D5C59"/>
                </a:solidFill>
              </a:rPr>
              <a:t>(2, 3);</a:t>
            </a:r>
            <a:endParaRPr sz="1250">
              <a:solidFill>
                <a:srgbClr val="5D5C59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5D5C59"/>
                </a:solidFill>
              </a:rPr>
              <a:t>subtract</a:t>
            </a:r>
            <a:r>
              <a:rPr lang="en" sz="1250">
                <a:solidFill>
                  <a:srgbClr val="5D5C59"/>
                </a:solidFill>
              </a:rPr>
              <a:t>(3,2);</a:t>
            </a:r>
            <a:endParaRPr sz="1250">
              <a:solidFill>
                <a:srgbClr val="5D5C59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50">
              <a:solidFill>
                <a:srgbClr val="5D5C59"/>
              </a:solidFill>
            </a:endParaRPr>
          </a:p>
        </p:txBody>
      </p:sp>
      <p:sp>
        <p:nvSpPr>
          <p:cNvPr id="185" name="Google Shape;185;p25"/>
          <p:cNvSpPr/>
          <p:nvPr/>
        </p:nvSpPr>
        <p:spPr>
          <a:xfrm>
            <a:off x="3263450" y="1891800"/>
            <a:ext cx="2460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86" name="Google Shape;186;p25"/>
          <p:cNvSpPr txBox="1"/>
          <p:nvPr>
            <p:ph type="title"/>
          </p:nvPr>
        </p:nvSpPr>
        <p:spPr>
          <a:xfrm>
            <a:off x="6386525" y="1891800"/>
            <a:ext cx="2579400" cy="4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Output</a:t>
            </a:r>
            <a:endParaRPr sz="1300"/>
          </a:p>
        </p:txBody>
      </p:sp>
      <p:sp>
        <p:nvSpPr>
          <p:cNvPr id="187" name="Google Shape;187;p25"/>
          <p:cNvSpPr txBox="1"/>
          <p:nvPr>
            <p:ph idx="1" type="body"/>
          </p:nvPr>
        </p:nvSpPr>
        <p:spPr>
          <a:xfrm>
            <a:off x="6157925" y="2337550"/>
            <a:ext cx="2808000" cy="15789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3">
                <a:solidFill>
                  <a:schemeClr val="dk1"/>
                </a:solidFill>
              </a:rPr>
              <a:t>Welcome to DrJava.  Working directory is E:\Java</a:t>
            </a:r>
            <a:endParaRPr sz="101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13">
                <a:solidFill>
                  <a:schemeClr val="dk1"/>
                </a:solidFill>
              </a:rPr>
              <a:t>&gt; run function1</a:t>
            </a:r>
            <a:endParaRPr sz="101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13">
                <a:solidFill>
                  <a:srgbClr val="38761D"/>
                </a:solidFill>
              </a:rPr>
              <a:t>-1</a:t>
            </a:r>
            <a:endParaRPr sz="1013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13">
                <a:solidFill>
                  <a:srgbClr val="38761D"/>
                </a:solidFill>
              </a:rPr>
              <a:t>1</a:t>
            </a:r>
            <a:endParaRPr sz="1013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13">
                <a:solidFill>
                  <a:schemeClr val="dk1"/>
                </a:solidFill>
              </a:rPr>
              <a:t>&gt; </a:t>
            </a:r>
            <a:endParaRPr sz="1250">
              <a:solidFill>
                <a:srgbClr val="6AA84F"/>
              </a:solidFill>
            </a:endParaRPr>
          </a:p>
        </p:txBody>
      </p:sp>
      <p:sp>
        <p:nvSpPr>
          <p:cNvPr id="188" name="Google Shape;188;p25"/>
          <p:cNvSpPr/>
          <p:nvPr/>
        </p:nvSpPr>
        <p:spPr>
          <a:xfrm>
            <a:off x="6140625" y="1902625"/>
            <a:ext cx="2460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403575" y="4020075"/>
            <a:ext cx="84816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Here in case 1: subtract(2,3), the values 2 and 3 will be </a:t>
            </a:r>
            <a:r>
              <a:rPr lang="en" sz="1050"/>
              <a:t>received</a:t>
            </a:r>
            <a:r>
              <a:rPr lang="en" sz="1050"/>
              <a:t> as int a = 2 and int b = 3. Therefore, the difference is (2-3) = -1.</a:t>
            </a:r>
            <a:endParaRPr sz="105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50"/>
              <a:t>In case 2: int  a = 3 and int b = 2 and so difference is (3-2) = 1.</a:t>
            </a:r>
            <a:endParaRPr sz="10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/>
          <p:nvPr/>
        </p:nvSpPr>
        <p:spPr>
          <a:xfrm>
            <a:off x="311700" y="703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Method Signature</a:t>
            </a:r>
            <a:endParaRPr b="1" sz="2500">
              <a:solidFill>
                <a:srgbClr val="000000"/>
              </a:solidFill>
            </a:endParaRPr>
          </a:p>
        </p:txBody>
      </p:sp>
      <p:sp>
        <p:nvSpPr>
          <p:cNvPr id="195" name="Google Shape;195;p26"/>
          <p:cNvSpPr txBox="1"/>
          <p:nvPr/>
        </p:nvSpPr>
        <p:spPr>
          <a:xfrm>
            <a:off x="331200" y="1378275"/>
            <a:ext cx="8481600" cy="31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 method is identified based on its name, parameter </a:t>
            </a:r>
            <a:r>
              <a:rPr lang="en" sz="1800">
                <a:solidFill>
                  <a:schemeClr val="dk1"/>
                </a:solidFill>
              </a:rPr>
              <a:t>list it receives</a:t>
            </a:r>
            <a:r>
              <a:rPr lang="en" sz="1800"/>
              <a:t> and return type.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Multiple methods can have same name but different sets of parameters.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</a:t>
            </a:r>
            <a:r>
              <a:rPr lang="en" sz="1800">
                <a:solidFill>
                  <a:schemeClr val="dk1"/>
                </a:solidFill>
              </a:rPr>
              <a:t>ultiple methods can have same name and same set of parameters but have different return types.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number of parameters </a:t>
            </a:r>
            <a:r>
              <a:rPr lang="en" sz="1800">
                <a:solidFill>
                  <a:schemeClr val="dk1"/>
                </a:solidFill>
              </a:rPr>
              <a:t>passed in method call </a:t>
            </a:r>
            <a:r>
              <a:rPr lang="en" sz="1800"/>
              <a:t>must be equal to the number of parameters </a:t>
            </a:r>
            <a:r>
              <a:rPr lang="en" sz="1800"/>
              <a:t>received</a:t>
            </a:r>
            <a:r>
              <a:rPr lang="en" sz="1800"/>
              <a:t> during method declaration.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6" name="Google Shape;196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sz="1000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>
            <p:ph type="title"/>
          </p:nvPr>
        </p:nvSpPr>
        <p:spPr>
          <a:xfrm>
            <a:off x="327250" y="4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Method Example 1</a:t>
            </a:r>
            <a:endParaRPr b="1"/>
          </a:p>
        </p:txBody>
      </p:sp>
      <p:sp>
        <p:nvSpPr>
          <p:cNvPr id="202" name="Google Shape;202;p27"/>
          <p:cNvSpPr txBox="1"/>
          <p:nvPr/>
        </p:nvSpPr>
        <p:spPr>
          <a:xfrm>
            <a:off x="688275" y="1446475"/>
            <a:ext cx="4704300" cy="23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ublic class func1{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ublic static void sayHello(){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System.out.println(“Hello!”);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public static </a:t>
            </a: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main(String []args){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sayHello();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98650" y="891025"/>
            <a:ext cx="7970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en" sz="1425">
                <a:latin typeface="Open Sans"/>
                <a:ea typeface="Open Sans"/>
                <a:cs typeface="Open Sans"/>
                <a:sym typeface="Open Sans"/>
              </a:rPr>
              <a:t>Writing a method that prints “Hello!”</a:t>
            </a:r>
            <a:endParaRPr sz="1425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" name="Google Shape;204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sz="1000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05" name="Google Shape;205;p27"/>
          <p:cNvSpPr txBox="1"/>
          <p:nvPr>
            <p:ph type="title"/>
          </p:nvPr>
        </p:nvSpPr>
        <p:spPr>
          <a:xfrm>
            <a:off x="6140400" y="1569700"/>
            <a:ext cx="2579400" cy="4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Output</a:t>
            </a:r>
            <a:endParaRPr sz="1300"/>
          </a:p>
        </p:txBody>
      </p:sp>
      <p:sp>
        <p:nvSpPr>
          <p:cNvPr id="206" name="Google Shape;206;p27"/>
          <p:cNvSpPr txBox="1"/>
          <p:nvPr>
            <p:ph idx="1" type="body"/>
          </p:nvPr>
        </p:nvSpPr>
        <p:spPr>
          <a:xfrm>
            <a:off x="5911800" y="2015450"/>
            <a:ext cx="2808000" cy="15789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3">
                <a:solidFill>
                  <a:schemeClr val="dk1"/>
                </a:solidFill>
              </a:rPr>
              <a:t>Welcome to DrJava.  Working directory is E:\Java</a:t>
            </a:r>
            <a:endParaRPr sz="101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13">
                <a:solidFill>
                  <a:schemeClr val="dk1"/>
                </a:solidFill>
              </a:rPr>
              <a:t>&gt; run func1</a:t>
            </a:r>
            <a:endParaRPr sz="101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13">
                <a:solidFill>
                  <a:srgbClr val="38761D"/>
                </a:solidFill>
              </a:rPr>
              <a:t>Hello!</a:t>
            </a:r>
            <a:endParaRPr sz="1013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13">
                <a:solidFill>
                  <a:schemeClr val="dk1"/>
                </a:solidFill>
              </a:rPr>
              <a:t>&gt; </a:t>
            </a:r>
            <a:endParaRPr sz="1250">
              <a:solidFill>
                <a:srgbClr val="6AA84F"/>
              </a:solidFill>
            </a:endParaRPr>
          </a:p>
        </p:txBody>
      </p:sp>
      <p:sp>
        <p:nvSpPr>
          <p:cNvPr id="207" name="Google Shape;207;p27"/>
          <p:cNvSpPr/>
          <p:nvPr/>
        </p:nvSpPr>
        <p:spPr>
          <a:xfrm>
            <a:off x="5894500" y="1580525"/>
            <a:ext cx="2460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cxnSp>
        <p:nvCxnSpPr>
          <p:cNvPr id="208" name="Google Shape;208;p27"/>
          <p:cNvCxnSpPr/>
          <p:nvPr/>
        </p:nvCxnSpPr>
        <p:spPr>
          <a:xfrm flipH="1" rot="10800000">
            <a:off x="1909000" y="1876600"/>
            <a:ext cx="1659300" cy="1111800"/>
          </a:xfrm>
          <a:prstGeom prst="bentConnector3">
            <a:avLst>
              <a:gd fmla="val 18348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" name="Google Shape;209;p27"/>
          <p:cNvSpPr txBox="1"/>
          <p:nvPr/>
        </p:nvSpPr>
        <p:spPr>
          <a:xfrm>
            <a:off x="3186625" y="2951375"/>
            <a:ext cx="1211100" cy="7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925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No arguments and no parameters </a:t>
            </a:r>
            <a:r>
              <a:rPr lang="en" sz="925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received</a:t>
            </a:r>
            <a:endParaRPr sz="925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0" name="Google Shape;210;p27"/>
          <p:cNvSpPr/>
          <p:nvPr/>
        </p:nvSpPr>
        <p:spPr>
          <a:xfrm>
            <a:off x="2141275" y="1768875"/>
            <a:ext cx="447900" cy="205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1" name="Google Shape;211;p27"/>
          <p:cNvCxnSpPr>
            <a:stCxn id="210" idx="2"/>
          </p:cNvCxnSpPr>
          <p:nvPr/>
        </p:nvCxnSpPr>
        <p:spPr>
          <a:xfrm flipH="1" rot="-5400000">
            <a:off x="3757825" y="581475"/>
            <a:ext cx="68700" cy="2853900"/>
          </a:xfrm>
          <a:prstGeom prst="bentConnector2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12" name="Google Shape;212;p27"/>
          <p:cNvSpPr txBox="1"/>
          <p:nvPr/>
        </p:nvSpPr>
        <p:spPr>
          <a:xfrm>
            <a:off x="4911175" y="2005225"/>
            <a:ext cx="1211100" cy="7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925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Void return type as no value is being returned from inside</a:t>
            </a:r>
            <a:endParaRPr sz="925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13" name="Google Shape;213;p27"/>
          <p:cNvCxnSpPr/>
          <p:nvPr/>
        </p:nvCxnSpPr>
        <p:spPr>
          <a:xfrm>
            <a:off x="5219125" y="2042775"/>
            <a:ext cx="9300" cy="720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Method Example 2</a:t>
            </a:r>
            <a:endParaRPr b="1"/>
          </a:p>
        </p:txBody>
      </p:sp>
      <p:sp>
        <p:nvSpPr>
          <p:cNvPr id="219" name="Google Shape;219;p28"/>
          <p:cNvSpPr txBox="1"/>
          <p:nvPr/>
        </p:nvSpPr>
        <p:spPr>
          <a:xfrm>
            <a:off x="688275" y="1065475"/>
            <a:ext cx="4704300" cy="38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func1{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public static String divThree(int num){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if(num%3==0){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return “Divisible by 3”;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else{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return “Not divisible by 3”;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public static void main(String []args){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String answer = divThree(13);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System.out.println(answer);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0" name="Google Shape;220;p28"/>
          <p:cNvSpPr txBox="1"/>
          <p:nvPr/>
        </p:nvSpPr>
        <p:spPr>
          <a:xfrm>
            <a:off x="83100" y="619075"/>
            <a:ext cx="7970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en" sz="1425">
                <a:latin typeface="Open Sans"/>
                <a:ea typeface="Open Sans"/>
                <a:cs typeface="Open Sans"/>
                <a:sym typeface="Open Sans"/>
              </a:rPr>
              <a:t>Writing a method that checks if a number divisible by three or not.</a:t>
            </a:r>
            <a:endParaRPr sz="1425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1" name="Google Shape;221;p28"/>
          <p:cNvSpPr txBox="1"/>
          <p:nvPr/>
        </p:nvSpPr>
        <p:spPr>
          <a:xfrm>
            <a:off x="3882125" y="4232500"/>
            <a:ext cx="175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925">
                <a:latin typeface="Open Sans"/>
                <a:ea typeface="Open Sans"/>
                <a:cs typeface="Open Sans"/>
                <a:sym typeface="Open Sans"/>
              </a:rPr>
              <a:t>This line will invoke a method call.</a:t>
            </a:r>
            <a:endParaRPr sz="925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2" name="Google Shape;222;p28"/>
          <p:cNvSpPr txBox="1"/>
          <p:nvPr/>
        </p:nvSpPr>
        <p:spPr>
          <a:xfrm>
            <a:off x="2215525" y="3059800"/>
            <a:ext cx="15954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925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This value will be returned to the line of method call</a:t>
            </a:r>
            <a:endParaRPr sz="925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3" name="Google Shape;223;p28"/>
          <p:cNvSpPr txBox="1"/>
          <p:nvPr/>
        </p:nvSpPr>
        <p:spPr>
          <a:xfrm>
            <a:off x="4572000" y="2989550"/>
            <a:ext cx="13551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925">
                <a:solidFill>
                  <a:srgbClr val="38761D"/>
                </a:solidFill>
                <a:latin typeface="Open Sans"/>
                <a:ea typeface="Open Sans"/>
                <a:cs typeface="Open Sans"/>
                <a:sym typeface="Open Sans"/>
              </a:rPr>
              <a:t>13 will be received by num. And num = 13 will be accessible inside the function.</a:t>
            </a:r>
            <a:endParaRPr sz="925">
              <a:solidFill>
                <a:srgbClr val="38761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" name="Google Shape;224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sz="1000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25" name="Google Shape;225;p28"/>
          <p:cNvSpPr txBox="1"/>
          <p:nvPr>
            <p:ph type="title"/>
          </p:nvPr>
        </p:nvSpPr>
        <p:spPr>
          <a:xfrm>
            <a:off x="6140400" y="1645900"/>
            <a:ext cx="2579400" cy="4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Output</a:t>
            </a:r>
            <a:endParaRPr sz="1300"/>
          </a:p>
        </p:txBody>
      </p:sp>
      <p:sp>
        <p:nvSpPr>
          <p:cNvPr id="226" name="Google Shape;226;p28"/>
          <p:cNvSpPr txBox="1"/>
          <p:nvPr>
            <p:ph idx="1" type="body"/>
          </p:nvPr>
        </p:nvSpPr>
        <p:spPr>
          <a:xfrm>
            <a:off x="5911800" y="2091650"/>
            <a:ext cx="2808000" cy="15789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3">
                <a:solidFill>
                  <a:schemeClr val="dk1"/>
                </a:solidFill>
              </a:rPr>
              <a:t>Welcome to DrJava.  Working directory is E:\Java</a:t>
            </a:r>
            <a:endParaRPr sz="101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13">
                <a:solidFill>
                  <a:schemeClr val="dk1"/>
                </a:solidFill>
              </a:rPr>
              <a:t>&gt; run func1</a:t>
            </a:r>
            <a:endParaRPr sz="101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13">
                <a:solidFill>
                  <a:srgbClr val="38761D"/>
                </a:solidFill>
              </a:rPr>
              <a:t>Not divisible by 3</a:t>
            </a:r>
            <a:endParaRPr sz="1013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13">
                <a:solidFill>
                  <a:schemeClr val="dk1"/>
                </a:solidFill>
              </a:rPr>
              <a:t>&gt; </a:t>
            </a:r>
            <a:endParaRPr sz="1250">
              <a:solidFill>
                <a:srgbClr val="6AA84F"/>
              </a:solidFill>
            </a:endParaRPr>
          </a:p>
        </p:txBody>
      </p:sp>
      <p:sp>
        <p:nvSpPr>
          <p:cNvPr id="227" name="Google Shape;227;p28"/>
          <p:cNvSpPr/>
          <p:nvPr/>
        </p:nvSpPr>
        <p:spPr>
          <a:xfrm>
            <a:off x="5894500" y="1656725"/>
            <a:ext cx="2460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cxnSp>
        <p:nvCxnSpPr>
          <p:cNvPr id="228" name="Google Shape;228;p28"/>
          <p:cNvCxnSpPr/>
          <p:nvPr/>
        </p:nvCxnSpPr>
        <p:spPr>
          <a:xfrm rot="10800000">
            <a:off x="3222800" y="4065400"/>
            <a:ext cx="716100" cy="30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" name="Google Shape;229;p28"/>
          <p:cNvCxnSpPr/>
          <p:nvPr/>
        </p:nvCxnSpPr>
        <p:spPr>
          <a:xfrm flipH="1">
            <a:off x="2098225" y="2926550"/>
            <a:ext cx="193500" cy="945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30" name="Google Shape;230;p28"/>
          <p:cNvGrpSpPr/>
          <p:nvPr/>
        </p:nvGrpSpPr>
        <p:grpSpPr>
          <a:xfrm>
            <a:off x="3490125" y="1558875"/>
            <a:ext cx="1112900" cy="2411400"/>
            <a:chOff x="3490125" y="1482675"/>
            <a:chExt cx="1112900" cy="2411400"/>
          </a:xfrm>
        </p:grpSpPr>
        <p:cxnSp>
          <p:nvCxnSpPr>
            <p:cNvPr id="231" name="Google Shape;231;p28"/>
            <p:cNvCxnSpPr/>
            <p:nvPr/>
          </p:nvCxnSpPr>
          <p:spPr>
            <a:xfrm flipH="1" rot="5400000">
              <a:off x="3130925" y="2421975"/>
              <a:ext cx="2411400" cy="532800"/>
            </a:xfrm>
            <a:prstGeom prst="bentConnector3">
              <a:avLst>
                <a:gd fmla="val 50000" name="adj1"/>
              </a:avLst>
            </a:prstGeom>
            <a:noFill/>
            <a:ln cap="flat" cmpd="sng" w="9525">
              <a:solidFill>
                <a:srgbClr val="38761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2" name="Google Shape;232;p28"/>
            <p:cNvCxnSpPr/>
            <p:nvPr/>
          </p:nvCxnSpPr>
          <p:spPr>
            <a:xfrm>
              <a:off x="3490125" y="3888775"/>
              <a:ext cx="1110000" cy="600"/>
            </a:xfrm>
            <a:prstGeom prst="bentConnector3">
              <a:avLst>
                <a:gd fmla="val 50432" name="adj1"/>
              </a:avLst>
            </a:prstGeom>
            <a:noFill/>
            <a:ln cap="flat" cmpd="sng" w="9525">
              <a:solidFill>
                <a:srgbClr val="38761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Method Example 3</a:t>
            </a:r>
            <a:endParaRPr b="1"/>
          </a:p>
        </p:txBody>
      </p:sp>
      <p:sp>
        <p:nvSpPr>
          <p:cNvPr id="238" name="Google Shape;238;p29"/>
          <p:cNvSpPr txBox="1"/>
          <p:nvPr/>
        </p:nvSpPr>
        <p:spPr>
          <a:xfrm>
            <a:off x="688275" y="1065475"/>
            <a:ext cx="5103300" cy="38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func1{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public static void findLargest(int num1, int num2){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if(num1&gt;num2){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System.out.println(num1);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else{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System.out.println(num2);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public static void main(String []args){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findLargest(13, -10);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rPr lang="en" sz="114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4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9" name="Google Shape;239;p29"/>
          <p:cNvSpPr txBox="1"/>
          <p:nvPr/>
        </p:nvSpPr>
        <p:spPr>
          <a:xfrm>
            <a:off x="83100" y="619075"/>
            <a:ext cx="7970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en" sz="1425">
                <a:latin typeface="Open Sans"/>
                <a:ea typeface="Open Sans"/>
                <a:cs typeface="Open Sans"/>
                <a:sym typeface="Open Sans"/>
              </a:rPr>
              <a:t>Writing a method that prints the largest number out of two numbers.</a:t>
            </a:r>
            <a:endParaRPr sz="1425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0" name="Google Shape;240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sz="1000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41" name="Google Shape;241;p29"/>
          <p:cNvSpPr txBox="1"/>
          <p:nvPr>
            <p:ph type="title"/>
          </p:nvPr>
        </p:nvSpPr>
        <p:spPr>
          <a:xfrm>
            <a:off x="6311850" y="1522675"/>
            <a:ext cx="2579400" cy="4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Output</a:t>
            </a:r>
            <a:endParaRPr sz="1300"/>
          </a:p>
        </p:txBody>
      </p:sp>
      <p:sp>
        <p:nvSpPr>
          <p:cNvPr id="242" name="Google Shape;242;p29"/>
          <p:cNvSpPr txBox="1"/>
          <p:nvPr>
            <p:ph idx="1" type="body"/>
          </p:nvPr>
        </p:nvSpPr>
        <p:spPr>
          <a:xfrm>
            <a:off x="6083250" y="1968425"/>
            <a:ext cx="2808000" cy="15789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13">
                <a:solidFill>
                  <a:schemeClr val="dk1"/>
                </a:solidFill>
              </a:rPr>
              <a:t>Welcome to DrJava.  Working directory is E:\Java</a:t>
            </a:r>
            <a:endParaRPr sz="101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13">
                <a:solidFill>
                  <a:schemeClr val="dk1"/>
                </a:solidFill>
              </a:rPr>
              <a:t>&gt; run func1</a:t>
            </a:r>
            <a:endParaRPr sz="101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13">
                <a:solidFill>
                  <a:srgbClr val="38761D"/>
                </a:solidFill>
              </a:rPr>
              <a:t>13</a:t>
            </a:r>
            <a:endParaRPr sz="1013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13">
                <a:solidFill>
                  <a:schemeClr val="dk1"/>
                </a:solidFill>
              </a:rPr>
              <a:t>&gt; </a:t>
            </a:r>
            <a:endParaRPr sz="1250">
              <a:solidFill>
                <a:srgbClr val="6AA84F"/>
              </a:solidFill>
            </a:endParaRPr>
          </a:p>
        </p:txBody>
      </p:sp>
      <p:sp>
        <p:nvSpPr>
          <p:cNvPr id="243" name="Google Shape;243;p29"/>
          <p:cNvSpPr/>
          <p:nvPr/>
        </p:nvSpPr>
        <p:spPr>
          <a:xfrm>
            <a:off x="6065950" y="1533500"/>
            <a:ext cx="246000" cy="39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cxnSp>
        <p:nvCxnSpPr>
          <p:cNvPr id="244" name="Google Shape;244;p29"/>
          <p:cNvCxnSpPr/>
          <p:nvPr/>
        </p:nvCxnSpPr>
        <p:spPr>
          <a:xfrm rot="-5400000">
            <a:off x="2004450" y="1816025"/>
            <a:ext cx="2414100" cy="2040900"/>
          </a:xfrm>
          <a:prstGeom prst="curvedConnector3">
            <a:avLst>
              <a:gd fmla="val -3780" name="adj1"/>
            </a:avLst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5" name="Google Shape;245;p29"/>
          <p:cNvSpPr/>
          <p:nvPr/>
        </p:nvSpPr>
        <p:spPr>
          <a:xfrm>
            <a:off x="2132975" y="1397096"/>
            <a:ext cx="456300" cy="182400"/>
          </a:xfrm>
          <a:prstGeom prst="flowChartAlternateProcess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6" name="Google Shape;246;p29"/>
          <p:cNvCxnSpPr/>
          <p:nvPr/>
        </p:nvCxnSpPr>
        <p:spPr>
          <a:xfrm rot="-5400000">
            <a:off x="2599100" y="1647425"/>
            <a:ext cx="2472300" cy="2319900"/>
          </a:xfrm>
          <a:prstGeom prst="curvedConnector3">
            <a:avLst>
              <a:gd fmla="val -8389" name="adj1"/>
            </a:avLst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p29"/>
          <p:cNvCxnSpPr/>
          <p:nvPr/>
        </p:nvCxnSpPr>
        <p:spPr>
          <a:xfrm>
            <a:off x="2614275" y="1561225"/>
            <a:ext cx="3177300" cy="2812500"/>
          </a:xfrm>
          <a:prstGeom prst="curvedConnector3">
            <a:avLst>
              <a:gd fmla="val 61097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48" name="Google Shape;248;p29"/>
          <p:cNvSpPr txBox="1"/>
          <p:nvPr/>
        </p:nvSpPr>
        <p:spPr>
          <a:xfrm>
            <a:off x="3250275" y="3840325"/>
            <a:ext cx="19053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950">
                <a:solidFill>
                  <a:srgbClr val="38761D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" sz="950">
                <a:solidFill>
                  <a:srgbClr val="38761D"/>
                </a:solidFill>
                <a:latin typeface="Open Sans"/>
                <a:ea typeface="Open Sans"/>
                <a:cs typeface="Open Sans"/>
                <a:sym typeface="Open Sans"/>
              </a:rPr>
              <a:t>um1 = 13       num2 = -10</a:t>
            </a:r>
            <a:endParaRPr sz="950">
              <a:solidFill>
                <a:srgbClr val="38761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9" name="Google Shape;249;p29"/>
          <p:cNvSpPr txBox="1"/>
          <p:nvPr/>
        </p:nvSpPr>
        <p:spPr>
          <a:xfrm>
            <a:off x="5791575" y="4039525"/>
            <a:ext cx="11130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void return </a:t>
            </a:r>
            <a:endParaRPr sz="95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since no return</a:t>
            </a:r>
            <a:endParaRPr sz="95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5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statement.</a:t>
            </a:r>
            <a:endParaRPr sz="95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0"/>
          <p:cNvSpPr txBox="1"/>
          <p:nvPr>
            <p:ph type="ctrTitle"/>
          </p:nvPr>
        </p:nvSpPr>
        <p:spPr>
          <a:xfrm>
            <a:off x="311700" y="1420850"/>
            <a:ext cx="8520600" cy="103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latin typeface="Open Sans"/>
                <a:ea typeface="Open Sans"/>
                <a:cs typeface="Open Sans"/>
                <a:sym typeface="Open Sans"/>
              </a:rPr>
              <a:t>To do</a:t>
            </a:r>
            <a:endParaRPr sz="4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5" name="Google Shape;255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Write a method named evenPositive to find even and positive numbers from an array of numbers.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sz="1000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1"/>
          <p:cNvSpPr txBox="1"/>
          <p:nvPr/>
        </p:nvSpPr>
        <p:spPr>
          <a:xfrm>
            <a:off x="412700" y="1232150"/>
            <a:ext cx="42414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/>
              <a:t>We can call a method from inside another method.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method1</a:t>
            </a:r>
            <a:r>
              <a:rPr lang="en"/>
              <a:t>()</a:t>
            </a:r>
            <a:r>
              <a:rPr lang="en"/>
              <a:t> called from the main() method.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method2</a:t>
            </a:r>
            <a:r>
              <a:rPr lang="en"/>
              <a:t>()</a:t>
            </a:r>
            <a:r>
              <a:rPr lang="en"/>
              <a:t> called from method1</a:t>
            </a:r>
            <a:r>
              <a:rPr lang="en"/>
              <a:t>()</a:t>
            </a:r>
            <a:r>
              <a:rPr lang="en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1"/>
          <p:cNvSpPr txBox="1"/>
          <p:nvPr/>
        </p:nvSpPr>
        <p:spPr>
          <a:xfrm>
            <a:off x="266950" y="582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Calling a Method from another Method</a:t>
            </a:r>
            <a:endParaRPr b="1" sz="2500">
              <a:solidFill>
                <a:srgbClr val="000000"/>
              </a:solidFill>
            </a:endParaRPr>
          </a:p>
        </p:txBody>
      </p:sp>
      <p:sp>
        <p:nvSpPr>
          <p:cNvPr id="263" name="Google Shape;263;p31"/>
          <p:cNvSpPr txBox="1"/>
          <p:nvPr/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sz="1000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64" name="Google Shape;264;p31"/>
          <p:cNvSpPr txBox="1"/>
          <p:nvPr/>
        </p:nvSpPr>
        <p:spPr>
          <a:xfrm>
            <a:off x="5060350" y="1232150"/>
            <a:ext cx="3727200" cy="2349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Methods {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public static void main(String[] args) {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i="1"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method1</a:t>
            </a: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static void method1(){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System.</a:t>
            </a:r>
            <a:r>
              <a:rPr i="1"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.print("CSE");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i="1"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method2</a:t>
            </a: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static void method2(){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System.</a:t>
            </a:r>
            <a:r>
              <a:rPr i="1"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.print("110");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9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5" name="Google Shape;265;p31"/>
          <p:cNvSpPr txBox="1"/>
          <p:nvPr/>
        </p:nvSpPr>
        <p:spPr>
          <a:xfrm>
            <a:off x="5060350" y="3581750"/>
            <a:ext cx="3727200" cy="6417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CSE110</a:t>
            </a:r>
            <a:endParaRPr sz="9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"/>
          <p:cNvSpPr txBox="1"/>
          <p:nvPr/>
        </p:nvSpPr>
        <p:spPr>
          <a:xfrm>
            <a:off x="412700" y="734900"/>
            <a:ext cx="4241400" cy="42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Now, can you print a triangular palindrome like the following using a method called show_triangle()? Note that you have to take the help of show_spaces() and show_palindrome() </a:t>
            </a:r>
            <a:r>
              <a:rPr lang="en">
                <a:solidFill>
                  <a:schemeClr val="dk1"/>
                </a:solidFill>
              </a:rPr>
              <a:t>method.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2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050">
              <a:solidFill>
                <a:schemeClr val="accent2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2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121</a:t>
            </a:r>
            <a:endParaRPr sz="1050">
              <a:solidFill>
                <a:schemeClr val="accent2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2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12321</a:t>
            </a:r>
            <a:endParaRPr sz="1050">
              <a:solidFill>
                <a:schemeClr val="accent2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2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1234321</a:t>
            </a:r>
            <a:endParaRPr sz="1050">
              <a:solidFill>
                <a:schemeClr val="accent2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2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123454321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show_spaces() method prints a number of spaces passed to its parameter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show_palindrome() prints a palindrome. These methods are already done for you.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2"/>
          <p:cNvSpPr txBox="1"/>
          <p:nvPr/>
        </p:nvSpPr>
        <p:spPr>
          <a:xfrm>
            <a:off x="311700" y="5128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To Do</a:t>
            </a:r>
            <a:endParaRPr b="1" sz="2500">
              <a:solidFill>
                <a:srgbClr val="000000"/>
              </a:solidFill>
            </a:endParaRPr>
          </a:p>
        </p:txBody>
      </p:sp>
      <p:sp>
        <p:nvSpPr>
          <p:cNvPr id="272" name="Google Shape;272;p32"/>
          <p:cNvSpPr txBox="1"/>
          <p:nvPr/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‹#›</a:t>
            </a:fld>
            <a:endParaRPr sz="1000">
              <a:solidFill>
                <a:srgbClr val="59595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73" name="Google Shape;273;p32"/>
          <p:cNvSpPr txBox="1"/>
          <p:nvPr/>
        </p:nvSpPr>
        <p:spPr>
          <a:xfrm>
            <a:off x="5060350" y="626125"/>
            <a:ext cx="3727200" cy="4430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public class MethodCalling {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public static void main(String[] args) {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i="1"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show_triangle</a:t>
            </a: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(4);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System.</a:t>
            </a:r>
            <a:r>
              <a:rPr i="1"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.println();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i="1"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show_</a:t>
            </a:r>
            <a:r>
              <a:rPr i="1"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triangle</a:t>
            </a: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(5);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static void show_spaces(int a){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for (int i = 0; i&lt;a; i++){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System.</a:t>
            </a:r>
            <a:r>
              <a:rPr i="1"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.print(" ");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static void show_palindrome(int b) {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for (int i = 1; i &lt;= b; i++) {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System.</a:t>
            </a:r>
            <a:r>
              <a:rPr i="1"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.print(i);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	 for (int i = b - 1; i &gt;= 1; i—-) {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System.</a:t>
            </a:r>
            <a:r>
              <a:rPr i="1"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out</a:t>
            </a: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.print(i);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static void show_triangle(int a){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   //To Do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Problem</a:t>
            </a:r>
            <a:endParaRPr/>
          </a:p>
        </p:txBody>
      </p:sp>
      <p:sp>
        <p:nvSpPr>
          <p:cNvPr id="279" name="Google Shape;279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Write a Java method to find the smallest number among three numbers.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Write a Java method to count all vowels in a string.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Write a Java method to count all the words in a string.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Write a Java method that accepts three integers and checks whether they are consecutive or not. Returns true or false.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Write a Java method for extracting the first digit from a positive or negative integer.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1500">
                <a:solidFill>
                  <a:srgbClr val="FF0000"/>
                </a:solidFill>
                <a:highlight>
                  <a:srgbClr val="FFFFFF"/>
                </a:highlight>
              </a:rPr>
              <a:t>[Hard]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 A nonnegative integer is called a palindrome if it reads forward and backward in the same way. For example, the numbers 5, 121, 3443, and 123454321 are palindromes. Write a method that takes as input a nonnegative integer and returns true if the number is a palindrome; otherwise, it returns false. Also write a program to test your method.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