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06D6B2-A018-409F-B4F5-DBE34100E571}">
  <a:tblStyle styleId="{DB06D6B2-A018-409F-B4F5-DBE34100E57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294338b08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294338b08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524f499e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524f499e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296ab276d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296ab276d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f69c6955c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f69c6955c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52f3deb10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52f3deb10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524f499e4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524f499e4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296ab276d3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296ab276d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21c10181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21c10181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7f69c6955c_2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7f69c6955c_2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7f69c6955c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7f69c6955c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b87fdcb6e4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b87fdcb6e4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b87fdcb6e4_2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b87fdcb6e4_2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b87fdcb6e4_2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b87fdcb6e4_2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bef00270f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bef00270f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2bef00270f7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2bef00270f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2ba2de27f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2ba2de27f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2b87fdcb6e4_2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2b87fdcb6e4_2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24f499e4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24f499e4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316377dcbb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316377dcbb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27f69c6955c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27f69c6955c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ba2de27f2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ba2de27f2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53d12510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53d12510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Decision Making</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Branching or Selection Statements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Conditional / </a:t>
            </a:r>
            <a:r>
              <a:rPr b="1" lang="en"/>
              <a:t>Selection Statement</a:t>
            </a:r>
            <a:r>
              <a:rPr b="1" lang="en"/>
              <a:t> </a:t>
            </a:r>
            <a:endParaRPr b="1"/>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Execution of a block of code on the basis of some </a:t>
            </a:r>
            <a:r>
              <a:rPr b="1" lang="en" sz="1600">
                <a:solidFill>
                  <a:schemeClr val="dk1"/>
                </a:solidFill>
              </a:rPr>
              <a:t>C</a:t>
            </a:r>
            <a:r>
              <a:rPr b="1" lang="en" sz="1600">
                <a:solidFill>
                  <a:schemeClr val="dk1"/>
                </a:solidFill>
              </a:rPr>
              <a:t>onditions</a:t>
            </a:r>
            <a:r>
              <a:rPr lang="en"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Non sequential program statements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Selection statements may be </a:t>
            </a:r>
            <a:r>
              <a:rPr b="1" lang="en" sz="1600">
                <a:solidFill>
                  <a:schemeClr val="dk1"/>
                </a:solidFill>
              </a:rPr>
              <a:t>unary or non</a:t>
            </a:r>
            <a:r>
              <a:rPr lang="en" sz="1600">
                <a:solidFill>
                  <a:schemeClr val="dk1"/>
                </a:solidFill>
              </a:rPr>
              <a:t> </a:t>
            </a:r>
            <a:r>
              <a:rPr b="1" lang="en" sz="1600">
                <a:solidFill>
                  <a:schemeClr val="dk1"/>
                </a:solidFill>
              </a:rPr>
              <a:t>unary. </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Ex: if, else if, else, switch-case</a:t>
            </a:r>
            <a:endParaRPr sz="1600">
              <a:solidFill>
                <a:schemeClr val="dk1"/>
              </a:solidFill>
            </a:endParaRPr>
          </a:p>
          <a:p>
            <a:pPr indent="457200" lvl="0" marL="0" rtl="0" algn="l">
              <a:lnSpc>
                <a:spcPct val="100000"/>
              </a:lnSpc>
              <a:spcBef>
                <a:spcPts val="1200"/>
              </a:spcBef>
              <a:spcAft>
                <a:spcPts val="0"/>
              </a:spcAft>
              <a:buNone/>
            </a:pPr>
            <a:r>
              <a:rPr lang="en" sz="1600">
                <a:solidFill>
                  <a:schemeClr val="dk1"/>
                </a:solidFill>
              </a:rPr>
              <a:t>Remember this diamond shape from the “Flowchart” chapter?</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
        <p:nvSpPr>
          <p:cNvPr id="62" name="Google Shape;62;p14"/>
          <p:cNvSpPr/>
          <p:nvPr/>
        </p:nvSpPr>
        <p:spPr>
          <a:xfrm>
            <a:off x="3715225" y="3021700"/>
            <a:ext cx="1615425" cy="1276000"/>
          </a:xfrm>
          <a:prstGeom prst="flowChartDecision">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Checks </a:t>
            </a:r>
            <a:endParaRPr sz="1200"/>
          </a:p>
          <a:p>
            <a:pPr indent="0" lvl="0" marL="0" rtl="0" algn="ctr">
              <a:spcBef>
                <a:spcPts val="0"/>
              </a:spcBef>
              <a:spcAft>
                <a:spcPts val="0"/>
              </a:spcAft>
              <a:buNone/>
            </a:pPr>
            <a:r>
              <a:rPr lang="en" sz="1200"/>
              <a:t>if a condition is true </a:t>
            </a:r>
            <a:endParaRPr sz="1200"/>
          </a:p>
          <a:p>
            <a:pPr indent="0" lvl="0" marL="0" rtl="0" algn="ctr">
              <a:spcBef>
                <a:spcPts val="0"/>
              </a:spcBef>
              <a:spcAft>
                <a:spcPts val="0"/>
              </a:spcAft>
              <a:buNone/>
            </a:pPr>
            <a:r>
              <a:rPr lang="en" sz="1200"/>
              <a:t>or not.</a:t>
            </a:r>
            <a:endParaRPr sz="1200"/>
          </a:p>
        </p:txBody>
      </p:sp>
      <p:cxnSp>
        <p:nvCxnSpPr>
          <p:cNvPr id="63" name="Google Shape;63;p14"/>
          <p:cNvCxnSpPr>
            <a:stCxn id="62" idx="1"/>
            <a:endCxn id="64" idx="0"/>
          </p:cNvCxnSpPr>
          <p:nvPr/>
        </p:nvCxnSpPr>
        <p:spPr>
          <a:xfrm flipH="1">
            <a:off x="3184225" y="3659700"/>
            <a:ext cx="531000" cy="490500"/>
          </a:xfrm>
          <a:prstGeom prst="bentConnector2">
            <a:avLst/>
          </a:prstGeom>
          <a:noFill/>
          <a:ln cap="flat" cmpd="sng" w="9525">
            <a:solidFill>
              <a:schemeClr val="dk2"/>
            </a:solidFill>
            <a:prstDash val="solid"/>
            <a:round/>
            <a:headEnd len="med" w="med" type="none"/>
            <a:tailEnd len="med" w="med" type="triangle"/>
          </a:ln>
        </p:spPr>
      </p:cxnSp>
      <p:cxnSp>
        <p:nvCxnSpPr>
          <p:cNvPr id="65" name="Google Shape;65;p14"/>
          <p:cNvCxnSpPr>
            <a:stCxn id="62" idx="3"/>
            <a:endCxn id="66" idx="0"/>
          </p:cNvCxnSpPr>
          <p:nvPr/>
        </p:nvCxnSpPr>
        <p:spPr>
          <a:xfrm>
            <a:off x="5330650" y="3659700"/>
            <a:ext cx="709200" cy="501900"/>
          </a:xfrm>
          <a:prstGeom prst="bentConnector2">
            <a:avLst/>
          </a:prstGeom>
          <a:noFill/>
          <a:ln cap="flat" cmpd="sng" w="9525">
            <a:solidFill>
              <a:schemeClr val="dk2"/>
            </a:solidFill>
            <a:prstDash val="solid"/>
            <a:round/>
            <a:headEnd len="med" w="med" type="none"/>
            <a:tailEnd len="med" w="med" type="triangle"/>
          </a:ln>
        </p:spPr>
      </p:cxnSp>
      <p:sp>
        <p:nvSpPr>
          <p:cNvPr id="64" name="Google Shape;64;p14"/>
          <p:cNvSpPr/>
          <p:nvPr/>
        </p:nvSpPr>
        <p:spPr>
          <a:xfrm>
            <a:off x="2417450" y="4150125"/>
            <a:ext cx="1533600" cy="5484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True block</a:t>
            </a:r>
            <a:endParaRPr/>
          </a:p>
        </p:txBody>
      </p:sp>
      <p:sp>
        <p:nvSpPr>
          <p:cNvPr id="66" name="Google Shape;66;p14"/>
          <p:cNvSpPr/>
          <p:nvPr/>
        </p:nvSpPr>
        <p:spPr>
          <a:xfrm>
            <a:off x="5273050" y="4161525"/>
            <a:ext cx="1533600" cy="525600"/>
          </a:xfrm>
          <a:prstGeom prst="rect">
            <a:avLst/>
          </a:prstGeom>
          <a:solidFill>
            <a:srgbClr val="C9DAF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False block </a:t>
            </a:r>
            <a:endParaRPr/>
          </a:p>
          <a:p>
            <a:pPr indent="0" lvl="0" marL="0" rtl="0" algn="ctr">
              <a:spcBef>
                <a:spcPts val="0"/>
              </a:spcBef>
              <a:spcAft>
                <a:spcPts val="0"/>
              </a:spcAft>
              <a:buNone/>
            </a:pPr>
            <a:r>
              <a:rPr lang="en"/>
              <a:t>(Not mandatory)</a:t>
            </a:r>
            <a:endParaRPr/>
          </a:p>
        </p:txBody>
      </p:sp>
      <p:sp>
        <p:nvSpPr>
          <p:cNvPr id="67" name="Google Shape;67;p14"/>
          <p:cNvSpPr txBox="1"/>
          <p:nvPr/>
        </p:nvSpPr>
        <p:spPr>
          <a:xfrm>
            <a:off x="3213200" y="3298675"/>
            <a:ext cx="6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True</a:t>
            </a:r>
            <a:endParaRPr sz="1200"/>
          </a:p>
        </p:txBody>
      </p:sp>
      <p:sp>
        <p:nvSpPr>
          <p:cNvPr id="68" name="Google Shape;68;p14"/>
          <p:cNvSpPr txBox="1"/>
          <p:nvPr/>
        </p:nvSpPr>
        <p:spPr>
          <a:xfrm>
            <a:off x="5273050" y="3298675"/>
            <a:ext cx="68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False</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idx="1" type="body"/>
          </p:nvPr>
        </p:nvSpPr>
        <p:spPr>
          <a:xfrm>
            <a:off x="311700" y="1118600"/>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Ex: Printing “Got an Even Number” only if a number satisfies condition to be even or Print “Got an Odd Number” if a number did not satisfy condition to be even.</a:t>
            </a:r>
            <a:endParaRPr sz="1600">
              <a:solidFill>
                <a:schemeClr val="dk1"/>
              </a:solidFill>
            </a:endParaRPr>
          </a:p>
          <a:p>
            <a:pPr indent="0" lvl="0" marL="457200" rtl="0" algn="l">
              <a:spcBef>
                <a:spcPts val="1200"/>
              </a:spcBef>
              <a:spcAft>
                <a:spcPts val="1200"/>
              </a:spcAft>
              <a:buNone/>
            </a:pPr>
            <a:r>
              <a:t/>
            </a:r>
            <a:endParaRPr sz="1600">
              <a:solidFill>
                <a:schemeClr val="dk1"/>
              </a:solidFill>
            </a:endParaRPr>
          </a:p>
        </p:txBody>
      </p:sp>
      <p:sp>
        <p:nvSpPr>
          <p:cNvPr id="74" name="Google Shape;74;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Conditional / Selection Statement (Contd)</a:t>
            </a:r>
            <a:endParaRPr b="1"/>
          </a:p>
        </p:txBody>
      </p:sp>
      <p:pic>
        <p:nvPicPr>
          <p:cNvPr id="75" name="Google Shape;75;p15"/>
          <p:cNvPicPr preferRelativeResize="0"/>
          <p:nvPr/>
        </p:nvPicPr>
        <p:blipFill>
          <a:blip r:embed="rId3">
            <a:alphaModFix/>
          </a:blip>
          <a:stretch>
            <a:fillRect/>
          </a:stretch>
        </p:blipFill>
        <p:spPr>
          <a:xfrm>
            <a:off x="1767296" y="3731088"/>
            <a:ext cx="1758776" cy="1170822"/>
          </a:xfrm>
          <a:prstGeom prst="rect">
            <a:avLst/>
          </a:prstGeom>
          <a:noFill/>
          <a:ln>
            <a:noFill/>
          </a:ln>
        </p:spPr>
      </p:pic>
      <p:sp>
        <p:nvSpPr>
          <p:cNvPr id="76" name="Google Shape;76;p15"/>
          <p:cNvSpPr/>
          <p:nvPr/>
        </p:nvSpPr>
        <p:spPr>
          <a:xfrm>
            <a:off x="3679990" y="2165200"/>
            <a:ext cx="1461900" cy="2532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Number</a:t>
            </a:r>
            <a:endParaRPr/>
          </a:p>
        </p:txBody>
      </p:sp>
      <p:sp>
        <p:nvSpPr>
          <p:cNvPr id="77" name="Google Shape;77;p15"/>
          <p:cNvSpPr txBox="1"/>
          <p:nvPr/>
        </p:nvSpPr>
        <p:spPr>
          <a:xfrm>
            <a:off x="1915705" y="3888643"/>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Print “Got an </a:t>
            </a:r>
            <a:endParaRPr/>
          </a:p>
          <a:p>
            <a:pPr indent="0" lvl="0" marL="0" rtl="0" algn="ctr">
              <a:spcBef>
                <a:spcPts val="0"/>
              </a:spcBef>
              <a:spcAft>
                <a:spcPts val="0"/>
              </a:spcAft>
              <a:buNone/>
            </a:pPr>
            <a:r>
              <a:rPr lang="en"/>
              <a:t>Even Number”</a:t>
            </a:r>
            <a:endParaRPr/>
          </a:p>
        </p:txBody>
      </p:sp>
      <p:sp>
        <p:nvSpPr>
          <p:cNvPr id="78" name="Google Shape;78;p15"/>
          <p:cNvSpPr/>
          <p:nvPr/>
        </p:nvSpPr>
        <p:spPr>
          <a:xfrm>
            <a:off x="970350" y="3186529"/>
            <a:ext cx="3352800" cy="3168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Number satisfies condition to be even</a:t>
            </a:r>
            <a:endParaRPr sz="1200"/>
          </a:p>
        </p:txBody>
      </p:sp>
      <p:cxnSp>
        <p:nvCxnSpPr>
          <p:cNvPr id="79" name="Google Shape;79;p15"/>
          <p:cNvCxnSpPr>
            <a:stCxn id="78" idx="2"/>
            <a:endCxn id="75" idx="0"/>
          </p:cNvCxnSpPr>
          <p:nvPr/>
        </p:nvCxnSpPr>
        <p:spPr>
          <a:xfrm>
            <a:off x="2646750" y="3503329"/>
            <a:ext cx="0" cy="227700"/>
          </a:xfrm>
          <a:prstGeom prst="straightConnector1">
            <a:avLst/>
          </a:prstGeom>
          <a:noFill/>
          <a:ln cap="flat" cmpd="sng" w="9525">
            <a:solidFill>
              <a:schemeClr val="dk2"/>
            </a:solidFill>
            <a:prstDash val="solid"/>
            <a:round/>
            <a:headEnd len="med" w="med" type="none"/>
            <a:tailEnd len="med" w="med" type="triangle"/>
          </a:ln>
        </p:spPr>
      </p:cxnSp>
      <p:sp>
        <p:nvSpPr>
          <p:cNvPr id="80" name="Google Shape;80;p15"/>
          <p:cNvSpPr/>
          <p:nvPr/>
        </p:nvSpPr>
        <p:spPr>
          <a:xfrm>
            <a:off x="4820850" y="3192325"/>
            <a:ext cx="3352800" cy="359700"/>
          </a:xfrm>
          <a:prstGeom prst="rect">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Number does not satisfy condition to be even (Not mandatory)</a:t>
            </a:r>
            <a:endParaRPr sz="1200"/>
          </a:p>
        </p:txBody>
      </p:sp>
      <p:pic>
        <p:nvPicPr>
          <p:cNvPr id="81" name="Google Shape;81;p15"/>
          <p:cNvPicPr preferRelativeResize="0"/>
          <p:nvPr/>
        </p:nvPicPr>
        <p:blipFill>
          <a:blip r:embed="rId3">
            <a:alphaModFix/>
          </a:blip>
          <a:stretch>
            <a:fillRect/>
          </a:stretch>
        </p:blipFill>
        <p:spPr>
          <a:xfrm>
            <a:off x="5617774" y="3765003"/>
            <a:ext cx="1758776" cy="1170822"/>
          </a:xfrm>
          <a:prstGeom prst="rect">
            <a:avLst/>
          </a:prstGeom>
          <a:noFill/>
          <a:ln>
            <a:noFill/>
          </a:ln>
        </p:spPr>
      </p:pic>
      <p:sp>
        <p:nvSpPr>
          <p:cNvPr id="82" name="Google Shape;82;p15"/>
          <p:cNvSpPr txBox="1"/>
          <p:nvPr/>
        </p:nvSpPr>
        <p:spPr>
          <a:xfrm>
            <a:off x="5766184" y="3922558"/>
            <a:ext cx="1461900" cy="615600"/>
          </a:xfrm>
          <a:prstGeom prst="rect">
            <a:avLst/>
          </a:prstGeom>
          <a:solidFill>
            <a:srgbClr val="B6D7A8"/>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Print “Got an </a:t>
            </a:r>
            <a:endParaRPr/>
          </a:p>
          <a:p>
            <a:pPr indent="0" lvl="0" marL="0" rtl="0" algn="ctr">
              <a:spcBef>
                <a:spcPts val="0"/>
              </a:spcBef>
              <a:spcAft>
                <a:spcPts val="0"/>
              </a:spcAft>
              <a:buNone/>
            </a:pPr>
            <a:r>
              <a:rPr lang="en"/>
              <a:t>Odd Number”</a:t>
            </a:r>
            <a:endParaRPr/>
          </a:p>
        </p:txBody>
      </p:sp>
      <p:cxnSp>
        <p:nvCxnSpPr>
          <p:cNvPr id="83" name="Google Shape;83;p15"/>
          <p:cNvCxnSpPr>
            <a:stCxn id="84" idx="1"/>
            <a:endCxn id="78" idx="0"/>
          </p:cNvCxnSpPr>
          <p:nvPr/>
        </p:nvCxnSpPr>
        <p:spPr>
          <a:xfrm flipH="1">
            <a:off x="2646698" y="2826805"/>
            <a:ext cx="942300" cy="359700"/>
          </a:xfrm>
          <a:prstGeom prst="bentConnector2">
            <a:avLst/>
          </a:prstGeom>
          <a:noFill/>
          <a:ln cap="flat" cmpd="sng" w="9525">
            <a:solidFill>
              <a:schemeClr val="dk2"/>
            </a:solidFill>
            <a:prstDash val="solid"/>
            <a:round/>
            <a:headEnd len="med" w="med" type="none"/>
            <a:tailEnd len="med" w="med" type="none"/>
          </a:ln>
        </p:spPr>
      </p:cxnSp>
      <p:cxnSp>
        <p:nvCxnSpPr>
          <p:cNvPr id="85" name="Google Shape;85;p15"/>
          <p:cNvCxnSpPr>
            <a:stCxn id="84" idx="3"/>
            <a:endCxn id="80" idx="0"/>
          </p:cNvCxnSpPr>
          <p:nvPr/>
        </p:nvCxnSpPr>
        <p:spPr>
          <a:xfrm>
            <a:off x="5233298" y="2826805"/>
            <a:ext cx="1263900" cy="365400"/>
          </a:xfrm>
          <a:prstGeom prst="bentConnector2">
            <a:avLst/>
          </a:prstGeom>
          <a:noFill/>
          <a:ln cap="flat" cmpd="sng" w="9525">
            <a:solidFill>
              <a:schemeClr val="dk2"/>
            </a:solidFill>
            <a:prstDash val="solid"/>
            <a:round/>
            <a:headEnd len="med" w="med" type="none"/>
            <a:tailEnd len="med" w="med" type="none"/>
          </a:ln>
        </p:spPr>
      </p:cxnSp>
      <p:cxnSp>
        <p:nvCxnSpPr>
          <p:cNvPr id="86" name="Google Shape;86;p15"/>
          <p:cNvCxnSpPr>
            <a:stCxn id="80" idx="2"/>
            <a:endCxn id="81" idx="0"/>
          </p:cNvCxnSpPr>
          <p:nvPr/>
        </p:nvCxnSpPr>
        <p:spPr>
          <a:xfrm>
            <a:off x="6497250" y="3552025"/>
            <a:ext cx="0" cy="213000"/>
          </a:xfrm>
          <a:prstGeom prst="straightConnector1">
            <a:avLst/>
          </a:prstGeom>
          <a:noFill/>
          <a:ln cap="flat" cmpd="sng" w="9525">
            <a:solidFill>
              <a:schemeClr val="dk2"/>
            </a:solidFill>
            <a:prstDash val="solid"/>
            <a:round/>
            <a:headEnd len="med" w="med" type="none"/>
            <a:tailEnd len="med" w="med" type="triangle"/>
          </a:ln>
        </p:spPr>
      </p:cxnSp>
      <p:cxnSp>
        <p:nvCxnSpPr>
          <p:cNvPr id="87" name="Google Shape;87;p15"/>
          <p:cNvCxnSpPr>
            <a:endCxn id="78" idx="0"/>
          </p:cNvCxnSpPr>
          <p:nvPr/>
        </p:nvCxnSpPr>
        <p:spPr>
          <a:xfrm>
            <a:off x="2644650" y="3030229"/>
            <a:ext cx="2100" cy="156300"/>
          </a:xfrm>
          <a:prstGeom prst="straightConnector1">
            <a:avLst/>
          </a:prstGeom>
          <a:noFill/>
          <a:ln cap="flat" cmpd="sng" w="9525">
            <a:solidFill>
              <a:schemeClr val="dk2"/>
            </a:solidFill>
            <a:prstDash val="solid"/>
            <a:round/>
            <a:headEnd len="med" w="med" type="none"/>
            <a:tailEnd len="med" w="med" type="triangle"/>
          </a:ln>
        </p:spPr>
      </p:cxnSp>
      <p:cxnSp>
        <p:nvCxnSpPr>
          <p:cNvPr id="88" name="Google Shape;88;p15"/>
          <p:cNvCxnSpPr>
            <a:endCxn id="80" idx="0"/>
          </p:cNvCxnSpPr>
          <p:nvPr/>
        </p:nvCxnSpPr>
        <p:spPr>
          <a:xfrm>
            <a:off x="6491850" y="3048925"/>
            <a:ext cx="5400" cy="143400"/>
          </a:xfrm>
          <a:prstGeom prst="straightConnector1">
            <a:avLst/>
          </a:prstGeom>
          <a:noFill/>
          <a:ln cap="flat" cmpd="sng" w="9525">
            <a:solidFill>
              <a:schemeClr val="dk2"/>
            </a:solidFill>
            <a:prstDash val="solid"/>
            <a:round/>
            <a:headEnd len="med" w="med" type="none"/>
            <a:tailEnd len="med" w="med" type="triangle"/>
          </a:ln>
        </p:spPr>
      </p:cxnSp>
      <p:sp>
        <p:nvSpPr>
          <p:cNvPr id="84" name="Google Shape;84;p15"/>
          <p:cNvSpPr/>
          <p:nvPr/>
        </p:nvSpPr>
        <p:spPr>
          <a:xfrm>
            <a:off x="3588998" y="2612605"/>
            <a:ext cx="1644300" cy="428400"/>
          </a:xfrm>
          <a:prstGeom prst="diamond">
            <a:avLst/>
          </a:prstGeom>
          <a:solidFill>
            <a:srgbClr val="C9DAF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t>  Even?</a:t>
            </a:r>
            <a:endParaRPr/>
          </a:p>
        </p:txBody>
      </p:sp>
      <p:cxnSp>
        <p:nvCxnSpPr>
          <p:cNvPr id="89" name="Google Shape;89;p15"/>
          <p:cNvCxnSpPr>
            <a:endCxn id="84" idx="0"/>
          </p:cNvCxnSpPr>
          <p:nvPr/>
        </p:nvCxnSpPr>
        <p:spPr>
          <a:xfrm>
            <a:off x="4397948" y="2425405"/>
            <a:ext cx="13200" cy="1872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Selection Statement</a:t>
            </a:r>
            <a:endParaRPr/>
          </a:p>
        </p:txBody>
      </p:sp>
      <p:sp>
        <p:nvSpPr>
          <p:cNvPr id="95" name="Google Shape;95;p16"/>
          <p:cNvSpPr/>
          <p:nvPr/>
        </p:nvSpPr>
        <p:spPr>
          <a:xfrm>
            <a:off x="1887425" y="2146575"/>
            <a:ext cx="947646" cy="3466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00"/>
                </a:solidFill>
              </a:rPr>
              <a:t>START</a:t>
            </a:r>
            <a:endParaRPr sz="1600"/>
          </a:p>
        </p:txBody>
      </p:sp>
      <p:sp>
        <p:nvSpPr>
          <p:cNvPr id="96" name="Google Shape;96;p16"/>
          <p:cNvSpPr/>
          <p:nvPr/>
        </p:nvSpPr>
        <p:spPr>
          <a:xfrm>
            <a:off x="1783850" y="4522213"/>
            <a:ext cx="947646" cy="37972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000000"/>
                </a:solidFill>
              </a:rPr>
              <a:t>END</a:t>
            </a:r>
            <a:endParaRPr sz="1600"/>
          </a:p>
        </p:txBody>
      </p:sp>
      <p:sp>
        <p:nvSpPr>
          <p:cNvPr id="97" name="Google Shape;97;p16"/>
          <p:cNvSpPr/>
          <p:nvPr/>
        </p:nvSpPr>
        <p:spPr>
          <a:xfrm>
            <a:off x="1403500" y="2702975"/>
            <a:ext cx="1915500" cy="10122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Condition</a:t>
            </a:r>
            <a:endParaRPr/>
          </a:p>
        </p:txBody>
      </p:sp>
      <p:sp>
        <p:nvSpPr>
          <p:cNvPr id="98" name="Google Shape;98;p16"/>
          <p:cNvSpPr/>
          <p:nvPr/>
        </p:nvSpPr>
        <p:spPr>
          <a:xfrm>
            <a:off x="112250" y="3715175"/>
            <a:ext cx="1861500" cy="440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if block / scope</a:t>
            </a:r>
            <a:endParaRPr/>
          </a:p>
        </p:txBody>
      </p:sp>
      <p:sp>
        <p:nvSpPr>
          <p:cNvPr id="99" name="Google Shape;99;p16"/>
          <p:cNvSpPr txBox="1"/>
          <p:nvPr/>
        </p:nvSpPr>
        <p:spPr>
          <a:xfrm>
            <a:off x="4243600" y="2459275"/>
            <a:ext cx="4672800" cy="2031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class</a:t>
            </a:r>
            <a:r>
              <a:rPr lang="en" sz="1200">
                <a:latin typeface="Courier New"/>
                <a:ea typeface="Courier New"/>
                <a:cs typeface="Courier New"/>
                <a:sym typeface="Courier New"/>
              </a:rPr>
              <a:t> Branching{</a:t>
            </a:r>
            <a:endParaRPr sz="1200">
              <a:solidFill>
                <a:schemeClr val="dk1"/>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public</a:t>
            </a:r>
            <a:r>
              <a:rPr lang="en" sz="1200">
                <a:solidFill>
                  <a:srgbClr val="000000"/>
                </a:solidFill>
                <a:latin typeface="Courier New"/>
                <a:ea typeface="Courier New"/>
                <a:cs typeface="Courier New"/>
                <a:sym typeface="Courier New"/>
              </a:rPr>
              <a:t> </a:t>
            </a:r>
            <a:r>
              <a:rPr lang="en" sz="1200">
                <a:solidFill>
                  <a:srgbClr val="0000FF"/>
                </a:solidFill>
                <a:latin typeface="Courier New"/>
                <a:ea typeface="Courier New"/>
                <a:cs typeface="Courier New"/>
                <a:sym typeface="Courier New"/>
              </a:rPr>
              <a:t>static</a:t>
            </a:r>
            <a:r>
              <a:rPr lang="en" sz="1200">
                <a:solidFill>
                  <a:srgbClr val="000000"/>
                </a:solidFill>
                <a:latin typeface="Courier New"/>
                <a:ea typeface="Courier New"/>
                <a:cs typeface="Courier New"/>
                <a:sym typeface="Courier New"/>
              </a:rPr>
              <a:t> void main (String[] args)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(condition)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a:t>
            </a:r>
            <a:r>
              <a:rPr lang="en" sz="1200">
                <a:solidFill>
                  <a:srgbClr val="000000"/>
                </a:solidFill>
                <a:latin typeface="Courier New"/>
                <a:ea typeface="Courier New"/>
                <a:cs typeface="Courier New"/>
                <a:sym typeface="Courier New"/>
              </a:rPr>
              <a:t>}</a:t>
            </a:r>
            <a:endParaRPr sz="1200">
              <a:solidFill>
                <a:srgbClr val="000000"/>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00"/>
                </a:solidFill>
                <a:latin typeface="Courier New"/>
                <a:ea typeface="Courier New"/>
                <a:cs typeface="Courier New"/>
                <a:sym typeface="Courier New"/>
              </a:rPr>
              <a:t>}</a:t>
            </a:r>
            <a:endParaRPr sz="1200">
              <a:latin typeface="Courier New"/>
              <a:ea typeface="Courier New"/>
              <a:cs typeface="Courier New"/>
              <a:sym typeface="Courier New"/>
            </a:endParaRPr>
          </a:p>
        </p:txBody>
      </p:sp>
      <p:cxnSp>
        <p:nvCxnSpPr>
          <p:cNvPr id="100" name="Google Shape;100;p16"/>
          <p:cNvCxnSpPr>
            <a:stCxn id="95" idx="2"/>
            <a:endCxn id="97" idx="0"/>
          </p:cNvCxnSpPr>
          <p:nvPr/>
        </p:nvCxnSpPr>
        <p:spPr>
          <a:xfrm>
            <a:off x="2361248" y="2493255"/>
            <a:ext cx="0" cy="209700"/>
          </a:xfrm>
          <a:prstGeom prst="straightConnector1">
            <a:avLst/>
          </a:prstGeom>
          <a:noFill/>
          <a:ln cap="flat" cmpd="sng" w="9525">
            <a:solidFill>
              <a:schemeClr val="dk2"/>
            </a:solidFill>
            <a:prstDash val="solid"/>
            <a:round/>
            <a:headEnd len="med" w="med" type="none"/>
            <a:tailEnd len="med" w="med" type="triangle"/>
          </a:ln>
        </p:spPr>
      </p:cxnSp>
      <p:cxnSp>
        <p:nvCxnSpPr>
          <p:cNvPr id="101" name="Google Shape;101;p16"/>
          <p:cNvCxnSpPr>
            <a:stCxn id="97" idx="1"/>
          </p:cNvCxnSpPr>
          <p:nvPr/>
        </p:nvCxnSpPr>
        <p:spPr>
          <a:xfrm flipH="1">
            <a:off x="941200" y="3209075"/>
            <a:ext cx="462300" cy="498000"/>
          </a:xfrm>
          <a:prstGeom prst="bentConnector2">
            <a:avLst/>
          </a:prstGeom>
          <a:noFill/>
          <a:ln cap="flat" cmpd="sng" w="9525">
            <a:solidFill>
              <a:schemeClr val="dk2"/>
            </a:solidFill>
            <a:prstDash val="solid"/>
            <a:round/>
            <a:headEnd len="med" w="med" type="none"/>
            <a:tailEnd len="med" w="med" type="triangle"/>
          </a:ln>
        </p:spPr>
      </p:cxnSp>
      <p:cxnSp>
        <p:nvCxnSpPr>
          <p:cNvPr id="102" name="Google Shape;102;p16"/>
          <p:cNvCxnSpPr>
            <a:endCxn id="96" idx="1"/>
          </p:cNvCxnSpPr>
          <p:nvPr/>
        </p:nvCxnSpPr>
        <p:spPr>
          <a:xfrm>
            <a:off x="979550" y="4155877"/>
            <a:ext cx="804300" cy="556200"/>
          </a:xfrm>
          <a:prstGeom prst="bentConnector3">
            <a:avLst>
              <a:gd fmla="val 1386" name="adj1"/>
            </a:avLst>
          </a:prstGeom>
          <a:noFill/>
          <a:ln cap="flat" cmpd="sng" w="9525">
            <a:solidFill>
              <a:schemeClr val="dk2"/>
            </a:solidFill>
            <a:prstDash val="solid"/>
            <a:round/>
            <a:headEnd len="med" w="med" type="none"/>
            <a:tailEnd len="med" w="med" type="triangle"/>
          </a:ln>
        </p:spPr>
      </p:cxnSp>
      <p:cxnSp>
        <p:nvCxnSpPr>
          <p:cNvPr id="103" name="Google Shape;103;p16"/>
          <p:cNvCxnSpPr>
            <a:stCxn id="97" idx="3"/>
            <a:endCxn id="96" idx="3"/>
          </p:cNvCxnSpPr>
          <p:nvPr/>
        </p:nvCxnSpPr>
        <p:spPr>
          <a:xfrm flipH="1">
            <a:off x="2731600" y="3209075"/>
            <a:ext cx="587400" cy="1503000"/>
          </a:xfrm>
          <a:prstGeom prst="bentConnector3">
            <a:avLst>
              <a:gd fmla="val -49179" name="adj1"/>
            </a:avLst>
          </a:prstGeom>
          <a:noFill/>
          <a:ln cap="flat" cmpd="sng" w="9525">
            <a:solidFill>
              <a:schemeClr val="dk2"/>
            </a:solidFill>
            <a:prstDash val="solid"/>
            <a:round/>
            <a:headEnd len="med" w="med" type="none"/>
            <a:tailEnd len="med" w="med" type="triangle"/>
          </a:ln>
        </p:spPr>
      </p:cxnSp>
      <p:sp>
        <p:nvSpPr>
          <p:cNvPr id="104" name="Google Shape;104;p16"/>
          <p:cNvSpPr txBox="1"/>
          <p:nvPr>
            <p:ph idx="1" type="body"/>
          </p:nvPr>
        </p:nvSpPr>
        <p:spPr>
          <a:xfrm>
            <a:off x="311700" y="1152475"/>
            <a:ext cx="8520600" cy="1306800"/>
          </a:xfrm>
          <a:prstGeom prst="rect">
            <a:avLst/>
          </a:prstGeom>
        </p:spPr>
        <p:txBody>
          <a:bodyPr anchorCtr="0" anchor="t" bIns="91425" lIns="91425" spcFirstLastPara="1" rIns="91425" wrap="square" tIns="91425">
            <a:normAutofit lnSpcReduction="10000"/>
          </a:bodyPr>
          <a:lstStyle/>
          <a:p>
            <a:pPr indent="-330200" lvl="0" marL="457200" rtl="0" algn="l">
              <a:lnSpc>
                <a:spcPct val="100000"/>
              </a:lnSpc>
              <a:spcBef>
                <a:spcPts val="0"/>
              </a:spcBef>
              <a:spcAft>
                <a:spcPts val="0"/>
              </a:spcAft>
              <a:buClr>
                <a:schemeClr val="dk1"/>
              </a:buClr>
              <a:buSzPts val="1600"/>
              <a:buChar char="●"/>
            </a:pPr>
            <a:r>
              <a:rPr lang="en" sz="1600">
                <a:solidFill>
                  <a:schemeClr val="dk1"/>
                </a:solidFill>
              </a:rPr>
              <a:t>Unary selection statement</a:t>
            </a:r>
            <a:endParaRPr sz="1600">
              <a:solidFill>
                <a:schemeClr val="dk1"/>
              </a:solidFill>
            </a:endParaRPr>
          </a:p>
          <a:p>
            <a:pPr indent="-330200" lvl="0" marL="457200" rtl="0" algn="l">
              <a:lnSpc>
                <a:spcPct val="100000"/>
              </a:lnSpc>
              <a:spcBef>
                <a:spcPts val="0"/>
              </a:spcBef>
              <a:spcAft>
                <a:spcPts val="0"/>
              </a:spcAft>
              <a:buClr>
                <a:schemeClr val="dk1"/>
              </a:buClr>
              <a:buSzPts val="1600"/>
              <a:buChar char="●"/>
            </a:pPr>
            <a:r>
              <a:rPr lang="en" sz="1600">
                <a:solidFill>
                  <a:schemeClr val="dk1"/>
                </a:solidFill>
              </a:rPr>
              <a:t>Will execute block of code only if condition is </a:t>
            </a:r>
            <a:r>
              <a:rPr b="1" lang="en" sz="1600">
                <a:solidFill>
                  <a:schemeClr val="dk1"/>
                </a:solidFill>
              </a:rPr>
              <a:t>True</a:t>
            </a:r>
            <a:r>
              <a:rPr lang="en" sz="1600">
                <a:solidFill>
                  <a:schemeClr val="dk1"/>
                </a:solidFill>
              </a:rPr>
              <a:t>.</a:t>
            </a:r>
            <a:endParaRPr sz="1600">
              <a:solidFill>
                <a:schemeClr val="dk1"/>
              </a:solidFill>
            </a:endParaRPr>
          </a:p>
          <a:p>
            <a:pPr indent="0" lvl="0" marL="457200" rtl="0" algn="l">
              <a:spcBef>
                <a:spcPts val="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
        <p:nvSpPr>
          <p:cNvPr id="105" name="Google Shape;105;p16"/>
          <p:cNvSpPr txBox="1"/>
          <p:nvPr/>
        </p:nvSpPr>
        <p:spPr>
          <a:xfrm>
            <a:off x="818275" y="2916200"/>
            <a:ext cx="842100" cy="1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300"/>
              <a:t>TRUE</a:t>
            </a:r>
            <a:endParaRPr b="1"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Selection Statement (Contd)</a:t>
            </a:r>
            <a:endParaRPr/>
          </a:p>
        </p:txBody>
      </p:sp>
      <p:sp>
        <p:nvSpPr>
          <p:cNvPr id="111" name="Google Shape;111;p17"/>
          <p:cNvSpPr/>
          <p:nvPr/>
        </p:nvSpPr>
        <p:spPr>
          <a:xfrm>
            <a:off x="1713775" y="1585175"/>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112" name="Google Shape;112;p17"/>
          <p:cNvSpPr/>
          <p:nvPr/>
        </p:nvSpPr>
        <p:spPr>
          <a:xfrm>
            <a:off x="1750825" y="4775900"/>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113" name="Google Shape;113;p17"/>
          <p:cNvSpPr/>
          <p:nvPr/>
        </p:nvSpPr>
        <p:spPr>
          <a:xfrm>
            <a:off x="1172350" y="2081100"/>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Prompt “Enter a number”</a:t>
            </a:r>
            <a:endParaRPr sz="1200"/>
          </a:p>
        </p:txBody>
      </p:sp>
      <p:sp>
        <p:nvSpPr>
          <p:cNvPr id="114" name="Google Shape;114;p17"/>
          <p:cNvSpPr/>
          <p:nvPr/>
        </p:nvSpPr>
        <p:spPr>
          <a:xfrm>
            <a:off x="1224250" y="2617825"/>
            <a:ext cx="1908000" cy="255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Read num</a:t>
            </a:r>
            <a:endParaRPr sz="1200"/>
          </a:p>
        </p:txBody>
      </p:sp>
      <p:sp>
        <p:nvSpPr>
          <p:cNvPr id="115" name="Google Shape;115;p17"/>
          <p:cNvSpPr/>
          <p:nvPr/>
        </p:nvSpPr>
        <p:spPr>
          <a:xfrm>
            <a:off x="1098975" y="3065750"/>
            <a:ext cx="2190000" cy="6249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 &lt; 0 </a:t>
            </a:r>
            <a:endParaRPr sz="1200"/>
          </a:p>
        </p:txBody>
      </p:sp>
      <p:sp>
        <p:nvSpPr>
          <p:cNvPr id="116" name="Google Shape;116;p17"/>
          <p:cNvSpPr txBox="1"/>
          <p:nvPr/>
        </p:nvSpPr>
        <p:spPr>
          <a:xfrm>
            <a:off x="3952675" y="1684800"/>
            <a:ext cx="5005200" cy="31476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import </a:t>
            </a:r>
            <a:r>
              <a:rPr lang="en" sz="1100">
                <a:solidFill>
                  <a:schemeClr val="dk1"/>
                </a:solidFill>
                <a:latin typeface="Courier New"/>
                <a:ea typeface="Courier New"/>
                <a:cs typeface="Courier New"/>
                <a:sym typeface="Courier New"/>
              </a:rPr>
              <a:t>java.util.Scanner;</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class</a:t>
            </a:r>
            <a:r>
              <a:rPr lang="en" sz="1100">
                <a:latin typeface="Courier New"/>
                <a:ea typeface="Courier New"/>
                <a:cs typeface="Courier New"/>
                <a:sym typeface="Courier New"/>
              </a:rPr>
              <a:t> NumberCheck{</a:t>
            </a:r>
            <a:endParaRPr sz="11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public</a:t>
            </a: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static</a:t>
            </a:r>
            <a:r>
              <a:rPr lang="en" sz="1100">
                <a:solidFill>
                  <a:srgbClr val="000000"/>
                </a:solidFill>
                <a:latin typeface="Courier New"/>
                <a:ea typeface="Courier New"/>
                <a:cs typeface="Courier New"/>
                <a:sym typeface="Courier New"/>
              </a:rPr>
              <a:t> void main (String[] args) {</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   </a:t>
            </a:r>
            <a:r>
              <a:rPr lang="en" sz="1100">
                <a:solidFill>
                  <a:srgbClr val="0000FF"/>
                </a:solidFill>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highlight>
                  <a:schemeClr val="lt2"/>
                </a:highlight>
                <a:latin typeface="Courier New"/>
                <a:ea typeface="Courier New"/>
                <a:cs typeface="Courier New"/>
                <a:sym typeface="Courier New"/>
              </a:rPr>
              <a:t>Scanner(System.in);</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a:t>
            </a:r>
            <a:r>
              <a:rPr lang="en" sz="1100">
                <a:solidFill>
                  <a:srgbClr val="38761D"/>
                </a:solidFill>
                <a:highlight>
                  <a:schemeClr val="lt2"/>
                </a:highlight>
                <a:latin typeface="Courier New"/>
                <a:ea typeface="Courier New"/>
                <a:cs typeface="Courier New"/>
                <a:sym typeface="Courier New"/>
              </a:rPr>
              <a:t>"Enter a number: "</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int num = sc.nextInt();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r>
              <a:rPr lang="en" sz="1100">
                <a:solidFill>
                  <a:srgbClr val="0000FF"/>
                </a:solidFill>
                <a:highlight>
                  <a:schemeClr val="lt2"/>
                </a:highlight>
                <a:latin typeface="Courier New"/>
                <a:ea typeface="Courier New"/>
                <a:cs typeface="Courier New"/>
                <a:sym typeface="Courier New"/>
              </a:rPr>
              <a:t>if</a:t>
            </a:r>
            <a:r>
              <a:rPr lang="en" sz="1100">
                <a:highlight>
                  <a:schemeClr val="lt2"/>
                </a:highlight>
                <a:latin typeface="Courier New"/>
                <a:ea typeface="Courier New"/>
                <a:cs typeface="Courier New"/>
                <a:sym typeface="Courier New"/>
              </a:rPr>
              <a:t> (num &lt; 0</a:t>
            </a:r>
            <a:r>
              <a:rPr lang="en" sz="1100">
                <a:highlight>
                  <a:schemeClr val="lt2"/>
                </a:highlight>
                <a:latin typeface="Courier New"/>
                <a:ea typeface="Courier New"/>
                <a:cs typeface="Courier New"/>
                <a:sym typeface="Courier New"/>
              </a:rPr>
              <a:t>) </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"Negative"</a:t>
            </a:r>
            <a:r>
              <a:rPr lang="en" sz="1100">
                <a:highlight>
                  <a:schemeClr val="lt2"/>
                </a:highlight>
                <a:latin typeface="Courier New"/>
                <a:ea typeface="Courier New"/>
                <a:cs typeface="Courier New"/>
                <a:sym typeface="Courier New"/>
              </a:rPr>
              <a:t>);</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highlight>
                  <a:schemeClr val="lt2"/>
                </a:highlight>
                <a:latin typeface="Courier New"/>
                <a:ea typeface="Courier New"/>
                <a:cs typeface="Courier New"/>
                <a:sym typeface="Courier New"/>
              </a:rPr>
              <a:t>      sc.close();</a:t>
            </a:r>
            <a:endParaRPr sz="1100">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FF"/>
                </a:solidFill>
                <a:latin typeface="Courier New"/>
                <a:ea typeface="Courier New"/>
                <a:cs typeface="Courier New"/>
                <a:sym typeface="Courier New"/>
              </a:rPr>
              <a:t>   </a:t>
            </a:r>
            <a:r>
              <a:rPr lang="en" sz="1100">
                <a:solidFill>
                  <a:srgbClr val="000000"/>
                </a:solidFill>
                <a:latin typeface="Courier New"/>
                <a:ea typeface="Courier New"/>
                <a:cs typeface="Courier New"/>
                <a:sym typeface="Courier New"/>
              </a:rPr>
              <a:t>}</a:t>
            </a:r>
            <a:endParaRPr sz="1100">
              <a:solidFill>
                <a:srgbClr val="000000"/>
              </a:solidFill>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rgbClr val="000000"/>
                </a:solidFill>
                <a:latin typeface="Courier New"/>
                <a:ea typeface="Courier New"/>
                <a:cs typeface="Courier New"/>
                <a:sym typeface="Courier New"/>
              </a:rPr>
              <a:t>}</a:t>
            </a:r>
            <a:endParaRPr sz="1100">
              <a:latin typeface="Courier New"/>
              <a:ea typeface="Courier New"/>
              <a:cs typeface="Courier New"/>
              <a:sym typeface="Courier New"/>
            </a:endParaRPr>
          </a:p>
        </p:txBody>
      </p:sp>
      <p:sp>
        <p:nvSpPr>
          <p:cNvPr id="117" name="Google Shape;117;p17"/>
          <p:cNvSpPr/>
          <p:nvPr/>
        </p:nvSpPr>
        <p:spPr>
          <a:xfrm>
            <a:off x="311700" y="3868475"/>
            <a:ext cx="18021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“Negative”</a:t>
            </a:r>
            <a:endParaRPr sz="1200"/>
          </a:p>
        </p:txBody>
      </p:sp>
      <p:sp>
        <p:nvSpPr>
          <p:cNvPr id="118" name="Google Shape;118;p17"/>
          <p:cNvSpPr/>
          <p:nvPr/>
        </p:nvSpPr>
        <p:spPr>
          <a:xfrm>
            <a:off x="2006488" y="4310800"/>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17"/>
          <p:cNvCxnSpPr>
            <a:endCxn id="113" idx="0"/>
          </p:cNvCxnSpPr>
          <p:nvPr/>
        </p:nvCxnSpPr>
        <p:spPr>
          <a:xfrm>
            <a:off x="2178250" y="1870500"/>
            <a:ext cx="0" cy="210600"/>
          </a:xfrm>
          <a:prstGeom prst="straightConnector1">
            <a:avLst/>
          </a:prstGeom>
          <a:noFill/>
          <a:ln cap="flat" cmpd="sng" w="9525">
            <a:solidFill>
              <a:schemeClr val="dk2"/>
            </a:solidFill>
            <a:prstDash val="solid"/>
            <a:round/>
            <a:headEnd len="med" w="med" type="none"/>
            <a:tailEnd len="med" w="med" type="triangle"/>
          </a:ln>
        </p:spPr>
      </p:cxnSp>
      <p:cxnSp>
        <p:nvCxnSpPr>
          <p:cNvPr id="120" name="Google Shape;120;p17"/>
          <p:cNvCxnSpPr>
            <a:stCxn id="113" idx="4"/>
            <a:endCxn id="114" idx="0"/>
          </p:cNvCxnSpPr>
          <p:nvPr/>
        </p:nvCxnSpPr>
        <p:spPr>
          <a:xfrm>
            <a:off x="2178250" y="2424900"/>
            <a:ext cx="0" cy="192900"/>
          </a:xfrm>
          <a:prstGeom prst="straightConnector1">
            <a:avLst/>
          </a:prstGeom>
          <a:noFill/>
          <a:ln cap="flat" cmpd="sng" w="9525">
            <a:solidFill>
              <a:schemeClr val="dk2"/>
            </a:solidFill>
            <a:prstDash val="solid"/>
            <a:round/>
            <a:headEnd len="med" w="med" type="none"/>
            <a:tailEnd len="med" w="med" type="triangle"/>
          </a:ln>
        </p:spPr>
      </p:cxnSp>
      <p:cxnSp>
        <p:nvCxnSpPr>
          <p:cNvPr id="121" name="Google Shape;121;p17"/>
          <p:cNvCxnSpPr>
            <a:stCxn id="115" idx="1"/>
          </p:cNvCxnSpPr>
          <p:nvPr/>
        </p:nvCxnSpPr>
        <p:spPr>
          <a:xfrm flipH="1">
            <a:off x="851175" y="3378200"/>
            <a:ext cx="247800" cy="487500"/>
          </a:xfrm>
          <a:prstGeom prst="bentConnector2">
            <a:avLst/>
          </a:prstGeom>
          <a:noFill/>
          <a:ln cap="flat" cmpd="sng" w="9525">
            <a:solidFill>
              <a:schemeClr val="dk2"/>
            </a:solidFill>
            <a:prstDash val="solid"/>
            <a:round/>
            <a:headEnd len="med" w="med" type="none"/>
            <a:tailEnd len="med" w="med" type="stealth"/>
          </a:ln>
        </p:spPr>
      </p:cxnSp>
      <p:cxnSp>
        <p:nvCxnSpPr>
          <p:cNvPr id="122" name="Google Shape;122;p17"/>
          <p:cNvCxnSpPr>
            <a:stCxn id="117" idx="3"/>
            <a:endCxn id="118" idx="2"/>
          </p:cNvCxnSpPr>
          <p:nvPr/>
        </p:nvCxnSpPr>
        <p:spPr>
          <a:xfrm flipH="1" rot="-5400000">
            <a:off x="1484925" y="3941225"/>
            <a:ext cx="200100" cy="843000"/>
          </a:xfrm>
          <a:prstGeom prst="bentConnector2">
            <a:avLst/>
          </a:prstGeom>
          <a:noFill/>
          <a:ln cap="flat" cmpd="sng" w="9525">
            <a:solidFill>
              <a:schemeClr val="dk2"/>
            </a:solidFill>
            <a:prstDash val="solid"/>
            <a:round/>
            <a:headEnd len="med" w="med" type="none"/>
            <a:tailEnd len="med" w="med" type="stealth"/>
          </a:ln>
        </p:spPr>
      </p:cxnSp>
      <p:cxnSp>
        <p:nvCxnSpPr>
          <p:cNvPr id="123" name="Google Shape;123;p17"/>
          <p:cNvCxnSpPr>
            <a:stCxn id="115" idx="3"/>
            <a:endCxn id="118" idx="6"/>
          </p:cNvCxnSpPr>
          <p:nvPr/>
        </p:nvCxnSpPr>
        <p:spPr>
          <a:xfrm flipH="1">
            <a:off x="2333475" y="3378200"/>
            <a:ext cx="955500" cy="1084800"/>
          </a:xfrm>
          <a:prstGeom prst="bentConnector3">
            <a:avLst>
              <a:gd fmla="val -24922" name="adj1"/>
            </a:avLst>
          </a:prstGeom>
          <a:noFill/>
          <a:ln cap="flat" cmpd="sng" w="9525">
            <a:solidFill>
              <a:schemeClr val="dk2"/>
            </a:solidFill>
            <a:prstDash val="solid"/>
            <a:round/>
            <a:headEnd len="med" w="med" type="none"/>
            <a:tailEnd len="med" w="med" type="stealth"/>
          </a:ln>
        </p:spPr>
      </p:cxnSp>
      <p:cxnSp>
        <p:nvCxnSpPr>
          <p:cNvPr id="124" name="Google Shape;124;p17"/>
          <p:cNvCxnSpPr>
            <a:stCxn id="118" idx="4"/>
            <a:endCxn id="112" idx="0"/>
          </p:cNvCxnSpPr>
          <p:nvPr/>
        </p:nvCxnSpPr>
        <p:spPr>
          <a:xfrm flipH="1" rot="-5400000">
            <a:off x="2089888" y="4695100"/>
            <a:ext cx="160800" cy="600"/>
          </a:xfrm>
          <a:prstGeom prst="bentConnector3">
            <a:avLst>
              <a:gd fmla="val 50031" name="adj1"/>
            </a:avLst>
          </a:prstGeom>
          <a:noFill/>
          <a:ln cap="flat" cmpd="sng" w="9525">
            <a:solidFill>
              <a:schemeClr val="dk2"/>
            </a:solidFill>
            <a:prstDash val="solid"/>
            <a:round/>
            <a:headEnd len="med" w="med" type="none"/>
            <a:tailEnd len="med" w="med" type="stealth"/>
          </a:ln>
        </p:spPr>
      </p:cxnSp>
      <p:cxnSp>
        <p:nvCxnSpPr>
          <p:cNvPr id="125" name="Google Shape;125;p17"/>
          <p:cNvCxnSpPr>
            <a:stCxn id="114" idx="4"/>
            <a:endCxn id="115" idx="0"/>
          </p:cNvCxnSpPr>
          <p:nvPr/>
        </p:nvCxnSpPr>
        <p:spPr>
          <a:xfrm>
            <a:off x="2178250" y="2872825"/>
            <a:ext cx="15600" cy="192900"/>
          </a:xfrm>
          <a:prstGeom prst="straightConnector1">
            <a:avLst/>
          </a:prstGeom>
          <a:noFill/>
          <a:ln cap="flat" cmpd="sng" w="9525">
            <a:solidFill>
              <a:schemeClr val="dk2"/>
            </a:solidFill>
            <a:prstDash val="solid"/>
            <a:round/>
            <a:headEnd len="med" w="med" type="none"/>
            <a:tailEnd len="med" w="med" type="triangle"/>
          </a:ln>
        </p:spPr>
      </p:cxnSp>
      <p:sp>
        <p:nvSpPr>
          <p:cNvPr id="126" name="Google Shape;126;p17"/>
          <p:cNvSpPr txBox="1"/>
          <p:nvPr>
            <p:ph idx="1" type="body"/>
          </p:nvPr>
        </p:nvSpPr>
        <p:spPr>
          <a:xfrm>
            <a:off x="311700" y="768375"/>
            <a:ext cx="8646300" cy="744900"/>
          </a:xfrm>
          <a:prstGeom prst="rect">
            <a:avLst/>
          </a:prstGeom>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600">
                <a:solidFill>
                  <a:schemeClr val="dk1"/>
                </a:solidFill>
              </a:rPr>
              <a:t>Based on the number input, print whether the number is negative.</a:t>
            </a:r>
            <a:endParaRPr sz="1600"/>
          </a:p>
        </p:txBody>
      </p:sp>
      <p:sp>
        <p:nvSpPr>
          <p:cNvPr id="127" name="Google Shape;127;p17"/>
          <p:cNvSpPr/>
          <p:nvPr/>
        </p:nvSpPr>
        <p:spPr>
          <a:xfrm>
            <a:off x="3671675" y="1763850"/>
            <a:ext cx="233400" cy="6921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7"/>
          <p:cNvSpPr/>
          <p:nvPr/>
        </p:nvSpPr>
        <p:spPr>
          <a:xfrm>
            <a:off x="3671675" y="2503000"/>
            <a:ext cx="233400" cy="462900"/>
          </a:xfrm>
          <a:prstGeom prst="leftBrace">
            <a:avLst>
              <a:gd fmla="val 50000" name="adj1"/>
              <a:gd fmla="val 51624"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7"/>
          <p:cNvSpPr/>
          <p:nvPr/>
        </p:nvSpPr>
        <p:spPr>
          <a:xfrm>
            <a:off x="2713075" y="1715150"/>
            <a:ext cx="922950" cy="394175"/>
          </a:xfrm>
          <a:custGeom>
            <a:rect b="b" l="l" r="r" t="t"/>
            <a:pathLst>
              <a:path extrusionOk="0" h="15767" w="36918">
                <a:moveTo>
                  <a:pt x="36918" y="15767"/>
                </a:moveTo>
                <a:cubicBezTo>
                  <a:pt x="34867" y="13780"/>
                  <a:pt x="30765" y="6473"/>
                  <a:pt x="24612" y="3845"/>
                </a:cubicBezTo>
                <a:cubicBezTo>
                  <a:pt x="18459" y="1217"/>
                  <a:pt x="4102" y="641"/>
                  <a:pt x="0" y="0"/>
                </a:cubicBezTo>
              </a:path>
            </a:pathLst>
          </a:custGeom>
          <a:noFill/>
          <a:ln cap="flat" cmpd="sng" w="19050">
            <a:solidFill>
              <a:schemeClr val="dk2"/>
            </a:solidFill>
            <a:prstDash val="solid"/>
            <a:round/>
            <a:headEnd len="med" w="med" type="none"/>
            <a:tailEnd len="med" w="med" type="stealth"/>
          </a:ln>
        </p:spPr>
      </p:sp>
      <p:sp>
        <p:nvSpPr>
          <p:cNvPr id="130" name="Google Shape;130;p17"/>
          <p:cNvSpPr/>
          <p:nvPr/>
        </p:nvSpPr>
        <p:spPr>
          <a:xfrm>
            <a:off x="3232225" y="2311200"/>
            <a:ext cx="432650" cy="374950"/>
          </a:xfrm>
          <a:custGeom>
            <a:rect b="b" l="l" r="r" t="t"/>
            <a:pathLst>
              <a:path extrusionOk="0" h="14998" w="17306">
                <a:moveTo>
                  <a:pt x="17306" y="14998"/>
                </a:moveTo>
                <a:cubicBezTo>
                  <a:pt x="16088" y="13396"/>
                  <a:pt x="12883" y="7884"/>
                  <a:pt x="9999" y="5384"/>
                </a:cubicBezTo>
                <a:cubicBezTo>
                  <a:pt x="7115" y="2884"/>
                  <a:pt x="1667" y="897"/>
                  <a:pt x="0" y="0"/>
                </a:cubicBezTo>
              </a:path>
            </a:pathLst>
          </a:custGeom>
          <a:noFill/>
          <a:ln cap="flat" cmpd="sng" w="19050">
            <a:solidFill>
              <a:schemeClr val="dk2"/>
            </a:solidFill>
            <a:prstDash val="solid"/>
            <a:round/>
            <a:headEnd len="med" w="med" type="none"/>
            <a:tailEnd len="med" w="med" type="stealth"/>
          </a:ln>
        </p:spPr>
      </p:sp>
      <p:sp>
        <p:nvSpPr>
          <p:cNvPr id="131" name="Google Shape;131;p17"/>
          <p:cNvSpPr/>
          <p:nvPr/>
        </p:nvSpPr>
        <p:spPr>
          <a:xfrm>
            <a:off x="3184175" y="2782300"/>
            <a:ext cx="740275" cy="365325"/>
          </a:xfrm>
          <a:custGeom>
            <a:rect b="b" l="l" r="r" t="t"/>
            <a:pathLst>
              <a:path extrusionOk="0" h="14613" w="29611">
                <a:moveTo>
                  <a:pt x="29611" y="14613"/>
                </a:moveTo>
                <a:cubicBezTo>
                  <a:pt x="26663" y="12818"/>
                  <a:pt x="16856" y="6281"/>
                  <a:pt x="11921" y="3845"/>
                </a:cubicBezTo>
                <a:cubicBezTo>
                  <a:pt x="6986" y="1410"/>
                  <a:pt x="1987" y="641"/>
                  <a:pt x="0" y="0"/>
                </a:cubicBezTo>
              </a:path>
            </a:pathLst>
          </a:custGeom>
          <a:noFill/>
          <a:ln cap="flat" cmpd="sng" w="19050">
            <a:solidFill>
              <a:schemeClr val="dk2"/>
            </a:solidFill>
            <a:prstDash val="solid"/>
            <a:round/>
            <a:headEnd len="med" w="med" type="none"/>
            <a:tailEnd len="med" w="med" type="stealth"/>
          </a:ln>
        </p:spPr>
      </p:sp>
      <p:sp>
        <p:nvSpPr>
          <p:cNvPr id="132" name="Google Shape;132;p17"/>
          <p:cNvSpPr/>
          <p:nvPr/>
        </p:nvSpPr>
        <p:spPr>
          <a:xfrm>
            <a:off x="2636175" y="3195700"/>
            <a:ext cx="1269050" cy="192275"/>
          </a:xfrm>
          <a:custGeom>
            <a:rect b="b" l="l" r="r" t="t"/>
            <a:pathLst>
              <a:path extrusionOk="0" h="7691" w="50762">
                <a:moveTo>
                  <a:pt x="50762" y="7691"/>
                </a:moveTo>
                <a:cubicBezTo>
                  <a:pt x="47109" y="6602"/>
                  <a:pt x="37302" y="2436"/>
                  <a:pt x="28842" y="1154"/>
                </a:cubicBezTo>
                <a:cubicBezTo>
                  <a:pt x="20382" y="-128"/>
                  <a:pt x="4807" y="192"/>
                  <a:pt x="0" y="0"/>
                </a:cubicBezTo>
              </a:path>
            </a:pathLst>
          </a:custGeom>
          <a:noFill/>
          <a:ln cap="flat" cmpd="sng" w="19050">
            <a:solidFill>
              <a:schemeClr val="dk2"/>
            </a:solidFill>
            <a:prstDash val="solid"/>
            <a:round/>
            <a:headEnd len="med" w="med" type="none"/>
            <a:tailEnd len="med" w="med" type="stealth"/>
          </a:ln>
        </p:spPr>
      </p:sp>
      <p:sp>
        <p:nvSpPr>
          <p:cNvPr id="133" name="Google Shape;133;p17"/>
          <p:cNvSpPr/>
          <p:nvPr/>
        </p:nvSpPr>
        <p:spPr>
          <a:xfrm>
            <a:off x="2136225" y="3628325"/>
            <a:ext cx="1788225" cy="471100"/>
          </a:xfrm>
          <a:custGeom>
            <a:rect b="b" l="l" r="r" t="t"/>
            <a:pathLst>
              <a:path extrusionOk="0" h="18844" w="71529">
                <a:moveTo>
                  <a:pt x="71529" y="0"/>
                </a:moveTo>
                <a:cubicBezTo>
                  <a:pt x="64799" y="1282"/>
                  <a:pt x="43072" y="4550"/>
                  <a:pt x="31150" y="7691"/>
                </a:cubicBezTo>
                <a:cubicBezTo>
                  <a:pt x="19229" y="10832"/>
                  <a:pt x="5192" y="16985"/>
                  <a:pt x="0" y="18844"/>
                </a:cubicBezTo>
              </a:path>
            </a:pathLst>
          </a:custGeom>
          <a:noFill/>
          <a:ln cap="flat" cmpd="sng" w="19050">
            <a:solidFill>
              <a:schemeClr val="dk2"/>
            </a:solidFill>
            <a:prstDash val="solid"/>
            <a:round/>
            <a:headEnd len="med" w="med" type="none"/>
            <a:tailEnd len="med" w="med" type="stealth"/>
          </a:ln>
        </p:spPr>
      </p:sp>
      <p:sp>
        <p:nvSpPr>
          <p:cNvPr id="134" name="Google Shape;134;p17"/>
          <p:cNvSpPr/>
          <p:nvPr/>
        </p:nvSpPr>
        <p:spPr>
          <a:xfrm>
            <a:off x="2568875" y="4147500"/>
            <a:ext cx="1326725" cy="624900"/>
          </a:xfrm>
          <a:custGeom>
            <a:rect b="b" l="l" r="r" t="t"/>
            <a:pathLst>
              <a:path extrusionOk="0" h="24996" w="53069">
                <a:moveTo>
                  <a:pt x="53069" y="0"/>
                </a:moveTo>
                <a:cubicBezTo>
                  <a:pt x="48583" y="1282"/>
                  <a:pt x="34995" y="3525"/>
                  <a:pt x="26150" y="7691"/>
                </a:cubicBezTo>
                <a:cubicBezTo>
                  <a:pt x="17305" y="11857"/>
                  <a:pt x="4358" y="22112"/>
                  <a:pt x="0" y="24996"/>
                </a:cubicBezTo>
              </a:path>
            </a:pathLst>
          </a:custGeom>
          <a:noFill/>
          <a:ln cap="flat" cmpd="sng" w="19050">
            <a:solidFill>
              <a:schemeClr val="dk2"/>
            </a:solidFill>
            <a:prstDash val="solid"/>
            <a:round/>
            <a:headEnd len="med" w="med" type="none"/>
            <a:tailEnd len="med" w="med" type="stealth"/>
          </a:ln>
        </p:spPr>
      </p:sp>
      <p:sp>
        <p:nvSpPr>
          <p:cNvPr id="135" name="Google Shape;135;p17"/>
          <p:cNvSpPr txBox="1"/>
          <p:nvPr/>
        </p:nvSpPr>
        <p:spPr>
          <a:xfrm>
            <a:off x="349125" y="3387975"/>
            <a:ext cx="638700" cy="255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t>TRUE</a:t>
            </a:r>
            <a:endParaRPr b="1" sz="11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8"/>
          <p:cNvSpPr txBox="1"/>
          <p:nvPr>
            <p:ph idx="1" type="body"/>
          </p:nvPr>
        </p:nvSpPr>
        <p:spPr>
          <a:xfrm>
            <a:off x="311700" y="1152475"/>
            <a:ext cx="5484000" cy="3416400"/>
          </a:xfrm>
          <a:prstGeom prst="rect">
            <a:avLst/>
          </a:prstGeom>
        </p:spPr>
        <p:txBody>
          <a:bodyPr anchorCtr="0" anchor="t" bIns="91425" lIns="91425" spcFirstLastPara="1" rIns="91425" wrap="square" tIns="91425">
            <a:normAutofit lnSpcReduction="20000"/>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Used to evaluate expressions and return a boolean value (true or false).</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rgbClr val="0028FF"/>
                </a:solidFill>
              </a:rPr>
              <a:t>Conditional operators in Java</a:t>
            </a:r>
            <a:r>
              <a:rPr lang="en" sz="1600">
                <a:solidFill>
                  <a:schemeClr val="dk1"/>
                </a:solidFill>
              </a:rPr>
              <a:t>:                          Equality Operator (==), Inequality Operator (!=), Comparison Operators (&lt;, &gt;, &lt;=, &gt;=), Logical Operators: NOT (!), AND (&amp;&amp;), OR (||).</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Essential for creating effective branching logic.</a:t>
            </a:r>
            <a:endParaRPr sz="1600">
              <a:solidFill>
                <a:schemeClr val="dk1"/>
              </a:solidFill>
            </a:endParaRPr>
          </a:p>
          <a:p>
            <a:pPr indent="0" lvl="0" marL="0" rtl="0" algn="l">
              <a:spcBef>
                <a:spcPts val="1200"/>
              </a:spcBef>
              <a:spcAft>
                <a:spcPts val="1200"/>
              </a:spcAft>
              <a:buNone/>
            </a:pPr>
            <a:r>
              <a:rPr lang="en" sz="1600">
                <a:solidFill>
                  <a:srgbClr val="0028FF"/>
                </a:solidFill>
              </a:rPr>
              <a:t>Example</a:t>
            </a:r>
            <a:r>
              <a:rPr lang="en" sz="1600">
                <a:solidFill>
                  <a:schemeClr val="dk1"/>
                </a:solidFill>
              </a:rPr>
              <a:t>: Checking if a number is equal or less than 2 to execute if condition block, otherwise executes else condition block.</a:t>
            </a:r>
            <a:endParaRPr sz="1600">
              <a:solidFill>
                <a:schemeClr val="dk1"/>
              </a:solidFill>
            </a:endParaRPr>
          </a:p>
        </p:txBody>
      </p:sp>
      <p:sp>
        <p:nvSpPr>
          <p:cNvPr id="141" name="Google Shape;141;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Checking Conditions using Operators</a:t>
            </a:r>
            <a:endParaRPr/>
          </a:p>
        </p:txBody>
      </p:sp>
      <p:sp>
        <p:nvSpPr>
          <p:cNvPr id="142" name="Google Shape;142;p18"/>
          <p:cNvSpPr txBox="1"/>
          <p:nvPr/>
        </p:nvSpPr>
        <p:spPr>
          <a:xfrm>
            <a:off x="5924150" y="1237200"/>
            <a:ext cx="3085200" cy="25167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1"/>
                </a:solidFill>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solidFill>
                  <a:schemeClr val="dk1"/>
                </a:solidFill>
                <a:highlight>
                  <a:schemeClr val="lt2"/>
                </a:highlight>
                <a:latin typeface="Courier New"/>
                <a:ea typeface="Courier New"/>
                <a:cs typeface="Courier New"/>
                <a:sym typeface="Courier New"/>
              </a:rPr>
              <a:t>Scanner(System.in);</a:t>
            </a:r>
            <a:endParaRPr sz="1100">
              <a:solidFill>
                <a:schemeClr val="dk1"/>
              </a:solidFill>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100">
                <a:solidFill>
                  <a:schemeClr val="dk1"/>
                </a:solidFill>
                <a:highlight>
                  <a:schemeClr val="lt2"/>
                </a:highlight>
                <a:latin typeface="Courier New"/>
                <a:ea typeface="Courier New"/>
                <a:cs typeface="Courier New"/>
                <a:sym typeface="Courier New"/>
              </a:rPr>
              <a:t>String num = sc.nextInt();</a:t>
            </a:r>
            <a:endParaRPr sz="1200">
              <a:solidFill>
                <a:srgbClr val="0000FF"/>
              </a:solidFill>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(num &lt;= 2) {</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else {</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    </a:t>
            </a:r>
            <a:r>
              <a:rPr lang="en" sz="1200">
                <a:highlight>
                  <a:srgbClr val="FFFD00"/>
                </a:highlight>
                <a:latin typeface="Courier New"/>
                <a:ea typeface="Courier New"/>
                <a:cs typeface="Courier New"/>
                <a:sym typeface="Courier New"/>
              </a:rPr>
              <a:t>else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0" lvl="0" marL="0" rtl="0" algn="l">
              <a:lnSpc>
                <a:spcPct val="150000"/>
              </a:lnSpc>
              <a:spcBef>
                <a:spcPts val="0"/>
              </a:spcBef>
              <a:spcAft>
                <a:spcPts val="0"/>
              </a:spcAft>
              <a:buNone/>
            </a:pPr>
            <a:r>
              <a:rPr lang="en" sz="1200">
                <a:highlight>
                  <a:schemeClr val="lt2"/>
                </a:highlight>
                <a:latin typeface="Courier New"/>
                <a:ea typeface="Courier New"/>
                <a:cs typeface="Courier New"/>
                <a:sym typeface="Courier New"/>
              </a:rPr>
              <a:t>}</a:t>
            </a:r>
            <a:endParaRPr sz="1200">
              <a:latin typeface="Courier New"/>
              <a:ea typeface="Courier New"/>
              <a:cs typeface="Courier New"/>
              <a:sym typeface="Courier New"/>
            </a:endParaRPr>
          </a:p>
        </p:txBody>
      </p:sp>
      <p:sp>
        <p:nvSpPr>
          <p:cNvPr id="143" name="Google Shape;143;p18"/>
          <p:cNvSpPr/>
          <p:nvPr/>
        </p:nvSpPr>
        <p:spPr>
          <a:xfrm>
            <a:off x="6720350" y="2054025"/>
            <a:ext cx="288900" cy="2598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4" name="Google Shape;144;p18"/>
          <p:cNvCxnSpPr>
            <a:endCxn id="143" idx="3"/>
          </p:cNvCxnSpPr>
          <p:nvPr/>
        </p:nvCxnSpPr>
        <p:spPr>
          <a:xfrm flipH="1" rot="10800000">
            <a:off x="4708558" y="2275778"/>
            <a:ext cx="2054100" cy="1930500"/>
          </a:xfrm>
          <a:prstGeom prst="curvedConnector2">
            <a:avLst/>
          </a:prstGeom>
          <a:noFill/>
          <a:ln cap="flat" cmpd="sng" w="9525">
            <a:solidFill>
              <a:schemeClr val="dk2"/>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9"/>
          <p:cNvSpPr txBox="1"/>
          <p:nvPr>
            <p:ph type="title"/>
          </p:nvPr>
        </p:nvSpPr>
        <p:spPr>
          <a:xfrm>
            <a:off x="311700" y="3688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a:t>
            </a:r>
            <a:r>
              <a:rPr lang="en"/>
              <a:t> Double</a:t>
            </a:r>
            <a:r>
              <a:rPr lang="en"/>
              <a:t> Selection Statements</a:t>
            </a:r>
            <a:endParaRPr/>
          </a:p>
        </p:txBody>
      </p:sp>
      <p:sp>
        <p:nvSpPr>
          <p:cNvPr id="150" name="Google Shape;150;p19"/>
          <p:cNvSpPr txBox="1"/>
          <p:nvPr>
            <p:ph idx="1" type="body"/>
          </p:nvPr>
        </p:nvSpPr>
        <p:spPr>
          <a:xfrm>
            <a:off x="311700" y="1017125"/>
            <a:ext cx="8520600" cy="1062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else block executed when if condition </a:t>
            </a:r>
            <a:r>
              <a:rPr lang="en" sz="1600">
                <a:solidFill>
                  <a:schemeClr val="dk1"/>
                </a:solidFill>
              </a:rPr>
              <a:t>yields</a:t>
            </a:r>
            <a:r>
              <a:rPr lang="en" sz="1600">
                <a:solidFill>
                  <a:schemeClr val="dk1"/>
                </a:solidFill>
              </a:rPr>
              <a:t> </a:t>
            </a:r>
            <a:r>
              <a:rPr b="1" lang="en" sz="1600">
                <a:solidFill>
                  <a:schemeClr val="dk1"/>
                </a:solidFill>
              </a:rPr>
              <a:t>False</a:t>
            </a:r>
            <a:r>
              <a:rPr lang="en" sz="1600">
                <a:solidFill>
                  <a:schemeClr val="dk1"/>
                </a:solidFill>
              </a:rPr>
              <a:t>.</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else does not have any condition.</a:t>
            </a:r>
            <a:endParaRPr sz="1600">
              <a:solidFill>
                <a:schemeClr val="dk1"/>
              </a:solidFill>
            </a:endParaRPr>
          </a:p>
        </p:txBody>
      </p:sp>
      <p:sp>
        <p:nvSpPr>
          <p:cNvPr id="151" name="Google Shape;151;p19"/>
          <p:cNvSpPr/>
          <p:nvPr/>
        </p:nvSpPr>
        <p:spPr>
          <a:xfrm>
            <a:off x="1751012" y="1850225"/>
            <a:ext cx="867780"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START</a:t>
            </a:r>
            <a:endParaRPr sz="1300"/>
          </a:p>
        </p:txBody>
      </p:sp>
      <p:sp>
        <p:nvSpPr>
          <p:cNvPr id="152" name="Google Shape;152;p19"/>
          <p:cNvSpPr/>
          <p:nvPr/>
        </p:nvSpPr>
        <p:spPr>
          <a:xfrm>
            <a:off x="1711075" y="4384350"/>
            <a:ext cx="947646" cy="27064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END</a:t>
            </a:r>
            <a:endParaRPr sz="1300"/>
          </a:p>
        </p:txBody>
      </p:sp>
      <p:sp>
        <p:nvSpPr>
          <p:cNvPr id="153" name="Google Shape;153;p19"/>
          <p:cNvSpPr/>
          <p:nvPr/>
        </p:nvSpPr>
        <p:spPr>
          <a:xfrm>
            <a:off x="1242000" y="2369125"/>
            <a:ext cx="18858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Condition</a:t>
            </a:r>
            <a:endParaRPr sz="1300"/>
          </a:p>
        </p:txBody>
      </p:sp>
      <p:sp>
        <p:nvSpPr>
          <p:cNvPr id="154" name="Google Shape;154;p19"/>
          <p:cNvSpPr/>
          <p:nvPr/>
        </p:nvSpPr>
        <p:spPr>
          <a:xfrm>
            <a:off x="198000"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if block / scope</a:t>
            </a:r>
            <a:endParaRPr sz="1300"/>
          </a:p>
        </p:txBody>
      </p:sp>
      <p:sp>
        <p:nvSpPr>
          <p:cNvPr id="155" name="Google Shape;155;p19"/>
          <p:cNvSpPr txBox="1"/>
          <p:nvPr/>
        </p:nvSpPr>
        <p:spPr>
          <a:xfrm>
            <a:off x="4241700" y="1850225"/>
            <a:ext cx="4681800" cy="28629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class</a:t>
            </a:r>
            <a:r>
              <a:rPr lang="en" sz="1200">
                <a:latin typeface="Courier New"/>
                <a:ea typeface="Courier New"/>
                <a:cs typeface="Courier New"/>
                <a:sym typeface="Courier New"/>
              </a:rPr>
              <a:t> DoubleSelection {</a:t>
            </a:r>
            <a:endParaRPr sz="1200">
              <a:solidFill>
                <a:schemeClr val="dk1"/>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public</a:t>
            </a:r>
            <a:r>
              <a:rPr lang="en" sz="1200">
                <a:solidFill>
                  <a:srgbClr val="000000"/>
                </a:solidFill>
                <a:latin typeface="Courier New"/>
                <a:ea typeface="Courier New"/>
                <a:cs typeface="Courier New"/>
                <a:sym typeface="Courier New"/>
              </a:rPr>
              <a:t> </a:t>
            </a:r>
            <a:r>
              <a:rPr lang="en" sz="1200">
                <a:solidFill>
                  <a:srgbClr val="0000FF"/>
                </a:solidFill>
                <a:latin typeface="Courier New"/>
                <a:ea typeface="Courier New"/>
                <a:cs typeface="Courier New"/>
                <a:sym typeface="Courier New"/>
              </a:rPr>
              <a:t>static</a:t>
            </a:r>
            <a:r>
              <a:rPr lang="en" sz="1200">
                <a:solidFill>
                  <a:srgbClr val="000000"/>
                </a:solidFill>
                <a:latin typeface="Courier New"/>
                <a:ea typeface="Courier New"/>
                <a:cs typeface="Courier New"/>
                <a:sym typeface="Courier New"/>
              </a:rPr>
              <a:t> void main (String[] args)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00FF"/>
                </a:solidFill>
                <a:highlight>
                  <a:schemeClr val="lt2"/>
                </a:highlight>
                <a:latin typeface="Courier New"/>
                <a:ea typeface="Courier New"/>
                <a:cs typeface="Courier New"/>
                <a:sym typeface="Courier New"/>
              </a:rPr>
              <a:t>if</a:t>
            </a:r>
            <a:r>
              <a:rPr lang="en" sz="1200">
                <a:highlight>
                  <a:schemeClr val="lt2"/>
                </a:highlight>
                <a:latin typeface="Courier New"/>
                <a:ea typeface="Courier New"/>
                <a:cs typeface="Courier New"/>
                <a:sym typeface="Courier New"/>
              </a:rPr>
              <a:t> (condition)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F00"/>
                </a:highlight>
                <a:latin typeface="Courier New"/>
                <a:ea typeface="Courier New"/>
                <a:cs typeface="Courier New"/>
                <a:sym typeface="Courier New"/>
              </a:rPr>
              <a:t>if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solidFill>
                  <a:srgbClr val="0028FF"/>
                </a:solidFill>
                <a:highlight>
                  <a:schemeClr val="lt2"/>
                </a:highlight>
                <a:latin typeface="Courier New"/>
                <a:ea typeface="Courier New"/>
                <a:cs typeface="Courier New"/>
                <a:sym typeface="Courier New"/>
              </a:rPr>
              <a:t>e</a:t>
            </a:r>
            <a:r>
              <a:rPr lang="en" sz="1200">
                <a:solidFill>
                  <a:srgbClr val="0028FF"/>
                </a:solidFill>
                <a:highlight>
                  <a:schemeClr val="lt2"/>
                </a:highlight>
                <a:latin typeface="Courier New"/>
                <a:ea typeface="Courier New"/>
                <a:cs typeface="Courier New"/>
                <a:sym typeface="Courier New"/>
              </a:rPr>
              <a:t>lse </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r>
              <a:rPr lang="en" sz="1200">
                <a:highlight>
                  <a:srgbClr val="FFFD00"/>
                </a:highlight>
                <a:latin typeface="Courier New"/>
                <a:ea typeface="Courier New"/>
                <a:cs typeface="Courier New"/>
                <a:sym typeface="Courier New"/>
              </a:rPr>
              <a:t>e</a:t>
            </a:r>
            <a:r>
              <a:rPr lang="en" sz="1200">
                <a:highlight>
                  <a:srgbClr val="FFFD00"/>
                </a:highlight>
                <a:latin typeface="Courier New"/>
                <a:ea typeface="Courier New"/>
                <a:cs typeface="Courier New"/>
                <a:sym typeface="Courier New"/>
              </a:rPr>
              <a:t>lse condition block</a:t>
            </a:r>
            <a:r>
              <a:rPr lang="en" sz="1200">
                <a:highlight>
                  <a:schemeClr val="lt2"/>
                </a:highlight>
                <a:latin typeface="Courier New"/>
                <a:ea typeface="Courier New"/>
                <a:cs typeface="Courier New"/>
                <a:sym typeface="Courier New"/>
              </a:rPr>
              <a:t>;</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highlight>
                  <a:schemeClr val="lt2"/>
                </a:highlight>
                <a:latin typeface="Courier New"/>
                <a:ea typeface="Courier New"/>
                <a:cs typeface="Courier New"/>
                <a:sym typeface="Courier New"/>
              </a:rPr>
              <a:t>        }</a:t>
            </a:r>
            <a:endParaRPr sz="1200">
              <a:highlight>
                <a:schemeClr val="lt2"/>
              </a:highlight>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FF"/>
                </a:solidFill>
                <a:latin typeface="Courier New"/>
                <a:ea typeface="Courier New"/>
                <a:cs typeface="Courier New"/>
                <a:sym typeface="Courier New"/>
              </a:rPr>
              <a:t>   </a:t>
            </a:r>
            <a:r>
              <a:rPr lang="en" sz="1200">
                <a:solidFill>
                  <a:srgbClr val="000000"/>
                </a:solidFill>
                <a:latin typeface="Courier New"/>
                <a:ea typeface="Courier New"/>
                <a:cs typeface="Courier New"/>
                <a:sym typeface="Courier New"/>
              </a:rPr>
              <a:t>}</a:t>
            </a:r>
            <a:endParaRPr sz="1200">
              <a:solidFill>
                <a:srgbClr val="000000"/>
              </a:solidFill>
              <a:latin typeface="Courier New"/>
              <a:ea typeface="Courier New"/>
              <a:cs typeface="Courier New"/>
              <a:sym typeface="Courier New"/>
            </a:endParaRPr>
          </a:p>
          <a:p>
            <a:pPr indent="-304800" lvl="0" marL="457200" rtl="0" algn="l">
              <a:lnSpc>
                <a:spcPct val="150000"/>
              </a:lnSpc>
              <a:spcBef>
                <a:spcPts val="0"/>
              </a:spcBef>
              <a:spcAft>
                <a:spcPts val="0"/>
              </a:spcAft>
              <a:buSzPts val="1200"/>
              <a:buFont typeface="Courier New"/>
              <a:buAutoNum type="arabicPeriod"/>
            </a:pPr>
            <a:r>
              <a:rPr lang="en" sz="1200">
                <a:solidFill>
                  <a:srgbClr val="000000"/>
                </a:solidFill>
                <a:latin typeface="Courier New"/>
                <a:ea typeface="Courier New"/>
                <a:cs typeface="Courier New"/>
                <a:sym typeface="Courier New"/>
              </a:rPr>
              <a:t>}</a:t>
            </a:r>
            <a:endParaRPr sz="1200">
              <a:latin typeface="Courier New"/>
              <a:ea typeface="Courier New"/>
              <a:cs typeface="Courier New"/>
              <a:sym typeface="Courier New"/>
            </a:endParaRPr>
          </a:p>
        </p:txBody>
      </p:sp>
      <p:cxnSp>
        <p:nvCxnSpPr>
          <p:cNvPr id="156" name="Google Shape;156;p19"/>
          <p:cNvCxnSpPr>
            <a:stCxn id="151" idx="2"/>
            <a:endCxn id="153" idx="0"/>
          </p:cNvCxnSpPr>
          <p:nvPr/>
        </p:nvCxnSpPr>
        <p:spPr>
          <a:xfrm>
            <a:off x="2184902" y="2120873"/>
            <a:ext cx="0" cy="24840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19"/>
          <p:cNvCxnSpPr>
            <a:stCxn id="153" idx="1"/>
            <a:endCxn id="154" idx="0"/>
          </p:cNvCxnSpPr>
          <p:nvPr/>
        </p:nvCxnSpPr>
        <p:spPr>
          <a:xfrm flipH="1">
            <a:off x="1092600" y="2655475"/>
            <a:ext cx="149400" cy="598200"/>
          </a:xfrm>
          <a:prstGeom prst="bentConnector2">
            <a:avLst/>
          </a:prstGeom>
          <a:noFill/>
          <a:ln cap="flat" cmpd="sng" w="9525">
            <a:solidFill>
              <a:schemeClr val="dk2"/>
            </a:solidFill>
            <a:prstDash val="solid"/>
            <a:round/>
            <a:headEnd len="med" w="med" type="none"/>
            <a:tailEnd len="med" w="med" type="stealth"/>
          </a:ln>
        </p:spPr>
      </p:cxnSp>
      <p:sp>
        <p:nvSpPr>
          <p:cNvPr id="158" name="Google Shape;158;p19"/>
          <p:cNvSpPr/>
          <p:nvPr/>
        </p:nvSpPr>
        <p:spPr>
          <a:xfrm>
            <a:off x="2333825" y="3253725"/>
            <a:ext cx="1789200" cy="379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else block / scope</a:t>
            </a:r>
            <a:endParaRPr sz="1300"/>
          </a:p>
        </p:txBody>
      </p:sp>
      <p:cxnSp>
        <p:nvCxnSpPr>
          <p:cNvPr id="159" name="Google Shape;159;p19"/>
          <p:cNvCxnSpPr>
            <a:stCxn id="153" idx="3"/>
            <a:endCxn id="158" idx="0"/>
          </p:cNvCxnSpPr>
          <p:nvPr/>
        </p:nvCxnSpPr>
        <p:spPr>
          <a:xfrm>
            <a:off x="3127800" y="2655475"/>
            <a:ext cx="100500" cy="598200"/>
          </a:xfrm>
          <a:prstGeom prst="bentConnector2">
            <a:avLst/>
          </a:prstGeom>
          <a:noFill/>
          <a:ln cap="flat" cmpd="sng" w="9525">
            <a:solidFill>
              <a:schemeClr val="dk2"/>
            </a:solidFill>
            <a:prstDash val="solid"/>
            <a:round/>
            <a:headEnd len="med" w="med" type="none"/>
            <a:tailEnd len="med" w="med" type="stealth"/>
          </a:ln>
        </p:spPr>
      </p:cxnSp>
      <p:sp>
        <p:nvSpPr>
          <p:cNvPr id="160" name="Google Shape;160;p19"/>
          <p:cNvSpPr/>
          <p:nvPr/>
        </p:nvSpPr>
        <p:spPr>
          <a:xfrm>
            <a:off x="1971450" y="3819038"/>
            <a:ext cx="426900" cy="3798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61" name="Google Shape;161;p19"/>
          <p:cNvCxnSpPr>
            <a:stCxn id="154" idx="4"/>
            <a:endCxn id="160" idx="2"/>
          </p:cNvCxnSpPr>
          <p:nvPr/>
        </p:nvCxnSpPr>
        <p:spPr>
          <a:xfrm flipH="1" rot="-5400000">
            <a:off x="1344450" y="3381675"/>
            <a:ext cx="375300" cy="879000"/>
          </a:xfrm>
          <a:prstGeom prst="bentConnector2">
            <a:avLst/>
          </a:prstGeom>
          <a:noFill/>
          <a:ln cap="flat" cmpd="sng" w="9525">
            <a:solidFill>
              <a:schemeClr val="dk2"/>
            </a:solidFill>
            <a:prstDash val="solid"/>
            <a:round/>
            <a:headEnd len="med" w="med" type="none"/>
            <a:tailEnd len="med" w="med" type="stealth"/>
          </a:ln>
        </p:spPr>
      </p:cxnSp>
      <p:cxnSp>
        <p:nvCxnSpPr>
          <p:cNvPr id="162" name="Google Shape;162;p19"/>
          <p:cNvCxnSpPr>
            <a:stCxn id="158" idx="4"/>
            <a:endCxn id="160" idx="6"/>
          </p:cNvCxnSpPr>
          <p:nvPr/>
        </p:nvCxnSpPr>
        <p:spPr>
          <a:xfrm rot="5400000">
            <a:off x="2625725" y="3406125"/>
            <a:ext cx="375300" cy="830100"/>
          </a:xfrm>
          <a:prstGeom prst="bentConnector2">
            <a:avLst/>
          </a:prstGeom>
          <a:noFill/>
          <a:ln cap="flat" cmpd="sng" w="9525">
            <a:solidFill>
              <a:schemeClr val="dk2"/>
            </a:solidFill>
            <a:prstDash val="solid"/>
            <a:round/>
            <a:headEnd len="med" w="med" type="none"/>
            <a:tailEnd len="med" w="med" type="stealth"/>
          </a:ln>
        </p:spPr>
      </p:cxnSp>
      <p:cxnSp>
        <p:nvCxnSpPr>
          <p:cNvPr id="163" name="Google Shape;163;p19"/>
          <p:cNvCxnSpPr>
            <a:stCxn id="160" idx="4"/>
            <a:endCxn id="152" idx="0"/>
          </p:cNvCxnSpPr>
          <p:nvPr/>
        </p:nvCxnSpPr>
        <p:spPr>
          <a:xfrm flipH="1" rot="-5400000">
            <a:off x="2092500" y="4291238"/>
            <a:ext cx="185400" cy="600"/>
          </a:xfrm>
          <a:prstGeom prst="bentConnector3">
            <a:avLst>
              <a:gd fmla="val 50030" name="adj1"/>
            </a:avLst>
          </a:prstGeom>
          <a:noFill/>
          <a:ln cap="flat" cmpd="sng" w="9525">
            <a:solidFill>
              <a:schemeClr val="dk2"/>
            </a:solidFill>
            <a:prstDash val="solid"/>
            <a:round/>
            <a:headEnd len="med" w="med" type="none"/>
            <a:tailEnd len="med" w="med" type="stealth"/>
          </a:ln>
        </p:spPr>
      </p:cxnSp>
      <p:sp>
        <p:nvSpPr>
          <p:cNvPr id="164" name="Google Shape;164;p19"/>
          <p:cNvSpPr txBox="1"/>
          <p:nvPr/>
        </p:nvSpPr>
        <p:spPr>
          <a:xfrm>
            <a:off x="813000" y="2369275"/>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165" name="Google Shape;165;p19"/>
          <p:cNvSpPr txBox="1"/>
          <p:nvPr/>
        </p:nvSpPr>
        <p:spPr>
          <a:xfrm>
            <a:off x="2996900" y="2369275"/>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a:t>
            </a:r>
            <a:r>
              <a:rPr lang="en"/>
              <a:t> Double </a:t>
            </a:r>
            <a:r>
              <a:rPr lang="en"/>
              <a:t>Selection Statements (Contd)</a:t>
            </a:r>
            <a:endParaRPr/>
          </a:p>
        </p:txBody>
      </p:sp>
      <p:sp>
        <p:nvSpPr>
          <p:cNvPr id="171" name="Google Shape;171;p20"/>
          <p:cNvSpPr/>
          <p:nvPr/>
        </p:nvSpPr>
        <p:spPr>
          <a:xfrm>
            <a:off x="1941688" y="1635488"/>
            <a:ext cx="868536" cy="254880"/>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172" name="Google Shape;172;p20"/>
          <p:cNvSpPr/>
          <p:nvPr/>
        </p:nvSpPr>
        <p:spPr>
          <a:xfrm>
            <a:off x="1956475" y="4596875"/>
            <a:ext cx="838350" cy="25498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173" name="Google Shape;173;p20"/>
          <p:cNvSpPr/>
          <p:nvPr/>
        </p:nvSpPr>
        <p:spPr>
          <a:xfrm>
            <a:off x="1369750" y="2164325"/>
            <a:ext cx="20118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Read num</a:t>
            </a:r>
            <a:endParaRPr sz="1200"/>
          </a:p>
        </p:txBody>
      </p:sp>
      <p:sp>
        <p:nvSpPr>
          <p:cNvPr id="174" name="Google Shape;174;p20"/>
          <p:cNvSpPr/>
          <p:nvPr/>
        </p:nvSpPr>
        <p:spPr>
          <a:xfrm>
            <a:off x="1307200" y="2773050"/>
            <a:ext cx="2136900" cy="6411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num%2 == 0</a:t>
            </a:r>
            <a:endParaRPr sz="1200"/>
          </a:p>
        </p:txBody>
      </p:sp>
      <p:sp>
        <p:nvSpPr>
          <p:cNvPr id="175" name="Google Shape;175;p20"/>
          <p:cNvSpPr txBox="1"/>
          <p:nvPr/>
        </p:nvSpPr>
        <p:spPr>
          <a:xfrm>
            <a:off x="4697225" y="1978375"/>
            <a:ext cx="4251000" cy="2524200"/>
          </a:xfrm>
          <a:prstGeom prst="rect">
            <a:avLst/>
          </a:prstGeom>
          <a:solidFill>
            <a:srgbClr val="EEEEEE"/>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Scanner sc = </a:t>
            </a:r>
            <a:r>
              <a:rPr lang="en" sz="1100">
                <a:solidFill>
                  <a:srgbClr val="0000FF"/>
                </a:solidFill>
                <a:highlight>
                  <a:schemeClr val="lt2"/>
                </a:highlight>
                <a:latin typeface="Courier New"/>
                <a:ea typeface="Courier New"/>
                <a:cs typeface="Courier New"/>
                <a:sym typeface="Courier New"/>
              </a:rPr>
              <a:t>new </a:t>
            </a:r>
            <a:r>
              <a:rPr lang="en" sz="1100">
                <a:solidFill>
                  <a:schemeClr val="dk1"/>
                </a:solidFill>
                <a:highlight>
                  <a:schemeClr val="lt2"/>
                </a:highlight>
                <a:latin typeface="Courier New"/>
                <a:ea typeface="Courier New"/>
                <a:cs typeface="Courier New"/>
                <a:sym typeface="Courier New"/>
              </a:rPr>
              <a:t>Scanner(System.in);</a:t>
            </a:r>
            <a:endParaRPr sz="11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100">
                <a:solidFill>
                  <a:schemeClr val="dk1"/>
                </a:solidFill>
                <a:highlight>
                  <a:schemeClr val="lt2"/>
                </a:highlight>
                <a:latin typeface="Courier New"/>
                <a:ea typeface="Courier New"/>
                <a:cs typeface="Courier New"/>
                <a:sym typeface="Courier New"/>
              </a:rPr>
              <a:t>String num = sc.nextInt();</a:t>
            </a:r>
            <a:endParaRPr sz="1200">
              <a:solidFill>
                <a:srgbClr val="0000FF"/>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rgbClr val="0000FF"/>
                </a:solidFill>
                <a:highlight>
                  <a:schemeClr val="lt2"/>
                </a:highlight>
                <a:latin typeface="Courier New"/>
                <a:ea typeface="Courier New"/>
                <a:cs typeface="Courier New"/>
                <a:sym typeface="Courier New"/>
              </a:rPr>
              <a:t>if</a:t>
            </a:r>
            <a:r>
              <a:rPr lang="en" sz="1200">
                <a:solidFill>
                  <a:schemeClr val="dk1"/>
                </a:solidFill>
                <a:highlight>
                  <a:schemeClr val="lt2"/>
                </a:highlight>
                <a:latin typeface="Courier New"/>
                <a:ea typeface="Courier New"/>
                <a:cs typeface="Courier New"/>
                <a:sym typeface="Courier New"/>
              </a:rPr>
              <a:t> (num%2 == 0) {</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"Even"</a:t>
            </a: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rgbClr val="0000FF"/>
                </a:solidFill>
                <a:highlight>
                  <a:schemeClr val="lt2"/>
                </a:highlight>
                <a:latin typeface="Courier New"/>
                <a:ea typeface="Courier New"/>
                <a:cs typeface="Courier New"/>
                <a:sym typeface="Courier New"/>
              </a:rPr>
              <a:t>else</a:t>
            </a:r>
            <a:r>
              <a:rPr lang="en" sz="1200">
                <a:solidFill>
                  <a:schemeClr val="dk1"/>
                </a:solidFill>
                <a:highlight>
                  <a:schemeClr val="lt2"/>
                </a:highlight>
                <a:latin typeface="Courier New"/>
                <a:ea typeface="Courier New"/>
                <a:cs typeface="Courier New"/>
                <a:sym typeface="Courier New"/>
              </a:rPr>
              <a:t> {</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"Odd"</a:t>
            </a:r>
            <a:r>
              <a:rPr lang="en" sz="1200">
                <a:solidFill>
                  <a:schemeClr val="dk1"/>
                </a:solidFill>
                <a:highlight>
                  <a:schemeClr val="lt2"/>
                </a:highlight>
                <a:latin typeface="Courier New"/>
                <a:ea typeface="Courier New"/>
                <a:cs typeface="Courier New"/>
                <a:sym typeface="Courier New"/>
              </a:rPr>
              <a:t>);</a:t>
            </a:r>
            <a:endParaRPr sz="1200">
              <a:solidFill>
                <a:schemeClr val="dk1"/>
              </a:solidFill>
              <a:highlight>
                <a:schemeClr val="lt2"/>
              </a:highlight>
              <a:latin typeface="Courier New"/>
              <a:ea typeface="Courier New"/>
              <a:cs typeface="Courier New"/>
              <a:sym typeface="Courier New"/>
            </a:endParaRPr>
          </a:p>
          <a:p>
            <a:pPr indent="-298450" lvl="0" marL="457200" rtl="0" algn="l">
              <a:lnSpc>
                <a:spcPct val="150000"/>
              </a:lnSpc>
              <a:spcBef>
                <a:spcPts val="0"/>
              </a:spcBef>
              <a:spcAft>
                <a:spcPts val="0"/>
              </a:spcAft>
              <a:buSzPts val="1100"/>
              <a:buFont typeface="Courier New"/>
              <a:buAutoNum type="arabicPeriod"/>
            </a:pPr>
            <a:r>
              <a:rPr lang="en" sz="1200">
                <a:solidFill>
                  <a:schemeClr val="dk1"/>
                </a:solidFill>
                <a:highlight>
                  <a:schemeClr val="lt2"/>
                </a:highlight>
                <a:latin typeface="Courier New"/>
                <a:ea typeface="Courier New"/>
                <a:cs typeface="Courier New"/>
                <a:sym typeface="Courier New"/>
              </a:rPr>
              <a:t>}</a:t>
            </a:r>
            <a:endParaRPr sz="1200">
              <a:solidFill>
                <a:schemeClr val="dk1"/>
              </a:solidFill>
              <a:latin typeface="Courier New"/>
              <a:ea typeface="Courier New"/>
              <a:cs typeface="Courier New"/>
              <a:sym typeface="Courier New"/>
            </a:endParaRPr>
          </a:p>
          <a:p>
            <a:pPr indent="-298450" lvl="0" marL="457200" rtl="0" algn="l">
              <a:lnSpc>
                <a:spcPct val="150000"/>
              </a:lnSpc>
              <a:spcBef>
                <a:spcPts val="0"/>
              </a:spcBef>
              <a:spcAft>
                <a:spcPts val="0"/>
              </a:spcAft>
              <a:buClr>
                <a:srgbClr val="0000FF"/>
              </a:buClr>
              <a:buSzPts val="1100"/>
              <a:buFont typeface="Courier New"/>
              <a:buAutoNum type="arabicPeriod"/>
            </a:pPr>
            <a:r>
              <a:t/>
            </a:r>
            <a:endParaRPr sz="1100">
              <a:solidFill>
                <a:srgbClr val="0000FF"/>
              </a:solidFill>
              <a:highlight>
                <a:schemeClr val="lt2"/>
              </a:highlight>
              <a:latin typeface="Courier New"/>
              <a:ea typeface="Courier New"/>
              <a:cs typeface="Courier New"/>
              <a:sym typeface="Courier New"/>
            </a:endParaRPr>
          </a:p>
        </p:txBody>
      </p:sp>
      <p:sp>
        <p:nvSpPr>
          <p:cNvPr id="176" name="Google Shape;176;p20"/>
          <p:cNvSpPr/>
          <p:nvPr/>
        </p:nvSpPr>
        <p:spPr>
          <a:xfrm>
            <a:off x="311700" y="3589163"/>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“Even”</a:t>
            </a:r>
            <a:endParaRPr sz="1200"/>
          </a:p>
        </p:txBody>
      </p:sp>
      <p:sp>
        <p:nvSpPr>
          <p:cNvPr id="177" name="Google Shape;177;p20"/>
          <p:cNvSpPr/>
          <p:nvPr/>
        </p:nvSpPr>
        <p:spPr>
          <a:xfrm>
            <a:off x="2212138" y="4077375"/>
            <a:ext cx="327000" cy="3042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8" name="Google Shape;178;p20"/>
          <p:cNvCxnSpPr>
            <a:stCxn id="171" idx="2"/>
            <a:endCxn id="173" idx="0"/>
          </p:cNvCxnSpPr>
          <p:nvPr/>
        </p:nvCxnSpPr>
        <p:spPr>
          <a:xfrm flipH="1">
            <a:off x="2375656" y="1890368"/>
            <a:ext cx="300" cy="273900"/>
          </a:xfrm>
          <a:prstGeom prst="straightConnector1">
            <a:avLst/>
          </a:prstGeom>
          <a:noFill/>
          <a:ln cap="flat" cmpd="sng" w="9525">
            <a:solidFill>
              <a:schemeClr val="dk2"/>
            </a:solidFill>
            <a:prstDash val="solid"/>
            <a:round/>
            <a:headEnd len="med" w="med" type="none"/>
            <a:tailEnd len="med" w="med" type="triangle"/>
          </a:ln>
        </p:spPr>
      </p:cxnSp>
      <p:cxnSp>
        <p:nvCxnSpPr>
          <p:cNvPr id="179" name="Google Shape;179;p20"/>
          <p:cNvCxnSpPr>
            <a:stCxn id="173" idx="4"/>
            <a:endCxn id="174" idx="0"/>
          </p:cNvCxnSpPr>
          <p:nvPr/>
        </p:nvCxnSpPr>
        <p:spPr>
          <a:xfrm>
            <a:off x="2375650" y="2508125"/>
            <a:ext cx="0" cy="264900"/>
          </a:xfrm>
          <a:prstGeom prst="straightConnector1">
            <a:avLst/>
          </a:prstGeom>
          <a:noFill/>
          <a:ln cap="flat" cmpd="sng" w="9525">
            <a:solidFill>
              <a:schemeClr val="dk2"/>
            </a:solidFill>
            <a:prstDash val="solid"/>
            <a:round/>
            <a:headEnd len="med" w="med" type="none"/>
            <a:tailEnd len="med" w="med" type="triangle"/>
          </a:ln>
        </p:spPr>
      </p:cxnSp>
      <p:cxnSp>
        <p:nvCxnSpPr>
          <p:cNvPr id="180" name="Google Shape;180;p20"/>
          <p:cNvCxnSpPr>
            <a:stCxn id="174" idx="1"/>
            <a:endCxn id="176" idx="0"/>
          </p:cNvCxnSpPr>
          <p:nvPr/>
        </p:nvCxnSpPr>
        <p:spPr>
          <a:xfrm flipH="1">
            <a:off x="1212700" y="3093600"/>
            <a:ext cx="94500" cy="495600"/>
          </a:xfrm>
          <a:prstGeom prst="bentConnector2">
            <a:avLst/>
          </a:prstGeom>
          <a:noFill/>
          <a:ln cap="flat" cmpd="sng" w="9525">
            <a:solidFill>
              <a:schemeClr val="dk2"/>
            </a:solidFill>
            <a:prstDash val="solid"/>
            <a:round/>
            <a:headEnd len="med" w="med" type="none"/>
            <a:tailEnd len="med" w="med" type="triangle"/>
          </a:ln>
        </p:spPr>
      </p:cxnSp>
      <p:cxnSp>
        <p:nvCxnSpPr>
          <p:cNvPr id="181" name="Google Shape;181;p20"/>
          <p:cNvCxnSpPr>
            <a:endCxn id="177" idx="2"/>
          </p:cNvCxnSpPr>
          <p:nvPr/>
        </p:nvCxnSpPr>
        <p:spPr>
          <a:xfrm>
            <a:off x="826438" y="3931575"/>
            <a:ext cx="1385700" cy="297900"/>
          </a:xfrm>
          <a:prstGeom prst="bentConnector3">
            <a:avLst>
              <a:gd fmla="val 602" name="adj1"/>
            </a:avLst>
          </a:prstGeom>
          <a:noFill/>
          <a:ln cap="flat" cmpd="sng" w="9525">
            <a:solidFill>
              <a:schemeClr val="dk2"/>
            </a:solidFill>
            <a:prstDash val="solid"/>
            <a:round/>
            <a:headEnd len="med" w="med" type="none"/>
            <a:tailEnd len="med" w="med" type="triangle"/>
          </a:ln>
        </p:spPr>
      </p:cxnSp>
      <p:cxnSp>
        <p:nvCxnSpPr>
          <p:cNvPr id="182" name="Google Shape;182;p20"/>
          <p:cNvCxnSpPr>
            <a:stCxn id="177" idx="4"/>
            <a:endCxn id="172" idx="0"/>
          </p:cNvCxnSpPr>
          <p:nvPr/>
        </p:nvCxnSpPr>
        <p:spPr>
          <a:xfrm flipH="1" rot="-5400000">
            <a:off x="2268238" y="4488975"/>
            <a:ext cx="215400" cy="600"/>
          </a:xfrm>
          <a:prstGeom prst="bentConnector3">
            <a:avLst>
              <a:gd fmla="val 49977" name="adj1"/>
            </a:avLst>
          </a:prstGeom>
          <a:noFill/>
          <a:ln cap="flat" cmpd="sng" w="9525">
            <a:solidFill>
              <a:schemeClr val="dk2"/>
            </a:solidFill>
            <a:prstDash val="solid"/>
            <a:round/>
            <a:headEnd len="med" w="med" type="none"/>
            <a:tailEnd len="med" w="med" type="triangle"/>
          </a:ln>
        </p:spPr>
      </p:cxnSp>
      <p:sp>
        <p:nvSpPr>
          <p:cNvPr id="183" name="Google Shape;183;p20"/>
          <p:cNvSpPr txBox="1"/>
          <p:nvPr/>
        </p:nvSpPr>
        <p:spPr>
          <a:xfrm>
            <a:off x="611725" y="3205013"/>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184" name="Google Shape;184;p20"/>
          <p:cNvSpPr txBox="1"/>
          <p:nvPr/>
        </p:nvSpPr>
        <p:spPr>
          <a:xfrm>
            <a:off x="3608463" y="3205013"/>
            <a:ext cx="7116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185" name="Google Shape;185;p20"/>
          <p:cNvSpPr/>
          <p:nvPr/>
        </p:nvSpPr>
        <p:spPr>
          <a:xfrm>
            <a:off x="2642550" y="3602875"/>
            <a:ext cx="1802100" cy="3438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Print “Odd”</a:t>
            </a:r>
            <a:endParaRPr sz="1200"/>
          </a:p>
        </p:txBody>
      </p:sp>
      <p:cxnSp>
        <p:nvCxnSpPr>
          <p:cNvPr id="186" name="Google Shape;186;p20"/>
          <p:cNvCxnSpPr>
            <a:stCxn id="174" idx="3"/>
            <a:endCxn id="185" idx="0"/>
          </p:cNvCxnSpPr>
          <p:nvPr/>
        </p:nvCxnSpPr>
        <p:spPr>
          <a:xfrm>
            <a:off x="3444100" y="3093600"/>
            <a:ext cx="99600" cy="509400"/>
          </a:xfrm>
          <a:prstGeom prst="bentConnector2">
            <a:avLst/>
          </a:prstGeom>
          <a:noFill/>
          <a:ln cap="flat" cmpd="sng" w="9525">
            <a:solidFill>
              <a:schemeClr val="dk2"/>
            </a:solidFill>
            <a:prstDash val="solid"/>
            <a:round/>
            <a:headEnd len="med" w="med" type="none"/>
            <a:tailEnd len="med" w="med" type="triangle"/>
          </a:ln>
        </p:spPr>
      </p:cxnSp>
      <p:cxnSp>
        <p:nvCxnSpPr>
          <p:cNvPr id="187" name="Google Shape;187;p20"/>
          <p:cNvCxnSpPr>
            <a:endCxn id="177" idx="6"/>
          </p:cNvCxnSpPr>
          <p:nvPr/>
        </p:nvCxnSpPr>
        <p:spPr>
          <a:xfrm flipH="1">
            <a:off x="2539138" y="3948075"/>
            <a:ext cx="1342200" cy="281400"/>
          </a:xfrm>
          <a:prstGeom prst="bentConnector3">
            <a:avLst>
              <a:gd fmla="val -608" name="adj1"/>
            </a:avLst>
          </a:prstGeom>
          <a:noFill/>
          <a:ln cap="flat" cmpd="sng" w="9525">
            <a:solidFill>
              <a:schemeClr val="dk2"/>
            </a:solidFill>
            <a:prstDash val="solid"/>
            <a:round/>
            <a:headEnd len="med" w="med" type="none"/>
            <a:tailEnd len="med" w="med" type="triangle"/>
          </a:ln>
        </p:spPr>
      </p:cxnSp>
      <p:sp>
        <p:nvSpPr>
          <p:cNvPr id="188" name="Google Shape;188;p20"/>
          <p:cNvSpPr txBox="1"/>
          <p:nvPr>
            <p:ph idx="1" type="body"/>
          </p:nvPr>
        </p:nvSpPr>
        <p:spPr>
          <a:xfrm>
            <a:off x="311700" y="971900"/>
            <a:ext cx="8477700" cy="6666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 sz="1600">
                <a:solidFill>
                  <a:schemeClr val="dk1"/>
                </a:solidFill>
              </a:rPr>
              <a:t>Print “Even” or “Odd” based on user given input.</a:t>
            </a:r>
            <a:endParaRPr sz="1600">
              <a:solidFill>
                <a:schemeClr val="dk1"/>
              </a:solidFill>
            </a:endParaRPr>
          </a:p>
          <a:p>
            <a:pPr indent="0" lvl="0" marL="0" rtl="0" algn="l">
              <a:spcBef>
                <a:spcPts val="0"/>
              </a:spcBef>
              <a:spcAft>
                <a:spcPts val="120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1"/>
          <p:cNvSpPr txBox="1"/>
          <p:nvPr>
            <p:ph type="title"/>
          </p:nvPr>
        </p:nvSpPr>
        <p:spPr>
          <a:xfrm>
            <a:off x="311700" y="521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f - else if - else Multiple Selection Statements</a:t>
            </a:r>
            <a:endParaRPr/>
          </a:p>
        </p:txBody>
      </p:sp>
      <p:sp>
        <p:nvSpPr>
          <p:cNvPr id="194" name="Google Shape;194;p21"/>
          <p:cNvSpPr txBox="1"/>
          <p:nvPr>
            <p:ph idx="1" type="body"/>
          </p:nvPr>
        </p:nvSpPr>
        <p:spPr>
          <a:xfrm>
            <a:off x="311700" y="1152475"/>
            <a:ext cx="8365500" cy="2480100"/>
          </a:xfrm>
          <a:prstGeom prst="rect">
            <a:avLst/>
          </a:prstGeom>
        </p:spPr>
        <p:txBody>
          <a:bodyPr anchorCtr="0" anchor="t" bIns="91425" lIns="91425" spcFirstLastPara="1" rIns="91425" wrap="square" tIns="91425">
            <a:norm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Follows top down approach.</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There can be multiple else if conditions.</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e</a:t>
            </a:r>
            <a:r>
              <a:rPr lang="en" sz="1600">
                <a:solidFill>
                  <a:schemeClr val="dk1"/>
                </a:solidFill>
              </a:rPr>
              <a:t>lse if and else cannot exist without if condition.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Only the first True conditional block executed</a:t>
            </a:r>
            <a:r>
              <a:rPr lang="en" sz="1600">
                <a:solidFill>
                  <a:schemeClr val="dk1"/>
                </a:solidFill>
              </a:rPr>
              <a:t>. Following conditions are not checked.</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of elif/ else</a:t>
            </a:r>
            <a:r>
              <a:rPr lang="en" sz="1600">
                <a:solidFill>
                  <a:schemeClr val="dk1"/>
                </a:solidFill>
              </a:rPr>
              <a:t>: Evaluating other conditions after if statement.</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200" name="Google Shape;200;p22"/>
          <p:cNvSpPr txBox="1"/>
          <p:nvPr/>
        </p:nvSpPr>
        <p:spPr>
          <a:xfrm>
            <a:off x="4939275" y="1386825"/>
            <a:ext cx="3964200" cy="31092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45700" spcFirstLastPara="1" rIns="18275" wrap="square" tIns="91425">
            <a:spAutoFit/>
          </a:bodyPr>
          <a:lstStyle/>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class</a:t>
            </a:r>
            <a:r>
              <a:rPr lang="en" sz="1000">
                <a:latin typeface="Courier New"/>
                <a:ea typeface="Courier New"/>
                <a:cs typeface="Courier New"/>
                <a:sym typeface="Courier New"/>
              </a:rPr>
              <a:t> MultiBranching {</a:t>
            </a:r>
            <a:endParaRPr sz="1000">
              <a:solidFill>
                <a:schemeClr val="dk1"/>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public</a:t>
            </a:r>
            <a:r>
              <a:rPr lang="en" sz="1000">
                <a:solidFill>
                  <a:srgbClr val="000000"/>
                </a:solidFill>
                <a:latin typeface="Courier New"/>
                <a:ea typeface="Courier New"/>
                <a:cs typeface="Courier New"/>
                <a:sym typeface="Courier New"/>
              </a:rPr>
              <a:t> </a:t>
            </a:r>
            <a:r>
              <a:rPr lang="en" sz="1000">
                <a:solidFill>
                  <a:srgbClr val="0000FF"/>
                </a:solidFill>
                <a:latin typeface="Courier New"/>
                <a:ea typeface="Courier New"/>
                <a:cs typeface="Courier New"/>
                <a:sym typeface="Courier New"/>
              </a:rPr>
              <a:t>static</a:t>
            </a:r>
            <a:r>
              <a:rPr lang="en" sz="1000">
                <a:solidFill>
                  <a:srgbClr val="000000"/>
                </a:solidFill>
                <a:latin typeface="Courier New"/>
                <a:ea typeface="Courier New"/>
                <a:cs typeface="Courier New"/>
                <a:sym typeface="Courier New"/>
              </a:rPr>
              <a:t> void main (String[] args)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F00"/>
                </a:highlight>
                <a:latin typeface="Courier New"/>
                <a:ea typeface="Courier New"/>
                <a:cs typeface="Courier New"/>
                <a:sym typeface="Courier New"/>
              </a:rPr>
              <a:t>if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(condition)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else if condition block</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D00"/>
                </a:highlight>
                <a:latin typeface="Courier New"/>
                <a:ea typeface="Courier New"/>
                <a:cs typeface="Courier New"/>
                <a:sym typeface="Courier New"/>
              </a:rPr>
              <a:t>else condition block</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latin typeface="Courier New"/>
                <a:ea typeface="Courier New"/>
                <a:cs typeface="Courier New"/>
                <a:sym typeface="Courier New"/>
              </a:rPr>
              <a:t>    </a:t>
            </a:r>
            <a:r>
              <a:rPr lang="en" sz="1000">
                <a:solidFill>
                  <a:srgbClr val="000000"/>
                </a:solidFill>
                <a:latin typeface="Courier New"/>
                <a:ea typeface="Courier New"/>
                <a:cs typeface="Courier New"/>
                <a:sym typeface="Courier New"/>
              </a:rPr>
              <a:t>}</a:t>
            </a:r>
            <a:endParaRPr sz="1000">
              <a:solidFill>
                <a:srgbClr val="000000"/>
              </a:solidFill>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00"/>
                </a:solidFill>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01" name="Google Shape;201;p22"/>
          <p:cNvSpPr/>
          <p:nvPr/>
        </p:nvSpPr>
        <p:spPr>
          <a:xfrm>
            <a:off x="1271875" y="1220900"/>
            <a:ext cx="80654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202" name="Google Shape;202;p22"/>
          <p:cNvSpPr/>
          <p:nvPr/>
        </p:nvSpPr>
        <p:spPr>
          <a:xfrm>
            <a:off x="2784025" y="449602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sp>
        <p:nvSpPr>
          <p:cNvPr id="203" name="Google Shape;203;p22"/>
          <p:cNvSpPr/>
          <p:nvPr/>
        </p:nvSpPr>
        <p:spPr>
          <a:xfrm>
            <a:off x="847950" y="1672950"/>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45700">
            <a:noAutofit/>
          </a:bodyPr>
          <a:lstStyle/>
          <a:p>
            <a:pPr indent="0" lvl="0" marL="0" rtl="0" algn="ctr">
              <a:spcBef>
                <a:spcPts val="0"/>
              </a:spcBef>
              <a:spcAft>
                <a:spcPts val="0"/>
              </a:spcAft>
              <a:buNone/>
            </a:pPr>
            <a:r>
              <a:rPr lang="en" sz="1200"/>
              <a:t>i</a:t>
            </a:r>
            <a:r>
              <a:rPr lang="en" sz="1200"/>
              <a:t>f</a:t>
            </a:r>
            <a:r>
              <a:rPr lang="en" sz="1200"/>
              <a:t> c</a:t>
            </a:r>
            <a:r>
              <a:rPr lang="en" sz="1200"/>
              <a:t>ondition</a:t>
            </a:r>
            <a:endParaRPr sz="1200"/>
          </a:p>
        </p:txBody>
      </p:sp>
      <p:cxnSp>
        <p:nvCxnSpPr>
          <p:cNvPr id="204" name="Google Shape;204;p22"/>
          <p:cNvCxnSpPr>
            <a:stCxn id="201" idx="2"/>
            <a:endCxn id="203" idx="0"/>
          </p:cNvCxnSpPr>
          <p:nvPr/>
        </p:nvCxnSpPr>
        <p:spPr>
          <a:xfrm>
            <a:off x="1675147" y="1496894"/>
            <a:ext cx="8700" cy="176100"/>
          </a:xfrm>
          <a:prstGeom prst="straightConnector1">
            <a:avLst/>
          </a:prstGeom>
          <a:noFill/>
          <a:ln cap="flat" cmpd="sng" w="9525">
            <a:solidFill>
              <a:schemeClr val="dk2"/>
            </a:solidFill>
            <a:prstDash val="solid"/>
            <a:round/>
            <a:headEnd len="med" w="med" type="none"/>
            <a:tailEnd len="med" w="med" type="triangle"/>
          </a:ln>
        </p:spPr>
      </p:cxnSp>
      <p:sp>
        <p:nvSpPr>
          <p:cNvPr id="205" name="Google Shape;205;p22"/>
          <p:cNvSpPr txBox="1"/>
          <p:nvPr/>
        </p:nvSpPr>
        <p:spPr>
          <a:xfrm>
            <a:off x="2563288" y="266686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206" name="Google Shape;206;p22"/>
          <p:cNvSpPr txBox="1"/>
          <p:nvPr/>
        </p:nvSpPr>
        <p:spPr>
          <a:xfrm>
            <a:off x="1136200" y="2292437"/>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07" name="Google Shape;207;p22"/>
          <p:cNvSpPr/>
          <p:nvPr/>
        </p:nvSpPr>
        <p:spPr>
          <a:xfrm>
            <a:off x="839200" y="2632275"/>
            <a:ext cx="1671900" cy="618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else </a:t>
            </a:r>
            <a:r>
              <a:rPr lang="en" sz="1200"/>
              <a:t>if condition</a:t>
            </a:r>
            <a:endParaRPr sz="1200"/>
          </a:p>
        </p:txBody>
      </p:sp>
      <p:sp>
        <p:nvSpPr>
          <p:cNvPr id="208" name="Google Shape;208;p22"/>
          <p:cNvSpPr/>
          <p:nvPr/>
        </p:nvSpPr>
        <p:spPr>
          <a:xfrm>
            <a:off x="3621800" y="2241600"/>
            <a:ext cx="10182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t>if block / scope</a:t>
            </a:r>
            <a:endParaRPr sz="1200"/>
          </a:p>
        </p:txBody>
      </p:sp>
      <p:sp>
        <p:nvSpPr>
          <p:cNvPr id="209" name="Google Shape;209;p22"/>
          <p:cNvSpPr/>
          <p:nvPr/>
        </p:nvSpPr>
        <p:spPr>
          <a:xfrm>
            <a:off x="2622475" y="3113613"/>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t>else </a:t>
            </a:r>
            <a:r>
              <a:rPr lang="en" sz="1200"/>
              <a:t>if block/scope</a:t>
            </a:r>
            <a:endParaRPr sz="1200"/>
          </a:p>
        </p:txBody>
      </p:sp>
      <p:sp>
        <p:nvSpPr>
          <p:cNvPr id="210" name="Google Shape;210;p22"/>
          <p:cNvSpPr/>
          <p:nvPr/>
        </p:nvSpPr>
        <p:spPr>
          <a:xfrm>
            <a:off x="1073200" y="3776375"/>
            <a:ext cx="1203900" cy="4185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200">
                <a:solidFill>
                  <a:schemeClr val="dk1"/>
                </a:solidFill>
              </a:rPr>
              <a:t>else block / scope</a:t>
            </a:r>
            <a:endParaRPr sz="1200"/>
          </a:p>
        </p:txBody>
      </p:sp>
      <p:cxnSp>
        <p:nvCxnSpPr>
          <p:cNvPr id="211" name="Google Shape;211;p22"/>
          <p:cNvCxnSpPr>
            <a:stCxn id="203" idx="2"/>
            <a:endCxn id="207" idx="0"/>
          </p:cNvCxnSpPr>
          <p:nvPr/>
        </p:nvCxnSpPr>
        <p:spPr>
          <a:xfrm flipH="1">
            <a:off x="1675200" y="2291250"/>
            <a:ext cx="8700" cy="341100"/>
          </a:xfrm>
          <a:prstGeom prst="straightConnector1">
            <a:avLst/>
          </a:prstGeom>
          <a:noFill/>
          <a:ln cap="flat" cmpd="sng" w="9525">
            <a:solidFill>
              <a:schemeClr val="dk2"/>
            </a:solidFill>
            <a:prstDash val="solid"/>
            <a:round/>
            <a:headEnd len="med" w="med" type="none"/>
            <a:tailEnd len="med" w="med" type="triangle"/>
          </a:ln>
        </p:spPr>
      </p:cxnSp>
      <p:cxnSp>
        <p:nvCxnSpPr>
          <p:cNvPr id="212" name="Google Shape;212;p22"/>
          <p:cNvCxnSpPr>
            <a:stCxn id="207" idx="2"/>
            <a:endCxn id="210" idx="0"/>
          </p:cNvCxnSpPr>
          <p:nvPr/>
        </p:nvCxnSpPr>
        <p:spPr>
          <a:xfrm>
            <a:off x="1675150" y="3250575"/>
            <a:ext cx="0" cy="525900"/>
          </a:xfrm>
          <a:prstGeom prst="straightConnector1">
            <a:avLst/>
          </a:prstGeom>
          <a:noFill/>
          <a:ln cap="flat" cmpd="sng" w="9525">
            <a:solidFill>
              <a:schemeClr val="dk2"/>
            </a:solidFill>
            <a:prstDash val="solid"/>
            <a:round/>
            <a:headEnd len="med" w="med" type="none"/>
            <a:tailEnd len="med" w="med" type="triangle"/>
          </a:ln>
        </p:spPr>
      </p:cxnSp>
      <p:cxnSp>
        <p:nvCxnSpPr>
          <p:cNvPr id="213" name="Google Shape;213;p22"/>
          <p:cNvCxnSpPr>
            <a:stCxn id="203" idx="3"/>
            <a:endCxn id="208" idx="1"/>
          </p:cNvCxnSpPr>
          <p:nvPr/>
        </p:nvCxnSpPr>
        <p:spPr>
          <a:xfrm>
            <a:off x="2519850" y="1982100"/>
            <a:ext cx="1663500" cy="259500"/>
          </a:xfrm>
          <a:prstGeom prst="bentConnector2">
            <a:avLst/>
          </a:prstGeom>
          <a:noFill/>
          <a:ln cap="flat" cmpd="sng" w="9525">
            <a:solidFill>
              <a:schemeClr val="dk2"/>
            </a:solidFill>
            <a:prstDash val="solid"/>
            <a:round/>
            <a:headEnd len="med" w="med" type="none"/>
            <a:tailEnd len="med" w="med" type="triangle"/>
          </a:ln>
        </p:spPr>
      </p:cxnSp>
      <p:cxnSp>
        <p:nvCxnSpPr>
          <p:cNvPr id="214" name="Google Shape;214;p22"/>
          <p:cNvCxnSpPr>
            <a:stCxn id="207" idx="3"/>
            <a:endCxn id="209" idx="1"/>
          </p:cNvCxnSpPr>
          <p:nvPr/>
        </p:nvCxnSpPr>
        <p:spPr>
          <a:xfrm>
            <a:off x="2511100" y="2941425"/>
            <a:ext cx="765600" cy="172200"/>
          </a:xfrm>
          <a:prstGeom prst="bentConnector2">
            <a:avLst/>
          </a:prstGeom>
          <a:noFill/>
          <a:ln cap="flat" cmpd="sng" w="9525">
            <a:solidFill>
              <a:schemeClr val="dk2"/>
            </a:solidFill>
            <a:prstDash val="solid"/>
            <a:round/>
            <a:headEnd len="med" w="med" type="none"/>
            <a:tailEnd len="med" w="med" type="triangle"/>
          </a:ln>
        </p:spPr>
      </p:cxnSp>
      <p:sp>
        <p:nvSpPr>
          <p:cNvPr id="215" name="Google Shape;215;p22"/>
          <p:cNvSpPr/>
          <p:nvPr/>
        </p:nvSpPr>
        <p:spPr>
          <a:xfrm>
            <a:off x="3034678" y="3813450"/>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 name="Google Shape;216;p22"/>
          <p:cNvCxnSpPr>
            <a:stCxn id="210" idx="2"/>
            <a:endCxn id="215" idx="2"/>
          </p:cNvCxnSpPr>
          <p:nvPr/>
        </p:nvCxnSpPr>
        <p:spPr>
          <a:xfrm flipH="1" rot="10800000">
            <a:off x="2224788" y="3982625"/>
            <a:ext cx="810000" cy="3000"/>
          </a:xfrm>
          <a:prstGeom prst="straightConnector1">
            <a:avLst/>
          </a:prstGeom>
          <a:noFill/>
          <a:ln cap="flat" cmpd="sng" w="9525">
            <a:solidFill>
              <a:schemeClr val="dk2"/>
            </a:solidFill>
            <a:prstDash val="solid"/>
            <a:round/>
            <a:headEnd len="med" w="med" type="none"/>
            <a:tailEnd len="med" w="med" type="triangle"/>
          </a:ln>
        </p:spPr>
      </p:cxnSp>
      <p:cxnSp>
        <p:nvCxnSpPr>
          <p:cNvPr id="217" name="Google Shape;217;p22"/>
          <p:cNvCxnSpPr>
            <a:stCxn id="209" idx="4"/>
            <a:endCxn id="215" idx="0"/>
          </p:cNvCxnSpPr>
          <p:nvPr/>
        </p:nvCxnSpPr>
        <p:spPr>
          <a:xfrm>
            <a:off x="3224425" y="3532113"/>
            <a:ext cx="0" cy="2814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22"/>
          <p:cNvCxnSpPr>
            <a:stCxn id="208" idx="4"/>
            <a:endCxn id="215" idx="6"/>
          </p:cNvCxnSpPr>
          <p:nvPr/>
        </p:nvCxnSpPr>
        <p:spPr>
          <a:xfrm rot="5400000">
            <a:off x="3111350" y="2962950"/>
            <a:ext cx="1322400" cy="716700"/>
          </a:xfrm>
          <a:prstGeom prst="bentConnector2">
            <a:avLst/>
          </a:prstGeom>
          <a:noFill/>
          <a:ln cap="flat" cmpd="sng" w="9525">
            <a:solidFill>
              <a:schemeClr val="dk2"/>
            </a:solidFill>
            <a:prstDash val="solid"/>
            <a:round/>
            <a:headEnd len="med" w="med" type="none"/>
            <a:tailEnd len="med" w="med" type="triangle"/>
          </a:ln>
        </p:spPr>
      </p:cxnSp>
      <p:cxnSp>
        <p:nvCxnSpPr>
          <p:cNvPr id="219" name="Google Shape;219;p22"/>
          <p:cNvCxnSpPr>
            <a:stCxn id="215" idx="4"/>
            <a:endCxn id="202" idx="0"/>
          </p:cNvCxnSpPr>
          <p:nvPr/>
        </p:nvCxnSpPr>
        <p:spPr>
          <a:xfrm>
            <a:off x="3224428" y="4151550"/>
            <a:ext cx="0" cy="344400"/>
          </a:xfrm>
          <a:prstGeom prst="straightConnector1">
            <a:avLst/>
          </a:prstGeom>
          <a:noFill/>
          <a:ln cap="flat" cmpd="sng" w="9525">
            <a:solidFill>
              <a:schemeClr val="dk2"/>
            </a:solidFill>
            <a:prstDash val="solid"/>
            <a:round/>
            <a:headEnd len="med" w="med" type="none"/>
            <a:tailEnd len="med" w="med" type="triangle"/>
          </a:ln>
        </p:spPr>
      </p:cxnSp>
      <p:sp>
        <p:nvSpPr>
          <p:cNvPr id="220" name="Google Shape;220;p22"/>
          <p:cNvSpPr txBox="1"/>
          <p:nvPr/>
        </p:nvSpPr>
        <p:spPr>
          <a:xfrm>
            <a:off x="1136190" y="334411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21" name="Google Shape;221;p22"/>
          <p:cNvSpPr txBox="1"/>
          <p:nvPr/>
        </p:nvSpPr>
        <p:spPr>
          <a:xfrm>
            <a:off x="2622463" y="1672941"/>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if - else if - else Multiple Selection Statements (Contd)</a:t>
            </a:r>
            <a:endParaRPr/>
          </a:p>
        </p:txBody>
      </p:sp>
      <p:sp>
        <p:nvSpPr>
          <p:cNvPr id="227" name="Google Shape;227;p23"/>
          <p:cNvSpPr txBox="1"/>
          <p:nvPr/>
        </p:nvSpPr>
        <p:spPr>
          <a:xfrm>
            <a:off x="4742650" y="1941975"/>
            <a:ext cx="4251000" cy="24858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latin typeface="Courier New"/>
                <a:ea typeface="Courier New"/>
                <a:cs typeface="Courier New"/>
                <a:sym typeface="Courier New"/>
              </a:rPr>
              <a:t>int num = -5;</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(num &gt; 0)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"Positive"</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if </a:t>
            </a:r>
            <a:r>
              <a:rPr lang="en" sz="1000">
                <a:solidFill>
                  <a:schemeClr val="dk1"/>
                </a:solidFill>
                <a:highlight>
                  <a:schemeClr val="lt2"/>
                </a:highlight>
                <a:latin typeface="Courier New"/>
                <a:ea typeface="Courier New"/>
                <a:cs typeface="Courier New"/>
                <a:sym typeface="Courier New"/>
              </a:rPr>
              <a:t>(num &lt; 0)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100">
                <a:solidFill>
                  <a:schemeClr val="dk1"/>
                </a:solidFill>
                <a:highlight>
                  <a:schemeClr val="lt2"/>
                </a:highlight>
                <a:latin typeface="Courier New"/>
                <a:ea typeface="Courier New"/>
                <a:cs typeface="Courier New"/>
                <a:sym typeface="Courier New"/>
              </a:rPr>
              <a:t>System.out.println(</a:t>
            </a:r>
            <a:r>
              <a:rPr lang="en" sz="1100">
                <a:solidFill>
                  <a:srgbClr val="38761D"/>
                </a:solidFill>
                <a:highlight>
                  <a:schemeClr val="lt2"/>
                </a:highlight>
                <a:latin typeface="Courier New"/>
                <a:ea typeface="Courier New"/>
                <a:cs typeface="Courier New"/>
                <a:sym typeface="Courier New"/>
              </a:rPr>
              <a:t>"Negative"</a:t>
            </a:r>
            <a:r>
              <a:rPr lang="en" sz="11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100">
                <a:solidFill>
                  <a:schemeClr val="dk1"/>
                </a:solidFill>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"Zero"</a:t>
            </a:r>
            <a:r>
              <a:rPr lang="en" sz="11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228" name="Google Shape;228;p23"/>
          <p:cNvSpPr/>
          <p:nvPr/>
        </p:nvSpPr>
        <p:spPr>
          <a:xfrm>
            <a:off x="1019100" y="1568625"/>
            <a:ext cx="16806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if </a:t>
            </a:r>
            <a:endParaRPr sz="1200"/>
          </a:p>
          <a:p>
            <a:pPr indent="0" lvl="0" marL="0" rtl="0" algn="ctr">
              <a:spcBef>
                <a:spcPts val="0"/>
              </a:spcBef>
              <a:spcAft>
                <a:spcPts val="0"/>
              </a:spcAft>
              <a:buNone/>
            </a:pPr>
            <a:r>
              <a:rPr lang="en" sz="1200"/>
              <a:t>num &gt; 0 </a:t>
            </a:r>
            <a:endParaRPr sz="1200"/>
          </a:p>
        </p:txBody>
      </p:sp>
      <p:cxnSp>
        <p:nvCxnSpPr>
          <p:cNvPr id="229" name="Google Shape;229;p23"/>
          <p:cNvCxnSpPr>
            <a:stCxn id="230" idx="2"/>
            <a:endCxn id="228" idx="0"/>
          </p:cNvCxnSpPr>
          <p:nvPr/>
        </p:nvCxnSpPr>
        <p:spPr>
          <a:xfrm>
            <a:off x="1859400" y="1277325"/>
            <a:ext cx="0" cy="291300"/>
          </a:xfrm>
          <a:prstGeom prst="straightConnector1">
            <a:avLst/>
          </a:prstGeom>
          <a:noFill/>
          <a:ln cap="flat" cmpd="sng" w="9525">
            <a:solidFill>
              <a:schemeClr val="dk2"/>
            </a:solidFill>
            <a:prstDash val="solid"/>
            <a:round/>
            <a:headEnd len="med" w="med" type="none"/>
            <a:tailEnd len="med" w="med" type="triangle"/>
          </a:ln>
        </p:spPr>
      </p:cxnSp>
      <p:sp>
        <p:nvSpPr>
          <p:cNvPr id="231" name="Google Shape;231;p23"/>
          <p:cNvSpPr txBox="1"/>
          <p:nvPr/>
        </p:nvSpPr>
        <p:spPr>
          <a:xfrm>
            <a:off x="2608550" y="2631925"/>
            <a:ext cx="5835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232" name="Google Shape;232;p23"/>
          <p:cNvSpPr txBox="1"/>
          <p:nvPr/>
        </p:nvSpPr>
        <p:spPr>
          <a:xfrm>
            <a:off x="1306953" y="3204391"/>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33" name="Google Shape;233;p23"/>
          <p:cNvSpPr txBox="1"/>
          <p:nvPr>
            <p:ph idx="1" type="body"/>
          </p:nvPr>
        </p:nvSpPr>
        <p:spPr>
          <a:xfrm>
            <a:off x="4742650" y="766550"/>
            <a:ext cx="4046700" cy="8682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 sz="1400">
                <a:solidFill>
                  <a:schemeClr val="dk1"/>
                </a:solidFill>
              </a:rPr>
              <a:t>Check if a number is positive or negative or equal to 0.</a:t>
            </a:r>
            <a:endParaRPr sz="1400"/>
          </a:p>
        </p:txBody>
      </p:sp>
      <p:sp>
        <p:nvSpPr>
          <p:cNvPr id="234" name="Google Shape;234;p23"/>
          <p:cNvSpPr/>
          <p:nvPr/>
        </p:nvSpPr>
        <p:spPr>
          <a:xfrm>
            <a:off x="1019100" y="2631925"/>
            <a:ext cx="1680600" cy="5943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else </a:t>
            </a:r>
            <a:r>
              <a:rPr lang="en" sz="1200"/>
              <a:t>if </a:t>
            </a:r>
            <a:endParaRPr sz="1200"/>
          </a:p>
          <a:p>
            <a:pPr indent="0" lvl="0" marL="0" rtl="0" algn="ctr">
              <a:spcBef>
                <a:spcPts val="0"/>
              </a:spcBef>
              <a:spcAft>
                <a:spcPts val="0"/>
              </a:spcAft>
              <a:buNone/>
            </a:pPr>
            <a:r>
              <a:rPr lang="en" sz="1200"/>
              <a:t>num &lt; 0 </a:t>
            </a:r>
            <a:endParaRPr sz="1200"/>
          </a:p>
        </p:txBody>
      </p:sp>
      <p:cxnSp>
        <p:nvCxnSpPr>
          <p:cNvPr id="235" name="Google Shape;235;p23"/>
          <p:cNvCxnSpPr>
            <a:stCxn id="228" idx="2"/>
            <a:endCxn id="234" idx="0"/>
          </p:cNvCxnSpPr>
          <p:nvPr/>
        </p:nvCxnSpPr>
        <p:spPr>
          <a:xfrm>
            <a:off x="1859400" y="2141325"/>
            <a:ext cx="0" cy="490500"/>
          </a:xfrm>
          <a:prstGeom prst="straightConnector1">
            <a:avLst/>
          </a:prstGeom>
          <a:noFill/>
          <a:ln cap="flat" cmpd="sng" w="9525">
            <a:solidFill>
              <a:schemeClr val="dk2"/>
            </a:solidFill>
            <a:prstDash val="solid"/>
            <a:round/>
            <a:headEnd len="med" w="med" type="none"/>
            <a:tailEnd len="med" w="med" type="triangle"/>
          </a:ln>
        </p:spPr>
      </p:cxnSp>
      <p:sp>
        <p:nvSpPr>
          <p:cNvPr id="236" name="Google Shape;236;p23"/>
          <p:cNvSpPr/>
          <p:nvPr/>
        </p:nvSpPr>
        <p:spPr>
          <a:xfrm>
            <a:off x="3497575" y="2083125"/>
            <a:ext cx="11232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“Positive”</a:t>
            </a:r>
            <a:endParaRPr sz="1200"/>
          </a:p>
        </p:txBody>
      </p:sp>
      <p:cxnSp>
        <p:nvCxnSpPr>
          <p:cNvPr id="237" name="Google Shape;237;p23"/>
          <p:cNvCxnSpPr>
            <a:endCxn id="236" idx="0"/>
          </p:cNvCxnSpPr>
          <p:nvPr/>
        </p:nvCxnSpPr>
        <p:spPr>
          <a:xfrm flipH="1">
            <a:off x="4059175" y="1911525"/>
            <a:ext cx="2100" cy="171600"/>
          </a:xfrm>
          <a:prstGeom prst="straightConnector1">
            <a:avLst/>
          </a:prstGeom>
          <a:noFill/>
          <a:ln cap="flat" cmpd="sng" w="9525">
            <a:solidFill>
              <a:schemeClr val="dk2"/>
            </a:solidFill>
            <a:prstDash val="solid"/>
            <a:round/>
            <a:headEnd len="med" w="med" type="none"/>
            <a:tailEnd len="med" w="med" type="triangle"/>
          </a:ln>
        </p:spPr>
      </p:cxnSp>
      <p:cxnSp>
        <p:nvCxnSpPr>
          <p:cNvPr id="238" name="Google Shape;238;p23"/>
          <p:cNvCxnSpPr>
            <a:stCxn id="228" idx="3"/>
            <a:endCxn id="236" idx="0"/>
          </p:cNvCxnSpPr>
          <p:nvPr/>
        </p:nvCxnSpPr>
        <p:spPr>
          <a:xfrm>
            <a:off x="2699700" y="1854975"/>
            <a:ext cx="1359600" cy="228300"/>
          </a:xfrm>
          <a:prstGeom prst="bentConnector2">
            <a:avLst/>
          </a:prstGeom>
          <a:noFill/>
          <a:ln cap="flat" cmpd="sng" w="9525">
            <a:solidFill>
              <a:schemeClr val="dk2"/>
            </a:solidFill>
            <a:prstDash val="solid"/>
            <a:round/>
            <a:headEnd len="med" w="med" type="none"/>
            <a:tailEnd len="med" w="med" type="none"/>
          </a:ln>
        </p:spPr>
      </p:cxnSp>
      <p:sp>
        <p:nvSpPr>
          <p:cNvPr id="239" name="Google Shape;239;p23"/>
          <p:cNvSpPr/>
          <p:nvPr/>
        </p:nvSpPr>
        <p:spPr>
          <a:xfrm>
            <a:off x="2668000" y="3072925"/>
            <a:ext cx="11868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“Negative”</a:t>
            </a:r>
            <a:endParaRPr sz="1200"/>
          </a:p>
        </p:txBody>
      </p:sp>
      <p:cxnSp>
        <p:nvCxnSpPr>
          <p:cNvPr id="240" name="Google Shape;240;p23"/>
          <p:cNvCxnSpPr>
            <a:endCxn id="239" idx="0"/>
          </p:cNvCxnSpPr>
          <p:nvPr/>
        </p:nvCxnSpPr>
        <p:spPr>
          <a:xfrm flipH="1">
            <a:off x="3261400" y="2901325"/>
            <a:ext cx="2100" cy="171600"/>
          </a:xfrm>
          <a:prstGeom prst="straightConnector1">
            <a:avLst/>
          </a:prstGeom>
          <a:noFill/>
          <a:ln cap="flat" cmpd="sng" w="9525">
            <a:solidFill>
              <a:schemeClr val="dk2"/>
            </a:solidFill>
            <a:prstDash val="solid"/>
            <a:round/>
            <a:headEnd len="med" w="med" type="none"/>
            <a:tailEnd len="med" w="med" type="triangle"/>
          </a:ln>
        </p:spPr>
      </p:cxnSp>
      <p:cxnSp>
        <p:nvCxnSpPr>
          <p:cNvPr id="241" name="Google Shape;241;p23"/>
          <p:cNvCxnSpPr>
            <a:stCxn id="234" idx="3"/>
            <a:endCxn id="239" idx="0"/>
          </p:cNvCxnSpPr>
          <p:nvPr/>
        </p:nvCxnSpPr>
        <p:spPr>
          <a:xfrm>
            <a:off x="2699700" y="2929075"/>
            <a:ext cx="561600" cy="144000"/>
          </a:xfrm>
          <a:prstGeom prst="bentConnector2">
            <a:avLst/>
          </a:prstGeom>
          <a:noFill/>
          <a:ln cap="flat" cmpd="sng" w="9525">
            <a:solidFill>
              <a:schemeClr val="dk2"/>
            </a:solidFill>
            <a:prstDash val="solid"/>
            <a:round/>
            <a:headEnd len="med" w="med" type="none"/>
            <a:tailEnd len="med" w="med" type="none"/>
          </a:ln>
        </p:spPr>
      </p:cxnSp>
      <p:cxnSp>
        <p:nvCxnSpPr>
          <p:cNvPr id="242" name="Google Shape;242;p23"/>
          <p:cNvCxnSpPr>
            <a:stCxn id="234" idx="2"/>
            <a:endCxn id="243" idx="0"/>
          </p:cNvCxnSpPr>
          <p:nvPr/>
        </p:nvCxnSpPr>
        <p:spPr>
          <a:xfrm>
            <a:off x="1859400" y="3226225"/>
            <a:ext cx="0" cy="468900"/>
          </a:xfrm>
          <a:prstGeom prst="straightConnector1">
            <a:avLst/>
          </a:prstGeom>
          <a:noFill/>
          <a:ln cap="flat" cmpd="sng" w="9525">
            <a:solidFill>
              <a:schemeClr val="dk2"/>
            </a:solidFill>
            <a:prstDash val="solid"/>
            <a:round/>
            <a:headEnd len="med" w="med" type="none"/>
            <a:tailEnd len="med" w="med" type="triangle"/>
          </a:ln>
        </p:spPr>
      </p:cxnSp>
      <p:sp>
        <p:nvSpPr>
          <p:cNvPr id="243" name="Google Shape;243;p23"/>
          <p:cNvSpPr/>
          <p:nvPr/>
        </p:nvSpPr>
        <p:spPr>
          <a:xfrm>
            <a:off x="1322250" y="3695225"/>
            <a:ext cx="1074300" cy="3942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p</a:t>
            </a:r>
            <a:r>
              <a:rPr lang="en" sz="1200"/>
              <a:t>rint “Zero”</a:t>
            </a:r>
            <a:endParaRPr sz="1200"/>
          </a:p>
        </p:txBody>
      </p:sp>
      <p:sp>
        <p:nvSpPr>
          <p:cNvPr id="244" name="Google Shape;244;p23"/>
          <p:cNvSpPr/>
          <p:nvPr/>
        </p:nvSpPr>
        <p:spPr>
          <a:xfrm>
            <a:off x="3071653" y="3723263"/>
            <a:ext cx="379500" cy="3381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5" name="Google Shape;245;p23"/>
          <p:cNvCxnSpPr>
            <a:stCxn id="243" idx="2"/>
            <a:endCxn id="244" idx="2"/>
          </p:cNvCxnSpPr>
          <p:nvPr/>
        </p:nvCxnSpPr>
        <p:spPr>
          <a:xfrm>
            <a:off x="2347275" y="3892325"/>
            <a:ext cx="724500" cy="0"/>
          </a:xfrm>
          <a:prstGeom prst="straightConnector1">
            <a:avLst/>
          </a:prstGeom>
          <a:noFill/>
          <a:ln cap="flat" cmpd="sng" w="9525">
            <a:solidFill>
              <a:schemeClr val="dk2"/>
            </a:solidFill>
            <a:prstDash val="solid"/>
            <a:round/>
            <a:headEnd len="med" w="med" type="none"/>
            <a:tailEnd len="med" w="med" type="triangle"/>
          </a:ln>
        </p:spPr>
      </p:cxnSp>
      <p:cxnSp>
        <p:nvCxnSpPr>
          <p:cNvPr id="246" name="Google Shape;246;p23"/>
          <p:cNvCxnSpPr>
            <a:stCxn id="239" idx="4"/>
            <a:endCxn id="244" idx="0"/>
          </p:cNvCxnSpPr>
          <p:nvPr/>
        </p:nvCxnSpPr>
        <p:spPr>
          <a:xfrm>
            <a:off x="3261400" y="3467125"/>
            <a:ext cx="0" cy="256200"/>
          </a:xfrm>
          <a:prstGeom prst="straightConnector1">
            <a:avLst/>
          </a:prstGeom>
          <a:noFill/>
          <a:ln cap="flat" cmpd="sng" w="9525">
            <a:solidFill>
              <a:schemeClr val="dk2"/>
            </a:solidFill>
            <a:prstDash val="solid"/>
            <a:round/>
            <a:headEnd len="med" w="med" type="none"/>
            <a:tailEnd len="med" w="med" type="triangle"/>
          </a:ln>
        </p:spPr>
      </p:cxnSp>
      <p:cxnSp>
        <p:nvCxnSpPr>
          <p:cNvPr id="247" name="Google Shape;247;p23"/>
          <p:cNvCxnSpPr>
            <a:stCxn id="236" idx="4"/>
            <a:endCxn id="244" idx="6"/>
          </p:cNvCxnSpPr>
          <p:nvPr/>
        </p:nvCxnSpPr>
        <p:spPr>
          <a:xfrm rot="5400000">
            <a:off x="3047575" y="2880825"/>
            <a:ext cx="1415100" cy="608100"/>
          </a:xfrm>
          <a:prstGeom prst="bentConnector2">
            <a:avLst/>
          </a:prstGeom>
          <a:noFill/>
          <a:ln cap="flat" cmpd="sng" w="9525">
            <a:solidFill>
              <a:schemeClr val="dk2"/>
            </a:solidFill>
            <a:prstDash val="solid"/>
            <a:round/>
            <a:headEnd len="med" w="med" type="none"/>
            <a:tailEnd len="med" w="med" type="triangle"/>
          </a:ln>
        </p:spPr>
      </p:cxnSp>
      <p:sp>
        <p:nvSpPr>
          <p:cNvPr id="248" name="Google Shape;248;p23"/>
          <p:cNvSpPr/>
          <p:nvPr/>
        </p:nvSpPr>
        <p:spPr>
          <a:xfrm>
            <a:off x="2821000" y="4456775"/>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END</a:t>
            </a:r>
            <a:endParaRPr sz="1200"/>
          </a:p>
        </p:txBody>
      </p:sp>
      <p:cxnSp>
        <p:nvCxnSpPr>
          <p:cNvPr id="249" name="Google Shape;249;p23"/>
          <p:cNvCxnSpPr>
            <a:stCxn id="244" idx="4"/>
            <a:endCxn id="248" idx="0"/>
          </p:cNvCxnSpPr>
          <p:nvPr/>
        </p:nvCxnSpPr>
        <p:spPr>
          <a:xfrm>
            <a:off x="3261403" y="4061363"/>
            <a:ext cx="0" cy="395400"/>
          </a:xfrm>
          <a:prstGeom prst="straightConnector1">
            <a:avLst/>
          </a:prstGeom>
          <a:noFill/>
          <a:ln cap="flat" cmpd="sng" w="9525">
            <a:solidFill>
              <a:schemeClr val="dk2"/>
            </a:solidFill>
            <a:prstDash val="solid"/>
            <a:round/>
            <a:headEnd len="med" w="med" type="none"/>
            <a:tailEnd len="med" w="med" type="triangle"/>
          </a:ln>
        </p:spPr>
      </p:cxnSp>
      <p:sp>
        <p:nvSpPr>
          <p:cNvPr id="250" name="Google Shape;250;p23"/>
          <p:cNvSpPr txBox="1"/>
          <p:nvPr/>
        </p:nvSpPr>
        <p:spPr>
          <a:xfrm>
            <a:off x="2699788" y="1587078"/>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TRUE</a:t>
            </a:r>
            <a:endParaRPr b="1" sz="900"/>
          </a:p>
        </p:txBody>
      </p:sp>
      <p:sp>
        <p:nvSpPr>
          <p:cNvPr id="251" name="Google Shape;251;p23"/>
          <p:cNvSpPr txBox="1"/>
          <p:nvPr/>
        </p:nvSpPr>
        <p:spPr>
          <a:xfrm>
            <a:off x="1306953" y="2225066"/>
            <a:ext cx="6612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900"/>
              <a:t>FALSE</a:t>
            </a:r>
            <a:endParaRPr b="1" sz="900"/>
          </a:p>
        </p:txBody>
      </p:sp>
      <p:sp>
        <p:nvSpPr>
          <p:cNvPr id="252" name="Google Shape;252;p23"/>
          <p:cNvSpPr/>
          <p:nvPr/>
        </p:nvSpPr>
        <p:spPr>
          <a:xfrm>
            <a:off x="1419000" y="1001450"/>
            <a:ext cx="880794" cy="275994"/>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START</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58" name="Google Shape;258;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en">
                <a:solidFill>
                  <a:schemeClr val="accent2"/>
                </a:solidFill>
              </a:rPr>
              <a:t>Write a program that will take three numbers as input, and then print the largest number.</a:t>
            </a:r>
            <a:endParaRPr>
              <a:solidFill>
                <a:schemeClr val="accent2"/>
              </a:solidFill>
            </a:endParaRPr>
          </a:p>
          <a:p>
            <a:pPr indent="-342900" lvl="0" marL="457200" rtl="0" algn="l">
              <a:spcBef>
                <a:spcPts val="0"/>
              </a:spcBef>
              <a:spcAft>
                <a:spcPts val="0"/>
              </a:spcAft>
              <a:buClr>
                <a:schemeClr val="accent2"/>
              </a:buClr>
              <a:buSzPts val="1800"/>
              <a:buChar char="●"/>
            </a:pPr>
            <a:r>
              <a:rPr lang="en">
                <a:solidFill>
                  <a:schemeClr val="accent2"/>
                </a:solidFill>
              </a:rPr>
              <a:t>Write a program that will take three numbers as input, and then print the second largest number.</a:t>
            </a:r>
            <a:endParaRPr>
              <a:solidFill>
                <a:schemeClr val="accent2"/>
              </a:solidFill>
            </a:endParaRPr>
          </a:p>
        </p:txBody>
      </p:sp>
      <p:sp>
        <p:nvSpPr>
          <p:cNvPr id="259" name="Google Shape;259;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65" name="Google Shape;26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Write a program that will take a student’s mark (integer between 0 and 100) as input and print the letter grade according to the following table:</a:t>
            </a:r>
            <a:endParaRPr/>
          </a:p>
          <a:p>
            <a:pPr indent="0" lvl="0" marL="457200" rtl="0" algn="l">
              <a:spcBef>
                <a:spcPts val="1200"/>
              </a:spcBef>
              <a:spcAft>
                <a:spcPts val="1200"/>
              </a:spcAft>
              <a:buNone/>
            </a:pPr>
            <a:r>
              <a:t/>
            </a:r>
            <a:endParaRPr/>
          </a:p>
        </p:txBody>
      </p:sp>
      <p:sp>
        <p:nvSpPr>
          <p:cNvPr id="266" name="Google Shape;266;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267" name="Google Shape;267;p25"/>
          <p:cNvGraphicFramePr/>
          <p:nvPr/>
        </p:nvGraphicFramePr>
        <p:xfrm>
          <a:off x="860175" y="2098400"/>
          <a:ext cx="3000000" cy="3000000"/>
        </p:xfrm>
        <a:graphic>
          <a:graphicData uri="http://schemas.openxmlformats.org/drawingml/2006/table">
            <a:tbl>
              <a:tblPr>
                <a:noFill/>
                <a:tableStyleId>{DB06D6B2-A018-409F-B4F5-DBE34100E571}</a:tableStyleId>
              </a:tblPr>
              <a:tblGrid>
                <a:gridCol w="3619500"/>
                <a:gridCol w="3619500"/>
              </a:tblGrid>
              <a:tr h="381000">
                <a:tc>
                  <a:txBody>
                    <a:bodyPr/>
                    <a:lstStyle/>
                    <a:p>
                      <a:pPr indent="0" lvl="0" marL="0" rtl="0" algn="l">
                        <a:spcBef>
                          <a:spcPts val="0"/>
                        </a:spcBef>
                        <a:spcAft>
                          <a:spcPts val="0"/>
                        </a:spcAft>
                        <a:buNone/>
                      </a:pPr>
                      <a:r>
                        <a:rPr lang="en"/>
                        <a:t>90-100</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r>
              <a:tr h="381000">
                <a:tc>
                  <a:txBody>
                    <a:bodyPr/>
                    <a:lstStyle/>
                    <a:p>
                      <a:pPr indent="0" lvl="0" marL="0" rtl="0" algn="l">
                        <a:spcBef>
                          <a:spcPts val="0"/>
                        </a:spcBef>
                        <a:spcAft>
                          <a:spcPts val="0"/>
                        </a:spcAft>
                        <a:buNone/>
                      </a:pPr>
                      <a:r>
                        <a:rPr lang="en"/>
                        <a:t>80-89</a:t>
                      </a:r>
                      <a:endParaRPr/>
                    </a:p>
                  </a:txBody>
                  <a:tcPr marT="91425" marB="91425" marR="91425" marL="91425"/>
                </a:tc>
                <a:tc>
                  <a:txBody>
                    <a:bodyPr/>
                    <a:lstStyle/>
                    <a:p>
                      <a:pPr indent="0" lvl="0" marL="0" rtl="0" algn="l">
                        <a:spcBef>
                          <a:spcPts val="0"/>
                        </a:spcBef>
                        <a:spcAft>
                          <a:spcPts val="0"/>
                        </a:spcAft>
                        <a:buNone/>
                      </a:pPr>
                      <a:r>
                        <a:rPr lang="en"/>
                        <a:t>A</a:t>
                      </a:r>
                      <a:endParaRPr/>
                    </a:p>
                  </a:txBody>
                  <a:tcPr marT="91425" marB="91425" marR="91425" marL="91425"/>
                </a:tc>
              </a:tr>
              <a:tr h="381000">
                <a:tc>
                  <a:txBody>
                    <a:bodyPr/>
                    <a:lstStyle/>
                    <a:p>
                      <a:pPr indent="0" lvl="0" marL="0" rtl="0" algn="l">
                        <a:spcBef>
                          <a:spcPts val="0"/>
                        </a:spcBef>
                        <a:spcAft>
                          <a:spcPts val="0"/>
                        </a:spcAft>
                        <a:buNone/>
                      </a:pPr>
                      <a:r>
                        <a:rPr lang="en"/>
                        <a:t>70-79</a:t>
                      </a:r>
                      <a:endParaRPr/>
                    </a:p>
                  </a:txBody>
                  <a:tcPr marT="91425" marB="91425" marR="91425" marL="91425"/>
                </a:tc>
                <a:tc>
                  <a:txBody>
                    <a:bodyPr/>
                    <a:lstStyle/>
                    <a:p>
                      <a:pPr indent="0" lvl="0" marL="0" rtl="0" algn="l">
                        <a:spcBef>
                          <a:spcPts val="0"/>
                        </a:spcBef>
                        <a:spcAft>
                          <a:spcPts val="0"/>
                        </a:spcAft>
                        <a:buNone/>
                      </a:pPr>
                      <a:r>
                        <a:rPr lang="en"/>
                        <a:t>B</a:t>
                      </a:r>
                      <a:endParaRPr/>
                    </a:p>
                  </a:txBody>
                  <a:tcPr marT="91425" marB="91425" marR="91425" marL="91425"/>
                </a:tc>
              </a:tr>
              <a:tr h="381000">
                <a:tc>
                  <a:txBody>
                    <a:bodyPr/>
                    <a:lstStyle/>
                    <a:p>
                      <a:pPr indent="0" lvl="0" marL="0" rtl="0" algn="l">
                        <a:spcBef>
                          <a:spcPts val="0"/>
                        </a:spcBef>
                        <a:spcAft>
                          <a:spcPts val="0"/>
                        </a:spcAft>
                        <a:buNone/>
                      </a:pPr>
                      <a:r>
                        <a:rPr lang="en"/>
                        <a:t>60-69</a:t>
                      </a:r>
                      <a:endParaRPr/>
                    </a:p>
                  </a:txBody>
                  <a:tcPr marT="91425" marB="91425" marR="91425" marL="91425"/>
                </a:tc>
                <a:tc>
                  <a:txBody>
                    <a:bodyPr/>
                    <a:lstStyle/>
                    <a:p>
                      <a:pPr indent="0" lvl="0" marL="0" rtl="0" algn="l">
                        <a:spcBef>
                          <a:spcPts val="0"/>
                        </a:spcBef>
                        <a:spcAft>
                          <a:spcPts val="0"/>
                        </a:spcAft>
                        <a:buNone/>
                      </a:pPr>
                      <a:r>
                        <a:rPr lang="en"/>
                        <a:t>C</a:t>
                      </a:r>
                      <a:endParaRPr/>
                    </a:p>
                  </a:txBody>
                  <a:tcPr marT="91425" marB="91425" marR="91425" marL="91425"/>
                </a:tc>
              </a:tr>
              <a:tr h="381000">
                <a:tc>
                  <a:txBody>
                    <a:bodyPr/>
                    <a:lstStyle/>
                    <a:p>
                      <a:pPr indent="0" lvl="0" marL="0" rtl="0" algn="l">
                        <a:spcBef>
                          <a:spcPts val="0"/>
                        </a:spcBef>
                        <a:spcAft>
                          <a:spcPts val="0"/>
                        </a:spcAft>
                        <a:buNone/>
                      </a:pPr>
                      <a:r>
                        <a:rPr lang="en"/>
                        <a:t>50-59</a:t>
                      </a:r>
                      <a:endParaRPr/>
                    </a:p>
                  </a:txBody>
                  <a:tcPr marT="91425" marB="91425" marR="91425" marL="91425"/>
                </a:tc>
                <a:tc>
                  <a:txBody>
                    <a:bodyPr/>
                    <a:lstStyle/>
                    <a:p>
                      <a:pPr indent="0" lvl="0" marL="0" rtl="0" algn="l">
                        <a:spcBef>
                          <a:spcPts val="0"/>
                        </a:spcBef>
                        <a:spcAft>
                          <a:spcPts val="0"/>
                        </a:spcAft>
                        <a:buNone/>
                      </a:pPr>
                      <a:r>
                        <a:rPr lang="en"/>
                        <a:t>D</a:t>
                      </a:r>
                      <a:endParaRPr/>
                    </a:p>
                  </a:txBody>
                  <a:tcPr marT="91425" marB="91425" marR="91425" marL="91425"/>
                </a:tc>
              </a:tr>
              <a:tr h="381000">
                <a:tc>
                  <a:txBody>
                    <a:bodyPr/>
                    <a:lstStyle/>
                    <a:p>
                      <a:pPr indent="0" lvl="0" marL="0" rtl="0" algn="l">
                        <a:spcBef>
                          <a:spcPts val="0"/>
                        </a:spcBef>
                        <a:spcAft>
                          <a:spcPts val="0"/>
                        </a:spcAft>
                        <a:buNone/>
                      </a:pPr>
                      <a:r>
                        <a:rPr lang="en"/>
                        <a:t>40-49</a:t>
                      </a:r>
                      <a:endParaRPr/>
                    </a:p>
                  </a:txBody>
                  <a:tcPr marT="91425" marB="91425" marR="91425" marL="91425"/>
                </a:tc>
                <a:tc>
                  <a:txBody>
                    <a:bodyPr/>
                    <a:lstStyle/>
                    <a:p>
                      <a:pPr indent="0" lvl="0" marL="0" rtl="0" algn="l">
                        <a:spcBef>
                          <a:spcPts val="0"/>
                        </a:spcBef>
                        <a:spcAft>
                          <a:spcPts val="0"/>
                        </a:spcAft>
                        <a:buNone/>
                      </a:pPr>
                      <a:r>
                        <a:rPr lang="en"/>
                        <a:t>E</a:t>
                      </a:r>
                      <a:endParaRPr/>
                    </a:p>
                  </a:txBody>
                  <a:tcPr marT="91425" marB="91425" marR="91425" marL="91425"/>
                </a:tc>
              </a:tr>
              <a:tr h="381000">
                <a:tc>
                  <a:txBody>
                    <a:bodyPr/>
                    <a:lstStyle/>
                    <a:p>
                      <a:pPr indent="0" lvl="0" marL="0" rtl="0" algn="l">
                        <a:spcBef>
                          <a:spcPts val="0"/>
                        </a:spcBef>
                        <a:spcAft>
                          <a:spcPts val="0"/>
                        </a:spcAft>
                        <a:buNone/>
                      </a:pPr>
                      <a:r>
                        <a:rPr lang="en"/>
                        <a:t>&lt;40</a:t>
                      </a:r>
                      <a:endParaRPr/>
                    </a:p>
                  </a:txBody>
                  <a:tcPr marT="91425" marB="91425" marR="91425" marL="91425"/>
                </a:tc>
                <a:tc>
                  <a:txBody>
                    <a:bodyPr/>
                    <a:lstStyle/>
                    <a:p>
                      <a:pPr indent="0" lvl="0" marL="0" rtl="0" algn="l">
                        <a:spcBef>
                          <a:spcPts val="0"/>
                        </a:spcBef>
                        <a:spcAft>
                          <a:spcPts val="0"/>
                        </a:spcAft>
                        <a:buNone/>
                      </a:pPr>
                      <a:r>
                        <a:rPr lang="en"/>
                        <a:t>F</a:t>
                      </a:r>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73" name="Google Shape;27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highlight>
                  <a:srgbClr val="FFFFFF"/>
                </a:highlight>
              </a:rPr>
              <a:t>Write a Java program that requires the user to enter a single character from the alphabet. Print Vowel or Consonant, depending on user input. If the user input is not a letter (between a and z or A and Z), or is a string of length &gt; 1, print an error message.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79" name="Google Shape;27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highlight>
                  <a:srgbClr val="FFFFFF"/>
                </a:highlight>
              </a:rPr>
              <a:t>Write a Java program that accepts three numbers and prints "All numbers are equal" if all three numbers are equal, "All numbers are different" if all three numbers are different and "Neither all are equal or different" otherwise.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85" name="Google Shape;28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300">
                <a:solidFill>
                  <a:schemeClr val="dk1"/>
                </a:solidFill>
                <a:highlight>
                  <a:srgbClr val="FFFFFF"/>
                </a:highlight>
              </a:rPr>
              <a:t>Write a program that accepts three numbers from the user and prints "increasing" if the numbers are in increasing order, "decreasing" if the numbers are in decreasing order, and "Neither increasing or decreasing order" otherwise.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91" name="Google Shape;29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7772"/>
              </a:lnSpc>
              <a:spcBef>
                <a:spcPts val="500"/>
              </a:spcBef>
              <a:spcAft>
                <a:spcPts val="0"/>
              </a:spcAft>
              <a:buClr>
                <a:schemeClr val="dk1"/>
              </a:buClr>
              <a:buSzPts val="1100"/>
              <a:buFont typeface="Arial"/>
              <a:buNone/>
            </a:pPr>
            <a:r>
              <a:rPr lang="en" sz="1600">
                <a:solidFill>
                  <a:schemeClr val="dk1"/>
                </a:solidFill>
              </a:rPr>
              <a:t>We will take the salary and work experience of an employee as an input and calculate the bonus based on their experience. If the work experience is over 8 years, then 15% bonus is awarded, if the work experience is 5 years - 8 years then 10% bonus is awarded, if the work experience is 2 years - 4 years then 5% bonus is awarded and work experience below 2 years will be awarded with 2.5% bonus.</a:t>
            </a:r>
            <a:endParaRPr sz="1600">
              <a:solidFill>
                <a:schemeClr val="dk1"/>
              </a:solidFill>
            </a:endParaRPr>
          </a:p>
          <a:p>
            <a:pPr indent="0" lvl="0" marL="0" rtl="0" algn="l">
              <a:spcBef>
                <a:spcPts val="10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297" name="Google Shape;297;p30"/>
          <p:cNvSpPr txBox="1"/>
          <p:nvPr>
            <p:ph idx="1" type="body"/>
          </p:nvPr>
        </p:nvSpPr>
        <p:spPr>
          <a:xfrm>
            <a:off x="311700" y="1152475"/>
            <a:ext cx="8709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accent2"/>
              </a:buClr>
              <a:buSzPts val="1800"/>
              <a:buChar char="●"/>
            </a:pPr>
            <a:r>
              <a:rPr lang="en">
                <a:solidFill>
                  <a:schemeClr val="accent2"/>
                </a:solidFill>
              </a:rPr>
              <a:t>Write a program that will take an year as input and print whether that year is a leap year or not.</a:t>
            </a:r>
            <a:endParaRPr>
              <a:solidFill>
                <a:schemeClr val="accent2"/>
              </a:solidFill>
            </a:endParaRPr>
          </a:p>
        </p:txBody>
      </p:sp>
      <p:sp>
        <p:nvSpPr>
          <p:cNvPr id="298" name="Google Shape;29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99" name="Google Shape;299;p30"/>
          <p:cNvSpPr txBox="1"/>
          <p:nvPr/>
        </p:nvSpPr>
        <p:spPr>
          <a:xfrm>
            <a:off x="5006550" y="2453500"/>
            <a:ext cx="3884100" cy="18108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chemeClr val="accent2"/>
                </a:solidFill>
              </a:rPr>
              <a:t>Every year that is exactly divisible by four is a leap year, except for years that are exactly divisible by 100</a:t>
            </a:r>
            <a:r>
              <a:rPr lang="en" sz="1500">
                <a:solidFill>
                  <a:schemeClr val="accent2"/>
                </a:solidFill>
                <a:highlight>
                  <a:srgbClr val="FFFFFF"/>
                </a:highlight>
              </a:rPr>
              <a:t>, but these centurial years are leap years if they are exactly divisible by 400. For example, the years 1700, 1800, and 1900 are not leap years, but the years 1600 and 2000 are.</a:t>
            </a:r>
            <a:endParaRPr sz="1800">
              <a:solidFill>
                <a:schemeClr val="accent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31"/>
          <p:cNvSpPr txBox="1"/>
          <p:nvPr>
            <p:ph type="title"/>
          </p:nvPr>
        </p:nvSpPr>
        <p:spPr>
          <a:xfrm>
            <a:off x="311700" y="40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a:t>
            </a:r>
            <a:r>
              <a:rPr lang="en"/>
              <a:t> Decision Making</a:t>
            </a:r>
            <a:endParaRPr/>
          </a:p>
        </p:txBody>
      </p:sp>
      <p:sp>
        <p:nvSpPr>
          <p:cNvPr id="305" name="Google Shape;305;p31"/>
          <p:cNvSpPr txBox="1"/>
          <p:nvPr>
            <p:ph idx="1" type="body"/>
          </p:nvPr>
        </p:nvSpPr>
        <p:spPr>
          <a:xfrm>
            <a:off x="311700" y="1152475"/>
            <a:ext cx="8520600" cy="2504700"/>
          </a:xfrm>
          <a:prstGeom prst="rect">
            <a:avLst/>
          </a:prstGeom>
        </p:spPr>
        <p:txBody>
          <a:bodyPr anchorCtr="0" anchor="t" bIns="91425" lIns="91425" spcFirstLastPara="1" rIns="91425" wrap="square" tIns="91425">
            <a:noAutofit/>
          </a:bodyPr>
          <a:lstStyle/>
          <a:p>
            <a:pPr indent="-330200" lvl="0" marL="457200" rtl="0" algn="l">
              <a:lnSpc>
                <a:spcPct val="150000"/>
              </a:lnSpc>
              <a:spcBef>
                <a:spcPts val="0"/>
              </a:spcBef>
              <a:spcAft>
                <a:spcPts val="0"/>
              </a:spcAft>
              <a:buClr>
                <a:schemeClr val="dk1"/>
              </a:buClr>
              <a:buSzPts val="1600"/>
              <a:buChar char="●"/>
            </a:pPr>
            <a:r>
              <a:rPr lang="en" sz="1600">
                <a:solidFill>
                  <a:schemeClr val="dk1"/>
                </a:solidFill>
              </a:rPr>
              <a:t>A conditional statement contained inside another conditional statement.</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 sz="1600">
                <a:solidFill>
                  <a:schemeClr val="dk1"/>
                </a:solidFill>
              </a:rPr>
              <a:t>Statements inside are only evaluated if outer </a:t>
            </a:r>
            <a:r>
              <a:rPr lang="en" sz="1600">
                <a:solidFill>
                  <a:schemeClr val="dk1"/>
                </a:solidFill>
              </a:rPr>
              <a:t>branching</a:t>
            </a:r>
            <a:r>
              <a:rPr lang="en" sz="1600">
                <a:solidFill>
                  <a:schemeClr val="dk1"/>
                </a:solidFill>
              </a:rPr>
              <a:t> statements are true.</a:t>
            </a:r>
            <a:endParaRPr sz="1600">
              <a:solidFill>
                <a:schemeClr val="dk1"/>
              </a:solidFill>
            </a:endParaRPr>
          </a:p>
          <a:p>
            <a:pPr indent="-330200" lvl="1" marL="914400" rtl="0" algn="l">
              <a:lnSpc>
                <a:spcPct val="150000"/>
              </a:lnSpc>
              <a:spcBef>
                <a:spcPts val="0"/>
              </a:spcBef>
              <a:spcAft>
                <a:spcPts val="0"/>
              </a:spcAft>
              <a:buClr>
                <a:schemeClr val="dk1"/>
              </a:buClr>
              <a:buSzPts val="1600"/>
              <a:buChar char="○"/>
            </a:pPr>
            <a:r>
              <a:rPr lang="en" sz="1600">
                <a:solidFill>
                  <a:srgbClr val="0028FF"/>
                </a:solidFill>
              </a:rPr>
              <a:t>Use: </a:t>
            </a:r>
            <a:r>
              <a:rPr lang="en" sz="1600">
                <a:solidFill>
                  <a:schemeClr val="dk1"/>
                </a:solidFill>
              </a:rPr>
              <a:t>Building complex layered logic.</a:t>
            </a:r>
            <a:endParaRPr sz="1600">
              <a:solidFill>
                <a:schemeClr val="dk1"/>
              </a:solidFill>
            </a:endParaRPr>
          </a:p>
          <a:p>
            <a:pPr indent="0" lvl="0" marL="0" rtl="0" algn="l">
              <a:lnSpc>
                <a:spcPct val="150000"/>
              </a:lnSpc>
              <a:spcBef>
                <a:spcPts val="1200"/>
              </a:spcBef>
              <a:spcAft>
                <a:spcPts val="0"/>
              </a:spcAft>
              <a:buNone/>
            </a:pPr>
            <a:r>
              <a:t/>
            </a:r>
            <a:endParaRPr sz="1600">
              <a:solidFill>
                <a:schemeClr val="dk1"/>
              </a:solidFill>
            </a:endParaRPr>
          </a:p>
          <a:p>
            <a:pPr indent="0" lvl="0" marL="0" rtl="0" algn="l">
              <a:lnSpc>
                <a:spcPct val="150000"/>
              </a:lnSpc>
              <a:spcBef>
                <a:spcPts val="1200"/>
              </a:spcBef>
              <a:spcAft>
                <a:spcPts val="1200"/>
              </a:spcAft>
              <a:buNone/>
            </a:pPr>
            <a:r>
              <a:rPr lang="en" sz="1600">
                <a:solidFill>
                  <a:srgbClr val="0028FF"/>
                </a:solidFill>
              </a:rPr>
              <a:t>Use case:</a:t>
            </a:r>
            <a:r>
              <a:rPr lang="en" sz="1600">
                <a:solidFill>
                  <a:schemeClr val="dk1"/>
                </a:solidFill>
              </a:rPr>
              <a:t> </a:t>
            </a:r>
            <a:r>
              <a:rPr lang="en" sz="1600">
                <a:solidFill>
                  <a:schemeClr val="dk1"/>
                </a:solidFill>
              </a:rPr>
              <a:t>Checking</a:t>
            </a:r>
            <a:r>
              <a:rPr lang="en" sz="1600">
                <a:solidFill>
                  <a:schemeClr val="dk1"/>
                </a:solidFill>
              </a:rPr>
              <a:t> if an even number is a prime number will require nested if statements. Outer if statement will check if the number is even or not and the inner if will check if the number is prime or not.</a:t>
            </a:r>
            <a:endParaRPr sz="16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2"/>
          <p:cNvSpPr txBox="1"/>
          <p:nvPr/>
        </p:nvSpPr>
        <p:spPr>
          <a:xfrm>
            <a:off x="4765800" y="1456075"/>
            <a:ext cx="4028100" cy="26475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if </a:t>
            </a:r>
            <a:r>
              <a:rPr lang="en" sz="1000">
                <a:highlight>
                  <a:schemeClr val="lt2"/>
                </a:highlight>
                <a:latin typeface="Courier New"/>
                <a:ea typeface="Courier New"/>
                <a:cs typeface="Courier New"/>
                <a:sym typeface="Courier New"/>
              </a:rPr>
              <a:t>(condition)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r>
              <a:rPr lang="en" sz="1000">
                <a:highlight>
                  <a:srgbClr val="FFFD00"/>
                </a:highlight>
                <a:latin typeface="Courier New"/>
                <a:ea typeface="Courier New"/>
                <a:cs typeface="Courier New"/>
                <a:sym typeface="Courier New"/>
              </a:rPr>
              <a:t>nested if inside if block;</a:t>
            </a:r>
            <a:endParaRPr sz="1000">
              <a:highlight>
                <a:srgbClr val="FFFD00"/>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r>
              <a:rPr lang="en" sz="1000">
                <a:solidFill>
                  <a:srgbClr val="0028FF"/>
                </a:solidFill>
                <a:highlight>
                  <a:srgbClr val="EEEEEE"/>
                </a:highlight>
                <a:latin typeface="Courier New"/>
                <a:ea typeface="Courier New"/>
                <a:cs typeface="Courier New"/>
                <a:sym typeface="Courier New"/>
              </a:rPr>
              <a:t>else </a:t>
            </a:r>
            <a:r>
              <a:rPr lang="en" sz="1000">
                <a:highlight>
                  <a:srgbClr val="EEEEEE"/>
                </a:highlight>
                <a:latin typeface="Courier New"/>
                <a:ea typeface="Courier New"/>
                <a:cs typeface="Courier New"/>
                <a:sym typeface="Courier New"/>
              </a:rPr>
              <a:t>{</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nested else inside if block;</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rgbClr val="EEEEEE"/>
                </a:highlight>
                <a:latin typeface="Courier New"/>
                <a:ea typeface="Courier New"/>
                <a:cs typeface="Courier New"/>
                <a:sym typeface="Courier New"/>
              </a:rPr>
              <a:t>         }</a:t>
            </a:r>
            <a:endParaRPr sz="1000">
              <a:highlight>
                <a:srgbClr val="EEEEEE"/>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else </a:t>
            </a:r>
            <a:r>
              <a:rPr lang="en" sz="1000">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chemeClr val="dk1"/>
                </a:solidFill>
                <a:highlight>
                  <a:srgbClr val="FFFD00"/>
                </a:highlight>
                <a:latin typeface="Courier New"/>
                <a:ea typeface="Courier New"/>
                <a:cs typeface="Courier New"/>
                <a:sym typeface="Courier New"/>
              </a:rPr>
              <a:t>else block;</a:t>
            </a:r>
            <a:endParaRPr sz="1000">
              <a:solidFill>
                <a:schemeClr val="dk1"/>
              </a:solidFill>
              <a:highlight>
                <a:srgbClr val="FFFD00"/>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highlight>
                  <a:schemeClr val="lt2"/>
                </a:highlight>
                <a:latin typeface="Courier New"/>
                <a:ea typeface="Courier New"/>
                <a:cs typeface="Courier New"/>
                <a:sym typeface="Courier New"/>
              </a:rPr>
              <a:t>}</a:t>
            </a:r>
            <a:endParaRPr sz="1000">
              <a:latin typeface="Courier New"/>
              <a:ea typeface="Courier New"/>
              <a:cs typeface="Courier New"/>
              <a:sym typeface="Courier New"/>
            </a:endParaRPr>
          </a:p>
        </p:txBody>
      </p:sp>
      <p:sp>
        <p:nvSpPr>
          <p:cNvPr id="311" name="Google Shape;311;p32"/>
          <p:cNvSpPr/>
          <p:nvPr/>
        </p:nvSpPr>
        <p:spPr>
          <a:xfrm>
            <a:off x="1155489" y="1077150"/>
            <a:ext cx="970218" cy="326268"/>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START</a:t>
            </a:r>
            <a:endParaRPr sz="1300"/>
          </a:p>
        </p:txBody>
      </p:sp>
      <p:sp>
        <p:nvSpPr>
          <p:cNvPr id="312" name="Google Shape;312;p32"/>
          <p:cNvSpPr/>
          <p:nvPr/>
        </p:nvSpPr>
        <p:spPr>
          <a:xfrm>
            <a:off x="1335092" y="4684068"/>
            <a:ext cx="790614" cy="266166"/>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000000"/>
                </a:solidFill>
              </a:rPr>
              <a:t>END</a:t>
            </a:r>
            <a:endParaRPr sz="1300"/>
          </a:p>
        </p:txBody>
      </p:sp>
      <p:sp>
        <p:nvSpPr>
          <p:cNvPr id="313" name="Google Shape;313;p32"/>
          <p:cNvSpPr/>
          <p:nvPr/>
        </p:nvSpPr>
        <p:spPr>
          <a:xfrm>
            <a:off x="749000" y="1590900"/>
            <a:ext cx="17787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if Condition</a:t>
            </a:r>
            <a:endParaRPr sz="1100"/>
          </a:p>
        </p:txBody>
      </p:sp>
      <p:cxnSp>
        <p:nvCxnSpPr>
          <p:cNvPr id="314" name="Google Shape;314;p32"/>
          <p:cNvCxnSpPr>
            <a:stCxn id="311" idx="2"/>
            <a:endCxn id="313" idx="0"/>
          </p:cNvCxnSpPr>
          <p:nvPr/>
        </p:nvCxnSpPr>
        <p:spPr>
          <a:xfrm flipH="1">
            <a:off x="1638498" y="1403418"/>
            <a:ext cx="2100" cy="187500"/>
          </a:xfrm>
          <a:prstGeom prst="straightConnector1">
            <a:avLst/>
          </a:prstGeom>
          <a:noFill/>
          <a:ln cap="flat" cmpd="sng" w="9525">
            <a:solidFill>
              <a:schemeClr val="dk2"/>
            </a:solidFill>
            <a:prstDash val="solid"/>
            <a:round/>
            <a:headEnd len="med" w="med" type="none"/>
            <a:tailEnd len="med" w="med" type="triangle"/>
          </a:ln>
        </p:spPr>
      </p:cxnSp>
      <p:sp>
        <p:nvSpPr>
          <p:cNvPr id="315" name="Google Shape;315;p32"/>
          <p:cNvSpPr/>
          <p:nvPr/>
        </p:nvSpPr>
        <p:spPr>
          <a:xfrm>
            <a:off x="1540796" y="4103586"/>
            <a:ext cx="379200" cy="4143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6" name="Google Shape;316;p32"/>
          <p:cNvCxnSpPr>
            <a:stCxn id="315" idx="4"/>
            <a:endCxn id="312" idx="0"/>
          </p:cNvCxnSpPr>
          <p:nvPr/>
        </p:nvCxnSpPr>
        <p:spPr>
          <a:xfrm flipH="1" rot="-5400000">
            <a:off x="1647596" y="4600686"/>
            <a:ext cx="166200" cy="600"/>
          </a:xfrm>
          <a:prstGeom prst="bentConnector3">
            <a:avLst>
              <a:gd fmla="val 49994" name="adj1"/>
            </a:avLst>
          </a:prstGeom>
          <a:noFill/>
          <a:ln cap="flat" cmpd="sng" w="9525">
            <a:solidFill>
              <a:schemeClr val="dk2"/>
            </a:solidFill>
            <a:prstDash val="solid"/>
            <a:round/>
            <a:headEnd len="med" w="med" type="none"/>
            <a:tailEnd len="med" w="med" type="triangle"/>
          </a:ln>
        </p:spPr>
      </p:cxnSp>
      <p:sp>
        <p:nvSpPr>
          <p:cNvPr id="317" name="Google Shape;317;p32"/>
          <p:cNvSpPr/>
          <p:nvPr/>
        </p:nvSpPr>
        <p:spPr>
          <a:xfrm>
            <a:off x="2470800" y="2386938"/>
            <a:ext cx="1587000" cy="696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if condition</a:t>
            </a:r>
            <a:endParaRPr sz="1100"/>
          </a:p>
        </p:txBody>
      </p:sp>
      <p:cxnSp>
        <p:nvCxnSpPr>
          <p:cNvPr id="318" name="Google Shape;318;p32"/>
          <p:cNvCxnSpPr>
            <a:stCxn id="313" idx="3"/>
            <a:endCxn id="317" idx="0"/>
          </p:cNvCxnSpPr>
          <p:nvPr/>
        </p:nvCxnSpPr>
        <p:spPr>
          <a:xfrm>
            <a:off x="2527700" y="1938900"/>
            <a:ext cx="736500" cy="447900"/>
          </a:xfrm>
          <a:prstGeom prst="bentConnector2">
            <a:avLst/>
          </a:prstGeom>
          <a:noFill/>
          <a:ln cap="flat" cmpd="sng" w="9525">
            <a:solidFill>
              <a:schemeClr val="dk2"/>
            </a:solidFill>
            <a:prstDash val="solid"/>
            <a:round/>
            <a:headEnd len="med" w="med" type="none"/>
            <a:tailEnd len="med" w="med" type="triangle"/>
          </a:ln>
        </p:spPr>
      </p:cxnSp>
      <p:sp>
        <p:nvSpPr>
          <p:cNvPr id="319" name="Google Shape;319;p32"/>
          <p:cNvSpPr/>
          <p:nvPr/>
        </p:nvSpPr>
        <p:spPr>
          <a:xfrm>
            <a:off x="1927500" y="3276249"/>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if block</a:t>
            </a:r>
            <a:endParaRPr sz="1100"/>
          </a:p>
        </p:txBody>
      </p:sp>
      <p:sp>
        <p:nvSpPr>
          <p:cNvPr id="320" name="Google Shape;320;p32"/>
          <p:cNvSpPr/>
          <p:nvPr/>
        </p:nvSpPr>
        <p:spPr>
          <a:xfrm>
            <a:off x="3795588" y="32754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nested else block</a:t>
            </a:r>
            <a:endParaRPr sz="1100"/>
          </a:p>
        </p:txBody>
      </p:sp>
      <p:cxnSp>
        <p:nvCxnSpPr>
          <p:cNvPr id="321" name="Google Shape;321;p32"/>
          <p:cNvCxnSpPr>
            <a:stCxn id="317" idx="1"/>
          </p:cNvCxnSpPr>
          <p:nvPr/>
        </p:nvCxnSpPr>
        <p:spPr>
          <a:xfrm flipH="1">
            <a:off x="2259000" y="2734938"/>
            <a:ext cx="211800" cy="546600"/>
          </a:xfrm>
          <a:prstGeom prst="bentConnector2">
            <a:avLst/>
          </a:prstGeom>
          <a:noFill/>
          <a:ln cap="flat" cmpd="sng" w="9525">
            <a:solidFill>
              <a:schemeClr val="dk2"/>
            </a:solidFill>
            <a:prstDash val="solid"/>
            <a:round/>
            <a:headEnd len="med" w="med" type="none"/>
            <a:tailEnd len="med" w="med" type="triangle"/>
          </a:ln>
        </p:spPr>
      </p:cxnSp>
      <p:cxnSp>
        <p:nvCxnSpPr>
          <p:cNvPr id="322" name="Google Shape;322;p32"/>
          <p:cNvCxnSpPr>
            <a:stCxn id="317" idx="3"/>
            <a:endCxn id="320" idx="1"/>
          </p:cNvCxnSpPr>
          <p:nvPr/>
        </p:nvCxnSpPr>
        <p:spPr>
          <a:xfrm>
            <a:off x="4057800" y="2734938"/>
            <a:ext cx="287700" cy="540600"/>
          </a:xfrm>
          <a:prstGeom prst="bentConnector2">
            <a:avLst/>
          </a:prstGeom>
          <a:noFill/>
          <a:ln cap="flat" cmpd="sng" w="9525">
            <a:solidFill>
              <a:schemeClr val="dk2"/>
            </a:solidFill>
            <a:prstDash val="solid"/>
            <a:round/>
            <a:headEnd len="med" w="med" type="none"/>
            <a:tailEnd len="med" w="med" type="triangle"/>
          </a:ln>
        </p:spPr>
      </p:cxnSp>
      <p:cxnSp>
        <p:nvCxnSpPr>
          <p:cNvPr id="323" name="Google Shape;323;p32"/>
          <p:cNvCxnSpPr>
            <a:stCxn id="319" idx="5"/>
            <a:endCxn id="315" idx="0"/>
          </p:cNvCxnSpPr>
          <p:nvPr/>
        </p:nvCxnSpPr>
        <p:spPr>
          <a:xfrm flipH="1">
            <a:off x="1730400" y="3535449"/>
            <a:ext cx="261900" cy="568200"/>
          </a:xfrm>
          <a:prstGeom prst="bentConnector2">
            <a:avLst/>
          </a:prstGeom>
          <a:noFill/>
          <a:ln cap="flat" cmpd="sng" w="9525">
            <a:solidFill>
              <a:schemeClr val="dk2"/>
            </a:solidFill>
            <a:prstDash val="solid"/>
            <a:round/>
            <a:headEnd len="med" w="med" type="none"/>
            <a:tailEnd len="med" w="med" type="triangle"/>
          </a:ln>
        </p:spPr>
      </p:cxnSp>
      <p:cxnSp>
        <p:nvCxnSpPr>
          <p:cNvPr id="324" name="Google Shape;324;p32"/>
          <p:cNvCxnSpPr>
            <a:stCxn id="320" idx="4"/>
            <a:endCxn id="315" idx="6"/>
          </p:cNvCxnSpPr>
          <p:nvPr/>
        </p:nvCxnSpPr>
        <p:spPr>
          <a:xfrm rot="5400000">
            <a:off x="2841888" y="2871982"/>
            <a:ext cx="516900" cy="2360700"/>
          </a:xfrm>
          <a:prstGeom prst="bentConnector2">
            <a:avLst/>
          </a:prstGeom>
          <a:noFill/>
          <a:ln cap="flat" cmpd="sng" w="9525">
            <a:solidFill>
              <a:schemeClr val="dk2"/>
            </a:solidFill>
            <a:prstDash val="solid"/>
            <a:round/>
            <a:headEnd len="med" w="med" type="none"/>
            <a:tailEnd len="med" w="med" type="triangle"/>
          </a:ln>
        </p:spPr>
      </p:cxnSp>
      <p:sp>
        <p:nvSpPr>
          <p:cNvPr id="325" name="Google Shape;325;p32"/>
          <p:cNvSpPr txBox="1"/>
          <p:nvPr/>
        </p:nvSpPr>
        <p:spPr>
          <a:xfrm>
            <a:off x="3114274" y="1713499"/>
            <a:ext cx="79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26" name="Google Shape;326;p32"/>
          <p:cNvSpPr txBox="1"/>
          <p:nvPr/>
        </p:nvSpPr>
        <p:spPr>
          <a:xfrm>
            <a:off x="309148" y="1575649"/>
            <a:ext cx="790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27" name="Google Shape;327;p32"/>
          <p:cNvSpPr txBox="1"/>
          <p:nvPr/>
        </p:nvSpPr>
        <p:spPr>
          <a:xfrm>
            <a:off x="2101561" y="2461690"/>
            <a:ext cx="573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28" name="Google Shape;328;p32"/>
          <p:cNvSpPr txBox="1"/>
          <p:nvPr/>
        </p:nvSpPr>
        <p:spPr>
          <a:xfrm>
            <a:off x="3792424" y="2416450"/>
            <a:ext cx="6759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29" name="Google Shape;329;p32"/>
          <p:cNvSpPr txBox="1"/>
          <p:nvPr>
            <p:ph type="title"/>
          </p:nvPr>
        </p:nvSpPr>
        <p:spPr>
          <a:xfrm>
            <a:off x="311700" y="404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Decision Making (Contd)</a:t>
            </a:r>
            <a:endParaRPr/>
          </a:p>
        </p:txBody>
      </p:sp>
      <p:sp>
        <p:nvSpPr>
          <p:cNvPr id="330" name="Google Shape;330;p32"/>
          <p:cNvSpPr/>
          <p:nvPr/>
        </p:nvSpPr>
        <p:spPr>
          <a:xfrm>
            <a:off x="129438" y="2512882"/>
            <a:ext cx="970200" cy="5184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else block</a:t>
            </a:r>
            <a:endParaRPr sz="1100"/>
          </a:p>
        </p:txBody>
      </p:sp>
      <p:cxnSp>
        <p:nvCxnSpPr>
          <p:cNvPr id="331" name="Google Shape;331;p32"/>
          <p:cNvCxnSpPr>
            <a:stCxn id="313" idx="1"/>
            <a:endCxn id="330" idx="0"/>
          </p:cNvCxnSpPr>
          <p:nvPr/>
        </p:nvCxnSpPr>
        <p:spPr>
          <a:xfrm flipH="1">
            <a:off x="614600" y="1938900"/>
            <a:ext cx="134400" cy="573900"/>
          </a:xfrm>
          <a:prstGeom prst="bentConnector2">
            <a:avLst/>
          </a:prstGeom>
          <a:noFill/>
          <a:ln cap="flat" cmpd="sng" w="9525">
            <a:solidFill>
              <a:schemeClr val="dk2"/>
            </a:solidFill>
            <a:prstDash val="solid"/>
            <a:round/>
            <a:headEnd len="med" w="med" type="none"/>
            <a:tailEnd len="med" w="med" type="triangle"/>
          </a:ln>
        </p:spPr>
      </p:cxnSp>
      <p:cxnSp>
        <p:nvCxnSpPr>
          <p:cNvPr id="332" name="Google Shape;332;p32"/>
          <p:cNvCxnSpPr>
            <a:stCxn id="330" idx="3"/>
            <a:endCxn id="315" idx="2"/>
          </p:cNvCxnSpPr>
          <p:nvPr/>
        </p:nvCxnSpPr>
        <p:spPr>
          <a:xfrm flipH="1" rot="-5400000">
            <a:off x="405588" y="3175432"/>
            <a:ext cx="1279500" cy="991200"/>
          </a:xfrm>
          <a:prstGeom prst="bentConnector2">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3"/>
          <p:cNvSpPr txBox="1"/>
          <p:nvPr>
            <p:ph type="title"/>
          </p:nvPr>
        </p:nvSpPr>
        <p:spPr>
          <a:xfrm>
            <a:off x="311700" y="140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Nested Decision Making (Contd)</a:t>
            </a:r>
            <a:endParaRPr/>
          </a:p>
        </p:txBody>
      </p:sp>
      <p:sp>
        <p:nvSpPr>
          <p:cNvPr id="338" name="Google Shape;338;p33"/>
          <p:cNvSpPr txBox="1"/>
          <p:nvPr>
            <p:ph idx="1" type="body"/>
          </p:nvPr>
        </p:nvSpPr>
        <p:spPr>
          <a:xfrm>
            <a:off x="311700" y="619075"/>
            <a:ext cx="8520600" cy="531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600">
                <a:solidFill>
                  <a:schemeClr val="dk1"/>
                </a:solidFill>
              </a:rPr>
              <a:t>Design a flowchart that reads a number and prints whether it is positive, negative or zero. If positive, also print whether it is Even or Odd..</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dk1"/>
              </a:solidFill>
            </a:endParaRPr>
          </a:p>
          <a:p>
            <a:pPr indent="0" lvl="0" marL="0" rtl="0" algn="l">
              <a:spcBef>
                <a:spcPts val="0"/>
              </a:spcBef>
              <a:spcAft>
                <a:spcPts val="1200"/>
              </a:spcAft>
              <a:buNone/>
            </a:pPr>
            <a:r>
              <a:t/>
            </a:r>
            <a:endParaRPr sz="1600">
              <a:solidFill>
                <a:schemeClr val="dk1"/>
              </a:solidFill>
            </a:endParaRPr>
          </a:p>
        </p:txBody>
      </p:sp>
      <p:sp>
        <p:nvSpPr>
          <p:cNvPr id="339" name="Google Shape;339;p33"/>
          <p:cNvSpPr/>
          <p:nvPr/>
        </p:nvSpPr>
        <p:spPr>
          <a:xfrm>
            <a:off x="980909" y="1326613"/>
            <a:ext cx="877932"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rgbClr val="000000"/>
                </a:solidFill>
              </a:rPr>
              <a:t>START</a:t>
            </a:r>
            <a:endParaRPr sz="1200"/>
          </a:p>
        </p:txBody>
      </p:sp>
      <p:sp>
        <p:nvSpPr>
          <p:cNvPr id="340" name="Google Shape;340;p33"/>
          <p:cNvSpPr/>
          <p:nvPr/>
        </p:nvSpPr>
        <p:spPr>
          <a:xfrm>
            <a:off x="1867827" y="4727493"/>
            <a:ext cx="715446" cy="260982"/>
          </a:xfrm>
          <a:prstGeom prst="flowChartTerminator">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000000"/>
                </a:solidFill>
              </a:rPr>
              <a:t>END</a:t>
            </a:r>
            <a:endParaRPr sz="1100"/>
          </a:p>
        </p:txBody>
      </p:sp>
      <p:sp>
        <p:nvSpPr>
          <p:cNvPr id="341" name="Google Shape;341;p33"/>
          <p:cNvSpPr/>
          <p:nvPr/>
        </p:nvSpPr>
        <p:spPr>
          <a:xfrm>
            <a:off x="2053050" y="4214911"/>
            <a:ext cx="343200" cy="338700"/>
          </a:xfrm>
          <a:prstGeom prst="ellipse">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 name="Google Shape;342;p33"/>
          <p:cNvCxnSpPr>
            <a:stCxn id="341" idx="4"/>
            <a:endCxn id="340" idx="0"/>
          </p:cNvCxnSpPr>
          <p:nvPr/>
        </p:nvCxnSpPr>
        <p:spPr>
          <a:xfrm flipH="1" rot="-5400000">
            <a:off x="2138100" y="4640161"/>
            <a:ext cx="174000" cy="900"/>
          </a:xfrm>
          <a:prstGeom prst="bentConnector3">
            <a:avLst>
              <a:gd fmla="val 49966" name="adj1"/>
            </a:avLst>
          </a:prstGeom>
          <a:noFill/>
          <a:ln cap="flat" cmpd="sng" w="9525">
            <a:solidFill>
              <a:schemeClr val="dk2"/>
            </a:solidFill>
            <a:prstDash val="solid"/>
            <a:round/>
            <a:headEnd len="med" w="med" type="none"/>
            <a:tailEnd len="med" w="med" type="stealth"/>
          </a:ln>
        </p:spPr>
      </p:cxnSp>
      <p:sp>
        <p:nvSpPr>
          <p:cNvPr id="343" name="Google Shape;343;p33"/>
          <p:cNvSpPr/>
          <p:nvPr/>
        </p:nvSpPr>
        <p:spPr>
          <a:xfrm>
            <a:off x="115650" y="2999200"/>
            <a:ext cx="1018200" cy="53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“Negative or Zero”</a:t>
            </a:r>
            <a:endParaRPr sz="1100"/>
          </a:p>
        </p:txBody>
      </p:sp>
      <p:cxnSp>
        <p:nvCxnSpPr>
          <p:cNvPr id="344" name="Google Shape;344;p33"/>
          <p:cNvCxnSpPr>
            <a:stCxn id="345" idx="1"/>
          </p:cNvCxnSpPr>
          <p:nvPr/>
        </p:nvCxnSpPr>
        <p:spPr>
          <a:xfrm flipH="1">
            <a:off x="2502963" y="2882900"/>
            <a:ext cx="228900" cy="383400"/>
          </a:xfrm>
          <a:prstGeom prst="bentConnector2">
            <a:avLst/>
          </a:prstGeom>
          <a:noFill/>
          <a:ln cap="flat" cmpd="sng" w="9525">
            <a:solidFill>
              <a:schemeClr val="dk2"/>
            </a:solidFill>
            <a:prstDash val="solid"/>
            <a:round/>
            <a:headEnd len="med" w="med" type="none"/>
            <a:tailEnd len="med" w="med" type="stealth"/>
          </a:ln>
        </p:spPr>
      </p:cxnSp>
      <p:sp>
        <p:nvSpPr>
          <p:cNvPr id="346" name="Google Shape;346;p33"/>
          <p:cNvSpPr txBox="1"/>
          <p:nvPr/>
        </p:nvSpPr>
        <p:spPr>
          <a:xfrm>
            <a:off x="2053173" y="2110602"/>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47" name="Google Shape;347;p33"/>
          <p:cNvSpPr txBox="1"/>
          <p:nvPr/>
        </p:nvSpPr>
        <p:spPr>
          <a:xfrm>
            <a:off x="2180300" y="2616551"/>
            <a:ext cx="715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sp>
        <p:nvSpPr>
          <p:cNvPr id="348" name="Google Shape;348;p33"/>
          <p:cNvSpPr txBox="1"/>
          <p:nvPr/>
        </p:nvSpPr>
        <p:spPr>
          <a:xfrm>
            <a:off x="4016675" y="2596550"/>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TRUE</a:t>
            </a:r>
            <a:endParaRPr b="1" sz="1000"/>
          </a:p>
        </p:txBody>
      </p:sp>
      <p:sp>
        <p:nvSpPr>
          <p:cNvPr id="349" name="Google Shape;349;p33"/>
          <p:cNvSpPr txBox="1"/>
          <p:nvPr/>
        </p:nvSpPr>
        <p:spPr>
          <a:xfrm>
            <a:off x="134042" y="2110591"/>
            <a:ext cx="6117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t>FALSE</a:t>
            </a:r>
            <a:endParaRPr b="1" sz="1000"/>
          </a:p>
        </p:txBody>
      </p:sp>
      <p:cxnSp>
        <p:nvCxnSpPr>
          <p:cNvPr id="350" name="Google Shape;350;p33"/>
          <p:cNvCxnSpPr>
            <a:stCxn id="339" idx="2"/>
            <a:endCxn id="351" idx="0"/>
          </p:cNvCxnSpPr>
          <p:nvPr/>
        </p:nvCxnSpPr>
        <p:spPr>
          <a:xfrm>
            <a:off x="1419875" y="1587595"/>
            <a:ext cx="0" cy="182100"/>
          </a:xfrm>
          <a:prstGeom prst="straightConnector1">
            <a:avLst/>
          </a:prstGeom>
          <a:noFill/>
          <a:ln cap="flat" cmpd="sng" w="9525">
            <a:solidFill>
              <a:schemeClr val="dk2"/>
            </a:solidFill>
            <a:prstDash val="solid"/>
            <a:round/>
            <a:headEnd len="med" w="med" type="none"/>
            <a:tailEnd len="med" w="med" type="triangle"/>
          </a:ln>
        </p:spPr>
      </p:cxnSp>
      <p:sp>
        <p:nvSpPr>
          <p:cNvPr id="352" name="Google Shape;352;p33"/>
          <p:cNvSpPr/>
          <p:nvPr/>
        </p:nvSpPr>
        <p:spPr>
          <a:xfrm>
            <a:off x="663925" y="2131900"/>
            <a:ext cx="1458600" cy="5310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if </a:t>
            </a:r>
            <a:r>
              <a:rPr lang="en" sz="1000"/>
              <a:t>num &gt;0</a:t>
            </a:r>
            <a:endParaRPr sz="1000"/>
          </a:p>
        </p:txBody>
      </p:sp>
      <p:cxnSp>
        <p:nvCxnSpPr>
          <p:cNvPr id="353" name="Google Shape;353;p33"/>
          <p:cNvCxnSpPr>
            <a:stCxn id="352" idx="1"/>
          </p:cNvCxnSpPr>
          <p:nvPr/>
        </p:nvCxnSpPr>
        <p:spPr>
          <a:xfrm flipH="1">
            <a:off x="435025" y="2397400"/>
            <a:ext cx="228900" cy="601800"/>
          </a:xfrm>
          <a:prstGeom prst="bentConnector2">
            <a:avLst/>
          </a:prstGeom>
          <a:noFill/>
          <a:ln cap="flat" cmpd="sng" w="9525">
            <a:solidFill>
              <a:schemeClr val="dk2"/>
            </a:solidFill>
            <a:prstDash val="solid"/>
            <a:round/>
            <a:headEnd len="med" w="med" type="none"/>
            <a:tailEnd len="med" w="med" type="stealth"/>
          </a:ln>
        </p:spPr>
      </p:cxnSp>
      <p:cxnSp>
        <p:nvCxnSpPr>
          <p:cNvPr id="354" name="Google Shape;354;p33"/>
          <p:cNvCxnSpPr>
            <a:endCxn id="341" idx="2"/>
          </p:cNvCxnSpPr>
          <p:nvPr/>
        </p:nvCxnSpPr>
        <p:spPr>
          <a:xfrm>
            <a:off x="435150" y="3541561"/>
            <a:ext cx="1617900" cy="842700"/>
          </a:xfrm>
          <a:prstGeom prst="bentConnector3">
            <a:avLst>
              <a:gd fmla="val 460" name="adj1"/>
            </a:avLst>
          </a:prstGeom>
          <a:noFill/>
          <a:ln cap="flat" cmpd="sng" w="9525">
            <a:solidFill>
              <a:schemeClr val="dk2"/>
            </a:solidFill>
            <a:prstDash val="solid"/>
            <a:round/>
            <a:headEnd len="med" w="med" type="none"/>
            <a:tailEnd len="med" w="med" type="stealth"/>
          </a:ln>
        </p:spPr>
      </p:cxnSp>
      <p:cxnSp>
        <p:nvCxnSpPr>
          <p:cNvPr id="355" name="Google Shape;355;p33"/>
          <p:cNvCxnSpPr>
            <a:endCxn id="341" idx="6"/>
          </p:cNvCxnSpPr>
          <p:nvPr/>
        </p:nvCxnSpPr>
        <p:spPr>
          <a:xfrm flipH="1">
            <a:off x="2396250" y="3838561"/>
            <a:ext cx="2067900" cy="545700"/>
          </a:xfrm>
          <a:prstGeom prst="bentConnector3">
            <a:avLst>
              <a:gd fmla="val -377" name="adj1"/>
            </a:avLst>
          </a:prstGeom>
          <a:noFill/>
          <a:ln cap="flat" cmpd="sng" w="9525">
            <a:solidFill>
              <a:schemeClr val="dk2"/>
            </a:solidFill>
            <a:prstDash val="solid"/>
            <a:round/>
            <a:headEnd len="med" w="med" type="none"/>
            <a:tailEnd len="med" w="med" type="stealth"/>
          </a:ln>
        </p:spPr>
      </p:cxnSp>
      <p:sp>
        <p:nvSpPr>
          <p:cNvPr id="356" name="Google Shape;356;p33"/>
          <p:cNvSpPr txBox="1"/>
          <p:nvPr/>
        </p:nvSpPr>
        <p:spPr>
          <a:xfrm>
            <a:off x="4867625" y="1549425"/>
            <a:ext cx="4114800" cy="3132300"/>
          </a:xfrm>
          <a:prstGeom prst="rect">
            <a:avLst/>
          </a:prstGeom>
          <a:solidFill>
            <a:srgbClr val="EEEEEE"/>
          </a:solidFill>
          <a:ln cap="flat" cmpd="sng" w="9525">
            <a:solidFill>
              <a:srgbClr val="434343"/>
            </a:solidFill>
            <a:prstDash val="solid"/>
            <a:round/>
            <a:headEnd len="sm" w="sm" type="none"/>
            <a:tailEnd len="sm" w="sm" type="none"/>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Scanner sc = </a:t>
            </a:r>
            <a:r>
              <a:rPr lang="en" sz="1000">
                <a:solidFill>
                  <a:srgbClr val="0000FF"/>
                </a:solidFill>
                <a:highlight>
                  <a:schemeClr val="lt2"/>
                </a:highlight>
                <a:latin typeface="Courier New"/>
                <a:ea typeface="Courier New"/>
                <a:cs typeface="Courier New"/>
                <a:sym typeface="Courier New"/>
              </a:rPr>
              <a:t>new </a:t>
            </a:r>
            <a:r>
              <a:rPr lang="en" sz="1000">
                <a:solidFill>
                  <a:schemeClr val="dk1"/>
                </a:solidFill>
                <a:highlight>
                  <a:schemeClr val="lt2"/>
                </a:highlight>
                <a:latin typeface="Courier New"/>
                <a:ea typeface="Courier New"/>
                <a:cs typeface="Courier New"/>
                <a:sym typeface="Courier New"/>
              </a:rPr>
              <a:t>Scanner(System.in);</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int num</a:t>
            </a:r>
            <a:r>
              <a:rPr lang="en" sz="1000">
                <a:solidFill>
                  <a:schemeClr val="dk1"/>
                </a:solidFill>
                <a:highlight>
                  <a:schemeClr val="lt2"/>
                </a:highlight>
                <a:latin typeface="Courier New"/>
                <a:ea typeface="Courier New"/>
                <a:cs typeface="Courier New"/>
                <a:sym typeface="Courier New"/>
              </a:rPr>
              <a:t>= sc.nextInt();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00FF"/>
                </a:solidFill>
                <a:highlight>
                  <a:schemeClr val="lt2"/>
                </a:highlight>
                <a:latin typeface="Courier New"/>
                <a:ea typeface="Courier New"/>
                <a:cs typeface="Courier New"/>
                <a:sym typeface="Courier New"/>
              </a:rPr>
              <a:t>if</a:t>
            </a:r>
            <a:r>
              <a:rPr lang="en" sz="1000">
                <a:highlight>
                  <a:schemeClr val="lt2"/>
                </a:highlight>
                <a:latin typeface="Courier New"/>
                <a:ea typeface="Courier New"/>
                <a:cs typeface="Courier New"/>
                <a:sym typeface="Courier New"/>
              </a:rPr>
              <a:t> (num&gt;0)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if </a:t>
            </a:r>
            <a:r>
              <a:rPr lang="en" sz="1000">
                <a:solidFill>
                  <a:schemeClr val="dk1"/>
                </a:solidFill>
                <a:highlight>
                  <a:schemeClr val="lt2"/>
                </a:highlight>
                <a:latin typeface="Courier New"/>
                <a:ea typeface="Courier New"/>
                <a:cs typeface="Courier New"/>
                <a:sym typeface="Courier New"/>
              </a:rPr>
              <a:t>(num%2==0)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"Positive and Even"</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r>
              <a:rPr lang="en" sz="1000">
                <a:solidFill>
                  <a:srgbClr val="0028FF"/>
                </a:solidFill>
                <a:highlight>
                  <a:schemeClr val="lt2"/>
                </a:highlight>
                <a:latin typeface="Courier New"/>
                <a:ea typeface="Courier New"/>
                <a:cs typeface="Courier New"/>
                <a:sym typeface="Courier New"/>
              </a:rPr>
              <a:t>else </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100">
                <a:solidFill>
                  <a:srgbClr val="38761D"/>
                </a:solidFill>
                <a:highlight>
                  <a:schemeClr val="lt2"/>
                </a:highlight>
                <a:latin typeface="Courier New"/>
                <a:ea typeface="Courier New"/>
                <a:cs typeface="Courier New"/>
                <a:sym typeface="Courier New"/>
              </a:rPr>
              <a:t>"</a:t>
            </a:r>
            <a:r>
              <a:rPr lang="en" sz="1000">
                <a:solidFill>
                  <a:srgbClr val="38761D"/>
                </a:solidFill>
                <a:highlight>
                  <a:schemeClr val="lt2"/>
                </a:highlight>
                <a:latin typeface="Courier New"/>
                <a:ea typeface="Courier New"/>
                <a:cs typeface="Courier New"/>
                <a:sym typeface="Courier New"/>
              </a:rPr>
              <a:t>Positive and Odd</a:t>
            </a:r>
            <a:r>
              <a:rPr lang="en" sz="1100">
                <a:solidFill>
                  <a:srgbClr val="38761D"/>
                </a:solidFill>
                <a:highlight>
                  <a:schemeClr val="lt2"/>
                </a:highlight>
                <a:latin typeface="Courier New"/>
                <a:ea typeface="Courier New"/>
                <a:cs typeface="Courier New"/>
                <a:sym typeface="Courier New"/>
              </a:rPr>
              <a:t>"</a:t>
            </a:r>
            <a:r>
              <a:rPr lang="en" sz="1000">
                <a:solidFill>
                  <a:schemeClr val="dk1"/>
                </a:solidFill>
                <a:highlight>
                  <a:schemeClr val="lt2"/>
                </a:highlight>
                <a:latin typeface="Courier New"/>
                <a:ea typeface="Courier New"/>
                <a:cs typeface="Courier New"/>
                <a:sym typeface="Courier New"/>
              </a:rPr>
              <a:t>);</a:t>
            </a:r>
            <a:endParaRPr sz="1000">
              <a:solidFill>
                <a:schemeClr val="dk1"/>
              </a:solidFill>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Clr>
                <a:schemeClr val="dk1"/>
              </a:buClr>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rgbClr val="0028FF"/>
                </a:solidFill>
                <a:highlight>
                  <a:schemeClr val="lt2"/>
                </a:highlight>
                <a:latin typeface="Courier New"/>
                <a:ea typeface="Courier New"/>
                <a:cs typeface="Courier New"/>
                <a:sym typeface="Courier New"/>
              </a:rPr>
              <a:t>e</a:t>
            </a:r>
            <a:r>
              <a:rPr lang="en" sz="1000">
                <a:solidFill>
                  <a:srgbClr val="0028FF"/>
                </a:solidFill>
                <a:highlight>
                  <a:schemeClr val="lt2"/>
                </a:highlight>
                <a:latin typeface="Courier New"/>
                <a:ea typeface="Courier New"/>
                <a:cs typeface="Courier New"/>
                <a:sym typeface="Courier New"/>
              </a:rPr>
              <a:t>lse</a:t>
            </a: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solidFill>
                  <a:schemeClr val="dk1"/>
                </a:solidFill>
                <a:highlight>
                  <a:schemeClr val="lt2"/>
                </a:highlight>
                <a:latin typeface="Courier New"/>
                <a:ea typeface="Courier New"/>
                <a:cs typeface="Courier New"/>
                <a:sym typeface="Courier New"/>
              </a:rPr>
              <a:t>    System.out.println(</a:t>
            </a:r>
            <a:r>
              <a:rPr lang="en" sz="1000">
                <a:solidFill>
                  <a:srgbClr val="38761D"/>
                </a:solidFill>
                <a:highlight>
                  <a:schemeClr val="lt2"/>
                </a:highlight>
                <a:latin typeface="Courier New"/>
                <a:ea typeface="Courier New"/>
                <a:cs typeface="Courier New"/>
                <a:sym typeface="Courier New"/>
              </a:rPr>
              <a:t>"Negative or Zero"</a:t>
            </a:r>
            <a:r>
              <a:rPr lang="en" sz="1000">
                <a:solidFill>
                  <a:schemeClr val="dk1"/>
                </a:solidFill>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a:p>
            <a:pPr indent="-292100" lvl="0" marL="457200" rtl="0" algn="l">
              <a:lnSpc>
                <a:spcPct val="150000"/>
              </a:lnSpc>
              <a:spcBef>
                <a:spcPts val="0"/>
              </a:spcBef>
              <a:spcAft>
                <a:spcPts val="0"/>
              </a:spcAft>
              <a:buSzPts val="1000"/>
              <a:buFont typeface="Courier New"/>
              <a:buAutoNum type="arabicPeriod"/>
            </a:pPr>
            <a:r>
              <a:rPr lang="en" sz="1000">
                <a:highlight>
                  <a:schemeClr val="lt2"/>
                </a:highlight>
                <a:latin typeface="Courier New"/>
                <a:ea typeface="Courier New"/>
                <a:cs typeface="Courier New"/>
                <a:sym typeface="Courier New"/>
              </a:rPr>
              <a:t>}</a:t>
            </a:r>
            <a:endParaRPr sz="1000">
              <a:highlight>
                <a:schemeClr val="lt2"/>
              </a:highlight>
              <a:latin typeface="Courier New"/>
              <a:ea typeface="Courier New"/>
              <a:cs typeface="Courier New"/>
              <a:sym typeface="Courier New"/>
            </a:endParaRPr>
          </a:p>
        </p:txBody>
      </p:sp>
      <p:sp>
        <p:nvSpPr>
          <p:cNvPr id="357" name="Google Shape;357;p33"/>
          <p:cNvSpPr/>
          <p:nvPr/>
        </p:nvSpPr>
        <p:spPr>
          <a:xfrm>
            <a:off x="3737100" y="327380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“Positive and Even”</a:t>
            </a:r>
            <a:endParaRPr sz="1100"/>
          </a:p>
        </p:txBody>
      </p:sp>
      <p:cxnSp>
        <p:nvCxnSpPr>
          <p:cNvPr id="358" name="Google Shape;358;p33"/>
          <p:cNvCxnSpPr>
            <a:stCxn id="352" idx="3"/>
            <a:endCxn id="345" idx="0"/>
          </p:cNvCxnSpPr>
          <p:nvPr/>
        </p:nvCxnSpPr>
        <p:spPr>
          <a:xfrm>
            <a:off x="2122525" y="2397400"/>
            <a:ext cx="1372500" cy="199200"/>
          </a:xfrm>
          <a:prstGeom prst="bentConnector2">
            <a:avLst/>
          </a:prstGeom>
          <a:noFill/>
          <a:ln cap="flat" cmpd="sng" w="9525">
            <a:solidFill>
              <a:schemeClr val="dk2"/>
            </a:solidFill>
            <a:prstDash val="solid"/>
            <a:round/>
            <a:headEnd len="med" w="med" type="none"/>
            <a:tailEnd len="med" w="med" type="stealth"/>
          </a:ln>
        </p:spPr>
      </p:cxnSp>
      <p:cxnSp>
        <p:nvCxnSpPr>
          <p:cNvPr id="359" name="Google Shape;359;p33"/>
          <p:cNvCxnSpPr>
            <a:endCxn id="341" idx="0"/>
          </p:cNvCxnSpPr>
          <p:nvPr/>
        </p:nvCxnSpPr>
        <p:spPr>
          <a:xfrm flipH="1" rot="-5400000">
            <a:off x="2034600" y="4024861"/>
            <a:ext cx="376200" cy="3900"/>
          </a:xfrm>
          <a:prstGeom prst="bentConnector3">
            <a:avLst>
              <a:gd fmla="val 50000" name="adj1"/>
            </a:avLst>
          </a:prstGeom>
          <a:noFill/>
          <a:ln cap="flat" cmpd="sng" w="9525">
            <a:solidFill>
              <a:schemeClr val="dk2"/>
            </a:solidFill>
            <a:prstDash val="solid"/>
            <a:round/>
            <a:headEnd len="med" w="med" type="none"/>
            <a:tailEnd len="med" w="med" type="stealth"/>
          </a:ln>
        </p:spPr>
      </p:cxnSp>
      <p:sp>
        <p:nvSpPr>
          <p:cNvPr id="351" name="Google Shape;351;p33"/>
          <p:cNvSpPr/>
          <p:nvPr/>
        </p:nvSpPr>
        <p:spPr>
          <a:xfrm>
            <a:off x="836225" y="1769825"/>
            <a:ext cx="1167300" cy="2610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t>Read num</a:t>
            </a:r>
            <a:endParaRPr sz="1100"/>
          </a:p>
        </p:txBody>
      </p:sp>
      <p:cxnSp>
        <p:nvCxnSpPr>
          <p:cNvPr id="360" name="Google Shape;360;p33"/>
          <p:cNvCxnSpPr>
            <a:stCxn id="351" idx="4"/>
            <a:endCxn id="361" idx="0"/>
          </p:cNvCxnSpPr>
          <p:nvPr/>
        </p:nvCxnSpPr>
        <p:spPr>
          <a:xfrm flipH="1" rot="-5400000">
            <a:off x="1364675" y="2086025"/>
            <a:ext cx="111000" cy="600"/>
          </a:xfrm>
          <a:prstGeom prst="bentConnector3">
            <a:avLst>
              <a:gd fmla="val 50000" name="adj1"/>
            </a:avLst>
          </a:prstGeom>
          <a:noFill/>
          <a:ln cap="flat" cmpd="sng" w="9525">
            <a:solidFill>
              <a:schemeClr val="dk2"/>
            </a:solidFill>
            <a:prstDash val="solid"/>
            <a:round/>
            <a:headEnd len="med" w="med" type="none"/>
            <a:tailEnd len="med" w="med" type="stealth"/>
          </a:ln>
        </p:spPr>
      </p:cxnSp>
      <p:cxnSp>
        <p:nvCxnSpPr>
          <p:cNvPr id="362" name="Google Shape;362;p33"/>
          <p:cNvCxnSpPr>
            <a:stCxn id="345" idx="3"/>
          </p:cNvCxnSpPr>
          <p:nvPr/>
        </p:nvCxnSpPr>
        <p:spPr>
          <a:xfrm>
            <a:off x="4258263" y="2882900"/>
            <a:ext cx="198300" cy="390900"/>
          </a:xfrm>
          <a:prstGeom prst="bentConnector2">
            <a:avLst/>
          </a:prstGeom>
          <a:noFill/>
          <a:ln cap="flat" cmpd="sng" w="9525">
            <a:solidFill>
              <a:schemeClr val="dk2"/>
            </a:solidFill>
            <a:prstDash val="solid"/>
            <a:round/>
            <a:headEnd len="med" w="med" type="none"/>
            <a:tailEnd len="med" w="med" type="stealth"/>
          </a:ln>
        </p:spPr>
      </p:cxnSp>
      <p:sp>
        <p:nvSpPr>
          <p:cNvPr id="345" name="Google Shape;345;p33"/>
          <p:cNvSpPr/>
          <p:nvPr/>
        </p:nvSpPr>
        <p:spPr>
          <a:xfrm>
            <a:off x="2731863" y="2596550"/>
            <a:ext cx="1526400" cy="572700"/>
          </a:xfrm>
          <a:prstGeom prst="diamond">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if num%2 == 0</a:t>
            </a:r>
            <a:endParaRPr sz="1000"/>
          </a:p>
        </p:txBody>
      </p:sp>
      <p:sp>
        <p:nvSpPr>
          <p:cNvPr id="363" name="Google Shape;363;p33"/>
          <p:cNvSpPr/>
          <p:nvPr/>
        </p:nvSpPr>
        <p:spPr>
          <a:xfrm>
            <a:off x="2036750" y="3288750"/>
            <a:ext cx="1018200" cy="572700"/>
          </a:xfrm>
          <a:prstGeom prst="parallelogram">
            <a:avLst>
              <a:gd fmla="val 25000" name="adj"/>
            </a:avLst>
          </a:prstGeom>
          <a:solidFill>
            <a:schemeClr val="lt2"/>
          </a:solidFill>
          <a:ln cap="flat" cmpd="sng" w="9525">
            <a:solidFill>
              <a:schemeClr val="dk2"/>
            </a:solidFill>
            <a:prstDash val="solid"/>
            <a:round/>
            <a:headEnd len="sm" w="sm" type="none"/>
            <a:tailEnd len="sm" w="sm" type="none"/>
          </a:ln>
        </p:spPr>
        <p:txBody>
          <a:bodyPr anchorCtr="0" anchor="ctr" bIns="91425" lIns="45700" spcFirstLastPara="1" rIns="45700" wrap="square" tIns="91425">
            <a:noAutofit/>
          </a:bodyPr>
          <a:lstStyle/>
          <a:p>
            <a:pPr indent="0" lvl="0" marL="0" rtl="0" algn="ctr">
              <a:spcBef>
                <a:spcPts val="0"/>
              </a:spcBef>
              <a:spcAft>
                <a:spcPts val="0"/>
              </a:spcAft>
              <a:buNone/>
            </a:pPr>
            <a:r>
              <a:rPr lang="en" sz="1100"/>
              <a:t>Print “Positive and Odd”</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Practice</a:t>
            </a:r>
            <a:endParaRPr/>
          </a:p>
        </p:txBody>
      </p:sp>
      <p:sp>
        <p:nvSpPr>
          <p:cNvPr id="369" name="Google Shape;369;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7772"/>
              </a:lnSpc>
              <a:spcBef>
                <a:spcPts val="500"/>
              </a:spcBef>
              <a:spcAft>
                <a:spcPts val="0"/>
              </a:spcAft>
              <a:buClr>
                <a:schemeClr val="dk1"/>
              </a:buClr>
              <a:buSzPts val="1100"/>
              <a:buFont typeface="Arial"/>
              <a:buNone/>
            </a:pPr>
            <a:r>
              <a:rPr lang="en" sz="1600">
                <a:solidFill>
                  <a:schemeClr val="dk1"/>
                </a:solidFill>
              </a:rPr>
              <a:t>We want to print “even multiple of 3” if a number is an even number and a multiple of 3, “odd multiple of 3” if the number is an odd number and a multiple of 3 and “invalid” otherwise.</a:t>
            </a:r>
            <a:endParaRPr sz="1600">
              <a:solidFill>
                <a:schemeClr val="dk1"/>
              </a:solidFill>
            </a:endParaRPr>
          </a:p>
          <a:p>
            <a:pPr indent="0" lvl="0" marL="0" rtl="0" algn="l">
              <a:spcBef>
                <a:spcPts val="10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5"/>
          <p:cNvSpPr txBox="1"/>
          <p:nvPr>
            <p:ph type="ctrTitle"/>
          </p:nvPr>
        </p:nvSpPr>
        <p:spPr>
          <a:xfrm>
            <a:off x="311708" y="1545450"/>
            <a:ext cx="8520600" cy="2052600"/>
          </a:xfrm>
          <a:prstGeom prst="rect">
            <a:avLst/>
          </a:prstGeom>
        </p:spPr>
        <p:txBody>
          <a:bodyPr anchorCtr="0" anchor="b" bIns="91425" lIns="91425" spcFirstLastPara="1" rIns="91425" wrap="square" tIns="91425">
            <a:normAutofit/>
          </a:bodyPr>
          <a:lstStyle/>
          <a:p>
            <a:pPr indent="0" lvl="0" marL="0" rtl="0" algn="ctr">
              <a:lnSpc>
                <a:spcPct val="115000"/>
              </a:lnSpc>
              <a:spcBef>
                <a:spcPts val="0"/>
              </a:spcBef>
              <a:spcAft>
                <a:spcPts val="0"/>
              </a:spcAft>
              <a:buNone/>
            </a:pPr>
            <a:r>
              <a:rPr b="1" lang="en" sz="3200">
                <a:solidFill>
                  <a:srgbClr val="000000"/>
                </a:solidFill>
              </a:rPr>
              <a:t>THANK YOU!</a:t>
            </a:r>
            <a:endParaRPr b="1" sz="3200">
              <a:solidFill>
                <a:srgbClr val="000000"/>
              </a:solidFill>
            </a:endParaRPr>
          </a:p>
          <a:p>
            <a:pPr indent="0" lvl="0" marL="0" rtl="0" algn="ctr">
              <a:spcBef>
                <a:spcPts val="120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