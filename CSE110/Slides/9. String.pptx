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371B0F-BBB3-4817-B157-788922B33251}">
  <a:tblStyle styleId="{36371B0F-BBB3-4817-B157-788922B3325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D05677F-5283-4738-ABD1-E73E2F7ADEB1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slide" Target="slides/slide18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2aa964a5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2aa964a5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549ada7e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549ada7e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2aa964a56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2aa964a56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2aa964a56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2aa964a56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6bf0ec7d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6bf0ec7d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544e1a44e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544e1a44e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544e1a44e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544e1a44e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54d6fa6e4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54d6fa6e4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549ada7e1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549ada7e1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6bf0ec7df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6bf0ec7df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549ada7e1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549ada7e1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549ada7e1a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549ada7e1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549ada7e1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549ada7e1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54d6fa6e4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54d6fa6e4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54d6fa6e4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54d6fa6e4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6ca18947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6ca18947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55224f088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55224f088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cs.cmu.edu/~pattis/15-1XX/common/handouts/ascii.htm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Strings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is a string?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 many other </a:t>
            </a:r>
            <a:r>
              <a:rPr lang="en" sz="1600">
                <a:solidFill>
                  <a:schemeClr val="dk1"/>
                </a:solidFill>
              </a:rPr>
              <a:t>programming</a:t>
            </a:r>
            <a:r>
              <a:rPr lang="en" sz="1600">
                <a:solidFill>
                  <a:schemeClr val="dk1"/>
                </a:solidFill>
              </a:rPr>
              <a:t> languages, string is a sequence of characters.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 Java, strings are objects.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Strings are </a:t>
            </a:r>
            <a:r>
              <a:rPr lang="en" sz="1600">
                <a:solidFill>
                  <a:schemeClr val="dk1"/>
                </a:solidFill>
              </a:rPr>
              <a:t>surrounded</a:t>
            </a:r>
            <a:r>
              <a:rPr lang="en" sz="1600">
                <a:solidFill>
                  <a:schemeClr val="dk1"/>
                </a:solidFill>
              </a:rPr>
              <a:t> by double quotes.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Strings are immutable. Once a string is created, it can’t be changed.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If we want to to modify a string, it will create a new string which contains the modifications.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352500" y="1036350"/>
            <a:ext cx="8439000" cy="10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.next() and .nextLine() of the scanner class is used to take string as input.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.next() </a:t>
            </a:r>
            <a:r>
              <a:rPr lang="en" sz="1600">
                <a:solidFill>
                  <a:schemeClr val="dk1"/>
                </a:solidFill>
              </a:rPr>
              <a:t>only </a:t>
            </a:r>
            <a:r>
              <a:rPr lang="en" sz="1600">
                <a:solidFill>
                  <a:schemeClr val="dk1"/>
                </a:solidFill>
              </a:rPr>
              <a:t>takes input until it finds a </a:t>
            </a:r>
            <a:r>
              <a:rPr lang="en" sz="1600">
                <a:solidFill>
                  <a:schemeClr val="dk1"/>
                </a:solidFill>
              </a:rPr>
              <a:t>“ ”</a:t>
            </a:r>
            <a:r>
              <a:rPr lang="en" sz="1600">
                <a:solidFill>
                  <a:schemeClr val="dk1"/>
                </a:solidFill>
              </a:rPr>
              <a:t> or space</a:t>
            </a:r>
            <a:r>
              <a:rPr lang="en" sz="1600">
                <a:solidFill>
                  <a:schemeClr val="dk1"/>
                </a:solidFill>
              </a:rPr>
              <a:t> in the given input.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.nextLine() takes </a:t>
            </a:r>
            <a:r>
              <a:rPr lang="en" sz="1600">
                <a:solidFill>
                  <a:schemeClr val="dk1"/>
                </a:solidFill>
              </a:rPr>
              <a:t>input until it finds a “\n” in the given input.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1754525" y="2085475"/>
            <a:ext cx="5387700" cy="1764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stringInput{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main(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args) {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= new 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Scanner(System.in);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1C55A7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input1 = sc.next();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1C55A7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input2 = sc.nextLine();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.out.println(input1);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.out.println(input2);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1754525" y="3849475"/>
            <a:ext cx="5387700" cy="1166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100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CSE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CSE IS FUN.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1972641" y="4120242"/>
            <a:ext cx="2839500" cy="1593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4D79"/>
                </a:solidFill>
              </a:rPr>
              <a:t>CSE IS FUN.</a:t>
            </a:r>
            <a:endParaRPr sz="1100">
              <a:solidFill>
                <a:srgbClr val="A64D79"/>
              </a:solidFill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1972641" y="4336643"/>
            <a:ext cx="2839500" cy="1593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4D79"/>
                </a:solidFill>
              </a:rPr>
              <a:t>CSE IS FUN.</a:t>
            </a:r>
            <a:endParaRPr sz="1100">
              <a:solidFill>
                <a:srgbClr val="A64D79"/>
              </a:solidFill>
            </a:endParaRPr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String Input and Output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String Initialization</a:t>
            </a:r>
            <a:endParaRPr b="1"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081175"/>
            <a:ext cx="8520600" cy="38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Initialization using String literals: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055800" y="2273350"/>
            <a:ext cx="3032400" cy="415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String my_string = “Hello World!”;</a:t>
            </a:r>
            <a:endParaRPr sz="1500"/>
          </a:p>
        </p:txBody>
      </p:sp>
      <p:sp>
        <p:nvSpPr>
          <p:cNvPr id="79" name="Google Shape;79;p16"/>
          <p:cNvSpPr/>
          <p:nvPr/>
        </p:nvSpPr>
        <p:spPr>
          <a:xfrm rot="5400000">
            <a:off x="3206500" y="1992350"/>
            <a:ext cx="340800" cy="3513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3014350" y="1740200"/>
            <a:ext cx="725100" cy="2574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Literal</a:t>
            </a:r>
            <a:endParaRPr sz="1300"/>
          </a:p>
        </p:txBody>
      </p:sp>
      <p:sp>
        <p:nvSpPr>
          <p:cNvPr id="81" name="Google Shape;81;p16"/>
          <p:cNvSpPr/>
          <p:nvPr/>
        </p:nvSpPr>
        <p:spPr>
          <a:xfrm flipH="1" rot="5400000">
            <a:off x="3997400" y="2426825"/>
            <a:ext cx="257400" cy="7251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3644450" y="2918075"/>
            <a:ext cx="963300" cy="3408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Variable name</a:t>
            </a:r>
            <a:endParaRPr sz="1200"/>
          </a:p>
        </p:txBody>
      </p:sp>
      <p:sp>
        <p:nvSpPr>
          <p:cNvPr id="83" name="Google Shape;83;p16"/>
          <p:cNvSpPr/>
          <p:nvPr/>
        </p:nvSpPr>
        <p:spPr>
          <a:xfrm rot="5400000">
            <a:off x="5133000" y="1851800"/>
            <a:ext cx="340800" cy="6324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4904400" y="1740200"/>
            <a:ext cx="798000" cy="2574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String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String Initialization</a:t>
            </a:r>
            <a:endParaRPr b="1"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081175"/>
            <a:ext cx="8520600" cy="38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Creating an object of String class: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2945800" y="2273350"/>
            <a:ext cx="3468900" cy="415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String my_str = new String( “Hello”);</a:t>
            </a:r>
            <a:endParaRPr sz="1500"/>
          </a:p>
        </p:txBody>
      </p:sp>
      <p:sp>
        <p:nvSpPr>
          <p:cNvPr id="92" name="Google Shape;92;p17"/>
          <p:cNvSpPr/>
          <p:nvPr/>
        </p:nvSpPr>
        <p:spPr>
          <a:xfrm rot="5400000">
            <a:off x="3138525" y="1992350"/>
            <a:ext cx="340800" cy="3513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2798325" y="1786725"/>
            <a:ext cx="963300" cy="2574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Class name</a:t>
            </a:r>
            <a:endParaRPr sz="1100"/>
          </a:p>
        </p:txBody>
      </p:sp>
      <p:sp>
        <p:nvSpPr>
          <p:cNvPr id="94" name="Google Shape;94;p17"/>
          <p:cNvSpPr/>
          <p:nvPr/>
        </p:nvSpPr>
        <p:spPr>
          <a:xfrm flipH="1" rot="5400000">
            <a:off x="3753900" y="2534525"/>
            <a:ext cx="257400" cy="5097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3400950" y="2892700"/>
            <a:ext cx="963300" cy="3408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Object </a:t>
            </a:r>
            <a:r>
              <a:rPr lang="en" sz="1200"/>
              <a:t>name</a:t>
            </a:r>
            <a:endParaRPr sz="1200"/>
          </a:p>
        </p:txBody>
      </p:sp>
      <p:sp>
        <p:nvSpPr>
          <p:cNvPr id="96" name="Google Shape;96;p17"/>
          <p:cNvSpPr/>
          <p:nvPr/>
        </p:nvSpPr>
        <p:spPr>
          <a:xfrm rot="5400000">
            <a:off x="4984825" y="1380650"/>
            <a:ext cx="378600" cy="15747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4455175" y="1665525"/>
            <a:ext cx="1437900" cy="3786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To create an object of String class</a:t>
            </a:r>
            <a:endParaRPr sz="1100"/>
          </a:p>
        </p:txBody>
      </p:sp>
      <p:sp>
        <p:nvSpPr>
          <p:cNvPr id="98" name="Google Shape;98;p17"/>
          <p:cNvSpPr/>
          <p:nvPr/>
        </p:nvSpPr>
        <p:spPr>
          <a:xfrm flipH="1" rot="5400000">
            <a:off x="5549625" y="2562875"/>
            <a:ext cx="257400" cy="4530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5344125" y="2892700"/>
            <a:ext cx="668400" cy="3408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String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6150" y="1266325"/>
            <a:ext cx="7482524" cy="344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String Initialization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String Length</a:t>
            </a:r>
            <a:endParaRPr b="1"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311700" y="1137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The number of characters in a string.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 find using the length() method.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1716150" y="1868350"/>
            <a:ext cx="5711700" cy="2088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stringLength {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main(</a:t>
            </a: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 args) {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str1 = </a:t>
            </a:r>
            <a:r>
              <a:rPr lang="en" sz="11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"Hello World"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str2 = </a:t>
            </a:r>
            <a:r>
              <a:rPr lang="en" sz="11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 </a:t>
            </a:r>
            <a:r>
              <a:rPr lang="en" sz="114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 Empty string</a:t>
            </a:r>
            <a:endParaRPr sz="114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.out.println(str1.length());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.out.println(str2.length());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1716150" y="3854000"/>
            <a:ext cx="5711700" cy="938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ru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n stringLength</a:t>
            </a:r>
            <a:endParaRPr sz="1100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00000"/>
                </a:solidFill>
              </a:rPr>
              <a:t>String Indexing</a:t>
            </a:r>
            <a:endParaRPr b="1" sz="2500">
              <a:solidFill>
                <a:srgbClr val="000000"/>
              </a:solidFill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311700" y="1152475"/>
            <a:ext cx="85206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String indexing starts from 0 and ends at (Length of string - 1).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If we create string1 = “CSE IS FUN.”, which has a length of 11, the indexing will look like this</a:t>
            </a:r>
            <a:r>
              <a:rPr lang="en" sz="1600"/>
              <a:t>: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</a:t>
            </a:r>
            <a:r>
              <a:rPr lang="en" sz="1600">
                <a:solidFill>
                  <a:srgbClr val="000000"/>
                </a:solidFill>
              </a:rPr>
              <a:t>lanks and </a:t>
            </a:r>
            <a:r>
              <a:rPr lang="en" sz="1600"/>
              <a:t>special characters</a:t>
            </a:r>
            <a:r>
              <a:rPr lang="en" sz="1600">
                <a:solidFill>
                  <a:srgbClr val="000000"/>
                </a:solidFill>
              </a:rPr>
              <a:t> are als</a:t>
            </a:r>
            <a:r>
              <a:rPr lang="en" sz="1600"/>
              <a:t>o</a:t>
            </a:r>
            <a:r>
              <a:rPr lang="en" sz="1600">
                <a:solidFill>
                  <a:srgbClr val="000000"/>
                </a:solidFill>
              </a:rPr>
              <a:t> counted as characters.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We can get characters at each each index by using </a:t>
            </a:r>
            <a:r>
              <a:rPr b="1" lang="en" sz="1600">
                <a:solidFill>
                  <a:srgbClr val="1C55A7"/>
                </a:solidFill>
              </a:rPr>
              <a:t>charAt(index)</a:t>
            </a:r>
            <a:r>
              <a:rPr lang="en" sz="1600"/>
              <a:t> method.     Example: string1.charAt(2) will return “E”. </a:t>
            </a:r>
            <a:endParaRPr sz="1600"/>
          </a:p>
        </p:txBody>
      </p:sp>
      <p:graphicFrame>
        <p:nvGraphicFramePr>
          <p:cNvPr id="120" name="Google Shape;120;p20"/>
          <p:cNvGraphicFramePr/>
          <p:nvPr/>
        </p:nvGraphicFramePr>
        <p:xfrm>
          <a:off x="952450" y="26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{36371B0F-BBB3-4817-B157-788922B33251}</a:tableStyleId>
              </a:tblPr>
              <a:tblGrid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U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.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1" name="Google Shape;121;p20"/>
          <p:cNvGraphicFramePr/>
          <p:nvPr/>
        </p:nvGraphicFramePr>
        <p:xfrm>
          <a:off x="952450" y="221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{36371B0F-BBB3-4817-B157-788922B33251}</a:tableStyleId>
              </a:tblPr>
              <a:tblGrid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Iterating a String</a:t>
            </a:r>
            <a:endParaRPr b="1"/>
          </a:p>
        </p:txBody>
      </p:sp>
      <p:sp>
        <p:nvSpPr>
          <p:cNvPr id="127" name="Google Shape;127;p21"/>
          <p:cNvSpPr txBox="1"/>
          <p:nvPr/>
        </p:nvSpPr>
        <p:spPr>
          <a:xfrm>
            <a:off x="2074050" y="3393200"/>
            <a:ext cx="4995900" cy="1400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urier New"/>
                <a:ea typeface="Courier New"/>
                <a:cs typeface="Courier New"/>
                <a:sym typeface="Courier New"/>
              </a:rPr>
              <a:t>&gt; run 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StringIteration 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H</a:t>
            </a:r>
            <a:endParaRPr sz="10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endParaRPr sz="10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 sz="10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 sz="10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endParaRPr sz="10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2074050" y="1733600"/>
            <a:ext cx="4995900" cy="165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0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StringIteration {</a:t>
            </a:r>
            <a:endParaRPr sz="1000">
              <a:solidFill>
                <a:srgbClr val="0B539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main(String[] args) 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String str = new String(</a:t>
            </a:r>
            <a:r>
              <a:rPr lang="en" sz="1000">
                <a:solidFill>
                  <a:srgbClr val="DD4A68"/>
                </a:solidFill>
                <a:latin typeface="Courier New"/>
                <a:ea typeface="Courier New"/>
                <a:cs typeface="Courier New"/>
                <a:sym typeface="Courier New"/>
              </a:rPr>
              <a:t>"Hello"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(int i = 0; i &lt;str.length(); i++){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System.out.println(str.charAt(i));        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0B539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311700" y="985200"/>
            <a:ext cx="847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Accessing the characters of a string one by one.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Iterating a string using for loop and charAt() method.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263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String </a:t>
            </a:r>
            <a:r>
              <a:rPr b="1" lang="en"/>
              <a:t>Concatenation</a:t>
            </a:r>
            <a:endParaRPr b="1"/>
          </a:p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311700" y="1152475"/>
            <a:ext cx="49809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“+” is used to concatenate two or more strings together.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New string created after concatenation.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If a </a:t>
            </a:r>
            <a:r>
              <a:rPr lang="en" sz="1600">
                <a:solidFill>
                  <a:schemeClr val="dk1"/>
                </a:solidFill>
              </a:rPr>
              <a:t>different</a:t>
            </a:r>
            <a:r>
              <a:rPr lang="en" sz="1600">
                <a:solidFill>
                  <a:schemeClr val="dk1"/>
                </a:solidFill>
              </a:rPr>
              <a:t> data type follows a string data type in concatenation, that data is automatically converted to string.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5292600" y="1287250"/>
            <a:ext cx="3727200" cy="1951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str1 = </a:t>
            </a:r>
            <a:r>
              <a:rPr lang="en" sz="11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"We are learning"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str2 = </a:t>
            </a:r>
            <a:r>
              <a:rPr lang="en" sz="11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"Java."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123;</a:t>
            </a:r>
            <a:endParaRPr sz="114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str3 = str1 + str2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str4 = str1 + num;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.out.println(str3);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lang="en" sz="11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.out.println(str4);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5292600" y="3238900"/>
            <a:ext cx="3727200" cy="1006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We are learning Java.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We are learning</a:t>
            </a:r>
            <a:r>
              <a:rPr lang="en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123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				</a:t>
            </a:r>
            <a:r>
              <a:rPr b="1" lang="en"/>
              <a:t>Output: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				</a:t>
            </a:r>
            <a:r>
              <a:rPr lang="en" sz="1600"/>
              <a:t>Fall2023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										</a:t>
            </a:r>
            <a:r>
              <a:rPr b="1" lang="en"/>
              <a:t>Output: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									</a:t>
            </a:r>
            <a:r>
              <a:rPr lang="en" sz="1600"/>
              <a:t>43Fall</a:t>
            </a:r>
            <a:endParaRPr sz="1600"/>
          </a:p>
        </p:txBody>
      </p:sp>
      <p:graphicFrame>
        <p:nvGraphicFramePr>
          <p:cNvPr id="143" name="Google Shape;143;p23"/>
          <p:cNvGraphicFramePr/>
          <p:nvPr/>
        </p:nvGraphicFramePr>
        <p:xfrm>
          <a:off x="607025" y="1277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{DD05677F-5283-4738-ABD1-E73E2F7ADEB1}</a:tableStyleId>
              </a:tblPr>
              <a:tblGrid>
                <a:gridCol w="3121150"/>
              </a:tblGrid>
              <a:tr h="137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77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String semester = “Fall ” ;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77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 y1 = 20;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77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String output = semester + y1 + 23;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77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System.out.println(output);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73025" marL="73025">
                    <a:lnL cap="flat" cmpd="sng" w="84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3FD"/>
                    </a:solidFill>
                  </a:tcPr>
                </a:tc>
              </a:tr>
            </a:tbl>
          </a:graphicData>
        </a:graphic>
      </p:graphicFrame>
      <p:sp>
        <p:nvSpPr>
          <p:cNvPr id="144" name="Google Shape;144;p23"/>
          <p:cNvSpPr txBox="1"/>
          <p:nvPr>
            <p:ph type="title"/>
          </p:nvPr>
        </p:nvSpPr>
        <p:spPr>
          <a:xfrm>
            <a:off x="311700" y="263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String Concatenation</a:t>
            </a:r>
            <a:endParaRPr b="1"/>
          </a:p>
        </p:txBody>
      </p:sp>
      <p:graphicFrame>
        <p:nvGraphicFramePr>
          <p:cNvPr id="145" name="Google Shape;145;p23"/>
          <p:cNvGraphicFramePr/>
          <p:nvPr/>
        </p:nvGraphicFramePr>
        <p:xfrm>
          <a:off x="643550" y="3043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{DD05677F-5283-4738-ABD1-E73E2F7ADEB1}</a:tableStyleId>
              </a:tblPr>
              <a:tblGrid>
                <a:gridCol w="3121150"/>
              </a:tblGrid>
              <a:tr h="137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77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String semester = “Fall ” ;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77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 y1 = 20;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77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String output = y1 + 23 + semester;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77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System.out.println(output);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73025" marL="73025">
                    <a:lnL cap="flat" cmpd="sng" w="84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3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Comparing Strings</a:t>
            </a:r>
            <a:endParaRPr b="1"/>
          </a:p>
        </p:txBody>
      </p:sp>
      <p:graphicFrame>
        <p:nvGraphicFramePr>
          <p:cNvPr id="151" name="Google Shape;151;p24"/>
          <p:cNvGraphicFramePr/>
          <p:nvPr/>
        </p:nvGraphicFramePr>
        <p:xfrm>
          <a:off x="495350" y="1286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{36371B0F-BBB3-4817-B157-788922B33251}</a:tableStyleId>
              </a:tblPr>
              <a:tblGrid>
                <a:gridCol w="1721700"/>
                <a:gridCol w="3462500"/>
                <a:gridCol w="2377750"/>
                <a:gridCol w="958650"/>
              </a:tblGrid>
              <a:tr h="59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Methods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Functions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Method Call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Value returned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566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.equals()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Checks if values in two strings are same. Case sensitive.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str1.equals(str2)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.equalsIgnoreCase()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Checks if values in two strings are same. Not case sensitive.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str1.equalsIgnoreCase(str2)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True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== or equals operator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Checks if reference (address) of two strings are same.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tr1 == str2 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7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.compareTo()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Compares two string values 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lexicographically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. Returns 0 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when identical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, (+)ve 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when first string is greater and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(-)ve values when second string is greater respectively.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str1.compareTo(str2)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32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(The output is -32 since “H” is 32 less than “h” lexicographically)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2" name="Google Shape;152;p24"/>
          <p:cNvSpPr txBox="1"/>
          <p:nvPr>
            <p:ph idx="1" type="body"/>
          </p:nvPr>
        </p:nvSpPr>
        <p:spPr>
          <a:xfrm>
            <a:off x="311700" y="789113"/>
            <a:ext cx="8520600" cy="4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rgbClr val="1C55A7"/>
                </a:solidFill>
              </a:rPr>
              <a:t>String</a:t>
            </a:r>
            <a:r>
              <a:rPr lang="en" sz="1500">
                <a:solidFill>
                  <a:schemeClr val="dk1"/>
                </a:solidFill>
              </a:rPr>
              <a:t> str1 = </a:t>
            </a:r>
            <a:r>
              <a:rPr lang="en" sz="1500">
                <a:solidFill>
                  <a:srgbClr val="1C55A7"/>
                </a:solidFill>
              </a:rPr>
              <a:t>new</a:t>
            </a:r>
            <a:r>
              <a:rPr lang="en" sz="1500">
                <a:solidFill>
                  <a:schemeClr val="dk1"/>
                </a:solidFill>
              </a:rPr>
              <a:t> String(“Hello”); </a:t>
            </a:r>
            <a:r>
              <a:rPr lang="en" sz="1500">
                <a:solidFill>
                  <a:srgbClr val="1C55A7"/>
                </a:solidFill>
              </a:rPr>
              <a:t>String</a:t>
            </a:r>
            <a:r>
              <a:rPr lang="en" sz="1500">
                <a:solidFill>
                  <a:schemeClr val="dk1"/>
                </a:solidFill>
              </a:rPr>
              <a:t> str2 = </a:t>
            </a:r>
            <a:r>
              <a:rPr lang="en" sz="1500">
                <a:solidFill>
                  <a:srgbClr val="1C55A7"/>
                </a:solidFill>
              </a:rPr>
              <a:t>new</a:t>
            </a:r>
            <a:r>
              <a:rPr lang="en" sz="1500">
                <a:solidFill>
                  <a:schemeClr val="dk1"/>
                </a:solidFill>
              </a:rPr>
              <a:t> String(“hello”);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Case Conversion</a:t>
            </a:r>
            <a:endParaRPr b="1"/>
          </a:p>
        </p:txBody>
      </p:sp>
      <p:sp>
        <p:nvSpPr>
          <p:cNvPr id="158" name="Google Shape;158;p25"/>
          <p:cNvSpPr txBox="1"/>
          <p:nvPr>
            <p:ph idx="1" type="body"/>
          </p:nvPr>
        </p:nvSpPr>
        <p:spPr>
          <a:xfrm>
            <a:off x="311700" y="1152475"/>
            <a:ext cx="4210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rgbClr val="DD4A68"/>
                </a:solidFill>
              </a:rPr>
              <a:t>.toLowerCase()</a:t>
            </a:r>
            <a:endParaRPr>
              <a:solidFill>
                <a:srgbClr val="DD4A68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Converts all characters to lowercase letters.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D4A68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rgbClr val="DD4A68"/>
                </a:solidFill>
              </a:rPr>
              <a:t>.toUpperCase()</a:t>
            </a:r>
            <a:endParaRPr>
              <a:solidFill>
                <a:srgbClr val="DD4A68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Converts all characters to uppercase letters.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9" name="Google Shape;159;p25"/>
          <p:cNvSpPr txBox="1"/>
          <p:nvPr/>
        </p:nvSpPr>
        <p:spPr>
          <a:xfrm>
            <a:off x="4522500" y="1658000"/>
            <a:ext cx="4305300" cy="1158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6225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str1 = </a:t>
            </a:r>
            <a:r>
              <a:rPr lang="en" sz="10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"LearNinG IS Fun"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225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str1_lower= str1.toLowerCase()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225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str1_upper = str1.toUpperCase() 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225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System.out.println(str1_lower)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225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System.out.println(str1_upper)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0" name="Google Shape;160;p25"/>
          <p:cNvSpPr txBox="1"/>
          <p:nvPr/>
        </p:nvSpPr>
        <p:spPr>
          <a:xfrm>
            <a:off x="4522500" y="2816297"/>
            <a:ext cx="4305300" cy="938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learning is fun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LEARNING IS FUN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.charAt(index) </a:t>
            </a:r>
            <a:r>
              <a:rPr b="1" lang="en"/>
              <a:t>Method</a:t>
            </a:r>
            <a:endParaRPr b="1"/>
          </a:p>
        </p:txBody>
      </p:sp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311700" y="1017725"/>
            <a:ext cx="4061100" cy="20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D4A68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rgbClr val="DD4A68"/>
                </a:solidFill>
              </a:rPr>
              <a:t>.charAt(index)</a:t>
            </a:r>
            <a:endParaRPr>
              <a:solidFill>
                <a:srgbClr val="DD4A68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Returns the character at index value passed as argument.</a:t>
            </a:r>
            <a:r>
              <a:rPr lang="en" sz="1600">
                <a:solidFill>
                  <a:srgbClr val="DD4A68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4572000" y="1530050"/>
            <a:ext cx="4305300" cy="57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str1 = </a:t>
            </a:r>
            <a:r>
              <a:rPr lang="en" sz="10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"Hello World"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System.out.println(str1.charAt(3))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8" name="Google Shape;168;p26"/>
          <p:cNvSpPr txBox="1"/>
          <p:nvPr/>
        </p:nvSpPr>
        <p:spPr>
          <a:xfrm>
            <a:off x="4572000" y="2102750"/>
            <a:ext cx="4305300" cy="74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ASCII values</a:t>
            </a:r>
            <a:endParaRPr b="1"/>
          </a:p>
        </p:txBody>
      </p:sp>
      <p:sp>
        <p:nvSpPr>
          <p:cNvPr id="174" name="Google Shape;174;p27"/>
          <p:cNvSpPr txBox="1"/>
          <p:nvPr>
            <p:ph idx="1" type="body"/>
          </p:nvPr>
        </p:nvSpPr>
        <p:spPr>
          <a:xfrm>
            <a:off x="311700" y="1152475"/>
            <a:ext cx="8371800" cy="30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Unique Unicode value assigned to all keyboard characters.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Range of ASCII values of uppercase characters (‘A’ to ‘Z’): </a:t>
            </a:r>
            <a:r>
              <a:rPr lang="en" sz="1600">
                <a:solidFill>
                  <a:srgbClr val="0000FF"/>
                </a:solidFill>
              </a:rPr>
              <a:t>65 - 90</a:t>
            </a:r>
            <a:endParaRPr sz="1600">
              <a:solidFill>
                <a:srgbClr val="0000F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Range of ASCII values of uppercase characters (‘A’ to ‘Z’): </a:t>
            </a:r>
            <a:r>
              <a:rPr lang="en" sz="1600">
                <a:solidFill>
                  <a:srgbClr val="0000FF"/>
                </a:solidFill>
              </a:rPr>
              <a:t>97 - 122</a:t>
            </a:r>
            <a:endParaRPr sz="1600">
              <a:solidFill>
                <a:srgbClr val="0000F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ASCII value of space: </a:t>
            </a:r>
            <a:r>
              <a:rPr lang="en" sz="1600">
                <a:solidFill>
                  <a:srgbClr val="0000FF"/>
                </a:solidFill>
              </a:rPr>
              <a:t>32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See more from: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https://www.cs.cmu.edu/~pattis/15-1XX/common/handouts/ascii.html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Converting a Character to ASCII Value</a:t>
            </a:r>
            <a:endParaRPr b="1"/>
          </a:p>
        </p:txBody>
      </p:sp>
      <p:sp>
        <p:nvSpPr>
          <p:cNvPr id="180" name="Google Shape;180;p28"/>
          <p:cNvSpPr txBox="1"/>
          <p:nvPr/>
        </p:nvSpPr>
        <p:spPr>
          <a:xfrm>
            <a:off x="5181325" y="1913575"/>
            <a:ext cx="3842100" cy="74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67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1" name="Google Shape;181;p28"/>
          <p:cNvSpPr txBox="1"/>
          <p:nvPr/>
        </p:nvSpPr>
        <p:spPr>
          <a:xfrm>
            <a:off x="5181325" y="1152475"/>
            <a:ext cx="3842100" cy="761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str1 = </a:t>
            </a:r>
            <a:r>
              <a:rPr lang="en" sz="10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"CSE110"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unicode_str1 = str1.codePointAt(0);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System.out.println(unicode_str1)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2" name="Google Shape;182;p28"/>
          <p:cNvSpPr txBox="1"/>
          <p:nvPr>
            <p:ph idx="1" type="body"/>
          </p:nvPr>
        </p:nvSpPr>
        <p:spPr>
          <a:xfrm>
            <a:off x="311700" y="1152475"/>
            <a:ext cx="4574700" cy="28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rgbClr val="DD4A68"/>
                </a:solidFill>
              </a:rPr>
              <a:t>.codePointAt(index) </a:t>
            </a:r>
            <a:endParaRPr>
              <a:solidFill>
                <a:srgbClr val="DD4A68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Takes an index of a string as a parameter and returns the ASCII value of the character of that index.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rgbClr val="DD4A68"/>
                </a:solidFill>
              </a:rPr>
              <a:t>int(chr)</a:t>
            </a:r>
            <a:endParaRPr>
              <a:solidFill>
                <a:srgbClr val="DD4A68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Can simply cast a character as an integer.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 i="1" sz="1400">
              <a:solidFill>
                <a:schemeClr val="dk1"/>
              </a:solidFill>
            </a:endParaRPr>
          </a:p>
        </p:txBody>
      </p:sp>
      <p:sp>
        <p:nvSpPr>
          <p:cNvPr id="183" name="Google Shape;183;p28"/>
          <p:cNvSpPr txBox="1"/>
          <p:nvPr/>
        </p:nvSpPr>
        <p:spPr>
          <a:xfrm>
            <a:off x="5181325" y="3546675"/>
            <a:ext cx="3842100" cy="74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4" name="Google Shape;184;p28"/>
          <p:cNvSpPr txBox="1"/>
          <p:nvPr/>
        </p:nvSpPr>
        <p:spPr>
          <a:xfrm>
            <a:off x="5181325" y="2785575"/>
            <a:ext cx="3842100" cy="761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har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c1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0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unicode_c1 = int(c1);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System.out.println(unicode_c1)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453850" y="3668525"/>
            <a:ext cx="44931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Can you now try to figure out how you can convert an uppercase character to its equivalent lowercase character using the knowledge you gained on ASCII values so far?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</a:t>
            </a:r>
            <a:endParaRPr/>
          </a:p>
        </p:txBody>
      </p:sp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Write a Java program to compare two strings lexicographically. You cannot use any built in function except length().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Write a Java program to test if a given string contains the specified sequence of char values.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Write a Java program to check whether a given string ends with another string.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Write a Java program to replace a specified character with another character.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Write a Java program to get a substring of a given string at two specified positions.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Write a Java program to convert all characters in a string to lowercase.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Write a Java program to print the result of removing duplicates from a given string.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/>
        </p:nvSpPr>
        <p:spPr>
          <a:xfrm>
            <a:off x="311700" y="2098350"/>
            <a:ext cx="852060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300">
                <a:solidFill>
                  <a:srgbClr val="000000"/>
                </a:solidFill>
              </a:rPr>
              <a:t>THANK YOU!</a:t>
            </a:r>
            <a:endParaRPr b="1" sz="3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