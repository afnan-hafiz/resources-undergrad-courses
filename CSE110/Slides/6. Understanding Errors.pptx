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513c20193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513c20193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513c20193a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513c20193a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513c20193a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513c20193a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29247004e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29247004e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516c6f90b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2516c6f90b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16c6f90b2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516c6f90b2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513c20193a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513c20193a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516c6f90b2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516c6f90b2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513c20193a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513c20193a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292a5e8ce6_2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292a5e8ce6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683672ac1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683672ac1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683672ac1e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683672ac1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527819472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527819472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Errors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What is an error?</a:t>
            </a:r>
            <a:endParaRPr b="1"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 problem or exception that occurs during the execution of a program.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Prevents the program from functioning correctly.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Remains undetected until the program is compiled or run.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367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Types of Errors </a:t>
            </a:r>
            <a:endParaRPr b="1"/>
          </a:p>
        </p:txBody>
      </p:sp>
      <p:sp>
        <p:nvSpPr>
          <p:cNvPr id="66" name="Google Shape;66;p15"/>
          <p:cNvSpPr/>
          <p:nvPr/>
        </p:nvSpPr>
        <p:spPr>
          <a:xfrm flipH="1">
            <a:off x="3842859" y="1343150"/>
            <a:ext cx="1249500" cy="7053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/>
              <a:t>Errors</a:t>
            </a:r>
            <a:endParaRPr b="1" sz="1700"/>
          </a:p>
        </p:txBody>
      </p:sp>
      <p:sp>
        <p:nvSpPr>
          <p:cNvPr id="67" name="Google Shape;67;p15"/>
          <p:cNvSpPr/>
          <p:nvPr/>
        </p:nvSpPr>
        <p:spPr>
          <a:xfrm flipH="1">
            <a:off x="5539850" y="3424887"/>
            <a:ext cx="1249500" cy="705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Runtime</a:t>
            </a:r>
            <a:endParaRPr b="1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Errors</a:t>
            </a:r>
            <a:endParaRPr b="1"/>
          </a:p>
        </p:txBody>
      </p:sp>
      <p:sp>
        <p:nvSpPr>
          <p:cNvPr id="68" name="Google Shape;68;p15"/>
          <p:cNvSpPr/>
          <p:nvPr/>
        </p:nvSpPr>
        <p:spPr>
          <a:xfrm flipH="1">
            <a:off x="3842846" y="3424887"/>
            <a:ext cx="1249500" cy="705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Logical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Errors</a:t>
            </a:r>
            <a:endParaRPr b="1"/>
          </a:p>
        </p:txBody>
      </p:sp>
      <p:sp>
        <p:nvSpPr>
          <p:cNvPr id="69" name="Google Shape;69;p15"/>
          <p:cNvSpPr/>
          <p:nvPr/>
        </p:nvSpPr>
        <p:spPr>
          <a:xfrm flipH="1">
            <a:off x="2354658" y="3424887"/>
            <a:ext cx="1249500" cy="705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Syntax </a:t>
            </a:r>
            <a:endParaRPr b="1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Errors</a:t>
            </a:r>
            <a:endParaRPr b="1"/>
          </a:p>
        </p:txBody>
      </p:sp>
      <p:cxnSp>
        <p:nvCxnSpPr>
          <p:cNvPr id="70" name="Google Shape;70;p15"/>
          <p:cNvCxnSpPr>
            <a:stCxn id="66" idx="2"/>
            <a:endCxn id="69" idx="0"/>
          </p:cNvCxnSpPr>
          <p:nvPr/>
        </p:nvCxnSpPr>
        <p:spPr>
          <a:xfrm flipH="1">
            <a:off x="2979309" y="2048450"/>
            <a:ext cx="1488300" cy="1376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1" name="Google Shape;71;p15"/>
          <p:cNvCxnSpPr>
            <a:stCxn id="66" idx="2"/>
            <a:endCxn id="68" idx="0"/>
          </p:cNvCxnSpPr>
          <p:nvPr/>
        </p:nvCxnSpPr>
        <p:spPr>
          <a:xfrm>
            <a:off x="4467609" y="2048450"/>
            <a:ext cx="0" cy="1376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2" name="Google Shape;72;p15"/>
          <p:cNvCxnSpPr>
            <a:stCxn id="66" idx="2"/>
            <a:endCxn id="67" idx="0"/>
          </p:cNvCxnSpPr>
          <p:nvPr/>
        </p:nvCxnSpPr>
        <p:spPr>
          <a:xfrm>
            <a:off x="4467609" y="2048450"/>
            <a:ext cx="1697100" cy="1376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Syntax </a:t>
            </a:r>
            <a:r>
              <a:rPr b="1" lang="en"/>
              <a:t>Errors</a:t>
            </a:r>
            <a:endParaRPr b="1"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Occurs when the code violates the rules of the Java programming language's syntax.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Also known as compile-time error.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rgbClr val="0000FF"/>
                </a:solidFill>
              </a:rPr>
              <a:t>Consequence:</a:t>
            </a:r>
            <a:r>
              <a:rPr lang="en" sz="1600">
                <a:solidFill>
                  <a:schemeClr val="dk1"/>
                </a:solidFill>
              </a:rPr>
              <a:t> The program cannot be successfully compiled and needs to be fixed before it can be executed.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Easy to identify because the Compiler explicitly mentions the error when compiling the code.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b="1" lang="en"/>
              <a:t>Syntax Errors (Continued)</a:t>
            </a:r>
            <a:endParaRPr/>
          </a:p>
        </p:txBody>
      </p:sp>
      <p:sp>
        <p:nvSpPr>
          <p:cNvPr id="84" name="Google Shape;84;p17"/>
          <p:cNvSpPr txBox="1"/>
          <p:nvPr/>
        </p:nvSpPr>
        <p:spPr>
          <a:xfrm>
            <a:off x="1453975" y="1479425"/>
            <a:ext cx="6136200" cy="1693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ourier New"/>
              <a:buAutoNum type="arabicPeriod"/>
            </a:pPr>
            <a:r>
              <a:rPr lang="en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HelloWorld {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ourier New"/>
              <a:buAutoNum type="arabicPeriod"/>
            </a:pPr>
            <a:r>
              <a:rPr lang="en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 public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void main (String[] args) 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ourier New"/>
              <a:buAutoNum type="arabicPeriod"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>
                <a:solidFill>
                  <a:schemeClr val="dk1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System.out.println(</a:t>
            </a:r>
            <a:r>
              <a:rPr lang="en">
                <a:solidFill>
                  <a:srgbClr val="FF0000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"Hello, World!"</a:t>
            </a:r>
            <a:r>
              <a:rPr lang="en">
                <a:solidFill>
                  <a:schemeClr val="dk1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>
              <a:solidFill>
                <a:schemeClr val="dk1"/>
              </a:solidFill>
              <a:highlight>
                <a:schemeClr val="accent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ourier New"/>
              <a:buAutoNum type="arabicPeriod"/>
            </a:pPr>
            <a:r>
              <a:rPr lang="en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ourier New"/>
              <a:buAutoNum type="arabicPeriod"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1453975" y="3172625"/>
            <a:ext cx="6136200" cy="1046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 error found: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File:C:\Users\Desktop\SyntaxError.java[line:3]</a:t>
            </a:r>
            <a:endParaRPr>
              <a:solidFill>
                <a:schemeClr val="dk1"/>
              </a:solidFill>
              <a:highlight>
                <a:schemeClr val="accent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Error: ')' expected</a:t>
            </a:r>
            <a:endParaRPr>
              <a:solidFill>
                <a:schemeClr val="dk1"/>
              </a:solidFill>
              <a:highlight>
                <a:schemeClr val="accent6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b="1" lang="en"/>
              <a:t>Syntax Errors (Continued)</a:t>
            </a:r>
            <a:endParaRPr/>
          </a:p>
        </p:txBody>
      </p:sp>
      <p:sp>
        <p:nvSpPr>
          <p:cNvPr id="91" name="Google Shape;91;p18"/>
          <p:cNvSpPr txBox="1"/>
          <p:nvPr/>
        </p:nvSpPr>
        <p:spPr>
          <a:xfrm>
            <a:off x="1453975" y="1479425"/>
            <a:ext cx="6136200" cy="1693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ourier New"/>
              <a:buAutoNum type="arabicPeriod"/>
            </a:pPr>
            <a:r>
              <a:rPr lang="en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SyntaxError {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ourier New"/>
              <a:buAutoNum type="arabicPeriod"/>
            </a:pPr>
            <a:r>
              <a:rPr lang="en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 public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void main (String[] args) 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ourier New"/>
              <a:buAutoNum type="arabicPeriod"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>
                <a:solidFill>
                  <a:schemeClr val="dk1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int x = 10</a:t>
            </a:r>
            <a:endParaRPr>
              <a:solidFill>
                <a:schemeClr val="dk1"/>
              </a:solidFill>
              <a:highlight>
                <a:schemeClr val="accent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ourier New"/>
              <a:buAutoNum type="arabicPeriod"/>
            </a:pPr>
            <a:r>
              <a:rPr lang="en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ourier New"/>
              <a:buAutoNum type="arabicPeriod"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2" name="Google Shape;92;p18"/>
          <p:cNvSpPr txBox="1"/>
          <p:nvPr/>
        </p:nvSpPr>
        <p:spPr>
          <a:xfrm>
            <a:off x="1453975" y="3172625"/>
            <a:ext cx="6136200" cy="1046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 error found: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File:C:\Users\Desktop\SyntaxError.java[line:3]</a:t>
            </a:r>
            <a:endParaRPr>
              <a:solidFill>
                <a:schemeClr val="dk1"/>
              </a:solidFill>
              <a:highlight>
                <a:schemeClr val="accent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Error: </a:t>
            </a:r>
            <a:r>
              <a:rPr lang="en">
                <a:solidFill>
                  <a:schemeClr val="dk1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';' expected</a:t>
            </a:r>
            <a:endParaRPr>
              <a:solidFill>
                <a:schemeClr val="dk1"/>
              </a:solidFill>
              <a:highlight>
                <a:schemeClr val="accent6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b="1" lang="en"/>
              <a:t>Syntax Errors (Continued)</a:t>
            </a:r>
            <a:endParaRPr/>
          </a:p>
        </p:txBody>
      </p:sp>
      <p:sp>
        <p:nvSpPr>
          <p:cNvPr id="98" name="Google Shape;98;p19"/>
          <p:cNvSpPr txBox="1"/>
          <p:nvPr/>
        </p:nvSpPr>
        <p:spPr>
          <a:xfrm>
            <a:off x="1428250" y="1337975"/>
            <a:ext cx="6136200" cy="1693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AutoNum type="arabicPeriod"/>
            </a:pPr>
            <a:r>
              <a:rPr lang="en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SyntaxErrorExample2 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AutoNum type="arabicPeriod"/>
            </a:pPr>
            <a:r>
              <a:rPr lang="en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 public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void main (String[] args) 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AutoNum type="arabicPeriod"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>
                <a:solidFill>
                  <a:schemeClr val="dk1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System.out.println(value);</a:t>
            </a:r>
            <a:endParaRPr>
              <a:solidFill>
                <a:schemeClr val="dk1"/>
              </a:solidFill>
              <a:highlight>
                <a:schemeClr val="accent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AutoNum type="arabicPeriod"/>
            </a:pPr>
            <a:r>
              <a:rPr lang="en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AutoNum type="arabicPeriod"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9" name="Google Shape;99;p19"/>
          <p:cNvSpPr txBox="1"/>
          <p:nvPr/>
        </p:nvSpPr>
        <p:spPr>
          <a:xfrm>
            <a:off x="1428250" y="3031175"/>
            <a:ext cx="6136200" cy="1693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 error found: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File:C:\Users\Desktop\SyntaxErrorExample2.java[line:3]</a:t>
            </a:r>
            <a:endParaRPr>
              <a:solidFill>
                <a:schemeClr val="dk1"/>
              </a:solidFill>
              <a:highlight>
                <a:schemeClr val="accent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Error: cannot find symbol</a:t>
            </a:r>
            <a:endParaRPr>
              <a:solidFill>
                <a:schemeClr val="dk1"/>
              </a:solidFill>
              <a:highlight>
                <a:schemeClr val="accent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 symbol: variable value</a:t>
            </a:r>
            <a:endParaRPr>
              <a:solidFill>
                <a:schemeClr val="dk1"/>
              </a:solidFill>
              <a:highlight>
                <a:schemeClr val="accent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chemeClr val="dk1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lang="en">
                <a:solidFill>
                  <a:schemeClr val="dk1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ocation: class </a:t>
            </a:r>
            <a:r>
              <a:rPr lang="en">
                <a:solidFill>
                  <a:schemeClr val="dk1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SyntaxErrorExample2</a:t>
            </a:r>
            <a:endParaRPr>
              <a:solidFill>
                <a:schemeClr val="dk1"/>
              </a:solidFill>
              <a:highlight>
                <a:schemeClr val="accent6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Logical </a:t>
            </a:r>
            <a:r>
              <a:rPr b="1" lang="en"/>
              <a:t>Error</a:t>
            </a:r>
            <a:endParaRPr b="1"/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Refers to a mistake in the program's logic that leads to incorrect results.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Can’t detect during runtime or compile time. 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Hardest to identify.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b="1" lang="en"/>
              <a:t>Logical </a:t>
            </a:r>
            <a:r>
              <a:rPr b="1" lang="en"/>
              <a:t>Errors (Continued)</a:t>
            </a:r>
            <a:endParaRPr/>
          </a:p>
        </p:txBody>
      </p:sp>
      <p:sp>
        <p:nvSpPr>
          <p:cNvPr id="111" name="Google Shape;111;p21"/>
          <p:cNvSpPr txBox="1"/>
          <p:nvPr/>
        </p:nvSpPr>
        <p:spPr>
          <a:xfrm>
            <a:off x="830550" y="1084413"/>
            <a:ext cx="7482900" cy="2016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AutoNum type="arabicPeriod"/>
            </a:pPr>
            <a:r>
              <a:rPr lang="en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LogicalError 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AutoNum type="arabicPeriod"/>
            </a:pPr>
            <a:r>
              <a:rPr lang="en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 public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void main (String[] args) 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AutoNum type="arabicPeriod"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num1 = 10, num2 = 20;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AutoNum type="arabicPeriod"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System.out.println("Summation = " + (num1-num2));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AutoNum type="arabicPeriod"/>
            </a:pPr>
            <a:r>
              <a:rPr lang="en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AutoNum type="arabicPeriod"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2" name="Google Shape;112;p21"/>
          <p:cNvSpPr txBox="1"/>
          <p:nvPr/>
        </p:nvSpPr>
        <p:spPr>
          <a:xfrm>
            <a:off x="830550" y="3100725"/>
            <a:ext cx="7482900" cy="1046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Welcome to DrJava. 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Working directory is C:\Users\Desktop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 run </a:t>
            </a:r>
            <a:r>
              <a:rPr lang="en">
                <a:solidFill>
                  <a:srgbClr val="1C4587"/>
                </a:solidFill>
                <a:latin typeface="Courier New"/>
                <a:ea typeface="Courier New"/>
                <a:cs typeface="Courier New"/>
                <a:sym typeface="Courier New"/>
              </a:rPr>
              <a:t>LogicalError</a:t>
            </a:r>
            <a:endParaRPr>
              <a:solidFill>
                <a:srgbClr val="1C458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4E13"/>
                </a:solidFill>
                <a:latin typeface="Courier New"/>
                <a:ea typeface="Courier New"/>
                <a:cs typeface="Courier New"/>
                <a:sym typeface="Courier New"/>
              </a:rPr>
              <a:t>Summation = -10</a:t>
            </a:r>
            <a:endParaRPr>
              <a:solidFill>
                <a:srgbClr val="274E13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3" name="Google Shape;113;p21"/>
          <p:cNvSpPr txBox="1"/>
          <p:nvPr/>
        </p:nvSpPr>
        <p:spPr>
          <a:xfrm>
            <a:off x="830550" y="4325800"/>
            <a:ext cx="766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FFFF00"/>
                </a:highlight>
              </a:rPr>
              <a:t>This program won’t show any error but it is logically incorrect because the output should be 30.</a:t>
            </a:r>
            <a:endParaRPr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Runtime Errors</a:t>
            </a:r>
            <a:endParaRPr b="1"/>
          </a:p>
        </p:txBody>
      </p:sp>
      <p:sp>
        <p:nvSpPr>
          <p:cNvPr id="119" name="Google Shape;11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</a:t>
            </a:r>
            <a:r>
              <a:rPr lang="en" sz="1600">
                <a:solidFill>
                  <a:schemeClr val="dk1"/>
                </a:solidFill>
              </a:rPr>
              <a:t>rrors that occur while running the program.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Not caught during Compilation time.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Quite common type of errors but easily traceable.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FF"/>
                </a:solidFill>
              </a:rPr>
              <a:t>N.B. You’ll learn more about Exceptions in the later courses.</a:t>
            </a:r>
            <a:endParaRPr sz="140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b="1" lang="en"/>
              <a:t>Runtime</a:t>
            </a:r>
            <a:r>
              <a:rPr b="1" lang="en"/>
              <a:t> Errors (Continued)</a:t>
            </a:r>
            <a:endParaRPr/>
          </a:p>
        </p:txBody>
      </p:sp>
      <p:sp>
        <p:nvSpPr>
          <p:cNvPr id="125" name="Google Shape;125;p23"/>
          <p:cNvSpPr txBox="1"/>
          <p:nvPr/>
        </p:nvSpPr>
        <p:spPr>
          <a:xfrm>
            <a:off x="830550" y="1084413"/>
            <a:ext cx="7482900" cy="20163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AutoNum type="arabicPeriod"/>
            </a:pPr>
            <a:r>
              <a:rPr lang="en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RuntimeError 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AutoNum type="arabicPeriod"/>
            </a:pPr>
            <a:r>
              <a:rPr lang="en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 public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void main (String[] args) 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AutoNum type="arabicPeriod"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num1 = 10;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AutoNum type="arabicPeriod"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System.out.println("Division = " + (num1/0) 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AutoNum type="arabicPeriod"/>
            </a:pPr>
            <a:r>
              <a:rPr lang="en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AutoNum type="arabicPeriod"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6" name="Google Shape;126;p23"/>
          <p:cNvSpPr txBox="1"/>
          <p:nvPr/>
        </p:nvSpPr>
        <p:spPr>
          <a:xfrm>
            <a:off x="830550" y="3100725"/>
            <a:ext cx="7482900" cy="1046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Welcome to DrJava.  Working directory is /home/iqra/Documents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 run </a:t>
            </a:r>
            <a:r>
              <a:rPr lang="en">
                <a:solidFill>
                  <a:srgbClr val="1C4587"/>
                </a:solidFill>
                <a:latin typeface="Courier New"/>
                <a:ea typeface="Courier New"/>
                <a:cs typeface="Courier New"/>
                <a:sym typeface="Courier New"/>
              </a:rPr>
              <a:t>RuntimeError</a:t>
            </a:r>
            <a:endParaRPr>
              <a:solidFill>
                <a:srgbClr val="1C458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java.lang.ArithmeticException: / by zero</a:t>
            </a:r>
            <a:endParaRPr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7" name="Google Shape;127;p23"/>
          <p:cNvSpPr txBox="1"/>
          <p:nvPr/>
        </p:nvSpPr>
        <p:spPr>
          <a:xfrm>
            <a:off x="607100" y="4223050"/>
            <a:ext cx="8340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00"/>
                </a:highlight>
              </a:rPr>
              <a:t>This program won’t know there’s an error while compiling but when it tries to execute it’ll realize that an integer is being divided by 0 and will throw </a:t>
            </a:r>
            <a:r>
              <a:rPr lang="en">
                <a:solidFill>
                  <a:srgbClr val="FF0000"/>
                </a:solidFill>
                <a:highlight>
                  <a:srgbClr val="FFFF00"/>
                </a:highlight>
              </a:rPr>
              <a:t>ArithmeticException.</a:t>
            </a:r>
            <a:endParaRPr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Examples of Syntax Error</a:t>
            </a:r>
            <a:endParaRPr/>
          </a:p>
        </p:txBody>
      </p:sp>
      <p:pic>
        <p:nvPicPr>
          <p:cNvPr id="133" name="Google Shape;13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3725" y="1170150"/>
            <a:ext cx="6398300" cy="336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Examples of Runtime Error</a:t>
            </a:r>
            <a:endParaRPr/>
          </a:p>
        </p:txBody>
      </p:sp>
      <p:pic>
        <p:nvPicPr>
          <p:cNvPr id="139" name="Google Shape;13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6750" y="1477603"/>
            <a:ext cx="7149551" cy="259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>
            <p:ph idx="1" type="body"/>
          </p:nvPr>
        </p:nvSpPr>
        <p:spPr>
          <a:xfrm>
            <a:off x="311700" y="1939500"/>
            <a:ext cx="8520600" cy="94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3300">
                <a:solidFill>
                  <a:schemeClr val="dk1"/>
                </a:solidFill>
              </a:rPr>
              <a:t>THANK YOU!</a:t>
            </a:r>
            <a:endParaRPr b="1" sz="3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