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53B6B3-1717-4198-8763-C23DE8E71112}">
  <a:tblStyle styleId="{4253B6B3-1717-4198-8763-C23DE8E711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DCF3FD"/>
          </a:solidFill>
        </a:fill>
      </a:tcStyle>
    </a:wholeTbl>
    <a:band1H>
      <a:tcTxStyle/>
      <a:tcStyle>
        <a:fill>
          <a:solidFill>
            <a:srgbClr val="F2F2F2"/>
          </a:solidFill>
        </a:fill>
      </a:tcStyle>
    </a:band1H>
    <a:band2H>
      <a:tcTxStyle/>
    </a:band2H>
    <a:band1V>
      <a:tcTxStyle/>
      <a:tcStyle>
        <a:fill>
          <a:solidFill>
            <a:srgbClr val="F2F2F2"/>
          </a:solidFill>
        </a:fill>
      </a:tcStyle>
    </a:band1V>
    <a:band2V>
      <a:tcTxStyle/>
    </a:band2V>
    <a:lastCol>
      <a:tcTxStyle b="on"/>
    </a:lastCol>
    <a:firstCol>
      <a:tcTxStyle b="on"/>
    </a:firstCol>
    <a:lastRow>
      <a:tcTxStyle b="on"/>
      <a:tcStyle>
        <a:tcBdr>
          <a:top>
            <a:ln cap="flat" cmpd="sng" w="635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/>
    </a:firstRow>
    <a:neCell>
      <a:tcTxStyle/>
    </a:neCell>
    <a:nwCell>
      <a:tcTxStyle/>
    </a:nwCell>
  </a:tblStyle>
  <a:tblStyle styleId="{29DCAB43-36E1-4263-8455-3B6101CE85D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0bc9b0143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0bc9b0143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50320ad8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50320ad8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8365788e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68365788e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0d3ab3ccd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50d3ab3ccd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50bc9b01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50bc9b01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514a63f9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514a63f9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514a63f9c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514a63f9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5111fe0e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5111fe0e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512031d362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512031d362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508e52a36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508e52a36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111fe0e1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5111fe0e1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5111fe0e1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5111fe0e1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68365788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68365788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68365788e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68365788e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68365788e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68365788e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68365788e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68365788e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8365788e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8365788e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68365788e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68365788e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68365788e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68365788e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511be6265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511be6265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cs.cmu.edu/~pattis/15-1XX/common/handouts/ascii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003000"/>
            <a:ext cx="8520600" cy="17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71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44"/>
              <a:t> Introduction to</a:t>
            </a:r>
            <a:endParaRPr sz="4044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44"/>
              <a:t> Variables </a:t>
            </a:r>
            <a:r>
              <a:rPr lang="en" sz="4044"/>
              <a:t>and Datatypes</a:t>
            </a:r>
            <a:endParaRPr sz="4044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Identifiers</a:t>
            </a:r>
            <a:endParaRPr b="1" sz="2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7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1155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Name assigned to a particular entity in a program.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be a </a:t>
            </a:r>
            <a:r>
              <a:rPr lang="en" sz="1600">
                <a:solidFill>
                  <a:schemeClr val="dk1"/>
                </a:solidFill>
              </a:rPr>
              <a:t>variable name, method name, class name, structure name etc.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1" name="Google Shape;61;p14"/>
          <p:cNvSpPr/>
          <p:nvPr/>
        </p:nvSpPr>
        <p:spPr>
          <a:xfrm>
            <a:off x="3780388" y="3076700"/>
            <a:ext cx="1502700" cy="503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Identifiers</a:t>
            </a:r>
            <a:endParaRPr sz="1500"/>
          </a:p>
        </p:txBody>
      </p:sp>
      <p:sp>
        <p:nvSpPr>
          <p:cNvPr id="62" name="Google Shape;62;p14"/>
          <p:cNvSpPr/>
          <p:nvPr/>
        </p:nvSpPr>
        <p:spPr>
          <a:xfrm>
            <a:off x="2064138" y="2191800"/>
            <a:ext cx="1502700" cy="503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Variables Names</a:t>
            </a:r>
            <a:endParaRPr sz="1500"/>
          </a:p>
        </p:txBody>
      </p:sp>
      <p:sp>
        <p:nvSpPr>
          <p:cNvPr id="63" name="Google Shape;63;p14"/>
          <p:cNvSpPr/>
          <p:nvPr/>
        </p:nvSpPr>
        <p:spPr>
          <a:xfrm>
            <a:off x="5577163" y="3880650"/>
            <a:ext cx="1502700" cy="503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Structure Names</a:t>
            </a:r>
            <a:endParaRPr sz="1500"/>
          </a:p>
        </p:txBody>
      </p:sp>
      <p:sp>
        <p:nvSpPr>
          <p:cNvPr id="64" name="Google Shape;64;p14"/>
          <p:cNvSpPr/>
          <p:nvPr/>
        </p:nvSpPr>
        <p:spPr>
          <a:xfrm>
            <a:off x="2064138" y="3869575"/>
            <a:ext cx="1502700" cy="503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Class Names</a:t>
            </a:r>
            <a:endParaRPr sz="1500"/>
          </a:p>
        </p:txBody>
      </p:sp>
      <p:sp>
        <p:nvSpPr>
          <p:cNvPr id="65" name="Google Shape;65;p14"/>
          <p:cNvSpPr/>
          <p:nvPr/>
        </p:nvSpPr>
        <p:spPr>
          <a:xfrm>
            <a:off x="5488663" y="2191800"/>
            <a:ext cx="1502700" cy="503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Methods Names</a:t>
            </a:r>
            <a:endParaRPr sz="1500"/>
          </a:p>
        </p:txBody>
      </p:sp>
      <p:cxnSp>
        <p:nvCxnSpPr>
          <p:cNvPr id="66" name="Google Shape;66;p14"/>
          <p:cNvCxnSpPr>
            <a:stCxn id="61" idx="1"/>
            <a:endCxn id="64" idx="0"/>
          </p:cNvCxnSpPr>
          <p:nvPr/>
        </p:nvCxnSpPr>
        <p:spPr>
          <a:xfrm flipH="1">
            <a:off x="2815588" y="3328550"/>
            <a:ext cx="964800" cy="54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Google Shape;67;p14"/>
          <p:cNvCxnSpPr>
            <a:stCxn id="61" idx="1"/>
            <a:endCxn id="62" idx="2"/>
          </p:cNvCxnSpPr>
          <p:nvPr/>
        </p:nvCxnSpPr>
        <p:spPr>
          <a:xfrm rot="10800000">
            <a:off x="2815588" y="2695550"/>
            <a:ext cx="964800" cy="63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4"/>
          <p:cNvCxnSpPr>
            <a:stCxn id="61" idx="3"/>
            <a:endCxn id="65" idx="2"/>
          </p:cNvCxnSpPr>
          <p:nvPr/>
        </p:nvCxnSpPr>
        <p:spPr>
          <a:xfrm flipH="1" rot="10800000">
            <a:off x="5283088" y="2695550"/>
            <a:ext cx="957000" cy="63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4"/>
          <p:cNvCxnSpPr>
            <a:stCxn id="61" idx="3"/>
            <a:endCxn id="63" idx="0"/>
          </p:cNvCxnSpPr>
          <p:nvPr/>
        </p:nvCxnSpPr>
        <p:spPr>
          <a:xfrm>
            <a:off x="5283088" y="3328550"/>
            <a:ext cx="1045500" cy="55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Variables</a:t>
            </a:r>
            <a:endParaRPr b="1" sz="2520"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972300"/>
            <a:ext cx="8520600" cy="41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 variable is a container </a:t>
            </a:r>
            <a:r>
              <a:rPr lang="en" sz="1600">
                <a:solidFill>
                  <a:schemeClr val="dk1"/>
                </a:solidFill>
              </a:rPr>
              <a:t>which is </a:t>
            </a:r>
            <a:r>
              <a:rPr lang="en" sz="1600">
                <a:solidFill>
                  <a:schemeClr val="dk1"/>
                </a:solidFill>
              </a:rPr>
              <a:t>used to store data.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 kind of identifier.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</a:rPr>
              <a:t>Each variable has a specific data type.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1671025" y="3159400"/>
            <a:ext cx="210300" cy="342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2664100" y="3159400"/>
            <a:ext cx="210300" cy="342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3839200" y="3159400"/>
            <a:ext cx="210300" cy="342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1107600" y="2697700"/>
            <a:ext cx="3505800" cy="461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int   student_id   =   1234;</a:t>
            </a:r>
            <a:endParaRPr sz="1600"/>
          </a:p>
        </p:txBody>
      </p:sp>
      <p:sp>
        <p:nvSpPr>
          <p:cNvPr id="80" name="Google Shape;80;p15"/>
          <p:cNvSpPr txBox="1"/>
          <p:nvPr/>
        </p:nvSpPr>
        <p:spPr>
          <a:xfrm>
            <a:off x="1355900" y="3502300"/>
            <a:ext cx="99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Datatype</a:t>
            </a:r>
            <a:endParaRPr b="1" sz="1300"/>
          </a:p>
        </p:txBody>
      </p:sp>
      <p:sp>
        <p:nvSpPr>
          <p:cNvPr id="81" name="Google Shape;81;p15"/>
          <p:cNvSpPr txBox="1"/>
          <p:nvPr/>
        </p:nvSpPr>
        <p:spPr>
          <a:xfrm>
            <a:off x="2207651" y="3502300"/>
            <a:ext cx="149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Variable_Name</a:t>
            </a:r>
            <a:endParaRPr b="1" sz="1300"/>
          </a:p>
        </p:txBody>
      </p:sp>
      <p:sp>
        <p:nvSpPr>
          <p:cNvPr id="82" name="Google Shape;82;p15"/>
          <p:cNvSpPr txBox="1"/>
          <p:nvPr/>
        </p:nvSpPr>
        <p:spPr>
          <a:xfrm>
            <a:off x="3623650" y="3502300"/>
            <a:ext cx="73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Value</a:t>
            </a:r>
            <a:endParaRPr b="1" sz="1300"/>
          </a:p>
        </p:txBody>
      </p:sp>
      <p:sp>
        <p:nvSpPr>
          <p:cNvPr id="83" name="Google Shape;83;p15"/>
          <p:cNvSpPr/>
          <p:nvPr/>
        </p:nvSpPr>
        <p:spPr>
          <a:xfrm>
            <a:off x="6323150" y="2697700"/>
            <a:ext cx="1128050" cy="1398350"/>
          </a:xfrm>
          <a:prstGeom prst="flowChartMagneticDisk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1234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6323150" y="1755400"/>
            <a:ext cx="1821300" cy="724500"/>
          </a:xfrm>
          <a:prstGeom prst="wedgeRectCallout">
            <a:avLst>
              <a:gd fmla="val -22726" name="adj1"/>
              <a:gd fmla="val 74141" name="adj2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Container named “student_id” holding a value 1234</a:t>
            </a:r>
            <a:endParaRPr sz="1300"/>
          </a:p>
        </p:txBody>
      </p:sp>
      <p:sp>
        <p:nvSpPr>
          <p:cNvPr id="85" name="Google Shape;85;p15"/>
          <p:cNvSpPr txBox="1"/>
          <p:nvPr/>
        </p:nvSpPr>
        <p:spPr>
          <a:xfrm>
            <a:off x="6397825" y="4092600"/>
            <a:ext cx="112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student_id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 sz="2520"/>
              <a:t>Variables (contd.)</a:t>
            </a:r>
            <a:endParaRPr/>
          </a:p>
        </p:txBody>
      </p:sp>
      <p:graphicFrame>
        <p:nvGraphicFramePr>
          <p:cNvPr id="91" name="Google Shape;91;p16"/>
          <p:cNvGraphicFramePr/>
          <p:nvPr/>
        </p:nvGraphicFramePr>
        <p:xfrm>
          <a:off x="2504538" y="390995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{4253B6B3-1717-4198-8763-C23DE8E71112}</a:tableStyleId>
              </a:tblPr>
              <a:tblGrid>
                <a:gridCol w="2140950"/>
                <a:gridCol w="1993975"/>
              </a:tblGrid>
              <a:tr h="65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 a;  	</a:t>
                      </a:r>
                      <a:r>
                        <a:rPr lang="en" sz="1500">
                          <a:solidFill>
                            <a:srgbClr val="3152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//declaration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a= 5;   	</a:t>
                      </a:r>
                      <a:r>
                        <a:rPr lang="en" sz="1500">
                          <a:solidFill>
                            <a:srgbClr val="3152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//assignment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 a = 5; </a:t>
                      </a:r>
                      <a:r>
                        <a:rPr lang="en">
                          <a:solidFill>
                            <a:srgbClr val="3152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//initialization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" name="Google Shape;92;p16"/>
          <p:cNvSpPr txBox="1"/>
          <p:nvPr/>
        </p:nvSpPr>
        <p:spPr>
          <a:xfrm>
            <a:off x="311700" y="1208525"/>
            <a:ext cx="8052300" cy="2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600"/>
              <a:t>Declaration</a:t>
            </a:r>
            <a:r>
              <a:rPr lang="en" sz="1600"/>
              <a:t>: Allocating memory space while specifying the datatype of a variable.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600"/>
              <a:t>Assignment</a:t>
            </a:r>
            <a:r>
              <a:rPr lang="en" sz="1600"/>
              <a:t>: Assigning a value to a variable.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b="1" lang="en" sz="1600"/>
              <a:t>Initialization</a:t>
            </a:r>
            <a:r>
              <a:rPr lang="en" sz="1600"/>
              <a:t>: Allocating memory space while specifying the datatype and assigning a value.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Variables Initialization</a:t>
            </a:r>
            <a:endParaRPr b="1"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Syntax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&lt;datatype&gt;  &lt;variable_name&gt; = &lt;value&gt; &lt;format_specifiers&gt;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[Format specifiers only for double and float data type]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Example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99" name="Google Shape;99;p17"/>
          <p:cNvGraphicFramePr/>
          <p:nvPr/>
        </p:nvGraphicFramePr>
        <p:xfrm>
          <a:off x="1571950" y="315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{29DCAB43-36E1-4263-8455-3B6101CE85D5}</a:tableStyleId>
              </a:tblPr>
              <a:tblGrid>
                <a:gridCol w="2586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int  number = 25;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 char var = ‘H’;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 double value = 2.56d;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Variable Naming Conventions</a:t>
            </a:r>
            <a:endParaRPr b="1" sz="2520"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00" y="1152475"/>
            <a:ext cx="8520600" cy="3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Must begin with letters (A-Z, a-z), dollar sign ($) or underscore ( _ ).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Ex: </a:t>
            </a:r>
            <a:r>
              <a:rPr lang="en" sz="1600">
                <a:solidFill>
                  <a:schemeClr val="dk1"/>
                </a:solidFill>
              </a:rPr>
              <a:t>int number = 90;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not start with numbers or special </a:t>
            </a:r>
            <a:r>
              <a:rPr lang="en" sz="1600">
                <a:solidFill>
                  <a:schemeClr val="dk1"/>
                </a:solidFill>
              </a:rPr>
              <a:t>characters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Ex: int %name = 88;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Ex: </a:t>
            </a:r>
            <a:r>
              <a:rPr lang="en" sz="1600">
                <a:solidFill>
                  <a:schemeClr val="dk1"/>
                </a:solidFill>
              </a:rPr>
              <a:t>i</a:t>
            </a:r>
            <a:r>
              <a:rPr lang="en" sz="1600">
                <a:solidFill>
                  <a:schemeClr val="dk1"/>
                </a:solidFill>
              </a:rPr>
              <a:t>nt 1name = 70;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Can have numbers except at the start (0-</a:t>
            </a: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9</a:t>
            </a: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).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Ex: int num1 = 10;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3201825" y="2672713"/>
            <a:ext cx="780000" cy="4002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Wrong</a:t>
            </a:r>
            <a:endParaRPr/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6700" y="2705735"/>
            <a:ext cx="334150" cy="33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Variable Naming Conventions </a:t>
            </a:r>
            <a:r>
              <a:rPr b="1" lang="en" sz="2520"/>
              <a:t>(Contd)</a:t>
            </a:r>
            <a:endParaRPr b="1" sz="2520"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11700" y="1152475"/>
            <a:ext cx="8232600" cy="3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Case sensitive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Num1 and num1 not same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Can not contain white spaces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use </a:t>
            </a:r>
            <a:r>
              <a:rPr b="1" lang="en" sz="1600">
                <a:solidFill>
                  <a:schemeClr val="dk1"/>
                </a:solidFill>
              </a:rPr>
              <a:t>camel casing</a:t>
            </a:r>
            <a:r>
              <a:rPr lang="en" sz="1600">
                <a:solidFill>
                  <a:schemeClr val="dk1"/>
                </a:solidFill>
              </a:rPr>
              <a:t> (studentName) or </a:t>
            </a:r>
            <a:r>
              <a:rPr b="1" lang="en" sz="1600">
                <a:solidFill>
                  <a:schemeClr val="dk1"/>
                </a:solidFill>
              </a:rPr>
              <a:t>snake casing</a:t>
            </a:r>
            <a:r>
              <a:rPr lang="en" sz="1600">
                <a:solidFill>
                  <a:schemeClr val="dk1"/>
                </a:solidFill>
              </a:rPr>
              <a:t> (student_id) for multiple words in a variable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Ex: int given number = 20;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Ex: int given_number = 20;	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Ex: int givenNumber = 20;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7579" y="3948421"/>
            <a:ext cx="393121" cy="3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/>
        </p:nvSpPr>
        <p:spPr>
          <a:xfrm>
            <a:off x="3764050" y="3919017"/>
            <a:ext cx="738000" cy="369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Correct</a:t>
            </a:r>
            <a:endParaRPr sz="1200"/>
          </a:p>
        </p:txBody>
      </p:sp>
      <p:sp>
        <p:nvSpPr>
          <p:cNvPr id="116" name="Google Shape;116;p19"/>
          <p:cNvSpPr txBox="1"/>
          <p:nvPr/>
        </p:nvSpPr>
        <p:spPr>
          <a:xfrm>
            <a:off x="3764050" y="3288200"/>
            <a:ext cx="738000" cy="3693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Wrong</a:t>
            </a:r>
            <a:endParaRPr sz="1200"/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477" y="3317600"/>
            <a:ext cx="323310" cy="310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19"/>
          <p:cNvCxnSpPr>
            <a:stCxn id="115" idx="1"/>
          </p:cNvCxnSpPr>
          <p:nvPr/>
        </p:nvCxnSpPr>
        <p:spPr>
          <a:xfrm rot="10800000">
            <a:off x="3396250" y="3817767"/>
            <a:ext cx="367800" cy="285900"/>
          </a:xfrm>
          <a:prstGeom prst="bentConnector3">
            <a:avLst>
              <a:gd fmla="val 5310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9"/>
          <p:cNvCxnSpPr>
            <a:stCxn id="115" idx="1"/>
          </p:cNvCxnSpPr>
          <p:nvPr/>
        </p:nvCxnSpPr>
        <p:spPr>
          <a:xfrm flipH="1">
            <a:off x="3411250" y="4103667"/>
            <a:ext cx="352800" cy="304200"/>
          </a:xfrm>
          <a:prstGeom prst="bentConnector3">
            <a:avLst>
              <a:gd fmla="val 5494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Variable Naming Conventions </a:t>
            </a:r>
            <a:r>
              <a:rPr b="1" lang="en" sz="2520"/>
              <a:t>(Contd)</a:t>
            </a:r>
            <a:endParaRPr b="1" sz="2520"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311700" y="1152475"/>
            <a:ext cx="8520600" cy="34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600"/>
              <a:buChar char="●"/>
            </a:pP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Should be meaningful.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600"/>
              <a:buChar char="●"/>
            </a:pPr>
            <a:r>
              <a:rPr lang="en" sz="1600">
                <a:solidFill>
                  <a:srgbClr val="273239"/>
                </a:solidFill>
                <a:highlight>
                  <a:schemeClr val="lt1"/>
                </a:highlight>
              </a:rPr>
              <a:t>Single character variable names should be avoided.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Variable names must not be a Java reserved keyword.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All keywords start with lowercase letters.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</p:txBody>
      </p:sp>
      <p:graphicFrame>
        <p:nvGraphicFramePr>
          <p:cNvPr id="126" name="Google Shape;126;p20"/>
          <p:cNvGraphicFramePr/>
          <p:nvPr/>
        </p:nvGraphicFramePr>
        <p:xfrm>
          <a:off x="1234400" y="245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{29DCAB43-36E1-4263-8455-3B6101CE85D5}</a:tableStyleId>
              </a:tblPr>
              <a:tblGrid>
                <a:gridCol w="737525"/>
                <a:gridCol w="735275"/>
                <a:gridCol w="714950"/>
                <a:gridCol w="1056975"/>
                <a:gridCol w="629525"/>
                <a:gridCol w="606575"/>
                <a:gridCol w="695850"/>
                <a:gridCol w="709575"/>
                <a:gridCol w="680350"/>
              </a:tblGrid>
              <a:tr h="362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abstract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assert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boolean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synchronized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byte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case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catch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char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class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62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continue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default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do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double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else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enum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extends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final 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finally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62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float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for 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if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implements 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import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long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native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new 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62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null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package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private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instanceOf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public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return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short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static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strictfp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62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super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switch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break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interface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this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throw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throws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transient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try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62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void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volatile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while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protected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const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goto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true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false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null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27" name="Google Shape;127;p20"/>
          <p:cNvSpPr txBox="1"/>
          <p:nvPr/>
        </p:nvSpPr>
        <p:spPr>
          <a:xfrm>
            <a:off x="3494575" y="4636700"/>
            <a:ext cx="282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Fig: Reserved keywords in Java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Types</a:t>
            </a:r>
            <a:endParaRPr b="1"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Each variables in Java must of a specific data type.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There are major two types of data in Java: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Primitive Data </a:t>
            </a:r>
            <a:r>
              <a:rPr b="1" lang="en">
                <a:solidFill>
                  <a:schemeClr val="dk1"/>
                </a:solidFill>
              </a:rPr>
              <a:t>Types</a:t>
            </a:r>
            <a:r>
              <a:rPr b="1" lang="en">
                <a:solidFill>
                  <a:schemeClr val="dk1"/>
                </a:solidFill>
              </a:rPr>
              <a:t>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Holds a value, specifies the size and type of a variable.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Non-Primitive Data Types: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Holds a reference to an object or location.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311700" y="416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Types (</a:t>
            </a:r>
            <a:r>
              <a:rPr b="1" lang="en" sz="2520"/>
              <a:t>Contd</a:t>
            </a:r>
            <a:r>
              <a:rPr b="1" lang="en"/>
              <a:t>)</a:t>
            </a:r>
            <a:endParaRPr b="1"/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950" y="988875"/>
            <a:ext cx="6965048" cy="3849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idx="4294967295" type="title"/>
          </p:nvPr>
        </p:nvSpPr>
        <p:spPr>
          <a:xfrm>
            <a:off x="311700" y="400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Data Types (</a:t>
            </a:r>
            <a:r>
              <a:rPr b="1" lang="en" sz="2520"/>
              <a:t>Contd</a:t>
            </a:r>
            <a:r>
              <a:rPr b="1" lang="en" sz="2520"/>
              <a:t>)</a:t>
            </a:r>
            <a:endParaRPr b="1" sz="27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5" name="Google Shape;145;p23"/>
          <p:cNvGraphicFramePr/>
          <p:nvPr/>
        </p:nvGraphicFramePr>
        <p:xfrm>
          <a:off x="1222350" y="1060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{29DCAB43-36E1-4263-8455-3B6101CE85D5}</a:tableStyleId>
              </a:tblPr>
              <a:tblGrid>
                <a:gridCol w="771175"/>
                <a:gridCol w="1757475"/>
                <a:gridCol w="1757475"/>
                <a:gridCol w="2413175"/>
              </a:tblGrid>
              <a:tr h="27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Data Type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Significance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Size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Range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byte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</a:t>
                      </a:r>
                      <a:r>
                        <a:rPr lang="en" sz="1200"/>
                        <a:t>mall </a:t>
                      </a:r>
                      <a:r>
                        <a:rPr lang="en" sz="1200"/>
                        <a:t> integer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 byte = 8 bit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-128 to 127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short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Short integer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 byte = 16 bit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-32,768 to 32,767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Integer value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 byte = 32 bit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–2,147,483,648 to 2,147,483,647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32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long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Long integer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 byte = 64 bit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–9,223,372,036,854,775,808 to 9,223,372,036,854,775,807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double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Double-precision floating point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 byte = 64 bit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4.9e-324 to 1.8e+308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float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Single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-precision floating point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4 byte = 32 bit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1.4e-45 to 3.4e+38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boolean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True/ False value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 bit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char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Character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 byte 16 bit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520"/>
              <a:t>Data Types (Contd)</a:t>
            </a:r>
            <a:endParaRPr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Primitive Data Types Example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1196850" y="1842625"/>
            <a:ext cx="6448800" cy="2692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byte value = 20;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short s1 = 1000;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long var = 2351678;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int a = 10;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float b = 1.56f;                </a:t>
            </a:r>
            <a:r>
              <a:rPr lang="en" sz="1600">
                <a:solidFill>
                  <a:schemeClr val="dk1"/>
                </a:solidFill>
              </a:rPr>
              <a:t>// f specifies float value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double d1 = 12.6543d;   </a:t>
            </a:r>
            <a:r>
              <a:rPr lang="en" sz="1600"/>
              <a:t>// d specifies double value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char ch = ‘a’;                  </a:t>
            </a:r>
            <a:r>
              <a:rPr lang="en" sz="1600"/>
              <a:t>// Enclosed by </a:t>
            </a:r>
            <a:r>
              <a:rPr b="1" lang="en" sz="1600"/>
              <a:t>single quotation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boolean answer = true;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520"/>
              <a:t>Data Types (Contd)</a:t>
            </a:r>
            <a:endParaRPr sz="2500"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311700" y="1152475"/>
            <a:ext cx="8520600" cy="37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Non-primitive Data Types Example: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String</a:t>
            </a:r>
            <a:r>
              <a:rPr lang="en">
                <a:solidFill>
                  <a:schemeClr val="dk1"/>
                </a:solidFill>
              </a:rPr>
              <a:t>: A sequence of characters surrounded by </a:t>
            </a:r>
            <a:r>
              <a:rPr b="1" lang="en">
                <a:solidFill>
                  <a:schemeClr val="dk1"/>
                </a:solidFill>
              </a:rPr>
              <a:t>double quotes.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 sz="1600">
                <a:solidFill>
                  <a:schemeClr val="dk1"/>
                </a:solidFill>
              </a:rPr>
              <a:t>Example</a:t>
            </a:r>
            <a:r>
              <a:rPr lang="en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String my_string = “Hello World”;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Arrays</a:t>
            </a:r>
            <a:r>
              <a:rPr lang="en">
                <a:solidFill>
                  <a:schemeClr val="dk1"/>
                </a:solidFill>
              </a:rPr>
              <a:t>: Collection of a fixed number of values of similar data type. 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Example: </a:t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</a:t>
            </a:r>
            <a:r>
              <a:rPr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nt [ ] arr1 = {24, 9, -11, 5};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Carefully!!!</a:t>
            </a:r>
            <a:endParaRPr/>
          </a:p>
        </p:txBody>
      </p:sp>
      <p:sp>
        <p:nvSpPr>
          <p:cNvPr id="164" name="Google Shape;16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Values of char datatype are enclosed in single quotation (‘).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But values of String datatype are enclosed in double quotation (”).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Example: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>
                <a:solidFill>
                  <a:schemeClr val="dk1"/>
                </a:solidFill>
              </a:rPr>
              <a:t>char ch = ‘a’;                  </a:t>
            </a:r>
            <a:r>
              <a:rPr lang="en" sz="1600">
                <a:solidFill>
                  <a:schemeClr val="dk1"/>
                </a:solidFill>
              </a:rPr>
              <a:t>// Enclosed by </a:t>
            </a:r>
            <a:r>
              <a:rPr b="1" lang="en" sz="1600">
                <a:solidFill>
                  <a:schemeClr val="dk1"/>
                </a:solidFill>
              </a:rPr>
              <a:t>single quotation</a:t>
            </a:r>
            <a:endParaRPr b="1" sz="1600"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>
                <a:solidFill>
                  <a:schemeClr val="dk1"/>
                </a:solidFill>
              </a:rPr>
              <a:t>String my_string = “Hello World”;  </a:t>
            </a:r>
            <a:r>
              <a:rPr lang="en" sz="1600">
                <a:solidFill>
                  <a:schemeClr val="dk1"/>
                </a:solidFill>
              </a:rPr>
              <a:t>// Enclosed by </a:t>
            </a:r>
            <a:r>
              <a:rPr b="1" lang="en" sz="1600">
                <a:solidFill>
                  <a:schemeClr val="dk1"/>
                </a:solidFill>
              </a:rPr>
              <a:t>double quotation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Datatype Conversion/ Type Casting</a:t>
            </a:r>
            <a:endParaRPr/>
          </a:p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casting is the process of changing an entity's data type to another datatype. Moreover, type casting is the process of converting a value between two different data types.</a:t>
            </a:r>
            <a:endParaRPr sz="17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700">
                <a:solidFill>
                  <a:schemeClr val="dk1"/>
                </a:solidFill>
              </a:rPr>
              <a:t>Only the data type can be changed by casting; the data itself cannot be changed.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Two types of Casting: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700">
                <a:solidFill>
                  <a:schemeClr val="dk1"/>
                </a:solidFill>
              </a:rPr>
              <a:t>Widening/Implicit Casting</a:t>
            </a:r>
            <a:endParaRPr sz="1700">
              <a:solidFill>
                <a:schemeClr val="dk1"/>
              </a:solidFill>
            </a:endParaRPr>
          </a:p>
          <a:p>
            <a:pPr indent="-3302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700">
                <a:solidFill>
                  <a:schemeClr val="dk1"/>
                </a:solidFill>
              </a:rPr>
              <a:t>Narrowing/Explicit Casting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71" name="Google Shape;1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6575" y="3351550"/>
            <a:ext cx="6210849" cy="16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Widening/Implicit Casting</a:t>
            </a:r>
            <a:endParaRPr/>
          </a:p>
        </p:txBody>
      </p:sp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Converting a lower data type to a higher data type.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No data loss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Java does this casting automatically and without explicit coding.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Example: </a:t>
            </a:r>
            <a:endParaRPr sz="1700">
              <a:solidFill>
                <a:schemeClr val="dk1"/>
              </a:solidFill>
            </a:endParaRPr>
          </a:p>
          <a:p>
            <a:pPr indent="0" lvl="0" marL="18288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int num = 10;</a:t>
            </a:r>
            <a:endParaRPr sz="1700">
              <a:solidFill>
                <a:schemeClr val="dk1"/>
              </a:solidFill>
            </a:endParaRPr>
          </a:p>
          <a:p>
            <a:pPr indent="0" lvl="0" marL="18288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double data = num;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Narrowing/Explicit Casting</a:t>
            </a:r>
            <a:endParaRPr/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converting higher data types into lower data types.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convert larger size data types into smaller ones, data loss occurs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Example:</a:t>
            </a:r>
            <a:endParaRPr sz="1700">
              <a:solidFill>
                <a:schemeClr val="dk1"/>
              </a:solidFill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double num = 10.99;</a:t>
            </a:r>
            <a:endParaRPr sz="1700">
              <a:solidFill>
                <a:schemeClr val="dk1"/>
              </a:solidFill>
            </a:endParaRPr>
          </a:p>
          <a:p>
            <a:pPr indent="0" lvl="0" marL="1828800" rtl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int data = (int)num;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 to Numeric Conversion</a:t>
            </a:r>
            <a:endParaRPr/>
          </a:p>
        </p:txBody>
      </p:sp>
      <p:sp>
        <p:nvSpPr>
          <p:cNvPr id="189" name="Google Shape;189;p30"/>
          <p:cNvSpPr txBox="1"/>
          <p:nvPr/>
        </p:nvSpPr>
        <p:spPr>
          <a:xfrm>
            <a:off x="552775" y="1193750"/>
            <a:ext cx="80373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Int to double/float:</a:t>
            </a:r>
            <a:endParaRPr sz="18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int num = 10;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double data = num; //10.0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float data2= num; //10.0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double and float to int:</a:t>
            </a:r>
            <a:endParaRPr sz="1800">
              <a:solidFill>
                <a:schemeClr val="dk1"/>
              </a:solidFill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double num = 10.99d;</a:t>
            </a:r>
            <a:endParaRPr sz="1800">
              <a:solidFill>
                <a:schemeClr val="dk2"/>
              </a:solidFill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float num2 = 10.25f;</a:t>
            </a:r>
            <a:endParaRPr sz="1800">
              <a:solidFill>
                <a:schemeClr val="dk2"/>
              </a:solidFill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int data = (int)num; //10</a:t>
            </a:r>
            <a:endParaRPr sz="1800">
              <a:solidFill>
                <a:schemeClr val="dk2"/>
              </a:solidFill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int data2= (int)num2 //10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5911050" y="1815475"/>
            <a:ext cx="20235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Widening/Implicit</a:t>
            </a:r>
            <a:endParaRPr sz="2700">
              <a:solidFill>
                <a:schemeClr val="dk2"/>
              </a:solidFill>
            </a:endParaRPr>
          </a:p>
        </p:txBody>
      </p:sp>
      <p:sp>
        <p:nvSpPr>
          <p:cNvPr id="191" name="Google Shape;191;p30"/>
          <p:cNvSpPr txBox="1"/>
          <p:nvPr/>
        </p:nvSpPr>
        <p:spPr>
          <a:xfrm>
            <a:off x="6040850" y="3110625"/>
            <a:ext cx="21423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Narrowing/Explicit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 to Non-Numeric Conversion and vice versa</a:t>
            </a:r>
            <a:endParaRPr/>
          </a:p>
        </p:txBody>
      </p:sp>
      <p:sp>
        <p:nvSpPr>
          <p:cNvPr id="197" name="Google Shape;197;p31"/>
          <p:cNvSpPr txBox="1"/>
          <p:nvPr/>
        </p:nvSpPr>
        <p:spPr>
          <a:xfrm>
            <a:off x="552775" y="1193750"/>
            <a:ext cx="80373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integer to String:</a:t>
            </a:r>
            <a:endParaRPr sz="1800">
              <a:solidFill>
                <a:schemeClr val="dk1"/>
              </a:solidFill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String x= String.valueOf(15);</a:t>
            </a:r>
            <a:endParaRPr sz="1800">
              <a:solidFill>
                <a:schemeClr val="dk2"/>
              </a:solidFill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String y= Integer.toString(20);</a:t>
            </a:r>
            <a:endParaRPr sz="1800">
              <a:solidFill>
                <a:schemeClr val="dk2"/>
              </a:solidFill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System.out.println(x+y); //1520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String to Integer:</a:t>
            </a:r>
            <a:endParaRPr sz="1800">
              <a:solidFill>
                <a:schemeClr val="dk1"/>
              </a:solidFill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int n = Integer.parseInt("25");</a:t>
            </a:r>
            <a:endParaRPr sz="1800">
              <a:solidFill>
                <a:schemeClr val="dk2"/>
              </a:solidFill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int m = Integer.valueOf("35");</a:t>
            </a:r>
            <a:endParaRPr sz="1800">
              <a:solidFill>
                <a:schemeClr val="dk2"/>
              </a:solidFill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System.out.println(m+n); //60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 to Non-Numeric Conversion and vice versa</a:t>
            </a:r>
            <a:endParaRPr/>
          </a:p>
        </p:txBody>
      </p:sp>
      <p:sp>
        <p:nvSpPr>
          <p:cNvPr id="203" name="Google Shape;203;p32"/>
          <p:cNvSpPr txBox="1"/>
          <p:nvPr/>
        </p:nvSpPr>
        <p:spPr>
          <a:xfrm>
            <a:off x="552775" y="1193750"/>
            <a:ext cx="80373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integer to char:</a:t>
            </a:r>
            <a:endParaRPr sz="1800">
              <a:solidFill>
                <a:schemeClr val="dk1"/>
              </a:solidFill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int a=65;    </a:t>
            </a:r>
            <a:endParaRPr sz="1800">
              <a:solidFill>
                <a:schemeClr val="dk2"/>
              </a:solidFill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 c=(char)a;    </a:t>
            </a:r>
            <a:endParaRPr sz="1800">
              <a:solidFill>
                <a:schemeClr val="dk2"/>
              </a:solidFill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System.out.println(c);  //A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char</a:t>
            </a:r>
            <a:r>
              <a:rPr lang="en" sz="1800">
                <a:solidFill>
                  <a:schemeClr val="dk1"/>
                </a:solidFill>
              </a:rPr>
              <a:t> to Integer:</a:t>
            </a:r>
            <a:endParaRPr sz="1800">
              <a:solidFill>
                <a:schemeClr val="dk1"/>
              </a:solidFill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 a='Z';    </a:t>
            </a:r>
            <a:endParaRPr sz="1800">
              <a:solidFill>
                <a:schemeClr val="dk2"/>
              </a:solidFill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int c=(int)a;    </a:t>
            </a:r>
            <a:endParaRPr sz="1800">
              <a:solidFill>
                <a:schemeClr val="dk2"/>
              </a:solidFill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System.out.println(c); //90</a:t>
            </a:r>
            <a:endParaRPr sz="1800">
              <a:solidFill>
                <a:schemeClr val="dk2"/>
              </a:solidFill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ASCII Table: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https://www.cs.cmu.edu/~pattis/15-1XX/common/handouts/ascii.html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311700" y="2170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620"/>
              <a:t>THANK YOU!</a:t>
            </a:r>
            <a:endParaRPr b="1" sz="36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