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084491-2F94-4A98-9EA0-924DAD6FD63E}">
  <a:tblStyle styleId="{8A084491-2F94-4A98-9EA0-924DAD6FD6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af8b716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af8b716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5a7b904d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5a7b904d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61f9f428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561f9f428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af8b716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af8b716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af8b716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2af8b716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37ae01a2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37ae01a2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b09be721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b09be721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b09be721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5b09be721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37ae01a2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37ae01a2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c9ca2c55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6c9ca2c55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Sorting?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41975" y="1129775"/>
            <a:ext cx="85206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Taking an array or list of unordered elements and turning it into a sorted array or list.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Arranging elements done in a certain order (Ascending or Descending).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sort(): default </a:t>
            </a:r>
            <a:r>
              <a:rPr lang="en" sz="1600">
                <a:solidFill>
                  <a:schemeClr val="dk1"/>
                </a:solidFill>
              </a:rPr>
              <a:t>function</a:t>
            </a:r>
            <a:r>
              <a:rPr lang="en" sz="1600">
                <a:solidFill>
                  <a:schemeClr val="dk1"/>
                </a:solidFill>
              </a:rPr>
              <a:t> in java, sorts array in ascending order.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068075" y="2237200"/>
            <a:ext cx="5471700" cy="2211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java.util.Arrays;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Sort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 args[]) {</a:t>
            </a:r>
            <a:endParaRPr b="1" sz="1000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" sz="100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lang="en" sz="1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Arrays.sort(array);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System.out.println(</a:t>
            </a:r>
            <a:r>
              <a:rPr lang="en" sz="1000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 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System.out.println(Arrays.toString(array));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068075" y="4449000"/>
            <a:ext cx="5471700" cy="515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[-3, 8, 10, 28, 35]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One of the most popular sorting </a:t>
            </a:r>
            <a:r>
              <a:rPr lang="en" sz="1600">
                <a:solidFill>
                  <a:schemeClr val="dk1"/>
                </a:solidFill>
              </a:rPr>
              <a:t>techniques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Sorting done on comparison basis.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Ex: For sorting in ascending order, first element of array compared with rest of the </a:t>
            </a:r>
            <a:r>
              <a:rPr lang="en" sz="1600">
                <a:solidFill>
                  <a:schemeClr val="dk1"/>
                </a:solidFill>
              </a:rPr>
              <a:t>elements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Minimum value found and swapped with the first element.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Similarly, second element of array compared with the elements in array after the second element.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</a:t>
            </a:r>
            <a:r>
              <a:rPr lang="en" sz="1600">
                <a:solidFill>
                  <a:schemeClr val="dk1"/>
                </a:solidFill>
              </a:rPr>
              <a:t>inimum value found and swapped with the second element.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And so on for the rest of the elements until array is completely sorted.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 (Contd.)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300413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1:</a:t>
            </a:r>
            <a:endParaRPr b="1" sz="1400">
              <a:solidFill>
                <a:schemeClr val="dk1"/>
              </a:solidFill>
            </a:endParaRPr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1099075" y="21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6" name="Google Shape;76;p16"/>
          <p:cNvGraphicFramePr/>
          <p:nvPr/>
        </p:nvGraphicFramePr>
        <p:xfrm>
          <a:off x="1099075" y="298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" name="Google Shape;77;p16"/>
          <p:cNvGraphicFramePr/>
          <p:nvPr/>
        </p:nvGraphicFramePr>
        <p:xfrm>
          <a:off x="1099075" y="374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Google Shape;78;p16"/>
          <p:cNvGraphicFramePr/>
          <p:nvPr/>
        </p:nvGraphicFramePr>
        <p:xfrm>
          <a:off x="1099075" y="133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16"/>
          <p:cNvSpPr txBox="1"/>
          <p:nvPr/>
        </p:nvSpPr>
        <p:spPr>
          <a:xfrm>
            <a:off x="2983150" y="1624675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sp>
        <p:nvSpPr>
          <p:cNvPr id="80" name="Google Shape;80;p16"/>
          <p:cNvSpPr/>
          <p:nvPr/>
        </p:nvSpPr>
        <p:spPr>
          <a:xfrm flipH="1">
            <a:off x="1230425" y="1069450"/>
            <a:ext cx="23001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5668300" y="133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Google Shape;82;p16"/>
          <p:cNvGraphicFramePr/>
          <p:nvPr/>
        </p:nvGraphicFramePr>
        <p:xfrm>
          <a:off x="5668300" y="2120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Google Shape;83;p16"/>
          <p:cNvGraphicFramePr/>
          <p:nvPr/>
        </p:nvGraphicFramePr>
        <p:xfrm>
          <a:off x="5668300" y="298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6"/>
          <p:cNvGraphicFramePr/>
          <p:nvPr/>
        </p:nvGraphicFramePr>
        <p:xfrm>
          <a:off x="5668300" y="3743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6"/>
          <p:cNvSpPr/>
          <p:nvPr/>
        </p:nvSpPr>
        <p:spPr>
          <a:xfrm flipH="1">
            <a:off x="1841125" y="1888150"/>
            <a:ext cx="12378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 flipH="1">
            <a:off x="2832150" y="3560975"/>
            <a:ext cx="757800" cy="1824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992175" y="1469325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097625" y="1214400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After Swapping</a:t>
            </a:r>
            <a:endParaRPr sz="1100"/>
          </a:p>
        </p:txBody>
      </p:sp>
      <p:sp>
        <p:nvSpPr>
          <p:cNvPr id="89" name="Google Shape;89;p16"/>
          <p:cNvSpPr/>
          <p:nvPr/>
        </p:nvSpPr>
        <p:spPr>
          <a:xfrm>
            <a:off x="3992175" y="2297100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4097625" y="2042175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After Swapping</a:t>
            </a:r>
            <a:endParaRPr sz="1100"/>
          </a:p>
        </p:txBody>
      </p:sp>
      <p:sp>
        <p:nvSpPr>
          <p:cNvPr id="91" name="Google Shape;91;p16"/>
          <p:cNvSpPr/>
          <p:nvPr/>
        </p:nvSpPr>
        <p:spPr>
          <a:xfrm>
            <a:off x="3987075" y="3124863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3992175" y="3874525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4061475" y="2722175"/>
            <a:ext cx="123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Swapped with Own Element</a:t>
            </a:r>
            <a:endParaRPr sz="1100"/>
          </a:p>
        </p:txBody>
      </p:sp>
      <p:sp>
        <p:nvSpPr>
          <p:cNvPr id="94" name="Google Shape;94;p16"/>
          <p:cNvSpPr txBox="1"/>
          <p:nvPr/>
        </p:nvSpPr>
        <p:spPr>
          <a:xfrm>
            <a:off x="4112925" y="3619563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After Swapping</a:t>
            </a:r>
            <a:endParaRPr sz="1100"/>
          </a:p>
        </p:txBody>
      </p:sp>
      <p:sp>
        <p:nvSpPr>
          <p:cNvPr id="95" name="Google Shape;95;p16"/>
          <p:cNvSpPr txBox="1"/>
          <p:nvPr/>
        </p:nvSpPr>
        <p:spPr>
          <a:xfrm>
            <a:off x="2419050" y="2492688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sp>
        <p:nvSpPr>
          <p:cNvPr id="96" name="Google Shape;96;p16"/>
          <p:cNvSpPr txBox="1"/>
          <p:nvPr/>
        </p:nvSpPr>
        <p:spPr>
          <a:xfrm>
            <a:off x="2983150" y="4035650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graphicFrame>
        <p:nvGraphicFramePr>
          <p:cNvPr id="97" name="Google Shape;97;p16"/>
          <p:cNvGraphicFramePr/>
          <p:nvPr/>
        </p:nvGraphicFramePr>
        <p:xfrm>
          <a:off x="5668288" y="44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16"/>
          <p:cNvSpPr txBox="1"/>
          <p:nvPr/>
        </p:nvSpPr>
        <p:spPr>
          <a:xfrm>
            <a:off x="5033975" y="662500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699"/>
                </a:solidFill>
              </a:rPr>
              <a:t>Initial Array</a:t>
            </a:r>
            <a:endParaRPr b="1" sz="1300">
              <a:solidFill>
                <a:srgbClr val="006699"/>
              </a:solidFill>
            </a:endParaRPr>
          </a:p>
        </p:txBody>
      </p:sp>
      <p:graphicFrame>
        <p:nvGraphicFramePr>
          <p:cNvPr id="99" name="Google Shape;99;p16"/>
          <p:cNvGraphicFramePr/>
          <p:nvPr/>
        </p:nvGraphicFramePr>
        <p:xfrm>
          <a:off x="5668300" y="64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16"/>
          <p:cNvSpPr txBox="1"/>
          <p:nvPr/>
        </p:nvSpPr>
        <p:spPr>
          <a:xfrm>
            <a:off x="5033975" y="4470875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6699"/>
                </a:solidFill>
              </a:rPr>
              <a:t>Final</a:t>
            </a:r>
            <a:r>
              <a:rPr b="1" lang="en" sz="1300">
                <a:solidFill>
                  <a:srgbClr val="006699"/>
                </a:solidFill>
              </a:rPr>
              <a:t> Array</a:t>
            </a:r>
            <a:endParaRPr b="1" sz="1300">
              <a:solidFill>
                <a:srgbClr val="006699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1926263" y="3353613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Min Element</a:t>
            </a:r>
            <a:endParaRPr sz="1000"/>
          </a:p>
        </p:txBody>
      </p:sp>
      <p:sp>
        <p:nvSpPr>
          <p:cNvPr id="102" name="Google Shape;102;p16"/>
          <p:cNvSpPr/>
          <p:nvPr/>
        </p:nvSpPr>
        <p:spPr>
          <a:xfrm flipH="1">
            <a:off x="2225375" y="2721725"/>
            <a:ext cx="2550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11700" y="2149300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2: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2950250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3: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3705650"/>
            <a:ext cx="757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Step 4: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152475"/>
            <a:ext cx="8520600" cy="37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311700" y="1107800"/>
            <a:ext cx="5399400" cy="3793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 &lt; array.length -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{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min_index = i;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 = i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 &lt; array.length; j++){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(array[j] &lt; array[min_index]){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min_index = j;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temp = array[min_index]; 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array[min_index] = array[i];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array[i] = temp;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lang="en" sz="1050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 "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System.out.println(Arrays.toString(array));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711100" y="2518800"/>
            <a:ext cx="3169200" cy="69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[3, 8, 10, 20, 25]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Sorting done by comparing two adjacent elements in an array in each iteration and </a:t>
            </a:r>
            <a:r>
              <a:rPr lang="en" sz="1600">
                <a:solidFill>
                  <a:schemeClr val="dk1"/>
                </a:solidFill>
              </a:rPr>
              <a:t>swapping</a:t>
            </a:r>
            <a:r>
              <a:rPr lang="en" sz="1600">
                <a:solidFill>
                  <a:schemeClr val="dk1"/>
                </a:solidFill>
              </a:rPr>
              <a:t> them.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Process repeated till array is sorted and swapping not needed.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 the end of each iteration of outer loop, one element from the last of array sorted.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Initial Array: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1 :</a:t>
            </a:r>
            <a:endParaRPr b="1" sz="1600">
              <a:solidFill>
                <a:schemeClr val="dk1"/>
              </a:solidFill>
            </a:endParaRPr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185145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7" name="Google Shape;127;p19"/>
          <p:cNvGraphicFramePr/>
          <p:nvPr/>
        </p:nvGraphicFramePr>
        <p:xfrm>
          <a:off x="1851450" y="171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" name="Google Shape;128;p19"/>
          <p:cNvGraphicFramePr/>
          <p:nvPr/>
        </p:nvGraphicFramePr>
        <p:xfrm>
          <a:off x="1851450" y="24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9" name="Google Shape;129;p19"/>
          <p:cNvGraphicFramePr/>
          <p:nvPr/>
        </p:nvGraphicFramePr>
        <p:xfrm>
          <a:off x="1851450" y="32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30" name="Google Shape;130;p19"/>
          <p:cNvCxnSpPr/>
          <p:nvPr/>
        </p:nvCxnSpPr>
        <p:spPr>
          <a:xfrm>
            <a:off x="2173350" y="20911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1" name="Google Shape;131;p19"/>
          <p:cNvCxnSpPr/>
          <p:nvPr/>
        </p:nvCxnSpPr>
        <p:spPr>
          <a:xfrm rot="10800000">
            <a:off x="2932225" y="20911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9"/>
          <p:cNvCxnSpPr/>
          <p:nvPr/>
        </p:nvCxnSpPr>
        <p:spPr>
          <a:xfrm>
            <a:off x="2704150" y="284540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" name="Google Shape;133;p19"/>
          <p:cNvCxnSpPr/>
          <p:nvPr/>
        </p:nvCxnSpPr>
        <p:spPr>
          <a:xfrm rot="10800000">
            <a:off x="3463025" y="284537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9"/>
          <p:cNvCxnSpPr/>
          <p:nvPr/>
        </p:nvCxnSpPr>
        <p:spPr>
          <a:xfrm>
            <a:off x="3300275" y="36091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5" name="Google Shape;135;p19"/>
          <p:cNvCxnSpPr/>
          <p:nvPr/>
        </p:nvCxnSpPr>
        <p:spPr>
          <a:xfrm rot="10800000">
            <a:off x="4059150" y="36091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36" name="Google Shape;136;p19"/>
          <p:cNvGraphicFramePr/>
          <p:nvPr/>
        </p:nvGraphicFramePr>
        <p:xfrm>
          <a:off x="1851450" y="405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9"/>
          <p:cNvSpPr txBox="1"/>
          <p:nvPr/>
        </p:nvSpPr>
        <p:spPr>
          <a:xfrm>
            <a:off x="3543525" y="2875025"/>
            <a:ext cx="8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6699"/>
                </a:solidFill>
              </a:rPr>
              <a:t>No swap</a:t>
            </a:r>
            <a:endParaRPr b="1" sz="1000">
              <a:solidFill>
                <a:srgbClr val="006699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229925" y="3934863"/>
            <a:ext cx="34446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element, i.e. 20 sorted at the end of first iteration of outer loop.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2 :</a:t>
            </a:r>
            <a:endParaRPr b="1" sz="1600">
              <a:solidFill>
                <a:schemeClr val="dk1"/>
              </a:solidFill>
            </a:endParaRPr>
          </a:p>
        </p:txBody>
      </p:sp>
      <p:graphicFrame>
        <p:nvGraphicFramePr>
          <p:cNvPr id="145" name="Google Shape;145;p20"/>
          <p:cNvGraphicFramePr/>
          <p:nvPr/>
        </p:nvGraphicFramePr>
        <p:xfrm>
          <a:off x="1756575" y="12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6" name="Google Shape;146;p20"/>
          <p:cNvGraphicFramePr/>
          <p:nvPr/>
        </p:nvGraphicFramePr>
        <p:xfrm>
          <a:off x="1756575" y="199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7" name="Google Shape;147;p20"/>
          <p:cNvGraphicFramePr/>
          <p:nvPr/>
        </p:nvGraphicFramePr>
        <p:xfrm>
          <a:off x="1756575" y="275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48" name="Google Shape;148;p20"/>
          <p:cNvCxnSpPr/>
          <p:nvPr/>
        </p:nvCxnSpPr>
        <p:spPr>
          <a:xfrm>
            <a:off x="2078475" y="160345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9" name="Google Shape;149;p20"/>
          <p:cNvCxnSpPr/>
          <p:nvPr/>
        </p:nvCxnSpPr>
        <p:spPr>
          <a:xfrm rot="10800000">
            <a:off x="2837350" y="160342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0"/>
          <p:cNvCxnSpPr/>
          <p:nvPr/>
        </p:nvCxnSpPr>
        <p:spPr>
          <a:xfrm>
            <a:off x="2609275" y="23577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3368150" y="23577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0"/>
          <p:cNvSpPr txBox="1"/>
          <p:nvPr/>
        </p:nvSpPr>
        <p:spPr>
          <a:xfrm>
            <a:off x="4966400" y="2630750"/>
            <a:ext cx="36678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</a:t>
            </a:r>
            <a:r>
              <a:rPr lang="en"/>
              <a:t> maximum </a:t>
            </a:r>
            <a:r>
              <a:rPr lang="en"/>
              <a:t>element, i.e. 10 sorted at the end of second iteration</a:t>
            </a:r>
            <a:r>
              <a:rPr lang="en">
                <a:solidFill>
                  <a:schemeClr val="dk1"/>
                </a:solidFill>
              </a:rPr>
              <a:t> of outer loop</a:t>
            </a:r>
            <a:r>
              <a:rPr lang="en"/>
              <a:t>.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2920250" y="1550500"/>
            <a:ext cx="8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6699"/>
                </a:solidFill>
              </a:rPr>
              <a:t>No swap</a:t>
            </a:r>
            <a:endParaRPr b="1" sz="1000">
              <a:solidFill>
                <a:srgbClr val="00669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3 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Final Array:</a:t>
            </a:r>
            <a:endParaRPr b="1" sz="1600">
              <a:solidFill>
                <a:schemeClr val="dk1"/>
              </a:solidFill>
            </a:endParaRPr>
          </a:p>
        </p:txBody>
      </p:sp>
      <p:graphicFrame>
        <p:nvGraphicFramePr>
          <p:cNvPr id="160" name="Google Shape;160;p21"/>
          <p:cNvGraphicFramePr/>
          <p:nvPr/>
        </p:nvGraphicFramePr>
        <p:xfrm>
          <a:off x="1756575" y="12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1" name="Google Shape;161;p21"/>
          <p:cNvCxnSpPr/>
          <p:nvPr/>
        </p:nvCxnSpPr>
        <p:spPr>
          <a:xfrm>
            <a:off x="2078475" y="160345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" name="Google Shape;162;p21"/>
          <p:cNvCxnSpPr/>
          <p:nvPr/>
        </p:nvCxnSpPr>
        <p:spPr>
          <a:xfrm rot="10800000">
            <a:off x="2837350" y="160342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1"/>
          <p:cNvSpPr txBox="1"/>
          <p:nvPr/>
        </p:nvSpPr>
        <p:spPr>
          <a:xfrm>
            <a:off x="4839925" y="1103313"/>
            <a:ext cx="36678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Remaining elements</a:t>
            </a:r>
            <a:r>
              <a:rPr lang="en"/>
              <a:t> sorted at the end of third iteration</a:t>
            </a:r>
            <a:r>
              <a:rPr lang="en">
                <a:solidFill>
                  <a:schemeClr val="dk1"/>
                </a:solidFill>
              </a:rPr>
              <a:t> of outer loop</a:t>
            </a:r>
            <a:r>
              <a:rPr lang="en"/>
              <a:t>.</a:t>
            </a:r>
            <a:endParaRPr/>
          </a:p>
        </p:txBody>
      </p:sp>
      <p:graphicFrame>
        <p:nvGraphicFramePr>
          <p:cNvPr id="164" name="Google Shape;164;p21"/>
          <p:cNvGraphicFramePr/>
          <p:nvPr/>
        </p:nvGraphicFramePr>
        <p:xfrm>
          <a:off x="1756575" y="21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{8A084491-2F94-4A98-9EA0-924DAD6FD63E}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311700" y="2225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 </a:t>
            </a:r>
            <a:r>
              <a:rPr lang="en"/>
              <a:t>(Contd.)</a:t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311700" y="735426"/>
            <a:ext cx="5399400" cy="4265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java.util.Arrays;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BubbleSort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 args[])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5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20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 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 &lt; array.length -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 =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 &lt; array.length - i -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j++){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(array[j] &gt; array[j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])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lang="en" sz="1050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 = array[j];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array[j] = array[j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array[j + </a:t>
            </a:r>
            <a:r>
              <a:rPr lang="en" sz="105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temp;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</a:t>
            </a:r>
            <a:r>
              <a:rPr lang="en" sz="1050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Order:"</a:t>
            </a: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System.out.println(Arrays.toString(array));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lang="en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5711100" y="2518800"/>
            <a:ext cx="3169200" cy="69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[1, 5, 10, 20]</a:t>
            </a:r>
            <a:endParaRPr sz="10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311700" y="1999350"/>
            <a:ext cx="8520600" cy="1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