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a3fe0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a3fe0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d92e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d92e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9ad92eae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9ad92eae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9ad92eae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9ad92eae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9ad92ea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9ad92ea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9ad92eae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9ad92eae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9ad92eae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9ad92eae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c6952e0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c6952e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9ad92eae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59ad92eae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(break/continue)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25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important concepts one should learn with loop are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break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&amp;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lang="en"/>
              <a:t>. </a:t>
            </a:r>
            <a:r>
              <a:rPr lang="en">
                <a:solidFill>
                  <a:schemeClr val="dk1"/>
                </a:solidFill>
              </a:rPr>
              <a:t>These two keywords grant us more control when running the loop.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break</a:t>
            </a:r>
            <a:r>
              <a:rPr b="1" lang="en" sz="1700">
                <a:solidFill>
                  <a:schemeClr val="dk1"/>
                </a:solidFill>
              </a:rPr>
              <a:t>: </a:t>
            </a:r>
            <a:r>
              <a:rPr lang="en" sz="1700">
                <a:solidFill>
                  <a:schemeClr val="dk1"/>
                </a:solidFill>
              </a:rPr>
              <a:t>the break keyword allows us to </a:t>
            </a:r>
            <a:r>
              <a:rPr b="1" lang="en" sz="1700">
                <a:solidFill>
                  <a:schemeClr val="dk1"/>
                </a:solidFill>
              </a:rPr>
              <a:t>stop the loop</a:t>
            </a:r>
            <a:r>
              <a:rPr lang="en" sz="1700">
                <a:solidFill>
                  <a:schemeClr val="dk1"/>
                </a:solidFill>
              </a:rPr>
              <a:t> early.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continue</a:t>
            </a:r>
            <a:r>
              <a:rPr lang="en" sz="1700">
                <a:solidFill>
                  <a:schemeClr val="dk1"/>
                </a:solidFill>
              </a:rPr>
              <a:t>: the continue keyword allows us to skip the rest of the loop body and start the next iteration of the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&amp;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</a:t>
            </a:r>
            <a:endParaRPr b="1" sz="1750"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3699475"/>
            <a:ext cx="852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Note</a:t>
            </a:r>
            <a:r>
              <a:rPr lang="en" sz="1900"/>
              <a:t>: both break and continue are written inside the loop’s body and are generally bounded by a condition.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but when 5 is reached the program stops.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breaking out of the loop and directly reaching the end.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5176189" y="551162"/>
            <a:ext cx="3128286" cy="4144212"/>
            <a:chOff x="5176189" y="551162"/>
            <a:chExt cx="3128286" cy="4144212"/>
          </a:xfrm>
        </p:grpSpPr>
        <p:grpSp>
          <p:nvGrpSpPr>
            <p:cNvPr id="70" name="Google Shape;70;p15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72" name="Google Shape;72;p15"/>
              <p:cNvCxnSpPr>
                <a:stCxn id="71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3" name="Google Shape;73;p15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74" name="Google Shape;74;p15"/>
              <p:cNvCxnSpPr>
                <a:endCxn id="73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5" name="Google Shape;75;p15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76" name="Google Shape;76;p15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77" name="Google Shape;77;p15"/>
              <p:cNvCxnSpPr>
                <a:stCxn id="73" idx="2"/>
                <a:endCxn id="78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" name="Google Shape;79;p15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81" name="Google Shape;81;p15"/>
              <p:cNvCxnSpPr>
                <a:stCxn id="80" idx="0"/>
                <a:endCxn id="73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" name="Google Shape;78;p15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83" name="Google Shape;83;p15"/>
              <p:cNvCxnSpPr>
                <a:stCxn id="78" idx="2"/>
                <a:endCxn id="82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" name="Google Shape;84;p15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85" name="Google Shape;85;p15"/>
              <p:cNvCxnSpPr>
                <a:stCxn id="82" idx="2"/>
                <a:endCxn id="80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6" name="Google Shape;86;p15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88" name="Google Shape;88;p15"/>
            <p:cNvCxnSpPr>
              <a:stCxn id="78" idx="3"/>
              <a:endCxn id="89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6019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" name="Google Shape;89;p15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" name="Google Shape;90;p15"/>
            <p:cNvCxnSpPr>
              <a:stCxn id="73" idx="3"/>
              <a:endCxn id="89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5"/>
            <p:cNvCxnSpPr>
              <a:stCxn id="89" idx="4"/>
              <a:endCxn id="87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6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Break</a:t>
            </a:r>
            <a:r>
              <a:rPr lang="en">
                <a:solidFill>
                  <a:srgbClr val="1C4587"/>
                </a:solidFill>
              </a:rPr>
              <a:t>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break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99" name="Google Shape;99;p16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Break</a:t>
            </a:r>
            <a:r>
              <a:rPr lang="en" sz="1100">
                <a:solidFill>
                  <a:schemeClr val="accent5"/>
                </a:solidFill>
              </a:rPr>
              <a:t>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Break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105" name="Google Shape;105;p16"/>
          <p:cNvCxnSpPr>
            <a:stCxn id="100" idx="3"/>
            <a:endCxn id="106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>
            <a:stCxn id="101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2" idx="3"/>
            <a:endCxn id="109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>
            <a:stCxn id="104" idx="3"/>
            <a:endCxn id="111" idx="2"/>
          </p:cNvCxnSpPr>
          <p:nvPr/>
        </p:nvCxnSpPr>
        <p:spPr>
          <a:xfrm>
            <a:off x="5778575" y="2852475"/>
            <a:ext cx="2353800" cy="328500"/>
          </a:xfrm>
          <a:prstGeom prst="curvedConnector4">
            <a:avLst>
              <a:gd fmla="val 43144" name="adj1"/>
              <a:gd fmla="val 14472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6"/>
          <p:cNvCxnSpPr>
            <a:stCxn id="112" idx="2"/>
            <a:endCxn id="103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6"/>
          <p:cNvCxnSpPr>
            <a:stCxn id="116" idx="3"/>
            <a:endCxn id="104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>
            <a:stCxn id="102" idx="1"/>
            <a:endCxn id="1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00" idx="1"/>
            <a:endCxn id="1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>
            <a:stCxn id="101" idx="1"/>
            <a:endCxn id="1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423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2" name="Google Shape;122;p16"/>
          <p:cNvGrpSpPr/>
          <p:nvPr/>
        </p:nvGrpSpPr>
        <p:grpSpPr>
          <a:xfrm>
            <a:off x="5716264" y="645462"/>
            <a:ext cx="3128286" cy="4144212"/>
            <a:chOff x="5176189" y="551162"/>
            <a:chExt cx="3128286" cy="4144212"/>
          </a:xfrm>
        </p:grpSpPr>
        <p:grpSp>
          <p:nvGrpSpPr>
            <p:cNvPr id="123" name="Google Shape;123;p16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125" name="Google Shape;125;p16"/>
              <p:cNvCxnSpPr>
                <a:stCxn id="124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6" name="Google Shape;126;p16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127" name="Google Shape;127;p16"/>
              <p:cNvCxnSpPr>
                <a:endCxn id="126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8" name="Google Shape;128;p16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130" name="Google Shape;130;p16"/>
              <p:cNvCxnSpPr>
                <a:stCxn id="126" idx="2"/>
                <a:endCxn id="131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2" name="Google Shape;132;p16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134" name="Google Shape;134;p16"/>
              <p:cNvCxnSpPr>
                <a:stCxn id="133" idx="0"/>
                <a:endCxn id="126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6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6" name="Google Shape;136;p16"/>
              <p:cNvCxnSpPr>
                <a:stCxn id="131" idx="2"/>
                <a:endCxn id="135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1" name="Google Shape;111;p16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137" name="Google Shape;137;p16"/>
              <p:cNvCxnSpPr>
                <a:stCxn id="135" idx="2"/>
                <a:endCxn id="133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8" name="Google Shape;138;p16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140" name="Google Shape;140;p16"/>
            <p:cNvCxnSpPr>
              <a:stCxn id="131" idx="3"/>
              <a:endCxn id="141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5001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" name="Google Shape;141;p16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" name="Google Shape;142;p16"/>
            <p:cNvCxnSpPr>
              <a:stCxn id="126" idx="3"/>
              <a:endCxn id="141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6"/>
            <p:cNvCxnSpPr>
              <a:stCxn id="141" idx="4"/>
              <a:endCxn id="139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except for 5.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whenever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skipping the next line and going to the next iteration.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176789" y="551162"/>
            <a:ext cx="3127686" cy="4144212"/>
            <a:chOff x="5720114" y="445037"/>
            <a:chExt cx="3127686" cy="4144212"/>
          </a:xfrm>
        </p:grpSpPr>
        <p:sp>
          <p:nvSpPr>
            <p:cNvPr id="152" name="Google Shape;152;p17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53" name="Google Shape;153;p17"/>
            <p:cNvCxnSpPr>
              <a:stCxn id="152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" name="Google Shape;154;p17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10 ?</a:t>
              </a:r>
              <a:endParaRPr sz="1200"/>
            </a:p>
          </p:txBody>
        </p:sp>
        <p:cxnSp>
          <p:nvCxnSpPr>
            <p:cNvPr id="155" name="Google Shape;155;p17"/>
            <p:cNvCxnSpPr>
              <a:endCxn id="154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7485950" y="2076525"/>
              <a:ext cx="7167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8131100" y="1465800"/>
              <a:ext cx="716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58" name="Google Shape;158;p17"/>
            <p:cNvCxnSpPr>
              <a:stCxn id="154" idx="2"/>
              <a:endCxn id="159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2" name="Google Shape;162;p17"/>
            <p:cNvCxnSpPr>
              <a:stCxn id="161" idx="0"/>
              <a:endCxn id="154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17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== 5 ?</a:t>
              </a:r>
              <a:endParaRPr sz="1200"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4" name="Google Shape;164;p17"/>
            <p:cNvCxnSpPr>
              <a:stCxn id="159" idx="2"/>
              <a:endCxn id="163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" name="Google Shape;165;p17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" name="Google Shape;167;p17"/>
            <p:cNvCxnSpPr>
              <a:stCxn id="159" idx="1"/>
              <a:endCxn id="166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17"/>
            <p:cNvCxnSpPr>
              <a:stCxn id="166" idx="0"/>
              <a:endCxn id="161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7"/>
            <p:cNvSpPr txBox="1"/>
            <p:nvPr/>
          </p:nvSpPr>
          <p:spPr>
            <a:xfrm>
              <a:off x="6664625" y="3005575"/>
              <a:ext cx="7167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70" name="Google Shape;170;p17"/>
            <p:cNvCxnSpPr>
              <a:stCxn id="154" idx="3"/>
              <a:endCxn id="171" idx="3"/>
            </p:cNvCxnSpPr>
            <p:nvPr/>
          </p:nvCxnSpPr>
          <p:spPr>
            <a:xfrm flipH="1">
              <a:off x="7750625" y="1753550"/>
              <a:ext cx="545100" cy="2693100"/>
            </a:xfrm>
            <a:prstGeom prst="bentConnector3">
              <a:avLst>
                <a:gd fmla="val -688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" name="Google Shape;171;p17"/>
            <p:cNvSpPr/>
            <p:nvPr/>
          </p:nvSpPr>
          <p:spPr>
            <a:xfrm>
              <a:off x="6893890" y="43042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72" name="Google Shape;172;p17"/>
            <p:cNvCxnSpPr>
              <a:stCxn id="163" idx="4"/>
              <a:endCxn id="166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471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5642067" y="814535"/>
            <a:ext cx="2997261" cy="3955593"/>
            <a:chOff x="5720114" y="445037"/>
            <a:chExt cx="3127686" cy="4001612"/>
          </a:xfrm>
        </p:grpSpPr>
        <p:sp>
          <p:nvSpPr>
            <p:cNvPr id="179" name="Google Shape;179;p18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START</a:t>
              </a:r>
              <a:endParaRPr sz="1200"/>
            </a:p>
          </p:txBody>
        </p:sp>
        <p:cxnSp>
          <p:nvCxnSpPr>
            <p:cNvPr id="180" name="Google Shape;180;p18"/>
            <p:cNvCxnSpPr>
              <a:stCxn id="179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8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is 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 &lt;= 10 ?</a:t>
              </a:r>
              <a:endParaRPr sz="1100"/>
            </a:p>
          </p:txBody>
        </p:sp>
        <p:cxnSp>
          <p:nvCxnSpPr>
            <p:cNvPr id="182" name="Google Shape;182;p18"/>
            <p:cNvCxnSpPr>
              <a:endCxn id="181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" name="Google Shape;183;p18"/>
            <p:cNvSpPr txBox="1"/>
            <p:nvPr/>
          </p:nvSpPr>
          <p:spPr>
            <a:xfrm>
              <a:off x="7485956" y="2076511"/>
              <a:ext cx="6453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8202500" y="146578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85" name="Google Shape;185;p18"/>
            <p:cNvCxnSpPr>
              <a:stCxn id="181" idx="2"/>
              <a:endCxn id="186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" name="Google Shape;187;p18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89" name="Google Shape;189;p18"/>
            <p:cNvCxnSpPr>
              <a:stCxn id="188" idx="0"/>
              <a:endCxn id="181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" name="Google Shape;186;p18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is 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i==5 ?</a:t>
              </a:r>
              <a:endParaRPr sz="1000"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91" name="Google Shape;191;p18"/>
            <p:cNvCxnSpPr>
              <a:stCxn id="186" idx="2"/>
              <a:endCxn id="190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2" name="Google Shape;192;p18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4" name="Google Shape;194;p18"/>
            <p:cNvCxnSpPr>
              <a:stCxn id="186" idx="1"/>
              <a:endCxn id="193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18"/>
            <p:cNvCxnSpPr>
              <a:stCxn id="193" idx="0"/>
              <a:endCxn id="188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" name="Google Shape;196;p18"/>
            <p:cNvSpPr txBox="1"/>
            <p:nvPr/>
          </p:nvSpPr>
          <p:spPr>
            <a:xfrm>
              <a:off x="6736026" y="3005575"/>
              <a:ext cx="6453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97" name="Google Shape;197;p18"/>
            <p:cNvCxnSpPr>
              <a:stCxn id="181" idx="3"/>
              <a:endCxn id="198" idx="3"/>
            </p:cNvCxnSpPr>
            <p:nvPr/>
          </p:nvCxnSpPr>
          <p:spPr>
            <a:xfrm flipH="1">
              <a:off x="7750625" y="1753550"/>
              <a:ext cx="545100" cy="2550600"/>
            </a:xfrm>
            <a:prstGeom prst="bentConnector3">
              <a:avLst>
                <a:gd fmla="val -455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18"/>
            <p:cNvSpPr/>
            <p:nvPr/>
          </p:nvSpPr>
          <p:spPr>
            <a:xfrm>
              <a:off x="6894015" y="41616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99" name="Google Shape;199;p18"/>
            <p:cNvCxnSpPr>
              <a:stCxn id="190" idx="4"/>
              <a:endCxn id="193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5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0" name="Google Shape;200;p18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ContinueScenario4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continue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02" name="Google Shape;202;p18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ContinueScenario4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6 7 8 9 10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Continue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208" name="Google Shape;208;p18"/>
          <p:cNvCxnSpPr>
            <a:stCxn id="203" idx="3"/>
            <a:endCxn id="187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stCxn id="204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8"/>
          <p:cNvCxnSpPr>
            <a:stCxn id="205" idx="3"/>
            <a:endCxn id="188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stCxn id="207" idx="3"/>
            <a:endCxn id="192" idx="0"/>
          </p:cNvCxnSpPr>
          <p:nvPr/>
        </p:nvCxnSpPr>
        <p:spPr>
          <a:xfrm flipH="1" rot="10800000">
            <a:off x="5778575" y="2793975"/>
            <a:ext cx="619500" cy="58500"/>
          </a:xfrm>
          <a:prstGeom prst="curvedConnector4">
            <a:avLst>
              <a:gd fmla="val 25050" name="adj1"/>
              <a:gd fmla="val 11410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8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8"/>
          <p:cNvCxnSpPr>
            <a:stCxn id="212" idx="2"/>
            <a:endCxn id="206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8"/>
          <p:cNvCxnSpPr>
            <a:stCxn id="216" idx="3"/>
            <a:endCxn id="207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8"/>
          <p:cNvCxnSpPr>
            <a:stCxn id="205" idx="1"/>
            <a:endCxn id="2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>
            <a:stCxn id="203" idx="1"/>
            <a:endCxn id="2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>
            <a:stCxn id="204" idx="1"/>
            <a:endCxn id="2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7622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3244"/>
          </a:p>
        </p:txBody>
      </p:sp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This was an example of </a:t>
            </a:r>
            <a:r>
              <a:rPr b="1" lang="en" sz="2000">
                <a:solidFill>
                  <a:srgbClr val="0000FF"/>
                </a:solidFill>
              </a:rPr>
              <a:t>continue </a:t>
            </a:r>
            <a:r>
              <a:rPr lang="en" sz="2000">
                <a:solidFill>
                  <a:schemeClr val="dk1"/>
                </a:solidFill>
              </a:rPr>
              <a:t>keyword using </a:t>
            </a:r>
            <a:r>
              <a:rPr b="1" lang="en" sz="2000">
                <a:solidFill>
                  <a:srgbClr val="0000FF"/>
                </a:solidFill>
              </a:rPr>
              <a:t>for</a:t>
            </a:r>
            <a:r>
              <a:rPr lang="en" sz="2000">
                <a:solidFill>
                  <a:schemeClr val="dk1"/>
                </a:solidFill>
              </a:rPr>
              <a:t> loop. Now, what would happen if instead of </a:t>
            </a:r>
            <a:r>
              <a:rPr b="1" lang="en" sz="2000">
                <a:solidFill>
                  <a:srgbClr val="0000FF"/>
                </a:solidFill>
              </a:rPr>
              <a:t>for </a:t>
            </a:r>
            <a:r>
              <a:rPr lang="en" sz="2000">
                <a:solidFill>
                  <a:schemeClr val="dk1"/>
                </a:solidFill>
              </a:rPr>
              <a:t>loop you used </a:t>
            </a:r>
            <a:r>
              <a:rPr b="1" lang="en" sz="2000">
                <a:solidFill>
                  <a:srgbClr val="0000FF"/>
                </a:solidFill>
              </a:rPr>
              <a:t>while </a:t>
            </a:r>
            <a:r>
              <a:rPr lang="en" sz="2000">
                <a:solidFill>
                  <a:schemeClr val="dk1"/>
                </a:solidFill>
              </a:rPr>
              <a:t>loop?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That’s for you to find out!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200">
                <a:solidFill>
                  <a:schemeClr val="dk1"/>
                </a:solidFill>
              </a:rPr>
              <a:t>Write a program to find the first element between 100 and 200 which is divisible by 13 but not by 3.</a:t>
            </a:r>
            <a:endParaRPr sz="2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200">
                <a:solidFill>
                  <a:schemeClr val="dk1"/>
                </a:solidFill>
              </a:rPr>
              <a:t>Write a java program that iterates from 0 to 100 and prints all the numbers except for those that are divisible by 5.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