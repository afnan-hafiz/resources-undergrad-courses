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1" r:id="rId7"/>
    <p:sldId id="262" r:id="rId8"/>
    <p:sldId id="264" r:id="rId9"/>
    <p:sldId id="265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35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1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9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6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9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67D55-BABB-4D8D-B280-3278D9A72EAC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1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 Part II</a:t>
            </a:r>
          </a:p>
        </p:txBody>
      </p:sp>
    </p:spTree>
    <p:extLst>
      <p:ext uri="{BB962C8B-B14F-4D97-AF65-F5344CB8AC3E}">
        <p14:creationId xmlns:p14="http://schemas.microsoft.com/office/powerpoint/2010/main" val="162647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7CEB1-56B9-416E-9D90-0F2F3EF1F3A2}"/>
              </a:ext>
            </a:extLst>
          </p:cNvPr>
          <p:cNvSpPr txBox="1"/>
          <p:nvPr/>
        </p:nvSpPr>
        <p:spPr>
          <a:xfrm>
            <a:off x="429491" y="166239"/>
            <a:ext cx="804949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have k classes. We should write equations for k classes like </a:t>
            </a:r>
          </a:p>
          <a:p>
            <a:endParaRPr lang="en-US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1</a:t>
            </a:r>
            <a:r>
              <a:rPr lang="en-US" sz="2400" dirty="0"/>
              <a:t> = W</a:t>
            </a:r>
            <a:r>
              <a:rPr lang="en-US" sz="2400" baseline="-25000" dirty="0"/>
              <a:t>11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W</a:t>
            </a:r>
            <a:r>
              <a:rPr lang="en-US" sz="2400" baseline="-25000" dirty="0"/>
              <a:t>12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13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…………….+W</a:t>
            </a:r>
            <a:r>
              <a:rPr lang="en-US" sz="2400" baseline="-25000" dirty="0"/>
              <a:t>1n</a:t>
            </a:r>
            <a:r>
              <a:rPr lang="en-US" sz="2400" dirty="0"/>
              <a:t>X</a:t>
            </a:r>
            <a:r>
              <a:rPr lang="en-US" sz="2400" baseline="-25000" dirty="0"/>
              <a:t>n</a:t>
            </a:r>
            <a:r>
              <a:rPr lang="en-US" sz="2400" dirty="0"/>
              <a:t>+b</a:t>
            </a:r>
            <a:r>
              <a:rPr lang="en-US" sz="2400" baseline="-25000" dirty="0"/>
              <a:t>1</a:t>
            </a:r>
          </a:p>
          <a:p>
            <a:endParaRPr lang="en-US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2</a:t>
            </a:r>
            <a:r>
              <a:rPr lang="en-US" sz="2400" dirty="0"/>
              <a:t> = W</a:t>
            </a:r>
            <a:r>
              <a:rPr lang="en-US" sz="2400" baseline="-25000" dirty="0"/>
              <a:t>21</a:t>
            </a:r>
            <a:r>
              <a:rPr lang="en-US" sz="2400" dirty="0"/>
              <a:t>X</a:t>
            </a:r>
            <a:r>
              <a:rPr lang="en-US" sz="2400" baseline="-25000" dirty="0"/>
              <a:t>1 </a:t>
            </a:r>
            <a:r>
              <a:rPr lang="en-US" sz="2400" dirty="0"/>
              <a:t>+ W</a:t>
            </a:r>
            <a:r>
              <a:rPr lang="en-US" sz="2400" baseline="-25000" dirty="0"/>
              <a:t>22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23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…………….+ W</a:t>
            </a:r>
            <a:r>
              <a:rPr lang="en-US" sz="2400" baseline="-25000" dirty="0"/>
              <a:t>2n</a:t>
            </a:r>
            <a:r>
              <a:rPr lang="en-US" sz="2400" dirty="0"/>
              <a:t>X</a:t>
            </a:r>
            <a:r>
              <a:rPr lang="en-US" sz="2400" baseline="-25000" dirty="0"/>
              <a:t>n</a:t>
            </a:r>
            <a:r>
              <a:rPr lang="en-US" sz="2400" dirty="0"/>
              <a:t> +b</a:t>
            </a:r>
            <a:r>
              <a:rPr lang="en-US" sz="2400" baseline="-25000" dirty="0"/>
              <a:t>2</a:t>
            </a:r>
          </a:p>
          <a:p>
            <a:endParaRPr lang="en-US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3</a:t>
            </a:r>
            <a:r>
              <a:rPr lang="en-US" sz="2400" dirty="0"/>
              <a:t> = W</a:t>
            </a:r>
            <a:r>
              <a:rPr lang="en-US" sz="2400" baseline="-25000" dirty="0"/>
              <a:t>31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W</a:t>
            </a:r>
            <a:r>
              <a:rPr lang="en-US" sz="2400" baseline="-25000" dirty="0"/>
              <a:t>32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33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 + W</a:t>
            </a:r>
            <a:r>
              <a:rPr lang="en-US" sz="2400" baseline="-25000" dirty="0"/>
              <a:t>3n</a:t>
            </a:r>
            <a:r>
              <a:rPr lang="en-US" sz="2400" dirty="0"/>
              <a:t>X</a:t>
            </a:r>
            <a:r>
              <a:rPr lang="en-US" sz="2400" baseline="-25000" dirty="0"/>
              <a:t>n</a:t>
            </a:r>
            <a:r>
              <a:rPr lang="en-US" sz="2400" dirty="0"/>
              <a:t> + b</a:t>
            </a:r>
            <a:r>
              <a:rPr lang="en-US" sz="2400" baseline="-25000" dirty="0"/>
              <a:t>3</a:t>
            </a:r>
          </a:p>
          <a:p>
            <a:r>
              <a:rPr lang="en-US" sz="2400" dirty="0"/>
              <a:t>…..    ……..         ….     …….     …….     ……. ……..       ………. ….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 err="1"/>
              <a:t>Z</a:t>
            </a:r>
            <a:r>
              <a:rPr lang="en-US" sz="2400" baseline="-25000" dirty="0" err="1"/>
              <a:t>k</a:t>
            </a:r>
            <a:r>
              <a:rPr lang="en-US" sz="2400" dirty="0"/>
              <a:t>= W</a:t>
            </a:r>
            <a:r>
              <a:rPr lang="en-US" sz="2400" baseline="-25000" dirty="0"/>
              <a:t>k1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+W</a:t>
            </a:r>
            <a:r>
              <a:rPr lang="en-US" sz="2400" baseline="-25000" dirty="0"/>
              <a:t>k2</a:t>
            </a:r>
            <a:r>
              <a:rPr lang="en-US" sz="2400" dirty="0"/>
              <a:t>X</a:t>
            </a:r>
            <a:r>
              <a:rPr lang="en-US" sz="2400" baseline="-25000" dirty="0"/>
              <a:t>2 </a:t>
            </a:r>
            <a:r>
              <a:rPr lang="en-US" sz="2400" dirty="0"/>
              <a:t>+ W</a:t>
            </a:r>
            <a:r>
              <a:rPr lang="en-US" sz="2400" baseline="-25000" dirty="0"/>
              <a:t>k3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+ …………..+ </a:t>
            </a:r>
            <a:r>
              <a:rPr lang="en-US" sz="2400" dirty="0" err="1"/>
              <a:t>W</a:t>
            </a:r>
            <a:r>
              <a:rPr lang="en-US" sz="2400" baseline="-25000" dirty="0" err="1"/>
              <a:t>kn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 +b</a:t>
            </a:r>
            <a:r>
              <a:rPr lang="en-US" sz="2400" baseline="-25000" dirty="0"/>
              <a:t>k</a:t>
            </a:r>
          </a:p>
          <a:p>
            <a:endParaRPr lang="en-US" sz="2400" dirty="0"/>
          </a:p>
          <a:p>
            <a:r>
              <a:rPr lang="en-US" sz="2400" dirty="0"/>
              <a:t>We start with random values of all the </a:t>
            </a:r>
            <a:r>
              <a:rPr lang="en-US" sz="2400" dirty="0" err="1"/>
              <a:t>Ws</a:t>
            </a:r>
            <a:r>
              <a:rPr lang="en-US" sz="2400" dirty="0"/>
              <a:t> and bs. We are given a training dataset. We start with the 1</a:t>
            </a:r>
            <a:r>
              <a:rPr lang="en-US" sz="2400" baseline="30000" dirty="0"/>
              <a:t>st</a:t>
            </a:r>
            <a:r>
              <a:rPr lang="en-US" sz="2400" dirty="0"/>
              <a:t> example. Its class is A. </a:t>
            </a:r>
          </a:p>
          <a:p>
            <a:r>
              <a:rPr lang="en-US" sz="2400" dirty="0"/>
              <a:t>We calculate Z1 and find the probability of Class A. If it is correctly classified, we go to the next example. But if it is misclassified, we update the corresponding </a:t>
            </a:r>
            <a:r>
              <a:rPr lang="en-US" sz="2400" dirty="0" err="1"/>
              <a:t>Ws</a:t>
            </a:r>
            <a:r>
              <a:rPr lang="en-US" sz="2400" dirty="0"/>
              <a:t>  and Bs using the formula  </a:t>
            </a:r>
            <a:r>
              <a:rPr lang="en-US" sz="2400" dirty="0" err="1"/>
              <a:t>W</a:t>
            </a:r>
            <a:r>
              <a:rPr lang="en-US" sz="2400" baseline="-25000" dirty="0" err="1"/>
              <a:t>ij</a:t>
            </a:r>
            <a:r>
              <a:rPr lang="en-US" sz="2400" dirty="0"/>
              <a:t> = </a:t>
            </a:r>
            <a:r>
              <a:rPr lang="en-US" sz="2400" dirty="0" err="1"/>
              <a:t>W</a:t>
            </a:r>
            <a:r>
              <a:rPr lang="en-US" sz="2400" baseline="-25000" dirty="0" err="1"/>
              <a:t>ij</a:t>
            </a:r>
            <a:r>
              <a:rPr lang="en-US" sz="2400" baseline="-25000" dirty="0"/>
              <a:t> </a:t>
            </a:r>
            <a:r>
              <a:rPr lang="en-US" sz="2400" dirty="0"/>
              <a:t>+ ƞ(Y-Ỹ)X</a:t>
            </a:r>
            <a:r>
              <a:rPr lang="en-US" sz="2400" baseline="-25000" dirty="0"/>
              <a:t>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6C7DC-8357-A4C9-8DE9-6BD9C5E5862D}"/>
              </a:ext>
            </a:extLst>
          </p:cNvPr>
          <p:cNvSpPr txBox="1"/>
          <p:nvPr/>
        </p:nvSpPr>
        <p:spPr>
          <a:xfrm>
            <a:off x="8853055" y="1607127"/>
            <a:ext cx="232467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    X2    X3   …… </a:t>
            </a:r>
            <a:r>
              <a:rPr lang="en-US" dirty="0" err="1"/>
              <a:t>Xn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…       ….    ….          …..</a:t>
            </a:r>
          </a:p>
          <a:p>
            <a:r>
              <a:rPr lang="en-US" dirty="0"/>
              <a:t>….      …..   ….          …..</a:t>
            </a:r>
          </a:p>
          <a:p>
            <a:r>
              <a:rPr lang="en-US" dirty="0"/>
              <a:t>….       …..  ….          ……</a:t>
            </a:r>
          </a:p>
          <a:p>
            <a:r>
              <a:rPr lang="en-US" dirty="0"/>
              <a:t>…..     ……   …..       ……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……      …..    ……       ……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F14C8-4077-F84C-92B8-C71027846030}"/>
              </a:ext>
            </a:extLst>
          </p:cNvPr>
          <p:cNvSpPr txBox="1"/>
          <p:nvPr/>
        </p:nvSpPr>
        <p:spPr>
          <a:xfrm>
            <a:off x="11277600" y="1565555"/>
            <a:ext cx="65114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</a:t>
            </a:r>
          </a:p>
          <a:p>
            <a:endParaRPr lang="en-US" dirty="0"/>
          </a:p>
          <a:p>
            <a:r>
              <a:rPr lang="en-US" dirty="0"/>
              <a:t>A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58B0D0-265E-B801-F248-D1040618BCC6}"/>
              </a:ext>
            </a:extLst>
          </p:cNvPr>
          <p:cNvCxnSpPr/>
          <p:nvPr/>
        </p:nvCxnSpPr>
        <p:spPr>
          <a:xfrm>
            <a:off x="11177730" y="1607127"/>
            <a:ext cx="0" cy="3970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7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23" y="437446"/>
            <a:ext cx="10207200" cy="29915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76" y="5322278"/>
            <a:ext cx="8587201" cy="1385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234FB3-D72B-EC29-23DA-A0BEF9CC3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77" y="3305908"/>
            <a:ext cx="4433154" cy="192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03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D3488-5FF5-0B3C-8AFC-F9FD2B2564D3}"/>
              </a:ext>
            </a:extLst>
          </p:cNvPr>
          <p:cNvSpPr txBox="1"/>
          <p:nvPr/>
        </p:nvSpPr>
        <p:spPr>
          <a:xfrm>
            <a:off x="970884" y="422047"/>
            <a:ext cx="907366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Z</a:t>
            </a:r>
            <a:r>
              <a:rPr lang="en-US" baseline="-25000" dirty="0"/>
              <a:t>1</a:t>
            </a:r>
            <a:r>
              <a:rPr lang="en-US" dirty="0"/>
              <a:t> = 0.6,  Z</a:t>
            </a:r>
            <a:r>
              <a:rPr lang="en-US" baseline="-25000" dirty="0"/>
              <a:t>2 </a:t>
            </a:r>
            <a:r>
              <a:rPr lang="en-US" dirty="0"/>
              <a:t>= 1.1,  Z</a:t>
            </a:r>
            <a:r>
              <a:rPr lang="en-US" baseline="-25000" dirty="0"/>
              <a:t>3</a:t>
            </a:r>
            <a:r>
              <a:rPr lang="en-US" dirty="0"/>
              <a:t> = -1.5,  Z</a:t>
            </a:r>
            <a:r>
              <a:rPr lang="en-US" baseline="-25000" dirty="0"/>
              <a:t>4</a:t>
            </a:r>
            <a:r>
              <a:rPr lang="en-US" dirty="0"/>
              <a:t> = 1.2,  Z</a:t>
            </a:r>
            <a:r>
              <a:rPr lang="en-US" baseline="-25000" dirty="0"/>
              <a:t>5</a:t>
            </a:r>
            <a:r>
              <a:rPr lang="en-US" dirty="0"/>
              <a:t> = 3.2 and Z</a:t>
            </a:r>
            <a:r>
              <a:rPr lang="en-US" baseline="-25000" dirty="0"/>
              <a:t>6</a:t>
            </a:r>
            <a:r>
              <a:rPr lang="en-US" dirty="0"/>
              <a:t> = -1.1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Exp(0.6)</a:t>
            </a:r>
          </a:p>
          <a:p>
            <a:r>
              <a:rPr lang="en-US" dirty="0"/>
              <a:t>P(Y</a:t>
            </a:r>
            <a:r>
              <a:rPr lang="en-US" baseline="-25000" dirty="0"/>
              <a:t>1</a:t>
            </a:r>
            <a:r>
              <a:rPr lang="en-US" dirty="0"/>
              <a:t> = 1) = </a:t>
            </a:r>
          </a:p>
          <a:p>
            <a:r>
              <a:rPr lang="en-US" dirty="0"/>
              <a:t>                         Exp(0.6) + Exp(1.1) + Exp(-1.5) + Exp(1.2) + Exp (3.2) + Exp (-1.1)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Exp(1.1) </a:t>
            </a:r>
          </a:p>
          <a:p>
            <a:r>
              <a:rPr lang="en-US" dirty="0"/>
              <a:t>P(Y</a:t>
            </a:r>
            <a:r>
              <a:rPr lang="en-US" baseline="-25000" dirty="0"/>
              <a:t>2</a:t>
            </a:r>
            <a:r>
              <a:rPr lang="en-US" dirty="0"/>
              <a:t> = 1) = </a:t>
            </a:r>
          </a:p>
          <a:p>
            <a:r>
              <a:rPr lang="en-US" dirty="0"/>
              <a:t>                          Exp(0.6) + Exp(1.1) + Exp(-1.5) + Exp(1.2) + Exp (3.2) + Exp (-1.1)</a:t>
            </a:r>
          </a:p>
          <a:p>
            <a:endParaRPr lang="en-US" dirty="0"/>
          </a:p>
          <a:p>
            <a:r>
              <a:rPr lang="en-US" dirty="0"/>
              <a:t>and so on.</a:t>
            </a:r>
          </a:p>
          <a:p>
            <a:endParaRPr lang="en-US" dirty="0"/>
          </a:p>
          <a:p>
            <a:r>
              <a:rPr lang="en-US" dirty="0"/>
              <a:t>P( Y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3</a:t>
            </a:r>
            <a:r>
              <a:rPr lang="en-US" dirty="0"/>
              <a:t>, Y</a:t>
            </a:r>
            <a:r>
              <a:rPr lang="en-US" baseline="-25000" dirty="0"/>
              <a:t>4</a:t>
            </a:r>
            <a:r>
              <a:rPr lang="en-US" dirty="0"/>
              <a:t>, Y</a:t>
            </a:r>
            <a:r>
              <a:rPr lang="en-US" baseline="-25000" dirty="0"/>
              <a:t>5</a:t>
            </a:r>
            <a:r>
              <a:rPr lang="en-US" dirty="0"/>
              <a:t>, Y</a:t>
            </a:r>
            <a:r>
              <a:rPr lang="en-US" baseline="-25000" dirty="0"/>
              <a:t>6</a:t>
            </a:r>
            <a:r>
              <a:rPr lang="en-US" dirty="0"/>
              <a:t>) = [0.05, 0.09, 0.01, 0.1, 0.74, 0.01]</a:t>
            </a:r>
          </a:p>
          <a:p>
            <a:endParaRPr lang="en-US" dirty="0"/>
          </a:p>
          <a:p>
            <a:r>
              <a:rPr lang="en-US" dirty="0"/>
              <a:t>Predicted Class is Y</a:t>
            </a:r>
            <a:r>
              <a:rPr lang="en-US" baseline="-25000" dirty="0"/>
              <a:t>5</a:t>
            </a:r>
          </a:p>
          <a:p>
            <a:endParaRPr lang="en-US" baseline="-25000" dirty="0"/>
          </a:p>
          <a:p>
            <a:r>
              <a:rPr lang="en-US" dirty="0"/>
              <a:t>Suppose the actual class is Y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r>
              <a:rPr lang="en-US" dirty="0"/>
              <a:t>Loss = -log (0.09) = 2.41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baseline="-25000" dirty="0"/>
              <a:t>31 </a:t>
            </a:r>
            <a:r>
              <a:rPr lang="en-US" dirty="0"/>
              <a:t>= W</a:t>
            </a:r>
            <a:r>
              <a:rPr lang="en-US" baseline="-25000" dirty="0"/>
              <a:t>31</a:t>
            </a:r>
            <a:r>
              <a:rPr lang="en-US" dirty="0"/>
              <a:t> + 0.1 (1-0.09) X</a:t>
            </a:r>
            <a:r>
              <a:rPr lang="en-US" baseline="-25000" dirty="0"/>
              <a:t>1</a:t>
            </a:r>
          </a:p>
          <a:p>
            <a:r>
              <a:rPr lang="en-US" dirty="0"/>
              <a:t>W</a:t>
            </a:r>
            <a:r>
              <a:rPr lang="en-US" baseline="-25000" dirty="0"/>
              <a:t>32 </a:t>
            </a:r>
            <a:r>
              <a:rPr lang="en-US" dirty="0"/>
              <a:t>= W</a:t>
            </a:r>
            <a:r>
              <a:rPr lang="en-US" baseline="-25000" dirty="0"/>
              <a:t>32</a:t>
            </a:r>
            <a:r>
              <a:rPr lang="en-US" dirty="0"/>
              <a:t> + 0.1 (1-0.09) X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endParaRPr lang="en-US" baseline="-25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BC7628-857F-B88D-6D59-76265CF2CAEA}"/>
              </a:ext>
            </a:extLst>
          </p:cNvPr>
          <p:cNvCxnSpPr/>
          <p:nvPr/>
        </p:nvCxnSpPr>
        <p:spPr>
          <a:xfrm>
            <a:off x="2147455" y="1468578"/>
            <a:ext cx="5985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32689-B8DD-2ECA-A5E4-41EB2BD569E7}"/>
              </a:ext>
            </a:extLst>
          </p:cNvPr>
          <p:cNvCxnSpPr/>
          <p:nvPr/>
        </p:nvCxnSpPr>
        <p:spPr>
          <a:xfrm>
            <a:off x="2147455" y="2535382"/>
            <a:ext cx="6291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33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74" y="235528"/>
            <a:ext cx="5569528" cy="8589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6" y="2687782"/>
            <a:ext cx="6216241" cy="3068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979004"/>
            <a:ext cx="5962650" cy="2085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7A7C3A-8C5E-4EBF-D797-284BDF7983A2}"/>
              </a:ext>
            </a:extLst>
          </p:cNvPr>
          <p:cNvSpPr txBox="1"/>
          <p:nvPr/>
        </p:nvSpPr>
        <p:spPr>
          <a:xfrm>
            <a:off x="568036" y="498759"/>
            <a:ext cx="6216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two class problem cross entropy loss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BE688-ABFE-DD05-1B67-5368B42E5645}"/>
              </a:ext>
            </a:extLst>
          </p:cNvPr>
          <p:cNvSpPr txBox="1"/>
          <p:nvPr/>
        </p:nvSpPr>
        <p:spPr>
          <a:xfrm>
            <a:off x="568036" y="1426997"/>
            <a:ext cx="80846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more than two class problem and K number of examples the total entropy loss is</a:t>
            </a:r>
          </a:p>
          <a:p>
            <a:endParaRPr lang="en-US" dirty="0"/>
          </a:p>
          <a:p>
            <a:r>
              <a:rPr lang="en-US" dirty="0"/>
              <a:t>= - log Y</a:t>
            </a:r>
            <a:r>
              <a:rPr lang="en-US" baseline="-25000" dirty="0"/>
              <a:t>C</a:t>
            </a:r>
            <a:r>
              <a:rPr lang="en-US" dirty="0"/>
              <a:t> – log Y</a:t>
            </a:r>
            <a:r>
              <a:rPr lang="en-US" baseline="-25000" dirty="0"/>
              <a:t>A</a:t>
            </a:r>
            <a:r>
              <a:rPr lang="en-US" dirty="0"/>
              <a:t> – log Y</a:t>
            </a:r>
            <a:r>
              <a:rPr lang="en-US" baseline="-25000" dirty="0"/>
              <a:t>C</a:t>
            </a:r>
            <a:r>
              <a:rPr lang="en-US" dirty="0"/>
              <a:t> – log Y</a:t>
            </a:r>
            <a:r>
              <a:rPr lang="en-US" baseline="-25000" dirty="0"/>
              <a:t>B</a:t>
            </a:r>
            <a:r>
              <a:rPr lang="en-US" dirty="0"/>
              <a:t> - ………… for K number of examples </a:t>
            </a:r>
          </a:p>
        </p:txBody>
      </p:sp>
    </p:spTree>
    <p:extLst>
      <p:ext uri="{BB962C8B-B14F-4D97-AF65-F5344CB8AC3E}">
        <p14:creationId xmlns:p14="http://schemas.microsoft.com/office/powerpoint/2010/main" val="419572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010369"/>
            <a:ext cx="9372600" cy="31509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4272175"/>
            <a:ext cx="9391650" cy="2353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44346" y="280697"/>
            <a:ext cx="523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Stochastic vs </a:t>
            </a:r>
            <a:r>
              <a:rPr lang="en-US" sz="2800" dirty="0" err="1"/>
              <a:t>Minibatch</a:t>
            </a:r>
            <a:r>
              <a:rPr lang="en-US" sz="2800" dirty="0"/>
              <a:t> processing</a:t>
            </a:r>
          </a:p>
        </p:txBody>
      </p:sp>
    </p:spTree>
    <p:extLst>
      <p:ext uri="{BB962C8B-B14F-4D97-AF65-F5344CB8AC3E}">
        <p14:creationId xmlns:p14="http://schemas.microsoft.com/office/powerpoint/2010/main" val="295632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0DA7F-1C27-F8F8-7300-AD86E8DA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124"/>
            <a:ext cx="12192000" cy="61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3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FDD53-C33D-A56F-A6F4-7DF215BD6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6" y="163187"/>
            <a:ext cx="11956473" cy="3040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A5681-E49E-EA5B-FC5A-06F61EF2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6001"/>
            <a:ext cx="12192000" cy="34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65895-CE2B-45BB-3C37-F9BCA070C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073"/>
            <a:ext cx="12192000" cy="637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0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ADCA2-D3D6-1826-AFC5-63F79691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" y="273843"/>
            <a:ext cx="11762509" cy="63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6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1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413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Logistic Regression Part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Part II</dc:title>
  <dc:creator>rahman.mofizur@bracu.ac.bd</dc:creator>
  <cp:lastModifiedBy>Administrator</cp:lastModifiedBy>
  <cp:revision>11</cp:revision>
  <dcterms:created xsi:type="dcterms:W3CDTF">2025-03-09T05:46:46Z</dcterms:created>
  <dcterms:modified xsi:type="dcterms:W3CDTF">2026-03-11T16:55:41Z</dcterms:modified>
</cp:coreProperties>
</file>