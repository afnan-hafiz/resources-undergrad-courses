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RGVcnMPbHUR8jZqlymyhBy/d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06E3CB-F30B-412D-9C18-9EC252005440}">
  <a:tblStyle styleId="{3E06E3CB-F30B-412D-9C18-9EC2520054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0388B6D-7ED6-D767-7431-C7BD972B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>
            <a:extLst>
              <a:ext uri="{FF2B5EF4-FFF2-40B4-BE49-F238E27FC236}">
                <a16:creationId xmlns:a16="http://schemas.microsoft.com/office/drawing/2014/main" id="{C96ECBD1-F8B4-D503-DBEF-5F013C61E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CD9B95D3-508C-C6EF-DD11-662C40ECE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451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3EC4104-9CD4-7FE2-FC35-3380571B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>
            <a:extLst>
              <a:ext uri="{FF2B5EF4-FFF2-40B4-BE49-F238E27FC236}">
                <a16:creationId xmlns:a16="http://schemas.microsoft.com/office/drawing/2014/main" id="{7EFFD9F4-3B4A-0714-8FF1-ADCBD764C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257A6B90-236D-BC89-908A-489F67C04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255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Step by Step Procedure for Regression Tree Construction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2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1" name="Google Shape;91;p2"/>
          <p:cNvSpPr/>
          <p:nvPr/>
        </p:nvSpPr>
        <p:spPr>
          <a:xfrm>
            <a:off x="5621310" y="1109272"/>
            <a:ext cx="2413417" cy="9144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6175945" y="1289157"/>
            <a:ext cx="126989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</a:t>
            </a:r>
            <a:endParaRPr/>
          </a:p>
        </p:txBody>
      </p:sp>
      <p:cxnSp>
        <p:nvCxnSpPr>
          <p:cNvPr id="93" name="Google Shape;93;p2"/>
          <p:cNvCxnSpPr>
            <a:stCxn id="91" idx="2"/>
          </p:cNvCxnSpPr>
          <p:nvPr/>
        </p:nvCxnSpPr>
        <p:spPr>
          <a:xfrm flipH="1">
            <a:off x="5231419" y="2023672"/>
            <a:ext cx="1596600" cy="158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4" name="Google Shape;94;p2"/>
          <p:cNvCxnSpPr>
            <a:stCxn id="91" idx="2"/>
          </p:cNvCxnSpPr>
          <p:nvPr/>
        </p:nvCxnSpPr>
        <p:spPr>
          <a:xfrm>
            <a:off x="6828019" y="2023672"/>
            <a:ext cx="1656300" cy="1405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5" name="Google Shape;95;p2"/>
          <p:cNvSpPr txBox="1"/>
          <p:nvPr/>
        </p:nvSpPr>
        <p:spPr>
          <a:xfrm>
            <a:off x="5441430" y="2593298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899816" y="2593298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4362138" y="3927423"/>
            <a:ext cx="13516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4,6,20,25,40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899816" y="3927423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10,15,30,35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627620" y="4691921"/>
            <a:ext cx="352404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(0+2+100+100+0)/5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= 40.4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899816" y="4841823"/>
            <a:ext cx="32916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(3+100+20+10)/4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= 33.25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54439" y="5711252"/>
            <a:ext cx="763061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SSR (Gender) = (0-40.4)^2+(2-40.4)^2+(100-40.4)^2+(100-40.4)^2+(0-40.4)^2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+(3-33.25)^2+(100-33.25)^2+(20-33.25)^2+(10-33.25)^2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= </a:t>
            </a: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17929.95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3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7" name="Google Shape;107;p3"/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8" name="Google Shape;108;p3"/>
          <p:cNvSpPr/>
          <p:nvPr/>
        </p:nvSpPr>
        <p:spPr>
          <a:xfrm>
            <a:off x="8109678" y="854439"/>
            <a:ext cx="2143593" cy="914400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8469443" y="1079294"/>
            <a:ext cx="13962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Dosage&lt;22.5</a:t>
            </a:r>
            <a:endParaRPr/>
          </a:p>
        </p:txBody>
      </p:sp>
      <p:cxnSp>
        <p:nvCxnSpPr>
          <p:cNvPr id="110" name="Google Shape;110;p3"/>
          <p:cNvCxnSpPr>
            <a:stCxn id="108" idx="2"/>
          </p:cNvCxnSpPr>
          <p:nvPr/>
        </p:nvCxnSpPr>
        <p:spPr>
          <a:xfrm flipH="1">
            <a:off x="7689875" y="1768839"/>
            <a:ext cx="1491600" cy="15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" name="Google Shape;111;p3"/>
          <p:cNvCxnSpPr>
            <a:stCxn id="108" idx="2"/>
          </p:cNvCxnSpPr>
          <p:nvPr/>
        </p:nvCxnSpPr>
        <p:spPr>
          <a:xfrm>
            <a:off x="9181475" y="1768839"/>
            <a:ext cx="1446600" cy="140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2" name="Google Shape;112;p3"/>
          <p:cNvSpPr txBox="1"/>
          <p:nvPr/>
        </p:nvSpPr>
        <p:spPr>
          <a:xfrm>
            <a:off x="6535711" y="3582649"/>
            <a:ext cx="189539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4,6,10,15,20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41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9865659" y="3582649"/>
            <a:ext cx="20701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25,30,35,40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32.5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43592" y="5474756"/>
            <a:ext cx="1038443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SSR (Dosage&lt;22.5) = (0-41)^2+(2-41)^2+(3-41)^2+(100-41)^2+(100-41)^2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+(100-32.5)^2+(20-32.5)^2+(10-32.5)^2+(0-32.5)^2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=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17883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4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0" name="Google Shape;120;p4"/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1" name="Google Shape;121;p4"/>
          <p:cNvGraphicFramePr/>
          <p:nvPr/>
        </p:nvGraphicFramePr>
        <p:xfrm>
          <a:off x="5568950" y="397259"/>
          <a:ext cx="1054100" cy="4189725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SSR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16485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14670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12355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17177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17883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14709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15374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16485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5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7" name="Google Shape;127;p5"/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8" name="Google Shape;128;p5"/>
          <p:cNvGraphicFramePr/>
          <p:nvPr/>
        </p:nvGraphicFramePr>
        <p:xfrm>
          <a:off x="5313318" y="397259"/>
          <a:ext cx="1054100" cy="4189725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SSR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16485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14670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12355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17177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17883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14709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15374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16485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9" name="Google Shape;129;p5"/>
          <p:cNvSpPr txBox="1"/>
          <p:nvPr/>
        </p:nvSpPr>
        <p:spPr>
          <a:xfrm>
            <a:off x="6535711" y="3582649"/>
            <a:ext cx="20701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4,6,10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1.67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7689875" y="854439"/>
            <a:ext cx="4053222" cy="3651540"/>
            <a:chOff x="7689875" y="854439"/>
            <a:chExt cx="4053222" cy="3651540"/>
          </a:xfrm>
        </p:grpSpPr>
        <p:sp>
          <p:nvSpPr>
            <p:cNvPr id="131" name="Google Shape;131;p5"/>
            <p:cNvSpPr/>
            <p:nvPr/>
          </p:nvSpPr>
          <p:spPr>
            <a:xfrm>
              <a:off x="8109678" y="854439"/>
              <a:ext cx="2143593" cy="914400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8469443" y="1079294"/>
              <a:ext cx="1396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Dosage&lt;12.5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3" name="Google Shape;133;p5"/>
            <p:cNvCxnSpPr>
              <a:stCxn id="131" idx="2"/>
            </p:cNvCxnSpPr>
            <p:nvPr/>
          </p:nvCxnSpPr>
          <p:spPr>
            <a:xfrm flipH="1">
              <a:off x="7689875" y="1768839"/>
              <a:ext cx="1491600" cy="151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4" name="Google Shape;134;p5"/>
            <p:cNvCxnSpPr>
              <a:stCxn id="131" idx="2"/>
            </p:cNvCxnSpPr>
            <p:nvPr/>
          </p:nvCxnSpPr>
          <p:spPr>
            <a:xfrm>
              <a:off x="9181475" y="1768839"/>
              <a:ext cx="1446600" cy="140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5" name="Google Shape;135;p5"/>
            <p:cNvSpPr txBox="1"/>
            <p:nvPr/>
          </p:nvSpPr>
          <p:spPr>
            <a:xfrm>
              <a:off x="9865659" y="3582649"/>
              <a:ext cx="1877437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15,20,25,30,35,40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Predicted D.E = 55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6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40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41" name="Google Shape;141;p6"/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2" name="Google Shape;142;p6"/>
          <p:cNvGraphicFramePr/>
          <p:nvPr/>
        </p:nvGraphicFramePr>
        <p:xfrm>
          <a:off x="5568950" y="397259"/>
          <a:ext cx="1054100" cy="4189725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SSR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9920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6275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" name="Google Shape;143;p6"/>
          <p:cNvSpPr/>
          <p:nvPr/>
        </p:nvSpPr>
        <p:spPr>
          <a:xfrm>
            <a:off x="8109678" y="854439"/>
            <a:ext cx="2143593" cy="914400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8469443" y="1079294"/>
            <a:ext cx="13962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Dosage&lt;12.5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>
            <a:stCxn id="143" idx="2"/>
          </p:cNvCxnSpPr>
          <p:nvPr/>
        </p:nvCxnSpPr>
        <p:spPr>
          <a:xfrm flipH="1">
            <a:off x="7689875" y="1768839"/>
            <a:ext cx="1491600" cy="15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" name="Google Shape;146;p6"/>
          <p:cNvCxnSpPr>
            <a:stCxn id="143" idx="2"/>
          </p:cNvCxnSpPr>
          <p:nvPr/>
        </p:nvCxnSpPr>
        <p:spPr>
          <a:xfrm>
            <a:off x="9181475" y="1768839"/>
            <a:ext cx="1446600" cy="140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7" name="Google Shape;147;p6"/>
          <p:cNvSpPr txBox="1"/>
          <p:nvPr/>
        </p:nvSpPr>
        <p:spPr>
          <a:xfrm>
            <a:off x="6535711" y="3582649"/>
            <a:ext cx="20701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4,6,10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1.67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064993" y="4919085"/>
            <a:ext cx="20124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340948" y="3177915"/>
            <a:ext cx="2363372" cy="6344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636370" y="3385697"/>
            <a:ext cx="14491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Dosage &lt;17.5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>
            <a:stCxn id="149" idx="2"/>
          </p:cNvCxnSpPr>
          <p:nvPr/>
        </p:nvCxnSpPr>
        <p:spPr>
          <a:xfrm flipH="1">
            <a:off x="9003434" y="3812345"/>
            <a:ext cx="1519200" cy="111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2" name="Google Shape;152;p6"/>
          <p:cNvCxnSpPr>
            <a:stCxn id="149" idx="2"/>
          </p:cNvCxnSpPr>
          <p:nvPr/>
        </p:nvCxnSpPr>
        <p:spPr>
          <a:xfrm>
            <a:off x="10522634" y="3812345"/>
            <a:ext cx="1069200" cy="111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3" name="Google Shape;153;p6"/>
          <p:cNvSpPr txBox="1"/>
          <p:nvPr/>
        </p:nvSpPr>
        <p:spPr>
          <a:xfrm>
            <a:off x="10260287" y="4994028"/>
            <a:ext cx="189420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20.25,30,35,40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46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22782" y="5138573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SSR (Dosage&lt;17.5) = (100-100)^2+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(100-46)^2+(100-46)^2+(20-46)^2+(10-46)^2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+(0-45)^2 =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9920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SSR(Dosage&lt;22.5) = (100-100)^2+(100-100)^2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+(100-32.5)^2+(20-32.5)^2+(10-32.5)^2+(0-32.5)^2 = 6275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7"/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40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0" name="Google Shape;160;p7"/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1" name="Google Shape;161;p7"/>
          <p:cNvGraphicFramePr/>
          <p:nvPr/>
        </p:nvGraphicFramePr>
        <p:xfrm>
          <a:off x="5568950" y="397259"/>
          <a:ext cx="1054100" cy="4189725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SSR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9920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6275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7425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13076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2" name="Google Shape;162;p7"/>
          <p:cNvSpPr/>
          <p:nvPr/>
        </p:nvSpPr>
        <p:spPr>
          <a:xfrm>
            <a:off x="530935" y="4806817"/>
            <a:ext cx="679662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SSR(Dosage&lt;27.5) = (100-100)^2+(100-100)^2+(100-100)^2+(20-10)^2+(10-10)^2+(0-10)^2 = 200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SSR(32.5) = (100-105)^2+(100-105)^2+(100-105)^2+(20-105)^2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+(10-5)^2+(0-10)^2 = 7425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SSR(37.5) = (100-66)^2+(100-66)^2+(100-66)^2+(20-66)^2+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(10-66)^2+(0-66)^2 = 13076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6535711" y="3582649"/>
            <a:ext cx="20701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4,6,10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1.67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7"/>
          <p:cNvGrpSpPr/>
          <p:nvPr/>
        </p:nvGrpSpPr>
        <p:grpSpPr>
          <a:xfrm>
            <a:off x="7689875" y="854439"/>
            <a:ext cx="4053222" cy="3651540"/>
            <a:chOff x="7689875" y="854439"/>
            <a:chExt cx="4053222" cy="3651540"/>
          </a:xfrm>
        </p:grpSpPr>
        <p:sp>
          <p:nvSpPr>
            <p:cNvPr id="165" name="Google Shape;165;p7"/>
            <p:cNvSpPr/>
            <p:nvPr/>
          </p:nvSpPr>
          <p:spPr>
            <a:xfrm>
              <a:off x="8109678" y="854439"/>
              <a:ext cx="2143593" cy="914400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7"/>
            <p:cNvSpPr txBox="1"/>
            <p:nvPr/>
          </p:nvSpPr>
          <p:spPr>
            <a:xfrm>
              <a:off x="8469443" y="1079294"/>
              <a:ext cx="1396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Dosage&lt;12.5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7"/>
            <p:cNvCxnSpPr>
              <a:stCxn id="165" idx="2"/>
            </p:cNvCxnSpPr>
            <p:nvPr/>
          </p:nvCxnSpPr>
          <p:spPr>
            <a:xfrm flipH="1">
              <a:off x="7689875" y="1768839"/>
              <a:ext cx="1491600" cy="151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8" name="Google Shape;168;p7"/>
            <p:cNvCxnSpPr>
              <a:stCxn id="165" idx="2"/>
            </p:cNvCxnSpPr>
            <p:nvPr/>
          </p:nvCxnSpPr>
          <p:spPr>
            <a:xfrm>
              <a:off x="9181475" y="1768839"/>
              <a:ext cx="1446600" cy="140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9" name="Google Shape;169;p7"/>
            <p:cNvSpPr txBox="1"/>
            <p:nvPr/>
          </p:nvSpPr>
          <p:spPr>
            <a:xfrm>
              <a:off x="9865659" y="3582649"/>
              <a:ext cx="1877437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15,20,25,30,35,40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Predicted D.E = 55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9714271" y="4586993"/>
            <a:ext cx="2028825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Dosage &lt;27.5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>
            <a:stCxn id="170" idx="2"/>
          </p:cNvCxnSpPr>
          <p:nvPr/>
        </p:nvCxnSpPr>
        <p:spPr>
          <a:xfrm flipH="1">
            <a:off x="9065484" y="4956325"/>
            <a:ext cx="1663200" cy="64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7"/>
          <p:cNvCxnSpPr>
            <a:stCxn id="170" idx="2"/>
          </p:cNvCxnSpPr>
          <p:nvPr/>
        </p:nvCxnSpPr>
        <p:spPr>
          <a:xfrm>
            <a:off x="10728684" y="4956325"/>
            <a:ext cx="863400" cy="85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3" name="Google Shape;173;p7"/>
          <p:cNvSpPr txBox="1"/>
          <p:nvPr/>
        </p:nvSpPr>
        <p:spPr>
          <a:xfrm>
            <a:off x="8082113" y="5692881"/>
            <a:ext cx="201241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15,20,25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10264874" y="5781369"/>
            <a:ext cx="18953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30,35,40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10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395BD05-A372-7AD8-6767-06C50929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7">
            <a:extLst>
              <a:ext uri="{FF2B5EF4-FFF2-40B4-BE49-F238E27FC236}">
                <a16:creationId xmlns:a16="http://schemas.microsoft.com/office/drawing/2014/main" id="{89B7B095-21D9-50D3-E5A6-6028CA849E98}"/>
              </a:ext>
            </a:extLst>
          </p:cNvPr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40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0" name="Google Shape;160;p7">
            <a:extLst>
              <a:ext uri="{FF2B5EF4-FFF2-40B4-BE49-F238E27FC236}">
                <a16:creationId xmlns:a16="http://schemas.microsoft.com/office/drawing/2014/main" id="{ED6BFF58-CC25-A410-A1A7-AB631F56614D}"/>
              </a:ext>
            </a:extLst>
          </p:cNvPr>
          <p:cNvGraphicFramePr/>
          <p:nvPr/>
        </p:nvGraphicFramePr>
        <p:xfrm>
          <a:off x="3887452" y="89948"/>
          <a:ext cx="909400" cy="44671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2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Threshold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32.5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37.5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1" name="Google Shape;161;p7">
            <a:extLst>
              <a:ext uri="{FF2B5EF4-FFF2-40B4-BE49-F238E27FC236}">
                <a16:creationId xmlns:a16="http://schemas.microsoft.com/office/drawing/2014/main" id="{9F2FFFA2-4D2D-9E23-446D-47A1EEBEB735}"/>
              </a:ext>
            </a:extLst>
          </p:cNvPr>
          <p:cNvGraphicFramePr/>
          <p:nvPr/>
        </p:nvGraphicFramePr>
        <p:xfrm>
          <a:off x="5568950" y="397259"/>
          <a:ext cx="1054100" cy="4189725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SSR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9920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6275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7425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13076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2" name="Google Shape;162;p7">
            <a:extLst>
              <a:ext uri="{FF2B5EF4-FFF2-40B4-BE49-F238E27FC236}">
                <a16:creationId xmlns:a16="http://schemas.microsoft.com/office/drawing/2014/main" id="{C0276157-A5A7-782F-2C6D-CDF2343CD879}"/>
              </a:ext>
            </a:extLst>
          </p:cNvPr>
          <p:cNvSpPr/>
          <p:nvPr/>
        </p:nvSpPr>
        <p:spPr>
          <a:xfrm>
            <a:off x="530935" y="4806817"/>
            <a:ext cx="6796621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SSR(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Gender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(100-66.7)^2+(100-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66.7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)^2+(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66.7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)^2+(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100-43.3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)^2+(20-43.3)^2+(10-43.3)^2 =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6666.67+3214.89+542.89+1108.89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= 10990.45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Hence among Gender and Dosage &lt; 27.5, Dosage &lt;27.5 is the winner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>
            <a:extLst>
              <a:ext uri="{FF2B5EF4-FFF2-40B4-BE49-F238E27FC236}">
                <a16:creationId xmlns:a16="http://schemas.microsoft.com/office/drawing/2014/main" id="{D2CD38A9-11EB-8702-4283-EA159632A1AE}"/>
              </a:ext>
            </a:extLst>
          </p:cNvPr>
          <p:cNvSpPr txBox="1"/>
          <p:nvPr/>
        </p:nvSpPr>
        <p:spPr>
          <a:xfrm>
            <a:off x="6535711" y="3582649"/>
            <a:ext cx="20701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4,6,10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1.67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7">
            <a:extLst>
              <a:ext uri="{FF2B5EF4-FFF2-40B4-BE49-F238E27FC236}">
                <a16:creationId xmlns:a16="http://schemas.microsoft.com/office/drawing/2014/main" id="{3B109BAA-A539-E576-9BC7-9507541ED628}"/>
              </a:ext>
            </a:extLst>
          </p:cNvPr>
          <p:cNvGrpSpPr/>
          <p:nvPr/>
        </p:nvGrpSpPr>
        <p:grpSpPr>
          <a:xfrm>
            <a:off x="7689875" y="854439"/>
            <a:ext cx="4053222" cy="3651540"/>
            <a:chOff x="7689875" y="854439"/>
            <a:chExt cx="4053222" cy="3651540"/>
          </a:xfrm>
        </p:grpSpPr>
        <p:sp>
          <p:nvSpPr>
            <p:cNvPr id="165" name="Google Shape;165;p7">
              <a:extLst>
                <a:ext uri="{FF2B5EF4-FFF2-40B4-BE49-F238E27FC236}">
                  <a16:creationId xmlns:a16="http://schemas.microsoft.com/office/drawing/2014/main" id="{1F844AC7-1234-1055-AD11-6F5837E94FA6}"/>
                </a:ext>
              </a:extLst>
            </p:cNvPr>
            <p:cNvSpPr/>
            <p:nvPr/>
          </p:nvSpPr>
          <p:spPr>
            <a:xfrm>
              <a:off x="8109678" y="854439"/>
              <a:ext cx="2143593" cy="914400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7">
              <a:extLst>
                <a:ext uri="{FF2B5EF4-FFF2-40B4-BE49-F238E27FC236}">
                  <a16:creationId xmlns:a16="http://schemas.microsoft.com/office/drawing/2014/main" id="{71885867-C500-70A3-BA66-1C454315D6AA}"/>
                </a:ext>
              </a:extLst>
            </p:cNvPr>
            <p:cNvSpPr txBox="1"/>
            <p:nvPr/>
          </p:nvSpPr>
          <p:spPr>
            <a:xfrm>
              <a:off x="8469443" y="1079294"/>
              <a:ext cx="1396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Dosage&lt;12.5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7">
              <a:extLst>
                <a:ext uri="{FF2B5EF4-FFF2-40B4-BE49-F238E27FC236}">
                  <a16:creationId xmlns:a16="http://schemas.microsoft.com/office/drawing/2014/main" id="{633D6381-8D88-D713-36FA-7BE1EBB40294}"/>
                </a:ext>
              </a:extLst>
            </p:cNvPr>
            <p:cNvCxnSpPr>
              <a:stCxn id="165" idx="2"/>
            </p:cNvCxnSpPr>
            <p:nvPr/>
          </p:nvCxnSpPr>
          <p:spPr>
            <a:xfrm flipH="1">
              <a:off x="7689875" y="1768839"/>
              <a:ext cx="1491600" cy="151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8" name="Google Shape;168;p7">
              <a:extLst>
                <a:ext uri="{FF2B5EF4-FFF2-40B4-BE49-F238E27FC236}">
                  <a16:creationId xmlns:a16="http://schemas.microsoft.com/office/drawing/2014/main" id="{26A5D365-27A1-7860-929A-B67A5AFE508C}"/>
                </a:ext>
              </a:extLst>
            </p:cNvPr>
            <p:cNvCxnSpPr>
              <a:stCxn id="165" idx="2"/>
            </p:cNvCxnSpPr>
            <p:nvPr/>
          </p:nvCxnSpPr>
          <p:spPr>
            <a:xfrm>
              <a:off x="9181475" y="1768839"/>
              <a:ext cx="1446600" cy="140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9" name="Google Shape;169;p7">
              <a:extLst>
                <a:ext uri="{FF2B5EF4-FFF2-40B4-BE49-F238E27FC236}">
                  <a16:creationId xmlns:a16="http://schemas.microsoft.com/office/drawing/2014/main" id="{2C78FDC2-26F5-12A1-A03F-FB394996486A}"/>
                </a:ext>
              </a:extLst>
            </p:cNvPr>
            <p:cNvSpPr txBox="1"/>
            <p:nvPr/>
          </p:nvSpPr>
          <p:spPr>
            <a:xfrm>
              <a:off x="9865659" y="3582649"/>
              <a:ext cx="1877437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15,20,25,30,35,40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Predicted D.E = 55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>
            <a:extLst>
              <a:ext uri="{FF2B5EF4-FFF2-40B4-BE49-F238E27FC236}">
                <a16:creationId xmlns:a16="http://schemas.microsoft.com/office/drawing/2014/main" id="{09323A43-52E6-72FF-C863-D1BEC5E57468}"/>
              </a:ext>
            </a:extLst>
          </p:cNvPr>
          <p:cNvSpPr txBox="1"/>
          <p:nvPr/>
        </p:nvSpPr>
        <p:spPr>
          <a:xfrm>
            <a:off x="9714271" y="4586993"/>
            <a:ext cx="2028825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Gender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>
            <a:extLst>
              <a:ext uri="{FF2B5EF4-FFF2-40B4-BE49-F238E27FC236}">
                <a16:creationId xmlns:a16="http://schemas.microsoft.com/office/drawing/2014/main" id="{99BC93A2-5249-B882-0E7D-9ED04EC7D312}"/>
              </a:ext>
            </a:extLst>
          </p:cNvPr>
          <p:cNvCxnSpPr>
            <a:stCxn id="170" idx="2"/>
          </p:cNvCxnSpPr>
          <p:nvPr/>
        </p:nvCxnSpPr>
        <p:spPr>
          <a:xfrm flipH="1">
            <a:off x="9065484" y="4956325"/>
            <a:ext cx="1663200" cy="64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7">
            <a:extLst>
              <a:ext uri="{FF2B5EF4-FFF2-40B4-BE49-F238E27FC236}">
                <a16:creationId xmlns:a16="http://schemas.microsoft.com/office/drawing/2014/main" id="{56DF0BCB-B1C9-1BD7-6111-769FCFEB3987}"/>
              </a:ext>
            </a:extLst>
          </p:cNvPr>
          <p:cNvCxnSpPr>
            <a:stCxn id="170" idx="2"/>
          </p:cNvCxnSpPr>
          <p:nvPr/>
        </p:nvCxnSpPr>
        <p:spPr>
          <a:xfrm>
            <a:off x="10728684" y="4956325"/>
            <a:ext cx="863400" cy="85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F80CD333-E96E-9F29-BAC2-BAAD7D7B71F4}"/>
              </a:ext>
            </a:extLst>
          </p:cNvPr>
          <p:cNvSpPr txBox="1"/>
          <p:nvPr/>
        </p:nvSpPr>
        <p:spPr>
          <a:xfrm>
            <a:off x="7791366" y="5692881"/>
            <a:ext cx="23031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20,25,40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66.7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AF9B89AD-7AF1-DA1E-8B74-3E9B900529DF}"/>
              </a:ext>
            </a:extLst>
          </p:cNvPr>
          <p:cNvSpPr txBox="1"/>
          <p:nvPr/>
        </p:nvSpPr>
        <p:spPr>
          <a:xfrm>
            <a:off x="9959546" y="5781369"/>
            <a:ext cx="22007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15,30,35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43.3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6035D-C42D-569F-077B-05B7E96616A6}"/>
              </a:ext>
            </a:extLst>
          </p:cNvPr>
          <p:cNvSpPr txBox="1"/>
          <p:nvPr/>
        </p:nvSpPr>
        <p:spPr>
          <a:xfrm>
            <a:off x="9452919" y="511569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82CE5-5DE1-9D7D-C72C-C3C49662E5E0}"/>
              </a:ext>
            </a:extLst>
          </p:cNvPr>
          <p:cNvSpPr txBox="1"/>
          <p:nvPr/>
        </p:nvSpPr>
        <p:spPr>
          <a:xfrm>
            <a:off x="10827540" y="528754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8615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FD1AB54-5A21-1889-5B01-CB838995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7">
            <a:extLst>
              <a:ext uri="{FF2B5EF4-FFF2-40B4-BE49-F238E27FC236}">
                <a16:creationId xmlns:a16="http://schemas.microsoft.com/office/drawing/2014/main" id="{11B11C08-974B-961B-1225-1804D37ED5F7}"/>
              </a:ext>
            </a:extLst>
          </p:cNvPr>
          <p:cNvGraphicFramePr/>
          <p:nvPr/>
        </p:nvGraphicFramePr>
        <p:xfrm>
          <a:off x="437213" y="397260"/>
          <a:ext cx="2635775" cy="4159750"/>
        </p:xfrm>
        <a:graphic>
          <a:graphicData uri="http://schemas.openxmlformats.org/drawingml/2006/table">
            <a:tbl>
              <a:tblPr>
                <a:noFill/>
                <a:tableStyleId>{3E06E3CB-F30B-412D-9C18-9EC252005440}</a:tableStyleId>
              </a:tblPr>
              <a:tblGrid>
                <a:gridCol w="60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Dosage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Gender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Drug Effectiveness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20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35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F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40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</a:rPr>
                        <a:t>M</a:t>
                      </a:r>
                      <a:endParaRPr sz="14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3" name="Google Shape;163;p7">
            <a:extLst>
              <a:ext uri="{FF2B5EF4-FFF2-40B4-BE49-F238E27FC236}">
                <a16:creationId xmlns:a16="http://schemas.microsoft.com/office/drawing/2014/main" id="{08B7770A-0DF1-E682-7B4B-77187EF1C864}"/>
              </a:ext>
            </a:extLst>
          </p:cNvPr>
          <p:cNvSpPr txBox="1"/>
          <p:nvPr/>
        </p:nvSpPr>
        <p:spPr>
          <a:xfrm>
            <a:off x="6535711" y="3582649"/>
            <a:ext cx="20701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1.67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7">
            <a:extLst>
              <a:ext uri="{FF2B5EF4-FFF2-40B4-BE49-F238E27FC236}">
                <a16:creationId xmlns:a16="http://schemas.microsoft.com/office/drawing/2014/main" id="{57E47F59-E5FC-C679-8E6F-C27E100EDD73}"/>
              </a:ext>
            </a:extLst>
          </p:cNvPr>
          <p:cNvGrpSpPr/>
          <p:nvPr/>
        </p:nvGrpSpPr>
        <p:grpSpPr>
          <a:xfrm>
            <a:off x="7689875" y="854439"/>
            <a:ext cx="4053222" cy="3097501"/>
            <a:chOff x="7689875" y="854439"/>
            <a:chExt cx="4053222" cy="3097501"/>
          </a:xfrm>
        </p:grpSpPr>
        <p:sp>
          <p:nvSpPr>
            <p:cNvPr id="165" name="Google Shape;165;p7">
              <a:extLst>
                <a:ext uri="{FF2B5EF4-FFF2-40B4-BE49-F238E27FC236}">
                  <a16:creationId xmlns:a16="http://schemas.microsoft.com/office/drawing/2014/main" id="{AACD2395-4A79-39FA-74E2-5077C2EF80B6}"/>
                </a:ext>
              </a:extLst>
            </p:cNvPr>
            <p:cNvSpPr/>
            <p:nvPr/>
          </p:nvSpPr>
          <p:spPr>
            <a:xfrm>
              <a:off x="8109678" y="854439"/>
              <a:ext cx="2143593" cy="914400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7">
              <a:extLst>
                <a:ext uri="{FF2B5EF4-FFF2-40B4-BE49-F238E27FC236}">
                  <a16:creationId xmlns:a16="http://schemas.microsoft.com/office/drawing/2014/main" id="{320A3E83-ECD0-E0BC-3B4C-62B1C9DC16A9}"/>
                </a:ext>
              </a:extLst>
            </p:cNvPr>
            <p:cNvSpPr txBox="1"/>
            <p:nvPr/>
          </p:nvSpPr>
          <p:spPr>
            <a:xfrm>
              <a:off x="8469443" y="1079294"/>
              <a:ext cx="1396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Dosage&lt;12.5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7">
              <a:extLst>
                <a:ext uri="{FF2B5EF4-FFF2-40B4-BE49-F238E27FC236}">
                  <a16:creationId xmlns:a16="http://schemas.microsoft.com/office/drawing/2014/main" id="{06BB013B-CD03-BFBA-80B4-AB4FDC16C370}"/>
                </a:ext>
              </a:extLst>
            </p:cNvPr>
            <p:cNvCxnSpPr>
              <a:stCxn id="165" idx="2"/>
            </p:cNvCxnSpPr>
            <p:nvPr/>
          </p:nvCxnSpPr>
          <p:spPr>
            <a:xfrm flipH="1">
              <a:off x="7689875" y="1768839"/>
              <a:ext cx="1491600" cy="151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8" name="Google Shape;168;p7">
              <a:extLst>
                <a:ext uri="{FF2B5EF4-FFF2-40B4-BE49-F238E27FC236}">
                  <a16:creationId xmlns:a16="http://schemas.microsoft.com/office/drawing/2014/main" id="{F8F723EE-B172-3FAA-2A00-045EA8E1B193}"/>
                </a:ext>
              </a:extLst>
            </p:cNvPr>
            <p:cNvCxnSpPr>
              <a:stCxn id="165" idx="2"/>
            </p:cNvCxnSpPr>
            <p:nvPr/>
          </p:nvCxnSpPr>
          <p:spPr>
            <a:xfrm>
              <a:off x="9181475" y="1768839"/>
              <a:ext cx="1446600" cy="140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9" name="Google Shape;169;p7">
              <a:extLst>
                <a:ext uri="{FF2B5EF4-FFF2-40B4-BE49-F238E27FC236}">
                  <a16:creationId xmlns:a16="http://schemas.microsoft.com/office/drawing/2014/main" id="{413AC103-0E03-7C0F-FD46-7FB03FA7AA0F}"/>
                </a:ext>
              </a:extLst>
            </p:cNvPr>
            <p:cNvSpPr txBox="1"/>
            <p:nvPr/>
          </p:nvSpPr>
          <p:spPr>
            <a:xfrm>
              <a:off x="9672979" y="3582649"/>
              <a:ext cx="2070118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Predicted D.E = 55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>
            <a:extLst>
              <a:ext uri="{FF2B5EF4-FFF2-40B4-BE49-F238E27FC236}">
                <a16:creationId xmlns:a16="http://schemas.microsoft.com/office/drawing/2014/main" id="{8F5F945F-EF55-4691-D806-8BB111EFE0BB}"/>
              </a:ext>
            </a:extLst>
          </p:cNvPr>
          <p:cNvSpPr txBox="1"/>
          <p:nvPr/>
        </p:nvSpPr>
        <p:spPr>
          <a:xfrm>
            <a:off x="9714271" y="4586993"/>
            <a:ext cx="2028825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Dosage &lt;27.5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>
            <a:extLst>
              <a:ext uri="{FF2B5EF4-FFF2-40B4-BE49-F238E27FC236}">
                <a16:creationId xmlns:a16="http://schemas.microsoft.com/office/drawing/2014/main" id="{36C6A4D1-2832-18B3-8616-DC2A81D7C8F5}"/>
              </a:ext>
            </a:extLst>
          </p:cNvPr>
          <p:cNvCxnSpPr>
            <a:stCxn id="170" idx="2"/>
          </p:cNvCxnSpPr>
          <p:nvPr/>
        </p:nvCxnSpPr>
        <p:spPr>
          <a:xfrm flipH="1">
            <a:off x="9065484" y="4956325"/>
            <a:ext cx="1663200" cy="64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7">
            <a:extLst>
              <a:ext uri="{FF2B5EF4-FFF2-40B4-BE49-F238E27FC236}">
                <a16:creationId xmlns:a16="http://schemas.microsoft.com/office/drawing/2014/main" id="{5F85CA57-34EB-034B-550C-408000EA9510}"/>
              </a:ext>
            </a:extLst>
          </p:cNvPr>
          <p:cNvCxnSpPr>
            <a:stCxn id="170" idx="2"/>
          </p:cNvCxnSpPr>
          <p:nvPr/>
        </p:nvCxnSpPr>
        <p:spPr>
          <a:xfrm>
            <a:off x="10728684" y="4956325"/>
            <a:ext cx="863400" cy="85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7F4A8D59-E890-734F-9FF1-BF6CC656A5FC}"/>
              </a:ext>
            </a:extLst>
          </p:cNvPr>
          <p:cNvSpPr txBox="1"/>
          <p:nvPr/>
        </p:nvSpPr>
        <p:spPr>
          <a:xfrm>
            <a:off x="8082113" y="5692881"/>
            <a:ext cx="20124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100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9B067E81-80E4-64A6-BC46-F9911779229D}"/>
              </a:ext>
            </a:extLst>
          </p:cNvPr>
          <p:cNvSpPr txBox="1"/>
          <p:nvPr/>
        </p:nvSpPr>
        <p:spPr>
          <a:xfrm>
            <a:off x="10264874" y="5781369"/>
            <a:ext cx="18953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D.E = 10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3932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Widescreen</PresentationFormat>
  <Paragraphs>404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Step by Step Procedure for Regression Tree Construction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1</cp:revision>
  <dcterms:created xsi:type="dcterms:W3CDTF">2025-02-18T17:41:22Z</dcterms:created>
  <dcterms:modified xsi:type="dcterms:W3CDTF">2026-02-07T09:29:28Z</dcterms:modified>
</cp:coreProperties>
</file>