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58" r:id="rId5"/>
    <p:sldId id="260" r:id="rId6"/>
    <p:sldId id="271" r:id="rId7"/>
    <p:sldId id="262" r:id="rId8"/>
    <p:sldId id="272" r:id="rId9"/>
    <p:sldId id="273" r:id="rId10"/>
    <p:sldId id="266" r:id="rId11"/>
    <p:sldId id="274" r:id="rId12"/>
    <p:sldId id="267" r:id="rId13"/>
    <p:sldId id="275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F983-C42E-97D1-E6DC-147DD1BE3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017F0-4926-A831-9482-F3935CBF0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2826-6FF7-96EE-7600-05F3DFAC7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090B2-2EF2-4595-9EFD-133B01CC4299}" type="datetimeFigureOut">
              <a:rPr lang="en-US" smtClean="0"/>
              <a:t>07-Feb-26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1F5BC-952D-E906-5526-6467FF20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0441E-9A53-0722-2E19-5EC899D27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D83B5-E923-43DC-85E8-D3958AAA1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489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BC86-F980-55FA-949A-9EE10F2D4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0E175-2061-B870-BF2E-96B95E094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7B47B-C1F9-63FE-0B47-724BEFD7B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090B2-2EF2-4595-9EFD-133B01CC4299}" type="datetimeFigureOut">
              <a:rPr lang="en-US" smtClean="0"/>
              <a:t>07-Feb-26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2022A-9956-6228-2835-BD2E604EE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016DC-A7F5-70F9-79D8-82D08E75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D83B5-E923-43DC-85E8-D3958AAA1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76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317A-DBA5-8318-852C-23277F23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EC4CC-4F50-2E39-6162-F1C27D049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69675-C44B-09A9-F91F-AED0AB305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090B2-2EF2-4595-9EFD-133B01CC4299}" type="datetimeFigureOut">
              <a:rPr lang="en-US" smtClean="0"/>
              <a:t>07-Feb-26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6FD3A-8246-B2E4-D321-E6F53530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D7186-42FF-95E4-8D65-62F1090EF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D83B5-E923-43DC-85E8-D3958AAA1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16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1A673-9CB8-63B2-E691-EC410534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A33BE-0639-B1DC-53C8-D06BC9EC5A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58DF1-7255-5C45-57A1-10EBD605B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F7CB2-5B74-8A84-72E0-6FD56F3BF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090B2-2EF2-4595-9EFD-133B01CC4299}" type="datetimeFigureOut">
              <a:rPr lang="en-US" smtClean="0"/>
              <a:t>07-Feb-26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992EB-8DA1-3B8D-BE32-C102F97B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53CDF-1CAC-279A-3AF9-4E1B32CB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D83B5-E923-43DC-85E8-D3958AAA1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55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73A26-E2F4-F481-51BC-2C601A29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C1F6C-15F1-C989-9267-5025CDBC5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266C2-0807-C517-5579-755ACB5E5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82ECB-8C0E-AE7C-5DC7-A1B539DE9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024FB5-6FD2-5191-7BA1-AB57108D49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7BF864-81ED-BB54-5CF3-AC3B6069F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090B2-2EF2-4595-9EFD-133B01CC4299}" type="datetimeFigureOut">
              <a:rPr lang="en-US" smtClean="0"/>
              <a:t>07-Feb-26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968C5E-91B0-C295-7593-A86EE2426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781713-5CF3-C2A8-5A14-72BD6DBBC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D83B5-E923-43DC-85E8-D3958AAA1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7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79D8-8862-8F22-4A12-9301F5637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01C735-BD51-3D5F-3697-1AF2CF864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090B2-2EF2-4595-9EFD-133B01CC4299}" type="datetimeFigureOut">
              <a:rPr lang="en-US" smtClean="0"/>
              <a:t>07-Feb-26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C0D581-91BA-037F-D0D2-DBEBCCC7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E3609-4E86-0619-BF03-508F6463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D83B5-E923-43DC-85E8-D3958AAA1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12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0CD75-EAF0-8601-2C66-3CABA031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090B2-2EF2-4595-9EFD-133B01CC4299}" type="datetimeFigureOut">
              <a:rPr lang="en-US" smtClean="0"/>
              <a:t>07-Feb-26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4D814-54A1-F8D6-BB25-827673173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1A37A-EB60-1285-90B6-2DF58A597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D83B5-E923-43DC-85E8-D3958AAA1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5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8CAF6-5C7F-6F33-5D65-B62F1882A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17FE7-1239-0BA5-910F-83E820956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F7418-6532-CE7E-E022-4C08E67ED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63EE0-B74C-0350-AD01-8BC77E6C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090B2-2EF2-4595-9EFD-133B01CC4299}" type="datetimeFigureOut">
              <a:rPr lang="en-US" smtClean="0"/>
              <a:t>07-Feb-26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D40B9-521A-D73B-4440-0C2E3B7C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844F2-C9DF-EFB1-6240-C1CE047A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D83B5-E923-43DC-85E8-D3958AAA1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2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2FA11-F74D-F85E-782F-84BE18FA8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E8A48D-6670-BC4B-A330-2B768C2A2E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BF7B1-76E9-5679-B402-83A39536F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9812A-5294-8C39-A538-81DE0AA68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090B2-2EF2-4595-9EFD-133B01CC4299}" type="datetimeFigureOut">
              <a:rPr lang="en-US" smtClean="0"/>
              <a:t>07-Feb-26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9DD11-0541-69B4-10BC-B4DB681A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C355C-7A3F-3959-8ECC-A189286B3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D83B5-E923-43DC-85E8-D3958AAA1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9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32ECC-CC9D-8456-3C71-4C752607A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80A1D-C684-B43D-AEE2-B68CFF953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B61DA-9DE6-DAA5-56F6-A5145D68B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090B2-2EF2-4595-9EFD-133B01CC4299}" type="datetimeFigureOut">
              <a:rPr lang="en-US" smtClean="0"/>
              <a:t>07-Feb-26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2C397-BA1B-9B0C-ECC4-66BA4F5A7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BA5F7-86F9-EF03-FFBD-C67F97536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D83B5-E923-43DC-85E8-D3958AAA1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77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C06DE4-52CE-3974-8DFF-A06B2D5D4B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86BDC-BF58-41CF-FF63-E94AF02A9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DB298-E6F4-0DFF-FD8F-83E17664B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090B2-2EF2-4595-9EFD-133B01CC4299}" type="datetimeFigureOut">
              <a:rPr lang="en-US" smtClean="0"/>
              <a:t>07-Feb-26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5BA18-8F6F-D9AD-DA34-A337FB706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60DFD-CB87-1D56-A704-68DFCF74A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D83B5-E923-43DC-85E8-D3958AAA1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88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26B7FE-E021-2380-8CCC-3ED89BC78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204AB-B823-5739-77DB-87E75961B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6952D-4BB7-7452-A412-B8E72D2EF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090B2-2EF2-4595-9EFD-133B01CC4299}" type="datetimeFigureOut">
              <a:rPr lang="en-US" smtClean="0"/>
              <a:t>07-Feb-26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9A5FC-9F60-03D8-1DCD-5E34E177D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8988A-8D1F-ECA8-E895-DCDC5FC1A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D83B5-E923-43DC-85E8-D3958AAA1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49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D4805-2217-A714-95CE-C6C1A089F1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Decision Tree Construction using Information Gain </a:t>
            </a:r>
          </a:p>
        </p:txBody>
      </p:sp>
    </p:spTree>
    <p:extLst>
      <p:ext uri="{BB962C8B-B14F-4D97-AF65-F5344CB8AC3E}">
        <p14:creationId xmlns:p14="http://schemas.microsoft.com/office/powerpoint/2010/main" val="183494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3C3A12-19DA-F9D5-319C-0E547BBA0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957" y="432487"/>
            <a:ext cx="9415847" cy="570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9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FF1182-A860-3638-CC57-F3B1177E1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89" y="909917"/>
            <a:ext cx="6709719" cy="29453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499FA2-A424-EA88-DCAA-F667E5874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514" y="3621827"/>
            <a:ext cx="6277232" cy="274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025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0E7D5D-5781-BD40-D157-1E94E2F30094}"/>
                  </a:ext>
                </a:extLst>
              </p:cNvPr>
              <p:cNvSpPr txBox="1"/>
              <p:nvPr/>
            </p:nvSpPr>
            <p:spPr>
              <a:xfrm>
                <a:off x="794479" y="914400"/>
                <a:ext cx="11090665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Info(Before using Loves Popcorn) = Info(3P,4N) = - (3/7) log(3/7) – (4/7) log(4/7)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0.985</m:t>
                    </m:r>
                  </m:oMath>
                </a14:m>
                <a:endParaRPr lang="en-US" sz="2400" b="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Info(After using Loves Popcorn) = (4/7) [-1/4 log(1/4)-3/4 log(3/4)]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                                                                                          +(3/7) [-2/3 log(2/3)-1/3 log(1/3)]</a:t>
                </a:r>
              </a:p>
              <a:p>
                <a:r>
                  <a:rPr lang="en-US" sz="2400" dirty="0"/>
                  <a:t>                                     = 0.857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Info Gain(Loves Popcorn) = 0.985 – 0.857 = 0.128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0E7D5D-5781-BD40-D157-1E94E2F30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479" y="914400"/>
                <a:ext cx="11090665" cy="4154984"/>
              </a:xfrm>
              <a:prstGeom prst="rect">
                <a:avLst/>
              </a:prstGeom>
              <a:blipFill>
                <a:blip r:embed="rId2"/>
                <a:stretch>
                  <a:fillRect l="-824" t="-1173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144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715CF-3F71-370F-1403-FAAC266C6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5FEE442-52B6-D8C6-83F4-3510475D764F}"/>
                  </a:ext>
                </a:extLst>
              </p:cNvPr>
              <p:cNvSpPr txBox="1"/>
              <p:nvPr/>
            </p:nvSpPr>
            <p:spPr>
              <a:xfrm>
                <a:off x="794479" y="914400"/>
                <a:ext cx="10972800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Info(Before using Loves Soda) = Info(3P,4N) = - (3/7) log(3/7) – (4/7) log(4/7)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0.985</m:t>
                    </m:r>
                  </m:oMath>
                </a14:m>
                <a:endParaRPr lang="en-US" sz="2400" b="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Info(After using Loves Soda) = (4/7) [-3/4 log(3/4)-1/4 log(1/4)]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                                                                                          +(3/7) [-0/3 log(0/3)-3/3 log(3/3)]</a:t>
                </a:r>
              </a:p>
              <a:p>
                <a:r>
                  <a:rPr lang="en-US" sz="2400" dirty="0"/>
                  <a:t>                                     = 0.464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Info Gain(Loves Soda) = 0.985 – 0.464 = 0.521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5FEE442-52B6-D8C6-83F4-3510475D7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479" y="914400"/>
                <a:ext cx="10972800" cy="4154984"/>
              </a:xfrm>
              <a:prstGeom prst="rect">
                <a:avLst/>
              </a:prstGeom>
              <a:blipFill>
                <a:blip r:embed="rId2"/>
                <a:stretch>
                  <a:fillRect l="-833" t="-1173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959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0AB56-B270-516A-5C52-9562819CA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14" y="605480"/>
            <a:ext cx="10882772" cy="556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59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420CD-2639-42D0-CE39-C94E4EEA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3FD533E-D0CB-FD3F-A0FA-232591746610}"/>
                  </a:ext>
                </a:extLst>
              </p:cNvPr>
              <p:cNvSpPr txBox="1"/>
              <p:nvPr/>
            </p:nvSpPr>
            <p:spPr>
              <a:xfrm>
                <a:off x="794479" y="914400"/>
                <a:ext cx="1097280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Info(Before using Age &lt; 36.5) = Info(3P,4N) = - (3/7) log(3/7) – (4/7) log(4/7)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0.985</m:t>
                    </m:r>
                  </m:oMath>
                </a14:m>
                <a:endParaRPr lang="en-US" sz="2400" b="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Info(After using Age&lt;36.5) = (4/7) [-2/4 log(2/4)-2/4 log(2/4)]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                                                                                          +(3/7) [-1/3 log(1/3)-2/3 log(2/3)]</a:t>
                </a:r>
              </a:p>
              <a:p>
                <a:r>
                  <a:rPr lang="en-US" sz="2400" dirty="0"/>
                  <a:t>                                     = 0.965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Info Gain(Age&lt;36.5) = 0.985 – 0.965 = 0.02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We will compute information gain for other midpoints. Assume that the information gain for Age &lt; 15  has got the highest information gain 0.291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3FD533E-D0CB-FD3F-A0FA-232591746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479" y="914400"/>
                <a:ext cx="10972800" cy="5262979"/>
              </a:xfrm>
              <a:prstGeom prst="rect">
                <a:avLst/>
              </a:prstGeom>
              <a:blipFill>
                <a:blip r:embed="rId2"/>
                <a:stretch>
                  <a:fillRect l="-833" t="-927" b="-1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2616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2AA133-0345-BC21-6BA7-0E1853077D50}"/>
              </a:ext>
            </a:extLst>
          </p:cNvPr>
          <p:cNvSpPr txBox="1"/>
          <p:nvPr/>
        </p:nvSpPr>
        <p:spPr>
          <a:xfrm>
            <a:off x="1050324" y="659531"/>
            <a:ext cx="3719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 Gain(Loves Popcorn) = 0.128</a:t>
            </a:r>
          </a:p>
          <a:p>
            <a:r>
              <a:rPr lang="en-US" dirty="0"/>
              <a:t>Info Gain (Loves Soda) =0.521</a:t>
            </a:r>
          </a:p>
          <a:p>
            <a:r>
              <a:rPr lang="en-US" dirty="0"/>
              <a:t>Info Gain (Age &lt;15) = 0.291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202CF3-8B08-E340-7166-430F2EFD0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589" y="1865871"/>
            <a:ext cx="8932822" cy="413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7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403C01-9066-97EB-889C-998CB0FF5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681" y="506626"/>
            <a:ext cx="9401060" cy="33486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A909A4-E432-2581-205A-C232E396E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912" y="3657599"/>
            <a:ext cx="8258175" cy="295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937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CF451-7DD8-191F-4171-42E322E01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A7B8F7-2C0F-0A99-EAE9-3C28EB8F73D1}"/>
              </a:ext>
            </a:extLst>
          </p:cNvPr>
          <p:cNvSpPr txBox="1"/>
          <p:nvPr/>
        </p:nvSpPr>
        <p:spPr>
          <a:xfrm>
            <a:off x="794479" y="914400"/>
            <a:ext cx="10972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Info(Before using Loves Popcorn) = Info(3P,1N) = - (3/4) log(3/4) – (1/4) log(1/4) = 0.811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Info(After using Loves Popcorn) = (2/4) [-1/2 log(1/2)-1/2 log(1/2)] </a:t>
            </a:r>
          </a:p>
          <a:p>
            <a:endParaRPr lang="en-US" sz="2400" dirty="0"/>
          </a:p>
          <a:p>
            <a:r>
              <a:rPr lang="en-US" sz="2400" dirty="0"/>
              <a:t>                                                                                          +(2/4) [-2/2 log(2/2)-0/2 log(0/2)]</a:t>
            </a:r>
          </a:p>
          <a:p>
            <a:r>
              <a:rPr lang="en-US" sz="2400" dirty="0"/>
              <a:t>                                     = 0.50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Info Gain(Loves Popcorn) = 0.811 – 0.50 = 0.311</a:t>
            </a:r>
          </a:p>
        </p:txBody>
      </p:sp>
    </p:spTree>
    <p:extLst>
      <p:ext uri="{BB962C8B-B14F-4D97-AF65-F5344CB8AC3E}">
        <p14:creationId xmlns:p14="http://schemas.microsoft.com/office/powerpoint/2010/main" val="1198115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84CAEC-2ABD-0F5F-03E3-8BA2573BC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12" y="358346"/>
            <a:ext cx="9858375" cy="27184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8AA4F1-239E-4720-2A63-5E9D36888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275" y="2928551"/>
            <a:ext cx="7791450" cy="348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974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94D6E-6E23-B006-755D-D22E21F1F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97DB98-975A-0113-A268-084C8057DE89}"/>
              </a:ext>
            </a:extLst>
          </p:cNvPr>
          <p:cNvSpPr txBox="1"/>
          <p:nvPr/>
        </p:nvSpPr>
        <p:spPr>
          <a:xfrm>
            <a:off x="794479" y="149904"/>
            <a:ext cx="109728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Info(Before using Age &lt;12.5) = Info(3P,1N) = - (3/4) log(3/4) – (1/4) log(1/4) = 0.811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Info(After using Age&lt;12.5) = (1/4) [-0/1 log(0/1)-1/1 log(1/1)] </a:t>
            </a:r>
          </a:p>
          <a:p>
            <a:endParaRPr lang="en-US" sz="2400" dirty="0"/>
          </a:p>
          <a:p>
            <a:r>
              <a:rPr lang="en-US" sz="2400" dirty="0"/>
              <a:t>                                                                                          +(3/4) [-3/3 log(3/3)-0/3 log(0/3)]</a:t>
            </a:r>
          </a:p>
          <a:p>
            <a:r>
              <a:rPr lang="en-US" sz="2400" dirty="0"/>
              <a:t>                                     = 0.00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Info Gain(Age&lt;12.5) = 0.811 – 0.00 = 0.811</a:t>
            </a:r>
          </a:p>
          <a:p>
            <a:endParaRPr lang="en-US" sz="2400" dirty="0"/>
          </a:p>
          <a:p>
            <a:r>
              <a:rPr lang="en-US" sz="2400" dirty="0"/>
              <a:t>Info gain of other mid points are less than 0.811</a:t>
            </a:r>
          </a:p>
          <a:p>
            <a:endParaRPr lang="en-US" sz="2400" dirty="0"/>
          </a:p>
          <a:p>
            <a:r>
              <a:rPr lang="en-US" sz="2400" dirty="0"/>
              <a:t>Info Gain(Loves Popcorn) = 0.811 – 0.50 = 0.311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2C4771-E5CB-FB19-25C4-20863C87C04D}"/>
              </a:ext>
            </a:extLst>
          </p:cNvPr>
          <p:cNvCxnSpPr/>
          <p:nvPr/>
        </p:nvCxnSpPr>
        <p:spPr>
          <a:xfrm>
            <a:off x="7090348" y="4467069"/>
            <a:ext cx="0" cy="19787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9645F05-530A-8FED-55D7-A45A678AA437}"/>
              </a:ext>
            </a:extLst>
          </p:cNvPr>
          <p:cNvSpPr txBox="1"/>
          <p:nvPr/>
        </p:nvSpPr>
        <p:spPr>
          <a:xfrm>
            <a:off x="7809869" y="4939256"/>
            <a:ext cx="23534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Age&lt;12.5 is the winner</a:t>
            </a:r>
          </a:p>
        </p:txBody>
      </p:sp>
    </p:spTree>
    <p:extLst>
      <p:ext uri="{BB962C8B-B14F-4D97-AF65-F5344CB8AC3E}">
        <p14:creationId xmlns:p14="http://schemas.microsoft.com/office/powerpoint/2010/main" val="1877517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DCA3DA-9341-B8D6-EDD2-DBC085ADA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16" y="334147"/>
            <a:ext cx="4942703" cy="415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1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E2B3C7-931E-047E-20C1-60DDCF896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094" y="0"/>
            <a:ext cx="8689939" cy="667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00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516</Words>
  <Application>Microsoft Office PowerPoint</Application>
  <PresentationFormat>Widescreen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 Decision Tree Construction using Information Gain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by Step Procedure for Decision Tree Construction</dc:title>
  <dc:creator>Administrator</dc:creator>
  <cp:lastModifiedBy>Administrator</cp:lastModifiedBy>
  <cp:revision>4</cp:revision>
  <dcterms:created xsi:type="dcterms:W3CDTF">2025-02-18T17:24:01Z</dcterms:created>
  <dcterms:modified xsi:type="dcterms:W3CDTF">2026-02-06T18:50:42Z</dcterms:modified>
</cp:coreProperties>
</file>