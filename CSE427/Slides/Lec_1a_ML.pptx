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embeddedFontLst>
    <p:embeddedFont>
      <p:font typeface="Inter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hAQ2eINLqxO/rNE921FP/NiX43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B6DC3F3-099E-420A-A36F-6C060B8C727B}">
  <a:tblStyle styleId="{8B6DC3F3-099E-420A-A36F-6C060B8C727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6" d="100"/>
          <a:sy n="96" d="100"/>
        </p:scale>
        <p:origin x="-2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 txBox="1">
            <a:spLocks noGrp="1"/>
          </p:cNvSpPr>
          <p:nvPr>
            <p:ph type="dt" idx="10"/>
          </p:nvPr>
        </p:nvSpPr>
        <p:spPr>
          <a:xfrm>
            <a:off x="1117600" y="6356351"/>
            <a:ext cx="3657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ftr" idx="11"/>
          </p:nvPr>
        </p:nvSpPr>
        <p:spPr>
          <a:xfrm>
            <a:off x="538480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11480800" y="6356351"/>
            <a:ext cx="3657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title"/>
          </p:nvPr>
        </p:nvSpPr>
        <p:spPr>
          <a:xfrm>
            <a:off x="1117600" y="365126"/>
            <a:ext cx="140208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1"/>
          </p:nvPr>
        </p:nvSpPr>
        <p:spPr>
          <a:xfrm>
            <a:off x="1117600" y="1825625"/>
            <a:ext cx="140208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dt" idx="10"/>
          </p:nvPr>
        </p:nvSpPr>
        <p:spPr>
          <a:xfrm>
            <a:off x="1117600" y="6356351"/>
            <a:ext cx="3657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ftr" idx="11"/>
          </p:nvPr>
        </p:nvSpPr>
        <p:spPr>
          <a:xfrm>
            <a:off x="538480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11480800" y="6356351"/>
            <a:ext cx="3657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4"/>
          <p:cNvSpPr txBox="1">
            <a:spLocks noGrp="1"/>
          </p:cNvSpPr>
          <p:nvPr>
            <p:ph type="ctrTitle"/>
          </p:nvPr>
        </p:nvSpPr>
        <p:spPr>
          <a:xfrm>
            <a:off x="2032000" y="1122363"/>
            <a:ext cx="12192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34"/>
          <p:cNvSpPr txBox="1">
            <a:spLocks noGrp="1"/>
          </p:cNvSpPr>
          <p:nvPr>
            <p:ph type="subTitle" idx="1"/>
          </p:nvPr>
        </p:nvSpPr>
        <p:spPr>
          <a:xfrm>
            <a:off x="2032000" y="3602038"/>
            <a:ext cx="12192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9" name="Google Shape;99;p34"/>
          <p:cNvSpPr txBox="1">
            <a:spLocks noGrp="1"/>
          </p:cNvSpPr>
          <p:nvPr>
            <p:ph type="dt" idx="10"/>
          </p:nvPr>
        </p:nvSpPr>
        <p:spPr>
          <a:xfrm>
            <a:off x="1117600" y="6356351"/>
            <a:ext cx="3657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4"/>
          <p:cNvSpPr txBox="1">
            <a:spLocks noGrp="1"/>
          </p:cNvSpPr>
          <p:nvPr>
            <p:ph type="ftr" idx="11"/>
          </p:nvPr>
        </p:nvSpPr>
        <p:spPr>
          <a:xfrm>
            <a:off x="538480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4"/>
          <p:cNvSpPr txBox="1">
            <a:spLocks noGrp="1"/>
          </p:cNvSpPr>
          <p:nvPr>
            <p:ph type="sldNum" idx="12"/>
          </p:nvPr>
        </p:nvSpPr>
        <p:spPr>
          <a:xfrm>
            <a:off x="11480800" y="6356351"/>
            <a:ext cx="3657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5"/>
          <p:cNvSpPr txBox="1">
            <a:spLocks noGrp="1"/>
          </p:cNvSpPr>
          <p:nvPr>
            <p:ph type="title"/>
          </p:nvPr>
        </p:nvSpPr>
        <p:spPr>
          <a:xfrm>
            <a:off x="1109133" y="1709739"/>
            <a:ext cx="140208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35"/>
          <p:cNvSpPr txBox="1">
            <a:spLocks noGrp="1"/>
          </p:cNvSpPr>
          <p:nvPr>
            <p:ph type="body" idx="1"/>
          </p:nvPr>
        </p:nvSpPr>
        <p:spPr>
          <a:xfrm>
            <a:off x="1109133" y="4589464"/>
            <a:ext cx="140208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35"/>
          <p:cNvSpPr txBox="1">
            <a:spLocks noGrp="1"/>
          </p:cNvSpPr>
          <p:nvPr>
            <p:ph type="dt" idx="10"/>
          </p:nvPr>
        </p:nvSpPr>
        <p:spPr>
          <a:xfrm>
            <a:off x="1117600" y="6356351"/>
            <a:ext cx="3657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5"/>
          <p:cNvSpPr txBox="1">
            <a:spLocks noGrp="1"/>
          </p:cNvSpPr>
          <p:nvPr>
            <p:ph type="ftr" idx="11"/>
          </p:nvPr>
        </p:nvSpPr>
        <p:spPr>
          <a:xfrm>
            <a:off x="538480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5"/>
          <p:cNvSpPr txBox="1">
            <a:spLocks noGrp="1"/>
          </p:cNvSpPr>
          <p:nvPr>
            <p:ph type="sldNum" idx="12"/>
          </p:nvPr>
        </p:nvSpPr>
        <p:spPr>
          <a:xfrm>
            <a:off x="11480800" y="6356351"/>
            <a:ext cx="3657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6"/>
          <p:cNvSpPr txBox="1">
            <a:spLocks noGrp="1"/>
          </p:cNvSpPr>
          <p:nvPr>
            <p:ph type="title"/>
          </p:nvPr>
        </p:nvSpPr>
        <p:spPr>
          <a:xfrm>
            <a:off x="1117600" y="365126"/>
            <a:ext cx="140208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6"/>
          <p:cNvSpPr txBox="1">
            <a:spLocks noGrp="1"/>
          </p:cNvSpPr>
          <p:nvPr>
            <p:ph type="body" idx="1"/>
          </p:nvPr>
        </p:nvSpPr>
        <p:spPr>
          <a:xfrm>
            <a:off x="1117600" y="1825625"/>
            <a:ext cx="69088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36"/>
          <p:cNvSpPr txBox="1">
            <a:spLocks noGrp="1"/>
          </p:cNvSpPr>
          <p:nvPr>
            <p:ph type="body" idx="2"/>
          </p:nvPr>
        </p:nvSpPr>
        <p:spPr>
          <a:xfrm>
            <a:off x="8229600" y="1825625"/>
            <a:ext cx="69088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36"/>
          <p:cNvSpPr txBox="1">
            <a:spLocks noGrp="1"/>
          </p:cNvSpPr>
          <p:nvPr>
            <p:ph type="dt" idx="10"/>
          </p:nvPr>
        </p:nvSpPr>
        <p:spPr>
          <a:xfrm>
            <a:off x="1117600" y="6356351"/>
            <a:ext cx="3657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6"/>
          <p:cNvSpPr txBox="1">
            <a:spLocks noGrp="1"/>
          </p:cNvSpPr>
          <p:nvPr>
            <p:ph type="ftr" idx="11"/>
          </p:nvPr>
        </p:nvSpPr>
        <p:spPr>
          <a:xfrm>
            <a:off x="538480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6"/>
          <p:cNvSpPr txBox="1">
            <a:spLocks noGrp="1"/>
          </p:cNvSpPr>
          <p:nvPr>
            <p:ph type="sldNum" idx="12"/>
          </p:nvPr>
        </p:nvSpPr>
        <p:spPr>
          <a:xfrm>
            <a:off x="11480800" y="6356351"/>
            <a:ext cx="3657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7"/>
          <p:cNvSpPr txBox="1">
            <a:spLocks noGrp="1"/>
          </p:cNvSpPr>
          <p:nvPr>
            <p:ph type="title"/>
          </p:nvPr>
        </p:nvSpPr>
        <p:spPr>
          <a:xfrm>
            <a:off x="1119717" y="365126"/>
            <a:ext cx="140208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7"/>
          <p:cNvSpPr txBox="1">
            <a:spLocks noGrp="1"/>
          </p:cNvSpPr>
          <p:nvPr>
            <p:ph type="body" idx="1"/>
          </p:nvPr>
        </p:nvSpPr>
        <p:spPr>
          <a:xfrm>
            <a:off x="1119718" y="1681163"/>
            <a:ext cx="6877049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37"/>
          <p:cNvSpPr txBox="1">
            <a:spLocks noGrp="1"/>
          </p:cNvSpPr>
          <p:nvPr>
            <p:ph type="body" idx="2"/>
          </p:nvPr>
        </p:nvSpPr>
        <p:spPr>
          <a:xfrm>
            <a:off x="1119718" y="2505075"/>
            <a:ext cx="687704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37"/>
          <p:cNvSpPr txBox="1">
            <a:spLocks noGrp="1"/>
          </p:cNvSpPr>
          <p:nvPr>
            <p:ph type="body" idx="3"/>
          </p:nvPr>
        </p:nvSpPr>
        <p:spPr>
          <a:xfrm>
            <a:off x="8229600" y="1681163"/>
            <a:ext cx="691091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37"/>
          <p:cNvSpPr txBox="1">
            <a:spLocks noGrp="1"/>
          </p:cNvSpPr>
          <p:nvPr>
            <p:ph type="body" idx="4"/>
          </p:nvPr>
        </p:nvSpPr>
        <p:spPr>
          <a:xfrm>
            <a:off x="8229600" y="2505075"/>
            <a:ext cx="691091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37"/>
          <p:cNvSpPr txBox="1">
            <a:spLocks noGrp="1"/>
          </p:cNvSpPr>
          <p:nvPr>
            <p:ph type="dt" idx="10"/>
          </p:nvPr>
        </p:nvSpPr>
        <p:spPr>
          <a:xfrm>
            <a:off x="1117600" y="6356351"/>
            <a:ext cx="3657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7"/>
          <p:cNvSpPr txBox="1">
            <a:spLocks noGrp="1"/>
          </p:cNvSpPr>
          <p:nvPr>
            <p:ph type="ftr" idx="11"/>
          </p:nvPr>
        </p:nvSpPr>
        <p:spPr>
          <a:xfrm>
            <a:off x="538480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7"/>
          <p:cNvSpPr txBox="1">
            <a:spLocks noGrp="1"/>
          </p:cNvSpPr>
          <p:nvPr>
            <p:ph type="sldNum" idx="12"/>
          </p:nvPr>
        </p:nvSpPr>
        <p:spPr>
          <a:xfrm>
            <a:off x="11480800" y="6356351"/>
            <a:ext cx="3657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8"/>
          <p:cNvSpPr txBox="1">
            <a:spLocks noGrp="1"/>
          </p:cNvSpPr>
          <p:nvPr>
            <p:ph type="title"/>
          </p:nvPr>
        </p:nvSpPr>
        <p:spPr>
          <a:xfrm>
            <a:off x="1117600" y="365126"/>
            <a:ext cx="140208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8"/>
          <p:cNvSpPr txBox="1">
            <a:spLocks noGrp="1"/>
          </p:cNvSpPr>
          <p:nvPr>
            <p:ph type="dt" idx="10"/>
          </p:nvPr>
        </p:nvSpPr>
        <p:spPr>
          <a:xfrm>
            <a:off x="1117600" y="6356351"/>
            <a:ext cx="3657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8"/>
          <p:cNvSpPr txBox="1">
            <a:spLocks noGrp="1"/>
          </p:cNvSpPr>
          <p:nvPr>
            <p:ph type="ftr" idx="11"/>
          </p:nvPr>
        </p:nvSpPr>
        <p:spPr>
          <a:xfrm>
            <a:off x="538480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8"/>
          <p:cNvSpPr txBox="1">
            <a:spLocks noGrp="1"/>
          </p:cNvSpPr>
          <p:nvPr>
            <p:ph type="sldNum" idx="12"/>
          </p:nvPr>
        </p:nvSpPr>
        <p:spPr>
          <a:xfrm>
            <a:off x="11480800" y="6356351"/>
            <a:ext cx="3657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9"/>
          <p:cNvSpPr txBox="1">
            <a:spLocks noGrp="1"/>
          </p:cNvSpPr>
          <p:nvPr>
            <p:ph type="title"/>
          </p:nvPr>
        </p:nvSpPr>
        <p:spPr>
          <a:xfrm>
            <a:off x="1119718" y="457200"/>
            <a:ext cx="5242983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9"/>
          <p:cNvSpPr txBox="1">
            <a:spLocks noGrp="1"/>
          </p:cNvSpPr>
          <p:nvPr>
            <p:ph type="body" idx="1"/>
          </p:nvPr>
        </p:nvSpPr>
        <p:spPr>
          <a:xfrm>
            <a:off x="6910917" y="987426"/>
            <a:ext cx="82296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2" name="Google Shape;132;p39"/>
          <p:cNvSpPr txBox="1">
            <a:spLocks noGrp="1"/>
          </p:cNvSpPr>
          <p:nvPr>
            <p:ph type="body" idx="2"/>
          </p:nvPr>
        </p:nvSpPr>
        <p:spPr>
          <a:xfrm>
            <a:off x="1119718" y="2057400"/>
            <a:ext cx="5242983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3" name="Google Shape;133;p39"/>
          <p:cNvSpPr txBox="1">
            <a:spLocks noGrp="1"/>
          </p:cNvSpPr>
          <p:nvPr>
            <p:ph type="dt" idx="10"/>
          </p:nvPr>
        </p:nvSpPr>
        <p:spPr>
          <a:xfrm>
            <a:off x="1117600" y="6356351"/>
            <a:ext cx="3657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9"/>
          <p:cNvSpPr txBox="1">
            <a:spLocks noGrp="1"/>
          </p:cNvSpPr>
          <p:nvPr>
            <p:ph type="ftr" idx="11"/>
          </p:nvPr>
        </p:nvSpPr>
        <p:spPr>
          <a:xfrm>
            <a:off x="538480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9"/>
          <p:cNvSpPr txBox="1">
            <a:spLocks noGrp="1"/>
          </p:cNvSpPr>
          <p:nvPr>
            <p:ph type="sldNum" idx="12"/>
          </p:nvPr>
        </p:nvSpPr>
        <p:spPr>
          <a:xfrm>
            <a:off x="11480800" y="6356351"/>
            <a:ext cx="3657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0"/>
          <p:cNvSpPr txBox="1">
            <a:spLocks noGrp="1"/>
          </p:cNvSpPr>
          <p:nvPr>
            <p:ph type="title"/>
          </p:nvPr>
        </p:nvSpPr>
        <p:spPr>
          <a:xfrm>
            <a:off x="1119718" y="457200"/>
            <a:ext cx="5242983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40"/>
          <p:cNvSpPr>
            <a:spLocks noGrp="1"/>
          </p:cNvSpPr>
          <p:nvPr>
            <p:ph type="pic" idx="2"/>
          </p:nvPr>
        </p:nvSpPr>
        <p:spPr>
          <a:xfrm>
            <a:off x="6910917" y="987426"/>
            <a:ext cx="82296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40"/>
          <p:cNvSpPr txBox="1">
            <a:spLocks noGrp="1"/>
          </p:cNvSpPr>
          <p:nvPr>
            <p:ph type="body" idx="1"/>
          </p:nvPr>
        </p:nvSpPr>
        <p:spPr>
          <a:xfrm>
            <a:off x="1119718" y="2057400"/>
            <a:ext cx="5242983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0" name="Google Shape;140;p40"/>
          <p:cNvSpPr txBox="1">
            <a:spLocks noGrp="1"/>
          </p:cNvSpPr>
          <p:nvPr>
            <p:ph type="dt" idx="10"/>
          </p:nvPr>
        </p:nvSpPr>
        <p:spPr>
          <a:xfrm>
            <a:off x="1117600" y="6356351"/>
            <a:ext cx="3657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40"/>
          <p:cNvSpPr txBox="1">
            <a:spLocks noGrp="1"/>
          </p:cNvSpPr>
          <p:nvPr>
            <p:ph type="ftr" idx="11"/>
          </p:nvPr>
        </p:nvSpPr>
        <p:spPr>
          <a:xfrm>
            <a:off x="538480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40"/>
          <p:cNvSpPr txBox="1">
            <a:spLocks noGrp="1"/>
          </p:cNvSpPr>
          <p:nvPr>
            <p:ph type="sldNum" idx="12"/>
          </p:nvPr>
        </p:nvSpPr>
        <p:spPr>
          <a:xfrm>
            <a:off x="11480800" y="6356351"/>
            <a:ext cx="3657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1"/>
          <p:cNvSpPr txBox="1">
            <a:spLocks noGrp="1"/>
          </p:cNvSpPr>
          <p:nvPr>
            <p:ph type="title"/>
          </p:nvPr>
        </p:nvSpPr>
        <p:spPr>
          <a:xfrm>
            <a:off x="1117600" y="365126"/>
            <a:ext cx="140208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41"/>
          <p:cNvSpPr txBox="1">
            <a:spLocks noGrp="1"/>
          </p:cNvSpPr>
          <p:nvPr>
            <p:ph type="body" idx="1"/>
          </p:nvPr>
        </p:nvSpPr>
        <p:spPr>
          <a:xfrm rot="5400000">
            <a:off x="5952331" y="-3009106"/>
            <a:ext cx="4351338" cy="140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41"/>
          <p:cNvSpPr txBox="1">
            <a:spLocks noGrp="1"/>
          </p:cNvSpPr>
          <p:nvPr>
            <p:ph type="dt" idx="10"/>
          </p:nvPr>
        </p:nvSpPr>
        <p:spPr>
          <a:xfrm>
            <a:off x="1117600" y="6356351"/>
            <a:ext cx="3657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41"/>
          <p:cNvSpPr txBox="1">
            <a:spLocks noGrp="1"/>
          </p:cNvSpPr>
          <p:nvPr>
            <p:ph type="ftr" idx="11"/>
          </p:nvPr>
        </p:nvSpPr>
        <p:spPr>
          <a:xfrm>
            <a:off x="538480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41"/>
          <p:cNvSpPr txBox="1">
            <a:spLocks noGrp="1"/>
          </p:cNvSpPr>
          <p:nvPr>
            <p:ph type="sldNum" idx="12"/>
          </p:nvPr>
        </p:nvSpPr>
        <p:spPr>
          <a:xfrm>
            <a:off x="11480800" y="6356351"/>
            <a:ext cx="3657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2"/>
          <p:cNvSpPr txBox="1">
            <a:spLocks noGrp="1"/>
          </p:cNvSpPr>
          <p:nvPr>
            <p:ph type="title"/>
          </p:nvPr>
        </p:nvSpPr>
        <p:spPr>
          <a:xfrm rot="5400000">
            <a:off x="10479881" y="1518444"/>
            <a:ext cx="5811838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42"/>
          <p:cNvSpPr txBox="1">
            <a:spLocks noGrp="1"/>
          </p:cNvSpPr>
          <p:nvPr>
            <p:ph type="body" idx="1"/>
          </p:nvPr>
        </p:nvSpPr>
        <p:spPr>
          <a:xfrm rot="5400000">
            <a:off x="3367881" y="-1885156"/>
            <a:ext cx="5811838" cy="103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42"/>
          <p:cNvSpPr txBox="1">
            <a:spLocks noGrp="1"/>
          </p:cNvSpPr>
          <p:nvPr>
            <p:ph type="dt" idx="10"/>
          </p:nvPr>
        </p:nvSpPr>
        <p:spPr>
          <a:xfrm>
            <a:off x="1117600" y="6356351"/>
            <a:ext cx="3657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42"/>
          <p:cNvSpPr txBox="1">
            <a:spLocks noGrp="1"/>
          </p:cNvSpPr>
          <p:nvPr>
            <p:ph type="ftr" idx="11"/>
          </p:nvPr>
        </p:nvSpPr>
        <p:spPr>
          <a:xfrm>
            <a:off x="538480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42"/>
          <p:cNvSpPr txBox="1">
            <a:spLocks noGrp="1"/>
          </p:cNvSpPr>
          <p:nvPr>
            <p:ph type="sldNum" idx="12"/>
          </p:nvPr>
        </p:nvSpPr>
        <p:spPr>
          <a:xfrm>
            <a:off x="11480800" y="6356351"/>
            <a:ext cx="3657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>
            <a:spLocks noGrp="1"/>
          </p:cNvSpPr>
          <p:nvPr>
            <p:ph type="title"/>
          </p:nvPr>
        </p:nvSpPr>
        <p:spPr>
          <a:xfrm>
            <a:off x="1117600" y="365126"/>
            <a:ext cx="140208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body" idx="1"/>
          </p:nvPr>
        </p:nvSpPr>
        <p:spPr>
          <a:xfrm>
            <a:off x="1117600" y="1825625"/>
            <a:ext cx="140208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dt" idx="10"/>
          </p:nvPr>
        </p:nvSpPr>
        <p:spPr>
          <a:xfrm>
            <a:off x="1117600" y="6356351"/>
            <a:ext cx="3657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22"/>
          <p:cNvSpPr txBox="1">
            <a:spLocks noGrp="1"/>
          </p:cNvSpPr>
          <p:nvPr>
            <p:ph type="ftr" idx="11"/>
          </p:nvPr>
        </p:nvSpPr>
        <p:spPr>
          <a:xfrm>
            <a:off x="538480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sldNum" idx="12"/>
          </p:nvPr>
        </p:nvSpPr>
        <p:spPr>
          <a:xfrm>
            <a:off x="11480800" y="6356351"/>
            <a:ext cx="3657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1890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Introduction to Machine Learning</a:t>
            </a:r>
            <a:endParaRPr/>
          </a:p>
        </p:txBody>
      </p:sp>
      <p:sp>
        <p:nvSpPr>
          <p:cNvPr id="160" name="Google Shape;160;p1"/>
          <p:cNvSpPr txBox="1"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019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Dr. Chowdhury Mofizur Rahman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Professor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CSE Department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BRAC 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Machine Learning? </a:t>
            </a:r>
            <a:endParaRPr/>
          </a:p>
        </p:txBody>
      </p:sp>
      <p:sp>
        <p:nvSpPr>
          <p:cNvPr id="166" name="Google Shape;166;p2"/>
          <p:cNvSpPr txBox="1">
            <a:spLocks noGrp="1"/>
          </p:cNvSpPr>
          <p:nvPr>
            <p:ph type="body" idx="1"/>
          </p:nvPr>
        </p:nvSpPr>
        <p:spPr>
          <a:xfrm>
            <a:off x="838200" y="1825624"/>
            <a:ext cx="10515600" cy="4560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It is a sub field of AI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Machine can learn from data/observations and can enhance its performance over time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Machine has become autonomous due to its ability to learn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Before invention of ML, expert systems were written as a collection of rule bases by consulting experts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ML has overcome the need of experts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Main task of ML is classification/regression, prediction and exploration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Machine Learning? </a:t>
            </a:r>
            <a:endParaRPr/>
          </a:p>
        </p:txBody>
      </p:sp>
      <p:sp>
        <p:nvSpPr>
          <p:cNvPr id="172" name="Google Shape;172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Easy job for humans is difficult for computers and vice versa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Sorting million of numbers is difficult for humans but easy for computers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Recognizing an animal in a picture is easy for human but difficult for computers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Machine now is at par with human at tasks which were difficult before the invention of ML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ML has applications in almost every areas which we can think of like education/agriculture/transportation/medical/genetics/business etc.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ML applications will dominate the future world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Unregulated and unethical use of ML may cause sufferings for the human race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83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Some Applications of ML</a:t>
            </a:r>
            <a:endParaRPr/>
          </a:p>
        </p:txBody>
      </p:sp>
      <p:sp>
        <p:nvSpPr>
          <p:cNvPr id="178" name="Google Shape;178;p4"/>
          <p:cNvSpPr txBox="1">
            <a:spLocks noGrp="1"/>
          </p:cNvSpPr>
          <p:nvPr>
            <p:ph type="body" idx="1"/>
          </p:nvPr>
        </p:nvSpPr>
        <p:spPr>
          <a:xfrm>
            <a:off x="838200" y="1199214"/>
            <a:ext cx="10515600" cy="529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Disease diagnosis (multimodal)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Fraud/loan defaulter detection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Email filtering/classification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Computer vision and object detection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Drug design (Graph neural network)/Social network analysis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Bio-Informatics/human profiling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Smart agriculture (Leaf disease identification/insect identification/yield prediction)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Natural Language Processing (NLP) (Machine Translation/Summarization)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Computer Aided Education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Autonomous vehicle and many more …………………………………..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"/>
          <p:cNvSpPr txBox="1">
            <a:spLocks noGrp="1"/>
          </p:cNvSpPr>
          <p:nvPr>
            <p:ph type="title"/>
          </p:nvPr>
        </p:nvSpPr>
        <p:spPr>
          <a:xfrm>
            <a:off x="817812" y="395106"/>
            <a:ext cx="10515600" cy="83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Small Examples</a:t>
            </a:r>
            <a:endParaRPr/>
          </a:p>
        </p:txBody>
      </p:sp>
      <p:graphicFrame>
        <p:nvGraphicFramePr>
          <p:cNvPr id="218" name="Google Shape;218;p6"/>
          <p:cNvGraphicFramePr/>
          <p:nvPr/>
        </p:nvGraphicFramePr>
        <p:xfrm>
          <a:off x="817812" y="1499017"/>
          <a:ext cx="4653625" cy="4754450"/>
        </p:xfrm>
        <a:graphic>
          <a:graphicData uri="http://schemas.openxmlformats.org/drawingml/2006/table">
            <a:tbl>
              <a:tblPr>
                <a:noFill/>
                <a:tableStyleId>{8B6DC3F3-099E-420A-A36F-6C060B8C727B}</a:tableStyleId>
              </a:tblPr>
              <a:tblGrid>
                <a:gridCol w="827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0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2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Outlook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350" marR="6235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Temperature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350" marR="6235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Humidity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350" marR="6235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Wind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350" marR="6235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PlayTennis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350" marR="6235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1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Sunny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Sunny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Overcast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Overcast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Sunny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Sunny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Sunny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Overcast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Overcast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350" marR="6235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 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Mild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Cool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Cool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Cool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Mild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Cool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Mild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Mild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Mild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Mild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350" marR="6235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Normal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Normal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Normal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Normal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Normal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Normal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Normal 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350" marR="6235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Strong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Strong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Weak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Weak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Strong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Strong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Strong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Strong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Weak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Weak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Strong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Strong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Weak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Strong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350" marR="6235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350" marR="6235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9" name="Google Shape;219;p6"/>
          <p:cNvSpPr/>
          <p:nvPr/>
        </p:nvSpPr>
        <p:spPr>
          <a:xfrm>
            <a:off x="8259577" y="1499017"/>
            <a:ext cx="914400" cy="629586"/>
          </a:xfrm>
          <a:prstGeom prst="rect">
            <a:avLst/>
          </a:prstGeom>
          <a:noFill/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 txBox="1"/>
          <p:nvPr/>
        </p:nvSpPr>
        <p:spPr>
          <a:xfrm>
            <a:off x="8259580" y="1633928"/>
            <a:ext cx="98937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Outlook </a:t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6550704" y="3132941"/>
            <a:ext cx="914400" cy="449705"/>
          </a:xfrm>
          <a:prstGeom prst="rect">
            <a:avLst/>
          </a:prstGeom>
          <a:noFill/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10120847" y="3165421"/>
            <a:ext cx="914400" cy="417225"/>
          </a:xfrm>
          <a:prstGeom prst="rect">
            <a:avLst/>
          </a:prstGeom>
          <a:noFill/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8319544" y="3132942"/>
            <a:ext cx="914400" cy="629586"/>
          </a:xfrm>
          <a:prstGeom prst="ellipse">
            <a:avLst/>
          </a:prstGeom>
          <a:noFill/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6"/>
          <p:cNvCxnSpPr>
            <a:stCxn id="220" idx="1"/>
            <a:endCxn id="221" idx="0"/>
          </p:cNvCxnSpPr>
          <p:nvPr/>
        </p:nvCxnSpPr>
        <p:spPr>
          <a:xfrm flipH="1">
            <a:off x="7007980" y="1818594"/>
            <a:ext cx="1251600" cy="131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25" name="Google Shape;225;p6"/>
          <p:cNvCxnSpPr>
            <a:stCxn id="219" idx="2"/>
            <a:endCxn id="223" idx="0"/>
          </p:cNvCxnSpPr>
          <p:nvPr/>
        </p:nvCxnSpPr>
        <p:spPr>
          <a:xfrm>
            <a:off x="8716777" y="2128603"/>
            <a:ext cx="60000" cy="1004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26" name="Google Shape;226;p6"/>
          <p:cNvCxnSpPr>
            <a:stCxn id="220" idx="3"/>
          </p:cNvCxnSpPr>
          <p:nvPr/>
        </p:nvCxnSpPr>
        <p:spPr>
          <a:xfrm>
            <a:off x="9248953" y="1818594"/>
            <a:ext cx="1199100" cy="131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7" name="Google Shape;227;p6"/>
          <p:cNvSpPr/>
          <p:nvPr/>
        </p:nvSpPr>
        <p:spPr>
          <a:xfrm>
            <a:off x="5848670" y="4559500"/>
            <a:ext cx="914400" cy="567132"/>
          </a:xfrm>
          <a:prstGeom prst="ellipse">
            <a:avLst/>
          </a:prstGeom>
          <a:noFill/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7560047" y="4576990"/>
            <a:ext cx="914400" cy="567132"/>
          </a:xfrm>
          <a:prstGeom prst="ellipse">
            <a:avLst/>
          </a:prstGeom>
          <a:noFill/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9196468" y="4609470"/>
            <a:ext cx="914400" cy="567132"/>
          </a:xfrm>
          <a:prstGeom prst="ellipse">
            <a:avLst/>
          </a:prstGeom>
          <a:noFill/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11042753" y="4656940"/>
            <a:ext cx="914400" cy="567132"/>
          </a:xfrm>
          <a:prstGeom prst="ellipse">
            <a:avLst/>
          </a:prstGeom>
          <a:noFill/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" name="Google Shape;231;p6"/>
          <p:cNvCxnSpPr>
            <a:stCxn id="221" idx="2"/>
            <a:endCxn id="227" idx="0"/>
          </p:cNvCxnSpPr>
          <p:nvPr/>
        </p:nvCxnSpPr>
        <p:spPr>
          <a:xfrm flipH="1">
            <a:off x="6305904" y="3582646"/>
            <a:ext cx="702000" cy="97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32" name="Google Shape;232;p6"/>
          <p:cNvCxnSpPr>
            <a:stCxn id="221" idx="2"/>
          </p:cNvCxnSpPr>
          <p:nvPr/>
        </p:nvCxnSpPr>
        <p:spPr>
          <a:xfrm>
            <a:off x="7007904" y="3582646"/>
            <a:ext cx="831900" cy="99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33" name="Google Shape;233;p6"/>
          <p:cNvCxnSpPr>
            <a:stCxn id="222" idx="2"/>
            <a:endCxn id="229" idx="0"/>
          </p:cNvCxnSpPr>
          <p:nvPr/>
        </p:nvCxnSpPr>
        <p:spPr>
          <a:xfrm flipH="1">
            <a:off x="9653747" y="3582646"/>
            <a:ext cx="924300" cy="1026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34" name="Google Shape;234;p6"/>
          <p:cNvCxnSpPr>
            <a:stCxn id="222" idx="2"/>
            <a:endCxn id="230" idx="0"/>
          </p:cNvCxnSpPr>
          <p:nvPr/>
        </p:nvCxnSpPr>
        <p:spPr>
          <a:xfrm>
            <a:off x="10578047" y="3582646"/>
            <a:ext cx="921900" cy="107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35" name="Google Shape;235;p6"/>
          <p:cNvSpPr txBox="1"/>
          <p:nvPr/>
        </p:nvSpPr>
        <p:spPr>
          <a:xfrm>
            <a:off x="8581867" y="3264110"/>
            <a:ext cx="4912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/>
          </a:p>
        </p:txBody>
      </p:sp>
      <p:sp>
        <p:nvSpPr>
          <p:cNvPr id="236" name="Google Shape;236;p6"/>
          <p:cNvSpPr txBox="1"/>
          <p:nvPr/>
        </p:nvSpPr>
        <p:spPr>
          <a:xfrm>
            <a:off x="10313233" y="3204150"/>
            <a:ext cx="6864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Wind</a:t>
            </a:r>
            <a:endParaRPr/>
          </a:p>
        </p:txBody>
      </p:sp>
      <p:sp>
        <p:nvSpPr>
          <p:cNvPr id="237" name="Google Shape;237;p6"/>
          <p:cNvSpPr txBox="1"/>
          <p:nvPr/>
        </p:nvSpPr>
        <p:spPr>
          <a:xfrm>
            <a:off x="9938479" y="2353456"/>
            <a:ext cx="59503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Rain</a:t>
            </a:r>
            <a:endParaRPr/>
          </a:p>
        </p:txBody>
      </p:sp>
      <p:sp>
        <p:nvSpPr>
          <p:cNvPr id="238" name="Google Shape;238;p6"/>
          <p:cNvSpPr txBox="1"/>
          <p:nvPr/>
        </p:nvSpPr>
        <p:spPr>
          <a:xfrm>
            <a:off x="9436307" y="3807505"/>
            <a:ext cx="8540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Weak</a:t>
            </a:r>
            <a:endParaRPr dirty="0"/>
          </a:p>
        </p:txBody>
      </p:sp>
      <p:sp>
        <p:nvSpPr>
          <p:cNvPr id="239" name="Google Shape;239;p6"/>
          <p:cNvSpPr txBox="1"/>
          <p:nvPr/>
        </p:nvSpPr>
        <p:spPr>
          <a:xfrm>
            <a:off x="11042753" y="3942414"/>
            <a:ext cx="7965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</a:t>
            </a:r>
            <a:endParaRPr/>
          </a:p>
        </p:txBody>
      </p:sp>
      <p:sp>
        <p:nvSpPr>
          <p:cNvPr id="240" name="Google Shape;240;p6"/>
          <p:cNvSpPr txBox="1"/>
          <p:nvPr/>
        </p:nvSpPr>
        <p:spPr>
          <a:xfrm>
            <a:off x="9436307" y="4712330"/>
            <a:ext cx="4912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/>
          </a:p>
        </p:txBody>
      </p:sp>
      <p:sp>
        <p:nvSpPr>
          <p:cNvPr id="241" name="Google Shape;241;p6"/>
          <p:cNvSpPr txBox="1"/>
          <p:nvPr/>
        </p:nvSpPr>
        <p:spPr>
          <a:xfrm>
            <a:off x="6887984" y="2353456"/>
            <a:ext cx="7558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Sunny</a:t>
            </a:r>
            <a:endParaRPr/>
          </a:p>
        </p:txBody>
      </p:sp>
      <p:sp>
        <p:nvSpPr>
          <p:cNvPr id="242" name="Google Shape;242;p6"/>
          <p:cNvSpPr txBox="1"/>
          <p:nvPr/>
        </p:nvSpPr>
        <p:spPr>
          <a:xfrm>
            <a:off x="6523230" y="3174170"/>
            <a:ext cx="10438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Humidity</a:t>
            </a:r>
            <a:endParaRPr/>
          </a:p>
        </p:txBody>
      </p:sp>
      <p:sp>
        <p:nvSpPr>
          <p:cNvPr id="243" name="Google Shape;243;p6"/>
          <p:cNvSpPr txBox="1"/>
          <p:nvPr/>
        </p:nvSpPr>
        <p:spPr>
          <a:xfrm>
            <a:off x="5966085" y="3942414"/>
            <a:ext cx="6126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/>
          </a:p>
        </p:txBody>
      </p:sp>
      <p:sp>
        <p:nvSpPr>
          <p:cNvPr id="244" name="Google Shape;244;p6"/>
          <p:cNvSpPr txBox="1"/>
          <p:nvPr/>
        </p:nvSpPr>
        <p:spPr>
          <a:xfrm>
            <a:off x="7523912" y="3877037"/>
            <a:ext cx="8835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</a:t>
            </a:r>
            <a:endParaRPr/>
          </a:p>
        </p:txBody>
      </p:sp>
      <p:sp>
        <p:nvSpPr>
          <p:cNvPr id="245" name="Google Shape;245;p6"/>
          <p:cNvSpPr txBox="1"/>
          <p:nvPr/>
        </p:nvSpPr>
        <p:spPr>
          <a:xfrm>
            <a:off x="6051040" y="4691923"/>
            <a:ext cx="45557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/>
          </a:p>
        </p:txBody>
      </p:sp>
      <p:sp>
        <p:nvSpPr>
          <p:cNvPr id="246" name="Google Shape;246;p6"/>
          <p:cNvSpPr txBox="1"/>
          <p:nvPr/>
        </p:nvSpPr>
        <p:spPr>
          <a:xfrm>
            <a:off x="7779897" y="4721903"/>
            <a:ext cx="62759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dirty="0"/>
          </a:p>
        </p:txBody>
      </p:sp>
      <p:sp>
        <p:nvSpPr>
          <p:cNvPr id="247" name="Google Shape;247;p6"/>
          <p:cNvSpPr txBox="1"/>
          <p:nvPr/>
        </p:nvSpPr>
        <p:spPr>
          <a:xfrm>
            <a:off x="11305083" y="4781864"/>
            <a:ext cx="45557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/>
          </a:p>
        </p:txBody>
      </p:sp>
      <p:sp>
        <p:nvSpPr>
          <p:cNvPr id="248" name="Google Shape;248;p6"/>
          <p:cNvSpPr txBox="1"/>
          <p:nvPr/>
        </p:nvSpPr>
        <p:spPr>
          <a:xfrm>
            <a:off x="7315199" y="824471"/>
            <a:ext cx="280564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 Tree</a:t>
            </a:r>
            <a:endParaRPr/>
          </a:p>
        </p:txBody>
      </p:sp>
      <p:sp>
        <p:nvSpPr>
          <p:cNvPr id="249" name="Google Shape;249;p6"/>
          <p:cNvSpPr txBox="1"/>
          <p:nvPr/>
        </p:nvSpPr>
        <p:spPr>
          <a:xfrm>
            <a:off x="8581867" y="2542908"/>
            <a:ext cx="11066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Overcast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954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Broad Categories </a:t>
            </a:r>
            <a:endParaRPr dirty="0"/>
          </a:p>
        </p:txBody>
      </p:sp>
      <p:sp>
        <p:nvSpPr>
          <p:cNvPr id="255" name="Google Shape;255;p7"/>
          <p:cNvSpPr txBox="1">
            <a:spLocks noGrp="1"/>
          </p:cNvSpPr>
          <p:nvPr>
            <p:ph type="body" idx="1"/>
          </p:nvPr>
        </p:nvSpPr>
        <p:spPr>
          <a:xfrm>
            <a:off x="838200" y="1543987"/>
            <a:ext cx="10515600" cy="4632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Inductive learning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en-US"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Deductive learning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Supervised learning – Classification, Regression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Unsupervised learning – Clustering, Density estimation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Semi supervised learning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On line learning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Representation learning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Reinforcement learning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"/>
          <p:cNvSpPr txBox="1">
            <a:spLocks noGrp="1"/>
          </p:cNvSpPr>
          <p:nvPr>
            <p:ph type="title"/>
          </p:nvPr>
        </p:nvSpPr>
        <p:spPr>
          <a:xfrm>
            <a:off x="1117600" y="365127"/>
            <a:ext cx="10949482" cy="819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Reinforcement Learning</a:t>
            </a:r>
            <a:endParaRPr/>
          </a:p>
        </p:txBody>
      </p:sp>
      <p:sp>
        <p:nvSpPr>
          <p:cNvPr id="306" name="Google Shape;306;p17"/>
          <p:cNvSpPr txBox="1">
            <a:spLocks noGrp="1"/>
          </p:cNvSpPr>
          <p:nvPr>
            <p:ph type="body" idx="1"/>
          </p:nvPr>
        </p:nvSpPr>
        <p:spPr>
          <a:xfrm>
            <a:off x="1117600" y="1825625"/>
            <a:ext cx="10589718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rPr lang="en-US" sz="3200" b="0" i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Reinforcement learning (RL) is a type of machine learning where an agent learns to make decisions by taking actions in an environment to maximize some notion of cumulative reward.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rPr lang="en-US" sz="3200" b="0" i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agent receives feedback from its actions in the form of rewards or penalties and learns to adapt its strategy to improve future performance.</a:t>
            </a:r>
            <a:endParaRPr sz="3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"/>
          <p:cNvSpPr txBox="1">
            <a:spLocks noGrp="1"/>
          </p:cNvSpPr>
          <p:nvPr>
            <p:ph type="title"/>
          </p:nvPr>
        </p:nvSpPr>
        <p:spPr>
          <a:xfrm>
            <a:off x="1117600" y="365126"/>
            <a:ext cx="10184984" cy="1043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Reinforcement Learning Examples</a:t>
            </a:r>
            <a:endParaRPr/>
          </a:p>
        </p:txBody>
      </p:sp>
      <p:sp>
        <p:nvSpPr>
          <p:cNvPr id="312" name="Google Shape;312;p18"/>
          <p:cNvSpPr txBox="1">
            <a:spLocks noGrp="1"/>
          </p:cNvSpPr>
          <p:nvPr>
            <p:ph type="body" idx="1"/>
          </p:nvPr>
        </p:nvSpPr>
        <p:spPr>
          <a:xfrm>
            <a:off x="1117600" y="1409075"/>
            <a:ext cx="10904511" cy="4767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b="1" i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Game Playing</a:t>
            </a:r>
            <a:r>
              <a:rPr lang="en-US" b="0" i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In games like chess or Go, the RL agent improves its play by trying different strategies and learning which actions lead to winning more games through trial and error.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b="1" i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Robotics</a:t>
            </a:r>
            <a:r>
              <a:rPr lang="en-US" b="0" i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A robot can learn to walk, pick up objects, or navigate a room through reinforcement learning. It performs actions, observes the outcome, and gradually develops a refined movement strategy by receiving feedback in the form of successful or unsuccessful task completion.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b="1" i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Self-driving Cars</a:t>
            </a:r>
            <a:r>
              <a:rPr lang="en-US" b="0" i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RL can be used to help autonomous vehicles make decisions such as when to change lanes or adjust speed by continuously receiving feedback from the driving environment and honing its decision-making process to ensure safety and efficiency.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576</Words>
  <Application>Microsoft Office PowerPoint</Application>
  <PresentationFormat>Widescreen</PresentationFormat>
  <Paragraphs>145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Inter</vt:lpstr>
      <vt:lpstr>Arial</vt:lpstr>
      <vt:lpstr>Calibri</vt:lpstr>
      <vt:lpstr>Office Theme</vt:lpstr>
      <vt:lpstr>Office</vt:lpstr>
      <vt:lpstr>Introduction to Machine Learning</vt:lpstr>
      <vt:lpstr>What is Machine Learning? </vt:lpstr>
      <vt:lpstr>What is Machine Learning? </vt:lpstr>
      <vt:lpstr>Some Applications of ML</vt:lpstr>
      <vt:lpstr>Small Examples</vt:lpstr>
      <vt:lpstr>Broad Categories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Reinforcement Learning</vt:lpstr>
      <vt:lpstr>Reinforcement Learning Examples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Administrator</dc:creator>
  <cp:lastModifiedBy>Mofizur Rahman Chowdhury</cp:lastModifiedBy>
  <cp:revision>1</cp:revision>
  <dcterms:created xsi:type="dcterms:W3CDTF">2025-02-04T18:30:11Z</dcterms:created>
  <dcterms:modified xsi:type="dcterms:W3CDTF">2026-06-09T14:50:52Z</dcterms:modified>
</cp:coreProperties>
</file>