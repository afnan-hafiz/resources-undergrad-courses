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70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8521" autoAdjust="0"/>
  </p:normalViewPr>
  <p:slideViewPr>
    <p:cSldViewPr snapToGrid="0">
      <p:cViewPr varScale="1">
        <p:scale>
          <a:sx n="61" d="100"/>
          <a:sy n="61" d="100"/>
        </p:scale>
        <p:origin x="10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8A37-6FD1-9DC8-05A1-558BD5D5C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FDB2C-C2B3-8AFD-B6DF-01C694A75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356F-4AAC-AAB1-F6CC-291D62B3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A2A76-2021-ED0C-F257-B7DDB1DA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172DF-EE8C-6FFF-87F3-C960D81B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5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6342E-D26A-CDC0-90C7-7B8673BD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5D59D-3F58-9089-CCEF-DFD1E18D3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28B45-07AD-B001-08DE-594146CA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A8CE6-CB3A-815B-74C9-816A2573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9C714-B009-7E7A-7B46-ED2A8270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4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C4B6-0DD0-523B-090C-BE8D3A1B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74FBE-C112-1D07-9C91-B74EF3A2F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96D43-4199-07D0-D4A5-71E1C261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DFCD3-6EE2-D3A3-51AD-1A6E49D50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4D5B9-F409-AEBD-CF1C-83BA81DF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9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E785-3F07-49CD-EA7D-AFBD5BED6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A25CF-7FFC-65D4-0EAD-CF81829F0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6E7AD-448A-37FE-AFB4-254C611F9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64794-10BF-9FB6-F480-4630EAE2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E3383-C83C-21FF-41F3-EFD65FD91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8CE2A-BE0C-1554-E72A-4A95E9E4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7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EBAA-3ABB-1C43-05DF-B5432265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78C74-2F9B-AC7B-7E05-2F993E85C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AB154-61A9-4496-0B7E-0ED8D096B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23510-6BF2-05F9-C1F7-F419CC866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8B9914-7F5F-AD57-3486-5B8B859DD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FBC30-3811-FCC8-CC66-64F22A94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0B11A-74E9-BE6F-CEC1-30B5E59B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7E3CAE-51C8-8418-8F9D-86E42253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2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492DC-DC1F-946A-8021-F4B1A8F25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7DD59C-D829-A9D3-E04F-FF64B590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A4092-9235-4138-D061-2BE35A0B1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BC187-6A16-90E2-CD49-7402A68C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66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5171D-805B-6730-1636-29F95BBE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94273-1547-932E-0F88-AD4D6F22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52E99-3F65-81E3-8234-6C5A705B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1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8D94-37F3-EE64-03F3-80C0AB2E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0328B-40F0-D7B7-E242-32913B47E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8ECF9-A630-C63A-796A-F01188C66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67A0-587A-604B-A8D6-788F54A4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22846-9FB4-A769-CF56-8AF0CB09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E6C4F-8D71-5B4E-EBEF-68974BFB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7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98F5-D79C-93C8-7BA5-8E7C6D1A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2C4F3-8FFF-EA9B-35CC-92EEB4F7B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6FF66-249F-AE12-BADD-A4C26923D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03239-42AA-5076-CC02-CDD753298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2FF5F-A1C0-1CFB-856E-6E0BD6385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853FC-1112-2B48-AE66-48197FE66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05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9466-73A2-A779-8120-1274EA152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DA49D-2A87-64F9-5969-80978C0C0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FD3B0-1394-2721-3687-78DC0946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63403-1DCF-E6AE-D04D-DCE2DB57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8E535-915D-CC39-EC13-340FD4D5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2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D5238-1568-8A29-6DFF-54CC8A557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4CFFE-0D67-9DD3-9865-E175603DD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E2AA3-9159-870B-5137-B157C79D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926D6-3193-D2D9-0DB7-2E72CA23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B6ADC-20B2-2EBF-9755-E563A4E0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46024-8C35-EF0B-0F3A-2A01734F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C7EE3-DEB5-9ECA-2A9B-DAF59A323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CDC32-66EA-B49D-48D9-13F9BD1B3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4F8A7-097C-42B2-9F96-BDEE81BECF1C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085A0-5429-C673-E5C3-ADF9ECBDF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DF6E-FE62-C940-91A1-6646C6A6B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BB514-D9C5-4849-98F9-287364BD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09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4A77-BEDA-E72A-0E28-AD7CFEA63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 part 1</a:t>
            </a:r>
          </a:p>
        </p:txBody>
      </p:sp>
    </p:spTree>
    <p:extLst>
      <p:ext uri="{BB962C8B-B14F-4D97-AF65-F5344CB8AC3E}">
        <p14:creationId xmlns:p14="http://schemas.microsoft.com/office/powerpoint/2010/main" val="557921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H="1">
            <a:off x="2053652" y="764498"/>
            <a:ext cx="14991" cy="2623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068643" y="3387777"/>
            <a:ext cx="39723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2728210" y="989351"/>
            <a:ext cx="2608288" cy="1753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93298" y="869430"/>
            <a:ext cx="16193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062334" y="2278505"/>
            <a:ext cx="13773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endParaRPr lang="en-US" dirty="0"/>
          </a:p>
          <a:p>
            <a:r>
              <a:rPr lang="en-US" dirty="0"/>
              <a:t>B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</a:p>
          <a:p>
            <a:r>
              <a:rPr lang="en-US" dirty="0"/>
              <a:t>B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dirty="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2669" y="367259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311" y="206975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0525" y="1498490"/>
            <a:ext cx="34901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 = w</a:t>
            </a:r>
            <a:r>
              <a:rPr lang="en-US" sz="2400" baseline="-25000" dirty="0"/>
              <a:t>1</a:t>
            </a:r>
            <a:r>
              <a:rPr lang="en-US" sz="2400" dirty="0"/>
              <a:t> x</a:t>
            </a:r>
            <a:r>
              <a:rPr lang="en-US" sz="2400" baseline="-25000" dirty="0"/>
              <a:t>1 </a:t>
            </a:r>
            <a:r>
              <a:rPr lang="en-US" sz="2400" dirty="0"/>
              <a:t>+ w</a:t>
            </a:r>
            <a:r>
              <a:rPr lang="en-US" sz="2400" baseline="-25000" dirty="0"/>
              <a:t>2</a:t>
            </a:r>
            <a:r>
              <a:rPr lang="en-US" sz="2400" dirty="0"/>
              <a:t> x</a:t>
            </a:r>
            <a:r>
              <a:rPr lang="en-US" sz="2400" baseline="-25000" dirty="0"/>
              <a:t>2</a:t>
            </a:r>
            <a:r>
              <a:rPr lang="en-US" sz="2400" dirty="0"/>
              <a:t> + b</a:t>
            </a:r>
          </a:p>
          <a:p>
            <a:endParaRPr lang="en-US" sz="2400" dirty="0"/>
          </a:p>
          <a:p>
            <a:r>
              <a:rPr lang="en-US" sz="2400" dirty="0"/>
              <a:t>Z = &lt;w</a:t>
            </a:r>
            <a:r>
              <a:rPr lang="en-US" sz="2400" baseline="-25000" dirty="0"/>
              <a:t>1</a:t>
            </a:r>
            <a:r>
              <a:rPr lang="en-US" sz="2400" dirty="0"/>
              <a:t>, w</a:t>
            </a:r>
            <a:r>
              <a:rPr lang="en-US" sz="2400" baseline="-25000" dirty="0"/>
              <a:t>2</a:t>
            </a:r>
            <a:r>
              <a:rPr lang="en-US" sz="2400" dirty="0"/>
              <a:t>&gt; &lt;x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&gt; + b</a:t>
            </a:r>
          </a:p>
          <a:p>
            <a:r>
              <a:rPr lang="en-US" sz="2400" dirty="0"/>
              <a:t>   = </a:t>
            </a:r>
            <a:r>
              <a:rPr lang="en-US" sz="2400" b="1" dirty="0" err="1"/>
              <a:t>w.x</a:t>
            </a:r>
            <a:r>
              <a:rPr lang="en-US" sz="2400" b="1" dirty="0"/>
              <a:t> </a:t>
            </a:r>
            <a:r>
              <a:rPr lang="en-US" sz="2400" dirty="0"/>
              <a:t> + b </a:t>
            </a:r>
          </a:p>
          <a:p>
            <a:endParaRPr lang="en-US" sz="2400" dirty="0"/>
          </a:p>
          <a:p>
            <a:r>
              <a:rPr lang="en-US" sz="2400" dirty="0"/>
              <a:t>Where </a:t>
            </a:r>
            <a:r>
              <a:rPr lang="en-US" sz="2400" b="1" dirty="0"/>
              <a:t>w</a:t>
            </a:r>
            <a:r>
              <a:rPr lang="en-US" sz="2400" dirty="0"/>
              <a:t> = &lt;w</a:t>
            </a:r>
            <a:r>
              <a:rPr lang="en-US" sz="2400" baseline="-25000" dirty="0"/>
              <a:t>1</a:t>
            </a:r>
            <a:r>
              <a:rPr lang="en-US" sz="2400" dirty="0"/>
              <a:t>, w</a:t>
            </a:r>
            <a:r>
              <a:rPr lang="en-US" sz="2400" baseline="-25000" dirty="0"/>
              <a:t>2</a:t>
            </a:r>
            <a:r>
              <a:rPr lang="en-US" sz="2400" dirty="0"/>
              <a:t>&gt;</a:t>
            </a:r>
          </a:p>
          <a:p>
            <a:r>
              <a:rPr lang="en-US" sz="2400" b="1" dirty="0"/>
              <a:t>              x </a:t>
            </a:r>
            <a:r>
              <a:rPr lang="en-US" sz="2400" dirty="0"/>
              <a:t>= &lt;x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0383" y="4497049"/>
            <a:ext cx="9052543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we insert x</a:t>
            </a:r>
            <a:r>
              <a:rPr lang="en-US" sz="2400" baseline="-25000" dirty="0"/>
              <a:t>1</a:t>
            </a:r>
            <a:r>
              <a:rPr lang="en-US" sz="2400" dirty="0"/>
              <a:t> and x</a:t>
            </a:r>
            <a:r>
              <a:rPr lang="en-US" sz="2400" baseline="-25000" dirty="0"/>
              <a:t>2</a:t>
            </a:r>
            <a:r>
              <a:rPr lang="en-US" sz="2400" dirty="0"/>
              <a:t> values for  any object of class A, Z will be positive</a:t>
            </a:r>
          </a:p>
          <a:p>
            <a:endParaRPr lang="en-US" sz="2400" dirty="0"/>
          </a:p>
          <a:p>
            <a:r>
              <a:rPr lang="en-US" sz="2400" dirty="0"/>
              <a:t>If we insert x</a:t>
            </a:r>
            <a:r>
              <a:rPr lang="en-US" sz="2400" baseline="-25000" dirty="0"/>
              <a:t>1</a:t>
            </a:r>
            <a:r>
              <a:rPr lang="en-US" sz="2400" dirty="0"/>
              <a:t> and x</a:t>
            </a:r>
            <a:r>
              <a:rPr lang="en-US" sz="2400" baseline="-25000" dirty="0"/>
              <a:t>2</a:t>
            </a:r>
            <a:r>
              <a:rPr lang="en-US" sz="2400" dirty="0"/>
              <a:t> values for  any object of class B, Z will be negative</a:t>
            </a:r>
          </a:p>
          <a:p>
            <a:endParaRPr lang="en-US" sz="2400" dirty="0"/>
          </a:p>
          <a:p>
            <a:r>
              <a:rPr lang="en-US" sz="2400" dirty="0"/>
              <a:t>We can say that if Z&gt;0 class is A otherwise class is B 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B1CF68-A3E8-77F6-7EAB-7BA8C0202A0B}"/>
              </a:ext>
            </a:extLst>
          </p:cNvPr>
          <p:cNvSpPr txBox="1"/>
          <p:nvPr/>
        </p:nvSpPr>
        <p:spPr>
          <a:xfrm>
            <a:off x="4666641" y="346837"/>
            <a:ext cx="2545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Linear Classifier </a:t>
            </a:r>
          </a:p>
        </p:txBody>
      </p:sp>
    </p:spTree>
    <p:extLst>
      <p:ext uri="{BB962C8B-B14F-4D97-AF65-F5344CB8AC3E}">
        <p14:creationId xmlns:p14="http://schemas.microsoft.com/office/powerpoint/2010/main" val="302976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67643C5-E1DA-E818-76F8-13BBF5F48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52" y="868923"/>
            <a:ext cx="608229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F4B499C-35CA-61EF-0EB9-38954431C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186" y="1817838"/>
            <a:ext cx="5144814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4DABA32-AF9F-08F1-9BB0-8115A823C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12" y="4501088"/>
            <a:ext cx="6667500" cy="182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3B78EC-FD15-3E17-894F-EF5208722406}"/>
              </a:ext>
            </a:extLst>
          </p:cNvPr>
          <p:cNvSpPr txBox="1"/>
          <p:nvPr/>
        </p:nvSpPr>
        <p:spPr>
          <a:xfrm>
            <a:off x="7630510" y="4829034"/>
            <a:ext cx="237757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 = 0.5    log(p/p-1) = 0</a:t>
            </a:r>
          </a:p>
          <a:p>
            <a:endParaRPr lang="en-US" dirty="0"/>
          </a:p>
          <a:p>
            <a:r>
              <a:rPr lang="en-US" dirty="0"/>
              <a:t>P&gt; 0.5  log(P/P-1) is +</a:t>
            </a:r>
            <a:r>
              <a:rPr lang="en-US" dirty="0" err="1"/>
              <a:t>ve</a:t>
            </a:r>
            <a:endParaRPr lang="en-US" dirty="0"/>
          </a:p>
          <a:p>
            <a:endParaRPr lang="en-US" dirty="0"/>
          </a:p>
          <a:p>
            <a:r>
              <a:rPr lang="en-US" dirty="0"/>
              <a:t>P&lt;0.5   log(P/P-1) is -</a:t>
            </a:r>
            <a:r>
              <a:rPr lang="en-US" dirty="0" err="1"/>
              <a:t>ve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BFA6A-C6CD-FA51-87E3-5C8382D05664}"/>
              </a:ext>
            </a:extLst>
          </p:cNvPr>
          <p:cNvSpPr txBox="1"/>
          <p:nvPr/>
        </p:nvSpPr>
        <p:spPr>
          <a:xfrm>
            <a:off x="4799673" y="499591"/>
            <a:ext cx="2923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521907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C147E5-9B03-B139-137C-880C2982351A}"/>
              </a:ext>
            </a:extLst>
          </p:cNvPr>
          <p:cNvSpPr txBox="1"/>
          <p:nvPr/>
        </p:nvSpPr>
        <p:spPr>
          <a:xfrm>
            <a:off x="378373" y="637362"/>
            <a:ext cx="111935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Z = log (P/P-1) then P/P-1 = exp(Z)                    P = 1/(1+exp(-Z))  </a:t>
            </a:r>
          </a:p>
          <a:p>
            <a:endParaRPr lang="en-US" sz="2400" dirty="0"/>
          </a:p>
          <a:p>
            <a:r>
              <a:rPr lang="en-US" sz="2400" dirty="0"/>
              <a:t>We will assume Z = log (P/P-1) = W</a:t>
            </a:r>
            <a:r>
              <a:rPr lang="en-US" sz="2400" baseline="-25000" dirty="0"/>
              <a:t>1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+ W</a:t>
            </a:r>
            <a:r>
              <a:rPr lang="en-US" sz="2400" baseline="-25000" dirty="0"/>
              <a:t>2</a:t>
            </a: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+ W</a:t>
            </a:r>
            <a:r>
              <a:rPr lang="en-US" sz="2400" baseline="-25000" dirty="0"/>
              <a:t>3</a:t>
            </a:r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+ …………….+ </a:t>
            </a:r>
            <a:r>
              <a:rPr lang="en-US" sz="2400" dirty="0" err="1"/>
              <a:t>Wn</a:t>
            </a:r>
            <a:r>
              <a:rPr lang="en-US" sz="2400" dirty="0"/>
              <a:t> </a:t>
            </a:r>
            <a:r>
              <a:rPr lang="en-US" sz="2400" dirty="0" err="1"/>
              <a:t>Xn</a:t>
            </a:r>
            <a:r>
              <a:rPr lang="en-US" sz="2400" dirty="0"/>
              <a:t>+ b  = W.X + b</a:t>
            </a:r>
          </a:p>
          <a:p>
            <a:r>
              <a:rPr lang="en-US" sz="2400" dirty="0"/>
              <a:t>Where 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 X</a:t>
            </a:r>
            <a:r>
              <a:rPr lang="en-US" sz="2400" baseline="-25000" dirty="0"/>
              <a:t>3</a:t>
            </a:r>
            <a:r>
              <a:rPr lang="en-US" sz="2400" dirty="0"/>
              <a:t>, …. </a:t>
            </a:r>
            <a:r>
              <a:rPr lang="en-US" sz="2400" dirty="0" err="1"/>
              <a:t>Xn</a:t>
            </a:r>
            <a:r>
              <a:rPr lang="en-US" sz="2400" dirty="0"/>
              <a:t> are the feature values and W</a:t>
            </a:r>
            <a:r>
              <a:rPr lang="en-US" sz="2400" baseline="-25000" dirty="0"/>
              <a:t>1</a:t>
            </a:r>
            <a:r>
              <a:rPr lang="en-US" sz="2400" dirty="0"/>
              <a:t>, W</a:t>
            </a:r>
            <a:r>
              <a:rPr lang="en-US" sz="2400" baseline="-25000" dirty="0"/>
              <a:t>2</a:t>
            </a:r>
            <a:r>
              <a:rPr lang="en-US" sz="2400" dirty="0"/>
              <a:t>, W</a:t>
            </a:r>
            <a:r>
              <a:rPr lang="en-US" sz="2400" baseline="-25000" dirty="0"/>
              <a:t>3</a:t>
            </a:r>
            <a:r>
              <a:rPr lang="en-US" sz="2400" dirty="0"/>
              <a:t>…..</a:t>
            </a:r>
            <a:r>
              <a:rPr lang="en-US" sz="2400" dirty="0" err="1"/>
              <a:t>Wn</a:t>
            </a:r>
            <a:r>
              <a:rPr lang="en-US" sz="2400" dirty="0"/>
              <a:t> are the weights or coefficients</a:t>
            </a:r>
            <a:endParaRPr lang="en-US" sz="2400" b="1" dirty="0"/>
          </a:p>
          <a:p>
            <a:endParaRPr lang="en-US" sz="2400" b="1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C64FEED-68EC-DEE6-1CFE-287661111760}"/>
              </a:ext>
            </a:extLst>
          </p:cNvPr>
          <p:cNvSpPr/>
          <p:nvPr/>
        </p:nvSpPr>
        <p:spPr>
          <a:xfrm>
            <a:off x="5076480" y="64638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B93F46-1DE6-9A75-7D30-6F46E5BD56D8}"/>
              </a:ext>
            </a:extLst>
          </p:cNvPr>
          <p:cNvCxnSpPr/>
          <p:nvPr/>
        </p:nvCxnSpPr>
        <p:spPr>
          <a:xfrm>
            <a:off x="1387366" y="3429000"/>
            <a:ext cx="0" cy="196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76C15D-2634-A2D0-EE52-9D556DE2ABBA}"/>
              </a:ext>
            </a:extLst>
          </p:cNvPr>
          <p:cNvCxnSpPr/>
          <p:nvPr/>
        </p:nvCxnSpPr>
        <p:spPr>
          <a:xfrm>
            <a:off x="1387366" y="5391807"/>
            <a:ext cx="30585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1CC87B-6C72-27D5-BD67-EE4BF1C37163}"/>
              </a:ext>
            </a:extLst>
          </p:cNvPr>
          <p:cNvCxnSpPr/>
          <p:nvPr/>
        </p:nvCxnSpPr>
        <p:spPr>
          <a:xfrm flipV="1">
            <a:off x="1828800" y="3815255"/>
            <a:ext cx="2364828" cy="945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815A05-526E-0977-7554-ED73416E2AC4}"/>
              </a:ext>
            </a:extLst>
          </p:cNvPr>
          <p:cNvSpPr txBox="1"/>
          <p:nvPr/>
        </p:nvSpPr>
        <p:spPr>
          <a:xfrm>
            <a:off x="2412124" y="5738648"/>
            <a:ext cx="1130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F9BDE4-8E9D-8BD5-09E9-2A7D120E333A}"/>
              </a:ext>
            </a:extLst>
          </p:cNvPr>
          <p:cNvSpPr txBox="1"/>
          <p:nvPr/>
        </p:nvSpPr>
        <p:spPr>
          <a:xfrm>
            <a:off x="47287" y="4225159"/>
            <a:ext cx="144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= log(P/P-1)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BBA288-A018-C6B7-2A05-D32E4361D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042" y="2951734"/>
            <a:ext cx="4908989" cy="23336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AE4DC8-78EA-1DA5-B0C1-9ABAA8620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954" y="5384018"/>
            <a:ext cx="3872102" cy="9459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F31CB50-6CBB-316F-DA43-D7CCE3361997}"/>
              </a:ext>
            </a:extLst>
          </p:cNvPr>
          <p:cNvSpPr txBox="1"/>
          <p:nvPr/>
        </p:nvSpPr>
        <p:spPr>
          <a:xfrm>
            <a:off x="8525204" y="5297308"/>
            <a:ext cx="32674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z&gt;0  then Ϭ(z) &gt; 0.5</a:t>
            </a:r>
          </a:p>
          <a:p>
            <a:endParaRPr lang="en-US" dirty="0"/>
          </a:p>
          <a:p>
            <a:r>
              <a:rPr lang="en-US" dirty="0"/>
              <a:t>If z &lt;= 0  then Ϭ(z) &lt;= 0.5</a:t>
            </a:r>
          </a:p>
        </p:txBody>
      </p:sp>
    </p:spTree>
    <p:extLst>
      <p:ext uri="{BB962C8B-B14F-4D97-AF65-F5344CB8AC3E}">
        <p14:creationId xmlns:p14="http://schemas.microsoft.com/office/powerpoint/2010/main" val="361252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F757EA-531E-B47A-2318-271207261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6" y="497487"/>
            <a:ext cx="7049043" cy="36397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E80721-6049-A159-BB81-33ECECE59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842" y="1128325"/>
            <a:ext cx="5562600" cy="1854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90155" y="3013025"/>
            <a:ext cx="4390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Derivative of Ϭ(z) = Ϭ(z) ( 1- Ϭ(z)) </a:t>
            </a:r>
          </a:p>
        </p:txBody>
      </p:sp>
    </p:spTree>
    <p:extLst>
      <p:ext uri="{BB962C8B-B14F-4D97-AF65-F5344CB8AC3E}">
        <p14:creationId xmlns:p14="http://schemas.microsoft.com/office/powerpoint/2010/main" val="3460143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D4ED9-282F-E238-0836-AC61DB917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96" y="287939"/>
            <a:ext cx="8305800" cy="32647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AC676-65D9-99D1-267D-E2AC24CC7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2998033"/>
            <a:ext cx="8544253" cy="385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89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DA62F9-61B9-D16F-D0E9-7BADD50B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50" y="422215"/>
            <a:ext cx="8829675" cy="2828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700250-C011-F53E-F9E1-020BEF74A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95" y="3611627"/>
            <a:ext cx="7368088" cy="1732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155E44-9031-3309-986F-B088F182EE1A}"/>
              </a:ext>
            </a:extLst>
          </p:cNvPr>
          <p:cNvSpPr txBox="1"/>
          <p:nvPr/>
        </p:nvSpPr>
        <p:spPr>
          <a:xfrm>
            <a:off x="4367048" y="2806256"/>
            <a:ext cx="3319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Scaling input features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742286-BD2C-EA4D-AE8F-28BBF1045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037" y="5263562"/>
            <a:ext cx="85439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73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FB759A-20EE-1580-AA09-ABF75FA6B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880900"/>
            <a:ext cx="8724900" cy="3028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1799AC-B800-5786-D6C2-E997B5A68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34" y="4034000"/>
            <a:ext cx="4171950" cy="194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B78AA3-76D9-D3CB-49E2-7A3A02C964F6}"/>
              </a:ext>
            </a:extLst>
          </p:cNvPr>
          <p:cNvSpPr txBox="1"/>
          <p:nvPr/>
        </p:nvSpPr>
        <p:spPr>
          <a:xfrm>
            <a:off x="5439103" y="4792717"/>
            <a:ext cx="2363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  = Ϭ (XW + b)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1131B8-106F-2DE3-0C73-26F85B748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531" y="5727481"/>
            <a:ext cx="4248150" cy="952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DB6E19-BC54-F4D8-F86C-22D171AEF90E}"/>
              </a:ext>
            </a:extLst>
          </p:cNvPr>
          <p:cNvSpPr txBox="1"/>
          <p:nvPr/>
        </p:nvSpPr>
        <p:spPr>
          <a:xfrm>
            <a:off x="2380603" y="236479"/>
            <a:ext cx="6628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Processing multiple examples in matrix form</a:t>
            </a:r>
          </a:p>
        </p:txBody>
      </p:sp>
    </p:spTree>
    <p:extLst>
      <p:ext uri="{BB962C8B-B14F-4D97-AF65-F5344CB8AC3E}">
        <p14:creationId xmlns:p14="http://schemas.microsoft.com/office/powerpoint/2010/main" val="2485849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30140F-8DC8-00D5-A250-26573E7EE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28" y="1980507"/>
            <a:ext cx="10152993" cy="26937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3E3063-E29B-6AB3-3F6B-97DF47523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300" y="5329413"/>
            <a:ext cx="3790950" cy="96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1C5CFB-1AEF-F4F5-44C7-F094FFA00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113" y="5390388"/>
            <a:ext cx="5286375" cy="118208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6222" y="599607"/>
            <a:ext cx="106465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 derive the parameters w1, w2, w3, ……. and b, we will define a Loss function. </a:t>
            </a:r>
          </a:p>
          <a:p>
            <a:r>
              <a:rPr lang="en-US" sz="2400" dirty="0"/>
              <a:t>We will start with some random values of w1, w2, w3, …… and b and iteratively </a:t>
            </a:r>
          </a:p>
          <a:p>
            <a:r>
              <a:rPr lang="en-US" sz="2400" dirty="0"/>
              <a:t>update the values using gradient descent until the loss function becomes minimum</a:t>
            </a:r>
            <a:r>
              <a:rPr lang="en-US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0346" y="4912968"/>
            <a:ext cx="7018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For every example x maximize P(y = 1|x) or P( y = 0 |x)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728" y="5625890"/>
            <a:ext cx="1380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Maximize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69423" y="5501904"/>
            <a:ext cx="1380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Maximize</a:t>
            </a:r>
          </a:p>
        </p:txBody>
      </p:sp>
    </p:spTree>
    <p:extLst>
      <p:ext uri="{BB962C8B-B14F-4D97-AF65-F5344CB8AC3E}">
        <p14:creationId xmlns:p14="http://schemas.microsoft.com/office/powerpoint/2010/main" val="2725925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3A1276-20D3-BC75-9AA4-18B67F2C1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75" y="325651"/>
            <a:ext cx="6353175" cy="1140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972E7C-BBBF-B31C-44F8-71962DA8D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5" y="1741585"/>
            <a:ext cx="7067550" cy="1348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1F0E83-A66F-14F5-4DDF-A8F330861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1" y="3090041"/>
            <a:ext cx="7919059" cy="2017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315985-622F-9B8A-ED70-7AE1D41C3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614" y="5188821"/>
            <a:ext cx="75819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05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5AE581-914C-E604-DC68-0981CAC72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56" y="3040215"/>
            <a:ext cx="4306122" cy="1187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4F8663-F15F-0BBA-E1B1-A42A10892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4" y="543501"/>
            <a:ext cx="7505700" cy="1630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58811F-5F36-2B77-79CB-CFFA070E7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50" y="5167876"/>
            <a:ext cx="5731915" cy="1262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BBB0F5-D112-DFBA-CA2A-3CE84D5D7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454" y="4144781"/>
            <a:ext cx="4147653" cy="89498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54243" y="2173768"/>
            <a:ext cx="9977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 update any parameter w, we will use gradient descent approach.  </a:t>
            </a:r>
          </a:p>
          <a:p>
            <a:r>
              <a:rPr lang="en-US" sz="2400" dirty="0"/>
              <a:t>We need to take gradient of the Loss function with respect to the parameter 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5554" y="4227226"/>
            <a:ext cx="252190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z = w1 x1 + w2 x2 + b</a:t>
            </a:r>
          </a:p>
          <a:p>
            <a:endParaRPr lang="en-US" dirty="0"/>
          </a:p>
          <a:p>
            <a:r>
              <a:rPr lang="en-US" dirty="0"/>
              <a:t>w1 = w1 – </a:t>
            </a:r>
            <a:r>
              <a:rPr lang="hy-AM" dirty="0"/>
              <a:t>ղ</a:t>
            </a:r>
            <a:r>
              <a:rPr lang="en-US" dirty="0"/>
              <a:t> (</a:t>
            </a:r>
            <a:r>
              <a:rPr lang="cy-GB" dirty="0"/>
              <a:t>ŷ</a:t>
            </a:r>
            <a:r>
              <a:rPr lang="en-US" dirty="0"/>
              <a:t> – y) x1</a:t>
            </a:r>
          </a:p>
          <a:p>
            <a:endParaRPr lang="en-US" dirty="0"/>
          </a:p>
          <a:p>
            <a:r>
              <a:rPr lang="en-US" dirty="0"/>
              <a:t>w2 = w2 – </a:t>
            </a:r>
            <a:r>
              <a:rPr lang="hy-AM" dirty="0"/>
              <a:t>ղ</a:t>
            </a:r>
            <a:r>
              <a:rPr lang="en-US" dirty="0"/>
              <a:t> (</a:t>
            </a:r>
            <a:r>
              <a:rPr lang="cy-GB" dirty="0"/>
              <a:t>ŷ</a:t>
            </a:r>
            <a:r>
              <a:rPr lang="en-US" dirty="0"/>
              <a:t> – y) x2</a:t>
            </a:r>
          </a:p>
          <a:p>
            <a:endParaRPr lang="en-US" dirty="0"/>
          </a:p>
          <a:p>
            <a:r>
              <a:rPr lang="en-US" dirty="0"/>
              <a:t>b = b  – </a:t>
            </a:r>
            <a:r>
              <a:rPr lang="hy-AM" dirty="0"/>
              <a:t>ղ</a:t>
            </a:r>
            <a:r>
              <a:rPr lang="en-US" dirty="0"/>
              <a:t> (</a:t>
            </a:r>
            <a:r>
              <a:rPr lang="cy-GB" dirty="0"/>
              <a:t>ŷ</a:t>
            </a:r>
            <a:r>
              <a:rPr lang="en-US" dirty="0"/>
              <a:t> – y)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827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DE81F8-7932-AFF2-8FEF-9F589C901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853" y="0"/>
            <a:ext cx="5355603" cy="6700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4CEFD8-399F-4565-9E9A-BDC028B90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456" y="0"/>
            <a:ext cx="5281027" cy="670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18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DCC6C9-3E05-2817-5A3C-09BC72ABC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13" y="441433"/>
            <a:ext cx="4711204" cy="441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44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78BE85-A060-CFDA-34DB-5A3EB16BF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39" y="245183"/>
            <a:ext cx="10105209" cy="2561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373B55-99CD-8384-1D8D-FB8BC0C17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526021"/>
            <a:ext cx="8991600" cy="190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FBF80D-A071-74E8-4373-B09BFF2A0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37" y="2714625"/>
            <a:ext cx="106013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29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476</Words>
  <Application>Microsoft Office PowerPoint</Application>
  <PresentationFormat>Widescreen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Logistic Regression part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 part 1</dc:title>
  <dc:creator>Administrator</dc:creator>
  <cp:lastModifiedBy>Administrator</cp:lastModifiedBy>
  <cp:revision>12</cp:revision>
  <dcterms:created xsi:type="dcterms:W3CDTF">2025-03-05T00:18:46Z</dcterms:created>
  <dcterms:modified xsi:type="dcterms:W3CDTF">2026-02-27T16:01:24Z</dcterms:modified>
</cp:coreProperties>
</file>