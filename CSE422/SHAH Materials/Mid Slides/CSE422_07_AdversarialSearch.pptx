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Montserrat"/>
      <p:regular r:id="rId32"/>
      <p:bold r:id="rId33"/>
      <p:italic r:id="rId34"/>
      <p:boldItalic r:id="rId35"/>
    </p:embeddedFont>
    <p:embeddedFont>
      <p:font typeface="Montserrat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Medium-bold.fntdata"/><Relationship Id="rId14" Type="http://schemas.openxmlformats.org/officeDocument/2006/relationships/slide" Target="slides/slide8.xml"/><Relationship Id="rId36" Type="http://schemas.openxmlformats.org/officeDocument/2006/relationships/font" Target="fonts/MontserratMedium-regular.fntdata"/><Relationship Id="rId17" Type="http://schemas.openxmlformats.org/officeDocument/2006/relationships/slide" Target="slides/slide11.xml"/><Relationship Id="rId39" Type="http://schemas.openxmlformats.org/officeDocument/2006/relationships/font" Target="fonts/Montserrat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6be204f25_1_3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2f6be204f25_1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6d62978fcb_0_3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6d62978fcb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dce728c7a_0_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6dce728c7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6dce728c7a_0_3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6dce728c7a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dce728c7a_0_33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6dce728c7a_0_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6dce728c7a_0_34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6dce728c7a_0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1b2633c83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a1b2633c8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1b2633c83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a1b2633c8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6dce728c7a_0_4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6dce728c7a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dce728c7a_0_6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6dce728c7a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dce728c7a_0_7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6dce728c7a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6dce728c7a_0_9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6dce728c7a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6dce728c7a_0_10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6dce728c7a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6dce728c7a_0_1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6dce728c7a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dce728c7a_0_14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6dce728c7a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6dd6398492_0_4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6dd6398492_0_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6dce728c7a_0_15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6dce728c7a_0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6dd6398492_0_120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6dd6398492_0_1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6dd6398492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6dd639849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6dd6398492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6dd639849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6dd6398492_0_2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6dd639849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6dd6398492_0_81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6dd6398492_0_8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7024fbec82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g37024fbec8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7024fbec82_0_1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g37024fbec82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7024fbec82_0_2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37024fbec82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4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10" name="Google Shape;110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" name="Google Shape;113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" name="Google Shape;120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" name="Google Shape;123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" name="Google Shape;124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6" name="Google Shape;126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27" name="Google Shape;127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" name="Google Shape;132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33" name="Google Shape;133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4" name="Google Shape;134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38" name="Google Shape;138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43" name="Google Shape;143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44" name="Google Shape;144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9" name="Google Shape;149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0" name="Google Shape;150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2" name="Google Shape;152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5" name="Google Shape;155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60" name="Google Shape;160;p14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4"/>
          <p:cNvSpPr txBox="1"/>
          <p:nvPr>
            <p:ph idx="10" type="dt"/>
          </p:nvPr>
        </p:nvSpPr>
        <p:spPr>
          <a:xfrm>
            <a:off x="7007967" y="4933014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5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65" name="Google Shape;165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" name="Google Shape;168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" name="Google Shape;169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" name="Google Shape;170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" name="Google Shape;171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" name="Google Shape;172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" name="Google Shape;176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" name="Google Shape;177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" name="Google Shape;178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1" name="Google Shape;181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82" name="Google Shape;182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88" name="Google Shape;188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0" name="Google Shape;190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2" name="Google Shape;192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93" name="Google Shape;193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6" name="Google Shape;196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7" name="Google Shape;197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98" name="Google Shape;198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99" name="Google Shape;199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4" name="Google Shape;204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5" name="Google Shape;205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6" name="Google Shape;206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7" name="Google Shape;207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8" name="Google Shape;208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0" name="Google Shape;210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15" name="Google Shape;215;p15"/>
          <p:cNvSpPr txBox="1"/>
          <p:nvPr>
            <p:ph type="ctrTitle"/>
          </p:nvPr>
        </p:nvSpPr>
        <p:spPr>
          <a:xfrm>
            <a:off x="970384" y="1432010"/>
            <a:ext cx="7203233" cy="253746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970384" y="4074423"/>
            <a:ext cx="72032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17" name="Google Shape;217;p15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6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16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16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7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226" name="Google Shape;226;p1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1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1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1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1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1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1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1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1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1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1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1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1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1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1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42" name="Google Shape;242;p1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43" name="Google Shape;243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1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8" name="Google Shape;248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9" name="Google Shape;249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4" name="Google Shape;254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9" name="Google Shape;259;p1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0" name="Google Shape;260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1" name="Google Shape;261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17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65" name="Google Shape;265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66" name="Google Shape;266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7" name="Google Shape;267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71" name="Google Shape;271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" name="Google Shape;274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" name="Google Shape;275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76" name="Google Shape;276;p17"/>
          <p:cNvSpPr txBox="1"/>
          <p:nvPr>
            <p:ph type="title"/>
          </p:nvPr>
        </p:nvSpPr>
        <p:spPr>
          <a:xfrm>
            <a:off x="971550" y="1906180"/>
            <a:ext cx="72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17"/>
          <p:cNvSpPr txBox="1"/>
          <p:nvPr>
            <p:ph idx="1" type="body"/>
          </p:nvPr>
        </p:nvSpPr>
        <p:spPr>
          <a:xfrm>
            <a:off x="971550" y="4073652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78" name="Google Shape;278;p17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9715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2" name="Google Shape;282;p18"/>
          <p:cNvSpPr txBox="1"/>
          <p:nvPr>
            <p:ph idx="2" type="body"/>
          </p:nvPr>
        </p:nvSpPr>
        <p:spPr>
          <a:xfrm>
            <a:off x="47434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18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18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18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1" type="body"/>
          </p:nvPr>
        </p:nvSpPr>
        <p:spPr>
          <a:xfrm>
            <a:off x="9715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89" name="Google Shape;289;p19"/>
          <p:cNvSpPr txBox="1"/>
          <p:nvPr>
            <p:ph idx="2" type="body"/>
          </p:nvPr>
        </p:nvSpPr>
        <p:spPr>
          <a:xfrm>
            <a:off x="9715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0" name="Google Shape;290;p19"/>
          <p:cNvSpPr txBox="1"/>
          <p:nvPr>
            <p:ph idx="3" type="body"/>
          </p:nvPr>
        </p:nvSpPr>
        <p:spPr>
          <a:xfrm>
            <a:off x="47434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91" name="Google Shape;291;p19"/>
          <p:cNvSpPr txBox="1"/>
          <p:nvPr>
            <p:ph idx="4" type="body"/>
          </p:nvPr>
        </p:nvSpPr>
        <p:spPr>
          <a:xfrm>
            <a:off x="47434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" name="Google Shape;292;p19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19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19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20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0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9" name="Google Shape;299;p20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1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02" name="Google Shape;302;p2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" name="Google Shape;304;p2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2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2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2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" name="Google Shape;309;p2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" name="Google Shape;310;p2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2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" name="Google Shape;315;p2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" name="Google Shape;316;p2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18" name="Google Shape;318;p2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19" name="Google Shape;319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2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4" name="Google Shape;324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25" name="Google Shape;325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30" name="Google Shape;330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5" name="Google Shape;335;p2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36" name="Google Shape;336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21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1" name="Google Shape;341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2" name="Google Shape;342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3" name="Google Shape;343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7" name="Google Shape;347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52" name="Google Shape;352;p2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 txBox="1"/>
          <p:nvPr>
            <p:ph type="title"/>
          </p:nvPr>
        </p:nvSpPr>
        <p:spPr>
          <a:xfrm>
            <a:off x="5934864" y="428625"/>
            <a:ext cx="2743200" cy="16478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1" type="body"/>
          </p:nvPr>
        </p:nvSpPr>
        <p:spPr>
          <a:xfrm>
            <a:off x="407398" y="428625"/>
            <a:ext cx="4663440" cy="428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55" name="Google Shape;355;p21"/>
          <p:cNvSpPr txBox="1"/>
          <p:nvPr>
            <p:ph idx="2" type="body"/>
          </p:nvPr>
        </p:nvSpPr>
        <p:spPr>
          <a:xfrm>
            <a:off x="5934864" y="2246259"/>
            <a:ext cx="2743200" cy="17144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356" name="Google Shape;356;p21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21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2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62" name="Google Shape;362;p2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" name="Google Shape;363;p2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2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" name="Google Shape;365;p2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" name="Google Shape;366;p2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" name="Google Shape;367;p2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" name="Google Shape;368;p2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" name="Google Shape;369;p2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" name="Google Shape;370;p2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" name="Google Shape;371;p2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2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" name="Google Shape;373;p2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2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2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2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78" name="Google Shape;378;p2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79" name="Google Shape;379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4" name="Google Shape;384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5" name="Google Shape;385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6" name="Google Shape;386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7" name="Google Shape;387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8" name="Google Shape;388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9" name="Google Shape;389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0" name="Google Shape;390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95" name="Google Shape;395;p2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96" name="Google Shape;396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2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01" name="Google Shape;401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02" name="Google Shape;402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3" name="Google Shape;403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4" name="Google Shape;404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5" name="Google Shape;405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" name="Google Shape;406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07" name="Google Shape;407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12" name="Google Shape;412;p22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2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22"/>
          <p:cNvSpPr txBox="1"/>
          <p:nvPr>
            <p:ph type="title"/>
          </p:nvPr>
        </p:nvSpPr>
        <p:spPr>
          <a:xfrm>
            <a:off x="5932170" y="432054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415" name="Google Shape;415;p22"/>
          <p:cNvSpPr/>
          <p:nvPr>
            <p:ph idx="2" type="pic"/>
          </p:nvPr>
        </p:nvSpPr>
        <p:spPr>
          <a:xfrm>
            <a:off x="3309" y="-119"/>
            <a:ext cx="54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22"/>
          <p:cNvSpPr txBox="1"/>
          <p:nvPr>
            <p:ph idx="1" type="body"/>
          </p:nvPr>
        </p:nvSpPr>
        <p:spPr>
          <a:xfrm>
            <a:off x="5932170" y="2249424"/>
            <a:ext cx="2743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 rot="5400000">
            <a:off x="3143250" y="-685800"/>
            <a:ext cx="2857499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1" name="Google Shape;421;p2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2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 txBox="1"/>
          <p:nvPr>
            <p:ph type="title"/>
          </p:nvPr>
        </p:nvSpPr>
        <p:spPr>
          <a:xfrm rot="5400000">
            <a:off x="5551714" y="1722663"/>
            <a:ext cx="3976007" cy="126546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5" name="Google Shape;425;p24"/>
          <p:cNvSpPr txBox="1"/>
          <p:nvPr>
            <p:ph idx="1" type="body"/>
          </p:nvPr>
        </p:nvSpPr>
        <p:spPr>
          <a:xfrm rot="5400000">
            <a:off x="1828800" y="-489858"/>
            <a:ext cx="3976007" cy="56905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24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7" name="Google Shape;427;p24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8" name="Google Shape;428;p24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" y="-146957"/>
            <a:ext cx="9144002" cy="5143500"/>
            <a:chOff x="-1" y="0"/>
            <a:chExt cx="12192002" cy="6858000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" name="Google Shape;68;p1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69" name="Google Shape;69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4" name="Google Shape;74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75" name="Google Shape;75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0" name="Google Shape;80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5" name="Google Shape;85;p1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1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A43E27"/>
              </a:buClr>
              <a:buSzPts val="1500"/>
              <a:buFont typeface="Arial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200"/>
              <a:buFont typeface="Arial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4" name="Google Shape;104;p13"/>
          <p:cNvCxnSpPr/>
          <p:nvPr/>
        </p:nvCxnSpPr>
        <p:spPr>
          <a:xfrm>
            <a:off x="457200" y="462915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535846" y="3178756"/>
            <a:ext cx="8072400" cy="11964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40A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538975" y="1675071"/>
            <a:ext cx="807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Adversarial Search</a:t>
            </a:r>
            <a:endParaRPr b="1" sz="2000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535896" y="1171357"/>
            <a:ext cx="80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CSE422</a:t>
            </a:r>
            <a:r>
              <a:rPr b="1" i="0" lang="en" sz="1800" u="none" cap="none" strike="noStrike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498404" y="3361002"/>
            <a:ext cx="8072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Asif Shahriar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Lecturer, CSE, BRACU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25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25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654471" y="2398657"/>
            <a:ext cx="80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Game playing using Minimax algorithm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4" name="Google Shape;444;p2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2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WHY Adversarial Search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2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 far we have seen TWO intelligent search techniques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Informed search (A-star search)</a:t>
            </a:r>
            <a:endParaRPr b="1" sz="1300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Finds the optimal path to a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known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goal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A86E8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Local search (Hill climbing, simulated annealing, genetic algorithm)</a:t>
            </a:r>
            <a:endParaRPr b="1" sz="1300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Optimize a solution when the full search space is too large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notion of path — only focuses on current state and neighbors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Both search techniques assume: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world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does not change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unless the agent acts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There is no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opponent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 the search space – agent is working alone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many real-world settings, the environment is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non-deterministic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competitive</a:t>
            </a:r>
            <a:endParaRPr b="1"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outcome depends not only on your actions, but also on the opponent's actions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are not just finding a path — you are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outsmarting an opponent</a:t>
            </a:r>
            <a:endParaRPr b="1"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3" name="Google Shape;453;p2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2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9" name="Google Shape;459;p2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3" name="Google Shape;463;p2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Adversarial Search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2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search framework used in competitive, multi-agent environments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Agents (players)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take turns, and each tries to maximize their own utility (chances of winning the game or better their positions)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Standard model for two-player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zero-sum games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Zero-sum: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one player’s loss is the other’s gain (chess, rock-paper, 1v1 poker)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Non-zero-sum game: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players may both (all) gain or lose (monopoly, team games)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Adversarial search assumes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erfect information: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both players have access to complete information about the state of the game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chance (e.g., using dice) involved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Adversarial search helps an agent make the best move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assuming the worst-case opponent response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67" name="Google Shape;467;p2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2" name="Google Shape;472;p2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3" name="Google Shape;473;p2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2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PLAY a Game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2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79" name="Google Shape;479;p28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way to play such a game is to: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Consider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all legal moves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you can make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Compute the new position resulting from each move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Evaluate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each resulting position and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determine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which is best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Make that move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Wait for your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opponent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to move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Repeat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problems: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Representing the “game”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Generating all legal next boards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Evaluating a position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0" name="Google Shape;480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1" name="Google Shape;481;p2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6" name="Google Shape;486;p2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7" name="Google Shape;487;p2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Let’s play a game - 1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2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93" name="Google Shape;493;p29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Suppose you and your friend both got caught doing something criminal and have been brought in for interrogation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both deny, both get 10 years sentence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both accept, both get 5 years sentence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one accepts and other deny, the one who denies goes free but the one who accepts get 10 years sentence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you gonna do?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4" name="Google Shape;494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5" name="Google Shape;495;p2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0" name="Google Shape;500;p3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1" name="Google Shape;501;p3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3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Let’s play a game - 2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3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07" name="Google Shape;507;p30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There are four coins and 2 players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Each player can take ONE or TWO coins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one who takes the last coin, loses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can choose to go first or go second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gonna do?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8" name="Google Shape;508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09" name="Google Shape;509;p30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4" name="Google Shape;514;p3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5" name="Google Shape;515;p3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3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Let’s Play TIC-TAC-TOE 1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3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21" name="Google Shape;521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2" name="Google Shape;522;p31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23" name="Google Shape;523;p31" title="TIC_TA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650" y="630363"/>
            <a:ext cx="5724163" cy="400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8" name="Google Shape;528;p3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9" name="Google Shape;529;p3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3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Let’s Play TIC-TAC-TOE 2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3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35" name="Google Shape;535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36" name="Google Shape;536;p3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37" name="Google Shape;537;p32" title="TIC-TA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024" y="785163"/>
            <a:ext cx="6230750" cy="38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" name="Google Shape;542;p3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3" name="Google Shape;543;p3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3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Evaluating a Position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3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49" name="Google Shape;549;p33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Evaluation function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or static evaluator is used to evaluate the “goodness” of a game position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Contrast with heuristic search where the evaluation function was a non-negative estimate of the cost from the start node to a goal and passing through the given node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zero-sum assumption allows us to use a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single evaluation function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to describe the goodness of a board with respect to both players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f(n)  &gt;&gt; 0: position n good for me and bad for opponent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f(n) &lt;&lt; 0:  position n bad for me and good for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opponent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f(n) = 0: position n is a neutral position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f(n) = +infinity: win for  me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f(n) = -infinity: win for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opponent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51" name="Google Shape;551;p33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6" name="Google Shape;556;p3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7" name="Google Shape;557;p3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3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Example Evaluation Functions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3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63" name="Google Shape;563;p34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 of an evaluation function for Tic-Tac-Toe: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f(n) = [# of 3-lengths open for me] - [# of 3-lengths open for you]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where a 3-length is a complete row, column, or diagonal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Alan Turing’s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function for chess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f(n) = w(n)/b(n)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where w(n) = sum of the point value of white’s pieces and b(n) = sum of black’s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Piece value: Queen = 9, rook = 5, bishop / knight = 3 (but bishop pair = 7 instead of 6), pawn = 1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Most evaluation functions are specified as a weighted sum of position features: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f(n) = w1 * f1(n) + w2 * f2(n) + ... + wn * fn(n)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Features for chess are piece count,  piece placement, squares controlled, etc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4" name="Google Shape;564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65" name="Google Shape;565;p3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0" name="Google Shape;570;p3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1" name="Google Shape;571;p3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5" name="Google Shape;575;p3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Game Trees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3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77" name="Google Shape;577;p35"/>
          <p:cNvSpPr txBox="1"/>
          <p:nvPr/>
        </p:nvSpPr>
        <p:spPr>
          <a:xfrm>
            <a:off x="366450" y="631000"/>
            <a:ext cx="4646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spaces for typical games are represented as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trees</a:t>
            </a:r>
            <a:endParaRPr b="1"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Root node represents the current board configuration; player must decide the best single move to make next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Static evaluation function rates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 board 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position. f(board) = real number with f&gt;0 (me better), f&lt;0 (opponent better), f=0 (equal)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Arcs represent the possible legal moves for a player 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it is my turn to move, then the root is labeled a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"MAX"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node; otherwise it is labeled a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"MIN"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node, indicating my opponent's turn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Each level of the tree has nodes that are all MAX or all MIN; nodes at level i are of the opposite kind from those at level i+1 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8" name="Google Shape;578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9" name="Google Shape;579;p35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fig05" id="580" name="Google Shape;58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8725" y="1230250"/>
            <a:ext cx="3639576" cy="25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5" name="Google Shape;585;p3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6" name="Google Shape;586;p3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0" name="Google Shape;590;p3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Game Trees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3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92" name="Google Shape;592;p36"/>
          <p:cNvSpPr txBox="1"/>
          <p:nvPr/>
        </p:nvSpPr>
        <p:spPr>
          <a:xfrm>
            <a:off x="543150" y="631000"/>
            <a:ext cx="77808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node as a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MAX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node  with current board configuration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Expand nodes down to some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depth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(a.k.a. ply) of lookahead in the game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 the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evaluation function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at each of the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leaf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nodes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“Back up”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values for each of the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non-leaf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nodes until a value is computed for the root node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MIN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nodes, the backed-up value is the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minimum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of the values associated with its children.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MAX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nodes, the backed-up value is the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maximum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of the values associated with its children.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Pick the operator associated with the child node whose backed-up value determined the value at the root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3" name="Google Shape;59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4" name="Google Shape;594;p3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9" name="Google Shape;599;p3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0" name="Google Shape;600;p3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4" name="Google Shape;604;p3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Game Trees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5" name="Google Shape;605;p3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06" name="Google Shape;60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7" name="Google Shape;607;p3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Image result for drawing minimax tree for artificial intelligence for game" id="608" name="Google Shape;608;p37"/>
          <p:cNvPicPr preferRelativeResize="0"/>
          <p:nvPr/>
        </p:nvPicPr>
        <p:blipFill rotWithShape="1">
          <a:blip r:embed="rId3">
            <a:alphaModFix/>
          </a:blip>
          <a:srcRect b="20566" l="0" r="-9902" t="-22732"/>
          <a:stretch/>
        </p:blipFill>
        <p:spPr>
          <a:xfrm>
            <a:off x="2813150" y="-56850"/>
            <a:ext cx="5651400" cy="48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7"/>
          <p:cNvSpPr/>
          <p:nvPr/>
        </p:nvSpPr>
        <p:spPr>
          <a:xfrm>
            <a:off x="3976500" y="4292800"/>
            <a:ext cx="3729900" cy="16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7"/>
          <p:cNvSpPr txBox="1"/>
          <p:nvPr/>
        </p:nvSpPr>
        <p:spPr>
          <a:xfrm>
            <a:off x="1740825" y="4126875"/>
            <a:ext cx="20025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Static evaluator values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1" name="Google Shape;611;p37"/>
          <p:cNvSpPr txBox="1"/>
          <p:nvPr/>
        </p:nvSpPr>
        <p:spPr>
          <a:xfrm>
            <a:off x="348725" y="3035925"/>
            <a:ext cx="22950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MAX chooses 4 as 4 &gt; -5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2" name="Google Shape;612;p37"/>
          <p:cNvSpPr txBox="1"/>
          <p:nvPr/>
        </p:nvSpPr>
        <p:spPr>
          <a:xfrm>
            <a:off x="348725" y="1944975"/>
            <a:ext cx="23865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chooses 1 as 1 &lt; 4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3" name="Google Shape;613;p37"/>
          <p:cNvSpPr txBox="1"/>
          <p:nvPr/>
        </p:nvSpPr>
        <p:spPr>
          <a:xfrm>
            <a:off x="200100" y="966050"/>
            <a:ext cx="25350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Positive root value suggests that MAX is in better position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8" name="Google Shape;618;p3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9" name="Google Shape;619;p3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3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Game Trees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3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25" name="Google Shape;625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26" name="Google Shape;626;p3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27" name="Google Shape;627;p38" title="min-max-aima-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25" y="935513"/>
            <a:ext cx="7719900" cy="32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2" name="Google Shape;632;p3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3" name="Google Shape;633;p3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3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Minimax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3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39" name="Google Shape;639;p39"/>
          <p:cNvSpPr txBox="1"/>
          <p:nvPr/>
        </p:nvSpPr>
        <p:spPr>
          <a:xfrm>
            <a:off x="543150" y="2427775"/>
            <a:ext cx="77808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Complete depth-first exploration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 depth = m, average moves available = b (i.e. branching factor)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 complexity: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O(</a:t>
            </a: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aseline="30000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), space complexity: O(bm)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O(</a:t>
            </a: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b="1" baseline="30000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40</a:t>
            </a: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i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 chess – making minimax impractical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Solution: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1" name="Google Shape;641;p3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42" name="Google Shape;642;p39" title="minimax-deci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388" y="928125"/>
            <a:ext cx="7209475" cy="1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7" name="Google Shape;647;p4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8" name="Google Shape;648;p4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2" name="Google Shape;652;p4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Minimax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4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54" name="Google Shape;654;p40"/>
          <p:cNvSpPr txBox="1"/>
          <p:nvPr/>
        </p:nvSpPr>
        <p:spPr>
          <a:xfrm>
            <a:off x="543150" y="790488"/>
            <a:ext cx="7780800" cy="3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56" name="Google Shape;656;p40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57" name="Google Shape;657;p40"/>
          <p:cNvSpPr txBox="1"/>
          <p:nvPr/>
        </p:nvSpPr>
        <p:spPr>
          <a:xfrm>
            <a:off x="543150" y="603250"/>
            <a:ext cx="7662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function minimax(position, depth, maximizingPlayer)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if depth == 0 or game over in position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return static evaluation of position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if maximizingPlayer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maxEval = -infinity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for each child of position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eval = minimax(child, depth - 1, ____)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maxEval = max(maxEval, eval)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return maxEval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else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minEval = +infinity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for each child of position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eval = minimax(child, depth - 1, ____)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minEval = min(minEval, eval)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return minEval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// initial call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minimax(currentPosition, 3, true)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2" name="Google Shape;662;p4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3" name="Google Shape;663;p4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4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6" name="Google Shape;666;p41"/>
          <p:cNvSpPr txBox="1"/>
          <p:nvPr/>
        </p:nvSpPr>
        <p:spPr>
          <a:xfrm>
            <a:off x="466625" y="758650"/>
            <a:ext cx="7780800" cy="1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Basic idea: “If you have an idea that is surely bad, don't take the time to see how truly awful it is.” -- Pat Winston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other words: We DO NOT need to check ALL moves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8" name="Google Shape;668;p41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9" name="Google Shape;669;p4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72" name="Google Shape;672;p41"/>
          <p:cNvSpPr/>
          <p:nvPr/>
        </p:nvSpPr>
        <p:spPr>
          <a:xfrm>
            <a:off x="2057400" y="2209800"/>
            <a:ext cx="327000" cy="285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41"/>
          <p:cNvSpPr/>
          <p:nvPr/>
        </p:nvSpPr>
        <p:spPr>
          <a:xfrm flipH="1" rot="10800000">
            <a:off x="2743200" y="2838600"/>
            <a:ext cx="327000" cy="2856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p41"/>
          <p:cNvSpPr/>
          <p:nvPr/>
        </p:nvSpPr>
        <p:spPr>
          <a:xfrm flipH="1" rot="10800000">
            <a:off x="1447800" y="2838600"/>
            <a:ext cx="327000" cy="2856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1752600" y="3638550"/>
            <a:ext cx="327000" cy="285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41"/>
          <p:cNvSpPr/>
          <p:nvPr/>
        </p:nvSpPr>
        <p:spPr>
          <a:xfrm>
            <a:off x="1143000" y="3638550"/>
            <a:ext cx="327000" cy="285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41"/>
          <p:cNvSpPr/>
          <p:nvPr/>
        </p:nvSpPr>
        <p:spPr>
          <a:xfrm>
            <a:off x="3124200" y="3638550"/>
            <a:ext cx="327000" cy="285900"/>
          </a:xfrm>
          <a:prstGeom prst="triangle">
            <a:avLst>
              <a:gd fmla="val 50000" name="adj"/>
            </a:avLst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8" name="Google Shape;678;p41"/>
          <p:cNvSpPr/>
          <p:nvPr/>
        </p:nvSpPr>
        <p:spPr>
          <a:xfrm>
            <a:off x="2514600" y="3638550"/>
            <a:ext cx="327000" cy="285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79" name="Google Shape;679;p41"/>
          <p:cNvCxnSpPr/>
          <p:nvPr/>
        </p:nvCxnSpPr>
        <p:spPr>
          <a:xfrm flipH="1" rot="10800000">
            <a:off x="1600200" y="2495550"/>
            <a:ext cx="609600" cy="34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0" name="Google Shape;680;p41"/>
          <p:cNvCxnSpPr/>
          <p:nvPr/>
        </p:nvCxnSpPr>
        <p:spPr>
          <a:xfrm rot="10800000">
            <a:off x="2209800" y="2495550"/>
            <a:ext cx="685800" cy="34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1" name="Google Shape;681;p41"/>
          <p:cNvCxnSpPr/>
          <p:nvPr/>
        </p:nvCxnSpPr>
        <p:spPr>
          <a:xfrm flipH="1" rot="10800000">
            <a:off x="1295400" y="3124350"/>
            <a:ext cx="304800" cy="51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2" name="Google Shape;682;p41"/>
          <p:cNvCxnSpPr/>
          <p:nvPr/>
        </p:nvCxnSpPr>
        <p:spPr>
          <a:xfrm rot="10800000">
            <a:off x="1600200" y="3124350"/>
            <a:ext cx="304800" cy="51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3" name="Google Shape;683;p41"/>
          <p:cNvCxnSpPr/>
          <p:nvPr/>
        </p:nvCxnSpPr>
        <p:spPr>
          <a:xfrm flipH="1" rot="10800000">
            <a:off x="2667000" y="3124350"/>
            <a:ext cx="228600" cy="51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4" name="Google Shape;684;p41"/>
          <p:cNvCxnSpPr/>
          <p:nvPr/>
        </p:nvCxnSpPr>
        <p:spPr>
          <a:xfrm rot="10800000">
            <a:off x="2895600" y="3124350"/>
            <a:ext cx="381000" cy="51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85" name="Google Shape;685;p41"/>
          <p:cNvSpPr txBox="1"/>
          <p:nvPr/>
        </p:nvSpPr>
        <p:spPr>
          <a:xfrm>
            <a:off x="1143000" y="39243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86" name="Google Shape;686;p41"/>
          <p:cNvSpPr txBox="1"/>
          <p:nvPr/>
        </p:nvSpPr>
        <p:spPr>
          <a:xfrm>
            <a:off x="1752600" y="39243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687" name="Google Shape;687;p41"/>
          <p:cNvSpPr txBox="1"/>
          <p:nvPr/>
        </p:nvSpPr>
        <p:spPr>
          <a:xfrm>
            <a:off x="2514600" y="39243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88" name="Google Shape;688;p41"/>
          <p:cNvSpPr txBox="1"/>
          <p:nvPr/>
        </p:nvSpPr>
        <p:spPr>
          <a:xfrm>
            <a:off x="1066800" y="2838450"/>
            <a:ext cx="4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=2</a:t>
            </a:r>
            <a:endParaRPr/>
          </a:p>
        </p:txBody>
      </p:sp>
      <p:sp>
        <p:nvSpPr>
          <p:cNvPr id="689" name="Google Shape;689;p41"/>
          <p:cNvSpPr txBox="1"/>
          <p:nvPr/>
        </p:nvSpPr>
        <p:spPr>
          <a:xfrm>
            <a:off x="2438400" y="2209800"/>
            <a:ext cx="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&gt;=2</a:t>
            </a:r>
            <a:endParaRPr/>
          </a:p>
        </p:txBody>
      </p:sp>
      <p:sp>
        <p:nvSpPr>
          <p:cNvPr id="690" name="Google Shape;690;p41"/>
          <p:cNvSpPr txBox="1"/>
          <p:nvPr/>
        </p:nvSpPr>
        <p:spPr>
          <a:xfrm>
            <a:off x="3124200" y="2838450"/>
            <a:ext cx="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&lt;=1</a:t>
            </a:r>
            <a:endParaRPr/>
          </a:p>
        </p:txBody>
      </p:sp>
      <p:sp>
        <p:nvSpPr>
          <p:cNvPr id="691" name="Google Shape;691;p41"/>
          <p:cNvSpPr txBox="1"/>
          <p:nvPr/>
        </p:nvSpPr>
        <p:spPr>
          <a:xfrm>
            <a:off x="3124200" y="3924300"/>
            <a:ext cx="3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692" name="Google Shape;692;p41"/>
          <p:cNvSpPr txBox="1"/>
          <p:nvPr/>
        </p:nvSpPr>
        <p:spPr>
          <a:xfrm>
            <a:off x="4975200" y="2106150"/>
            <a:ext cx="4038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34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Montserrat Medium"/>
              <a:buChar char="•"/>
            </a:pPr>
            <a:r>
              <a:rPr i="0" lang="en" u="none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don’t need to compute the value at this node.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71450" lvl="0" marL="2349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•"/>
            </a:pPr>
            <a:r>
              <a:rPr i="0" lang="en" u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matter what it is, it can’t affect the value of the root node.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93" name="Google Shape;693;p41"/>
          <p:cNvCxnSpPr/>
          <p:nvPr/>
        </p:nvCxnSpPr>
        <p:spPr>
          <a:xfrm flipH="1">
            <a:off x="3505200" y="2552700"/>
            <a:ext cx="1371600" cy="1200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94" name="Google Shape;694;p41"/>
          <p:cNvSpPr txBox="1"/>
          <p:nvPr/>
        </p:nvSpPr>
        <p:spPr>
          <a:xfrm>
            <a:off x="746125" y="2163365"/>
            <a:ext cx="7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/>
          </a:p>
        </p:txBody>
      </p:sp>
      <p:sp>
        <p:nvSpPr>
          <p:cNvPr id="695" name="Google Shape;695;p41"/>
          <p:cNvSpPr txBox="1"/>
          <p:nvPr/>
        </p:nvSpPr>
        <p:spPr>
          <a:xfrm>
            <a:off x="228600" y="2838450"/>
            <a:ext cx="6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0" name="Google Shape;700;p4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1" name="Google Shape;701;p4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4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6" name="Google Shape;706;p4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07" name="Google Shape;707;p42"/>
          <p:cNvSpPr txBox="1"/>
          <p:nvPr/>
        </p:nvSpPr>
        <p:spPr>
          <a:xfrm>
            <a:off x="543150" y="979975"/>
            <a:ext cx="77808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𝛂 (alpha) = value of best choice so far for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MAX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(highest value)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𝛃 (beta) = value of best choice so far for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MIN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(lowest value)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Each node keeps track of its [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𝛂, 𝛃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] values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9" name="Google Shape;709;p4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4" name="Google Shape;714;p4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5" name="Google Shape;715;p4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4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8" name="Google Shape;718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9" name="Google Shape;719;p43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0" name="Google Shape;720;p4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723" name="Google Shape;723;p43" title="alpha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75" y="719975"/>
            <a:ext cx="8308761" cy="400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8" name="Google Shape;728;p4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9" name="Google Shape;729;p4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1" name="Google Shape;731;p4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33" name="Google Shape;733;p4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34" name="Google Shape;734;p4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737" name="Google Shape;737;p44" title="alpha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705000"/>
            <a:ext cx="8051070" cy="400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2" name="Google Shape;742;p4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3" name="Google Shape;743;p4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5" name="Google Shape;745;p4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6" name="Google Shape;746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7" name="Google Shape;747;p45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8" name="Google Shape;748;p4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751" name="Google Shape;751;p45" title="alpha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13" y="705000"/>
            <a:ext cx="8012019" cy="400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6" name="Google Shape;756;p4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7" name="Google Shape;757;p4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1" name="Google Shape;761;p4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63" name="Google Shape;763;p46"/>
          <p:cNvSpPr txBox="1"/>
          <p:nvPr/>
        </p:nvSpPr>
        <p:spPr>
          <a:xfrm>
            <a:off x="543150" y="790500"/>
            <a:ext cx="5523000" cy="3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4" name="Google Shape;764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65" name="Google Shape;765;p4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66" name="Google Shape;766;p46"/>
          <p:cNvSpPr txBox="1"/>
          <p:nvPr/>
        </p:nvSpPr>
        <p:spPr>
          <a:xfrm>
            <a:off x="390750" y="527050"/>
            <a:ext cx="56670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function minimax(position, depth, alpha, beta, maximizingPlayer)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if depth == 0 or game over in position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return static evaluation of position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if maximizingPlayer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maxEval = -infinity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for each child of position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eval = minimax(child, depth - 1, alpha, beta, false)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maxEval = max(maxEval, eval)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alpha = max(alpha, eval)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if beta &lt;= alpha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    break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return maxEval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else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minEval = +infinity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for each child of position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eval = minimax(child, depth - 1, alpha, beta, true)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minEval = min(minEval, eval)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beta = min(beta, eval)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if beta &lt;= alpha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    break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return minEval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7" name="Google Shape;767;p46"/>
          <p:cNvSpPr txBox="1"/>
          <p:nvPr/>
        </p:nvSpPr>
        <p:spPr>
          <a:xfrm>
            <a:off x="5058775" y="2377525"/>
            <a:ext cx="36330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initial call</a:t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minimax(currentPosition,3,-∞, +∞,true)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68" name="Google Shape;768;p46"/>
          <p:cNvSpPr/>
          <p:nvPr/>
        </p:nvSpPr>
        <p:spPr>
          <a:xfrm>
            <a:off x="5038300" y="2225075"/>
            <a:ext cx="3563700" cy="834000"/>
          </a:xfrm>
          <a:prstGeom prst="rect">
            <a:avLst/>
          </a:prstGeom>
          <a:noFill/>
          <a:ln cap="flat" cmpd="sng" w="19050">
            <a:solidFill>
              <a:srgbClr val="701F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3" name="Google Shape;773;p4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4" name="Google Shape;774;p4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8" name="Google Shape;778;p4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 Simulation - 1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9" name="Google Shape;779;p4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80" name="Google Shape;780;p4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81" name="Google Shape;781;p4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82" name="Google Shape;782;p47" title="alpha-beta-3.png"/>
          <p:cNvPicPr preferRelativeResize="0"/>
          <p:nvPr/>
        </p:nvPicPr>
        <p:blipFill rotWithShape="1">
          <a:blip r:embed="rId3">
            <a:alphaModFix/>
          </a:blip>
          <a:srcRect b="29691" l="8388" r="10410" t="0"/>
          <a:stretch/>
        </p:blipFill>
        <p:spPr>
          <a:xfrm>
            <a:off x="2078975" y="705000"/>
            <a:ext cx="5833325" cy="33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47"/>
          <p:cNvSpPr txBox="1"/>
          <p:nvPr/>
        </p:nvSpPr>
        <p:spPr>
          <a:xfrm>
            <a:off x="1631700" y="1003750"/>
            <a:ext cx="660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MAX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84" name="Google Shape;784;p47"/>
          <p:cNvSpPr txBox="1"/>
          <p:nvPr/>
        </p:nvSpPr>
        <p:spPr>
          <a:xfrm>
            <a:off x="1659300" y="2089650"/>
            <a:ext cx="660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MIN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85" name="Google Shape;785;p47"/>
          <p:cNvSpPr txBox="1"/>
          <p:nvPr/>
        </p:nvSpPr>
        <p:spPr>
          <a:xfrm>
            <a:off x="1631700" y="3071575"/>
            <a:ext cx="660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MAX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86" name="Google Shape;786;p47"/>
          <p:cNvSpPr/>
          <p:nvPr/>
        </p:nvSpPr>
        <p:spPr>
          <a:xfrm>
            <a:off x="2437800" y="4072150"/>
            <a:ext cx="442200" cy="3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</a:t>
            </a:r>
            <a:endParaRPr/>
          </a:p>
        </p:txBody>
      </p:sp>
      <p:sp>
        <p:nvSpPr>
          <p:cNvPr id="787" name="Google Shape;787;p47"/>
          <p:cNvSpPr/>
          <p:nvPr/>
        </p:nvSpPr>
        <p:spPr>
          <a:xfrm>
            <a:off x="3219800" y="4072150"/>
            <a:ext cx="442200" cy="3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788" name="Google Shape;788;p47"/>
          <p:cNvSpPr/>
          <p:nvPr/>
        </p:nvSpPr>
        <p:spPr>
          <a:xfrm>
            <a:off x="3805600" y="4072150"/>
            <a:ext cx="442200" cy="3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789" name="Google Shape;789;p47"/>
          <p:cNvSpPr/>
          <p:nvPr/>
        </p:nvSpPr>
        <p:spPr>
          <a:xfrm>
            <a:off x="4464825" y="4072150"/>
            <a:ext cx="442200" cy="3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790" name="Google Shape;790;p47"/>
          <p:cNvSpPr/>
          <p:nvPr/>
        </p:nvSpPr>
        <p:spPr>
          <a:xfrm>
            <a:off x="5058775" y="4072150"/>
            <a:ext cx="442200" cy="3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–6</a:t>
            </a:r>
            <a:endParaRPr/>
          </a:p>
        </p:txBody>
      </p:sp>
      <p:sp>
        <p:nvSpPr>
          <p:cNvPr id="791" name="Google Shape;791;p47"/>
          <p:cNvSpPr/>
          <p:nvPr/>
        </p:nvSpPr>
        <p:spPr>
          <a:xfrm>
            <a:off x="5709850" y="4072150"/>
            <a:ext cx="442200" cy="3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-4</a:t>
            </a:r>
            <a:endParaRPr/>
          </a:p>
        </p:txBody>
      </p:sp>
      <p:sp>
        <p:nvSpPr>
          <p:cNvPr id="792" name="Google Shape;792;p47"/>
          <p:cNvSpPr/>
          <p:nvPr/>
        </p:nvSpPr>
        <p:spPr>
          <a:xfrm>
            <a:off x="6340325" y="4072150"/>
            <a:ext cx="442200" cy="3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793" name="Google Shape;793;p47"/>
          <p:cNvSpPr/>
          <p:nvPr/>
        </p:nvSpPr>
        <p:spPr>
          <a:xfrm>
            <a:off x="7069675" y="4072150"/>
            <a:ext cx="442200" cy="3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8" name="Google Shape;798;p4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9" name="Google Shape;799;p4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3" name="Google Shape;803;p4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 Simulation - 2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4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805" name="Google Shape;805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6" name="Google Shape;806;p4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07" name="Google Shape;807;p48" title="alpha-beta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250" y="1000426"/>
            <a:ext cx="6583075" cy="367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2" name="Google Shape;812;p4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3" name="Google Shape;813;p4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7" name="Google Shape;817;p4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Alpha-beta Pruning Simulation - 3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8" name="Google Shape;818;p4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819" name="Google Shape;819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20" name="Google Shape;820;p4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21" name="Google Shape;821;p49" title="alpha-beta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925" y="705000"/>
            <a:ext cx="7550233" cy="400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