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</p:sldIdLst>
  <p:sldSz cy="6858000" cx="9144000"/>
  <p:notesSz cx="6858000" cy="9144000"/>
  <p:embeddedFontLst>
    <p:embeddedFont>
      <p:font typeface="Tahoma"/>
      <p:regular r:id="rId93"/>
      <p:bold r:id="rId9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95" roundtripDataSignature="AMtx7mgJleiEGM7M851Lb8VPU8wC7IwU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90EF8FA-749B-4DD1-AEA0-74944B5BCE82}">
  <a:tblStyle styleId="{B90EF8FA-749B-4DD1-AEA0-74944B5BCE8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42" Type="http://schemas.openxmlformats.org/officeDocument/2006/relationships/slide" Target="slides/slide36.xml"/><Relationship Id="rId86" Type="http://schemas.openxmlformats.org/officeDocument/2006/relationships/slide" Target="slides/slide80.xml"/><Relationship Id="rId41" Type="http://schemas.openxmlformats.org/officeDocument/2006/relationships/slide" Target="slides/slide35.xml"/><Relationship Id="rId85" Type="http://schemas.openxmlformats.org/officeDocument/2006/relationships/slide" Target="slides/slide79.xml"/><Relationship Id="rId44" Type="http://schemas.openxmlformats.org/officeDocument/2006/relationships/slide" Target="slides/slide38.xml"/><Relationship Id="rId88" Type="http://schemas.openxmlformats.org/officeDocument/2006/relationships/slide" Target="slides/slide82.xml"/><Relationship Id="rId43" Type="http://schemas.openxmlformats.org/officeDocument/2006/relationships/slide" Target="slides/slide37.xml"/><Relationship Id="rId87" Type="http://schemas.openxmlformats.org/officeDocument/2006/relationships/slide" Target="slides/slide81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31" Type="http://schemas.openxmlformats.org/officeDocument/2006/relationships/slide" Target="slides/slide25.xml"/><Relationship Id="rId75" Type="http://schemas.openxmlformats.org/officeDocument/2006/relationships/slide" Target="slides/slide69.xml"/><Relationship Id="rId30" Type="http://schemas.openxmlformats.org/officeDocument/2006/relationships/slide" Target="slides/slide24.xml"/><Relationship Id="rId74" Type="http://schemas.openxmlformats.org/officeDocument/2006/relationships/slide" Target="slides/slide68.xml"/><Relationship Id="rId33" Type="http://schemas.openxmlformats.org/officeDocument/2006/relationships/slide" Target="slides/slide27.xml"/><Relationship Id="rId77" Type="http://schemas.openxmlformats.org/officeDocument/2006/relationships/slide" Target="slides/slide71.xml"/><Relationship Id="rId32" Type="http://schemas.openxmlformats.org/officeDocument/2006/relationships/slide" Target="slides/slide26.xml"/><Relationship Id="rId76" Type="http://schemas.openxmlformats.org/officeDocument/2006/relationships/slide" Target="slides/slide70.xml"/><Relationship Id="rId35" Type="http://schemas.openxmlformats.org/officeDocument/2006/relationships/slide" Target="slides/slide29.xml"/><Relationship Id="rId79" Type="http://schemas.openxmlformats.org/officeDocument/2006/relationships/slide" Target="slides/slide73.xml"/><Relationship Id="rId34" Type="http://schemas.openxmlformats.org/officeDocument/2006/relationships/slide" Target="slides/slide28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95" Type="http://customschemas.google.com/relationships/presentationmetadata" Target="metadata"/><Relationship Id="rId50" Type="http://schemas.openxmlformats.org/officeDocument/2006/relationships/slide" Target="slides/slide44.xml"/><Relationship Id="rId94" Type="http://schemas.openxmlformats.org/officeDocument/2006/relationships/font" Target="fonts/Tahoma-bold.fntdata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font" Target="fonts/Tahoma-regular.fntdata"/><Relationship Id="rId92" Type="http://schemas.openxmlformats.org/officeDocument/2006/relationships/slide" Target="slides/slide86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" name="Google Shape;127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" name="Google Shape;133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9" name="Google Shape;209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6" name="Google Shape;216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3" name="Google Shape;223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2" name="Google Shape;232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9" name="Google Shape;239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6" name="Google Shape;246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2" name="Google Shape;252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9" name="Google Shape;259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5" name="Google Shape;265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8" name="Google Shape;318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2" name="Google Shape;372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6" name="Google Shape;426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0" name="Google Shape;480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4" name="Google Shape;534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8" name="Google Shape;588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2" name="Google Shape;642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6" name="Google Shape;696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0" name="Google Shape;750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3" name="Google Shape;803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3" name="Google Shape;813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1" name="Google Shape;841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6" name="Google Shape;886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3" name="Google Shape;943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1" name="Google Shape;1001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7" name="Google Shape;1057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2" name="Google Shape;1112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2" name="Google Shape;1122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0" name="Google Shape;1150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4" name="Google Shape;1184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2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4" name="Google Shape;1224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0" name="Google Shape;1270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4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6" name="Google Shape;1316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8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0" name="Google Shape;1370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4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6" name="Google Shape;1376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83" name="Google Shape;1383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0" name="Google Shape;1390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5" name="Shape 1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Google Shape;1456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7" name="Google Shape;1457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3" name="Google Shape;1513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1" name="Shape 1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2" name="Google Shape;1522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3" name="Google Shape;1523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9" name="Shape 1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Google Shape;1550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1" name="Google Shape;1551;p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9" name="Shape 1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0" name="Google Shape;1590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1" name="Google Shape;1591;p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5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6" name="Google Shape;1636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7" name="Google Shape;1637;p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8" name="Shape 1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" name="Google Shape;1689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90" name="Google Shape;1690;p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6" name="Shape 1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7" name="Google Shape;1747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8" name="Google Shape;1748;p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4" name="Shape 1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5" name="Google Shape;1805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06" name="Google Shape;1806;p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2" name="Shape 1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" name="Google Shape;1863;g36b99e6bcf5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4" name="Google Shape;1864;g36b99e6bcf5_0_5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8" name="Shape 1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9" name="Google Shape;1869;g36b99e6bcf5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0" name="Google Shape;1870;g36b99e6bcf5_0_6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4" name="Shape 1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5" name="Google Shape;1875;g36b99e6bcf5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6" name="Google Shape;1876;g36b99e6bcf5_0_6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1" name="Shape 1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2" name="Google Shape;1882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3" name="Google Shape;1883;p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7" name="Shape 1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8" name="Google Shape;1888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9" name="Google Shape;1889;p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2" name="Shape 1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3" name="Google Shape;1943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44" name="Google Shape;1944;p5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2" name="Shape 1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3" name="Google Shape;1953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54" name="Google Shape;1954;p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0" name="Shape 1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1" name="Google Shape;1981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82" name="Google Shape;1982;p5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0" name="Shape 2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1" name="Google Shape;2021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22" name="Google Shape;2022;p5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6" name="Shape 2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7" name="Google Shape;2067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8" name="Google Shape;2068;p5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8" name="Shape 2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" name="Google Shape;2119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20" name="Google Shape;2120;p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5" name="Shape 2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6" name="Google Shape;2176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77" name="Google Shape;2177;p5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2" name="Shape 2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3" name="Google Shape;2233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34" name="Google Shape;2234;p6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9" name="Shape 2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0" name="Google Shape;2290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1" name="Google Shape;2291;p6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7" name="Shape 2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8" name="Google Shape;2348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49" name="Google Shape;2349;p6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3" name="Shape 2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4" name="Google Shape;2354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55" name="Google Shape;2355;p6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0" name="Shape 2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1" name="Google Shape;2361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62" name="Google Shape;2362;p6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4" name="Shape 2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5" name="Google Shape;2415;p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16" name="Google Shape;2416;p8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1" name="Shape 2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2" name="Google Shape;2422;p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23" name="Google Shape;2423;p8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1" name="Shape 2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2" name="Google Shape;2432;p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33" name="Google Shape;2433;p8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7" name="Shape 2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8" name="Google Shape;2438;p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39" name="Google Shape;2439;p8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3" name="Shape 2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4" name="Google Shape;2444;p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45" name="Google Shape;2445;p8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9" name="Shape 2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0" name="Google Shape;2450;p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51" name="Google Shape;2451;p8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5" name="Shape 2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6" name="Google Shape;2456;p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57" name="Google Shape;2457;p8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1" name="Shape 2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2" name="Google Shape;2462;p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63" name="Google Shape;2463;p8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7" name="Shape 2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8" name="Google Shape;2468;p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69" name="Google Shape;2469;p8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3" name="Shape 2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4" name="Google Shape;2474;p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75" name="Google Shape;2475;p9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9" name="Shape 2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0" name="Google Shape;2480;g36b99e6bcf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81" name="Google Shape;2481;g36b99e6bcf5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4" name="Shape 2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5" name="Google Shape;2485;g36b99e6bcf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86" name="Google Shape;2486;g36b99e6bcf5_0_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0" name="Shape 2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1" name="Google Shape;2491;g36b99e6bcf5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92" name="Google Shape;2492;g36b99e6bcf5_0_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7" name="Shape 2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" name="Google Shape;2498;g36b99e6bcf5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99" name="Google Shape;2499;g36b99e6bcf5_0_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4" name="Shape 2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5" name="Google Shape;2505;g36b99e6bcf5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06" name="Google Shape;2506;g36b99e6bcf5_0_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1" name="Shape 2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2" name="Google Shape;2512;g36b99e6bcf5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13" name="Google Shape;2513;g36b99e6bcf5_0_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6" name="Shape 2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7" name="Google Shape;2517;g36b99e6bcf5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18" name="Google Shape;2518;g36b99e6bcf5_0_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2" name="Shape 2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3" name="Google Shape;2523;g36b99e6bcf5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24" name="Google Shape;2524;g36b99e6bcf5_0_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9" name="Shape 2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0" name="Google Shape;2530;p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31" name="Google Shape;2531;p9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101"/>
          <p:cNvGrpSpPr/>
          <p:nvPr/>
        </p:nvGrpSpPr>
        <p:grpSpPr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24" name="Google Shape;24;p101"/>
            <p:cNvGrpSpPr/>
            <p:nvPr/>
          </p:nvGrpSpPr>
          <p:grpSpPr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25" name="Google Shape;25;p101"/>
              <p:cNvSpPr/>
              <p:nvPr/>
            </p:nvSpPr>
            <p:spPr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6" name="Google Shape;26;p101"/>
              <p:cNvSpPr/>
              <p:nvPr/>
            </p:nvSpPr>
            <p:spPr>
              <a:xfrm>
                <a:off x="1056" y="336"/>
                <a:ext cx="288" cy="432"/>
              </a:xfrm>
              <a:prstGeom prst="rect">
                <a:avLst/>
              </a:prstGeom>
              <a:gradFill>
                <a:gsLst>
                  <a:gs pos="0">
                    <a:schemeClr val="folHlink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27" name="Google Shape;27;p101"/>
            <p:cNvGrpSpPr/>
            <p:nvPr/>
          </p:nvGrpSpPr>
          <p:grpSpPr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28" name="Google Shape;28;p101"/>
              <p:cNvSpPr/>
              <p:nvPr/>
            </p:nvSpPr>
            <p:spPr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9" name="Google Shape;29;p101"/>
              <p:cNvSpPr/>
              <p:nvPr/>
            </p:nvSpPr>
            <p:spPr>
              <a:xfrm>
                <a:off x="1248" y="2640"/>
                <a:ext cx="336" cy="432"/>
              </a:xfrm>
              <a:prstGeom prst="rect">
                <a:avLst/>
              </a:prstGeom>
              <a:gradFill>
                <a:gsLst>
                  <a:gs pos="0">
                    <a:schemeClr val="accent2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30" name="Google Shape;30;p101"/>
            <p:cNvSpPr/>
            <p:nvPr/>
          </p:nvSpPr>
          <p:spPr>
            <a:xfrm>
              <a:off x="0" y="1824"/>
              <a:ext cx="353" cy="266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100000">
                  <a:schemeClr val="hlink"/>
                </a:gs>
              </a:gsLst>
              <a:lin ang="189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1" name="Google Shape;31;p101"/>
            <p:cNvSpPr/>
            <p:nvPr/>
          </p:nvSpPr>
          <p:spPr>
            <a:xfrm>
              <a:off x="400" y="1536"/>
              <a:ext cx="20" cy="663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2" name="Google Shape;32;p101"/>
            <p:cNvSpPr/>
            <p:nvPr/>
          </p:nvSpPr>
          <p:spPr>
            <a:xfrm flipH="1" rot="10800000">
              <a:off x="199" y="2054"/>
              <a:ext cx="5476" cy="35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33" name="Google Shape;33;p101"/>
          <p:cNvSpPr txBox="1"/>
          <p:nvPr>
            <p:ph type="ctrTitle"/>
          </p:nvPr>
        </p:nvSpPr>
        <p:spPr>
          <a:xfrm>
            <a:off x="990600" y="1676400"/>
            <a:ext cx="7772400" cy="14620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0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5" name="Google Shape;35;p101"/>
          <p:cNvSpPr txBox="1"/>
          <p:nvPr>
            <p:ph idx="10" type="dt"/>
          </p:nvPr>
        </p:nvSpPr>
        <p:spPr>
          <a:xfrm>
            <a:off x="990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01"/>
          <p:cNvSpPr txBox="1"/>
          <p:nvPr>
            <p:ph idx="11" type="ftr"/>
          </p:nvPr>
        </p:nvSpPr>
        <p:spPr>
          <a:xfrm>
            <a:off x="34290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01"/>
          <p:cNvSpPr txBox="1"/>
          <p:nvPr>
            <p:ph idx="12" type="sldNum"/>
          </p:nvPr>
        </p:nvSpPr>
        <p:spPr>
          <a:xfrm>
            <a:off x="68580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2"/>
          <p:cNvSpPr txBox="1"/>
          <p:nvPr>
            <p:ph type="title"/>
          </p:nvPr>
        </p:nvSpPr>
        <p:spPr>
          <a:xfrm>
            <a:off x="685800" y="609600"/>
            <a:ext cx="7770813" cy="11414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02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3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03"/>
          <p:cNvSpPr txBox="1"/>
          <p:nvPr>
            <p:ph idx="1" type="body"/>
          </p:nvPr>
        </p:nvSpPr>
        <p:spPr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4" name="Google Shape;44;p103"/>
          <p:cNvSpPr txBox="1"/>
          <p:nvPr>
            <p:ph idx="10" type="dt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03"/>
          <p:cNvSpPr txBox="1"/>
          <p:nvPr>
            <p:ph idx="11" type="ftr"/>
          </p:nvPr>
        </p:nvSpPr>
        <p:spPr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03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4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04"/>
          <p:cNvSpPr txBox="1"/>
          <p:nvPr>
            <p:ph idx="1" type="body"/>
          </p:nvPr>
        </p:nvSpPr>
        <p:spPr>
          <a:xfrm>
            <a:off x="1182688" y="2017713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0" name="Google Shape;50;p104"/>
          <p:cNvSpPr txBox="1"/>
          <p:nvPr>
            <p:ph idx="2" type="body"/>
          </p:nvPr>
        </p:nvSpPr>
        <p:spPr>
          <a:xfrm>
            <a:off x="5145088" y="2017713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1" name="Google Shape;51;p104"/>
          <p:cNvSpPr txBox="1"/>
          <p:nvPr>
            <p:ph idx="10" type="dt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04"/>
          <p:cNvSpPr txBox="1"/>
          <p:nvPr>
            <p:ph idx="11" type="ftr"/>
          </p:nvPr>
        </p:nvSpPr>
        <p:spPr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04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5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5"/>
          <p:cNvSpPr txBox="1"/>
          <p:nvPr>
            <p:ph idx="1" type="body"/>
          </p:nvPr>
        </p:nvSpPr>
        <p:spPr>
          <a:xfrm>
            <a:off x="1182688" y="2017713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indent="-312419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indent="-2921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57" name="Google Shape;57;p105"/>
          <p:cNvSpPr txBox="1"/>
          <p:nvPr>
            <p:ph idx="2" type="body"/>
          </p:nvPr>
        </p:nvSpPr>
        <p:spPr>
          <a:xfrm>
            <a:off x="5145088" y="2017713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indent="-312419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indent="-2921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58" name="Google Shape;58;p105"/>
          <p:cNvSpPr txBox="1"/>
          <p:nvPr>
            <p:ph idx="10" type="dt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5"/>
          <p:cNvSpPr txBox="1"/>
          <p:nvPr>
            <p:ph idx="11" type="ftr"/>
          </p:nvPr>
        </p:nvSpPr>
        <p:spPr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5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6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6"/>
          <p:cNvSpPr txBox="1"/>
          <p:nvPr>
            <p:ph idx="10" type="dt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6"/>
          <p:cNvSpPr txBox="1"/>
          <p:nvPr>
            <p:ph idx="11" type="ftr"/>
          </p:nvPr>
        </p:nvSpPr>
        <p:spPr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6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0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7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9pPr>
          </a:lstStyle>
          <a:p/>
        </p:txBody>
      </p:sp>
      <p:sp>
        <p:nvSpPr>
          <p:cNvPr id="69" name="Google Shape;69;p107"/>
          <p:cNvSpPr txBox="1"/>
          <p:nvPr>
            <p:ph idx="10" type="dt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7"/>
          <p:cNvSpPr txBox="1"/>
          <p:nvPr>
            <p:ph idx="11" type="ftr"/>
          </p:nvPr>
        </p:nvSpPr>
        <p:spPr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7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0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75" name="Google Shape;75;p10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indent="-2984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76" name="Google Shape;76;p10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77" name="Google Shape;77;p10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indent="-2984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78" name="Google Shape;78;p108"/>
          <p:cNvSpPr txBox="1"/>
          <p:nvPr>
            <p:ph idx="10" type="dt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08"/>
          <p:cNvSpPr txBox="1"/>
          <p:nvPr>
            <p:ph idx="11" type="ftr"/>
          </p:nvPr>
        </p:nvSpPr>
        <p:spPr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08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09"/>
          <p:cNvSpPr txBox="1"/>
          <p:nvPr>
            <p:ph idx="10" type="dt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09"/>
          <p:cNvSpPr txBox="1"/>
          <p:nvPr>
            <p:ph idx="11" type="ftr"/>
          </p:nvPr>
        </p:nvSpPr>
        <p:spPr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09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1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1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Char char="■"/>
              <a:defRPr sz="3200"/>
            </a:lvl1pPr>
            <a:lvl2pPr indent="-32639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  <a:defRPr sz="2800"/>
            </a:lvl2pPr>
            <a:lvl3pPr indent="-3048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200"/>
              <a:buChar char="■"/>
              <a:defRPr sz="2400"/>
            </a:lvl3pPr>
            <a:lvl4pPr indent="-2984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4pPr>
            <a:lvl5pPr indent="-2921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5pPr>
            <a:lvl6pPr indent="-2921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6pPr>
            <a:lvl7pPr indent="-2921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7pPr>
            <a:lvl8pPr indent="-2921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8pPr>
            <a:lvl9pPr indent="-2921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9pPr>
          </a:lstStyle>
          <a:p/>
        </p:txBody>
      </p:sp>
      <p:sp>
        <p:nvSpPr>
          <p:cNvPr id="88" name="Google Shape;88;p11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89" name="Google Shape;89;p110"/>
          <p:cNvSpPr txBox="1"/>
          <p:nvPr>
            <p:ph idx="10" type="dt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10"/>
          <p:cNvSpPr txBox="1"/>
          <p:nvPr>
            <p:ph idx="11" type="ftr"/>
          </p:nvPr>
        </p:nvSpPr>
        <p:spPr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10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1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1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p11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96" name="Google Shape;96;p111"/>
          <p:cNvSpPr txBox="1"/>
          <p:nvPr>
            <p:ph idx="10" type="dt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11"/>
          <p:cNvSpPr txBox="1"/>
          <p:nvPr>
            <p:ph idx="11" type="ftr"/>
          </p:nvPr>
        </p:nvSpPr>
        <p:spPr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11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12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12"/>
          <p:cNvSpPr txBox="1"/>
          <p:nvPr>
            <p:ph idx="1" type="body"/>
          </p:nvPr>
        </p:nvSpPr>
        <p:spPr>
          <a:xfrm rot="5400000">
            <a:off x="3011488" y="188913"/>
            <a:ext cx="4114800" cy="77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02" name="Google Shape;102;p112"/>
          <p:cNvSpPr txBox="1"/>
          <p:nvPr>
            <p:ph idx="10" type="dt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12"/>
          <p:cNvSpPr txBox="1"/>
          <p:nvPr>
            <p:ph idx="11" type="ftr"/>
          </p:nvPr>
        </p:nvSpPr>
        <p:spPr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12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13"/>
          <p:cNvSpPr txBox="1"/>
          <p:nvPr>
            <p:ph type="title"/>
          </p:nvPr>
        </p:nvSpPr>
        <p:spPr>
          <a:xfrm rot="5400000">
            <a:off x="5020469" y="2197894"/>
            <a:ext cx="5918200" cy="19510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13"/>
          <p:cNvSpPr txBox="1"/>
          <p:nvPr>
            <p:ph idx="1" type="body"/>
          </p:nvPr>
        </p:nvSpPr>
        <p:spPr>
          <a:xfrm rot="5400000">
            <a:off x="1042194" y="323057"/>
            <a:ext cx="5918200" cy="5700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08" name="Google Shape;108;p113"/>
          <p:cNvSpPr txBox="1"/>
          <p:nvPr>
            <p:ph idx="10" type="dt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13"/>
          <p:cNvSpPr txBox="1"/>
          <p:nvPr>
            <p:ph idx="11" type="ftr"/>
          </p:nvPr>
        </p:nvSpPr>
        <p:spPr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13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0"/>
          <p:cNvSpPr/>
          <p:nvPr/>
        </p:nvSpPr>
        <p:spPr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" name="Google Shape;11;p100"/>
          <p:cNvSpPr/>
          <p:nvPr/>
        </p:nvSpPr>
        <p:spPr>
          <a:xfrm>
            <a:off x="800100" y="1098550"/>
            <a:ext cx="328613" cy="474663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" name="Google Shape;12;p100"/>
          <p:cNvSpPr/>
          <p:nvPr/>
        </p:nvSpPr>
        <p:spPr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" name="Google Shape;13;p100"/>
          <p:cNvSpPr/>
          <p:nvPr/>
        </p:nvSpPr>
        <p:spPr>
          <a:xfrm>
            <a:off x="911225" y="1520825"/>
            <a:ext cx="368300" cy="474663"/>
          </a:xfrm>
          <a:prstGeom prst="rect">
            <a:avLst/>
          </a:prstGeom>
          <a:gradFill>
            <a:gsLst>
              <a:gs pos="0">
                <a:schemeClr val="folHlink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" name="Google Shape;14;p100"/>
          <p:cNvSpPr/>
          <p:nvPr/>
        </p:nvSpPr>
        <p:spPr>
          <a:xfrm>
            <a:off x="127000" y="1447800"/>
            <a:ext cx="560388" cy="422275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hlink"/>
              </a:gs>
            </a:gsLst>
            <a:lin ang="189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" name="Google Shape;15;p100"/>
          <p:cNvSpPr/>
          <p:nvPr/>
        </p:nvSpPr>
        <p:spPr>
          <a:xfrm>
            <a:off x="762000" y="990600"/>
            <a:ext cx="31750" cy="1052513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" name="Google Shape;16;p100"/>
          <p:cNvSpPr/>
          <p:nvPr/>
        </p:nvSpPr>
        <p:spPr>
          <a:xfrm>
            <a:off x="442913" y="1781175"/>
            <a:ext cx="8226425" cy="3175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" name="Google Shape;17;p100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8" name="Google Shape;18;p100"/>
          <p:cNvSpPr txBox="1"/>
          <p:nvPr>
            <p:ph idx="1" type="body"/>
          </p:nvPr>
        </p:nvSpPr>
        <p:spPr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2639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9" name="Google Shape;19;p100"/>
          <p:cNvSpPr txBox="1"/>
          <p:nvPr>
            <p:ph idx="10" type="dt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20" name="Google Shape;20;p100"/>
          <p:cNvSpPr txBox="1"/>
          <p:nvPr>
            <p:ph idx="11" type="ftr"/>
          </p:nvPr>
        </p:nvSpPr>
        <p:spPr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21" name="Google Shape;21;p100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4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13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6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11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7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2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9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5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4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8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8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8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8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8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"/>
          <p:cNvSpPr txBox="1"/>
          <p:nvPr>
            <p:ph type="ctrTitle"/>
          </p:nvPr>
        </p:nvSpPr>
        <p:spPr>
          <a:xfrm>
            <a:off x="990600" y="1676400"/>
            <a:ext cx="7772400" cy="14620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Artificial Intelligence</a:t>
            </a:r>
            <a:br>
              <a:rPr lang="en-US" sz="4000"/>
            </a:br>
            <a:r>
              <a:rPr lang="en-US" sz="4000">
                <a:solidFill>
                  <a:schemeClr val="accent2"/>
                </a:solidFill>
              </a:rPr>
              <a:t>Informed Search</a:t>
            </a:r>
            <a:endParaRPr sz="4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"/>
          <p:cNvSpPr txBox="1"/>
          <p:nvPr>
            <p:ph type="title"/>
          </p:nvPr>
        </p:nvSpPr>
        <p:spPr>
          <a:xfrm>
            <a:off x="685800" y="609600"/>
            <a:ext cx="7770813" cy="11414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descr="Image result for breadth first search artificial intelligence" id="121" name="Google Shape;12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0"/>
            <a:ext cx="8432800" cy="617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"/>
          <p:cNvSpPr txBox="1"/>
          <p:nvPr/>
        </p:nvSpPr>
        <p:spPr>
          <a:xfrm>
            <a:off x="0" y="4724400"/>
            <a:ext cx="5257800" cy="163121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Other blind search strategies are: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Depth-limited search (Extended DFS)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Iterative-deepening search (Extended DFS)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Uniform cost search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Bi-directional search</a:t>
            </a:r>
            <a:endParaRPr b="0" i="0" sz="2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3" name="Google Shape;123;p2"/>
          <p:cNvSpPr txBox="1"/>
          <p:nvPr/>
        </p:nvSpPr>
        <p:spPr>
          <a:xfrm>
            <a:off x="2514600" y="2438400"/>
            <a:ext cx="28956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(uninformed Search)</a:t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4" name="Google Shape;124;p2"/>
          <p:cNvSpPr txBox="1"/>
          <p:nvPr/>
        </p:nvSpPr>
        <p:spPr>
          <a:xfrm>
            <a:off x="7086600" y="2438400"/>
            <a:ext cx="22098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(Informed Search)</a:t>
            </a:r>
            <a:endParaRPr b="0" i="0" sz="2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"/>
          <p:cNvSpPr txBox="1"/>
          <p:nvPr>
            <p:ph type="title"/>
          </p:nvPr>
        </p:nvSpPr>
        <p:spPr>
          <a:xfrm>
            <a:off x="762000" y="0"/>
            <a:ext cx="7770813" cy="11414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/>
              <a:t>Uninformed Vs Informed Search</a:t>
            </a:r>
            <a:endParaRPr sz="3600"/>
          </a:p>
        </p:txBody>
      </p:sp>
      <p:sp>
        <p:nvSpPr>
          <p:cNvPr id="130" name="Google Shape;130;p3"/>
          <p:cNvSpPr/>
          <p:nvPr/>
        </p:nvSpPr>
        <p:spPr>
          <a:xfrm>
            <a:off x="990600" y="2286000"/>
            <a:ext cx="7772400" cy="3268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Uninformed search</a:t>
            </a: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Use only the information available in the problem definition. Example: breadth-first, depth-first, depth limited, iterative deepening, uniform cost and bidirectional search</a:t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Informed search: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Use domain knowledge or heuristic to choose the best move. Example. Greedy best-first, A*, IDA*, and beam search</a:t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6" name="Google Shape;136;p4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800"/>
              <a:t>Using problem specific knowledge to aid searching</a:t>
            </a:r>
            <a:endParaRPr sz="3800"/>
          </a:p>
        </p:txBody>
      </p:sp>
      <p:sp>
        <p:nvSpPr>
          <p:cNvPr id="137" name="Google Shape;137;p4"/>
          <p:cNvSpPr txBox="1"/>
          <p:nvPr>
            <p:ph idx="1" type="body"/>
          </p:nvPr>
        </p:nvSpPr>
        <p:spPr>
          <a:xfrm>
            <a:off x="685800" y="2017713"/>
            <a:ext cx="8269288" cy="1563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40"/>
              <a:buChar char="■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With knowledge, one can search the state space as if he was given “hints” when exploring a maze.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Heuristic information in search = Hints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Leads to dramatic speed up in efficiency. </a:t>
            </a:r>
            <a:endParaRPr sz="2400"/>
          </a:p>
        </p:txBody>
      </p:sp>
      <p:grpSp>
        <p:nvGrpSpPr>
          <p:cNvPr id="138" name="Google Shape;138;p4"/>
          <p:cNvGrpSpPr/>
          <p:nvPr/>
        </p:nvGrpSpPr>
        <p:grpSpPr>
          <a:xfrm>
            <a:off x="2133600" y="3962400"/>
            <a:ext cx="5334000" cy="2701925"/>
            <a:chOff x="1104" y="1776"/>
            <a:chExt cx="3408" cy="2222"/>
          </a:xfrm>
        </p:grpSpPr>
        <p:grpSp>
          <p:nvGrpSpPr>
            <p:cNvPr id="139" name="Google Shape;139;p4"/>
            <p:cNvGrpSpPr/>
            <p:nvPr/>
          </p:nvGrpSpPr>
          <p:grpSpPr>
            <a:xfrm>
              <a:off x="2640" y="1776"/>
              <a:ext cx="336" cy="302"/>
              <a:chOff x="2640" y="1776"/>
              <a:chExt cx="336" cy="302"/>
            </a:xfrm>
          </p:grpSpPr>
          <p:sp>
            <p:nvSpPr>
              <p:cNvPr id="140" name="Google Shape;140;p4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41" name="Google Shape;141;p4"/>
              <p:cNvSpPr txBox="1"/>
              <p:nvPr/>
            </p:nvSpPr>
            <p:spPr>
              <a:xfrm>
                <a:off x="2736" y="1776"/>
                <a:ext cx="240" cy="3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Tahoma"/>
                    <a:ea typeface="Tahoma"/>
                    <a:cs typeface="Tahoma"/>
                    <a:sym typeface="Tahoma"/>
                  </a:rPr>
                  <a:t>A</a:t>
                </a:r>
                <a:endParaRPr b="0" i="0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142" name="Google Shape;142;p4"/>
            <p:cNvGrpSpPr/>
            <p:nvPr/>
          </p:nvGrpSpPr>
          <p:grpSpPr>
            <a:xfrm>
              <a:off x="1536" y="2208"/>
              <a:ext cx="336" cy="302"/>
              <a:chOff x="2640" y="1776"/>
              <a:chExt cx="336" cy="302"/>
            </a:xfrm>
          </p:grpSpPr>
          <p:sp>
            <p:nvSpPr>
              <p:cNvPr id="143" name="Google Shape;143;p4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44" name="Google Shape;144;p4"/>
              <p:cNvSpPr txBox="1"/>
              <p:nvPr/>
            </p:nvSpPr>
            <p:spPr>
              <a:xfrm>
                <a:off x="2736" y="1776"/>
                <a:ext cx="240" cy="3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Tahoma"/>
                    <a:ea typeface="Tahoma"/>
                    <a:cs typeface="Tahoma"/>
                    <a:sym typeface="Tahoma"/>
                  </a:rPr>
                  <a:t>B</a:t>
                </a:r>
                <a:endParaRPr b="0" i="0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145" name="Google Shape;145;p4"/>
            <p:cNvGrpSpPr/>
            <p:nvPr/>
          </p:nvGrpSpPr>
          <p:grpSpPr>
            <a:xfrm>
              <a:off x="2352" y="2208"/>
              <a:ext cx="336" cy="302"/>
              <a:chOff x="2640" y="1776"/>
              <a:chExt cx="336" cy="302"/>
            </a:xfrm>
          </p:grpSpPr>
          <p:sp>
            <p:nvSpPr>
              <p:cNvPr id="146" name="Google Shape;146;p4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47" name="Google Shape;147;p4"/>
              <p:cNvSpPr txBox="1"/>
              <p:nvPr/>
            </p:nvSpPr>
            <p:spPr>
              <a:xfrm>
                <a:off x="2736" y="1776"/>
                <a:ext cx="240" cy="3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Tahoma"/>
                    <a:ea typeface="Tahoma"/>
                    <a:cs typeface="Tahoma"/>
                    <a:sym typeface="Tahoma"/>
                  </a:rPr>
                  <a:t>C</a:t>
                </a:r>
                <a:endParaRPr b="0" i="0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148" name="Google Shape;148;p4"/>
            <p:cNvGrpSpPr/>
            <p:nvPr/>
          </p:nvGrpSpPr>
          <p:grpSpPr>
            <a:xfrm>
              <a:off x="4176" y="2208"/>
              <a:ext cx="336" cy="302"/>
              <a:chOff x="2640" y="1776"/>
              <a:chExt cx="336" cy="302"/>
            </a:xfrm>
          </p:grpSpPr>
          <p:sp>
            <p:nvSpPr>
              <p:cNvPr id="149" name="Google Shape;149;p4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50" name="Google Shape;150;p4"/>
              <p:cNvSpPr txBox="1"/>
              <p:nvPr/>
            </p:nvSpPr>
            <p:spPr>
              <a:xfrm>
                <a:off x="2736" y="1776"/>
                <a:ext cx="240" cy="3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Tahoma"/>
                    <a:ea typeface="Tahoma"/>
                    <a:cs typeface="Tahoma"/>
                    <a:sym typeface="Tahoma"/>
                  </a:rPr>
                  <a:t>E</a:t>
                </a:r>
                <a:endParaRPr b="0" i="0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151" name="Google Shape;151;p4"/>
            <p:cNvGrpSpPr/>
            <p:nvPr/>
          </p:nvGrpSpPr>
          <p:grpSpPr>
            <a:xfrm>
              <a:off x="3168" y="2208"/>
              <a:ext cx="336" cy="302"/>
              <a:chOff x="2640" y="1776"/>
              <a:chExt cx="336" cy="302"/>
            </a:xfrm>
          </p:grpSpPr>
          <p:sp>
            <p:nvSpPr>
              <p:cNvPr id="152" name="Google Shape;152;p4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53" name="Google Shape;153;p4"/>
              <p:cNvSpPr txBox="1"/>
              <p:nvPr/>
            </p:nvSpPr>
            <p:spPr>
              <a:xfrm>
                <a:off x="2736" y="1776"/>
                <a:ext cx="240" cy="3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Tahoma"/>
                    <a:ea typeface="Tahoma"/>
                    <a:cs typeface="Tahoma"/>
                    <a:sym typeface="Tahoma"/>
                  </a:rPr>
                  <a:t>D</a:t>
                </a:r>
                <a:endParaRPr b="0" i="0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154" name="Google Shape;154;p4"/>
            <p:cNvGrpSpPr/>
            <p:nvPr/>
          </p:nvGrpSpPr>
          <p:grpSpPr>
            <a:xfrm>
              <a:off x="1104" y="2640"/>
              <a:ext cx="336" cy="302"/>
              <a:chOff x="2640" y="1776"/>
              <a:chExt cx="336" cy="302"/>
            </a:xfrm>
          </p:grpSpPr>
          <p:sp>
            <p:nvSpPr>
              <p:cNvPr id="155" name="Google Shape;155;p4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56" name="Google Shape;156;p4"/>
              <p:cNvSpPr txBox="1"/>
              <p:nvPr/>
            </p:nvSpPr>
            <p:spPr>
              <a:xfrm>
                <a:off x="2736" y="1776"/>
                <a:ext cx="240" cy="3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Tahoma"/>
                    <a:ea typeface="Tahoma"/>
                    <a:cs typeface="Tahoma"/>
                    <a:sym typeface="Tahoma"/>
                  </a:rPr>
                  <a:t>F</a:t>
                </a:r>
                <a:endParaRPr b="0" i="0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157" name="Google Shape;157;p4"/>
            <p:cNvGrpSpPr/>
            <p:nvPr/>
          </p:nvGrpSpPr>
          <p:grpSpPr>
            <a:xfrm>
              <a:off x="1872" y="2640"/>
              <a:ext cx="336" cy="302"/>
              <a:chOff x="2640" y="1776"/>
              <a:chExt cx="336" cy="302"/>
            </a:xfrm>
          </p:grpSpPr>
          <p:sp>
            <p:nvSpPr>
              <p:cNvPr id="158" name="Google Shape;158;p4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59" name="Google Shape;159;p4"/>
              <p:cNvSpPr txBox="1"/>
              <p:nvPr/>
            </p:nvSpPr>
            <p:spPr>
              <a:xfrm>
                <a:off x="2736" y="1776"/>
                <a:ext cx="240" cy="3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Tahoma"/>
                    <a:ea typeface="Tahoma"/>
                    <a:cs typeface="Tahoma"/>
                    <a:sym typeface="Tahoma"/>
                  </a:rPr>
                  <a:t>G</a:t>
                </a:r>
                <a:endParaRPr b="0" i="0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160" name="Google Shape;160;p4"/>
            <p:cNvGrpSpPr/>
            <p:nvPr/>
          </p:nvGrpSpPr>
          <p:grpSpPr>
            <a:xfrm>
              <a:off x="2592" y="2640"/>
              <a:ext cx="336" cy="302"/>
              <a:chOff x="2640" y="1776"/>
              <a:chExt cx="336" cy="302"/>
            </a:xfrm>
          </p:grpSpPr>
          <p:sp>
            <p:nvSpPr>
              <p:cNvPr id="161" name="Google Shape;161;p4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62" name="Google Shape;162;p4"/>
              <p:cNvSpPr txBox="1"/>
              <p:nvPr/>
            </p:nvSpPr>
            <p:spPr>
              <a:xfrm>
                <a:off x="2736" y="1776"/>
                <a:ext cx="240" cy="3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Tahoma"/>
                    <a:ea typeface="Tahoma"/>
                    <a:cs typeface="Tahoma"/>
                    <a:sym typeface="Tahoma"/>
                  </a:rPr>
                  <a:t>H</a:t>
                </a:r>
                <a:endParaRPr b="0" i="0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163" name="Google Shape;163;p4"/>
            <p:cNvGrpSpPr/>
            <p:nvPr/>
          </p:nvGrpSpPr>
          <p:grpSpPr>
            <a:xfrm>
              <a:off x="3072" y="2640"/>
              <a:ext cx="336" cy="302"/>
              <a:chOff x="2640" y="1776"/>
              <a:chExt cx="336" cy="302"/>
            </a:xfrm>
          </p:grpSpPr>
          <p:sp>
            <p:nvSpPr>
              <p:cNvPr id="164" name="Google Shape;164;p4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65" name="Google Shape;165;p4"/>
              <p:cNvSpPr txBox="1"/>
              <p:nvPr/>
            </p:nvSpPr>
            <p:spPr>
              <a:xfrm>
                <a:off x="2736" y="1776"/>
                <a:ext cx="240" cy="3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Tahoma"/>
                    <a:ea typeface="Tahoma"/>
                    <a:cs typeface="Tahoma"/>
                    <a:sym typeface="Tahoma"/>
                  </a:rPr>
                  <a:t>I</a:t>
                </a:r>
                <a:endParaRPr b="0" i="0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166" name="Google Shape;166;p4"/>
            <p:cNvGrpSpPr/>
            <p:nvPr/>
          </p:nvGrpSpPr>
          <p:grpSpPr>
            <a:xfrm>
              <a:off x="3696" y="2640"/>
              <a:ext cx="336" cy="302"/>
              <a:chOff x="2640" y="1776"/>
              <a:chExt cx="336" cy="302"/>
            </a:xfrm>
          </p:grpSpPr>
          <p:sp>
            <p:nvSpPr>
              <p:cNvPr id="167" name="Google Shape;167;p4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68" name="Google Shape;168;p4"/>
              <p:cNvSpPr txBox="1"/>
              <p:nvPr/>
            </p:nvSpPr>
            <p:spPr>
              <a:xfrm>
                <a:off x="2736" y="1776"/>
                <a:ext cx="240" cy="3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Tahoma"/>
                    <a:ea typeface="Tahoma"/>
                    <a:cs typeface="Tahoma"/>
                    <a:sym typeface="Tahoma"/>
                  </a:rPr>
                  <a:t>J</a:t>
                </a:r>
                <a:endParaRPr b="0" i="0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169" name="Google Shape;169;p4"/>
            <p:cNvGrpSpPr/>
            <p:nvPr/>
          </p:nvGrpSpPr>
          <p:grpSpPr>
            <a:xfrm>
              <a:off x="1536" y="3168"/>
              <a:ext cx="336" cy="301"/>
              <a:chOff x="2640" y="1776"/>
              <a:chExt cx="336" cy="301"/>
            </a:xfrm>
          </p:grpSpPr>
          <p:sp>
            <p:nvSpPr>
              <p:cNvPr id="170" name="Google Shape;170;p4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71" name="Google Shape;171;p4"/>
              <p:cNvSpPr txBox="1"/>
              <p:nvPr/>
            </p:nvSpPr>
            <p:spPr>
              <a:xfrm>
                <a:off x="2736" y="1776"/>
                <a:ext cx="240" cy="3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Tahoma"/>
                    <a:ea typeface="Tahoma"/>
                    <a:cs typeface="Tahoma"/>
                    <a:sym typeface="Tahoma"/>
                  </a:rPr>
                  <a:t>K</a:t>
                </a:r>
                <a:endParaRPr b="0" i="0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172" name="Google Shape;172;p4"/>
            <p:cNvGrpSpPr/>
            <p:nvPr/>
          </p:nvGrpSpPr>
          <p:grpSpPr>
            <a:xfrm>
              <a:off x="2160" y="3168"/>
              <a:ext cx="336" cy="301"/>
              <a:chOff x="2640" y="1776"/>
              <a:chExt cx="336" cy="301"/>
            </a:xfrm>
          </p:grpSpPr>
          <p:sp>
            <p:nvSpPr>
              <p:cNvPr id="173" name="Google Shape;173;p4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74" name="Google Shape;174;p4"/>
              <p:cNvSpPr txBox="1"/>
              <p:nvPr/>
            </p:nvSpPr>
            <p:spPr>
              <a:xfrm>
                <a:off x="2736" y="1776"/>
                <a:ext cx="240" cy="3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Tahoma"/>
                    <a:ea typeface="Tahoma"/>
                    <a:cs typeface="Tahoma"/>
                    <a:sym typeface="Tahoma"/>
                  </a:rPr>
                  <a:t>L</a:t>
                </a:r>
                <a:endParaRPr b="0" i="0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175" name="Google Shape;175;p4"/>
            <p:cNvSpPr/>
            <p:nvPr/>
          </p:nvSpPr>
          <p:spPr>
            <a:xfrm>
              <a:off x="2160" y="3696"/>
              <a:ext cx="336" cy="240"/>
            </a:xfrm>
            <a:prstGeom prst="ellipse">
              <a:avLst/>
            </a:prstGeom>
            <a:solidFill>
              <a:srgbClr val="FF0000"/>
            </a:solidFill>
            <a:ln cap="flat" cmpd="dbl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76" name="Google Shape;176;p4"/>
            <p:cNvSpPr txBox="1"/>
            <p:nvPr/>
          </p:nvSpPr>
          <p:spPr>
            <a:xfrm>
              <a:off x="2256" y="3696"/>
              <a:ext cx="240" cy="3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1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O</a:t>
              </a:r>
              <a:endParaRPr b="1" i="1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177" name="Google Shape;177;p4"/>
            <p:cNvCxnSpPr/>
            <p:nvPr/>
          </p:nvCxnSpPr>
          <p:spPr>
            <a:xfrm flipH="1">
              <a:off x="1776" y="2016"/>
              <a:ext cx="1008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78" name="Google Shape;178;p4"/>
            <p:cNvCxnSpPr/>
            <p:nvPr/>
          </p:nvCxnSpPr>
          <p:spPr>
            <a:xfrm flipH="1">
              <a:off x="2592" y="2016"/>
              <a:ext cx="192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79" name="Google Shape;179;p4"/>
            <p:cNvCxnSpPr/>
            <p:nvPr/>
          </p:nvCxnSpPr>
          <p:spPr>
            <a:xfrm>
              <a:off x="2784" y="2016"/>
              <a:ext cx="480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80" name="Google Shape;180;p4"/>
            <p:cNvCxnSpPr/>
            <p:nvPr/>
          </p:nvCxnSpPr>
          <p:spPr>
            <a:xfrm>
              <a:off x="2784" y="2016"/>
              <a:ext cx="153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81" name="Google Shape;181;p4"/>
            <p:cNvCxnSpPr/>
            <p:nvPr/>
          </p:nvCxnSpPr>
          <p:spPr>
            <a:xfrm flipH="1">
              <a:off x="1296" y="2448"/>
              <a:ext cx="384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82" name="Google Shape;182;p4"/>
            <p:cNvCxnSpPr/>
            <p:nvPr/>
          </p:nvCxnSpPr>
          <p:spPr>
            <a:xfrm>
              <a:off x="1680" y="2448"/>
              <a:ext cx="33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83" name="Google Shape;183;p4"/>
            <p:cNvCxnSpPr/>
            <p:nvPr/>
          </p:nvCxnSpPr>
          <p:spPr>
            <a:xfrm>
              <a:off x="2592" y="2448"/>
              <a:ext cx="9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84" name="Google Shape;184;p4"/>
            <p:cNvCxnSpPr/>
            <p:nvPr/>
          </p:nvCxnSpPr>
          <p:spPr>
            <a:xfrm flipH="1">
              <a:off x="3216" y="2448"/>
              <a:ext cx="144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85" name="Google Shape;185;p4"/>
            <p:cNvCxnSpPr/>
            <p:nvPr/>
          </p:nvCxnSpPr>
          <p:spPr>
            <a:xfrm>
              <a:off x="3360" y="2448"/>
              <a:ext cx="432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86" name="Google Shape;186;p4"/>
            <p:cNvCxnSpPr/>
            <p:nvPr/>
          </p:nvCxnSpPr>
          <p:spPr>
            <a:xfrm flipH="1">
              <a:off x="1728" y="2880"/>
              <a:ext cx="336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87" name="Google Shape;187;p4"/>
            <p:cNvCxnSpPr/>
            <p:nvPr/>
          </p:nvCxnSpPr>
          <p:spPr>
            <a:xfrm>
              <a:off x="2064" y="2880"/>
              <a:ext cx="240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grpSp>
          <p:nvGrpSpPr>
            <p:cNvPr id="188" name="Google Shape;188;p4"/>
            <p:cNvGrpSpPr/>
            <p:nvPr/>
          </p:nvGrpSpPr>
          <p:grpSpPr>
            <a:xfrm>
              <a:off x="3120" y="3168"/>
              <a:ext cx="336" cy="301"/>
              <a:chOff x="2640" y="1776"/>
              <a:chExt cx="336" cy="301"/>
            </a:xfrm>
          </p:grpSpPr>
          <p:sp>
            <p:nvSpPr>
              <p:cNvPr id="189" name="Google Shape;189;p4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0" name="Google Shape;190;p4"/>
              <p:cNvSpPr txBox="1"/>
              <p:nvPr/>
            </p:nvSpPr>
            <p:spPr>
              <a:xfrm>
                <a:off x="2736" y="1776"/>
                <a:ext cx="240" cy="3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Tahoma"/>
                    <a:ea typeface="Tahoma"/>
                    <a:cs typeface="Tahoma"/>
                    <a:sym typeface="Tahoma"/>
                  </a:rPr>
                  <a:t>M</a:t>
                </a:r>
                <a:endParaRPr b="0" i="0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191" name="Google Shape;191;p4"/>
            <p:cNvGrpSpPr/>
            <p:nvPr/>
          </p:nvGrpSpPr>
          <p:grpSpPr>
            <a:xfrm>
              <a:off x="3840" y="3120"/>
              <a:ext cx="336" cy="301"/>
              <a:chOff x="2640" y="1776"/>
              <a:chExt cx="336" cy="301"/>
            </a:xfrm>
          </p:grpSpPr>
          <p:sp>
            <p:nvSpPr>
              <p:cNvPr id="192" name="Google Shape;192;p4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3" name="Google Shape;193;p4"/>
              <p:cNvSpPr txBox="1"/>
              <p:nvPr/>
            </p:nvSpPr>
            <p:spPr>
              <a:xfrm>
                <a:off x="2736" y="1776"/>
                <a:ext cx="240" cy="3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Tahoma"/>
                    <a:ea typeface="Tahoma"/>
                    <a:cs typeface="Tahoma"/>
                    <a:sym typeface="Tahoma"/>
                  </a:rPr>
                  <a:t>N</a:t>
                </a:r>
                <a:endParaRPr b="0" i="0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cxnSp>
          <p:nvCxnSpPr>
            <p:cNvPr id="194" name="Google Shape;194;p4"/>
            <p:cNvCxnSpPr/>
            <p:nvPr/>
          </p:nvCxnSpPr>
          <p:spPr>
            <a:xfrm>
              <a:off x="3264" y="2880"/>
              <a:ext cx="48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95" name="Google Shape;195;p4"/>
            <p:cNvCxnSpPr/>
            <p:nvPr/>
          </p:nvCxnSpPr>
          <p:spPr>
            <a:xfrm>
              <a:off x="3936" y="2880"/>
              <a:ext cx="48" cy="2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96" name="Google Shape;196;p4"/>
            <p:cNvCxnSpPr/>
            <p:nvPr/>
          </p:nvCxnSpPr>
          <p:spPr>
            <a:xfrm flipH="1">
              <a:off x="2304" y="3408"/>
              <a:ext cx="48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197" name="Google Shape;197;p4"/>
          <p:cNvSpPr/>
          <p:nvPr/>
        </p:nvSpPr>
        <p:spPr>
          <a:xfrm>
            <a:off x="2057400" y="3886200"/>
            <a:ext cx="2514600" cy="2971800"/>
          </a:xfrm>
          <a:prstGeom prst="ellipse">
            <a:avLst/>
          </a:prstGeom>
          <a:noFill/>
          <a:ln cap="rnd" cmpd="sng" w="571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8" name="Google Shape;198;p4"/>
          <p:cNvSpPr txBox="1"/>
          <p:nvPr/>
        </p:nvSpPr>
        <p:spPr>
          <a:xfrm>
            <a:off x="304800" y="4724400"/>
            <a:ext cx="1828800" cy="1187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Search only in this subtree!!</a:t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5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4" name="Google Shape;204;p5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900"/>
              <a:t>More formally, why heuristic functions work?</a:t>
            </a:r>
            <a:endParaRPr sz="3900"/>
          </a:p>
        </p:txBody>
      </p:sp>
      <p:sp>
        <p:nvSpPr>
          <p:cNvPr id="205" name="Google Shape;205;p5"/>
          <p:cNvSpPr txBox="1"/>
          <p:nvPr>
            <p:ph idx="1" type="body"/>
          </p:nvPr>
        </p:nvSpPr>
        <p:spPr>
          <a:xfrm>
            <a:off x="0" y="1981200"/>
            <a:ext cx="91440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80"/>
              <a:buChar char="■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In any search problem where there are at most </a:t>
            </a:r>
            <a:r>
              <a:rPr i="1" lang="en-US" sz="28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choices at each node and a depth of </a:t>
            </a:r>
            <a:r>
              <a:rPr i="1" lang="en-US" sz="28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at the goal node, a naive search algorithm would have to, in the worst case, search around </a:t>
            </a:r>
            <a:r>
              <a:rPr i="1" lang="en-US" sz="2800">
                <a:latin typeface="Times New Roman"/>
                <a:ea typeface="Times New Roman"/>
                <a:cs typeface="Times New Roman"/>
                <a:sym typeface="Times New Roman"/>
              </a:rPr>
              <a:t>O(b</a:t>
            </a:r>
            <a:r>
              <a:rPr baseline="30000" i="1" lang="en-US" sz="28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i="1" lang="en-US" sz="2800"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nodes before finding a solution (Exponential Time Complexity).</a:t>
            </a:r>
            <a:endParaRPr/>
          </a:p>
          <a:p>
            <a:pPr indent="-23622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Heuristics improve the efficiency of search algorithms by reducing the effective branching factor from </a:t>
            </a:r>
            <a:r>
              <a:rPr i="1" lang="en-US" sz="28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to (ideally) a low constant b* such that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1 =&lt; b* &lt;&lt; b</a:t>
            </a:r>
            <a:endParaRPr/>
          </a:p>
        </p:txBody>
      </p:sp>
      <p:pic>
        <p:nvPicPr>
          <p:cNvPr id="206" name="Google Shape;206;p5"/>
          <p:cNvPicPr preferRelativeResize="0"/>
          <p:nvPr/>
        </p:nvPicPr>
        <p:blipFill rotWithShape="1">
          <a:blip r:embed="rId3">
            <a:alphaModFix/>
          </a:blip>
          <a:srcRect b="51042" l="14062" r="17964" t="22917"/>
          <a:stretch/>
        </p:blipFill>
        <p:spPr>
          <a:xfrm>
            <a:off x="4800600" y="5486400"/>
            <a:ext cx="3977640" cy="11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6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2" name="Google Shape;212;p6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Heuristic Functions</a:t>
            </a:r>
            <a:endParaRPr/>
          </a:p>
        </p:txBody>
      </p:sp>
      <p:sp>
        <p:nvSpPr>
          <p:cNvPr id="213" name="Google Shape;213;p6"/>
          <p:cNvSpPr txBox="1"/>
          <p:nvPr>
            <p:ph idx="1" type="body"/>
          </p:nvPr>
        </p:nvSpPr>
        <p:spPr>
          <a:xfrm>
            <a:off x="381000" y="1981200"/>
            <a:ext cx="87630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-US" sz="2000"/>
              <a:t>A heuristic function is a function </a:t>
            </a:r>
            <a:r>
              <a:rPr i="1" lang="en-US" sz="2000"/>
              <a:t>h(n)</a:t>
            </a:r>
            <a:r>
              <a:rPr lang="en-US" sz="2000"/>
              <a:t> that gives an </a:t>
            </a:r>
            <a:r>
              <a:rPr lang="en-US" sz="2000" u="sng"/>
              <a:t>estimation</a:t>
            </a:r>
            <a:r>
              <a:rPr lang="en-US" sz="2000"/>
              <a:t> on the “cost” of getting from node </a:t>
            </a:r>
            <a:r>
              <a:rPr i="1" lang="en-US" sz="2000"/>
              <a:t>n</a:t>
            </a:r>
            <a:r>
              <a:rPr lang="en-US" sz="2000"/>
              <a:t> to the goal state – so that the node with the least cost among all possible choices can be selected for expansion first. An evaluation function f(n) can use h(n) to define the goodness of a state</a:t>
            </a:r>
            <a:endParaRPr/>
          </a:p>
          <a:p>
            <a:pPr indent="-2667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2000"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</a:pPr>
            <a:r>
              <a:rPr lang="en-US" sz="2000"/>
              <a:t>Three approaches to defining </a:t>
            </a:r>
            <a:r>
              <a:rPr i="1" lang="en-US" sz="2000"/>
              <a:t>f</a:t>
            </a:r>
            <a:r>
              <a:rPr lang="en-US" sz="2000"/>
              <a:t>:</a:t>
            </a:r>
            <a:endParaRPr/>
          </a:p>
          <a:p>
            <a:pPr indent="-2667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2000"/>
          </a:p>
          <a:p>
            <a:pPr indent="-285750" lvl="1" marL="74295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</a:pPr>
            <a:r>
              <a:rPr i="1" lang="en-US" sz="1800"/>
              <a:t>f </a:t>
            </a:r>
            <a:r>
              <a:rPr lang="en-US" sz="1800"/>
              <a:t>measures the value of the current state (its “goodness”)</a:t>
            </a:r>
            <a:endParaRPr/>
          </a:p>
          <a:p>
            <a:pPr indent="-222884" lvl="1" marL="74295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i="1" sz="1800"/>
          </a:p>
          <a:p>
            <a:pPr indent="-285750" lvl="1" marL="74295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</a:pPr>
            <a:r>
              <a:rPr i="1" lang="en-US" sz="1800"/>
              <a:t>f</a:t>
            </a:r>
            <a:r>
              <a:rPr lang="en-US" sz="1800"/>
              <a:t> measures the estimated cost of getting to the goal from the current state: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</a:pPr>
            <a:r>
              <a:rPr i="1" lang="en-US" sz="1600"/>
              <a:t>	f(n)</a:t>
            </a:r>
            <a:r>
              <a:rPr lang="en-US" sz="1600"/>
              <a:t> = </a:t>
            </a:r>
            <a:r>
              <a:rPr i="1" lang="en-US" sz="1600"/>
              <a:t>h(n) </a:t>
            </a:r>
            <a:r>
              <a:rPr lang="en-US" sz="1600"/>
              <a:t>where </a:t>
            </a:r>
            <a:r>
              <a:rPr i="1" lang="en-US" sz="1600"/>
              <a:t>h(n)</a:t>
            </a:r>
            <a:r>
              <a:rPr lang="en-US" sz="1600"/>
              <a:t> = an estimate of the cost to get from </a:t>
            </a:r>
            <a:r>
              <a:rPr i="1" lang="en-US" sz="1600"/>
              <a:t>n</a:t>
            </a:r>
            <a:r>
              <a:rPr lang="en-US" sz="1600"/>
              <a:t> to a goal</a:t>
            </a:r>
            <a:endParaRPr/>
          </a:p>
          <a:p>
            <a:pPr indent="-222884" lvl="1" marL="74295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i="1" sz="1800"/>
          </a:p>
          <a:p>
            <a:pPr indent="-285750" lvl="1" marL="74295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</a:pPr>
            <a:r>
              <a:rPr i="1" lang="en-US" sz="1800"/>
              <a:t>f</a:t>
            </a:r>
            <a:r>
              <a:rPr lang="en-US" sz="1800"/>
              <a:t> measures the estimated cost of getting to the goal state from the </a:t>
            </a:r>
            <a:r>
              <a:rPr i="1" lang="en-US" sz="1800"/>
              <a:t>current state</a:t>
            </a:r>
            <a:r>
              <a:rPr lang="en-US" sz="1800"/>
              <a:t> and the cost of the existing path to it.  Often, in this case, we decompose </a:t>
            </a:r>
            <a:r>
              <a:rPr i="1" lang="en-US" sz="1800"/>
              <a:t>f</a:t>
            </a:r>
            <a:r>
              <a:rPr lang="en-US" sz="1800"/>
              <a:t>: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</a:pPr>
            <a:r>
              <a:rPr i="1" lang="en-US" sz="1600"/>
              <a:t>	f(n)</a:t>
            </a:r>
            <a:r>
              <a:rPr lang="en-US" sz="1600"/>
              <a:t> = </a:t>
            </a:r>
            <a:r>
              <a:rPr i="1" lang="en-US" sz="1600"/>
              <a:t>g(n)</a:t>
            </a:r>
            <a:r>
              <a:rPr lang="en-US" sz="1600"/>
              <a:t> + </a:t>
            </a:r>
            <a:r>
              <a:rPr i="1" lang="en-US" sz="1600"/>
              <a:t>h(n)</a:t>
            </a:r>
            <a:r>
              <a:rPr lang="en-US" sz="1600"/>
              <a:t> where </a:t>
            </a:r>
            <a:r>
              <a:rPr i="1" lang="en-US" sz="1600"/>
              <a:t>g(n)</a:t>
            </a:r>
            <a:r>
              <a:rPr lang="en-US" sz="1600"/>
              <a:t> = the cost to get to </a:t>
            </a:r>
            <a:r>
              <a:rPr i="1" lang="en-US" sz="1600"/>
              <a:t>n </a:t>
            </a:r>
            <a:r>
              <a:rPr lang="en-US" sz="1600"/>
              <a:t>(from initial state)</a:t>
            </a:r>
            <a:r>
              <a:rPr i="1" lang="en-US" sz="1600"/>
              <a:t>	</a:t>
            </a:r>
            <a:endParaRPr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7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9" name="Google Shape;219;p7"/>
          <p:cNvSpPr txBox="1"/>
          <p:nvPr>
            <p:ph type="title"/>
          </p:nvPr>
        </p:nvSpPr>
        <p:spPr>
          <a:xfrm>
            <a:off x="1066800" y="0"/>
            <a:ext cx="7793038" cy="14620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400"/>
              <a:t>Approach 1: </a:t>
            </a:r>
            <a:r>
              <a:rPr i="1" lang="en-US" sz="3400"/>
              <a:t>f</a:t>
            </a:r>
            <a:r>
              <a:rPr lang="en-US" sz="3400"/>
              <a:t>  Measures the Value of the Current State</a:t>
            </a:r>
            <a:endParaRPr sz="3400"/>
          </a:p>
        </p:txBody>
      </p:sp>
      <p:sp>
        <p:nvSpPr>
          <p:cNvPr id="220" name="Google Shape;220;p7"/>
          <p:cNvSpPr txBox="1"/>
          <p:nvPr>
            <p:ph idx="1" type="body"/>
          </p:nvPr>
        </p:nvSpPr>
        <p:spPr>
          <a:xfrm>
            <a:off x="381000" y="1981200"/>
            <a:ext cx="86106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■"/>
            </a:pPr>
            <a:r>
              <a:rPr lang="en-US" sz="2400"/>
              <a:t>Usually the case when solving optimization problems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</a:pPr>
            <a:r>
              <a:rPr lang="en-US" sz="2000"/>
              <a:t> Finding a state such that the value of the metric </a:t>
            </a:r>
            <a:r>
              <a:rPr i="1" lang="en-US" sz="2000"/>
              <a:t>f</a:t>
            </a:r>
            <a:r>
              <a:rPr lang="en-US" sz="2000"/>
              <a:t> is optimized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sz="2400"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</a:pPr>
            <a:r>
              <a:rPr lang="en-US" sz="2400"/>
              <a:t>Often, in these cases, </a:t>
            </a:r>
            <a:r>
              <a:rPr i="1" lang="en-US" sz="2400"/>
              <a:t>f</a:t>
            </a:r>
            <a:r>
              <a:rPr lang="en-US" sz="2400"/>
              <a:t> could be a weighted sum of a set of component values:</a:t>
            </a:r>
            <a:endParaRPr/>
          </a:p>
          <a:p>
            <a:pPr indent="-21590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000"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</a:pPr>
            <a:r>
              <a:rPr lang="en-US" sz="2000"/>
              <a:t>N-Queens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</a:pPr>
            <a:r>
              <a:rPr lang="en-US" sz="1800"/>
              <a:t> Example: the number of queens under attack …</a:t>
            </a:r>
            <a:endParaRPr/>
          </a:p>
          <a:p>
            <a:pPr indent="-21590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000"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</a:pPr>
            <a:r>
              <a:rPr lang="en-US" sz="2000"/>
              <a:t>Data mining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</a:pPr>
            <a:r>
              <a:rPr lang="en-US" sz="1800"/>
              <a:t>Example: the “predictive-ness” (a.k.a. accuracy) of a rule discovered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6" name="Google Shape;226;p8"/>
          <p:cNvSpPr txBox="1"/>
          <p:nvPr>
            <p:ph type="title"/>
          </p:nvPr>
        </p:nvSpPr>
        <p:spPr>
          <a:xfrm>
            <a:off x="1066800" y="0"/>
            <a:ext cx="7793038" cy="14620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400"/>
              <a:t>Approach 2: </a:t>
            </a:r>
            <a:r>
              <a:rPr i="1" lang="en-US" sz="3400"/>
              <a:t>f</a:t>
            </a:r>
            <a:r>
              <a:rPr lang="en-US" sz="3400"/>
              <a:t>  Measures the Cost to the Goal</a:t>
            </a:r>
            <a:endParaRPr sz="3400"/>
          </a:p>
        </p:txBody>
      </p:sp>
      <p:sp>
        <p:nvSpPr>
          <p:cNvPr id="227" name="Google Shape;227;p8"/>
          <p:cNvSpPr txBox="1"/>
          <p:nvPr>
            <p:ph idx="1" type="body"/>
          </p:nvPr>
        </p:nvSpPr>
        <p:spPr>
          <a:xfrm>
            <a:off x="381000" y="1981200"/>
            <a:ext cx="861060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lang="en-US" sz="2800"/>
              <a:t>A state </a:t>
            </a:r>
            <a:r>
              <a:rPr i="1" lang="en-US" sz="2800"/>
              <a:t>X</a:t>
            </a:r>
            <a:r>
              <a:rPr lang="en-US" sz="2800"/>
              <a:t> would be better than a state </a:t>
            </a:r>
            <a:r>
              <a:rPr i="1" lang="en-US" sz="2800"/>
              <a:t>Y</a:t>
            </a:r>
            <a:r>
              <a:rPr lang="en-US" sz="2800"/>
              <a:t> if the estimated cost of getting from </a:t>
            </a:r>
            <a:r>
              <a:rPr i="1" lang="en-US" sz="2800"/>
              <a:t>X</a:t>
            </a:r>
            <a:r>
              <a:rPr lang="en-US" sz="2800"/>
              <a:t> to the goal is lower than that of </a:t>
            </a:r>
            <a:r>
              <a:rPr i="1" lang="en-US" sz="2800"/>
              <a:t>Y</a:t>
            </a:r>
            <a:r>
              <a:rPr lang="en-US" sz="2800"/>
              <a:t> – because </a:t>
            </a:r>
            <a:r>
              <a:rPr i="1" lang="en-US" sz="2800"/>
              <a:t>X</a:t>
            </a:r>
            <a:r>
              <a:rPr lang="en-US" sz="2800"/>
              <a:t> would be closer to the goal than </a:t>
            </a:r>
            <a:r>
              <a:rPr i="1" lang="en-US" sz="2800"/>
              <a:t>Y</a:t>
            </a:r>
            <a:endParaRPr/>
          </a:p>
          <a:p>
            <a:pPr indent="-23622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 sz="2800"/>
          </a:p>
        </p:txBody>
      </p:sp>
      <p:pic>
        <p:nvPicPr>
          <p:cNvPr descr="8puzzle" id="228" name="Google Shape;228;p8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5088" y="4089400"/>
            <a:ext cx="3810000" cy="1930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8"/>
          <p:cNvSpPr txBox="1"/>
          <p:nvPr/>
        </p:nvSpPr>
        <p:spPr>
          <a:xfrm>
            <a:off x="304800" y="4191000"/>
            <a:ext cx="449580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8–Puzzle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b="1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The number of misplaced tiles (squares with number).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</a:t>
            </a:r>
            <a:r>
              <a:rPr b="1" baseline="-2500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sum of the distances of the tiles from their goal positions.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9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5" name="Google Shape;235;p9"/>
          <p:cNvSpPr txBox="1"/>
          <p:nvPr>
            <p:ph type="title"/>
          </p:nvPr>
        </p:nvSpPr>
        <p:spPr>
          <a:xfrm>
            <a:off x="1066800" y="214313"/>
            <a:ext cx="7793038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000"/>
              <a:t>Approach 3: </a:t>
            </a:r>
            <a:r>
              <a:rPr i="1" lang="en-US" sz="3000"/>
              <a:t>f </a:t>
            </a:r>
            <a:r>
              <a:rPr lang="en-US" sz="3000"/>
              <a:t>measures the total cost of the solution path (With Admissible Heuristic Functions)</a:t>
            </a:r>
            <a:endParaRPr sz="3000"/>
          </a:p>
        </p:txBody>
      </p:sp>
      <p:sp>
        <p:nvSpPr>
          <p:cNvPr id="236" name="Google Shape;236;p9"/>
          <p:cNvSpPr txBox="1"/>
          <p:nvPr>
            <p:ph idx="1" type="body"/>
          </p:nvPr>
        </p:nvSpPr>
        <p:spPr>
          <a:xfrm>
            <a:off x="381000" y="1981200"/>
            <a:ext cx="8610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80"/>
              <a:buChar char="■"/>
            </a:pP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A heuristic function is admissible if </a:t>
            </a:r>
            <a:r>
              <a:rPr i="1" lang="en-US" sz="2300">
                <a:latin typeface="Times New Roman"/>
                <a:ea typeface="Times New Roman"/>
                <a:cs typeface="Times New Roman"/>
                <a:sym typeface="Times New Roman"/>
              </a:rPr>
              <a:t>h(n)</a:t>
            </a: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300">
                <a:latin typeface="Times New Roman"/>
                <a:ea typeface="Times New Roman"/>
                <a:cs typeface="Times New Roman"/>
                <a:sym typeface="Times New Roman"/>
              </a:rPr>
              <a:t>never</a:t>
            </a: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 overestimates the cost to reach the goal.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Admissible heuristics are “optimistic”: “the cost is not that much …”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SzPts val="1380"/>
              <a:buChar char="■"/>
            </a:pP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However, </a:t>
            </a:r>
            <a:r>
              <a:rPr i="1" lang="en-US" sz="2300">
                <a:latin typeface="Times New Roman"/>
                <a:ea typeface="Times New Roman"/>
                <a:cs typeface="Times New Roman"/>
                <a:sym typeface="Times New Roman"/>
              </a:rPr>
              <a:t>g(n)</a:t>
            </a: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 is the exact cost to reach node </a:t>
            </a:r>
            <a:r>
              <a:rPr i="1" lang="en-US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 from the initial state.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SzPts val="1380"/>
              <a:buChar char="■"/>
            </a:pP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Therefore, </a:t>
            </a:r>
            <a:r>
              <a:rPr i="1" lang="en-US" sz="2300">
                <a:latin typeface="Times New Roman"/>
                <a:ea typeface="Times New Roman"/>
                <a:cs typeface="Times New Roman"/>
                <a:sym typeface="Times New Roman"/>
              </a:rPr>
              <a:t>f(n)</a:t>
            </a: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 never over-estimate the true cost to reach the goal state through node </a:t>
            </a:r>
            <a:r>
              <a:rPr i="1" lang="en-US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SzPts val="1380"/>
              <a:buChar char="■"/>
            </a:pPr>
            <a:r>
              <a:rPr lang="en-US" sz="2300">
                <a:solidFill>
                  <a:srgbClr val="971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Theorem: A search is optimal if </a:t>
            </a:r>
            <a:r>
              <a:rPr i="1" lang="en-US" sz="2300">
                <a:solidFill>
                  <a:srgbClr val="971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h(n)</a:t>
            </a:r>
            <a:r>
              <a:rPr lang="en-US" sz="2300">
                <a:solidFill>
                  <a:srgbClr val="971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admissible.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</a:pPr>
            <a:r>
              <a:rPr lang="en-US" sz="2000">
                <a:solidFill>
                  <a:srgbClr val="971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I.e. The search using </a:t>
            </a:r>
            <a:r>
              <a:rPr i="1" lang="en-US" sz="2000">
                <a:solidFill>
                  <a:srgbClr val="971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h(n)</a:t>
            </a:r>
            <a:r>
              <a:rPr lang="en-US" sz="2000">
                <a:solidFill>
                  <a:srgbClr val="971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returns an optimal solution.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SzPts val="1380"/>
              <a:buChar char="■"/>
            </a:pPr>
            <a:r>
              <a:rPr lang="en-US" sz="2300">
                <a:solidFill>
                  <a:srgbClr val="971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Given </a:t>
            </a:r>
            <a:r>
              <a:rPr i="1" lang="en-US" sz="2300">
                <a:solidFill>
                  <a:srgbClr val="971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baseline="-25000" i="1" lang="en-US" sz="2300">
                <a:solidFill>
                  <a:srgbClr val="971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US" sz="2300">
                <a:solidFill>
                  <a:srgbClr val="971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(n) &gt; h</a:t>
            </a:r>
            <a:r>
              <a:rPr baseline="-25000" i="1" lang="en-US" sz="2300">
                <a:solidFill>
                  <a:srgbClr val="971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i="1" lang="en-US" sz="2300">
                <a:solidFill>
                  <a:srgbClr val="971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(n) </a:t>
            </a:r>
            <a:r>
              <a:rPr lang="en-US" sz="2300">
                <a:solidFill>
                  <a:srgbClr val="971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all </a:t>
            </a:r>
            <a:r>
              <a:rPr i="1" lang="en-US" sz="2300">
                <a:solidFill>
                  <a:srgbClr val="971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n, </a:t>
            </a:r>
            <a:r>
              <a:rPr lang="en-US" sz="2300">
                <a:solidFill>
                  <a:srgbClr val="971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it’s always more </a:t>
            </a:r>
            <a:r>
              <a:rPr lang="en-US" sz="2300" u="sng">
                <a:solidFill>
                  <a:srgbClr val="971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efficient</a:t>
            </a:r>
            <a:r>
              <a:rPr lang="en-US" sz="2300">
                <a:solidFill>
                  <a:srgbClr val="971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use </a:t>
            </a:r>
            <a:r>
              <a:rPr i="1" lang="en-US" sz="2300">
                <a:solidFill>
                  <a:srgbClr val="971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baseline="-25000" i="1" lang="en-US" sz="2300">
                <a:solidFill>
                  <a:srgbClr val="971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US" sz="2300">
                <a:solidFill>
                  <a:srgbClr val="971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(n).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</a:pPr>
            <a:r>
              <a:rPr i="1" lang="en-US" sz="2000">
                <a:solidFill>
                  <a:srgbClr val="971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baseline="-25000" i="1" lang="en-US" sz="2000">
                <a:solidFill>
                  <a:srgbClr val="971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US" sz="2000">
                <a:solidFill>
                  <a:srgbClr val="971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>
                <a:solidFill>
                  <a:srgbClr val="971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more realistic than </a:t>
            </a:r>
            <a:r>
              <a:rPr i="1" lang="en-US" sz="2000">
                <a:solidFill>
                  <a:srgbClr val="971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baseline="-25000" i="1" lang="en-US" sz="2000">
                <a:solidFill>
                  <a:srgbClr val="971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i="1" lang="en-US" sz="2000">
                <a:solidFill>
                  <a:srgbClr val="971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(more informed)</a:t>
            </a:r>
            <a:r>
              <a:rPr lang="en-US" sz="2000">
                <a:solidFill>
                  <a:srgbClr val="971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though both are optimistic.</a:t>
            </a:r>
            <a:endParaRPr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0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2" name="Google Shape;242;p10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Traditional informed search strategies</a:t>
            </a:r>
            <a:endParaRPr/>
          </a:p>
        </p:txBody>
      </p:sp>
      <p:sp>
        <p:nvSpPr>
          <p:cNvPr id="243" name="Google Shape;243;p10"/>
          <p:cNvSpPr txBox="1"/>
          <p:nvPr>
            <p:ph idx="1" type="body"/>
          </p:nvPr>
        </p:nvSpPr>
        <p:spPr>
          <a:xfrm>
            <a:off x="609600" y="1905000"/>
            <a:ext cx="81534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Char char="■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Greedy Best first search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“Always chooses the successor node with the best </a:t>
            </a:r>
            <a:r>
              <a:rPr i="1" lang="en-US" sz="2400"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value” where </a:t>
            </a:r>
            <a:r>
              <a:rPr i="1" lang="en-US" sz="2400">
                <a:latin typeface="Times New Roman"/>
                <a:ea typeface="Times New Roman"/>
                <a:cs typeface="Times New Roman"/>
                <a:sym typeface="Times New Roman"/>
              </a:rPr>
              <a:t>f(n) = h(n)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We choose the one that is nearest to the final state among all possible choices</a:t>
            </a:r>
            <a:endParaRPr/>
          </a:p>
          <a:p>
            <a:pPr indent="-23622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A* search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Best first search using an evaluation function </a:t>
            </a:r>
            <a:r>
              <a:rPr i="1" lang="en-US" sz="2400"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that </a:t>
            </a:r>
            <a:r>
              <a:rPr i="1"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takes into account the</a:t>
            </a:r>
            <a:r>
              <a:rPr i="1"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“admissible” heuristic function </a:t>
            </a:r>
            <a:r>
              <a:rPr i="1" lang="en-US" sz="2400">
                <a:latin typeface="Times New Roman"/>
                <a:ea typeface="Times New Roman"/>
                <a:cs typeface="Times New Roman"/>
                <a:sym typeface="Times New Roman"/>
              </a:rPr>
              <a:t>h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and the current cost</a:t>
            </a:r>
            <a:r>
              <a:rPr i="1" lang="en-US" sz="2400">
                <a:latin typeface="Times New Roman"/>
                <a:ea typeface="Times New Roman"/>
                <a:cs typeface="Times New Roman"/>
                <a:sym typeface="Times New Roman"/>
              </a:rPr>
              <a:t> g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Always returns the optimal solution path</a:t>
            </a:r>
            <a:endParaRPr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1"/>
          <p:cNvSpPr txBox="1"/>
          <p:nvPr>
            <p:ph type="ctrTitle"/>
          </p:nvPr>
        </p:nvSpPr>
        <p:spPr>
          <a:xfrm>
            <a:off x="990600" y="1676400"/>
            <a:ext cx="7772400" cy="14620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Informed Search Strategies</a:t>
            </a:r>
            <a:endParaRPr/>
          </a:p>
        </p:txBody>
      </p:sp>
      <p:sp>
        <p:nvSpPr>
          <p:cNvPr id="249" name="Google Shape;249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lang="en-US"/>
              <a:t>Best First Search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2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5" name="Google Shape;255;p12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An implementation of Best First Search</a:t>
            </a:r>
            <a:endParaRPr/>
          </a:p>
        </p:txBody>
      </p:sp>
      <p:sp>
        <p:nvSpPr>
          <p:cNvPr id="256" name="Google Shape;256;p12"/>
          <p:cNvSpPr txBox="1"/>
          <p:nvPr>
            <p:ph idx="1" type="body"/>
          </p:nvPr>
        </p:nvSpPr>
        <p:spPr>
          <a:xfrm>
            <a:off x="381000" y="2017713"/>
            <a:ext cx="8574088" cy="4114800"/>
          </a:xfrm>
          <a:prstGeom prst="rect">
            <a:avLst/>
          </a:prstGeom>
          <a:noFill/>
          <a:ln cap="flat" cmpd="sng" w="9525">
            <a:solidFill>
              <a:schemeClr val="hlink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Font typeface="Noto Sans Symbols"/>
              <a:buNone/>
            </a:pPr>
            <a:r>
              <a:rPr b="1" lang="en-US" sz="2800"/>
              <a:t>function</a:t>
            </a:r>
            <a:r>
              <a:rPr lang="en-US" sz="2800"/>
              <a:t> BEST-FIRST-SEARCH (</a:t>
            </a:r>
            <a:r>
              <a:rPr i="1" lang="en-US" sz="2800"/>
              <a:t>problem</a:t>
            </a:r>
            <a:r>
              <a:rPr lang="en-US" sz="2800"/>
              <a:t>, </a:t>
            </a:r>
            <a:r>
              <a:rPr i="1" lang="en-US" sz="2800"/>
              <a:t>eval-fn</a:t>
            </a:r>
            <a:r>
              <a:rPr lang="en-US" sz="2800"/>
              <a:t>)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Font typeface="Noto Sans Symbols"/>
              <a:buNone/>
            </a:pPr>
            <a:r>
              <a:rPr lang="en-US" sz="2800"/>
              <a:t>          </a:t>
            </a:r>
            <a:r>
              <a:rPr b="1" lang="en-US" sz="2800"/>
              <a:t>returns</a:t>
            </a:r>
            <a:r>
              <a:rPr lang="en-US" sz="2800"/>
              <a:t> a solution sequence, or failure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Font typeface="Noto Sans Symbols"/>
              <a:buNone/>
            </a:pPr>
            <a:r>
              <a:rPr b="1" i="1" lang="en-US" sz="280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Font typeface="Noto Sans Symbols"/>
              <a:buNone/>
            </a:pPr>
            <a:r>
              <a:rPr b="1" i="1" lang="en-US" sz="280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	queuing-fn</a:t>
            </a:r>
            <a:r>
              <a:rPr lang="en-US" sz="280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= a function that sorts nodes by </a:t>
            </a:r>
            <a:r>
              <a:rPr i="1" lang="en-US" sz="280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eval-fn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Font typeface="Noto Sans Symbols"/>
              <a:buNone/>
            </a:pPr>
            <a:r>
              <a:t/>
            </a:r>
            <a:endParaRPr b="1"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Font typeface="Noto Sans Symbols"/>
              <a:buNone/>
            </a:pPr>
            <a:r>
              <a:rPr b="1" lang="en-US"/>
              <a:t>return </a:t>
            </a:r>
            <a:r>
              <a:rPr lang="en-US"/>
              <a:t>GENERIC-SEARCH (</a:t>
            </a:r>
            <a:r>
              <a:rPr i="1" lang="en-US"/>
              <a:t>problem</a:t>
            </a:r>
            <a:r>
              <a:rPr lang="en-US"/>
              <a:t>,</a:t>
            </a:r>
            <a:r>
              <a:rPr i="1" lang="en-US"/>
              <a:t>queuing-fn</a:t>
            </a:r>
            <a:r>
              <a:rPr lang="en-US"/>
              <a:t>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3"/>
          <p:cNvSpPr txBox="1"/>
          <p:nvPr>
            <p:ph type="ctrTitle"/>
          </p:nvPr>
        </p:nvSpPr>
        <p:spPr>
          <a:xfrm>
            <a:off x="990600" y="1676400"/>
            <a:ext cx="7772400" cy="14620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Informed Search Strategies</a:t>
            </a:r>
            <a:endParaRPr/>
          </a:p>
        </p:txBody>
      </p:sp>
      <p:sp>
        <p:nvSpPr>
          <p:cNvPr id="262" name="Google Shape;262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lang="en-US"/>
              <a:t>Greedy Search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None/>
            </a:pPr>
            <a:r>
              <a:rPr i="1" lang="en-US">
                <a:latin typeface="Times New Roman"/>
                <a:ea typeface="Times New Roman"/>
                <a:cs typeface="Times New Roman"/>
                <a:sym typeface="Times New Roman"/>
              </a:rPr>
              <a:t>eval-fn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: f(n) = h(n)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4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8" name="Google Shape;268;p14"/>
          <p:cNvSpPr txBox="1"/>
          <p:nvPr>
            <p:ph type="title"/>
          </p:nvPr>
        </p:nvSpPr>
        <p:spPr>
          <a:xfrm>
            <a:off x="1150938" y="214313"/>
            <a:ext cx="7793100" cy="14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Greedy Search</a:t>
            </a:r>
            <a:endParaRPr/>
          </a:p>
        </p:txBody>
      </p:sp>
      <p:grpSp>
        <p:nvGrpSpPr>
          <p:cNvPr id="269" name="Google Shape;269;p14"/>
          <p:cNvGrpSpPr/>
          <p:nvPr/>
        </p:nvGrpSpPr>
        <p:grpSpPr>
          <a:xfrm>
            <a:off x="2133600" y="1981200"/>
            <a:ext cx="552450" cy="552450"/>
            <a:chOff x="1344" y="1248"/>
            <a:chExt cx="348" cy="348"/>
          </a:xfrm>
        </p:grpSpPr>
        <p:sp>
          <p:nvSpPr>
            <p:cNvPr id="270" name="Google Shape;270;p14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71" name="Google Shape;271;p14"/>
            <p:cNvSpPr txBox="1"/>
            <p:nvPr/>
          </p:nvSpPr>
          <p:spPr>
            <a:xfrm>
              <a:off x="1392" y="1296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A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272" name="Google Shape;272;p14"/>
          <p:cNvGrpSpPr/>
          <p:nvPr/>
        </p:nvGrpSpPr>
        <p:grpSpPr>
          <a:xfrm>
            <a:off x="3200400" y="2514600"/>
            <a:ext cx="552450" cy="552450"/>
            <a:chOff x="1344" y="1248"/>
            <a:chExt cx="348" cy="348"/>
          </a:xfrm>
        </p:grpSpPr>
        <p:sp>
          <p:nvSpPr>
            <p:cNvPr id="273" name="Google Shape;273;p14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74" name="Google Shape;274;p14"/>
            <p:cNvSpPr txBox="1"/>
            <p:nvPr/>
          </p:nvSpPr>
          <p:spPr>
            <a:xfrm>
              <a:off x="1392" y="1296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B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275" name="Google Shape;275;p14"/>
          <p:cNvGrpSpPr/>
          <p:nvPr/>
        </p:nvGrpSpPr>
        <p:grpSpPr>
          <a:xfrm>
            <a:off x="533400" y="3429000"/>
            <a:ext cx="552450" cy="552450"/>
            <a:chOff x="1344" y="1248"/>
            <a:chExt cx="348" cy="348"/>
          </a:xfrm>
        </p:grpSpPr>
        <p:sp>
          <p:nvSpPr>
            <p:cNvPr id="276" name="Google Shape;276;p14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77" name="Google Shape;277;p14"/>
            <p:cNvSpPr txBox="1"/>
            <p:nvPr/>
          </p:nvSpPr>
          <p:spPr>
            <a:xfrm>
              <a:off x="1392" y="1296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278" name="Google Shape;278;p14"/>
          <p:cNvGrpSpPr/>
          <p:nvPr/>
        </p:nvGrpSpPr>
        <p:grpSpPr>
          <a:xfrm>
            <a:off x="1066800" y="2667000"/>
            <a:ext cx="552450" cy="552450"/>
            <a:chOff x="1344" y="1248"/>
            <a:chExt cx="348" cy="348"/>
          </a:xfrm>
        </p:grpSpPr>
        <p:sp>
          <p:nvSpPr>
            <p:cNvPr id="279" name="Google Shape;279;p14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80" name="Google Shape;280;p14"/>
            <p:cNvSpPr txBox="1"/>
            <p:nvPr/>
          </p:nvSpPr>
          <p:spPr>
            <a:xfrm>
              <a:off x="1392" y="1296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C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281" name="Google Shape;281;p14"/>
          <p:cNvGrpSpPr/>
          <p:nvPr/>
        </p:nvGrpSpPr>
        <p:grpSpPr>
          <a:xfrm>
            <a:off x="2209800" y="3124200"/>
            <a:ext cx="552450" cy="552450"/>
            <a:chOff x="1344" y="1248"/>
            <a:chExt cx="348" cy="348"/>
          </a:xfrm>
        </p:grpSpPr>
        <p:sp>
          <p:nvSpPr>
            <p:cNvPr id="282" name="Google Shape;282;p14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83" name="Google Shape;283;p14"/>
            <p:cNvSpPr txBox="1"/>
            <p:nvPr/>
          </p:nvSpPr>
          <p:spPr>
            <a:xfrm>
              <a:off x="1392" y="1296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E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284" name="Google Shape;284;p14"/>
          <p:cNvGrpSpPr/>
          <p:nvPr/>
        </p:nvGrpSpPr>
        <p:grpSpPr>
          <a:xfrm>
            <a:off x="2895600" y="4038600"/>
            <a:ext cx="552450" cy="552450"/>
            <a:chOff x="1344" y="1248"/>
            <a:chExt cx="348" cy="348"/>
          </a:xfrm>
        </p:grpSpPr>
        <p:sp>
          <p:nvSpPr>
            <p:cNvPr id="285" name="Google Shape;285;p14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86" name="Google Shape;286;p14"/>
            <p:cNvSpPr txBox="1"/>
            <p:nvPr/>
          </p:nvSpPr>
          <p:spPr>
            <a:xfrm>
              <a:off x="1392" y="1296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F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287" name="Google Shape;287;p14"/>
          <p:cNvCxnSpPr/>
          <p:nvPr/>
        </p:nvCxnSpPr>
        <p:spPr>
          <a:xfrm>
            <a:off x="2438400" y="3581400"/>
            <a:ext cx="6096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8" name="Google Shape;288;p14"/>
          <p:cNvCxnSpPr/>
          <p:nvPr/>
        </p:nvCxnSpPr>
        <p:spPr>
          <a:xfrm flipH="1">
            <a:off x="2209800" y="4495800"/>
            <a:ext cx="990600" cy="1219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9" name="Google Shape;289;p14"/>
          <p:cNvSpPr/>
          <p:nvPr/>
        </p:nvSpPr>
        <p:spPr>
          <a:xfrm>
            <a:off x="1962139" y="5700474"/>
            <a:ext cx="476400" cy="4764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</a:t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90" name="Google Shape;290;p14"/>
          <p:cNvSpPr txBox="1"/>
          <p:nvPr/>
        </p:nvSpPr>
        <p:spPr>
          <a:xfrm>
            <a:off x="2667000" y="3505200"/>
            <a:ext cx="6096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99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91" name="Google Shape;291;p14"/>
          <p:cNvSpPr txBox="1"/>
          <p:nvPr/>
        </p:nvSpPr>
        <p:spPr>
          <a:xfrm>
            <a:off x="2667000" y="5257800"/>
            <a:ext cx="76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211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92" name="Google Shape;292;p14"/>
          <p:cNvGrpSpPr/>
          <p:nvPr/>
        </p:nvGrpSpPr>
        <p:grpSpPr>
          <a:xfrm>
            <a:off x="1371600" y="4038600"/>
            <a:ext cx="552450" cy="552450"/>
            <a:chOff x="1344" y="1248"/>
            <a:chExt cx="348" cy="348"/>
          </a:xfrm>
        </p:grpSpPr>
        <p:sp>
          <p:nvSpPr>
            <p:cNvPr id="293" name="Google Shape;293;p14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94" name="Google Shape;294;p14"/>
            <p:cNvSpPr txBox="1"/>
            <p:nvPr/>
          </p:nvSpPr>
          <p:spPr>
            <a:xfrm>
              <a:off x="1392" y="1296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G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295" name="Google Shape;295;p14"/>
          <p:cNvGrpSpPr/>
          <p:nvPr/>
        </p:nvGrpSpPr>
        <p:grpSpPr>
          <a:xfrm>
            <a:off x="1143000" y="4953000"/>
            <a:ext cx="552450" cy="552450"/>
            <a:chOff x="1344" y="1248"/>
            <a:chExt cx="348" cy="348"/>
          </a:xfrm>
        </p:grpSpPr>
        <p:sp>
          <p:nvSpPr>
            <p:cNvPr id="296" name="Google Shape;296;p14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97" name="Google Shape;297;p14"/>
            <p:cNvSpPr txBox="1"/>
            <p:nvPr/>
          </p:nvSpPr>
          <p:spPr>
            <a:xfrm>
              <a:off x="1392" y="1296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H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298" name="Google Shape;298;p14"/>
          <p:cNvCxnSpPr/>
          <p:nvPr/>
        </p:nvCxnSpPr>
        <p:spPr>
          <a:xfrm flipH="1">
            <a:off x="1524000" y="3581400"/>
            <a:ext cx="9144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9" name="Google Shape;299;p14"/>
          <p:cNvCxnSpPr/>
          <p:nvPr/>
        </p:nvCxnSpPr>
        <p:spPr>
          <a:xfrm flipH="1">
            <a:off x="1371600" y="4495800"/>
            <a:ext cx="2286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0" name="Google Shape;300;p14"/>
          <p:cNvCxnSpPr/>
          <p:nvPr/>
        </p:nvCxnSpPr>
        <p:spPr>
          <a:xfrm>
            <a:off x="1371600" y="5410200"/>
            <a:ext cx="7620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1" name="Google Shape;301;p14"/>
          <p:cNvSpPr txBox="1"/>
          <p:nvPr/>
        </p:nvSpPr>
        <p:spPr>
          <a:xfrm>
            <a:off x="1600200" y="3505200"/>
            <a:ext cx="6096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80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302" name="Google Shape;302;p14"/>
          <p:cNvCxnSpPr/>
          <p:nvPr/>
        </p:nvCxnSpPr>
        <p:spPr>
          <a:xfrm>
            <a:off x="2362200" y="2438400"/>
            <a:ext cx="106680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3" name="Google Shape;303;p14"/>
          <p:cNvCxnSpPr/>
          <p:nvPr/>
        </p:nvCxnSpPr>
        <p:spPr>
          <a:xfrm>
            <a:off x="2362200" y="2438400"/>
            <a:ext cx="762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4" name="Google Shape;304;p14"/>
          <p:cNvCxnSpPr/>
          <p:nvPr/>
        </p:nvCxnSpPr>
        <p:spPr>
          <a:xfrm flipH="1">
            <a:off x="1295400" y="2438400"/>
            <a:ext cx="1066800" cy="22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5" name="Google Shape;305;p14"/>
          <p:cNvCxnSpPr/>
          <p:nvPr/>
        </p:nvCxnSpPr>
        <p:spPr>
          <a:xfrm flipH="1">
            <a:off x="762000" y="3124200"/>
            <a:ext cx="533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6" name="Google Shape;306;p14"/>
          <p:cNvSpPr txBox="1"/>
          <p:nvPr/>
        </p:nvSpPr>
        <p:spPr>
          <a:xfrm>
            <a:off x="2590800" y="1828800"/>
            <a:ext cx="12192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Start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07" name="Google Shape;307;p14"/>
          <p:cNvSpPr txBox="1"/>
          <p:nvPr/>
        </p:nvSpPr>
        <p:spPr>
          <a:xfrm>
            <a:off x="2438400" y="6019800"/>
            <a:ext cx="12192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Goal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08" name="Google Shape;308;p14"/>
          <p:cNvSpPr txBox="1"/>
          <p:nvPr/>
        </p:nvSpPr>
        <p:spPr>
          <a:xfrm>
            <a:off x="990600" y="4572000"/>
            <a:ext cx="6096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97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09" name="Google Shape;309;p14"/>
          <p:cNvSpPr txBox="1"/>
          <p:nvPr/>
        </p:nvSpPr>
        <p:spPr>
          <a:xfrm>
            <a:off x="1295400" y="5486400"/>
            <a:ext cx="8382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101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10" name="Google Shape;310;p14"/>
          <p:cNvSpPr txBox="1"/>
          <p:nvPr/>
        </p:nvSpPr>
        <p:spPr>
          <a:xfrm>
            <a:off x="2819400" y="2133600"/>
            <a:ext cx="6096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75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11" name="Google Shape;311;p14"/>
          <p:cNvSpPr txBox="1"/>
          <p:nvPr/>
        </p:nvSpPr>
        <p:spPr>
          <a:xfrm>
            <a:off x="1371600" y="2209800"/>
            <a:ext cx="7620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118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12" name="Google Shape;312;p14"/>
          <p:cNvSpPr txBox="1"/>
          <p:nvPr/>
        </p:nvSpPr>
        <p:spPr>
          <a:xfrm>
            <a:off x="381000" y="3048000"/>
            <a:ext cx="7620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111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13" name="Google Shape;313;p14"/>
          <p:cNvSpPr txBox="1"/>
          <p:nvPr/>
        </p:nvSpPr>
        <p:spPr>
          <a:xfrm>
            <a:off x="3657600" y="5943600"/>
            <a:ext cx="54864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f(n) = h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1" i="1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</a:t>
            </a:r>
            <a:r>
              <a:rPr b="1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 = straight-line distance heuristic</a:t>
            </a:r>
            <a:endParaRPr b="1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aphicFrame>
        <p:nvGraphicFramePr>
          <p:cNvPr id="314" name="Google Shape;314;p14"/>
          <p:cNvGraphicFramePr/>
          <p:nvPr/>
        </p:nvGraphicFramePr>
        <p:xfrm>
          <a:off x="5145088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{B90EF8FA-749B-4DD1-AEA0-74944B5BCE82}</a:tableStyleId>
              </a:tblPr>
              <a:tblGrid>
                <a:gridCol w="1905000"/>
                <a:gridCol w="1905000"/>
              </a:tblGrid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State</a:t>
                      </a:r>
                      <a:endParaRPr b="1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Heuristic: h(n)</a:t>
                      </a:r>
                      <a:endParaRPr b="1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366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B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374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C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329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D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244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E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253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F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178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G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193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H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98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I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5" name="Google Shape;315;p14"/>
          <p:cNvSpPr txBox="1"/>
          <p:nvPr/>
        </p:nvSpPr>
        <p:spPr>
          <a:xfrm>
            <a:off x="2362200" y="2681288"/>
            <a:ext cx="7620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140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5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1" name="Google Shape;321;p15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Greedy Search</a:t>
            </a:r>
            <a:endParaRPr/>
          </a:p>
        </p:txBody>
      </p:sp>
      <p:grpSp>
        <p:nvGrpSpPr>
          <p:cNvPr id="322" name="Google Shape;322;p15"/>
          <p:cNvGrpSpPr/>
          <p:nvPr/>
        </p:nvGrpSpPr>
        <p:grpSpPr>
          <a:xfrm>
            <a:off x="2133600" y="1981200"/>
            <a:ext cx="457200" cy="457200"/>
            <a:chOff x="1344" y="1248"/>
            <a:chExt cx="288" cy="288"/>
          </a:xfrm>
        </p:grpSpPr>
        <p:sp>
          <p:nvSpPr>
            <p:cNvPr id="323" name="Google Shape;323;p15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24" name="Google Shape;324;p15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A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325" name="Google Shape;325;p15"/>
          <p:cNvGrpSpPr/>
          <p:nvPr/>
        </p:nvGrpSpPr>
        <p:grpSpPr>
          <a:xfrm>
            <a:off x="3200400" y="2514600"/>
            <a:ext cx="457200" cy="457200"/>
            <a:chOff x="1344" y="1248"/>
            <a:chExt cx="288" cy="288"/>
          </a:xfrm>
        </p:grpSpPr>
        <p:sp>
          <p:nvSpPr>
            <p:cNvPr id="326" name="Google Shape;326;p15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27" name="Google Shape;327;p15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B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328" name="Google Shape;328;p15"/>
          <p:cNvGrpSpPr/>
          <p:nvPr/>
        </p:nvGrpSpPr>
        <p:grpSpPr>
          <a:xfrm>
            <a:off x="533400" y="3429000"/>
            <a:ext cx="457200" cy="457200"/>
            <a:chOff x="1344" y="1248"/>
            <a:chExt cx="288" cy="288"/>
          </a:xfrm>
        </p:grpSpPr>
        <p:sp>
          <p:nvSpPr>
            <p:cNvPr id="329" name="Google Shape;329;p15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30" name="Google Shape;330;p15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331" name="Google Shape;331;p15"/>
          <p:cNvGrpSpPr/>
          <p:nvPr/>
        </p:nvGrpSpPr>
        <p:grpSpPr>
          <a:xfrm>
            <a:off x="1066800" y="2667000"/>
            <a:ext cx="457200" cy="457200"/>
            <a:chOff x="1344" y="1248"/>
            <a:chExt cx="288" cy="288"/>
          </a:xfrm>
        </p:grpSpPr>
        <p:sp>
          <p:nvSpPr>
            <p:cNvPr id="332" name="Google Shape;332;p15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33" name="Google Shape;333;p15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C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334" name="Google Shape;334;p15"/>
          <p:cNvGrpSpPr/>
          <p:nvPr/>
        </p:nvGrpSpPr>
        <p:grpSpPr>
          <a:xfrm>
            <a:off x="2209800" y="3124200"/>
            <a:ext cx="457200" cy="457200"/>
            <a:chOff x="1344" y="1248"/>
            <a:chExt cx="288" cy="288"/>
          </a:xfrm>
        </p:grpSpPr>
        <p:sp>
          <p:nvSpPr>
            <p:cNvPr id="335" name="Google Shape;335;p15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36" name="Google Shape;336;p15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E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337" name="Google Shape;337;p15"/>
          <p:cNvGrpSpPr/>
          <p:nvPr/>
        </p:nvGrpSpPr>
        <p:grpSpPr>
          <a:xfrm>
            <a:off x="2895600" y="4038600"/>
            <a:ext cx="457200" cy="457200"/>
            <a:chOff x="1344" y="1248"/>
            <a:chExt cx="288" cy="288"/>
          </a:xfrm>
        </p:grpSpPr>
        <p:sp>
          <p:nvSpPr>
            <p:cNvPr id="338" name="Google Shape;338;p15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39" name="Google Shape;339;p15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F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340" name="Google Shape;340;p15"/>
          <p:cNvCxnSpPr/>
          <p:nvPr/>
        </p:nvCxnSpPr>
        <p:spPr>
          <a:xfrm>
            <a:off x="2438400" y="3581400"/>
            <a:ext cx="6096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1" name="Google Shape;341;p15"/>
          <p:cNvCxnSpPr/>
          <p:nvPr/>
        </p:nvCxnSpPr>
        <p:spPr>
          <a:xfrm flipH="1">
            <a:off x="2133600" y="4495800"/>
            <a:ext cx="990600" cy="1219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2" name="Google Shape;342;p15"/>
          <p:cNvSpPr txBox="1"/>
          <p:nvPr/>
        </p:nvSpPr>
        <p:spPr>
          <a:xfrm>
            <a:off x="2667000" y="3505200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99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43" name="Google Shape;343;p15"/>
          <p:cNvSpPr txBox="1"/>
          <p:nvPr/>
        </p:nvSpPr>
        <p:spPr>
          <a:xfrm>
            <a:off x="2667000" y="51054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211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344" name="Google Shape;344;p15"/>
          <p:cNvGrpSpPr/>
          <p:nvPr/>
        </p:nvGrpSpPr>
        <p:grpSpPr>
          <a:xfrm>
            <a:off x="1371600" y="4038600"/>
            <a:ext cx="457200" cy="457200"/>
            <a:chOff x="1344" y="1248"/>
            <a:chExt cx="288" cy="288"/>
          </a:xfrm>
        </p:grpSpPr>
        <p:sp>
          <p:nvSpPr>
            <p:cNvPr id="345" name="Google Shape;345;p15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46" name="Google Shape;346;p15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G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347" name="Google Shape;347;p15"/>
          <p:cNvGrpSpPr/>
          <p:nvPr/>
        </p:nvGrpSpPr>
        <p:grpSpPr>
          <a:xfrm>
            <a:off x="1143000" y="4953000"/>
            <a:ext cx="457200" cy="457200"/>
            <a:chOff x="1344" y="1248"/>
            <a:chExt cx="288" cy="288"/>
          </a:xfrm>
        </p:grpSpPr>
        <p:sp>
          <p:nvSpPr>
            <p:cNvPr id="348" name="Google Shape;348;p15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49" name="Google Shape;349;p15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H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350" name="Google Shape;350;p15"/>
          <p:cNvCxnSpPr/>
          <p:nvPr/>
        </p:nvCxnSpPr>
        <p:spPr>
          <a:xfrm flipH="1">
            <a:off x="1524000" y="3581400"/>
            <a:ext cx="9144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1" name="Google Shape;351;p15"/>
          <p:cNvCxnSpPr/>
          <p:nvPr/>
        </p:nvCxnSpPr>
        <p:spPr>
          <a:xfrm flipH="1">
            <a:off x="1371600" y="4495800"/>
            <a:ext cx="2286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2" name="Google Shape;352;p15"/>
          <p:cNvCxnSpPr/>
          <p:nvPr/>
        </p:nvCxnSpPr>
        <p:spPr>
          <a:xfrm>
            <a:off x="1371600" y="5410200"/>
            <a:ext cx="7620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3" name="Google Shape;353;p15"/>
          <p:cNvSpPr txBox="1"/>
          <p:nvPr/>
        </p:nvSpPr>
        <p:spPr>
          <a:xfrm>
            <a:off x="1600200" y="3505200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80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354" name="Google Shape;354;p15"/>
          <p:cNvCxnSpPr/>
          <p:nvPr/>
        </p:nvCxnSpPr>
        <p:spPr>
          <a:xfrm>
            <a:off x="2362200" y="2438400"/>
            <a:ext cx="106680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5" name="Google Shape;355;p15"/>
          <p:cNvCxnSpPr/>
          <p:nvPr/>
        </p:nvCxnSpPr>
        <p:spPr>
          <a:xfrm>
            <a:off x="2362200" y="2438400"/>
            <a:ext cx="762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6" name="Google Shape;356;p15"/>
          <p:cNvCxnSpPr/>
          <p:nvPr/>
        </p:nvCxnSpPr>
        <p:spPr>
          <a:xfrm flipH="1">
            <a:off x="1295400" y="2438400"/>
            <a:ext cx="1066800" cy="22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7" name="Google Shape;357;p15"/>
          <p:cNvCxnSpPr/>
          <p:nvPr/>
        </p:nvCxnSpPr>
        <p:spPr>
          <a:xfrm flipH="1">
            <a:off x="762000" y="3124200"/>
            <a:ext cx="533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8" name="Google Shape;358;p15"/>
          <p:cNvSpPr txBox="1"/>
          <p:nvPr/>
        </p:nvSpPr>
        <p:spPr>
          <a:xfrm>
            <a:off x="2590800" y="18288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Start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59" name="Google Shape;359;p15"/>
          <p:cNvSpPr txBox="1"/>
          <p:nvPr/>
        </p:nvSpPr>
        <p:spPr>
          <a:xfrm>
            <a:off x="2438400" y="60198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Goal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60" name="Google Shape;360;p15"/>
          <p:cNvSpPr txBox="1"/>
          <p:nvPr/>
        </p:nvSpPr>
        <p:spPr>
          <a:xfrm>
            <a:off x="990600" y="4572000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97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61" name="Google Shape;361;p15"/>
          <p:cNvSpPr txBox="1"/>
          <p:nvPr/>
        </p:nvSpPr>
        <p:spPr>
          <a:xfrm>
            <a:off x="1295400" y="5486400"/>
            <a:ext cx="838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101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62" name="Google Shape;362;p15"/>
          <p:cNvSpPr txBox="1"/>
          <p:nvPr/>
        </p:nvSpPr>
        <p:spPr>
          <a:xfrm>
            <a:off x="2819400" y="2133600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75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63" name="Google Shape;363;p15"/>
          <p:cNvSpPr txBox="1"/>
          <p:nvPr/>
        </p:nvSpPr>
        <p:spPr>
          <a:xfrm>
            <a:off x="1371600" y="22098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118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64" name="Google Shape;364;p15"/>
          <p:cNvSpPr txBox="1"/>
          <p:nvPr/>
        </p:nvSpPr>
        <p:spPr>
          <a:xfrm>
            <a:off x="381000" y="30480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111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65" name="Google Shape;365;p15"/>
          <p:cNvSpPr txBox="1"/>
          <p:nvPr/>
        </p:nvSpPr>
        <p:spPr>
          <a:xfrm>
            <a:off x="3657600" y="5943600"/>
            <a:ext cx="54864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f(n) = h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1" i="1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</a:t>
            </a:r>
            <a:r>
              <a:rPr b="1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 = straight-line distance heuristic</a:t>
            </a:r>
            <a:endParaRPr b="1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aphicFrame>
        <p:nvGraphicFramePr>
          <p:cNvPr id="366" name="Google Shape;366;p15"/>
          <p:cNvGraphicFramePr/>
          <p:nvPr/>
        </p:nvGraphicFramePr>
        <p:xfrm>
          <a:off x="5145088" y="18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{B90EF8FA-749B-4DD1-AEA0-74944B5BCE82}</a:tableStyleId>
              </a:tblPr>
              <a:tblGrid>
                <a:gridCol w="1905000"/>
                <a:gridCol w="1905000"/>
              </a:tblGrid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State</a:t>
                      </a:r>
                      <a:endParaRPr b="1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Heuristic: h(n)</a:t>
                      </a:r>
                      <a:endParaRPr b="1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</a:t>
                      </a:r>
                      <a:endParaRPr b="1" i="0" sz="1800" u="none" cap="none" strike="noStrike">
                        <a:solidFill>
                          <a:schemeClr val="hlink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366</a:t>
                      </a:r>
                      <a:endParaRPr b="1" i="0" sz="1800" u="none" cap="none" strike="noStrike">
                        <a:solidFill>
                          <a:schemeClr val="hlink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B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374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C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329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D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244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E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253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F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178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G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193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H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98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I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367" name="Google Shape;367;p15"/>
          <p:cNvCxnSpPr>
            <a:stCxn id="324" idx="2"/>
            <a:endCxn id="361" idx="3"/>
          </p:cNvCxnSpPr>
          <p:nvPr/>
        </p:nvCxnSpPr>
        <p:spPr>
          <a:xfrm flipH="1">
            <a:off x="2133600" y="2424113"/>
            <a:ext cx="228600" cy="3245700"/>
          </a:xfrm>
          <a:prstGeom prst="straightConnector1">
            <a:avLst/>
          </a:prstGeom>
          <a:noFill/>
          <a:ln cap="flat" cmpd="sng" w="19050">
            <a:solidFill>
              <a:schemeClr val="hlink"/>
            </a:solidFill>
            <a:prstDash val="dot"/>
            <a:round/>
            <a:headEnd len="sm" w="sm" type="none"/>
            <a:tailEnd len="med" w="med" type="triangle"/>
          </a:ln>
        </p:spPr>
      </p:cxnSp>
      <p:sp>
        <p:nvSpPr>
          <p:cNvPr id="368" name="Google Shape;368;p15"/>
          <p:cNvSpPr txBox="1"/>
          <p:nvPr/>
        </p:nvSpPr>
        <p:spPr>
          <a:xfrm>
            <a:off x="2362200" y="2681288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140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69" name="Google Shape;369;p15"/>
          <p:cNvSpPr/>
          <p:nvPr/>
        </p:nvSpPr>
        <p:spPr>
          <a:xfrm>
            <a:off x="1885939" y="5700474"/>
            <a:ext cx="476400" cy="4764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</a:t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6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5" name="Google Shape;375;p16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Greedy Search</a:t>
            </a:r>
            <a:endParaRPr/>
          </a:p>
        </p:txBody>
      </p:sp>
      <p:grpSp>
        <p:nvGrpSpPr>
          <p:cNvPr id="376" name="Google Shape;376;p16"/>
          <p:cNvGrpSpPr/>
          <p:nvPr/>
        </p:nvGrpSpPr>
        <p:grpSpPr>
          <a:xfrm>
            <a:off x="2133600" y="1981200"/>
            <a:ext cx="457200" cy="457200"/>
            <a:chOff x="1344" y="1248"/>
            <a:chExt cx="288" cy="288"/>
          </a:xfrm>
        </p:grpSpPr>
        <p:sp>
          <p:nvSpPr>
            <p:cNvPr id="377" name="Google Shape;377;p16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78" name="Google Shape;378;p16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A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379" name="Google Shape;379;p16"/>
          <p:cNvGrpSpPr/>
          <p:nvPr/>
        </p:nvGrpSpPr>
        <p:grpSpPr>
          <a:xfrm>
            <a:off x="3200400" y="2514600"/>
            <a:ext cx="457200" cy="457200"/>
            <a:chOff x="1344" y="1248"/>
            <a:chExt cx="288" cy="288"/>
          </a:xfrm>
        </p:grpSpPr>
        <p:sp>
          <p:nvSpPr>
            <p:cNvPr id="380" name="Google Shape;380;p16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81" name="Google Shape;381;p16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B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382" name="Google Shape;382;p16"/>
          <p:cNvGrpSpPr/>
          <p:nvPr/>
        </p:nvGrpSpPr>
        <p:grpSpPr>
          <a:xfrm>
            <a:off x="533400" y="3429000"/>
            <a:ext cx="457200" cy="457200"/>
            <a:chOff x="1344" y="1248"/>
            <a:chExt cx="288" cy="288"/>
          </a:xfrm>
        </p:grpSpPr>
        <p:sp>
          <p:nvSpPr>
            <p:cNvPr id="383" name="Google Shape;383;p16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84" name="Google Shape;384;p16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385" name="Google Shape;385;p16"/>
          <p:cNvGrpSpPr/>
          <p:nvPr/>
        </p:nvGrpSpPr>
        <p:grpSpPr>
          <a:xfrm>
            <a:off x="1066800" y="2667000"/>
            <a:ext cx="457200" cy="457200"/>
            <a:chOff x="1344" y="1248"/>
            <a:chExt cx="288" cy="288"/>
          </a:xfrm>
        </p:grpSpPr>
        <p:sp>
          <p:nvSpPr>
            <p:cNvPr id="386" name="Google Shape;386;p16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87" name="Google Shape;387;p16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C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388" name="Google Shape;388;p16"/>
          <p:cNvGrpSpPr/>
          <p:nvPr/>
        </p:nvGrpSpPr>
        <p:grpSpPr>
          <a:xfrm>
            <a:off x="2209800" y="3124200"/>
            <a:ext cx="457200" cy="457200"/>
            <a:chOff x="1344" y="1248"/>
            <a:chExt cx="288" cy="288"/>
          </a:xfrm>
        </p:grpSpPr>
        <p:sp>
          <p:nvSpPr>
            <p:cNvPr id="389" name="Google Shape;389;p16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90" name="Google Shape;390;p16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E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391" name="Google Shape;391;p16"/>
          <p:cNvGrpSpPr/>
          <p:nvPr/>
        </p:nvGrpSpPr>
        <p:grpSpPr>
          <a:xfrm>
            <a:off x="2895600" y="4038600"/>
            <a:ext cx="457200" cy="457200"/>
            <a:chOff x="1344" y="1248"/>
            <a:chExt cx="288" cy="288"/>
          </a:xfrm>
        </p:grpSpPr>
        <p:sp>
          <p:nvSpPr>
            <p:cNvPr id="392" name="Google Shape;392;p16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93" name="Google Shape;393;p16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F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394" name="Google Shape;394;p16"/>
          <p:cNvCxnSpPr/>
          <p:nvPr/>
        </p:nvCxnSpPr>
        <p:spPr>
          <a:xfrm>
            <a:off x="2438400" y="3581400"/>
            <a:ext cx="6096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5" name="Google Shape;395;p16"/>
          <p:cNvCxnSpPr/>
          <p:nvPr/>
        </p:nvCxnSpPr>
        <p:spPr>
          <a:xfrm flipH="1">
            <a:off x="2133600" y="4495800"/>
            <a:ext cx="990600" cy="1219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6" name="Google Shape;396;p16"/>
          <p:cNvSpPr txBox="1"/>
          <p:nvPr/>
        </p:nvSpPr>
        <p:spPr>
          <a:xfrm>
            <a:off x="2667000" y="3505200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99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97" name="Google Shape;397;p16"/>
          <p:cNvSpPr txBox="1"/>
          <p:nvPr/>
        </p:nvSpPr>
        <p:spPr>
          <a:xfrm>
            <a:off x="2667000" y="51054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211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398" name="Google Shape;398;p16"/>
          <p:cNvGrpSpPr/>
          <p:nvPr/>
        </p:nvGrpSpPr>
        <p:grpSpPr>
          <a:xfrm>
            <a:off x="1371600" y="4038600"/>
            <a:ext cx="457200" cy="457200"/>
            <a:chOff x="1344" y="1248"/>
            <a:chExt cx="288" cy="288"/>
          </a:xfrm>
        </p:grpSpPr>
        <p:sp>
          <p:nvSpPr>
            <p:cNvPr id="399" name="Google Shape;399;p16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00" name="Google Shape;400;p16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G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401" name="Google Shape;401;p16"/>
          <p:cNvGrpSpPr/>
          <p:nvPr/>
        </p:nvGrpSpPr>
        <p:grpSpPr>
          <a:xfrm>
            <a:off x="1143000" y="4953000"/>
            <a:ext cx="457200" cy="457200"/>
            <a:chOff x="1344" y="1248"/>
            <a:chExt cx="288" cy="288"/>
          </a:xfrm>
        </p:grpSpPr>
        <p:sp>
          <p:nvSpPr>
            <p:cNvPr id="402" name="Google Shape;402;p16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03" name="Google Shape;403;p16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H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404" name="Google Shape;404;p16"/>
          <p:cNvCxnSpPr/>
          <p:nvPr/>
        </p:nvCxnSpPr>
        <p:spPr>
          <a:xfrm flipH="1">
            <a:off x="1524000" y="3581400"/>
            <a:ext cx="9144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5" name="Google Shape;405;p16"/>
          <p:cNvCxnSpPr/>
          <p:nvPr/>
        </p:nvCxnSpPr>
        <p:spPr>
          <a:xfrm flipH="1">
            <a:off x="1371600" y="4495800"/>
            <a:ext cx="2286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6" name="Google Shape;406;p16"/>
          <p:cNvCxnSpPr/>
          <p:nvPr/>
        </p:nvCxnSpPr>
        <p:spPr>
          <a:xfrm>
            <a:off x="1371600" y="5410200"/>
            <a:ext cx="7620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7" name="Google Shape;407;p16"/>
          <p:cNvSpPr txBox="1"/>
          <p:nvPr/>
        </p:nvSpPr>
        <p:spPr>
          <a:xfrm>
            <a:off x="1600200" y="3505200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80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408" name="Google Shape;408;p16"/>
          <p:cNvCxnSpPr/>
          <p:nvPr/>
        </p:nvCxnSpPr>
        <p:spPr>
          <a:xfrm>
            <a:off x="2362200" y="2438400"/>
            <a:ext cx="106680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9" name="Google Shape;409;p16"/>
          <p:cNvCxnSpPr/>
          <p:nvPr/>
        </p:nvCxnSpPr>
        <p:spPr>
          <a:xfrm>
            <a:off x="2362200" y="2438400"/>
            <a:ext cx="762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0" name="Google Shape;410;p16"/>
          <p:cNvCxnSpPr/>
          <p:nvPr/>
        </p:nvCxnSpPr>
        <p:spPr>
          <a:xfrm flipH="1">
            <a:off x="1295400" y="2438400"/>
            <a:ext cx="1066800" cy="22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1" name="Google Shape;411;p16"/>
          <p:cNvCxnSpPr/>
          <p:nvPr/>
        </p:nvCxnSpPr>
        <p:spPr>
          <a:xfrm flipH="1">
            <a:off x="762000" y="3124200"/>
            <a:ext cx="533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2" name="Google Shape;412;p16"/>
          <p:cNvSpPr txBox="1"/>
          <p:nvPr/>
        </p:nvSpPr>
        <p:spPr>
          <a:xfrm>
            <a:off x="2590800" y="18288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Start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13" name="Google Shape;413;p16"/>
          <p:cNvSpPr txBox="1"/>
          <p:nvPr/>
        </p:nvSpPr>
        <p:spPr>
          <a:xfrm>
            <a:off x="2438400" y="60198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Goal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14" name="Google Shape;414;p16"/>
          <p:cNvSpPr txBox="1"/>
          <p:nvPr/>
        </p:nvSpPr>
        <p:spPr>
          <a:xfrm>
            <a:off x="990600" y="4572000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97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15" name="Google Shape;415;p16"/>
          <p:cNvSpPr txBox="1"/>
          <p:nvPr/>
        </p:nvSpPr>
        <p:spPr>
          <a:xfrm>
            <a:off x="1295400" y="5486400"/>
            <a:ext cx="838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101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16" name="Google Shape;416;p16"/>
          <p:cNvSpPr txBox="1"/>
          <p:nvPr/>
        </p:nvSpPr>
        <p:spPr>
          <a:xfrm>
            <a:off x="2819400" y="2133600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75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17" name="Google Shape;417;p16"/>
          <p:cNvSpPr txBox="1"/>
          <p:nvPr/>
        </p:nvSpPr>
        <p:spPr>
          <a:xfrm>
            <a:off x="1371600" y="22098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118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18" name="Google Shape;418;p16"/>
          <p:cNvSpPr txBox="1"/>
          <p:nvPr/>
        </p:nvSpPr>
        <p:spPr>
          <a:xfrm>
            <a:off x="381000" y="30480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111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19" name="Google Shape;419;p16"/>
          <p:cNvSpPr txBox="1"/>
          <p:nvPr/>
        </p:nvSpPr>
        <p:spPr>
          <a:xfrm>
            <a:off x="3657600" y="5943600"/>
            <a:ext cx="54864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f(n) = h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1" i="1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</a:t>
            </a:r>
            <a:r>
              <a:rPr b="1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 = straight-line distance heuristic</a:t>
            </a:r>
            <a:endParaRPr b="1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aphicFrame>
        <p:nvGraphicFramePr>
          <p:cNvPr id="420" name="Google Shape;420;p16"/>
          <p:cNvGraphicFramePr/>
          <p:nvPr/>
        </p:nvGraphicFramePr>
        <p:xfrm>
          <a:off x="5145088" y="18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{B90EF8FA-749B-4DD1-AEA0-74944B5BCE82}</a:tableStyleId>
              </a:tblPr>
              <a:tblGrid>
                <a:gridCol w="1905000"/>
                <a:gridCol w="1905000"/>
              </a:tblGrid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State</a:t>
                      </a:r>
                      <a:endParaRPr b="1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Heuristic: h(n)</a:t>
                      </a:r>
                      <a:endParaRPr b="1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366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B</a:t>
                      </a:r>
                      <a:endParaRPr b="1" i="0" sz="1800" u="none" cap="none" strike="noStrike">
                        <a:solidFill>
                          <a:schemeClr val="hlink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374</a:t>
                      </a:r>
                      <a:endParaRPr b="1" i="0" sz="1800" u="none" cap="none" strike="noStrike">
                        <a:solidFill>
                          <a:schemeClr val="hlink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C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329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D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244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E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253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F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178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G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193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H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98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I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421" name="Google Shape;421;p16"/>
          <p:cNvCxnSpPr>
            <a:stCxn id="381" idx="2"/>
            <a:endCxn id="422" idx="0"/>
          </p:cNvCxnSpPr>
          <p:nvPr/>
        </p:nvCxnSpPr>
        <p:spPr>
          <a:xfrm flipH="1">
            <a:off x="2124000" y="2957513"/>
            <a:ext cx="1305000" cy="2742900"/>
          </a:xfrm>
          <a:prstGeom prst="straightConnector1">
            <a:avLst/>
          </a:prstGeom>
          <a:noFill/>
          <a:ln cap="flat" cmpd="sng" w="19050">
            <a:solidFill>
              <a:schemeClr val="hlink"/>
            </a:solidFill>
            <a:prstDash val="dot"/>
            <a:round/>
            <a:headEnd len="sm" w="sm" type="none"/>
            <a:tailEnd len="med" w="med" type="triangle"/>
          </a:ln>
        </p:spPr>
      </p:cxnSp>
      <p:sp>
        <p:nvSpPr>
          <p:cNvPr id="423" name="Google Shape;423;p16"/>
          <p:cNvSpPr txBox="1"/>
          <p:nvPr/>
        </p:nvSpPr>
        <p:spPr>
          <a:xfrm>
            <a:off x="2362200" y="2681288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140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22" name="Google Shape;422;p16"/>
          <p:cNvSpPr/>
          <p:nvPr/>
        </p:nvSpPr>
        <p:spPr>
          <a:xfrm>
            <a:off x="1885939" y="5700474"/>
            <a:ext cx="476400" cy="4764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</a:t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7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9" name="Google Shape;429;p17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Greedy Search</a:t>
            </a:r>
            <a:endParaRPr/>
          </a:p>
        </p:txBody>
      </p:sp>
      <p:grpSp>
        <p:nvGrpSpPr>
          <p:cNvPr id="430" name="Google Shape;430;p17"/>
          <p:cNvGrpSpPr/>
          <p:nvPr/>
        </p:nvGrpSpPr>
        <p:grpSpPr>
          <a:xfrm>
            <a:off x="2133600" y="1981200"/>
            <a:ext cx="457200" cy="457200"/>
            <a:chOff x="1344" y="1248"/>
            <a:chExt cx="288" cy="288"/>
          </a:xfrm>
        </p:grpSpPr>
        <p:sp>
          <p:nvSpPr>
            <p:cNvPr id="431" name="Google Shape;431;p17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32" name="Google Shape;432;p17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A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433" name="Google Shape;433;p17"/>
          <p:cNvGrpSpPr/>
          <p:nvPr/>
        </p:nvGrpSpPr>
        <p:grpSpPr>
          <a:xfrm>
            <a:off x="3200400" y="2514600"/>
            <a:ext cx="457200" cy="457200"/>
            <a:chOff x="1344" y="1248"/>
            <a:chExt cx="288" cy="288"/>
          </a:xfrm>
        </p:grpSpPr>
        <p:sp>
          <p:nvSpPr>
            <p:cNvPr id="434" name="Google Shape;434;p17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35" name="Google Shape;435;p17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B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436" name="Google Shape;436;p17"/>
          <p:cNvGrpSpPr/>
          <p:nvPr/>
        </p:nvGrpSpPr>
        <p:grpSpPr>
          <a:xfrm>
            <a:off x="533400" y="3429000"/>
            <a:ext cx="457200" cy="457200"/>
            <a:chOff x="1344" y="1248"/>
            <a:chExt cx="288" cy="288"/>
          </a:xfrm>
        </p:grpSpPr>
        <p:sp>
          <p:nvSpPr>
            <p:cNvPr id="437" name="Google Shape;437;p17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38" name="Google Shape;438;p17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439" name="Google Shape;439;p17"/>
          <p:cNvGrpSpPr/>
          <p:nvPr/>
        </p:nvGrpSpPr>
        <p:grpSpPr>
          <a:xfrm>
            <a:off x="1066800" y="2667000"/>
            <a:ext cx="457200" cy="457200"/>
            <a:chOff x="1344" y="1248"/>
            <a:chExt cx="288" cy="288"/>
          </a:xfrm>
        </p:grpSpPr>
        <p:sp>
          <p:nvSpPr>
            <p:cNvPr id="440" name="Google Shape;440;p17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41" name="Google Shape;441;p17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C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442" name="Google Shape;442;p17"/>
          <p:cNvGrpSpPr/>
          <p:nvPr/>
        </p:nvGrpSpPr>
        <p:grpSpPr>
          <a:xfrm>
            <a:off x="2209800" y="3124200"/>
            <a:ext cx="457200" cy="457200"/>
            <a:chOff x="1344" y="1248"/>
            <a:chExt cx="288" cy="288"/>
          </a:xfrm>
        </p:grpSpPr>
        <p:sp>
          <p:nvSpPr>
            <p:cNvPr id="443" name="Google Shape;443;p17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44" name="Google Shape;444;p17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E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445" name="Google Shape;445;p17"/>
          <p:cNvGrpSpPr/>
          <p:nvPr/>
        </p:nvGrpSpPr>
        <p:grpSpPr>
          <a:xfrm>
            <a:off x="2895600" y="4038600"/>
            <a:ext cx="457200" cy="457200"/>
            <a:chOff x="1344" y="1248"/>
            <a:chExt cx="288" cy="288"/>
          </a:xfrm>
        </p:grpSpPr>
        <p:sp>
          <p:nvSpPr>
            <p:cNvPr id="446" name="Google Shape;446;p17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47" name="Google Shape;447;p17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F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448" name="Google Shape;448;p17"/>
          <p:cNvCxnSpPr/>
          <p:nvPr/>
        </p:nvCxnSpPr>
        <p:spPr>
          <a:xfrm>
            <a:off x="2438400" y="3581400"/>
            <a:ext cx="6096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9" name="Google Shape;449;p17"/>
          <p:cNvCxnSpPr/>
          <p:nvPr/>
        </p:nvCxnSpPr>
        <p:spPr>
          <a:xfrm flipH="1">
            <a:off x="2133600" y="4495800"/>
            <a:ext cx="990600" cy="1219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0" name="Google Shape;450;p17"/>
          <p:cNvSpPr txBox="1"/>
          <p:nvPr/>
        </p:nvSpPr>
        <p:spPr>
          <a:xfrm>
            <a:off x="2667000" y="3505200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99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51" name="Google Shape;451;p17"/>
          <p:cNvSpPr txBox="1"/>
          <p:nvPr/>
        </p:nvSpPr>
        <p:spPr>
          <a:xfrm>
            <a:off x="2667000" y="51054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211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452" name="Google Shape;452;p17"/>
          <p:cNvGrpSpPr/>
          <p:nvPr/>
        </p:nvGrpSpPr>
        <p:grpSpPr>
          <a:xfrm>
            <a:off x="1371600" y="4038600"/>
            <a:ext cx="457200" cy="457200"/>
            <a:chOff x="1344" y="1248"/>
            <a:chExt cx="288" cy="288"/>
          </a:xfrm>
        </p:grpSpPr>
        <p:sp>
          <p:nvSpPr>
            <p:cNvPr id="453" name="Google Shape;453;p17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54" name="Google Shape;454;p17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G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455" name="Google Shape;455;p17"/>
          <p:cNvGrpSpPr/>
          <p:nvPr/>
        </p:nvGrpSpPr>
        <p:grpSpPr>
          <a:xfrm>
            <a:off x="1143000" y="4953000"/>
            <a:ext cx="457200" cy="457200"/>
            <a:chOff x="1344" y="1248"/>
            <a:chExt cx="288" cy="288"/>
          </a:xfrm>
        </p:grpSpPr>
        <p:sp>
          <p:nvSpPr>
            <p:cNvPr id="456" name="Google Shape;456;p17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57" name="Google Shape;457;p17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H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458" name="Google Shape;458;p17"/>
          <p:cNvCxnSpPr/>
          <p:nvPr/>
        </p:nvCxnSpPr>
        <p:spPr>
          <a:xfrm flipH="1">
            <a:off x="1524000" y="3581400"/>
            <a:ext cx="9144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9" name="Google Shape;459;p17"/>
          <p:cNvCxnSpPr/>
          <p:nvPr/>
        </p:nvCxnSpPr>
        <p:spPr>
          <a:xfrm flipH="1">
            <a:off x="1371600" y="4495800"/>
            <a:ext cx="2286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0" name="Google Shape;460;p17"/>
          <p:cNvCxnSpPr/>
          <p:nvPr/>
        </p:nvCxnSpPr>
        <p:spPr>
          <a:xfrm>
            <a:off x="1371600" y="5410200"/>
            <a:ext cx="7620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1" name="Google Shape;461;p17"/>
          <p:cNvSpPr txBox="1"/>
          <p:nvPr/>
        </p:nvSpPr>
        <p:spPr>
          <a:xfrm>
            <a:off x="1600200" y="3505200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80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462" name="Google Shape;462;p17"/>
          <p:cNvCxnSpPr/>
          <p:nvPr/>
        </p:nvCxnSpPr>
        <p:spPr>
          <a:xfrm>
            <a:off x="2362200" y="2438400"/>
            <a:ext cx="106680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3" name="Google Shape;463;p17"/>
          <p:cNvCxnSpPr/>
          <p:nvPr/>
        </p:nvCxnSpPr>
        <p:spPr>
          <a:xfrm>
            <a:off x="2362200" y="2438400"/>
            <a:ext cx="762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4" name="Google Shape;464;p17"/>
          <p:cNvCxnSpPr/>
          <p:nvPr/>
        </p:nvCxnSpPr>
        <p:spPr>
          <a:xfrm flipH="1">
            <a:off x="1295400" y="2438400"/>
            <a:ext cx="1066800" cy="22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5" name="Google Shape;465;p17"/>
          <p:cNvCxnSpPr/>
          <p:nvPr/>
        </p:nvCxnSpPr>
        <p:spPr>
          <a:xfrm flipH="1">
            <a:off x="762000" y="3124200"/>
            <a:ext cx="533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6" name="Google Shape;466;p17"/>
          <p:cNvSpPr txBox="1"/>
          <p:nvPr/>
        </p:nvSpPr>
        <p:spPr>
          <a:xfrm>
            <a:off x="2590800" y="18288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Start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67" name="Google Shape;467;p17"/>
          <p:cNvSpPr txBox="1"/>
          <p:nvPr/>
        </p:nvSpPr>
        <p:spPr>
          <a:xfrm>
            <a:off x="2438400" y="60198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Goal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68" name="Google Shape;468;p17"/>
          <p:cNvSpPr txBox="1"/>
          <p:nvPr/>
        </p:nvSpPr>
        <p:spPr>
          <a:xfrm>
            <a:off x="990600" y="4572000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97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69" name="Google Shape;469;p17"/>
          <p:cNvSpPr txBox="1"/>
          <p:nvPr/>
        </p:nvSpPr>
        <p:spPr>
          <a:xfrm>
            <a:off x="1295400" y="5486400"/>
            <a:ext cx="838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101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70" name="Google Shape;470;p17"/>
          <p:cNvSpPr txBox="1"/>
          <p:nvPr/>
        </p:nvSpPr>
        <p:spPr>
          <a:xfrm>
            <a:off x="2819400" y="2133600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75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71" name="Google Shape;471;p17"/>
          <p:cNvSpPr txBox="1"/>
          <p:nvPr/>
        </p:nvSpPr>
        <p:spPr>
          <a:xfrm>
            <a:off x="1371600" y="22098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118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72" name="Google Shape;472;p17"/>
          <p:cNvSpPr txBox="1"/>
          <p:nvPr/>
        </p:nvSpPr>
        <p:spPr>
          <a:xfrm>
            <a:off x="381000" y="30480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111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73" name="Google Shape;473;p17"/>
          <p:cNvSpPr txBox="1"/>
          <p:nvPr/>
        </p:nvSpPr>
        <p:spPr>
          <a:xfrm>
            <a:off x="3657600" y="5943600"/>
            <a:ext cx="54864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f(n) = h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1" i="1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</a:t>
            </a:r>
            <a:r>
              <a:rPr b="1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 = straight-line distance heuristic</a:t>
            </a:r>
            <a:endParaRPr b="1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aphicFrame>
        <p:nvGraphicFramePr>
          <p:cNvPr id="474" name="Google Shape;474;p17"/>
          <p:cNvGraphicFramePr/>
          <p:nvPr/>
        </p:nvGraphicFramePr>
        <p:xfrm>
          <a:off x="5145088" y="18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{B90EF8FA-749B-4DD1-AEA0-74944B5BCE82}</a:tableStyleId>
              </a:tblPr>
              <a:tblGrid>
                <a:gridCol w="1905000"/>
                <a:gridCol w="1905000"/>
              </a:tblGrid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State</a:t>
                      </a:r>
                      <a:endParaRPr b="1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Heuristic: h(n)</a:t>
                      </a:r>
                      <a:endParaRPr b="1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366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B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374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C</a:t>
                      </a:r>
                      <a:endParaRPr b="1" i="0" sz="1800" u="none" cap="none" strike="noStrike">
                        <a:solidFill>
                          <a:schemeClr val="hlink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329</a:t>
                      </a:r>
                      <a:endParaRPr b="1" i="0" sz="1800" u="none" cap="none" strike="noStrike">
                        <a:solidFill>
                          <a:schemeClr val="hlink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D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244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E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253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F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178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G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193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H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98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I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475" name="Google Shape;475;p17"/>
          <p:cNvCxnSpPr>
            <a:stCxn id="441" idx="2"/>
            <a:endCxn id="476" idx="0"/>
          </p:cNvCxnSpPr>
          <p:nvPr/>
        </p:nvCxnSpPr>
        <p:spPr>
          <a:xfrm>
            <a:off x="1295400" y="3109913"/>
            <a:ext cx="828600" cy="2590500"/>
          </a:xfrm>
          <a:prstGeom prst="straightConnector1">
            <a:avLst/>
          </a:prstGeom>
          <a:noFill/>
          <a:ln cap="flat" cmpd="sng" w="19050">
            <a:solidFill>
              <a:schemeClr val="hlink"/>
            </a:solidFill>
            <a:prstDash val="dot"/>
            <a:round/>
            <a:headEnd len="sm" w="sm" type="none"/>
            <a:tailEnd len="med" w="med" type="triangle"/>
          </a:ln>
        </p:spPr>
      </p:cxnSp>
      <p:sp>
        <p:nvSpPr>
          <p:cNvPr id="477" name="Google Shape;477;p17"/>
          <p:cNvSpPr txBox="1"/>
          <p:nvPr/>
        </p:nvSpPr>
        <p:spPr>
          <a:xfrm>
            <a:off x="2362200" y="2681288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140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76" name="Google Shape;476;p17"/>
          <p:cNvSpPr/>
          <p:nvPr/>
        </p:nvSpPr>
        <p:spPr>
          <a:xfrm>
            <a:off x="1885939" y="5700474"/>
            <a:ext cx="476400" cy="4764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</a:t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8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3" name="Google Shape;483;p18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Greedy Search</a:t>
            </a:r>
            <a:endParaRPr/>
          </a:p>
        </p:txBody>
      </p:sp>
      <p:grpSp>
        <p:nvGrpSpPr>
          <p:cNvPr id="484" name="Google Shape;484;p18"/>
          <p:cNvGrpSpPr/>
          <p:nvPr/>
        </p:nvGrpSpPr>
        <p:grpSpPr>
          <a:xfrm>
            <a:off x="2133600" y="1981200"/>
            <a:ext cx="457200" cy="457200"/>
            <a:chOff x="1344" y="1248"/>
            <a:chExt cx="288" cy="288"/>
          </a:xfrm>
        </p:grpSpPr>
        <p:sp>
          <p:nvSpPr>
            <p:cNvPr id="485" name="Google Shape;485;p18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86" name="Google Shape;486;p18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A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487" name="Google Shape;487;p18"/>
          <p:cNvGrpSpPr/>
          <p:nvPr/>
        </p:nvGrpSpPr>
        <p:grpSpPr>
          <a:xfrm>
            <a:off x="3200400" y="2514600"/>
            <a:ext cx="457200" cy="457200"/>
            <a:chOff x="1344" y="1248"/>
            <a:chExt cx="288" cy="288"/>
          </a:xfrm>
        </p:grpSpPr>
        <p:sp>
          <p:nvSpPr>
            <p:cNvPr id="488" name="Google Shape;488;p18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89" name="Google Shape;489;p18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B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490" name="Google Shape;490;p18"/>
          <p:cNvGrpSpPr/>
          <p:nvPr/>
        </p:nvGrpSpPr>
        <p:grpSpPr>
          <a:xfrm>
            <a:off x="533400" y="3429000"/>
            <a:ext cx="457200" cy="457200"/>
            <a:chOff x="1344" y="1248"/>
            <a:chExt cx="288" cy="288"/>
          </a:xfrm>
        </p:grpSpPr>
        <p:sp>
          <p:nvSpPr>
            <p:cNvPr id="491" name="Google Shape;491;p18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92" name="Google Shape;492;p18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493" name="Google Shape;493;p18"/>
          <p:cNvGrpSpPr/>
          <p:nvPr/>
        </p:nvGrpSpPr>
        <p:grpSpPr>
          <a:xfrm>
            <a:off x="1066800" y="2667000"/>
            <a:ext cx="457200" cy="457200"/>
            <a:chOff x="1344" y="1248"/>
            <a:chExt cx="288" cy="288"/>
          </a:xfrm>
        </p:grpSpPr>
        <p:sp>
          <p:nvSpPr>
            <p:cNvPr id="494" name="Google Shape;494;p18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95" name="Google Shape;495;p18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C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496" name="Google Shape;496;p18"/>
          <p:cNvGrpSpPr/>
          <p:nvPr/>
        </p:nvGrpSpPr>
        <p:grpSpPr>
          <a:xfrm>
            <a:off x="2209800" y="3124200"/>
            <a:ext cx="457200" cy="457200"/>
            <a:chOff x="1344" y="1248"/>
            <a:chExt cx="288" cy="288"/>
          </a:xfrm>
        </p:grpSpPr>
        <p:sp>
          <p:nvSpPr>
            <p:cNvPr id="497" name="Google Shape;497;p18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98" name="Google Shape;498;p18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E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499" name="Google Shape;499;p18"/>
          <p:cNvGrpSpPr/>
          <p:nvPr/>
        </p:nvGrpSpPr>
        <p:grpSpPr>
          <a:xfrm>
            <a:off x="2895600" y="4038600"/>
            <a:ext cx="457200" cy="457200"/>
            <a:chOff x="1344" y="1248"/>
            <a:chExt cx="288" cy="288"/>
          </a:xfrm>
        </p:grpSpPr>
        <p:sp>
          <p:nvSpPr>
            <p:cNvPr id="500" name="Google Shape;500;p18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01" name="Google Shape;501;p18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F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502" name="Google Shape;502;p18"/>
          <p:cNvCxnSpPr/>
          <p:nvPr/>
        </p:nvCxnSpPr>
        <p:spPr>
          <a:xfrm>
            <a:off x="2438400" y="3581400"/>
            <a:ext cx="6096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3" name="Google Shape;503;p18"/>
          <p:cNvCxnSpPr/>
          <p:nvPr/>
        </p:nvCxnSpPr>
        <p:spPr>
          <a:xfrm flipH="1">
            <a:off x="2133600" y="4495800"/>
            <a:ext cx="990600" cy="1219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4" name="Google Shape;504;p18"/>
          <p:cNvSpPr txBox="1"/>
          <p:nvPr/>
        </p:nvSpPr>
        <p:spPr>
          <a:xfrm>
            <a:off x="2667000" y="3505200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99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05" name="Google Shape;505;p18"/>
          <p:cNvSpPr txBox="1"/>
          <p:nvPr/>
        </p:nvSpPr>
        <p:spPr>
          <a:xfrm>
            <a:off x="2667000" y="51054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211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506" name="Google Shape;506;p18"/>
          <p:cNvGrpSpPr/>
          <p:nvPr/>
        </p:nvGrpSpPr>
        <p:grpSpPr>
          <a:xfrm>
            <a:off x="1371600" y="4038600"/>
            <a:ext cx="457200" cy="457200"/>
            <a:chOff x="1344" y="1248"/>
            <a:chExt cx="288" cy="288"/>
          </a:xfrm>
        </p:grpSpPr>
        <p:sp>
          <p:nvSpPr>
            <p:cNvPr id="507" name="Google Shape;507;p18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08" name="Google Shape;508;p18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G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509" name="Google Shape;509;p18"/>
          <p:cNvGrpSpPr/>
          <p:nvPr/>
        </p:nvGrpSpPr>
        <p:grpSpPr>
          <a:xfrm>
            <a:off x="1143000" y="4953000"/>
            <a:ext cx="457200" cy="457200"/>
            <a:chOff x="1344" y="1248"/>
            <a:chExt cx="288" cy="288"/>
          </a:xfrm>
        </p:grpSpPr>
        <p:sp>
          <p:nvSpPr>
            <p:cNvPr id="510" name="Google Shape;510;p18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11" name="Google Shape;511;p18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H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512" name="Google Shape;512;p18"/>
          <p:cNvCxnSpPr/>
          <p:nvPr/>
        </p:nvCxnSpPr>
        <p:spPr>
          <a:xfrm flipH="1">
            <a:off x="1524000" y="3581400"/>
            <a:ext cx="9144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3" name="Google Shape;513;p18"/>
          <p:cNvCxnSpPr/>
          <p:nvPr/>
        </p:nvCxnSpPr>
        <p:spPr>
          <a:xfrm flipH="1">
            <a:off x="1371600" y="4495800"/>
            <a:ext cx="2286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4" name="Google Shape;514;p18"/>
          <p:cNvCxnSpPr/>
          <p:nvPr/>
        </p:nvCxnSpPr>
        <p:spPr>
          <a:xfrm>
            <a:off x="1371600" y="5410200"/>
            <a:ext cx="7620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5" name="Google Shape;515;p18"/>
          <p:cNvSpPr txBox="1"/>
          <p:nvPr/>
        </p:nvSpPr>
        <p:spPr>
          <a:xfrm>
            <a:off x="1600200" y="3505200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80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516" name="Google Shape;516;p18"/>
          <p:cNvCxnSpPr/>
          <p:nvPr/>
        </p:nvCxnSpPr>
        <p:spPr>
          <a:xfrm>
            <a:off x="2362200" y="2438400"/>
            <a:ext cx="106680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7" name="Google Shape;517;p18"/>
          <p:cNvCxnSpPr/>
          <p:nvPr/>
        </p:nvCxnSpPr>
        <p:spPr>
          <a:xfrm>
            <a:off x="2362200" y="2438400"/>
            <a:ext cx="762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8" name="Google Shape;518;p18"/>
          <p:cNvCxnSpPr/>
          <p:nvPr/>
        </p:nvCxnSpPr>
        <p:spPr>
          <a:xfrm flipH="1">
            <a:off x="1295400" y="2438400"/>
            <a:ext cx="1066800" cy="22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9" name="Google Shape;519;p18"/>
          <p:cNvCxnSpPr/>
          <p:nvPr/>
        </p:nvCxnSpPr>
        <p:spPr>
          <a:xfrm flipH="1">
            <a:off x="762000" y="3124200"/>
            <a:ext cx="533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0" name="Google Shape;520;p18"/>
          <p:cNvSpPr txBox="1"/>
          <p:nvPr/>
        </p:nvSpPr>
        <p:spPr>
          <a:xfrm>
            <a:off x="2590800" y="18288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Start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21" name="Google Shape;521;p18"/>
          <p:cNvSpPr txBox="1"/>
          <p:nvPr/>
        </p:nvSpPr>
        <p:spPr>
          <a:xfrm>
            <a:off x="2438400" y="60198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Goal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22" name="Google Shape;522;p18"/>
          <p:cNvSpPr txBox="1"/>
          <p:nvPr/>
        </p:nvSpPr>
        <p:spPr>
          <a:xfrm>
            <a:off x="990600" y="4572000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97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23" name="Google Shape;523;p18"/>
          <p:cNvSpPr txBox="1"/>
          <p:nvPr/>
        </p:nvSpPr>
        <p:spPr>
          <a:xfrm>
            <a:off x="1295400" y="5486400"/>
            <a:ext cx="838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101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24" name="Google Shape;524;p18"/>
          <p:cNvSpPr txBox="1"/>
          <p:nvPr/>
        </p:nvSpPr>
        <p:spPr>
          <a:xfrm>
            <a:off x="2819400" y="2133600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75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25" name="Google Shape;525;p18"/>
          <p:cNvSpPr txBox="1"/>
          <p:nvPr/>
        </p:nvSpPr>
        <p:spPr>
          <a:xfrm>
            <a:off x="1371600" y="22098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118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26" name="Google Shape;526;p18"/>
          <p:cNvSpPr txBox="1"/>
          <p:nvPr/>
        </p:nvSpPr>
        <p:spPr>
          <a:xfrm>
            <a:off x="381000" y="30480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111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27" name="Google Shape;527;p18"/>
          <p:cNvSpPr txBox="1"/>
          <p:nvPr/>
        </p:nvSpPr>
        <p:spPr>
          <a:xfrm>
            <a:off x="3657600" y="5943600"/>
            <a:ext cx="54864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f(n) = h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1" i="1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</a:t>
            </a:r>
            <a:r>
              <a:rPr b="1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 = straight-line distance heuristic</a:t>
            </a:r>
            <a:endParaRPr b="1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aphicFrame>
        <p:nvGraphicFramePr>
          <p:cNvPr id="528" name="Google Shape;528;p18"/>
          <p:cNvGraphicFramePr/>
          <p:nvPr/>
        </p:nvGraphicFramePr>
        <p:xfrm>
          <a:off x="5145088" y="18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{B90EF8FA-749B-4DD1-AEA0-74944B5BCE82}</a:tableStyleId>
              </a:tblPr>
              <a:tblGrid>
                <a:gridCol w="1905000"/>
                <a:gridCol w="1905000"/>
              </a:tblGrid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State</a:t>
                      </a:r>
                      <a:endParaRPr b="1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Heuristic: h(n)</a:t>
                      </a:r>
                      <a:endParaRPr b="1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366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B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374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C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329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D</a:t>
                      </a:r>
                      <a:endParaRPr b="1" i="0" sz="1800" u="none" cap="none" strike="noStrike">
                        <a:solidFill>
                          <a:schemeClr val="hlink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244</a:t>
                      </a:r>
                      <a:endParaRPr b="1" i="0" sz="1800" u="none" cap="none" strike="noStrike">
                        <a:solidFill>
                          <a:schemeClr val="hlink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E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253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F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178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G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193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H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98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I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529" name="Google Shape;529;p18"/>
          <p:cNvCxnSpPr>
            <a:stCxn id="492" idx="2"/>
            <a:endCxn id="530" idx="0"/>
          </p:cNvCxnSpPr>
          <p:nvPr/>
        </p:nvCxnSpPr>
        <p:spPr>
          <a:xfrm>
            <a:off x="762000" y="3871913"/>
            <a:ext cx="1362000" cy="1828500"/>
          </a:xfrm>
          <a:prstGeom prst="straightConnector1">
            <a:avLst/>
          </a:prstGeom>
          <a:noFill/>
          <a:ln cap="flat" cmpd="sng" w="19050">
            <a:solidFill>
              <a:schemeClr val="hlink"/>
            </a:solidFill>
            <a:prstDash val="dot"/>
            <a:round/>
            <a:headEnd len="sm" w="sm" type="none"/>
            <a:tailEnd len="med" w="med" type="triangle"/>
          </a:ln>
        </p:spPr>
      </p:cxnSp>
      <p:sp>
        <p:nvSpPr>
          <p:cNvPr id="531" name="Google Shape;531;p18"/>
          <p:cNvSpPr txBox="1"/>
          <p:nvPr/>
        </p:nvSpPr>
        <p:spPr>
          <a:xfrm>
            <a:off x="2362200" y="2681288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140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30" name="Google Shape;530;p18"/>
          <p:cNvSpPr/>
          <p:nvPr/>
        </p:nvSpPr>
        <p:spPr>
          <a:xfrm>
            <a:off x="1885939" y="5700474"/>
            <a:ext cx="476400" cy="4764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</a:t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19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7" name="Google Shape;537;p19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Greedy Search</a:t>
            </a:r>
            <a:endParaRPr/>
          </a:p>
        </p:txBody>
      </p:sp>
      <p:grpSp>
        <p:nvGrpSpPr>
          <p:cNvPr id="538" name="Google Shape;538;p19"/>
          <p:cNvGrpSpPr/>
          <p:nvPr/>
        </p:nvGrpSpPr>
        <p:grpSpPr>
          <a:xfrm>
            <a:off x="2133600" y="1981200"/>
            <a:ext cx="457200" cy="457200"/>
            <a:chOff x="1344" y="1248"/>
            <a:chExt cx="288" cy="288"/>
          </a:xfrm>
        </p:grpSpPr>
        <p:sp>
          <p:nvSpPr>
            <p:cNvPr id="539" name="Google Shape;539;p19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40" name="Google Shape;540;p19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A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541" name="Google Shape;541;p19"/>
          <p:cNvGrpSpPr/>
          <p:nvPr/>
        </p:nvGrpSpPr>
        <p:grpSpPr>
          <a:xfrm>
            <a:off x="3200400" y="2514600"/>
            <a:ext cx="457200" cy="457200"/>
            <a:chOff x="1344" y="1248"/>
            <a:chExt cx="288" cy="288"/>
          </a:xfrm>
        </p:grpSpPr>
        <p:sp>
          <p:nvSpPr>
            <p:cNvPr id="542" name="Google Shape;542;p19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43" name="Google Shape;543;p19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B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544" name="Google Shape;544;p19"/>
          <p:cNvGrpSpPr/>
          <p:nvPr/>
        </p:nvGrpSpPr>
        <p:grpSpPr>
          <a:xfrm>
            <a:off x="533400" y="3429000"/>
            <a:ext cx="457200" cy="457200"/>
            <a:chOff x="1344" y="1248"/>
            <a:chExt cx="288" cy="288"/>
          </a:xfrm>
        </p:grpSpPr>
        <p:sp>
          <p:nvSpPr>
            <p:cNvPr id="545" name="Google Shape;545;p19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46" name="Google Shape;546;p19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547" name="Google Shape;547;p19"/>
          <p:cNvGrpSpPr/>
          <p:nvPr/>
        </p:nvGrpSpPr>
        <p:grpSpPr>
          <a:xfrm>
            <a:off x="1066800" y="2667000"/>
            <a:ext cx="457200" cy="457200"/>
            <a:chOff x="1344" y="1248"/>
            <a:chExt cx="288" cy="288"/>
          </a:xfrm>
        </p:grpSpPr>
        <p:sp>
          <p:nvSpPr>
            <p:cNvPr id="548" name="Google Shape;548;p19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49" name="Google Shape;549;p19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C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550" name="Google Shape;550;p19"/>
          <p:cNvGrpSpPr/>
          <p:nvPr/>
        </p:nvGrpSpPr>
        <p:grpSpPr>
          <a:xfrm>
            <a:off x="2209800" y="3124200"/>
            <a:ext cx="457200" cy="457200"/>
            <a:chOff x="1344" y="1248"/>
            <a:chExt cx="288" cy="288"/>
          </a:xfrm>
        </p:grpSpPr>
        <p:sp>
          <p:nvSpPr>
            <p:cNvPr id="551" name="Google Shape;551;p19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52" name="Google Shape;552;p19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E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553" name="Google Shape;553;p19"/>
          <p:cNvGrpSpPr/>
          <p:nvPr/>
        </p:nvGrpSpPr>
        <p:grpSpPr>
          <a:xfrm>
            <a:off x="2895600" y="4038600"/>
            <a:ext cx="457200" cy="457200"/>
            <a:chOff x="1344" y="1248"/>
            <a:chExt cx="288" cy="288"/>
          </a:xfrm>
        </p:grpSpPr>
        <p:sp>
          <p:nvSpPr>
            <p:cNvPr id="554" name="Google Shape;554;p19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55" name="Google Shape;555;p19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F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556" name="Google Shape;556;p19"/>
          <p:cNvCxnSpPr/>
          <p:nvPr/>
        </p:nvCxnSpPr>
        <p:spPr>
          <a:xfrm>
            <a:off x="2438400" y="3581400"/>
            <a:ext cx="6096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7" name="Google Shape;557;p19"/>
          <p:cNvCxnSpPr/>
          <p:nvPr/>
        </p:nvCxnSpPr>
        <p:spPr>
          <a:xfrm flipH="1">
            <a:off x="2133600" y="4495800"/>
            <a:ext cx="990600" cy="1219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8" name="Google Shape;558;p19"/>
          <p:cNvSpPr txBox="1"/>
          <p:nvPr/>
        </p:nvSpPr>
        <p:spPr>
          <a:xfrm>
            <a:off x="2667000" y="3505200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99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59" name="Google Shape;559;p19"/>
          <p:cNvSpPr txBox="1"/>
          <p:nvPr/>
        </p:nvSpPr>
        <p:spPr>
          <a:xfrm>
            <a:off x="2590800" y="5074438"/>
            <a:ext cx="76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211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560" name="Google Shape;560;p19"/>
          <p:cNvGrpSpPr/>
          <p:nvPr/>
        </p:nvGrpSpPr>
        <p:grpSpPr>
          <a:xfrm>
            <a:off x="1371600" y="4038600"/>
            <a:ext cx="457200" cy="457200"/>
            <a:chOff x="1344" y="1248"/>
            <a:chExt cx="288" cy="288"/>
          </a:xfrm>
        </p:grpSpPr>
        <p:sp>
          <p:nvSpPr>
            <p:cNvPr id="561" name="Google Shape;561;p19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62" name="Google Shape;562;p19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G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563" name="Google Shape;563;p19"/>
          <p:cNvGrpSpPr/>
          <p:nvPr/>
        </p:nvGrpSpPr>
        <p:grpSpPr>
          <a:xfrm>
            <a:off x="1143000" y="4953000"/>
            <a:ext cx="457200" cy="457200"/>
            <a:chOff x="1344" y="1248"/>
            <a:chExt cx="288" cy="288"/>
          </a:xfrm>
        </p:grpSpPr>
        <p:sp>
          <p:nvSpPr>
            <p:cNvPr id="564" name="Google Shape;564;p19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65" name="Google Shape;565;p19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H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566" name="Google Shape;566;p19"/>
          <p:cNvCxnSpPr/>
          <p:nvPr/>
        </p:nvCxnSpPr>
        <p:spPr>
          <a:xfrm flipH="1">
            <a:off x="1524000" y="3581400"/>
            <a:ext cx="9144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7" name="Google Shape;567;p19"/>
          <p:cNvCxnSpPr/>
          <p:nvPr/>
        </p:nvCxnSpPr>
        <p:spPr>
          <a:xfrm flipH="1">
            <a:off x="1371600" y="4495800"/>
            <a:ext cx="2286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8" name="Google Shape;568;p19"/>
          <p:cNvCxnSpPr/>
          <p:nvPr/>
        </p:nvCxnSpPr>
        <p:spPr>
          <a:xfrm>
            <a:off x="1371600" y="5410200"/>
            <a:ext cx="7620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9" name="Google Shape;569;p19"/>
          <p:cNvSpPr txBox="1"/>
          <p:nvPr/>
        </p:nvSpPr>
        <p:spPr>
          <a:xfrm>
            <a:off x="1600200" y="3505200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80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570" name="Google Shape;570;p19"/>
          <p:cNvCxnSpPr/>
          <p:nvPr/>
        </p:nvCxnSpPr>
        <p:spPr>
          <a:xfrm>
            <a:off x="2362200" y="2438400"/>
            <a:ext cx="106680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1" name="Google Shape;571;p19"/>
          <p:cNvCxnSpPr/>
          <p:nvPr/>
        </p:nvCxnSpPr>
        <p:spPr>
          <a:xfrm>
            <a:off x="2362200" y="2438400"/>
            <a:ext cx="762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2" name="Google Shape;572;p19"/>
          <p:cNvCxnSpPr/>
          <p:nvPr/>
        </p:nvCxnSpPr>
        <p:spPr>
          <a:xfrm flipH="1">
            <a:off x="1295400" y="2438400"/>
            <a:ext cx="1066800" cy="22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3" name="Google Shape;573;p19"/>
          <p:cNvCxnSpPr/>
          <p:nvPr/>
        </p:nvCxnSpPr>
        <p:spPr>
          <a:xfrm flipH="1">
            <a:off x="762000" y="3124200"/>
            <a:ext cx="533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4" name="Google Shape;574;p19"/>
          <p:cNvSpPr txBox="1"/>
          <p:nvPr/>
        </p:nvSpPr>
        <p:spPr>
          <a:xfrm>
            <a:off x="2590800" y="18288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Start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75" name="Google Shape;575;p19"/>
          <p:cNvSpPr txBox="1"/>
          <p:nvPr/>
        </p:nvSpPr>
        <p:spPr>
          <a:xfrm>
            <a:off x="2438400" y="60198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Goal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76" name="Google Shape;576;p19"/>
          <p:cNvSpPr txBox="1"/>
          <p:nvPr/>
        </p:nvSpPr>
        <p:spPr>
          <a:xfrm>
            <a:off x="990600" y="4572000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97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77" name="Google Shape;577;p19"/>
          <p:cNvSpPr txBox="1"/>
          <p:nvPr/>
        </p:nvSpPr>
        <p:spPr>
          <a:xfrm>
            <a:off x="1295400" y="5486400"/>
            <a:ext cx="838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101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78" name="Google Shape;578;p19"/>
          <p:cNvSpPr txBox="1"/>
          <p:nvPr/>
        </p:nvSpPr>
        <p:spPr>
          <a:xfrm>
            <a:off x="2819400" y="2133600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75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79" name="Google Shape;579;p19"/>
          <p:cNvSpPr txBox="1"/>
          <p:nvPr/>
        </p:nvSpPr>
        <p:spPr>
          <a:xfrm>
            <a:off x="1371600" y="22098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118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80" name="Google Shape;580;p19"/>
          <p:cNvSpPr txBox="1"/>
          <p:nvPr/>
        </p:nvSpPr>
        <p:spPr>
          <a:xfrm>
            <a:off x="381000" y="30480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111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81" name="Google Shape;581;p19"/>
          <p:cNvSpPr txBox="1"/>
          <p:nvPr/>
        </p:nvSpPr>
        <p:spPr>
          <a:xfrm>
            <a:off x="3657600" y="5943600"/>
            <a:ext cx="54864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f(n) = h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1" i="1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</a:t>
            </a:r>
            <a:r>
              <a:rPr b="1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 = straight-line distance heuristic</a:t>
            </a:r>
            <a:endParaRPr b="1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aphicFrame>
        <p:nvGraphicFramePr>
          <p:cNvPr id="582" name="Google Shape;582;p19"/>
          <p:cNvGraphicFramePr/>
          <p:nvPr/>
        </p:nvGraphicFramePr>
        <p:xfrm>
          <a:off x="5145088" y="18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{B90EF8FA-749B-4DD1-AEA0-74944B5BCE82}</a:tableStyleId>
              </a:tblPr>
              <a:tblGrid>
                <a:gridCol w="1905000"/>
                <a:gridCol w="1905000"/>
              </a:tblGrid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State</a:t>
                      </a:r>
                      <a:endParaRPr b="1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Heuristic: h(n)</a:t>
                      </a:r>
                      <a:endParaRPr b="1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366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B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374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C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329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D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244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E</a:t>
                      </a:r>
                      <a:endParaRPr b="1" i="0" sz="1800" u="none" cap="none" strike="noStrike">
                        <a:solidFill>
                          <a:schemeClr val="hlink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253</a:t>
                      </a:r>
                      <a:endParaRPr b="1" i="0" sz="1800" u="none" cap="none" strike="noStrike">
                        <a:solidFill>
                          <a:schemeClr val="hlink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F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178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G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193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H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98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I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83" name="Google Shape;583;p19"/>
          <p:cNvSpPr txBox="1"/>
          <p:nvPr/>
        </p:nvSpPr>
        <p:spPr>
          <a:xfrm>
            <a:off x="2362200" y="2681288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140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584" name="Google Shape;584;p19"/>
          <p:cNvCxnSpPr>
            <a:stCxn id="552" idx="2"/>
            <a:endCxn id="585" idx="0"/>
          </p:cNvCxnSpPr>
          <p:nvPr/>
        </p:nvCxnSpPr>
        <p:spPr>
          <a:xfrm flipH="1">
            <a:off x="2124000" y="3567113"/>
            <a:ext cx="314400" cy="2133300"/>
          </a:xfrm>
          <a:prstGeom prst="straightConnector1">
            <a:avLst/>
          </a:prstGeom>
          <a:noFill/>
          <a:ln cap="flat" cmpd="sng" w="19050">
            <a:solidFill>
              <a:schemeClr val="hlink"/>
            </a:solidFill>
            <a:prstDash val="dot"/>
            <a:round/>
            <a:headEnd len="sm" w="sm" type="none"/>
            <a:tailEnd len="med" w="med" type="triangle"/>
          </a:ln>
        </p:spPr>
      </p:cxnSp>
      <p:sp>
        <p:nvSpPr>
          <p:cNvPr id="585" name="Google Shape;585;p19"/>
          <p:cNvSpPr/>
          <p:nvPr/>
        </p:nvSpPr>
        <p:spPr>
          <a:xfrm>
            <a:off x="1885939" y="5700474"/>
            <a:ext cx="476400" cy="4764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</a:t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20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1" name="Google Shape;591;p20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Greedy Search</a:t>
            </a:r>
            <a:endParaRPr/>
          </a:p>
        </p:txBody>
      </p:sp>
      <p:grpSp>
        <p:nvGrpSpPr>
          <p:cNvPr id="592" name="Google Shape;592;p20"/>
          <p:cNvGrpSpPr/>
          <p:nvPr/>
        </p:nvGrpSpPr>
        <p:grpSpPr>
          <a:xfrm>
            <a:off x="2133600" y="1981200"/>
            <a:ext cx="457200" cy="457200"/>
            <a:chOff x="1344" y="1248"/>
            <a:chExt cx="288" cy="288"/>
          </a:xfrm>
        </p:grpSpPr>
        <p:sp>
          <p:nvSpPr>
            <p:cNvPr id="593" name="Google Shape;593;p20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94" name="Google Shape;594;p20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A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595" name="Google Shape;595;p20"/>
          <p:cNvGrpSpPr/>
          <p:nvPr/>
        </p:nvGrpSpPr>
        <p:grpSpPr>
          <a:xfrm>
            <a:off x="3200400" y="2514600"/>
            <a:ext cx="457200" cy="457200"/>
            <a:chOff x="1344" y="1248"/>
            <a:chExt cx="288" cy="288"/>
          </a:xfrm>
        </p:grpSpPr>
        <p:sp>
          <p:nvSpPr>
            <p:cNvPr id="596" name="Google Shape;596;p20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97" name="Google Shape;597;p20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B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598" name="Google Shape;598;p20"/>
          <p:cNvGrpSpPr/>
          <p:nvPr/>
        </p:nvGrpSpPr>
        <p:grpSpPr>
          <a:xfrm>
            <a:off x="533400" y="3429000"/>
            <a:ext cx="457200" cy="457200"/>
            <a:chOff x="1344" y="1248"/>
            <a:chExt cx="288" cy="288"/>
          </a:xfrm>
        </p:grpSpPr>
        <p:sp>
          <p:nvSpPr>
            <p:cNvPr id="599" name="Google Shape;599;p20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00" name="Google Shape;600;p20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601" name="Google Shape;601;p20"/>
          <p:cNvGrpSpPr/>
          <p:nvPr/>
        </p:nvGrpSpPr>
        <p:grpSpPr>
          <a:xfrm>
            <a:off x="1066800" y="2667000"/>
            <a:ext cx="457200" cy="457200"/>
            <a:chOff x="1344" y="1248"/>
            <a:chExt cx="288" cy="288"/>
          </a:xfrm>
        </p:grpSpPr>
        <p:sp>
          <p:nvSpPr>
            <p:cNvPr id="602" name="Google Shape;602;p20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03" name="Google Shape;603;p20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C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604" name="Google Shape;604;p20"/>
          <p:cNvGrpSpPr/>
          <p:nvPr/>
        </p:nvGrpSpPr>
        <p:grpSpPr>
          <a:xfrm>
            <a:off x="2209800" y="3124200"/>
            <a:ext cx="457200" cy="457200"/>
            <a:chOff x="1344" y="1248"/>
            <a:chExt cx="288" cy="288"/>
          </a:xfrm>
        </p:grpSpPr>
        <p:sp>
          <p:nvSpPr>
            <p:cNvPr id="605" name="Google Shape;605;p20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06" name="Google Shape;606;p20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E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607" name="Google Shape;607;p20"/>
          <p:cNvGrpSpPr/>
          <p:nvPr/>
        </p:nvGrpSpPr>
        <p:grpSpPr>
          <a:xfrm>
            <a:off x="2895600" y="4038600"/>
            <a:ext cx="457200" cy="457200"/>
            <a:chOff x="1344" y="1248"/>
            <a:chExt cx="288" cy="288"/>
          </a:xfrm>
        </p:grpSpPr>
        <p:sp>
          <p:nvSpPr>
            <p:cNvPr id="608" name="Google Shape;608;p20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09" name="Google Shape;609;p20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F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610" name="Google Shape;610;p20"/>
          <p:cNvCxnSpPr/>
          <p:nvPr/>
        </p:nvCxnSpPr>
        <p:spPr>
          <a:xfrm>
            <a:off x="2438400" y="3581400"/>
            <a:ext cx="6096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1" name="Google Shape;611;p20"/>
          <p:cNvCxnSpPr/>
          <p:nvPr/>
        </p:nvCxnSpPr>
        <p:spPr>
          <a:xfrm flipH="1">
            <a:off x="2133600" y="4495800"/>
            <a:ext cx="990600" cy="1219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2" name="Google Shape;612;p20"/>
          <p:cNvSpPr txBox="1"/>
          <p:nvPr/>
        </p:nvSpPr>
        <p:spPr>
          <a:xfrm>
            <a:off x="2667000" y="3505200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99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13" name="Google Shape;613;p20"/>
          <p:cNvSpPr txBox="1"/>
          <p:nvPr/>
        </p:nvSpPr>
        <p:spPr>
          <a:xfrm>
            <a:off x="2667000" y="51054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211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614" name="Google Shape;614;p20"/>
          <p:cNvGrpSpPr/>
          <p:nvPr/>
        </p:nvGrpSpPr>
        <p:grpSpPr>
          <a:xfrm>
            <a:off x="1371600" y="4038600"/>
            <a:ext cx="457200" cy="457200"/>
            <a:chOff x="1344" y="1248"/>
            <a:chExt cx="288" cy="288"/>
          </a:xfrm>
        </p:grpSpPr>
        <p:sp>
          <p:nvSpPr>
            <p:cNvPr id="615" name="Google Shape;615;p20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16" name="Google Shape;616;p20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G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617" name="Google Shape;617;p20"/>
          <p:cNvGrpSpPr/>
          <p:nvPr/>
        </p:nvGrpSpPr>
        <p:grpSpPr>
          <a:xfrm>
            <a:off x="1143000" y="4953000"/>
            <a:ext cx="457200" cy="457200"/>
            <a:chOff x="1344" y="1248"/>
            <a:chExt cx="288" cy="288"/>
          </a:xfrm>
        </p:grpSpPr>
        <p:sp>
          <p:nvSpPr>
            <p:cNvPr id="618" name="Google Shape;618;p20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19" name="Google Shape;619;p20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H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620" name="Google Shape;620;p20"/>
          <p:cNvCxnSpPr/>
          <p:nvPr/>
        </p:nvCxnSpPr>
        <p:spPr>
          <a:xfrm flipH="1">
            <a:off x="1524000" y="3581400"/>
            <a:ext cx="9144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1" name="Google Shape;621;p20"/>
          <p:cNvCxnSpPr/>
          <p:nvPr/>
        </p:nvCxnSpPr>
        <p:spPr>
          <a:xfrm flipH="1">
            <a:off x="1371600" y="4495800"/>
            <a:ext cx="2286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2" name="Google Shape;622;p20"/>
          <p:cNvCxnSpPr/>
          <p:nvPr/>
        </p:nvCxnSpPr>
        <p:spPr>
          <a:xfrm>
            <a:off x="1371600" y="5410200"/>
            <a:ext cx="7620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3" name="Google Shape;623;p20"/>
          <p:cNvSpPr txBox="1"/>
          <p:nvPr/>
        </p:nvSpPr>
        <p:spPr>
          <a:xfrm>
            <a:off x="1600200" y="3505200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80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624" name="Google Shape;624;p20"/>
          <p:cNvCxnSpPr/>
          <p:nvPr/>
        </p:nvCxnSpPr>
        <p:spPr>
          <a:xfrm>
            <a:off x="2362200" y="2438400"/>
            <a:ext cx="106680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5" name="Google Shape;625;p20"/>
          <p:cNvCxnSpPr/>
          <p:nvPr/>
        </p:nvCxnSpPr>
        <p:spPr>
          <a:xfrm>
            <a:off x="2362200" y="2438400"/>
            <a:ext cx="762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6" name="Google Shape;626;p20"/>
          <p:cNvCxnSpPr/>
          <p:nvPr/>
        </p:nvCxnSpPr>
        <p:spPr>
          <a:xfrm flipH="1">
            <a:off x="1295400" y="2438400"/>
            <a:ext cx="1066800" cy="22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7" name="Google Shape;627;p20"/>
          <p:cNvCxnSpPr/>
          <p:nvPr/>
        </p:nvCxnSpPr>
        <p:spPr>
          <a:xfrm flipH="1">
            <a:off x="762000" y="3124200"/>
            <a:ext cx="533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8" name="Google Shape;628;p20"/>
          <p:cNvSpPr txBox="1"/>
          <p:nvPr/>
        </p:nvSpPr>
        <p:spPr>
          <a:xfrm>
            <a:off x="2590800" y="18288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Start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29" name="Google Shape;629;p20"/>
          <p:cNvSpPr txBox="1"/>
          <p:nvPr/>
        </p:nvSpPr>
        <p:spPr>
          <a:xfrm>
            <a:off x="2438400" y="60198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Goal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30" name="Google Shape;630;p20"/>
          <p:cNvSpPr txBox="1"/>
          <p:nvPr/>
        </p:nvSpPr>
        <p:spPr>
          <a:xfrm>
            <a:off x="990600" y="4572000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97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31" name="Google Shape;631;p20"/>
          <p:cNvSpPr txBox="1"/>
          <p:nvPr/>
        </p:nvSpPr>
        <p:spPr>
          <a:xfrm>
            <a:off x="1295400" y="5486400"/>
            <a:ext cx="838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101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32" name="Google Shape;632;p20"/>
          <p:cNvSpPr txBox="1"/>
          <p:nvPr/>
        </p:nvSpPr>
        <p:spPr>
          <a:xfrm>
            <a:off x="2819400" y="2133600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75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33" name="Google Shape;633;p20"/>
          <p:cNvSpPr txBox="1"/>
          <p:nvPr/>
        </p:nvSpPr>
        <p:spPr>
          <a:xfrm>
            <a:off x="1371600" y="22098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118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34" name="Google Shape;634;p20"/>
          <p:cNvSpPr txBox="1"/>
          <p:nvPr/>
        </p:nvSpPr>
        <p:spPr>
          <a:xfrm>
            <a:off x="381000" y="30480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111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35" name="Google Shape;635;p20"/>
          <p:cNvSpPr txBox="1"/>
          <p:nvPr/>
        </p:nvSpPr>
        <p:spPr>
          <a:xfrm>
            <a:off x="3657600" y="5943600"/>
            <a:ext cx="54864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f(n) = h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1" i="1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</a:t>
            </a:r>
            <a:r>
              <a:rPr b="1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 = straight-line distance heuristic</a:t>
            </a:r>
            <a:endParaRPr b="1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aphicFrame>
        <p:nvGraphicFramePr>
          <p:cNvPr id="636" name="Google Shape;636;p20"/>
          <p:cNvGraphicFramePr/>
          <p:nvPr/>
        </p:nvGraphicFramePr>
        <p:xfrm>
          <a:off x="5145088" y="18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{B90EF8FA-749B-4DD1-AEA0-74944B5BCE82}</a:tableStyleId>
              </a:tblPr>
              <a:tblGrid>
                <a:gridCol w="1905000"/>
                <a:gridCol w="1905000"/>
              </a:tblGrid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State</a:t>
                      </a:r>
                      <a:endParaRPr b="1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Heuristic: h(n)</a:t>
                      </a:r>
                      <a:endParaRPr b="1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366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B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374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C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329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D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244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E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253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F</a:t>
                      </a:r>
                      <a:endParaRPr b="1" i="0" sz="1800" u="none" cap="none" strike="noStrike">
                        <a:solidFill>
                          <a:schemeClr val="hlink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178</a:t>
                      </a:r>
                      <a:endParaRPr b="1" i="0" sz="1800" u="none" cap="none" strike="noStrike">
                        <a:solidFill>
                          <a:schemeClr val="hlink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G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193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H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98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I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37" name="Google Shape;637;p20"/>
          <p:cNvSpPr txBox="1"/>
          <p:nvPr/>
        </p:nvSpPr>
        <p:spPr>
          <a:xfrm>
            <a:off x="2362200" y="2681288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140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638" name="Google Shape;638;p20"/>
          <p:cNvCxnSpPr>
            <a:stCxn id="609" idx="1"/>
            <a:endCxn id="639" idx="0"/>
          </p:cNvCxnSpPr>
          <p:nvPr/>
        </p:nvCxnSpPr>
        <p:spPr>
          <a:xfrm flipH="1">
            <a:off x="2124000" y="4298156"/>
            <a:ext cx="847800" cy="1402200"/>
          </a:xfrm>
          <a:prstGeom prst="straightConnector1">
            <a:avLst/>
          </a:prstGeom>
          <a:noFill/>
          <a:ln cap="flat" cmpd="sng" w="19050">
            <a:solidFill>
              <a:schemeClr val="hlink"/>
            </a:solidFill>
            <a:prstDash val="dot"/>
            <a:round/>
            <a:headEnd len="sm" w="sm" type="none"/>
            <a:tailEnd len="med" w="med" type="triangle"/>
          </a:ln>
        </p:spPr>
      </p:cxnSp>
      <p:sp>
        <p:nvSpPr>
          <p:cNvPr id="639" name="Google Shape;639;p20"/>
          <p:cNvSpPr/>
          <p:nvPr/>
        </p:nvSpPr>
        <p:spPr>
          <a:xfrm>
            <a:off x="1885939" y="5700474"/>
            <a:ext cx="476400" cy="4764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</a:t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21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45" name="Google Shape;645;p21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Greedy Search</a:t>
            </a:r>
            <a:endParaRPr/>
          </a:p>
        </p:txBody>
      </p:sp>
      <p:grpSp>
        <p:nvGrpSpPr>
          <p:cNvPr id="646" name="Google Shape;646;p21"/>
          <p:cNvGrpSpPr/>
          <p:nvPr/>
        </p:nvGrpSpPr>
        <p:grpSpPr>
          <a:xfrm>
            <a:off x="2133600" y="1981200"/>
            <a:ext cx="457200" cy="457200"/>
            <a:chOff x="1344" y="1248"/>
            <a:chExt cx="288" cy="288"/>
          </a:xfrm>
        </p:grpSpPr>
        <p:sp>
          <p:nvSpPr>
            <p:cNvPr id="647" name="Google Shape;647;p21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48" name="Google Shape;648;p21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A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649" name="Google Shape;649;p21"/>
          <p:cNvGrpSpPr/>
          <p:nvPr/>
        </p:nvGrpSpPr>
        <p:grpSpPr>
          <a:xfrm>
            <a:off x="3200400" y="2514600"/>
            <a:ext cx="457200" cy="457200"/>
            <a:chOff x="1344" y="1248"/>
            <a:chExt cx="288" cy="288"/>
          </a:xfrm>
        </p:grpSpPr>
        <p:sp>
          <p:nvSpPr>
            <p:cNvPr id="650" name="Google Shape;650;p21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51" name="Google Shape;651;p21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B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652" name="Google Shape;652;p21"/>
          <p:cNvGrpSpPr/>
          <p:nvPr/>
        </p:nvGrpSpPr>
        <p:grpSpPr>
          <a:xfrm>
            <a:off x="533400" y="3429000"/>
            <a:ext cx="457200" cy="457200"/>
            <a:chOff x="1344" y="1248"/>
            <a:chExt cx="288" cy="288"/>
          </a:xfrm>
        </p:grpSpPr>
        <p:sp>
          <p:nvSpPr>
            <p:cNvPr id="653" name="Google Shape;653;p21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54" name="Google Shape;654;p21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655" name="Google Shape;655;p21"/>
          <p:cNvGrpSpPr/>
          <p:nvPr/>
        </p:nvGrpSpPr>
        <p:grpSpPr>
          <a:xfrm>
            <a:off x="1066800" y="2667000"/>
            <a:ext cx="457200" cy="457200"/>
            <a:chOff x="1344" y="1248"/>
            <a:chExt cx="288" cy="288"/>
          </a:xfrm>
        </p:grpSpPr>
        <p:sp>
          <p:nvSpPr>
            <p:cNvPr id="656" name="Google Shape;656;p21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57" name="Google Shape;657;p21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C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658" name="Google Shape;658;p21"/>
          <p:cNvGrpSpPr/>
          <p:nvPr/>
        </p:nvGrpSpPr>
        <p:grpSpPr>
          <a:xfrm>
            <a:off x="2209800" y="3124200"/>
            <a:ext cx="457200" cy="457200"/>
            <a:chOff x="1344" y="1248"/>
            <a:chExt cx="288" cy="288"/>
          </a:xfrm>
        </p:grpSpPr>
        <p:sp>
          <p:nvSpPr>
            <p:cNvPr id="659" name="Google Shape;659;p21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60" name="Google Shape;660;p21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E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661" name="Google Shape;661;p21"/>
          <p:cNvGrpSpPr/>
          <p:nvPr/>
        </p:nvGrpSpPr>
        <p:grpSpPr>
          <a:xfrm>
            <a:off x="2895600" y="4038600"/>
            <a:ext cx="457200" cy="457200"/>
            <a:chOff x="1344" y="1248"/>
            <a:chExt cx="288" cy="288"/>
          </a:xfrm>
        </p:grpSpPr>
        <p:sp>
          <p:nvSpPr>
            <p:cNvPr id="662" name="Google Shape;662;p21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63" name="Google Shape;663;p21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F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664" name="Google Shape;664;p21"/>
          <p:cNvCxnSpPr/>
          <p:nvPr/>
        </p:nvCxnSpPr>
        <p:spPr>
          <a:xfrm>
            <a:off x="2438400" y="3581400"/>
            <a:ext cx="6096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5" name="Google Shape;665;p21"/>
          <p:cNvCxnSpPr/>
          <p:nvPr/>
        </p:nvCxnSpPr>
        <p:spPr>
          <a:xfrm flipH="1">
            <a:off x="2133600" y="4495800"/>
            <a:ext cx="990600" cy="1219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6" name="Google Shape;666;p21"/>
          <p:cNvSpPr txBox="1"/>
          <p:nvPr/>
        </p:nvSpPr>
        <p:spPr>
          <a:xfrm>
            <a:off x="2667000" y="3505200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99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67" name="Google Shape;667;p21"/>
          <p:cNvSpPr txBox="1"/>
          <p:nvPr/>
        </p:nvSpPr>
        <p:spPr>
          <a:xfrm>
            <a:off x="2667000" y="51054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211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668" name="Google Shape;668;p21"/>
          <p:cNvGrpSpPr/>
          <p:nvPr/>
        </p:nvGrpSpPr>
        <p:grpSpPr>
          <a:xfrm>
            <a:off x="1371600" y="4038600"/>
            <a:ext cx="457200" cy="457200"/>
            <a:chOff x="1344" y="1248"/>
            <a:chExt cx="288" cy="288"/>
          </a:xfrm>
        </p:grpSpPr>
        <p:sp>
          <p:nvSpPr>
            <p:cNvPr id="669" name="Google Shape;669;p21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70" name="Google Shape;670;p21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G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671" name="Google Shape;671;p21"/>
          <p:cNvGrpSpPr/>
          <p:nvPr/>
        </p:nvGrpSpPr>
        <p:grpSpPr>
          <a:xfrm>
            <a:off x="1143000" y="4953000"/>
            <a:ext cx="457200" cy="457200"/>
            <a:chOff x="1344" y="1248"/>
            <a:chExt cx="288" cy="288"/>
          </a:xfrm>
        </p:grpSpPr>
        <p:sp>
          <p:nvSpPr>
            <p:cNvPr id="672" name="Google Shape;672;p21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73" name="Google Shape;673;p21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H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674" name="Google Shape;674;p21"/>
          <p:cNvCxnSpPr/>
          <p:nvPr/>
        </p:nvCxnSpPr>
        <p:spPr>
          <a:xfrm flipH="1">
            <a:off x="1524000" y="3581400"/>
            <a:ext cx="9144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5" name="Google Shape;675;p21"/>
          <p:cNvCxnSpPr/>
          <p:nvPr/>
        </p:nvCxnSpPr>
        <p:spPr>
          <a:xfrm flipH="1">
            <a:off x="1371600" y="4495800"/>
            <a:ext cx="2286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6" name="Google Shape;676;p21"/>
          <p:cNvCxnSpPr/>
          <p:nvPr/>
        </p:nvCxnSpPr>
        <p:spPr>
          <a:xfrm>
            <a:off x="1371600" y="5410200"/>
            <a:ext cx="7620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7" name="Google Shape;677;p21"/>
          <p:cNvSpPr txBox="1"/>
          <p:nvPr/>
        </p:nvSpPr>
        <p:spPr>
          <a:xfrm>
            <a:off x="1600200" y="3505200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80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678" name="Google Shape;678;p21"/>
          <p:cNvCxnSpPr/>
          <p:nvPr/>
        </p:nvCxnSpPr>
        <p:spPr>
          <a:xfrm>
            <a:off x="2362200" y="2438400"/>
            <a:ext cx="106680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9" name="Google Shape;679;p21"/>
          <p:cNvCxnSpPr/>
          <p:nvPr/>
        </p:nvCxnSpPr>
        <p:spPr>
          <a:xfrm>
            <a:off x="2362200" y="2438400"/>
            <a:ext cx="762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0" name="Google Shape;680;p21"/>
          <p:cNvCxnSpPr/>
          <p:nvPr/>
        </p:nvCxnSpPr>
        <p:spPr>
          <a:xfrm flipH="1">
            <a:off x="1295400" y="2438400"/>
            <a:ext cx="1066800" cy="22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1" name="Google Shape;681;p21"/>
          <p:cNvCxnSpPr/>
          <p:nvPr/>
        </p:nvCxnSpPr>
        <p:spPr>
          <a:xfrm flipH="1">
            <a:off x="762000" y="3124200"/>
            <a:ext cx="533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2" name="Google Shape;682;p21"/>
          <p:cNvSpPr txBox="1"/>
          <p:nvPr/>
        </p:nvSpPr>
        <p:spPr>
          <a:xfrm>
            <a:off x="2590800" y="18288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Start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83" name="Google Shape;683;p21"/>
          <p:cNvSpPr txBox="1"/>
          <p:nvPr/>
        </p:nvSpPr>
        <p:spPr>
          <a:xfrm>
            <a:off x="2438400" y="60198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Goal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84" name="Google Shape;684;p21"/>
          <p:cNvSpPr txBox="1"/>
          <p:nvPr/>
        </p:nvSpPr>
        <p:spPr>
          <a:xfrm>
            <a:off x="990600" y="4572000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97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85" name="Google Shape;685;p21"/>
          <p:cNvSpPr txBox="1"/>
          <p:nvPr/>
        </p:nvSpPr>
        <p:spPr>
          <a:xfrm>
            <a:off x="1295400" y="5486400"/>
            <a:ext cx="838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101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86" name="Google Shape;686;p21"/>
          <p:cNvSpPr txBox="1"/>
          <p:nvPr/>
        </p:nvSpPr>
        <p:spPr>
          <a:xfrm>
            <a:off x="2819400" y="2133600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75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87" name="Google Shape;687;p21"/>
          <p:cNvSpPr txBox="1"/>
          <p:nvPr/>
        </p:nvSpPr>
        <p:spPr>
          <a:xfrm>
            <a:off x="1371600" y="22098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118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88" name="Google Shape;688;p21"/>
          <p:cNvSpPr txBox="1"/>
          <p:nvPr/>
        </p:nvSpPr>
        <p:spPr>
          <a:xfrm>
            <a:off x="381000" y="30480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111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89" name="Google Shape;689;p21"/>
          <p:cNvSpPr txBox="1"/>
          <p:nvPr/>
        </p:nvSpPr>
        <p:spPr>
          <a:xfrm>
            <a:off x="3657600" y="5943600"/>
            <a:ext cx="54864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f(n) = h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1" i="1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</a:t>
            </a:r>
            <a:r>
              <a:rPr b="1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 = straight-line distance heuristic</a:t>
            </a:r>
            <a:endParaRPr b="1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aphicFrame>
        <p:nvGraphicFramePr>
          <p:cNvPr id="690" name="Google Shape;690;p21"/>
          <p:cNvGraphicFramePr/>
          <p:nvPr/>
        </p:nvGraphicFramePr>
        <p:xfrm>
          <a:off x="5145088" y="18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{B90EF8FA-749B-4DD1-AEA0-74944B5BCE82}</a:tableStyleId>
              </a:tblPr>
              <a:tblGrid>
                <a:gridCol w="1905000"/>
                <a:gridCol w="1905000"/>
              </a:tblGrid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State</a:t>
                      </a:r>
                      <a:endParaRPr b="1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Heuristic: h(n)</a:t>
                      </a:r>
                      <a:endParaRPr b="1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366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B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374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C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329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D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244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E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253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F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178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G</a:t>
                      </a:r>
                      <a:endParaRPr b="1" i="0" sz="1800" u="none" cap="none" strike="noStrike">
                        <a:solidFill>
                          <a:schemeClr val="hlink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193</a:t>
                      </a:r>
                      <a:endParaRPr b="1" i="0" sz="1800" u="none" cap="none" strike="noStrike">
                        <a:solidFill>
                          <a:schemeClr val="hlink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H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98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I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91" name="Google Shape;691;p21"/>
          <p:cNvSpPr txBox="1"/>
          <p:nvPr/>
        </p:nvSpPr>
        <p:spPr>
          <a:xfrm>
            <a:off x="2362200" y="2681288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140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692" name="Google Shape;692;p21"/>
          <p:cNvCxnSpPr>
            <a:endCxn id="693" idx="0"/>
          </p:cNvCxnSpPr>
          <p:nvPr/>
        </p:nvCxnSpPr>
        <p:spPr>
          <a:xfrm>
            <a:off x="1605439" y="4510974"/>
            <a:ext cx="518700" cy="1189500"/>
          </a:xfrm>
          <a:prstGeom prst="straightConnector1">
            <a:avLst/>
          </a:prstGeom>
          <a:noFill/>
          <a:ln cap="flat" cmpd="sng" w="19050">
            <a:solidFill>
              <a:schemeClr val="hlink"/>
            </a:solidFill>
            <a:prstDash val="dot"/>
            <a:round/>
            <a:headEnd len="sm" w="sm" type="none"/>
            <a:tailEnd len="med" w="med" type="triangle"/>
          </a:ln>
        </p:spPr>
      </p:cxnSp>
      <p:sp>
        <p:nvSpPr>
          <p:cNvPr id="693" name="Google Shape;693;p21"/>
          <p:cNvSpPr/>
          <p:nvPr/>
        </p:nvSpPr>
        <p:spPr>
          <a:xfrm>
            <a:off x="1885939" y="5700474"/>
            <a:ext cx="476400" cy="4764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</a:t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22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99" name="Google Shape;699;p22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Greedy Search</a:t>
            </a:r>
            <a:endParaRPr/>
          </a:p>
        </p:txBody>
      </p:sp>
      <p:grpSp>
        <p:nvGrpSpPr>
          <p:cNvPr id="700" name="Google Shape;700;p22"/>
          <p:cNvGrpSpPr/>
          <p:nvPr/>
        </p:nvGrpSpPr>
        <p:grpSpPr>
          <a:xfrm>
            <a:off x="2133600" y="1981200"/>
            <a:ext cx="457200" cy="457200"/>
            <a:chOff x="1344" y="1248"/>
            <a:chExt cx="288" cy="288"/>
          </a:xfrm>
        </p:grpSpPr>
        <p:sp>
          <p:nvSpPr>
            <p:cNvPr id="701" name="Google Shape;701;p22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02" name="Google Shape;702;p22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A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703" name="Google Shape;703;p22"/>
          <p:cNvGrpSpPr/>
          <p:nvPr/>
        </p:nvGrpSpPr>
        <p:grpSpPr>
          <a:xfrm>
            <a:off x="3200400" y="2514600"/>
            <a:ext cx="457200" cy="457200"/>
            <a:chOff x="1344" y="1248"/>
            <a:chExt cx="288" cy="288"/>
          </a:xfrm>
        </p:grpSpPr>
        <p:sp>
          <p:nvSpPr>
            <p:cNvPr id="704" name="Google Shape;704;p22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05" name="Google Shape;705;p22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B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706" name="Google Shape;706;p22"/>
          <p:cNvGrpSpPr/>
          <p:nvPr/>
        </p:nvGrpSpPr>
        <p:grpSpPr>
          <a:xfrm>
            <a:off x="533400" y="3429000"/>
            <a:ext cx="457200" cy="457200"/>
            <a:chOff x="1344" y="1248"/>
            <a:chExt cx="288" cy="288"/>
          </a:xfrm>
        </p:grpSpPr>
        <p:sp>
          <p:nvSpPr>
            <p:cNvPr id="707" name="Google Shape;707;p22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08" name="Google Shape;708;p22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709" name="Google Shape;709;p22"/>
          <p:cNvGrpSpPr/>
          <p:nvPr/>
        </p:nvGrpSpPr>
        <p:grpSpPr>
          <a:xfrm>
            <a:off x="1066800" y="2667000"/>
            <a:ext cx="457200" cy="457200"/>
            <a:chOff x="1344" y="1248"/>
            <a:chExt cx="288" cy="288"/>
          </a:xfrm>
        </p:grpSpPr>
        <p:sp>
          <p:nvSpPr>
            <p:cNvPr id="710" name="Google Shape;710;p22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11" name="Google Shape;711;p22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C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712" name="Google Shape;712;p22"/>
          <p:cNvGrpSpPr/>
          <p:nvPr/>
        </p:nvGrpSpPr>
        <p:grpSpPr>
          <a:xfrm>
            <a:off x="2209800" y="3124200"/>
            <a:ext cx="457200" cy="457200"/>
            <a:chOff x="1344" y="1248"/>
            <a:chExt cx="288" cy="288"/>
          </a:xfrm>
        </p:grpSpPr>
        <p:sp>
          <p:nvSpPr>
            <p:cNvPr id="713" name="Google Shape;713;p22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14" name="Google Shape;714;p22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E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715" name="Google Shape;715;p22"/>
          <p:cNvGrpSpPr/>
          <p:nvPr/>
        </p:nvGrpSpPr>
        <p:grpSpPr>
          <a:xfrm>
            <a:off x="2895600" y="4038600"/>
            <a:ext cx="457200" cy="457200"/>
            <a:chOff x="1344" y="1248"/>
            <a:chExt cx="288" cy="288"/>
          </a:xfrm>
        </p:grpSpPr>
        <p:sp>
          <p:nvSpPr>
            <p:cNvPr id="716" name="Google Shape;716;p22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17" name="Google Shape;717;p22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F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718" name="Google Shape;718;p22"/>
          <p:cNvCxnSpPr/>
          <p:nvPr/>
        </p:nvCxnSpPr>
        <p:spPr>
          <a:xfrm>
            <a:off x="2438400" y="3581400"/>
            <a:ext cx="6096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9" name="Google Shape;719;p22"/>
          <p:cNvCxnSpPr/>
          <p:nvPr/>
        </p:nvCxnSpPr>
        <p:spPr>
          <a:xfrm flipH="1">
            <a:off x="2133600" y="4495800"/>
            <a:ext cx="990600" cy="1219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0" name="Google Shape;720;p22"/>
          <p:cNvSpPr txBox="1"/>
          <p:nvPr/>
        </p:nvSpPr>
        <p:spPr>
          <a:xfrm>
            <a:off x="2667000" y="3505200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99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21" name="Google Shape;721;p22"/>
          <p:cNvSpPr txBox="1"/>
          <p:nvPr/>
        </p:nvSpPr>
        <p:spPr>
          <a:xfrm>
            <a:off x="2667000" y="51054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211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722" name="Google Shape;722;p22"/>
          <p:cNvGrpSpPr/>
          <p:nvPr/>
        </p:nvGrpSpPr>
        <p:grpSpPr>
          <a:xfrm>
            <a:off x="1371600" y="4038600"/>
            <a:ext cx="457200" cy="457200"/>
            <a:chOff x="1344" y="1248"/>
            <a:chExt cx="288" cy="288"/>
          </a:xfrm>
        </p:grpSpPr>
        <p:sp>
          <p:nvSpPr>
            <p:cNvPr id="723" name="Google Shape;723;p22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24" name="Google Shape;724;p22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G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725" name="Google Shape;725;p22"/>
          <p:cNvGrpSpPr/>
          <p:nvPr/>
        </p:nvGrpSpPr>
        <p:grpSpPr>
          <a:xfrm>
            <a:off x="1143000" y="4953000"/>
            <a:ext cx="457200" cy="457200"/>
            <a:chOff x="1344" y="1248"/>
            <a:chExt cx="288" cy="288"/>
          </a:xfrm>
        </p:grpSpPr>
        <p:sp>
          <p:nvSpPr>
            <p:cNvPr id="726" name="Google Shape;726;p22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27" name="Google Shape;727;p22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H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728" name="Google Shape;728;p22"/>
          <p:cNvCxnSpPr/>
          <p:nvPr/>
        </p:nvCxnSpPr>
        <p:spPr>
          <a:xfrm flipH="1">
            <a:off x="1524000" y="3581400"/>
            <a:ext cx="9144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9" name="Google Shape;729;p22"/>
          <p:cNvCxnSpPr/>
          <p:nvPr/>
        </p:nvCxnSpPr>
        <p:spPr>
          <a:xfrm flipH="1">
            <a:off x="1371600" y="4495800"/>
            <a:ext cx="2286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0" name="Google Shape;730;p22"/>
          <p:cNvCxnSpPr/>
          <p:nvPr/>
        </p:nvCxnSpPr>
        <p:spPr>
          <a:xfrm>
            <a:off x="1371600" y="5410200"/>
            <a:ext cx="7620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1" name="Google Shape;731;p22"/>
          <p:cNvSpPr txBox="1"/>
          <p:nvPr/>
        </p:nvSpPr>
        <p:spPr>
          <a:xfrm>
            <a:off x="1600200" y="3505200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80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732" name="Google Shape;732;p22"/>
          <p:cNvCxnSpPr/>
          <p:nvPr/>
        </p:nvCxnSpPr>
        <p:spPr>
          <a:xfrm>
            <a:off x="2362200" y="2438400"/>
            <a:ext cx="106680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3" name="Google Shape;733;p22"/>
          <p:cNvCxnSpPr/>
          <p:nvPr/>
        </p:nvCxnSpPr>
        <p:spPr>
          <a:xfrm>
            <a:off x="2362200" y="2438400"/>
            <a:ext cx="762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4" name="Google Shape;734;p22"/>
          <p:cNvCxnSpPr/>
          <p:nvPr/>
        </p:nvCxnSpPr>
        <p:spPr>
          <a:xfrm flipH="1">
            <a:off x="1295400" y="2438400"/>
            <a:ext cx="1066800" cy="22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5" name="Google Shape;735;p22"/>
          <p:cNvCxnSpPr/>
          <p:nvPr/>
        </p:nvCxnSpPr>
        <p:spPr>
          <a:xfrm flipH="1">
            <a:off x="762000" y="3124200"/>
            <a:ext cx="533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6" name="Google Shape;736;p22"/>
          <p:cNvSpPr txBox="1"/>
          <p:nvPr/>
        </p:nvSpPr>
        <p:spPr>
          <a:xfrm>
            <a:off x="2590800" y="18288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Start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37" name="Google Shape;737;p22"/>
          <p:cNvSpPr txBox="1"/>
          <p:nvPr/>
        </p:nvSpPr>
        <p:spPr>
          <a:xfrm>
            <a:off x="2438400" y="60198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Goal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38" name="Google Shape;738;p22"/>
          <p:cNvSpPr txBox="1"/>
          <p:nvPr/>
        </p:nvSpPr>
        <p:spPr>
          <a:xfrm>
            <a:off x="990600" y="4572000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97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39" name="Google Shape;739;p22"/>
          <p:cNvSpPr txBox="1"/>
          <p:nvPr/>
        </p:nvSpPr>
        <p:spPr>
          <a:xfrm>
            <a:off x="1295400" y="5486400"/>
            <a:ext cx="838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101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40" name="Google Shape;740;p22"/>
          <p:cNvSpPr txBox="1"/>
          <p:nvPr/>
        </p:nvSpPr>
        <p:spPr>
          <a:xfrm>
            <a:off x="2819400" y="2133600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75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41" name="Google Shape;741;p22"/>
          <p:cNvSpPr txBox="1"/>
          <p:nvPr/>
        </p:nvSpPr>
        <p:spPr>
          <a:xfrm>
            <a:off x="1371600" y="22098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118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42" name="Google Shape;742;p22"/>
          <p:cNvSpPr txBox="1"/>
          <p:nvPr/>
        </p:nvSpPr>
        <p:spPr>
          <a:xfrm>
            <a:off x="381000" y="30480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111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43" name="Google Shape;743;p22"/>
          <p:cNvSpPr txBox="1"/>
          <p:nvPr/>
        </p:nvSpPr>
        <p:spPr>
          <a:xfrm>
            <a:off x="3657600" y="5943600"/>
            <a:ext cx="54864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f(n) = h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1" i="1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</a:t>
            </a:r>
            <a:r>
              <a:rPr b="1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 = straight-line distance heuristic</a:t>
            </a:r>
            <a:endParaRPr b="1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aphicFrame>
        <p:nvGraphicFramePr>
          <p:cNvPr id="744" name="Google Shape;744;p22"/>
          <p:cNvGraphicFramePr/>
          <p:nvPr/>
        </p:nvGraphicFramePr>
        <p:xfrm>
          <a:off x="5145088" y="18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{B90EF8FA-749B-4DD1-AEA0-74944B5BCE82}</a:tableStyleId>
              </a:tblPr>
              <a:tblGrid>
                <a:gridCol w="1905000"/>
                <a:gridCol w="1905000"/>
              </a:tblGrid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State</a:t>
                      </a:r>
                      <a:endParaRPr b="1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Heuristic: h(n)</a:t>
                      </a:r>
                      <a:endParaRPr b="1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366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B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374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C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329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D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244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E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253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F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178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G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193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H</a:t>
                      </a:r>
                      <a:endParaRPr b="1" i="0" sz="1800" u="none" cap="none" strike="noStrike">
                        <a:solidFill>
                          <a:schemeClr val="hlink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98</a:t>
                      </a:r>
                      <a:endParaRPr b="1" i="0" sz="1800" u="none" cap="none" strike="noStrike">
                        <a:solidFill>
                          <a:schemeClr val="hlink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I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45" name="Google Shape;745;p22"/>
          <p:cNvSpPr txBox="1"/>
          <p:nvPr/>
        </p:nvSpPr>
        <p:spPr>
          <a:xfrm>
            <a:off x="2362200" y="2681288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140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746" name="Google Shape;746;p22"/>
          <p:cNvCxnSpPr>
            <a:endCxn id="747" idx="0"/>
          </p:cNvCxnSpPr>
          <p:nvPr/>
        </p:nvCxnSpPr>
        <p:spPr>
          <a:xfrm>
            <a:off x="1570639" y="5383374"/>
            <a:ext cx="553500" cy="317100"/>
          </a:xfrm>
          <a:prstGeom prst="straightConnector1">
            <a:avLst/>
          </a:prstGeom>
          <a:noFill/>
          <a:ln cap="flat" cmpd="sng" w="19050">
            <a:solidFill>
              <a:schemeClr val="hlink"/>
            </a:solidFill>
            <a:prstDash val="dot"/>
            <a:round/>
            <a:headEnd len="sm" w="sm" type="none"/>
            <a:tailEnd len="med" w="med" type="triangle"/>
          </a:ln>
        </p:spPr>
      </p:cxnSp>
      <p:sp>
        <p:nvSpPr>
          <p:cNvPr id="747" name="Google Shape;747;p22"/>
          <p:cNvSpPr/>
          <p:nvPr/>
        </p:nvSpPr>
        <p:spPr>
          <a:xfrm>
            <a:off x="1885939" y="5700474"/>
            <a:ext cx="476400" cy="4764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</a:t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23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53" name="Google Shape;753;p23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Greedy Search</a:t>
            </a:r>
            <a:endParaRPr/>
          </a:p>
        </p:txBody>
      </p:sp>
      <p:grpSp>
        <p:nvGrpSpPr>
          <p:cNvPr id="754" name="Google Shape;754;p23"/>
          <p:cNvGrpSpPr/>
          <p:nvPr/>
        </p:nvGrpSpPr>
        <p:grpSpPr>
          <a:xfrm>
            <a:off x="2133600" y="1981200"/>
            <a:ext cx="457200" cy="457200"/>
            <a:chOff x="1344" y="1248"/>
            <a:chExt cx="288" cy="288"/>
          </a:xfrm>
        </p:grpSpPr>
        <p:sp>
          <p:nvSpPr>
            <p:cNvPr id="755" name="Google Shape;755;p23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56" name="Google Shape;756;p23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A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757" name="Google Shape;757;p23"/>
          <p:cNvGrpSpPr/>
          <p:nvPr/>
        </p:nvGrpSpPr>
        <p:grpSpPr>
          <a:xfrm>
            <a:off x="3200400" y="2514600"/>
            <a:ext cx="457200" cy="457200"/>
            <a:chOff x="1344" y="1248"/>
            <a:chExt cx="288" cy="288"/>
          </a:xfrm>
        </p:grpSpPr>
        <p:sp>
          <p:nvSpPr>
            <p:cNvPr id="758" name="Google Shape;758;p23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59" name="Google Shape;759;p23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B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760" name="Google Shape;760;p23"/>
          <p:cNvGrpSpPr/>
          <p:nvPr/>
        </p:nvGrpSpPr>
        <p:grpSpPr>
          <a:xfrm>
            <a:off x="533400" y="3429000"/>
            <a:ext cx="457200" cy="457200"/>
            <a:chOff x="1344" y="1248"/>
            <a:chExt cx="288" cy="288"/>
          </a:xfrm>
        </p:grpSpPr>
        <p:sp>
          <p:nvSpPr>
            <p:cNvPr id="761" name="Google Shape;761;p23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62" name="Google Shape;762;p23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763" name="Google Shape;763;p23"/>
          <p:cNvGrpSpPr/>
          <p:nvPr/>
        </p:nvGrpSpPr>
        <p:grpSpPr>
          <a:xfrm>
            <a:off x="1066800" y="2667000"/>
            <a:ext cx="457200" cy="457200"/>
            <a:chOff x="1344" y="1248"/>
            <a:chExt cx="288" cy="288"/>
          </a:xfrm>
        </p:grpSpPr>
        <p:sp>
          <p:nvSpPr>
            <p:cNvPr id="764" name="Google Shape;764;p23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65" name="Google Shape;765;p23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C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766" name="Google Shape;766;p23"/>
          <p:cNvGrpSpPr/>
          <p:nvPr/>
        </p:nvGrpSpPr>
        <p:grpSpPr>
          <a:xfrm>
            <a:off x="2209800" y="3124200"/>
            <a:ext cx="457200" cy="457200"/>
            <a:chOff x="1344" y="1248"/>
            <a:chExt cx="288" cy="288"/>
          </a:xfrm>
        </p:grpSpPr>
        <p:sp>
          <p:nvSpPr>
            <p:cNvPr id="767" name="Google Shape;767;p23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68" name="Google Shape;768;p23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E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769" name="Google Shape;769;p23"/>
          <p:cNvGrpSpPr/>
          <p:nvPr/>
        </p:nvGrpSpPr>
        <p:grpSpPr>
          <a:xfrm>
            <a:off x="2895600" y="4038600"/>
            <a:ext cx="457200" cy="457200"/>
            <a:chOff x="1344" y="1248"/>
            <a:chExt cx="288" cy="288"/>
          </a:xfrm>
        </p:grpSpPr>
        <p:sp>
          <p:nvSpPr>
            <p:cNvPr id="770" name="Google Shape;770;p23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71" name="Google Shape;771;p23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F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772" name="Google Shape;772;p23"/>
          <p:cNvCxnSpPr/>
          <p:nvPr/>
        </p:nvCxnSpPr>
        <p:spPr>
          <a:xfrm>
            <a:off x="2438400" y="3581400"/>
            <a:ext cx="6096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3" name="Google Shape;773;p23"/>
          <p:cNvCxnSpPr/>
          <p:nvPr/>
        </p:nvCxnSpPr>
        <p:spPr>
          <a:xfrm flipH="1">
            <a:off x="2133600" y="4495800"/>
            <a:ext cx="990600" cy="1219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4" name="Google Shape;774;p23"/>
          <p:cNvSpPr txBox="1"/>
          <p:nvPr/>
        </p:nvSpPr>
        <p:spPr>
          <a:xfrm>
            <a:off x="2667000" y="3505200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99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75" name="Google Shape;775;p23"/>
          <p:cNvSpPr txBox="1"/>
          <p:nvPr/>
        </p:nvSpPr>
        <p:spPr>
          <a:xfrm>
            <a:off x="2667000" y="51054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211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776" name="Google Shape;776;p23"/>
          <p:cNvGrpSpPr/>
          <p:nvPr/>
        </p:nvGrpSpPr>
        <p:grpSpPr>
          <a:xfrm>
            <a:off x="1371600" y="4038600"/>
            <a:ext cx="457200" cy="457200"/>
            <a:chOff x="1344" y="1248"/>
            <a:chExt cx="288" cy="288"/>
          </a:xfrm>
        </p:grpSpPr>
        <p:sp>
          <p:nvSpPr>
            <p:cNvPr id="777" name="Google Shape;777;p23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78" name="Google Shape;778;p23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G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779" name="Google Shape;779;p23"/>
          <p:cNvGrpSpPr/>
          <p:nvPr/>
        </p:nvGrpSpPr>
        <p:grpSpPr>
          <a:xfrm>
            <a:off x="1143000" y="4953000"/>
            <a:ext cx="457200" cy="457200"/>
            <a:chOff x="1344" y="1248"/>
            <a:chExt cx="288" cy="288"/>
          </a:xfrm>
        </p:grpSpPr>
        <p:sp>
          <p:nvSpPr>
            <p:cNvPr id="780" name="Google Shape;780;p23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81" name="Google Shape;781;p23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H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782" name="Google Shape;782;p23"/>
          <p:cNvCxnSpPr/>
          <p:nvPr/>
        </p:nvCxnSpPr>
        <p:spPr>
          <a:xfrm flipH="1">
            <a:off x="1524000" y="3581400"/>
            <a:ext cx="9144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3" name="Google Shape;783;p23"/>
          <p:cNvCxnSpPr/>
          <p:nvPr/>
        </p:nvCxnSpPr>
        <p:spPr>
          <a:xfrm flipH="1">
            <a:off x="1371600" y="4495800"/>
            <a:ext cx="2286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4" name="Google Shape;784;p23"/>
          <p:cNvCxnSpPr/>
          <p:nvPr/>
        </p:nvCxnSpPr>
        <p:spPr>
          <a:xfrm>
            <a:off x="1371600" y="5410200"/>
            <a:ext cx="7620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5" name="Google Shape;785;p23"/>
          <p:cNvSpPr txBox="1"/>
          <p:nvPr/>
        </p:nvSpPr>
        <p:spPr>
          <a:xfrm>
            <a:off x="1600200" y="3505200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80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786" name="Google Shape;786;p23"/>
          <p:cNvCxnSpPr/>
          <p:nvPr/>
        </p:nvCxnSpPr>
        <p:spPr>
          <a:xfrm>
            <a:off x="2362200" y="2438400"/>
            <a:ext cx="106680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7" name="Google Shape;787;p23"/>
          <p:cNvCxnSpPr/>
          <p:nvPr/>
        </p:nvCxnSpPr>
        <p:spPr>
          <a:xfrm>
            <a:off x="2362200" y="2438400"/>
            <a:ext cx="762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8" name="Google Shape;788;p23"/>
          <p:cNvCxnSpPr/>
          <p:nvPr/>
        </p:nvCxnSpPr>
        <p:spPr>
          <a:xfrm flipH="1">
            <a:off x="1295400" y="2438400"/>
            <a:ext cx="1066800" cy="22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9" name="Google Shape;789;p23"/>
          <p:cNvCxnSpPr/>
          <p:nvPr/>
        </p:nvCxnSpPr>
        <p:spPr>
          <a:xfrm flipH="1">
            <a:off x="762000" y="3124200"/>
            <a:ext cx="533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0" name="Google Shape;790;p23"/>
          <p:cNvSpPr txBox="1"/>
          <p:nvPr/>
        </p:nvSpPr>
        <p:spPr>
          <a:xfrm>
            <a:off x="2590800" y="18288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Start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91" name="Google Shape;791;p23"/>
          <p:cNvSpPr txBox="1"/>
          <p:nvPr/>
        </p:nvSpPr>
        <p:spPr>
          <a:xfrm>
            <a:off x="2438400" y="60198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Goal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92" name="Google Shape;792;p23"/>
          <p:cNvSpPr txBox="1"/>
          <p:nvPr/>
        </p:nvSpPr>
        <p:spPr>
          <a:xfrm>
            <a:off x="990600" y="4572000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97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93" name="Google Shape;793;p23"/>
          <p:cNvSpPr txBox="1"/>
          <p:nvPr/>
        </p:nvSpPr>
        <p:spPr>
          <a:xfrm>
            <a:off x="1295400" y="5486400"/>
            <a:ext cx="838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101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94" name="Google Shape;794;p23"/>
          <p:cNvSpPr txBox="1"/>
          <p:nvPr/>
        </p:nvSpPr>
        <p:spPr>
          <a:xfrm>
            <a:off x="2819400" y="2133600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75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95" name="Google Shape;795;p23"/>
          <p:cNvSpPr txBox="1"/>
          <p:nvPr/>
        </p:nvSpPr>
        <p:spPr>
          <a:xfrm>
            <a:off x="1371600" y="22098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118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96" name="Google Shape;796;p23"/>
          <p:cNvSpPr txBox="1"/>
          <p:nvPr/>
        </p:nvSpPr>
        <p:spPr>
          <a:xfrm>
            <a:off x="381000" y="30480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111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97" name="Google Shape;797;p23"/>
          <p:cNvSpPr txBox="1"/>
          <p:nvPr/>
        </p:nvSpPr>
        <p:spPr>
          <a:xfrm>
            <a:off x="3657600" y="5943600"/>
            <a:ext cx="54864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f(n) = h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1" i="1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</a:t>
            </a:r>
            <a:r>
              <a:rPr b="1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 = straight-line distance heuristic</a:t>
            </a:r>
            <a:endParaRPr b="1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aphicFrame>
        <p:nvGraphicFramePr>
          <p:cNvPr id="798" name="Google Shape;798;p23"/>
          <p:cNvGraphicFramePr/>
          <p:nvPr/>
        </p:nvGraphicFramePr>
        <p:xfrm>
          <a:off x="5105400" y="18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{B90EF8FA-749B-4DD1-AEA0-74944B5BCE82}</a:tableStyleId>
              </a:tblPr>
              <a:tblGrid>
                <a:gridCol w="1905000"/>
                <a:gridCol w="1905000"/>
              </a:tblGrid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State</a:t>
                      </a:r>
                      <a:endParaRPr b="1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Heuristic: h(n)</a:t>
                      </a:r>
                      <a:endParaRPr b="1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366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B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374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C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329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D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244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E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253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F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178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G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193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H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98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I</a:t>
                      </a:r>
                      <a:endParaRPr b="1" i="0" sz="1800" u="none" cap="none" strike="noStrike">
                        <a:solidFill>
                          <a:schemeClr val="hlink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 b="1" i="0" sz="1800" u="none" cap="none" strike="noStrike">
                        <a:solidFill>
                          <a:schemeClr val="hlink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99" name="Google Shape;799;p23"/>
          <p:cNvSpPr txBox="1"/>
          <p:nvPr/>
        </p:nvSpPr>
        <p:spPr>
          <a:xfrm>
            <a:off x="2362200" y="2681288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140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00" name="Google Shape;800;p23"/>
          <p:cNvSpPr/>
          <p:nvPr/>
        </p:nvSpPr>
        <p:spPr>
          <a:xfrm>
            <a:off x="1885939" y="5700474"/>
            <a:ext cx="476400" cy="4764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</a:t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24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06" name="Google Shape;806;p24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Greedy Search: Tree Search</a:t>
            </a:r>
            <a:endParaRPr/>
          </a:p>
        </p:txBody>
      </p:sp>
      <p:grpSp>
        <p:nvGrpSpPr>
          <p:cNvPr id="807" name="Google Shape;807;p24"/>
          <p:cNvGrpSpPr/>
          <p:nvPr/>
        </p:nvGrpSpPr>
        <p:grpSpPr>
          <a:xfrm>
            <a:off x="4114800" y="1981200"/>
            <a:ext cx="457200" cy="457200"/>
            <a:chOff x="1344" y="1248"/>
            <a:chExt cx="288" cy="288"/>
          </a:xfrm>
        </p:grpSpPr>
        <p:sp>
          <p:nvSpPr>
            <p:cNvPr id="808" name="Google Shape;808;p24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09" name="Google Shape;809;p24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A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810" name="Google Shape;810;p24"/>
          <p:cNvSpPr txBox="1"/>
          <p:nvPr/>
        </p:nvSpPr>
        <p:spPr>
          <a:xfrm>
            <a:off x="4572000" y="18288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Start</a:t>
            </a:r>
            <a:endParaRPr b="1" i="0" sz="1800" u="none" cap="none" strike="noStrik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25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16" name="Google Shape;816;p25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Greedy Search: Tree Search</a:t>
            </a:r>
            <a:endParaRPr/>
          </a:p>
        </p:txBody>
      </p:sp>
      <p:grpSp>
        <p:nvGrpSpPr>
          <p:cNvPr id="817" name="Google Shape;817;p25"/>
          <p:cNvGrpSpPr/>
          <p:nvPr/>
        </p:nvGrpSpPr>
        <p:grpSpPr>
          <a:xfrm>
            <a:off x="4114800" y="1981200"/>
            <a:ext cx="457200" cy="457200"/>
            <a:chOff x="1344" y="1248"/>
            <a:chExt cx="288" cy="288"/>
          </a:xfrm>
        </p:grpSpPr>
        <p:sp>
          <p:nvSpPr>
            <p:cNvPr id="818" name="Google Shape;818;p25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19" name="Google Shape;819;p25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A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820" name="Google Shape;820;p25"/>
          <p:cNvGrpSpPr/>
          <p:nvPr/>
        </p:nvGrpSpPr>
        <p:grpSpPr>
          <a:xfrm>
            <a:off x="5867400" y="2514600"/>
            <a:ext cx="457200" cy="457200"/>
            <a:chOff x="1344" y="1248"/>
            <a:chExt cx="288" cy="288"/>
          </a:xfrm>
        </p:grpSpPr>
        <p:sp>
          <p:nvSpPr>
            <p:cNvPr id="821" name="Google Shape;821;p25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22" name="Google Shape;822;p25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B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823" name="Google Shape;823;p25"/>
          <p:cNvGrpSpPr/>
          <p:nvPr/>
        </p:nvGrpSpPr>
        <p:grpSpPr>
          <a:xfrm>
            <a:off x="1905000" y="2667000"/>
            <a:ext cx="457200" cy="457200"/>
            <a:chOff x="1344" y="1248"/>
            <a:chExt cx="288" cy="288"/>
          </a:xfrm>
        </p:grpSpPr>
        <p:sp>
          <p:nvSpPr>
            <p:cNvPr id="824" name="Google Shape;824;p25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25" name="Google Shape;825;p25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C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826" name="Google Shape;826;p25"/>
          <p:cNvGrpSpPr/>
          <p:nvPr/>
        </p:nvGrpSpPr>
        <p:grpSpPr>
          <a:xfrm>
            <a:off x="4191000" y="3124200"/>
            <a:ext cx="457200" cy="457200"/>
            <a:chOff x="1344" y="1248"/>
            <a:chExt cx="288" cy="288"/>
          </a:xfrm>
        </p:grpSpPr>
        <p:sp>
          <p:nvSpPr>
            <p:cNvPr id="827" name="Google Shape;827;p25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28" name="Google Shape;828;p25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E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829" name="Google Shape;829;p25"/>
          <p:cNvCxnSpPr/>
          <p:nvPr/>
        </p:nvCxnSpPr>
        <p:spPr>
          <a:xfrm>
            <a:off x="4343400" y="2438400"/>
            <a:ext cx="175260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0" name="Google Shape;830;p25"/>
          <p:cNvCxnSpPr/>
          <p:nvPr/>
        </p:nvCxnSpPr>
        <p:spPr>
          <a:xfrm>
            <a:off x="4343400" y="2438400"/>
            <a:ext cx="762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1" name="Google Shape;831;p25"/>
          <p:cNvCxnSpPr/>
          <p:nvPr/>
        </p:nvCxnSpPr>
        <p:spPr>
          <a:xfrm flipH="1">
            <a:off x="2133600" y="2438400"/>
            <a:ext cx="2209800" cy="22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2" name="Google Shape;832;p25"/>
          <p:cNvSpPr txBox="1"/>
          <p:nvPr/>
        </p:nvSpPr>
        <p:spPr>
          <a:xfrm>
            <a:off x="4572000" y="18288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Start</a:t>
            </a:r>
            <a:endParaRPr b="1" i="0" sz="1800" u="none" cap="none" strike="noStrik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33" name="Google Shape;833;p25"/>
          <p:cNvSpPr txBox="1"/>
          <p:nvPr/>
        </p:nvSpPr>
        <p:spPr>
          <a:xfrm>
            <a:off x="4800600" y="2133600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75</a:t>
            </a:r>
            <a:endParaRPr b="1" i="0" sz="1800" u="none" cap="none" strike="noStrike">
              <a:solidFill>
                <a:schemeClr val="accent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34" name="Google Shape;834;p25"/>
          <p:cNvSpPr txBox="1"/>
          <p:nvPr/>
        </p:nvSpPr>
        <p:spPr>
          <a:xfrm>
            <a:off x="2895600" y="22098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118</a:t>
            </a:r>
            <a:endParaRPr b="1" i="0" sz="1800" u="none" cap="none" strike="noStrike">
              <a:solidFill>
                <a:schemeClr val="accent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35" name="Google Shape;835;p25"/>
          <p:cNvSpPr txBox="1"/>
          <p:nvPr/>
        </p:nvSpPr>
        <p:spPr>
          <a:xfrm>
            <a:off x="4343400" y="2681288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140</a:t>
            </a:r>
            <a:endParaRPr b="1" i="0" sz="1800" u="none" cap="none" strike="noStrike">
              <a:solidFill>
                <a:schemeClr val="accent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36" name="Google Shape;836;p25"/>
          <p:cNvSpPr txBox="1"/>
          <p:nvPr/>
        </p:nvSpPr>
        <p:spPr>
          <a:xfrm>
            <a:off x="5181600" y="2605088"/>
            <a:ext cx="838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[374]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37" name="Google Shape;837;p25"/>
          <p:cNvSpPr txBox="1"/>
          <p:nvPr/>
        </p:nvSpPr>
        <p:spPr>
          <a:xfrm>
            <a:off x="1143000" y="2667000"/>
            <a:ext cx="838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[329]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38" name="Google Shape;838;p25"/>
          <p:cNvSpPr txBox="1"/>
          <p:nvPr/>
        </p:nvSpPr>
        <p:spPr>
          <a:xfrm>
            <a:off x="3505200" y="3214688"/>
            <a:ext cx="838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[253]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26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4" name="Google Shape;844;p26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Greedy Search: Tree Search</a:t>
            </a:r>
            <a:endParaRPr/>
          </a:p>
        </p:txBody>
      </p:sp>
      <p:grpSp>
        <p:nvGrpSpPr>
          <p:cNvPr id="845" name="Google Shape;845;p26"/>
          <p:cNvGrpSpPr/>
          <p:nvPr/>
        </p:nvGrpSpPr>
        <p:grpSpPr>
          <a:xfrm>
            <a:off x="4114800" y="1981200"/>
            <a:ext cx="457200" cy="457200"/>
            <a:chOff x="1344" y="1248"/>
            <a:chExt cx="288" cy="288"/>
          </a:xfrm>
        </p:grpSpPr>
        <p:sp>
          <p:nvSpPr>
            <p:cNvPr id="846" name="Google Shape;846;p26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47" name="Google Shape;847;p26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A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848" name="Google Shape;848;p26"/>
          <p:cNvGrpSpPr/>
          <p:nvPr/>
        </p:nvGrpSpPr>
        <p:grpSpPr>
          <a:xfrm>
            <a:off x="5867400" y="2514600"/>
            <a:ext cx="457200" cy="457200"/>
            <a:chOff x="1344" y="1248"/>
            <a:chExt cx="288" cy="288"/>
          </a:xfrm>
        </p:grpSpPr>
        <p:sp>
          <p:nvSpPr>
            <p:cNvPr id="849" name="Google Shape;849;p26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50" name="Google Shape;850;p26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B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851" name="Google Shape;851;p26"/>
          <p:cNvGrpSpPr/>
          <p:nvPr/>
        </p:nvGrpSpPr>
        <p:grpSpPr>
          <a:xfrm>
            <a:off x="1905000" y="2667000"/>
            <a:ext cx="457200" cy="457200"/>
            <a:chOff x="1344" y="1248"/>
            <a:chExt cx="288" cy="288"/>
          </a:xfrm>
        </p:grpSpPr>
        <p:sp>
          <p:nvSpPr>
            <p:cNvPr id="852" name="Google Shape;852;p26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53" name="Google Shape;853;p26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C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854" name="Google Shape;854;p26"/>
          <p:cNvGrpSpPr/>
          <p:nvPr/>
        </p:nvGrpSpPr>
        <p:grpSpPr>
          <a:xfrm>
            <a:off x="4191000" y="3124200"/>
            <a:ext cx="457200" cy="457200"/>
            <a:chOff x="1344" y="1248"/>
            <a:chExt cx="288" cy="288"/>
          </a:xfrm>
        </p:grpSpPr>
        <p:sp>
          <p:nvSpPr>
            <p:cNvPr id="855" name="Google Shape;855;p26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56" name="Google Shape;856;p26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E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857" name="Google Shape;857;p26"/>
          <p:cNvGrpSpPr/>
          <p:nvPr/>
        </p:nvGrpSpPr>
        <p:grpSpPr>
          <a:xfrm>
            <a:off x="5943600" y="4038600"/>
            <a:ext cx="457200" cy="457200"/>
            <a:chOff x="1344" y="1248"/>
            <a:chExt cx="288" cy="288"/>
          </a:xfrm>
        </p:grpSpPr>
        <p:sp>
          <p:nvSpPr>
            <p:cNvPr id="858" name="Google Shape;858;p26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59" name="Google Shape;859;p26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F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860" name="Google Shape;860;p26"/>
          <p:cNvCxnSpPr/>
          <p:nvPr/>
        </p:nvCxnSpPr>
        <p:spPr>
          <a:xfrm>
            <a:off x="4419600" y="3581400"/>
            <a:ext cx="17526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1" name="Google Shape;861;p26"/>
          <p:cNvSpPr txBox="1"/>
          <p:nvPr/>
        </p:nvSpPr>
        <p:spPr>
          <a:xfrm>
            <a:off x="4953000" y="3429000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99</a:t>
            </a:r>
            <a:endParaRPr b="1" i="0" sz="1800" u="none" cap="none" strike="noStrike">
              <a:solidFill>
                <a:schemeClr val="accent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862" name="Google Shape;862;p26"/>
          <p:cNvGrpSpPr/>
          <p:nvPr/>
        </p:nvGrpSpPr>
        <p:grpSpPr>
          <a:xfrm>
            <a:off x="1981200" y="4038600"/>
            <a:ext cx="457200" cy="457200"/>
            <a:chOff x="1344" y="1248"/>
            <a:chExt cx="288" cy="288"/>
          </a:xfrm>
        </p:grpSpPr>
        <p:sp>
          <p:nvSpPr>
            <p:cNvPr id="863" name="Google Shape;863;p26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64" name="Google Shape;864;p26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G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865" name="Google Shape;865;p26"/>
          <p:cNvGrpSpPr/>
          <p:nvPr/>
        </p:nvGrpSpPr>
        <p:grpSpPr>
          <a:xfrm>
            <a:off x="4267200" y="4267200"/>
            <a:ext cx="457200" cy="457200"/>
            <a:chOff x="1344" y="1248"/>
            <a:chExt cx="288" cy="288"/>
          </a:xfrm>
        </p:grpSpPr>
        <p:sp>
          <p:nvSpPr>
            <p:cNvPr id="866" name="Google Shape;866;p26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67" name="Google Shape;867;p26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A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868" name="Google Shape;868;p26"/>
          <p:cNvCxnSpPr/>
          <p:nvPr/>
        </p:nvCxnSpPr>
        <p:spPr>
          <a:xfrm flipH="1">
            <a:off x="2133600" y="3581400"/>
            <a:ext cx="22860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9" name="Google Shape;869;p26"/>
          <p:cNvSpPr txBox="1"/>
          <p:nvPr/>
        </p:nvSpPr>
        <p:spPr>
          <a:xfrm>
            <a:off x="3048000" y="3505200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80</a:t>
            </a:r>
            <a:endParaRPr b="1" i="0" sz="1800" u="none" cap="none" strike="noStrike">
              <a:solidFill>
                <a:schemeClr val="accent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870" name="Google Shape;870;p26"/>
          <p:cNvCxnSpPr/>
          <p:nvPr/>
        </p:nvCxnSpPr>
        <p:spPr>
          <a:xfrm>
            <a:off x="4343400" y="2438400"/>
            <a:ext cx="175260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1" name="Google Shape;871;p26"/>
          <p:cNvCxnSpPr/>
          <p:nvPr/>
        </p:nvCxnSpPr>
        <p:spPr>
          <a:xfrm>
            <a:off x="4343400" y="2438400"/>
            <a:ext cx="762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2" name="Google Shape;872;p26"/>
          <p:cNvCxnSpPr/>
          <p:nvPr/>
        </p:nvCxnSpPr>
        <p:spPr>
          <a:xfrm flipH="1">
            <a:off x="2133600" y="2438400"/>
            <a:ext cx="2209800" cy="22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3" name="Google Shape;873;p26"/>
          <p:cNvSpPr txBox="1"/>
          <p:nvPr/>
        </p:nvSpPr>
        <p:spPr>
          <a:xfrm>
            <a:off x="4572000" y="18288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Start</a:t>
            </a:r>
            <a:endParaRPr b="1" i="0" sz="1800" u="none" cap="none" strike="noStrik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74" name="Google Shape;874;p26"/>
          <p:cNvSpPr txBox="1"/>
          <p:nvPr/>
        </p:nvSpPr>
        <p:spPr>
          <a:xfrm>
            <a:off x="4800600" y="2133600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75</a:t>
            </a:r>
            <a:endParaRPr b="1" i="0" sz="1800" u="none" cap="none" strike="noStrike">
              <a:solidFill>
                <a:schemeClr val="accent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75" name="Google Shape;875;p26"/>
          <p:cNvSpPr txBox="1"/>
          <p:nvPr/>
        </p:nvSpPr>
        <p:spPr>
          <a:xfrm>
            <a:off x="2895600" y="22098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118</a:t>
            </a:r>
            <a:endParaRPr b="1" i="0" sz="1800" u="none" cap="none" strike="noStrike">
              <a:solidFill>
                <a:schemeClr val="accent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76" name="Google Shape;876;p26"/>
          <p:cNvSpPr txBox="1"/>
          <p:nvPr/>
        </p:nvSpPr>
        <p:spPr>
          <a:xfrm>
            <a:off x="4343400" y="2681288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140</a:t>
            </a:r>
            <a:endParaRPr b="1" i="0" sz="1800" u="none" cap="none" strike="noStrike">
              <a:solidFill>
                <a:schemeClr val="accent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77" name="Google Shape;877;p26"/>
          <p:cNvSpPr txBox="1"/>
          <p:nvPr/>
        </p:nvSpPr>
        <p:spPr>
          <a:xfrm>
            <a:off x="5181600" y="2605088"/>
            <a:ext cx="838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[374]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78" name="Google Shape;878;p26"/>
          <p:cNvSpPr txBox="1"/>
          <p:nvPr/>
        </p:nvSpPr>
        <p:spPr>
          <a:xfrm>
            <a:off x="1143000" y="2667000"/>
            <a:ext cx="838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[329]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79" name="Google Shape;879;p26"/>
          <p:cNvSpPr txBox="1"/>
          <p:nvPr/>
        </p:nvSpPr>
        <p:spPr>
          <a:xfrm>
            <a:off x="3505200" y="3214688"/>
            <a:ext cx="838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[253]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80" name="Google Shape;880;p26"/>
          <p:cNvSpPr txBox="1"/>
          <p:nvPr/>
        </p:nvSpPr>
        <p:spPr>
          <a:xfrm>
            <a:off x="1295400" y="3976688"/>
            <a:ext cx="838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[193]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881" name="Google Shape;881;p26"/>
          <p:cNvCxnSpPr/>
          <p:nvPr/>
        </p:nvCxnSpPr>
        <p:spPr>
          <a:xfrm>
            <a:off x="4419600" y="3581400"/>
            <a:ext cx="762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2" name="Google Shape;882;p26"/>
          <p:cNvSpPr txBox="1"/>
          <p:nvPr/>
        </p:nvSpPr>
        <p:spPr>
          <a:xfrm>
            <a:off x="3581400" y="4357688"/>
            <a:ext cx="838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[366]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83" name="Google Shape;883;p26"/>
          <p:cNvSpPr txBox="1"/>
          <p:nvPr/>
        </p:nvSpPr>
        <p:spPr>
          <a:xfrm>
            <a:off x="6400800" y="4038600"/>
            <a:ext cx="838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[178]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27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9" name="Google Shape;889;p27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Greedy Search: Tree Search</a:t>
            </a:r>
            <a:endParaRPr/>
          </a:p>
        </p:txBody>
      </p:sp>
      <p:grpSp>
        <p:nvGrpSpPr>
          <p:cNvPr id="890" name="Google Shape;890;p27"/>
          <p:cNvGrpSpPr/>
          <p:nvPr/>
        </p:nvGrpSpPr>
        <p:grpSpPr>
          <a:xfrm>
            <a:off x="4114800" y="1981200"/>
            <a:ext cx="457200" cy="457200"/>
            <a:chOff x="1344" y="1248"/>
            <a:chExt cx="288" cy="288"/>
          </a:xfrm>
        </p:grpSpPr>
        <p:sp>
          <p:nvSpPr>
            <p:cNvPr id="891" name="Google Shape;891;p27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92" name="Google Shape;892;p27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A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893" name="Google Shape;893;p27"/>
          <p:cNvGrpSpPr/>
          <p:nvPr/>
        </p:nvGrpSpPr>
        <p:grpSpPr>
          <a:xfrm>
            <a:off x="5867400" y="2514600"/>
            <a:ext cx="457200" cy="457200"/>
            <a:chOff x="1344" y="1248"/>
            <a:chExt cx="288" cy="288"/>
          </a:xfrm>
        </p:grpSpPr>
        <p:sp>
          <p:nvSpPr>
            <p:cNvPr id="894" name="Google Shape;894;p27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95" name="Google Shape;895;p27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B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896" name="Google Shape;896;p27"/>
          <p:cNvGrpSpPr/>
          <p:nvPr/>
        </p:nvGrpSpPr>
        <p:grpSpPr>
          <a:xfrm>
            <a:off x="1905000" y="2667000"/>
            <a:ext cx="457200" cy="457200"/>
            <a:chOff x="1344" y="1248"/>
            <a:chExt cx="288" cy="288"/>
          </a:xfrm>
        </p:grpSpPr>
        <p:sp>
          <p:nvSpPr>
            <p:cNvPr id="897" name="Google Shape;897;p27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98" name="Google Shape;898;p27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C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899" name="Google Shape;899;p27"/>
          <p:cNvGrpSpPr/>
          <p:nvPr/>
        </p:nvGrpSpPr>
        <p:grpSpPr>
          <a:xfrm>
            <a:off x="4191000" y="3124200"/>
            <a:ext cx="457200" cy="457200"/>
            <a:chOff x="1344" y="1248"/>
            <a:chExt cx="288" cy="288"/>
          </a:xfrm>
        </p:grpSpPr>
        <p:sp>
          <p:nvSpPr>
            <p:cNvPr id="900" name="Google Shape;900;p27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901" name="Google Shape;901;p27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E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902" name="Google Shape;902;p27"/>
          <p:cNvGrpSpPr/>
          <p:nvPr/>
        </p:nvGrpSpPr>
        <p:grpSpPr>
          <a:xfrm>
            <a:off x="5943600" y="4038600"/>
            <a:ext cx="457200" cy="457200"/>
            <a:chOff x="1344" y="1248"/>
            <a:chExt cx="288" cy="288"/>
          </a:xfrm>
        </p:grpSpPr>
        <p:sp>
          <p:nvSpPr>
            <p:cNvPr id="903" name="Google Shape;903;p27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904" name="Google Shape;904;p27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F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905" name="Google Shape;905;p27"/>
          <p:cNvGrpSpPr/>
          <p:nvPr/>
        </p:nvGrpSpPr>
        <p:grpSpPr>
          <a:xfrm>
            <a:off x="6781800" y="5257800"/>
            <a:ext cx="457200" cy="457200"/>
            <a:chOff x="1344" y="1248"/>
            <a:chExt cx="288" cy="288"/>
          </a:xfrm>
        </p:grpSpPr>
        <p:sp>
          <p:nvSpPr>
            <p:cNvPr id="906" name="Google Shape;906;p27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907" name="Google Shape;907;p27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I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908" name="Google Shape;908;p27"/>
          <p:cNvCxnSpPr/>
          <p:nvPr/>
        </p:nvCxnSpPr>
        <p:spPr>
          <a:xfrm>
            <a:off x="4419600" y="3581400"/>
            <a:ext cx="17526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9" name="Google Shape;909;p27"/>
          <p:cNvCxnSpPr/>
          <p:nvPr/>
        </p:nvCxnSpPr>
        <p:spPr>
          <a:xfrm>
            <a:off x="6172200" y="4495800"/>
            <a:ext cx="8382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0" name="Google Shape;910;p27"/>
          <p:cNvSpPr txBox="1"/>
          <p:nvPr/>
        </p:nvSpPr>
        <p:spPr>
          <a:xfrm>
            <a:off x="4953000" y="3429000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99</a:t>
            </a:r>
            <a:endParaRPr b="1" i="0" sz="1800" u="none" cap="none" strike="noStrike">
              <a:solidFill>
                <a:schemeClr val="accent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11" name="Google Shape;911;p27"/>
          <p:cNvSpPr txBox="1"/>
          <p:nvPr/>
        </p:nvSpPr>
        <p:spPr>
          <a:xfrm>
            <a:off x="6477000" y="45720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211</a:t>
            </a:r>
            <a:endParaRPr b="1" i="0" sz="1800" u="none" cap="none" strike="noStrike">
              <a:solidFill>
                <a:schemeClr val="accent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912" name="Google Shape;912;p27"/>
          <p:cNvGrpSpPr/>
          <p:nvPr/>
        </p:nvGrpSpPr>
        <p:grpSpPr>
          <a:xfrm>
            <a:off x="1981200" y="4038600"/>
            <a:ext cx="457200" cy="457200"/>
            <a:chOff x="1344" y="1248"/>
            <a:chExt cx="288" cy="288"/>
          </a:xfrm>
        </p:grpSpPr>
        <p:sp>
          <p:nvSpPr>
            <p:cNvPr id="913" name="Google Shape;913;p27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914" name="Google Shape;914;p27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G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915" name="Google Shape;915;p27"/>
          <p:cNvGrpSpPr/>
          <p:nvPr/>
        </p:nvGrpSpPr>
        <p:grpSpPr>
          <a:xfrm>
            <a:off x="4267200" y="4267200"/>
            <a:ext cx="457200" cy="457200"/>
            <a:chOff x="1344" y="1248"/>
            <a:chExt cx="288" cy="288"/>
          </a:xfrm>
        </p:grpSpPr>
        <p:sp>
          <p:nvSpPr>
            <p:cNvPr id="916" name="Google Shape;916;p27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917" name="Google Shape;917;p27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A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918" name="Google Shape;918;p27"/>
          <p:cNvCxnSpPr/>
          <p:nvPr/>
        </p:nvCxnSpPr>
        <p:spPr>
          <a:xfrm flipH="1">
            <a:off x="2133600" y="3581400"/>
            <a:ext cx="22860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9" name="Google Shape;919;p27"/>
          <p:cNvCxnSpPr/>
          <p:nvPr/>
        </p:nvCxnSpPr>
        <p:spPr>
          <a:xfrm flipH="1">
            <a:off x="5562600" y="4495800"/>
            <a:ext cx="533400" cy="83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0" name="Google Shape;920;p27"/>
          <p:cNvSpPr txBox="1"/>
          <p:nvPr/>
        </p:nvSpPr>
        <p:spPr>
          <a:xfrm>
            <a:off x="3048000" y="3505200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80</a:t>
            </a:r>
            <a:endParaRPr b="1" i="0" sz="1800" u="none" cap="none" strike="noStrike">
              <a:solidFill>
                <a:schemeClr val="accent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921" name="Google Shape;921;p27"/>
          <p:cNvCxnSpPr/>
          <p:nvPr/>
        </p:nvCxnSpPr>
        <p:spPr>
          <a:xfrm>
            <a:off x="4343400" y="2438400"/>
            <a:ext cx="175260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2" name="Google Shape;922;p27"/>
          <p:cNvCxnSpPr/>
          <p:nvPr/>
        </p:nvCxnSpPr>
        <p:spPr>
          <a:xfrm>
            <a:off x="4343400" y="2438400"/>
            <a:ext cx="762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3" name="Google Shape;923;p27"/>
          <p:cNvCxnSpPr/>
          <p:nvPr/>
        </p:nvCxnSpPr>
        <p:spPr>
          <a:xfrm flipH="1">
            <a:off x="2133600" y="2438400"/>
            <a:ext cx="2209800" cy="22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4" name="Google Shape;924;p27"/>
          <p:cNvSpPr txBox="1"/>
          <p:nvPr/>
        </p:nvSpPr>
        <p:spPr>
          <a:xfrm>
            <a:off x="4572000" y="18288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Start</a:t>
            </a:r>
            <a:endParaRPr b="1" i="0" sz="1800" u="none" cap="none" strike="noStrik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25" name="Google Shape;925;p27"/>
          <p:cNvSpPr txBox="1"/>
          <p:nvPr/>
        </p:nvSpPr>
        <p:spPr>
          <a:xfrm>
            <a:off x="6553200" y="58674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Goal</a:t>
            </a:r>
            <a:endParaRPr b="1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26" name="Google Shape;926;p27"/>
          <p:cNvSpPr txBox="1"/>
          <p:nvPr/>
        </p:nvSpPr>
        <p:spPr>
          <a:xfrm>
            <a:off x="4800600" y="2133600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75</a:t>
            </a:r>
            <a:endParaRPr b="1" i="0" sz="1800" u="none" cap="none" strike="noStrike">
              <a:solidFill>
                <a:schemeClr val="accent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27" name="Google Shape;927;p27"/>
          <p:cNvSpPr txBox="1"/>
          <p:nvPr/>
        </p:nvSpPr>
        <p:spPr>
          <a:xfrm>
            <a:off x="2895600" y="22098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118</a:t>
            </a:r>
            <a:endParaRPr b="1" i="0" sz="1800" u="none" cap="none" strike="noStrike">
              <a:solidFill>
                <a:schemeClr val="accent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28" name="Google Shape;928;p27"/>
          <p:cNvSpPr txBox="1"/>
          <p:nvPr/>
        </p:nvSpPr>
        <p:spPr>
          <a:xfrm>
            <a:off x="4343400" y="2681288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140</a:t>
            </a:r>
            <a:endParaRPr b="1" i="0" sz="1800" u="none" cap="none" strike="noStrike">
              <a:solidFill>
                <a:schemeClr val="accent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29" name="Google Shape;929;p27"/>
          <p:cNvSpPr txBox="1"/>
          <p:nvPr/>
        </p:nvSpPr>
        <p:spPr>
          <a:xfrm>
            <a:off x="5181600" y="2605088"/>
            <a:ext cx="838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[374]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30" name="Google Shape;930;p27"/>
          <p:cNvSpPr txBox="1"/>
          <p:nvPr/>
        </p:nvSpPr>
        <p:spPr>
          <a:xfrm>
            <a:off x="1143000" y="2667000"/>
            <a:ext cx="838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[329]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31" name="Google Shape;931;p27"/>
          <p:cNvSpPr txBox="1"/>
          <p:nvPr/>
        </p:nvSpPr>
        <p:spPr>
          <a:xfrm>
            <a:off x="3505200" y="3214688"/>
            <a:ext cx="838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[253]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32" name="Google Shape;932;p27"/>
          <p:cNvSpPr txBox="1"/>
          <p:nvPr/>
        </p:nvSpPr>
        <p:spPr>
          <a:xfrm>
            <a:off x="1295400" y="3976688"/>
            <a:ext cx="838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[193]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933" name="Google Shape;933;p27"/>
          <p:cNvCxnSpPr/>
          <p:nvPr/>
        </p:nvCxnSpPr>
        <p:spPr>
          <a:xfrm>
            <a:off x="4419600" y="3581400"/>
            <a:ext cx="762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4" name="Google Shape;934;p27"/>
          <p:cNvSpPr txBox="1"/>
          <p:nvPr/>
        </p:nvSpPr>
        <p:spPr>
          <a:xfrm>
            <a:off x="3581400" y="4357688"/>
            <a:ext cx="838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[366]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35" name="Google Shape;935;p27"/>
          <p:cNvSpPr txBox="1"/>
          <p:nvPr/>
        </p:nvSpPr>
        <p:spPr>
          <a:xfrm>
            <a:off x="6400800" y="4038600"/>
            <a:ext cx="838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[178]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936" name="Google Shape;936;p27"/>
          <p:cNvGrpSpPr/>
          <p:nvPr/>
        </p:nvGrpSpPr>
        <p:grpSpPr>
          <a:xfrm>
            <a:off x="5334000" y="5334000"/>
            <a:ext cx="457200" cy="457200"/>
            <a:chOff x="1344" y="1248"/>
            <a:chExt cx="288" cy="288"/>
          </a:xfrm>
        </p:grpSpPr>
        <p:sp>
          <p:nvSpPr>
            <p:cNvPr id="937" name="Google Shape;937;p27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938" name="Google Shape;938;p27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E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939" name="Google Shape;939;p27"/>
          <p:cNvSpPr txBox="1"/>
          <p:nvPr/>
        </p:nvSpPr>
        <p:spPr>
          <a:xfrm>
            <a:off x="7239000" y="5257800"/>
            <a:ext cx="838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[0]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40" name="Google Shape;940;p27"/>
          <p:cNvSpPr txBox="1"/>
          <p:nvPr/>
        </p:nvSpPr>
        <p:spPr>
          <a:xfrm>
            <a:off x="4648200" y="5334000"/>
            <a:ext cx="838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[253]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28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6" name="Google Shape;946;p28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Greedy Search: Tree Search</a:t>
            </a:r>
            <a:endParaRPr/>
          </a:p>
        </p:txBody>
      </p:sp>
      <p:grpSp>
        <p:nvGrpSpPr>
          <p:cNvPr id="947" name="Google Shape;947;p28"/>
          <p:cNvGrpSpPr/>
          <p:nvPr/>
        </p:nvGrpSpPr>
        <p:grpSpPr>
          <a:xfrm>
            <a:off x="4114800" y="1981200"/>
            <a:ext cx="457200" cy="457200"/>
            <a:chOff x="1344" y="1248"/>
            <a:chExt cx="288" cy="288"/>
          </a:xfrm>
        </p:grpSpPr>
        <p:sp>
          <p:nvSpPr>
            <p:cNvPr id="948" name="Google Shape;948;p28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949" name="Google Shape;949;p28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A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950" name="Google Shape;950;p28"/>
          <p:cNvGrpSpPr/>
          <p:nvPr/>
        </p:nvGrpSpPr>
        <p:grpSpPr>
          <a:xfrm>
            <a:off x="5867400" y="2514600"/>
            <a:ext cx="457200" cy="457200"/>
            <a:chOff x="1344" y="1248"/>
            <a:chExt cx="288" cy="288"/>
          </a:xfrm>
        </p:grpSpPr>
        <p:sp>
          <p:nvSpPr>
            <p:cNvPr id="951" name="Google Shape;951;p28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952" name="Google Shape;952;p28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B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953" name="Google Shape;953;p28"/>
          <p:cNvGrpSpPr/>
          <p:nvPr/>
        </p:nvGrpSpPr>
        <p:grpSpPr>
          <a:xfrm>
            <a:off x="1905000" y="2667000"/>
            <a:ext cx="457200" cy="457200"/>
            <a:chOff x="1344" y="1248"/>
            <a:chExt cx="288" cy="288"/>
          </a:xfrm>
        </p:grpSpPr>
        <p:sp>
          <p:nvSpPr>
            <p:cNvPr id="954" name="Google Shape;954;p28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955" name="Google Shape;955;p28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C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956" name="Google Shape;956;p28"/>
          <p:cNvGrpSpPr/>
          <p:nvPr/>
        </p:nvGrpSpPr>
        <p:grpSpPr>
          <a:xfrm>
            <a:off x="4191000" y="3124200"/>
            <a:ext cx="457200" cy="457200"/>
            <a:chOff x="1344" y="1248"/>
            <a:chExt cx="288" cy="288"/>
          </a:xfrm>
        </p:grpSpPr>
        <p:sp>
          <p:nvSpPr>
            <p:cNvPr id="957" name="Google Shape;957;p28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958" name="Google Shape;958;p28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E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959" name="Google Shape;959;p28"/>
          <p:cNvGrpSpPr/>
          <p:nvPr/>
        </p:nvGrpSpPr>
        <p:grpSpPr>
          <a:xfrm>
            <a:off x="5943600" y="4038600"/>
            <a:ext cx="457200" cy="457200"/>
            <a:chOff x="1344" y="1248"/>
            <a:chExt cx="288" cy="288"/>
          </a:xfrm>
        </p:grpSpPr>
        <p:sp>
          <p:nvSpPr>
            <p:cNvPr id="960" name="Google Shape;960;p28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961" name="Google Shape;961;p28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F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962" name="Google Shape;962;p28"/>
          <p:cNvGrpSpPr/>
          <p:nvPr/>
        </p:nvGrpSpPr>
        <p:grpSpPr>
          <a:xfrm>
            <a:off x="6781800" y="5257800"/>
            <a:ext cx="457200" cy="457200"/>
            <a:chOff x="1344" y="1248"/>
            <a:chExt cx="288" cy="288"/>
          </a:xfrm>
        </p:grpSpPr>
        <p:sp>
          <p:nvSpPr>
            <p:cNvPr id="963" name="Google Shape;963;p28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964" name="Google Shape;964;p28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I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965" name="Google Shape;965;p28"/>
          <p:cNvCxnSpPr/>
          <p:nvPr/>
        </p:nvCxnSpPr>
        <p:spPr>
          <a:xfrm>
            <a:off x="4419600" y="3581400"/>
            <a:ext cx="17526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6" name="Google Shape;966;p28"/>
          <p:cNvCxnSpPr/>
          <p:nvPr/>
        </p:nvCxnSpPr>
        <p:spPr>
          <a:xfrm>
            <a:off x="6172200" y="4495800"/>
            <a:ext cx="8382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7" name="Google Shape;967;p28"/>
          <p:cNvSpPr txBox="1"/>
          <p:nvPr/>
        </p:nvSpPr>
        <p:spPr>
          <a:xfrm>
            <a:off x="4953000" y="3429000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99</a:t>
            </a:r>
            <a:endParaRPr b="1" i="0" sz="1800" u="none" cap="none" strike="noStrike">
              <a:solidFill>
                <a:schemeClr val="accent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68" name="Google Shape;968;p28"/>
          <p:cNvSpPr txBox="1"/>
          <p:nvPr/>
        </p:nvSpPr>
        <p:spPr>
          <a:xfrm>
            <a:off x="6477000" y="45720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211</a:t>
            </a:r>
            <a:endParaRPr b="1" i="0" sz="1800" u="none" cap="none" strike="noStrike">
              <a:solidFill>
                <a:schemeClr val="accent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969" name="Google Shape;969;p28"/>
          <p:cNvGrpSpPr/>
          <p:nvPr/>
        </p:nvGrpSpPr>
        <p:grpSpPr>
          <a:xfrm>
            <a:off x="1981200" y="4038600"/>
            <a:ext cx="457200" cy="457200"/>
            <a:chOff x="1344" y="1248"/>
            <a:chExt cx="288" cy="288"/>
          </a:xfrm>
        </p:grpSpPr>
        <p:sp>
          <p:nvSpPr>
            <p:cNvPr id="970" name="Google Shape;970;p28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971" name="Google Shape;971;p28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G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972" name="Google Shape;972;p28"/>
          <p:cNvGrpSpPr/>
          <p:nvPr/>
        </p:nvGrpSpPr>
        <p:grpSpPr>
          <a:xfrm>
            <a:off x="4267200" y="4267200"/>
            <a:ext cx="457200" cy="457200"/>
            <a:chOff x="1344" y="1248"/>
            <a:chExt cx="288" cy="288"/>
          </a:xfrm>
        </p:grpSpPr>
        <p:sp>
          <p:nvSpPr>
            <p:cNvPr id="973" name="Google Shape;973;p28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974" name="Google Shape;974;p28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A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975" name="Google Shape;975;p28"/>
          <p:cNvCxnSpPr/>
          <p:nvPr/>
        </p:nvCxnSpPr>
        <p:spPr>
          <a:xfrm flipH="1">
            <a:off x="2133600" y="3581400"/>
            <a:ext cx="22860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6" name="Google Shape;976;p28"/>
          <p:cNvCxnSpPr/>
          <p:nvPr/>
        </p:nvCxnSpPr>
        <p:spPr>
          <a:xfrm flipH="1">
            <a:off x="5562600" y="4495800"/>
            <a:ext cx="533400" cy="83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7" name="Google Shape;977;p28"/>
          <p:cNvSpPr txBox="1"/>
          <p:nvPr/>
        </p:nvSpPr>
        <p:spPr>
          <a:xfrm>
            <a:off x="3048000" y="3505200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80</a:t>
            </a:r>
            <a:endParaRPr b="1" i="0" sz="1800" u="none" cap="none" strike="noStrike">
              <a:solidFill>
                <a:schemeClr val="accent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978" name="Google Shape;978;p28"/>
          <p:cNvCxnSpPr/>
          <p:nvPr/>
        </p:nvCxnSpPr>
        <p:spPr>
          <a:xfrm>
            <a:off x="4343400" y="2438400"/>
            <a:ext cx="175260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9" name="Google Shape;979;p28"/>
          <p:cNvCxnSpPr/>
          <p:nvPr/>
        </p:nvCxnSpPr>
        <p:spPr>
          <a:xfrm>
            <a:off x="4343400" y="2438400"/>
            <a:ext cx="762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0" name="Google Shape;980;p28"/>
          <p:cNvCxnSpPr/>
          <p:nvPr/>
        </p:nvCxnSpPr>
        <p:spPr>
          <a:xfrm flipH="1">
            <a:off x="2133600" y="2438400"/>
            <a:ext cx="2209800" cy="22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1" name="Google Shape;981;p28"/>
          <p:cNvSpPr txBox="1"/>
          <p:nvPr/>
        </p:nvSpPr>
        <p:spPr>
          <a:xfrm>
            <a:off x="4572000" y="18288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Start</a:t>
            </a:r>
            <a:endParaRPr b="1" i="0" sz="1800" u="none" cap="none" strike="noStrik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82" name="Google Shape;982;p28"/>
          <p:cNvSpPr txBox="1"/>
          <p:nvPr/>
        </p:nvSpPr>
        <p:spPr>
          <a:xfrm>
            <a:off x="6553200" y="58674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Goal</a:t>
            </a:r>
            <a:endParaRPr b="1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83" name="Google Shape;983;p28"/>
          <p:cNvSpPr txBox="1"/>
          <p:nvPr/>
        </p:nvSpPr>
        <p:spPr>
          <a:xfrm>
            <a:off x="4800600" y="2133600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75</a:t>
            </a:r>
            <a:endParaRPr b="1" i="0" sz="1800" u="none" cap="none" strike="noStrike">
              <a:solidFill>
                <a:schemeClr val="accent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84" name="Google Shape;984;p28"/>
          <p:cNvSpPr txBox="1"/>
          <p:nvPr/>
        </p:nvSpPr>
        <p:spPr>
          <a:xfrm>
            <a:off x="2895600" y="22098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118</a:t>
            </a:r>
            <a:endParaRPr b="1" i="0" sz="1800" u="none" cap="none" strike="noStrike">
              <a:solidFill>
                <a:schemeClr val="accent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85" name="Google Shape;985;p28"/>
          <p:cNvSpPr txBox="1"/>
          <p:nvPr/>
        </p:nvSpPr>
        <p:spPr>
          <a:xfrm>
            <a:off x="4343400" y="2681288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140</a:t>
            </a:r>
            <a:endParaRPr b="1" i="0" sz="1800" u="none" cap="none" strike="noStrike">
              <a:solidFill>
                <a:schemeClr val="accent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86" name="Google Shape;986;p28"/>
          <p:cNvSpPr txBox="1"/>
          <p:nvPr/>
        </p:nvSpPr>
        <p:spPr>
          <a:xfrm>
            <a:off x="5181600" y="2605088"/>
            <a:ext cx="838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[374]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87" name="Google Shape;987;p28"/>
          <p:cNvSpPr txBox="1"/>
          <p:nvPr/>
        </p:nvSpPr>
        <p:spPr>
          <a:xfrm>
            <a:off x="1143000" y="2667000"/>
            <a:ext cx="838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[329]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88" name="Google Shape;988;p28"/>
          <p:cNvSpPr txBox="1"/>
          <p:nvPr/>
        </p:nvSpPr>
        <p:spPr>
          <a:xfrm>
            <a:off x="3505200" y="3214688"/>
            <a:ext cx="838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[253]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89" name="Google Shape;989;p28"/>
          <p:cNvSpPr txBox="1"/>
          <p:nvPr/>
        </p:nvSpPr>
        <p:spPr>
          <a:xfrm>
            <a:off x="1295400" y="3976688"/>
            <a:ext cx="838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[193]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990" name="Google Shape;990;p28"/>
          <p:cNvCxnSpPr/>
          <p:nvPr/>
        </p:nvCxnSpPr>
        <p:spPr>
          <a:xfrm>
            <a:off x="4419600" y="3581400"/>
            <a:ext cx="762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1" name="Google Shape;991;p28"/>
          <p:cNvSpPr txBox="1"/>
          <p:nvPr/>
        </p:nvSpPr>
        <p:spPr>
          <a:xfrm>
            <a:off x="3581400" y="4357688"/>
            <a:ext cx="838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[366]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92" name="Google Shape;992;p28"/>
          <p:cNvSpPr txBox="1"/>
          <p:nvPr/>
        </p:nvSpPr>
        <p:spPr>
          <a:xfrm>
            <a:off x="6400800" y="4038600"/>
            <a:ext cx="838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[178]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993" name="Google Shape;993;p28"/>
          <p:cNvGrpSpPr/>
          <p:nvPr/>
        </p:nvGrpSpPr>
        <p:grpSpPr>
          <a:xfrm>
            <a:off x="5334000" y="5334000"/>
            <a:ext cx="457200" cy="457200"/>
            <a:chOff x="1344" y="1248"/>
            <a:chExt cx="288" cy="288"/>
          </a:xfrm>
        </p:grpSpPr>
        <p:sp>
          <p:nvSpPr>
            <p:cNvPr id="994" name="Google Shape;994;p28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995" name="Google Shape;995;p28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E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996" name="Google Shape;996;p28"/>
          <p:cNvSpPr txBox="1"/>
          <p:nvPr/>
        </p:nvSpPr>
        <p:spPr>
          <a:xfrm>
            <a:off x="7239000" y="5257800"/>
            <a:ext cx="838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[0]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97" name="Google Shape;997;p28"/>
          <p:cNvSpPr txBox="1"/>
          <p:nvPr/>
        </p:nvSpPr>
        <p:spPr>
          <a:xfrm>
            <a:off x="4648200" y="5334000"/>
            <a:ext cx="838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[253]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98" name="Google Shape;998;p28"/>
          <p:cNvSpPr txBox="1"/>
          <p:nvPr/>
        </p:nvSpPr>
        <p:spPr>
          <a:xfrm>
            <a:off x="152400" y="6078538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Heuristic</a:t>
            </a:r>
            <a:r>
              <a:rPr b="1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(A-E-F-I) = 253 + 178 + 0 = </a:t>
            </a: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431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dist(A-E-F-I) = 140 + 99 + 211 = </a:t>
            </a:r>
            <a:r>
              <a:rPr b="1" i="0" lang="en-US" sz="1800" u="none" cap="none" strike="noStrik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450</a:t>
            </a:r>
            <a:endParaRPr b="1" i="0" sz="1800" u="none" cap="none" strike="noStrike">
              <a:solidFill>
                <a:schemeClr val="fol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p29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04" name="Google Shape;1004;p29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Greedy Search: Optimal ?</a:t>
            </a:r>
            <a:endParaRPr/>
          </a:p>
        </p:txBody>
      </p:sp>
      <p:grpSp>
        <p:nvGrpSpPr>
          <p:cNvPr id="1005" name="Google Shape;1005;p29"/>
          <p:cNvGrpSpPr/>
          <p:nvPr/>
        </p:nvGrpSpPr>
        <p:grpSpPr>
          <a:xfrm>
            <a:off x="2133600" y="1981200"/>
            <a:ext cx="457200" cy="457200"/>
            <a:chOff x="1344" y="1248"/>
            <a:chExt cx="288" cy="288"/>
          </a:xfrm>
        </p:grpSpPr>
        <p:sp>
          <p:nvSpPr>
            <p:cNvPr id="1006" name="Google Shape;1006;p29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rgbClr val="F466E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07" name="Google Shape;1007;p29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rgbClr val="F466E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A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008" name="Google Shape;1008;p29"/>
          <p:cNvGrpSpPr/>
          <p:nvPr/>
        </p:nvGrpSpPr>
        <p:grpSpPr>
          <a:xfrm>
            <a:off x="3200400" y="2514600"/>
            <a:ext cx="457200" cy="457200"/>
            <a:chOff x="1344" y="1248"/>
            <a:chExt cx="288" cy="288"/>
          </a:xfrm>
        </p:grpSpPr>
        <p:sp>
          <p:nvSpPr>
            <p:cNvPr id="1009" name="Google Shape;1009;p29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10" name="Google Shape;1010;p29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B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011" name="Google Shape;1011;p29"/>
          <p:cNvGrpSpPr/>
          <p:nvPr/>
        </p:nvGrpSpPr>
        <p:grpSpPr>
          <a:xfrm>
            <a:off x="533400" y="3429000"/>
            <a:ext cx="457200" cy="457200"/>
            <a:chOff x="1344" y="1248"/>
            <a:chExt cx="288" cy="288"/>
          </a:xfrm>
        </p:grpSpPr>
        <p:sp>
          <p:nvSpPr>
            <p:cNvPr id="1012" name="Google Shape;1012;p29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13" name="Google Shape;1013;p29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014" name="Google Shape;1014;p29"/>
          <p:cNvGrpSpPr/>
          <p:nvPr/>
        </p:nvGrpSpPr>
        <p:grpSpPr>
          <a:xfrm>
            <a:off x="1066800" y="2667000"/>
            <a:ext cx="457200" cy="457200"/>
            <a:chOff x="1344" y="1248"/>
            <a:chExt cx="288" cy="288"/>
          </a:xfrm>
        </p:grpSpPr>
        <p:sp>
          <p:nvSpPr>
            <p:cNvPr id="1015" name="Google Shape;1015;p29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16" name="Google Shape;1016;p29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C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017" name="Google Shape;1017;p29"/>
          <p:cNvGrpSpPr/>
          <p:nvPr/>
        </p:nvGrpSpPr>
        <p:grpSpPr>
          <a:xfrm>
            <a:off x="2209800" y="3124200"/>
            <a:ext cx="457200" cy="457200"/>
            <a:chOff x="1344" y="1248"/>
            <a:chExt cx="288" cy="288"/>
          </a:xfrm>
        </p:grpSpPr>
        <p:sp>
          <p:nvSpPr>
            <p:cNvPr id="1018" name="Google Shape;1018;p29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rgbClr val="F466E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19" name="Google Shape;1019;p29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rgbClr val="F466E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E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020" name="Google Shape;1020;p29"/>
          <p:cNvGrpSpPr/>
          <p:nvPr/>
        </p:nvGrpSpPr>
        <p:grpSpPr>
          <a:xfrm>
            <a:off x="2895600" y="4038600"/>
            <a:ext cx="457200" cy="457200"/>
            <a:chOff x="1344" y="1248"/>
            <a:chExt cx="288" cy="288"/>
          </a:xfrm>
        </p:grpSpPr>
        <p:sp>
          <p:nvSpPr>
            <p:cNvPr id="1021" name="Google Shape;1021;p29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22" name="Google Shape;1022;p29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F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023" name="Google Shape;1023;p29"/>
          <p:cNvGrpSpPr/>
          <p:nvPr/>
        </p:nvGrpSpPr>
        <p:grpSpPr>
          <a:xfrm>
            <a:off x="1905000" y="5715000"/>
            <a:ext cx="457200" cy="457200"/>
            <a:chOff x="1344" y="1248"/>
            <a:chExt cx="288" cy="288"/>
          </a:xfrm>
        </p:grpSpPr>
        <p:sp>
          <p:nvSpPr>
            <p:cNvPr id="1024" name="Google Shape;1024;p29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rgbClr val="F466E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25" name="Google Shape;1025;p29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rgbClr val="F466E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I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1026" name="Google Shape;1026;p29"/>
          <p:cNvCxnSpPr/>
          <p:nvPr/>
        </p:nvCxnSpPr>
        <p:spPr>
          <a:xfrm>
            <a:off x="2438400" y="3581400"/>
            <a:ext cx="6096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7" name="Google Shape;1027;p29"/>
          <p:cNvCxnSpPr/>
          <p:nvPr/>
        </p:nvCxnSpPr>
        <p:spPr>
          <a:xfrm flipH="1">
            <a:off x="2133600" y="4495800"/>
            <a:ext cx="990600" cy="1219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8" name="Google Shape;1028;p29"/>
          <p:cNvSpPr txBox="1"/>
          <p:nvPr/>
        </p:nvSpPr>
        <p:spPr>
          <a:xfrm>
            <a:off x="2667000" y="3505200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99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29" name="Google Shape;1029;p29"/>
          <p:cNvSpPr txBox="1"/>
          <p:nvPr/>
        </p:nvSpPr>
        <p:spPr>
          <a:xfrm>
            <a:off x="2667000" y="51054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211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030" name="Google Shape;1030;p29"/>
          <p:cNvGrpSpPr/>
          <p:nvPr/>
        </p:nvGrpSpPr>
        <p:grpSpPr>
          <a:xfrm>
            <a:off x="1371600" y="4038600"/>
            <a:ext cx="457200" cy="457200"/>
            <a:chOff x="1344" y="1248"/>
            <a:chExt cx="288" cy="288"/>
          </a:xfrm>
        </p:grpSpPr>
        <p:sp>
          <p:nvSpPr>
            <p:cNvPr id="1031" name="Google Shape;1031;p29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rgbClr val="F466E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32" name="Google Shape;1032;p29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rgbClr val="F466E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G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033" name="Google Shape;1033;p29"/>
          <p:cNvGrpSpPr/>
          <p:nvPr/>
        </p:nvGrpSpPr>
        <p:grpSpPr>
          <a:xfrm>
            <a:off x="1143000" y="4953000"/>
            <a:ext cx="457200" cy="457200"/>
            <a:chOff x="1344" y="1248"/>
            <a:chExt cx="288" cy="288"/>
          </a:xfrm>
        </p:grpSpPr>
        <p:sp>
          <p:nvSpPr>
            <p:cNvPr id="1034" name="Google Shape;1034;p29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rgbClr val="F466E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35" name="Google Shape;1035;p29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rgbClr val="F466E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H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1036" name="Google Shape;1036;p29"/>
          <p:cNvCxnSpPr/>
          <p:nvPr/>
        </p:nvCxnSpPr>
        <p:spPr>
          <a:xfrm flipH="1">
            <a:off x="1524000" y="3581400"/>
            <a:ext cx="9144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7" name="Google Shape;1037;p29"/>
          <p:cNvCxnSpPr/>
          <p:nvPr/>
        </p:nvCxnSpPr>
        <p:spPr>
          <a:xfrm flipH="1">
            <a:off x="1371600" y="4495800"/>
            <a:ext cx="2286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8" name="Google Shape;1038;p29"/>
          <p:cNvCxnSpPr/>
          <p:nvPr/>
        </p:nvCxnSpPr>
        <p:spPr>
          <a:xfrm>
            <a:off x="1371600" y="5410200"/>
            <a:ext cx="7620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9" name="Google Shape;1039;p29"/>
          <p:cNvSpPr txBox="1"/>
          <p:nvPr/>
        </p:nvSpPr>
        <p:spPr>
          <a:xfrm>
            <a:off x="1600200" y="3505200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80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1040" name="Google Shape;1040;p29"/>
          <p:cNvCxnSpPr/>
          <p:nvPr/>
        </p:nvCxnSpPr>
        <p:spPr>
          <a:xfrm>
            <a:off x="2362200" y="2438400"/>
            <a:ext cx="106680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1" name="Google Shape;1041;p29"/>
          <p:cNvCxnSpPr/>
          <p:nvPr/>
        </p:nvCxnSpPr>
        <p:spPr>
          <a:xfrm>
            <a:off x="2362200" y="2438400"/>
            <a:ext cx="762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2" name="Google Shape;1042;p29"/>
          <p:cNvCxnSpPr/>
          <p:nvPr/>
        </p:nvCxnSpPr>
        <p:spPr>
          <a:xfrm flipH="1">
            <a:off x="1295400" y="2438400"/>
            <a:ext cx="1066800" cy="22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3" name="Google Shape;1043;p29"/>
          <p:cNvCxnSpPr/>
          <p:nvPr/>
        </p:nvCxnSpPr>
        <p:spPr>
          <a:xfrm flipH="1">
            <a:off x="762000" y="3124200"/>
            <a:ext cx="533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4" name="Google Shape;1044;p29"/>
          <p:cNvSpPr txBox="1"/>
          <p:nvPr/>
        </p:nvSpPr>
        <p:spPr>
          <a:xfrm>
            <a:off x="2590800" y="18288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Start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45" name="Google Shape;1045;p29"/>
          <p:cNvSpPr txBox="1"/>
          <p:nvPr/>
        </p:nvSpPr>
        <p:spPr>
          <a:xfrm>
            <a:off x="2438400" y="60198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Goal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46" name="Google Shape;1046;p29"/>
          <p:cNvSpPr txBox="1"/>
          <p:nvPr/>
        </p:nvSpPr>
        <p:spPr>
          <a:xfrm>
            <a:off x="990600" y="4572000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97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47" name="Google Shape;1047;p29"/>
          <p:cNvSpPr txBox="1"/>
          <p:nvPr/>
        </p:nvSpPr>
        <p:spPr>
          <a:xfrm>
            <a:off x="1295400" y="5486400"/>
            <a:ext cx="838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101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48" name="Google Shape;1048;p29"/>
          <p:cNvSpPr txBox="1"/>
          <p:nvPr/>
        </p:nvSpPr>
        <p:spPr>
          <a:xfrm>
            <a:off x="2819400" y="2133600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75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49" name="Google Shape;1049;p29"/>
          <p:cNvSpPr txBox="1"/>
          <p:nvPr/>
        </p:nvSpPr>
        <p:spPr>
          <a:xfrm>
            <a:off x="1371600" y="22098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118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50" name="Google Shape;1050;p29"/>
          <p:cNvSpPr txBox="1"/>
          <p:nvPr/>
        </p:nvSpPr>
        <p:spPr>
          <a:xfrm>
            <a:off x="381000" y="30480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111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51" name="Google Shape;1051;p29"/>
          <p:cNvSpPr txBox="1"/>
          <p:nvPr/>
        </p:nvSpPr>
        <p:spPr>
          <a:xfrm>
            <a:off x="3657600" y="5943600"/>
            <a:ext cx="5486400" cy="779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f(n) = h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1" i="1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</a:t>
            </a:r>
            <a:r>
              <a:rPr b="1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 = straight-line distance heuristic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dist(A-E-G-H-I) =140+80+97+101=</a:t>
            </a:r>
            <a:r>
              <a:rPr b="1" i="0" lang="en-US" sz="1800" u="none" cap="none" strike="noStrike">
                <a:solidFill>
                  <a:srgbClr val="F466E0"/>
                </a:solidFill>
                <a:latin typeface="Tahoma"/>
                <a:ea typeface="Tahoma"/>
                <a:cs typeface="Tahoma"/>
                <a:sym typeface="Tahoma"/>
              </a:rPr>
              <a:t>418 </a:t>
            </a:r>
            <a:endParaRPr b="1" i="0" sz="1800" u="none" cap="none" strike="noStrike">
              <a:solidFill>
                <a:srgbClr val="F466E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aphicFrame>
        <p:nvGraphicFramePr>
          <p:cNvPr id="1052" name="Google Shape;1052;p29"/>
          <p:cNvGraphicFramePr/>
          <p:nvPr/>
        </p:nvGraphicFramePr>
        <p:xfrm>
          <a:off x="5145088" y="18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{B90EF8FA-749B-4DD1-AEA0-74944B5BCE82}</a:tableStyleId>
              </a:tblPr>
              <a:tblGrid>
                <a:gridCol w="1905000"/>
                <a:gridCol w="1905000"/>
              </a:tblGrid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State</a:t>
                      </a:r>
                      <a:endParaRPr b="1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Heuristic: h(n)</a:t>
                      </a:r>
                      <a:endParaRPr b="1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366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B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374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C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329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D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244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466E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E</a:t>
                      </a:r>
                      <a:endParaRPr b="1" i="0" sz="1800" u="none" cap="none" strike="noStrike">
                        <a:solidFill>
                          <a:srgbClr val="F466E0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466E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253</a:t>
                      </a:r>
                      <a:endParaRPr b="1" i="0" sz="1800" u="none" cap="none" strike="noStrike">
                        <a:solidFill>
                          <a:srgbClr val="F466E0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F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178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466E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G</a:t>
                      </a:r>
                      <a:endParaRPr b="1" i="0" sz="1800" u="none" cap="none" strike="noStrike">
                        <a:solidFill>
                          <a:srgbClr val="F466E0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466E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193</a:t>
                      </a:r>
                      <a:endParaRPr b="1" i="0" sz="1800" u="none" cap="none" strike="noStrike">
                        <a:solidFill>
                          <a:srgbClr val="F466E0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466E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H</a:t>
                      </a:r>
                      <a:endParaRPr b="1" i="0" sz="1800" u="none" cap="none" strike="noStrike">
                        <a:solidFill>
                          <a:srgbClr val="F466E0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466E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98</a:t>
                      </a:r>
                      <a:endParaRPr b="1" i="0" sz="1800" u="none" cap="none" strike="noStrike">
                        <a:solidFill>
                          <a:srgbClr val="F466E0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I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53" name="Google Shape;1053;p29"/>
          <p:cNvSpPr txBox="1"/>
          <p:nvPr/>
        </p:nvSpPr>
        <p:spPr>
          <a:xfrm>
            <a:off x="2362200" y="2681288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140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54" name="Google Shape;1054;p29"/>
          <p:cNvSpPr/>
          <p:nvPr/>
        </p:nvSpPr>
        <p:spPr>
          <a:xfrm>
            <a:off x="7924800" y="6248400"/>
            <a:ext cx="609600" cy="457200"/>
          </a:xfrm>
          <a:prstGeom prst="ellipse">
            <a:avLst/>
          </a:prstGeom>
          <a:noFill/>
          <a:ln cap="flat" cmpd="sng" w="9525">
            <a:solidFill>
              <a:schemeClr val="hlink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p30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60" name="Google Shape;1060;p30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Greedy Search: Complete ?</a:t>
            </a:r>
            <a:endParaRPr/>
          </a:p>
        </p:txBody>
      </p:sp>
      <p:grpSp>
        <p:nvGrpSpPr>
          <p:cNvPr id="1061" name="Google Shape;1061;p30"/>
          <p:cNvGrpSpPr/>
          <p:nvPr/>
        </p:nvGrpSpPr>
        <p:grpSpPr>
          <a:xfrm>
            <a:off x="2133600" y="1981200"/>
            <a:ext cx="457200" cy="457200"/>
            <a:chOff x="1344" y="1248"/>
            <a:chExt cx="288" cy="288"/>
          </a:xfrm>
        </p:grpSpPr>
        <p:sp>
          <p:nvSpPr>
            <p:cNvPr id="1062" name="Google Shape;1062;p30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63" name="Google Shape;1063;p30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A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064" name="Google Shape;1064;p30"/>
          <p:cNvGrpSpPr/>
          <p:nvPr/>
        </p:nvGrpSpPr>
        <p:grpSpPr>
          <a:xfrm>
            <a:off x="3200400" y="2514600"/>
            <a:ext cx="457200" cy="457200"/>
            <a:chOff x="1344" y="1248"/>
            <a:chExt cx="288" cy="288"/>
          </a:xfrm>
        </p:grpSpPr>
        <p:sp>
          <p:nvSpPr>
            <p:cNvPr id="1065" name="Google Shape;1065;p30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66" name="Google Shape;1066;p30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B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067" name="Google Shape;1067;p30"/>
          <p:cNvGrpSpPr/>
          <p:nvPr/>
        </p:nvGrpSpPr>
        <p:grpSpPr>
          <a:xfrm>
            <a:off x="533400" y="3429000"/>
            <a:ext cx="457200" cy="457200"/>
            <a:chOff x="1344" y="1248"/>
            <a:chExt cx="288" cy="288"/>
          </a:xfrm>
        </p:grpSpPr>
        <p:sp>
          <p:nvSpPr>
            <p:cNvPr id="1068" name="Google Shape;1068;p30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69" name="Google Shape;1069;p30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070" name="Google Shape;1070;p30"/>
          <p:cNvGrpSpPr/>
          <p:nvPr/>
        </p:nvGrpSpPr>
        <p:grpSpPr>
          <a:xfrm>
            <a:off x="1066800" y="2667000"/>
            <a:ext cx="457200" cy="457200"/>
            <a:chOff x="1344" y="1248"/>
            <a:chExt cx="288" cy="288"/>
          </a:xfrm>
        </p:grpSpPr>
        <p:sp>
          <p:nvSpPr>
            <p:cNvPr id="1071" name="Google Shape;1071;p30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72" name="Google Shape;1072;p30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C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073" name="Google Shape;1073;p30"/>
          <p:cNvGrpSpPr/>
          <p:nvPr/>
        </p:nvGrpSpPr>
        <p:grpSpPr>
          <a:xfrm>
            <a:off x="2209800" y="3124200"/>
            <a:ext cx="457200" cy="457200"/>
            <a:chOff x="1344" y="1248"/>
            <a:chExt cx="288" cy="288"/>
          </a:xfrm>
        </p:grpSpPr>
        <p:sp>
          <p:nvSpPr>
            <p:cNvPr id="1074" name="Google Shape;1074;p30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75" name="Google Shape;1075;p30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E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076" name="Google Shape;1076;p30"/>
          <p:cNvGrpSpPr/>
          <p:nvPr/>
        </p:nvGrpSpPr>
        <p:grpSpPr>
          <a:xfrm>
            <a:off x="2895600" y="4038600"/>
            <a:ext cx="457200" cy="457200"/>
            <a:chOff x="1344" y="1248"/>
            <a:chExt cx="288" cy="288"/>
          </a:xfrm>
        </p:grpSpPr>
        <p:sp>
          <p:nvSpPr>
            <p:cNvPr id="1077" name="Google Shape;1077;p30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78" name="Google Shape;1078;p30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F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079" name="Google Shape;1079;p30"/>
          <p:cNvGrpSpPr/>
          <p:nvPr/>
        </p:nvGrpSpPr>
        <p:grpSpPr>
          <a:xfrm>
            <a:off x="1905000" y="5715000"/>
            <a:ext cx="457200" cy="457200"/>
            <a:chOff x="1344" y="1248"/>
            <a:chExt cx="288" cy="288"/>
          </a:xfrm>
        </p:grpSpPr>
        <p:sp>
          <p:nvSpPr>
            <p:cNvPr id="1080" name="Google Shape;1080;p30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81" name="Google Shape;1081;p30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I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1082" name="Google Shape;1082;p30"/>
          <p:cNvCxnSpPr/>
          <p:nvPr/>
        </p:nvCxnSpPr>
        <p:spPr>
          <a:xfrm>
            <a:off x="2438400" y="3581400"/>
            <a:ext cx="6096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3" name="Google Shape;1083;p30"/>
          <p:cNvCxnSpPr/>
          <p:nvPr/>
        </p:nvCxnSpPr>
        <p:spPr>
          <a:xfrm flipH="1">
            <a:off x="2133600" y="4495800"/>
            <a:ext cx="990600" cy="1219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4" name="Google Shape;1084;p30"/>
          <p:cNvSpPr txBox="1"/>
          <p:nvPr/>
        </p:nvSpPr>
        <p:spPr>
          <a:xfrm>
            <a:off x="2667000" y="3505200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99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85" name="Google Shape;1085;p30"/>
          <p:cNvSpPr txBox="1"/>
          <p:nvPr/>
        </p:nvSpPr>
        <p:spPr>
          <a:xfrm>
            <a:off x="2667000" y="51054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211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086" name="Google Shape;1086;p30"/>
          <p:cNvGrpSpPr/>
          <p:nvPr/>
        </p:nvGrpSpPr>
        <p:grpSpPr>
          <a:xfrm>
            <a:off x="1371600" y="4038600"/>
            <a:ext cx="457200" cy="457200"/>
            <a:chOff x="1344" y="1248"/>
            <a:chExt cx="288" cy="288"/>
          </a:xfrm>
        </p:grpSpPr>
        <p:sp>
          <p:nvSpPr>
            <p:cNvPr id="1087" name="Google Shape;1087;p30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88" name="Google Shape;1088;p30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G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089" name="Google Shape;1089;p30"/>
          <p:cNvGrpSpPr/>
          <p:nvPr/>
        </p:nvGrpSpPr>
        <p:grpSpPr>
          <a:xfrm>
            <a:off x="1143000" y="4953000"/>
            <a:ext cx="457200" cy="457200"/>
            <a:chOff x="1344" y="1248"/>
            <a:chExt cx="288" cy="288"/>
          </a:xfrm>
        </p:grpSpPr>
        <p:sp>
          <p:nvSpPr>
            <p:cNvPr id="1090" name="Google Shape;1090;p30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91" name="Google Shape;1091;p30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H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1092" name="Google Shape;1092;p30"/>
          <p:cNvCxnSpPr/>
          <p:nvPr/>
        </p:nvCxnSpPr>
        <p:spPr>
          <a:xfrm flipH="1">
            <a:off x="1524000" y="3581400"/>
            <a:ext cx="9144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3" name="Google Shape;1093;p30"/>
          <p:cNvCxnSpPr/>
          <p:nvPr/>
        </p:nvCxnSpPr>
        <p:spPr>
          <a:xfrm flipH="1">
            <a:off x="1371600" y="4495800"/>
            <a:ext cx="2286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4" name="Google Shape;1094;p30"/>
          <p:cNvCxnSpPr/>
          <p:nvPr/>
        </p:nvCxnSpPr>
        <p:spPr>
          <a:xfrm>
            <a:off x="1371600" y="5410200"/>
            <a:ext cx="7620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95" name="Google Shape;1095;p30"/>
          <p:cNvSpPr txBox="1"/>
          <p:nvPr/>
        </p:nvSpPr>
        <p:spPr>
          <a:xfrm>
            <a:off x="1600200" y="3505200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80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1096" name="Google Shape;1096;p30"/>
          <p:cNvCxnSpPr/>
          <p:nvPr/>
        </p:nvCxnSpPr>
        <p:spPr>
          <a:xfrm>
            <a:off x="2362200" y="2438400"/>
            <a:ext cx="106680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7" name="Google Shape;1097;p30"/>
          <p:cNvCxnSpPr/>
          <p:nvPr/>
        </p:nvCxnSpPr>
        <p:spPr>
          <a:xfrm>
            <a:off x="2362200" y="2438400"/>
            <a:ext cx="762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8" name="Google Shape;1098;p30"/>
          <p:cNvCxnSpPr/>
          <p:nvPr/>
        </p:nvCxnSpPr>
        <p:spPr>
          <a:xfrm flipH="1">
            <a:off x="1295400" y="2438400"/>
            <a:ext cx="1066800" cy="22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9" name="Google Shape;1099;p30"/>
          <p:cNvCxnSpPr/>
          <p:nvPr/>
        </p:nvCxnSpPr>
        <p:spPr>
          <a:xfrm flipH="1">
            <a:off x="762000" y="3124200"/>
            <a:ext cx="533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00" name="Google Shape;1100;p30"/>
          <p:cNvSpPr txBox="1"/>
          <p:nvPr/>
        </p:nvSpPr>
        <p:spPr>
          <a:xfrm>
            <a:off x="2590800" y="18288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Start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01" name="Google Shape;1101;p30"/>
          <p:cNvSpPr txBox="1"/>
          <p:nvPr/>
        </p:nvSpPr>
        <p:spPr>
          <a:xfrm>
            <a:off x="2438400" y="60198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Goal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02" name="Google Shape;1102;p30"/>
          <p:cNvSpPr txBox="1"/>
          <p:nvPr/>
        </p:nvSpPr>
        <p:spPr>
          <a:xfrm>
            <a:off x="990600" y="4572000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97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03" name="Google Shape;1103;p30"/>
          <p:cNvSpPr txBox="1"/>
          <p:nvPr/>
        </p:nvSpPr>
        <p:spPr>
          <a:xfrm>
            <a:off x="1295400" y="5486400"/>
            <a:ext cx="838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101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04" name="Google Shape;1104;p30"/>
          <p:cNvSpPr txBox="1"/>
          <p:nvPr/>
        </p:nvSpPr>
        <p:spPr>
          <a:xfrm>
            <a:off x="2819400" y="2133600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75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05" name="Google Shape;1105;p30"/>
          <p:cNvSpPr txBox="1"/>
          <p:nvPr/>
        </p:nvSpPr>
        <p:spPr>
          <a:xfrm>
            <a:off x="1371600" y="22098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118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06" name="Google Shape;1106;p30"/>
          <p:cNvSpPr txBox="1"/>
          <p:nvPr/>
        </p:nvSpPr>
        <p:spPr>
          <a:xfrm>
            <a:off x="381000" y="30480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111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07" name="Google Shape;1107;p30"/>
          <p:cNvSpPr txBox="1"/>
          <p:nvPr/>
        </p:nvSpPr>
        <p:spPr>
          <a:xfrm>
            <a:off x="3657600" y="5943600"/>
            <a:ext cx="54864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f(n) = h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1" i="1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</a:t>
            </a:r>
            <a:r>
              <a:rPr b="1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 = straight-line distance heuristic</a:t>
            </a:r>
            <a:endParaRPr b="1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aphicFrame>
        <p:nvGraphicFramePr>
          <p:cNvPr id="1108" name="Google Shape;1108;p30"/>
          <p:cNvGraphicFramePr/>
          <p:nvPr/>
        </p:nvGraphicFramePr>
        <p:xfrm>
          <a:off x="5145088" y="18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{B90EF8FA-749B-4DD1-AEA0-74944B5BCE82}</a:tableStyleId>
              </a:tblPr>
              <a:tblGrid>
                <a:gridCol w="1905000"/>
                <a:gridCol w="1905000"/>
              </a:tblGrid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State</a:t>
                      </a:r>
                      <a:endParaRPr b="1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Heuristic: h(n)</a:t>
                      </a:r>
                      <a:endParaRPr b="1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366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B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374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**</a:t>
                      </a: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 C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250</a:t>
                      </a:r>
                      <a:endParaRPr b="1" i="0" sz="1800" u="none" cap="none" strike="noStrike">
                        <a:solidFill>
                          <a:schemeClr val="hlink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D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244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E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253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F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178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G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193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H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98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I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09" name="Google Shape;1109;p30"/>
          <p:cNvSpPr txBox="1"/>
          <p:nvPr/>
        </p:nvSpPr>
        <p:spPr>
          <a:xfrm>
            <a:off x="2362200" y="2681288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140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p31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15" name="Google Shape;1115;p31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Greedy Search: Tree Search</a:t>
            </a:r>
            <a:endParaRPr/>
          </a:p>
        </p:txBody>
      </p:sp>
      <p:grpSp>
        <p:nvGrpSpPr>
          <p:cNvPr id="1116" name="Google Shape;1116;p31"/>
          <p:cNvGrpSpPr/>
          <p:nvPr/>
        </p:nvGrpSpPr>
        <p:grpSpPr>
          <a:xfrm>
            <a:off x="4114800" y="1981200"/>
            <a:ext cx="457200" cy="457200"/>
            <a:chOff x="1344" y="1248"/>
            <a:chExt cx="288" cy="288"/>
          </a:xfrm>
        </p:grpSpPr>
        <p:sp>
          <p:nvSpPr>
            <p:cNvPr id="1117" name="Google Shape;1117;p31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18" name="Google Shape;1118;p31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A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1119" name="Google Shape;1119;p31"/>
          <p:cNvSpPr txBox="1"/>
          <p:nvPr/>
        </p:nvSpPr>
        <p:spPr>
          <a:xfrm>
            <a:off x="4572000" y="18288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Start</a:t>
            </a:r>
            <a:endParaRPr b="1" i="0" sz="1800" u="none" cap="none" strike="noStrik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p32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25" name="Google Shape;1125;p32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Greedy Search: Tree Search</a:t>
            </a:r>
            <a:endParaRPr/>
          </a:p>
        </p:txBody>
      </p:sp>
      <p:grpSp>
        <p:nvGrpSpPr>
          <p:cNvPr id="1126" name="Google Shape;1126;p32"/>
          <p:cNvGrpSpPr/>
          <p:nvPr/>
        </p:nvGrpSpPr>
        <p:grpSpPr>
          <a:xfrm>
            <a:off x="4114800" y="1981200"/>
            <a:ext cx="457200" cy="457200"/>
            <a:chOff x="1344" y="1248"/>
            <a:chExt cx="288" cy="288"/>
          </a:xfrm>
        </p:grpSpPr>
        <p:sp>
          <p:nvSpPr>
            <p:cNvPr id="1127" name="Google Shape;1127;p32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28" name="Google Shape;1128;p32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A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129" name="Google Shape;1129;p32"/>
          <p:cNvGrpSpPr/>
          <p:nvPr/>
        </p:nvGrpSpPr>
        <p:grpSpPr>
          <a:xfrm>
            <a:off x="5867400" y="2514600"/>
            <a:ext cx="457200" cy="457200"/>
            <a:chOff x="1344" y="1248"/>
            <a:chExt cx="288" cy="288"/>
          </a:xfrm>
        </p:grpSpPr>
        <p:sp>
          <p:nvSpPr>
            <p:cNvPr id="1130" name="Google Shape;1130;p32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31" name="Google Shape;1131;p32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B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132" name="Google Shape;1132;p32"/>
          <p:cNvGrpSpPr/>
          <p:nvPr/>
        </p:nvGrpSpPr>
        <p:grpSpPr>
          <a:xfrm>
            <a:off x="1905000" y="2667000"/>
            <a:ext cx="457200" cy="457200"/>
            <a:chOff x="1344" y="1248"/>
            <a:chExt cx="288" cy="288"/>
          </a:xfrm>
        </p:grpSpPr>
        <p:sp>
          <p:nvSpPr>
            <p:cNvPr id="1133" name="Google Shape;1133;p32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34" name="Google Shape;1134;p32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C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135" name="Google Shape;1135;p32"/>
          <p:cNvGrpSpPr/>
          <p:nvPr/>
        </p:nvGrpSpPr>
        <p:grpSpPr>
          <a:xfrm>
            <a:off x="4191000" y="3124200"/>
            <a:ext cx="457200" cy="457200"/>
            <a:chOff x="1344" y="1248"/>
            <a:chExt cx="288" cy="288"/>
          </a:xfrm>
        </p:grpSpPr>
        <p:sp>
          <p:nvSpPr>
            <p:cNvPr id="1136" name="Google Shape;1136;p32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37" name="Google Shape;1137;p32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E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1138" name="Google Shape;1138;p32"/>
          <p:cNvCxnSpPr/>
          <p:nvPr/>
        </p:nvCxnSpPr>
        <p:spPr>
          <a:xfrm>
            <a:off x="4343400" y="2438400"/>
            <a:ext cx="175260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9" name="Google Shape;1139;p32"/>
          <p:cNvCxnSpPr/>
          <p:nvPr/>
        </p:nvCxnSpPr>
        <p:spPr>
          <a:xfrm>
            <a:off x="4343400" y="2438400"/>
            <a:ext cx="762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0" name="Google Shape;1140;p32"/>
          <p:cNvCxnSpPr/>
          <p:nvPr/>
        </p:nvCxnSpPr>
        <p:spPr>
          <a:xfrm flipH="1">
            <a:off x="2133600" y="2438400"/>
            <a:ext cx="2209800" cy="22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41" name="Google Shape;1141;p32"/>
          <p:cNvSpPr txBox="1"/>
          <p:nvPr/>
        </p:nvSpPr>
        <p:spPr>
          <a:xfrm>
            <a:off x="4572000" y="18288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Start</a:t>
            </a:r>
            <a:endParaRPr b="1" i="0" sz="1800" u="none" cap="none" strike="noStrik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42" name="Google Shape;1142;p32"/>
          <p:cNvSpPr txBox="1"/>
          <p:nvPr/>
        </p:nvSpPr>
        <p:spPr>
          <a:xfrm>
            <a:off x="4800600" y="2133600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75</a:t>
            </a:r>
            <a:endParaRPr b="1" i="0" sz="1800" u="none" cap="none" strike="noStrike">
              <a:solidFill>
                <a:schemeClr val="accent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43" name="Google Shape;1143;p32"/>
          <p:cNvSpPr txBox="1"/>
          <p:nvPr/>
        </p:nvSpPr>
        <p:spPr>
          <a:xfrm>
            <a:off x="2895600" y="22098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118</a:t>
            </a:r>
            <a:endParaRPr b="1" i="0" sz="1800" u="none" cap="none" strike="noStrike">
              <a:solidFill>
                <a:schemeClr val="accent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44" name="Google Shape;1144;p32"/>
          <p:cNvSpPr txBox="1"/>
          <p:nvPr/>
        </p:nvSpPr>
        <p:spPr>
          <a:xfrm>
            <a:off x="4343400" y="2681288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140</a:t>
            </a:r>
            <a:endParaRPr b="1" i="0" sz="1800" u="none" cap="none" strike="noStrike">
              <a:solidFill>
                <a:schemeClr val="accent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45" name="Google Shape;1145;p32"/>
          <p:cNvSpPr txBox="1"/>
          <p:nvPr/>
        </p:nvSpPr>
        <p:spPr>
          <a:xfrm>
            <a:off x="5181600" y="2605088"/>
            <a:ext cx="838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[374]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46" name="Google Shape;1146;p32"/>
          <p:cNvSpPr txBox="1"/>
          <p:nvPr/>
        </p:nvSpPr>
        <p:spPr>
          <a:xfrm>
            <a:off x="1143000" y="2667000"/>
            <a:ext cx="838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[250]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47" name="Google Shape;1147;p32"/>
          <p:cNvSpPr txBox="1"/>
          <p:nvPr/>
        </p:nvSpPr>
        <p:spPr>
          <a:xfrm>
            <a:off x="3505200" y="3214688"/>
            <a:ext cx="838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[253]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p33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53" name="Google Shape;1153;p33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Greedy Search: Tree Search</a:t>
            </a:r>
            <a:endParaRPr/>
          </a:p>
        </p:txBody>
      </p:sp>
      <p:grpSp>
        <p:nvGrpSpPr>
          <p:cNvPr id="1154" name="Google Shape;1154;p33"/>
          <p:cNvGrpSpPr/>
          <p:nvPr/>
        </p:nvGrpSpPr>
        <p:grpSpPr>
          <a:xfrm>
            <a:off x="4114800" y="1981200"/>
            <a:ext cx="457200" cy="457200"/>
            <a:chOff x="1344" y="1248"/>
            <a:chExt cx="288" cy="288"/>
          </a:xfrm>
        </p:grpSpPr>
        <p:sp>
          <p:nvSpPr>
            <p:cNvPr id="1155" name="Google Shape;1155;p33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56" name="Google Shape;1156;p33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A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157" name="Google Shape;1157;p33"/>
          <p:cNvGrpSpPr/>
          <p:nvPr/>
        </p:nvGrpSpPr>
        <p:grpSpPr>
          <a:xfrm>
            <a:off x="5867400" y="2514600"/>
            <a:ext cx="457200" cy="457200"/>
            <a:chOff x="1344" y="1248"/>
            <a:chExt cx="288" cy="288"/>
          </a:xfrm>
        </p:grpSpPr>
        <p:sp>
          <p:nvSpPr>
            <p:cNvPr id="1158" name="Google Shape;1158;p33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59" name="Google Shape;1159;p33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B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160" name="Google Shape;1160;p33"/>
          <p:cNvGrpSpPr/>
          <p:nvPr/>
        </p:nvGrpSpPr>
        <p:grpSpPr>
          <a:xfrm>
            <a:off x="1905000" y="2667000"/>
            <a:ext cx="457200" cy="457200"/>
            <a:chOff x="1344" y="1248"/>
            <a:chExt cx="288" cy="288"/>
          </a:xfrm>
        </p:grpSpPr>
        <p:sp>
          <p:nvSpPr>
            <p:cNvPr id="1161" name="Google Shape;1161;p33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62" name="Google Shape;1162;p33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C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163" name="Google Shape;1163;p33"/>
          <p:cNvGrpSpPr/>
          <p:nvPr/>
        </p:nvGrpSpPr>
        <p:grpSpPr>
          <a:xfrm>
            <a:off x="4191000" y="3124200"/>
            <a:ext cx="457200" cy="457200"/>
            <a:chOff x="1344" y="1248"/>
            <a:chExt cx="288" cy="288"/>
          </a:xfrm>
        </p:grpSpPr>
        <p:sp>
          <p:nvSpPr>
            <p:cNvPr id="1164" name="Google Shape;1164;p33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65" name="Google Shape;1165;p33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E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166" name="Google Shape;1166;p33"/>
          <p:cNvGrpSpPr/>
          <p:nvPr/>
        </p:nvGrpSpPr>
        <p:grpSpPr>
          <a:xfrm>
            <a:off x="1600200" y="3719513"/>
            <a:ext cx="457200" cy="457200"/>
            <a:chOff x="1344" y="1248"/>
            <a:chExt cx="288" cy="288"/>
          </a:xfrm>
        </p:grpSpPr>
        <p:sp>
          <p:nvSpPr>
            <p:cNvPr id="1167" name="Google Shape;1167;p33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68" name="Google Shape;1168;p33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1169" name="Google Shape;1169;p33"/>
          <p:cNvCxnSpPr/>
          <p:nvPr/>
        </p:nvCxnSpPr>
        <p:spPr>
          <a:xfrm flipH="1">
            <a:off x="1828800" y="3124200"/>
            <a:ext cx="22860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0" name="Google Shape;1170;p33"/>
          <p:cNvSpPr txBox="1"/>
          <p:nvPr/>
        </p:nvSpPr>
        <p:spPr>
          <a:xfrm>
            <a:off x="1066800" y="33528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111</a:t>
            </a:r>
            <a:endParaRPr b="1" i="0" sz="1800" u="none" cap="none" strike="noStrike">
              <a:solidFill>
                <a:schemeClr val="accent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1171" name="Google Shape;1171;p33"/>
          <p:cNvCxnSpPr/>
          <p:nvPr/>
        </p:nvCxnSpPr>
        <p:spPr>
          <a:xfrm>
            <a:off x="4343400" y="2438400"/>
            <a:ext cx="175260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2" name="Google Shape;1172;p33"/>
          <p:cNvCxnSpPr/>
          <p:nvPr/>
        </p:nvCxnSpPr>
        <p:spPr>
          <a:xfrm>
            <a:off x="4343400" y="2438400"/>
            <a:ext cx="762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3" name="Google Shape;1173;p33"/>
          <p:cNvCxnSpPr/>
          <p:nvPr/>
        </p:nvCxnSpPr>
        <p:spPr>
          <a:xfrm flipH="1">
            <a:off x="2133600" y="2438400"/>
            <a:ext cx="2209800" cy="22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4" name="Google Shape;1174;p33"/>
          <p:cNvSpPr txBox="1"/>
          <p:nvPr/>
        </p:nvSpPr>
        <p:spPr>
          <a:xfrm>
            <a:off x="4572000" y="18288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Start</a:t>
            </a:r>
            <a:endParaRPr b="1" i="0" sz="1800" u="none" cap="none" strike="noStrik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75" name="Google Shape;1175;p33"/>
          <p:cNvSpPr txBox="1"/>
          <p:nvPr/>
        </p:nvSpPr>
        <p:spPr>
          <a:xfrm>
            <a:off x="4800600" y="2133600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75</a:t>
            </a:r>
            <a:endParaRPr b="1" i="0" sz="1800" u="none" cap="none" strike="noStrike">
              <a:solidFill>
                <a:schemeClr val="accent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76" name="Google Shape;1176;p33"/>
          <p:cNvSpPr txBox="1"/>
          <p:nvPr/>
        </p:nvSpPr>
        <p:spPr>
          <a:xfrm>
            <a:off x="2895600" y="22098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118</a:t>
            </a:r>
            <a:endParaRPr b="1" i="0" sz="1800" u="none" cap="none" strike="noStrike">
              <a:solidFill>
                <a:schemeClr val="accent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77" name="Google Shape;1177;p33"/>
          <p:cNvSpPr txBox="1"/>
          <p:nvPr/>
        </p:nvSpPr>
        <p:spPr>
          <a:xfrm>
            <a:off x="4343400" y="2681288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140</a:t>
            </a:r>
            <a:endParaRPr b="1" i="0" sz="1800" u="none" cap="none" strike="noStrike">
              <a:solidFill>
                <a:schemeClr val="accent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78" name="Google Shape;1178;p33"/>
          <p:cNvSpPr txBox="1"/>
          <p:nvPr/>
        </p:nvSpPr>
        <p:spPr>
          <a:xfrm>
            <a:off x="5181600" y="2605088"/>
            <a:ext cx="838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[374]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79" name="Google Shape;1179;p33"/>
          <p:cNvSpPr txBox="1"/>
          <p:nvPr/>
        </p:nvSpPr>
        <p:spPr>
          <a:xfrm>
            <a:off x="1143000" y="2667000"/>
            <a:ext cx="838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[250]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80" name="Google Shape;1180;p33"/>
          <p:cNvSpPr txBox="1"/>
          <p:nvPr/>
        </p:nvSpPr>
        <p:spPr>
          <a:xfrm>
            <a:off x="3505200" y="3214688"/>
            <a:ext cx="838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[253]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81" name="Google Shape;1181;p33"/>
          <p:cNvSpPr txBox="1"/>
          <p:nvPr/>
        </p:nvSpPr>
        <p:spPr>
          <a:xfrm>
            <a:off x="838200" y="3748088"/>
            <a:ext cx="838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[244]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5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p34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7" name="Google Shape;1187;p34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Greedy Search: Tree Search</a:t>
            </a:r>
            <a:endParaRPr/>
          </a:p>
        </p:txBody>
      </p:sp>
      <p:grpSp>
        <p:nvGrpSpPr>
          <p:cNvPr id="1188" name="Google Shape;1188;p34"/>
          <p:cNvGrpSpPr/>
          <p:nvPr/>
        </p:nvGrpSpPr>
        <p:grpSpPr>
          <a:xfrm>
            <a:off x="4114800" y="1981200"/>
            <a:ext cx="457200" cy="457200"/>
            <a:chOff x="1344" y="1248"/>
            <a:chExt cx="288" cy="288"/>
          </a:xfrm>
        </p:grpSpPr>
        <p:sp>
          <p:nvSpPr>
            <p:cNvPr id="1189" name="Google Shape;1189;p34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90" name="Google Shape;1190;p34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A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191" name="Google Shape;1191;p34"/>
          <p:cNvGrpSpPr/>
          <p:nvPr/>
        </p:nvGrpSpPr>
        <p:grpSpPr>
          <a:xfrm>
            <a:off x="5867400" y="2514600"/>
            <a:ext cx="457200" cy="457200"/>
            <a:chOff x="1344" y="1248"/>
            <a:chExt cx="288" cy="288"/>
          </a:xfrm>
        </p:grpSpPr>
        <p:sp>
          <p:nvSpPr>
            <p:cNvPr id="1192" name="Google Shape;1192;p34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93" name="Google Shape;1193;p34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B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194" name="Google Shape;1194;p34"/>
          <p:cNvGrpSpPr/>
          <p:nvPr/>
        </p:nvGrpSpPr>
        <p:grpSpPr>
          <a:xfrm>
            <a:off x="1905000" y="2667000"/>
            <a:ext cx="457200" cy="457200"/>
            <a:chOff x="1344" y="1248"/>
            <a:chExt cx="288" cy="288"/>
          </a:xfrm>
        </p:grpSpPr>
        <p:sp>
          <p:nvSpPr>
            <p:cNvPr id="1195" name="Google Shape;1195;p34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96" name="Google Shape;1196;p34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C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197" name="Google Shape;1197;p34"/>
          <p:cNvGrpSpPr/>
          <p:nvPr/>
        </p:nvGrpSpPr>
        <p:grpSpPr>
          <a:xfrm>
            <a:off x="4191000" y="3124200"/>
            <a:ext cx="457200" cy="457200"/>
            <a:chOff x="1344" y="1248"/>
            <a:chExt cx="288" cy="288"/>
          </a:xfrm>
        </p:grpSpPr>
        <p:sp>
          <p:nvSpPr>
            <p:cNvPr id="1198" name="Google Shape;1198;p34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99" name="Google Shape;1199;p34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E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200" name="Google Shape;1200;p34"/>
          <p:cNvGrpSpPr/>
          <p:nvPr/>
        </p:nvGrpSpPr>
        <p:grpSpPr>
          <a:xfrm>
            <a:off x="1600200" y="3719513"/>
            <a:ext cx="457200" cy="457200"/>
            <a:chOff x="1344" y="1248"/>
            <a:chExt cx="288" cy="288"/>
          </a:xfrm>
        </p:grpSpPr>
        <p:sp>
          <p:nvSpPr>
            <p:cNvPr id="1201" name="Google Shape;1201;p34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02" name="Google Shape;1202;p34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1203" name="Google Shape;1203;p34"/>
          <p:cNvCxnSpPr/>
          <p:nvPr/>
        </p:nvCxnSpPr>
        <p:spPr>
          <a:xfrm flipH="1">
            <a:off x="1828800" y="3124200"/>
            <a:ext cx="22860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4" name="Google Shape;1204;p34"/>
          <p:cNvSpPr txBox="1"/>
          <p:nvPr/>
        </p:nvSpPr>
        <p:spPr>
          <a:xfrm>
            <a:off x="1066800" y="33528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111</a:t>
            </a:r>
            <a:endParaRPr b="1" i="0" sz="1800" u="none" cap="none" strike="noStrike">
              <a:solidFill>
                <a:schemeClr val="accent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1205" name="Google Shape;1205;p34"/>
          <p:cNvCxnSpPr/>
          <p:nvPr/>
        </p:nvCxnSpPr>
        <p:spPr>
          <a:xfrm>
            <a:off x="4343400" y="2438400"/>
            <a:ext cx="175260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06" name="Google Shape;1206;p34"/>
          <p:cNvCxnSpPr/>
          <p:nvPr/>
        </p:nvCxnSpPr>
        <p:spPr>
          <a:xfrm>
            <a:off x="4343400" y="2438400"/>
            <a:ext cx="762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07" name="Google Shape;1207;p34"/>
          <p:cNvCxnSpPr/>
          <p:nvPr/>
        </p:nvCxnSpPr>
        <p:spPr>
          <a:xfrm flipH="1">
            <a:off x="2133600" y="2438400"/>
            <a:ext cx="2209800" cy="22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8" name="Google Shape;1208;p34"/>
          <p:cNvSpPr txBox="1"/>
          <p:nvPr/>
        </p:nvSpPr>
        <p:spPr>
          <a:xfrm>
            <a:off x="4572000" y="18288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Start</a:t>
            </a:r>
            <a:endParaRPr b="1" i="0" sz="1800" u="none" cap="none" strike="noStrik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09" name="Google Shape;1209;p34"/>
          <p:cNvSpPr txBox="1"/>
          <p:nvPr/>
        </p:nvSpPr>
        <p:spPr>
          <a:xfrm>
            <a:off x="4800600" y="2133600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75</a:t>
            </a:r>
            <a:endParaRPr b="1" i="0" sz="1800" u="none" cap="none" strike="noStrike">
              <a:solidFill>
                <a:schemeClr val="accent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10" name="Google Shape;1210;p34"/>
          <p:cNvSpPr txBox="1"/>
          <p:nvPr/>
        </p:nvSpPr>
        <p:spPr>
          <a:xfrm>
            <a:off x="2895600" y="22098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118</a:t>
            </a:r>
            <a:endParaRPr b="1" i="0" sz="1800" u="none" cap="none" strike="noStrike">
              <a:solidFill>
                <a:schemeClr val="accent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11" name="Google Shape;1211;p34"/>
          <p:cNvSpPr txBox="1"/>
          <p:nvPr/>
        </p:nvSpPr>
        <p:spPr>
          <a:xfrm>
            <a:off x="4343400" y="2681288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140</a:t>
            </a:r>
            <a:endParaRPr b="1" i="0" sz="1800" u="none" cap="none" strike="noStrike">
              <a:solidFill>
                <a:schemeClr val="accent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12" name="Google Shape;1212;p34"/>
          <p:cNvSpPr txBox="1"/>
          <p:nvPr/>
        </p:nvSpPr>
        <p:spPr>
          <a:xfrm>
            <a:off x="5181600" y="2605088"/>
            <a:ext cx="838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[374]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13" name="Google Shape;1213;p34"/>
          <p:cNvSpPr txBox="1"/>
          <p:nvPr/>
        </p:nvSpPr>
        <p:spPr>
          <a:xfrm>
            <a:off x="1143000" y="2667000"/>
            <a:ext cx="838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[250]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14" name="Google Shape;1214;p34"/>
          <p:cNvSpPr txBox="1"/>
          <p:nvPr/>
        </p:nvSpPr>
        <p:spPr>
          <a:xfrm>
            <a:off x="3505200" y="3214688"/>
            <a:ext cx="838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[253]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15" name="Google Shape;1215;p34"/>
          <p:cNvSpPr txBox="1"/>
          <p:nvPr/>
        </p:nvSpPr>
        <p:spPr>
          <a:xfrm>
            <a:off x="838200" y="3748088"/>
            <a:ext cx="838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[244]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216" name="Google Shape;1216;p34"/>
          <p:cNvGrpSpPr/>
          <p:nvPr/>
        </p:nvGrpSpPr>
        <p:grpSpPr>
          <a:xfrm>
            <a:off x="1371600" y="4648200"/>
            <a:ext cx="457200" cy="457200"/>
            <a:chOff x="1344" y="1248"/>
            <a:chExt cx="288" cy="288"/>
          </a:xfrm>
        </p:grpSpPr>
        <p:sp>
          <p:nvSpPr>
            <p:cNvPr id="1217" name="Google Shape;1217;p34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18" name="Google Shape;1218;p34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C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1219" name="Google Shape;1219;p34"/>
          <p:cNvCxnSpPr/>
          <p:nvPr/>
        </p:nvCxnSpPr>
        <p:spPr>
          <a:xfrm flipH="1">
            <a:off x="1600200" y="4191000"/>
            <a:ext cx="1524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20" name="Google Shape;1220;p34"/>
          <p:cNvSpPr txBox="1"/>
          <p:nvPr/>
        </p:nvSpPr>
        <p:spPr>
          <a:xfrm>
            <a:off x="609600" y="4648200"/>
            <a:ext cx="838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[250]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21" name="Google Shape;1221;p34"/>
          <p:cNvSpPr txBox="1"/>
          <p:nvPr/>
        </p:nvSpPr>
        <p:spPr>
          <a:xfrm>
            <a:off x="1981200" y="4343400"/>
            <a:ext cx="2286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Infinite Branch !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p35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27" name="Google Shape;1227;p35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Greedy Search: Tree Search</a:t>
            </a:r>
            <a:endParaRPr/>
          </a:p>
        </p:txBody>
      </p:sp>
      <p:grpSp>
        <p:nvGrpSpPr>
          <p:cNvPr id="1228" name="Google Shape;1228;p35"/>
          <p:cNvGrpSpPr/>
          <p:nvPr/>
        </p:nvGrpSpPr>
        <p:grpSpPr>
          <a:xfrm>
            <a:off x="4114800" y="1981200"/>
            <a:ext cx="457200" cy="457200"/>
            <a:chOff x="1344" y="1248"/>
            <a:chExt cx="288" cy="288"/>
          </a:xfrm>
        </p:grpSpPr>
        <p:sp>
          <p:nvSpPr>
            <p:cNvPr id="1229" name="Google Shape;1229;p35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30" name="Google Shape;1230;p35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A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231" name="Google Shape;1231;p35"/>
          <p:cNvGrpSpPr/>
          <p:nvPr/>
        </p:nvGrpSpPr>
        <p:grpSpPr>
          <a:xfrm>
            <a:off x="5867400" y="2514600"/>
            <a:ext cx="457200" cy="457200"/>
            <a:chOff x="1344" y="1248"/>
            <a:chExt cx="288" cy="288"/>
          </a:xfrm>
        </p:grpSpPr>
        <p:sp>
          <p:nvSpPr>
            <p:cNvPr id="1232" name="Google Shape;1232;p35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33" name="Google Shape;1233;p35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B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234" name="Google Shape;1234;p35"/>
          <p:cNvGrpSpPr/>
          <p:nvPr/>
        </p:nvGrpSpPr>
        <p:grpSpPr>
          <a:xfrm>
            <a:off x="1905000" y="2667000"/>
            <a:ext cx="457200" cy="457200"/>
            <a:chOff x="1344" y="1248"/>
            <a:chExt cx="288" cy="288"/>
          </a:xfrm>
        </p:grpSpPr>
        <p:sp>
          <p:nvSpPr>
            <p:cNvPr id="1235" name="Google Shape;1235;p35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36" name="Google Shape;1236;p35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C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237" name="Google Shape;1237;p35"/>
          <p:cNvGrpSpPr/>
          <p:nvPr/>
        </p:nvGrpSpPr>
        <p:grpSpPr>
          <a:xfrm>
            <a:off x="4191000" y="3124200"/>
            <a:ext cx="457200" cy="457200"/>
            <a:chOff x="1344" y="1248"/>
            <a:chExt cx="288" cy="288"/>
          </a:xfrm>
        </p:grpSpPr>
        <p:sp>
          <p:nvSpPr>
            <p:cNvPr id="1238" name="Google Shape;1238;p35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39" name="Google Shape;1239;p35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E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240" name="Google Shape;1240;p35"/>
          <p:cNvGrpSpPr/>
          <p:nvPr/>
        </p:nvGrpSpPr>
        <p:grpSpPr>
          <a:xfrm>
            <a:off x="1600200" y="3719513"/>
            <a:ext cx="457200" cy="457200"/>
            <a:chOff x="1344" y="1248"/>
            <a:chExt cx="288" cy="288"/>
          </a:xfrm>
        </p:grpSpPr>
        <p:sp>
          <p:nvSpPr>
            <p:cNvPr id="1241" name="Google Shape;1241;p35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42" name="Google Shape;1242;p35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1243" name="Google Shape;1243;p35"/>
          <p:cNvCxnSpPr/>
          <p:nvPr/>
        </p:nvCxnSpPr>
        <p:spPr>
          <a:xfrm flipH="1">
            <a:off x="1828800" y="3124200"/>
            <a:ext cx="22860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4" name="Google Shape;1244;p35"/>
          <p:cNvSpPr txBox="1"/>
          <p:nvPr/>
        </p:nvSpPr>
        <p:spPr>
          <a:xfrm>
            <a:off x="1066800" y="33528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111</a:t>
            </a:r>
            <a:endParaRPr b="1" i="0" sz="1800" u="none" cap="none" strike="noStrike">
              <a:solidFill>
                <a:schemeClr val="accent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1245" name="Google Shape;1245;p35"/>
          <p:cNvCxnSpPr/>
          <p:nvPr/>
        </p:nvCxnSpPr>
        <p:spPr>
          <a:xfrm>
            <a:off x="4343400" y="2438400"/>
            <a:ext cx="175260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46" name="Google Shape;1246;p35"/>
          <p:cNvCxnSpPr/>
          <p:nvPr/>
        </p:nvCxnSpPr>
        <p:spPr>
          <a:xfrm>
            <a:off x="4343400" y="2438400"/>
            <a:ext cx="762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47" name="Google Shape;1247;p35"/>
          <p:cNvCxnSpPr/>
          <p:nvPr/>
        </p:nvCxnSpPr>
        <p:spPr>
          <a:xfrm flipH="1">
            <a:off x="2133600" y="2438400"/>
            <a:ext cx="2209800" cy="22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8" name="Google Shape;1248;p35"/>
          <p:cNvSpPr txBox="1"/>
          <p:nvPr/>
        </p:nvSpPr>
        <p:spPr>
          <a:xfrm>
            <a:off x="4572000" y="18288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Start</a:t>
            </a:r>
            <a:endParaRPr b="1" i="0" sz="1800" u="none" cap="none" strike="noStrik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49" name="Google Shape;1249;p35"/>
          <p:cNvSpPr txBox="1"/>
          <p:nvPr/>
        </p:nvSpPr>
        <p:spPr>
          <a:xfrm>
            <a:off x="4800600" y="2133600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75</a:t>
            </a:r>
            <a:endParaRPr b="1" i="0" sz="1800" u="none" cap="none" strike="noStrike">
              <a:solidFill>
                <a:schemeClr val="accent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50" name="Google Shape;1250;p35"/>
          <p:cNvSpPr txBox="1"/>
          <p:nvPr/>
        </p:nvSpPr>
        <p:spPr>
          <a:xfrm>
            <a:off x="2895600" y="22098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118</a:t>
            </a:r>
            <a:endParaRPr b="1" i="0" sz="1800" u="none" cap="none" strike="noStrike">
              <a:solidFill>
                <a:schemeClr val="accent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51" name="Google Shape;1251;p35"/>
          <p:cNvSpPr txBox="1"/>
          <p:nvPr/>
        </p:nvSpPr>
        <p:spPr>
          <a:xfrm>
            <a:off x="4343400" y="2681288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140</a:t>
            </a:r>
            <a:endParaRPr b="1" i="0" sz="1800" u="none" cap="none" strike="noStrike">
              <a:solidFill>
                <a:schemeClr val="accent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52" name="Google Shape;1252;p35"/>
          <p:cNvSpPr txBox="1"/>
          <p:nvPr/>
        </p:nvSpPr>
        <p:spPr>
          <a:xfrm>
            <a:off x="5181600" y="2605088"/>
            <a:ext cx="838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[374]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53" name="Google Shape;1253;p35"/>
          <p:cNvSpPr txBox="1"/>
          <p:nvPr/>
        </p:nvSpPr>
        <p:spPr>
          <a:xfrm>
            <a:off x="1143000" y="2667000"/>
            <a:ext cx="838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[250]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54" name="Google Shape;1254;p35"/>
          <p:cNvSpPr txBox="1"/>
          <p:nvPr/>
        </p:nvSpPr>
        <p:spPr>
          <a:xfrm>
            <a:off x="3505200" y="3214688"/>
            <a:ext cx="838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[253]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55" name="Google Shape;1255;p35"/>
          <p:cNvSpPr txBox="1"/>
          <p:nvPr/>
        </p:nvSpPr>
        <p:spPr>
          <a:xfrm>
            <a:off x="838200" y="3748088"/>
            <a:ext cx="838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[244]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256" name="Google Shape;1256;p35"/>
          <p:cNvGrpSpPr/>
          <p:nvPr/>
        </p:nvGrpSpPr>
        <p:grpSpPr>
          <a:xfrm>
            <a:off x="1371600" y="4648200"/>
            <a:ext cx="457200" cy="457200"/>
            <a:chOff x="1344" y="1248"/>
            <a:chExt cx="288" cy="288"/>
          </a:xfrm>
        </p:grpSpPr>
        <p:sp>
          <p:nvSpPr>
            <p:cNvPr id="1257" name="Google Shape;1257;p35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58" name="Google Shape;1258;p35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C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259" name="Google Shape;1259;p35"/>
          <p:cNvGrpSpPr/>
          <p:nvPr/>
        </p:nvGrpSpPr>
        <p:grpSpPr>
          <a:xfrm>
            <a:off x="1066800" y="5715000"/>
            <a:ext cx="457200" cy="457200"/>
            <a:chOff x="1344" y="1248"/>
            <a:chExt cx="288" cy="288"/>
          </a:xfrm>
        </p:grpSpPr>
        <p:sp>
          <p:nvSpPr>
            <p:cNvPr id="1260" name="Google Shape;1260;p35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61" name="Google Shape;1261;p35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1262" name="Google Shape;1262;p35"/>
          <p:cNvCxnSpPr/>
          <p:nvPr/>
        </p:nvCxnSpPr>
        <p:spPr>
          <a:xfrm flipH="1">
            <a:off x="1600200" y="4191000"/>
            <a:ext cx="1524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63" name="Google Shape;1263;p35"/>
          <p:cNvSpPr txBox="1"/>
          <p:nvPr/>
        </p:nvSpPr>
        <p:spPr>
          <a:xfrm>
            <a:off x="609600" y="4648200"/>
            <a:ext cx="838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[250]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64" name="Google Shape;1264;p35"/>
          <p:cNvSpPr txBox="1"/>
          <p:nvPr/>
        </p:nvSpPr>
        <p:spPr>
          <a:xfrm>
            <a:off x="381000" y="5729288"/>
            <a:ext cx="838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[244]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1265" name="Google Shape;1265;p35"/>
          <p:cNvCxnSpPr/>
          <p:nvPr/>
        </p:nvCxnSpPr>
        <p:spPr>
          <a:xfrm flipH="1">
            <a:off x="1295400" y="5105400"/>
            <a:ext cx="22860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66" name="Google Shape;1266;p35"/>
          <p:cNvCxnSpPr/>
          <p:nvPr/>
        </p:nvCxnSpPr>
        <p:spPr>
          <a:xfrm flipH="1">
            <a:off x="914400" y="6172200"/>
            <a:ext cx="304800" cy="685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267" name="Google Shape;1267;p35"/>
          <p:cNvSpPr txBox="1"/>
          <p:nvPr/>
        </p:nvSpPr>
        <p:spPr>
          <a:xfrm>
            <a:off x="1981200" y="4343400"/>
            <a:ext cx="2286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Infinite Branch !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p36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73" name="Google Shape;1273;p36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Greedy Search: Tree Search</a:t>
            </a:r>
            <a:endParaRPr/>
          </a:p>
        </p:txBody>
      </p:sp>
      <p:grpSp>
        <p:nvGrpSpPr>
          <p:cNvPr id="1274" name="Google Shape;1274;p36"/>
          <p:cNvGrpSpPr/>
          <p:nvPr/>
        </p:nvGrpSpPr>
        <p:grpSpPr>
          <a:xfrm>
            <a:off x="4114800" y="1981200"/>
            <a:ext cx="457200" cy="457200"/>
            <a:chOff x="1344" y="1248"/>
            <a:chExt cx="288" cy="288"/>
          </a:xfrm>
        </p:grpSpPr>
        <p:sp>
          <p:nvSpPr>
            <p:cNvPr id="1275" name="Google Shape;1275;p36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76" name="Google Shape;1276;p36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A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277" name="Google Shape;1277;p36"/>
          <p:cNvGrpSpPr/>
          <p:nvPr/>
        </p:nvGrpSpPr>
        <p:grpSpPr>
          <a:xfrm>
            <a:off x="5867400" y="2514600"/>
            <a:ext cx="457200" cy="457200"/>
            <a:chOff x="1344" y="1248"/>
            <a:chExt cx="288" cy="288"/>
          </a:xfrm>
        </p:grpSpPr>
        <p:sp>
          <p:nvSpPr>
            <p:cNvPr id="1278" name="Google Shape;1278;p36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79" name="Google Shape;1279;p36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B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280" name="Google Shape;1280;p36"/>
          <p:cNvGrpSpPr/>
          <p:nvPr/>
        </p:nvGrpSpPr>
        <p:grpSpPr>
          <a:xfrm>
            <a:off x="1905000" y="2667000"/>
            <a:ext cx="457200" cy="457200"/>
            <a:chOff x="1344" y="1248"/>
            <a:chExt cx="288" cy="288"/>
          </a:xfrm>
        </p:grpSpPr>
        <p:sp>
          <p:nvSpPr>
            <p:cNvPr id="1281" name="Google Shape;1281;p36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82" name="Google Shape;1282;p36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C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283" name="Google Shape;1283;p36"/>
          <p:cNvGrpSpPr/>
          <p:nvPr/>
        </p:nvGrpSpPr>
        <p:grpSpPr>
          <a:xfrm>
            <a:off x="4191000" y="3124200"/>
            <a:ext cx="457200" cy="457200"/>
            <a:chOff x="1344" y="1248"/>
            <a:chExt cx="288" cy="288"/>
          </a:xfrm>
        </p:grpSpPr>
        <p:sp>
          <p:nvSpPr>
            <p:cNvPr id="1284" name="Google Shape;1284;p36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85" name="Google Shape;1285;p36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E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286" name="Google Shape;1286;p36"/>
          <p:cNvGrpSpPr/>
          <p:nvPr/>
        </p:nvGrpSpPr>
        <p:grpSpPr>
          <a:xfrm>
            <a:off x="1600200" y="3719513"/>
            <a:ext cx="457200" cy="457200"/>
            <a:chOff x="1344" y="1248"/>
            <a:chExt cx="288" cy="288"/>
          </a:xfrm>
        </p:grpSpPr>
        <p:sp>
          <p:nvSpPr>
            <p:cNvPr id="1287" name="Google Shape;1287;p36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88" name="Google Shape;1288;p36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1289" name="Google Shape;1289;p36"/>
          <p:cNvCxnSpPr/>
          <p:nvPr/>
        </p:nvCxnSpPr>
        <p:spPr>
          <a:xfrm flipH="1">
            <a:off x="1828800" y="3124200"/>
            <a:ext cx="22860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0" name="Google Shape;1290;p36"/>
          <p:cNvSpPr txBox="1"/>
          <p:nvPr/>
        </p:nvSpPr>
        <p:spPr>
          <a:xfrm>
            <a:off x="1066800" y="33528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111</a:t>
            </a:r>
            <a:endParaRPr b="1" i="0" sz="1800" u="none" cap="none" strike="noStrike">
              <a:solidFill>
                <a:schemeClr val="accent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1291" name="Google Shape;1291;p36"/>
          <p:cNvCxnSpPr/>
          <p:nvPr/>
        </p:nvCxnSpPr>
        <p:spPr>
          <a:xfrm>
            <a:off x="4343400" y="2438400"/>
            <a:ext cx="175260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2" name="Google Shape;1292;p36"/>
          <p:cNvCxnSpPr/>
          <p:nvPr/>
        </p:nvCxnSpPr>
        <p:spPr>
          <a:xfrm>
            <a:off x="4343400" y="2438400"/>
            <a:ext cx="762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3" name="Google Shape;1293;p36"/>
          <p:cNvCxnSpPr/>
          <p:nvPr/>
        </p:nvCxnSpPr>
        <p:spPr>
          <a:xfrm flipH="1">
            <a:off x="2133600" y="2438400"/>
            <a:ext cx="2209800" cy="22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4" name="Google Shape;1294;p36"/>
          <p:cNvSpPr txBox="1"/>
          <p:nvPr/>
        </p:nvSpPr>
        <p:spPr>
          <a:xfrm>
            <a:off x="4572000" y="18288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Start</a:t>
            </a:r>
            <a:endParaRPr b="1" i="0" sz="1800" u="none" cap="none" strike="noStrik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95" name="Google Shape;1295;p36"/>
          <p:cNvSpPr txBox="1"/>
          <p:nvPr/>
        </p:nvSpPr>
        <p:spPr>
          <a:xfrm>
            <a:off x="4800600" y="2133600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75</a:t>
            </a:r>
            <a:endParaRPr b="1" i="0" sz="1800" u="none" cap="none" strike="noStrike">
              <a:solidFill>
                <a:schemeClr val="accent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96" name="Google Shape;1296;p36"/>
          <p:cNvSpPr txBox="1"/>
          <p:nvPr/>
        </p:nvSpPr>
        <p:spPr>
          <a:xfrm>
            <a:off x="2895600" y="22098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118</a:t>
            </a:r>
            <a:endParaRPr b="1" i="0" sz="1800" u="none" cap="none" strike="noStrike">
              <a:solidFill>
                <a:schemeClr val="accent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97" name="Google Shape;1297;p36"/>
          <p:cNvSpPr txBox="1"/>
          <p:nvPr/>
        </p:nvSpPr>
        <p:spPr>
          <a:xfrm>
            <a:off x="4343400" y="2681288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140</a:t>
            </a:r>
            <a:endParaRPr b="1" i="0" sz="1800" u="none" cap="none" strike="noStrike">
              <a:solidFill>
                <a:schemeClr val="accent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98" name="Google Shape;1298;p36"/>
          <p:cNvSpPr txBox="1"/>
          <p:nvPr/>
        </p:nvSpPr>
        <p:spPr>
          <a:xfrm>
            <a:off x="5181600" y="2605088"/>
            <a:ext cx="838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[374]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99" name="Google Shape;1299;p36"/>
          <p:cNvSpPr txBox="1"/>
          <p:nvPr/>
        </p:nvSpPr>
        <p:spPr>
          <a:xfrm>
            <a:off x="1143000" y="2667000"/>
            <a:ext cx="838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[250]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00" name="Google Shape;1300;p36"/>
          <p:cNvSpPr txBox="1"/>
          <p:nvPr/>
        </p:nvSpPr>
        <p:spPr>
          <a:xfrm>
            <a:off x="3505200" y="3214688"/>
            <a:ext cx="838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[253]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01" name="Google Shape;1301;p36"/>
          <p:cNvSpPr txBox="1"/>
          <p:nvPr/>
        </p:nvSpPr>
        <p:spPr>
          <a:xfrm>
            <a:off x="838200" y="3748088"/>
            <a:ext cx="838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[244]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302" name="Google Shape;1302;p36"/>
          <p:cNvGrpSpPr/>
          <p:nvPr/>
        </p:nvGrpSpPr>
        <p:grpSpPr>
          <a:xfrm>
            <a:off x="1371600" y="4648200"/>
            <a:ext cx="457200" cy="457200"/>
            <a:chOff x="1344" y="1248"/>
            <a:chExt cx="288" cy="288"/>
          </a:xfrm>
        </p:grpSpPr>
        <p:sp>
          <p:nvSpPr>
            <p:cNvPr id="1303" name="Google Shape;1303;p36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04" name="Google Shape;1304;p36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C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305" name="Google Shape;1305;p36"/>
          <p:cNvGrpSpPr/>
          <p:nvPr/>
        </p:nvGrpSpPr>
        <p:grpSpPr>
          <a:xfrm>
            <a:off x="1066800" y="5715000"/>
            <a:ext cx="457200" cy="457200"/>
            <a:chOff x="1344" y="1248"/>
            <a:chExt cx="288" cy="288"/>
          </a:xfrm>
        </p:grpSpPr>
        <p:sp>
          <p:nvSpPr>
            <p:cNvPr id="1306" name="Google Shape;1306;p36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07" name="Google Shape;1307;p36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1308" name="Google Shape;1308;p36"/>
          <p:cNvCxnSpPr/>
          <p:nvPr/>
        </p:nvCxnSpPr>
        <p:spPr>
          <a:xfrm flipH="1">
            <a:off x="1600200" y="4191000"/>
            <a:ext cx="1524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09" name="Google Shape;1309;p36"/>
          <p:cNvSpPr txBox="1"/>
          <p:nvPr/>
        </p:nvSpPr>
        <p:spPr>
          <a:xfrm>
            <a:off x="609600" y="4648200"/>
            <a:ext cx="838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[250]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10" name="Google Shape;1310;p36"/>
          <p:cNvSpPr txBox="1"/>
          <p:nvPr/>
        </p:nvSpPr>
        <p:spPr>
          <a:xfrm>
            <a:off x="381000" y="5729288"/>
            <a:ext cx="838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[244]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1311" name="Google Shape;1311;p36"/>
          <p:cNvCxnSpPr/>
          <p:nvPr/>
        </p:nvCxnSpPr>
        <p:spPr>
          <a:xfrm flipH="1">
            <a:off x="1295400" y="5105400"/>
            <a:ext cx="22860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12" name="Google Shape;1312;p36"/>
          <p:cNvCxnSpPr/>
          <p:nvPr/>
        </p:nvCxnSpPr>
        <p:spPr>
          <a:xfrm flipH="1">
            <a:off x="914400" y="6172200"/>
            <a:ext cx="304800" cy="685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313" name="Google Shape;1313;p36"/>
          <p:cNvSpPr txBox="1"/>
          <p:nvPr/>
        </p:nvSpPr>
        <p:spPr>
          <a:xfrm>
            <a:off x="1981200" y="4343400"/>
            <a:ext cx="2286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Infinite Branch !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7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p37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19" name="Google Shape;1319;p37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Greedy Search: Time and Space Complexity ?</a:t>
            </a:r>
            <a:endParaRPr/>
          </a:p>
        </p:txBody>
      </p:sp>
      <p:grpSp>
        <p:nvGrpSpPr>
          <p:cNvPr id="1320" name="Google Shape;1320;p37"/>
          <p:cNvGrpSpPr/>
          <p:nvPr/>
        </p:nvGrpSpPr>
        <p:grpSpPr>
          <a:xfrm>
            <a:off x="2133600" y="1981200"/>
            <a:ext cx="457200" cy="457200"/>
            <a:chOff x="1344" y="1248"/>
            <a:chExt cx="288" cy="288"/>
          </a:xfrm>
        </p:grpSpPr>
        <p:sp>
          <p:nvSpPr>
            <p:cNvPr id="1321" name="Google Shape;1321;p37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22" name="Google Shape;1322;p37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A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323" name="Google Shape;1323;p37"/>
          <p:cNvGrpSpPr/>
          <p:nvPr/>
        </p:nvGrpSpPr>
        <p:grpSpPr>
          <a:xfrm>
            <a:off x="3200400" y="2514600"/>
            <a:ext cx="457200" cy="457200"/>
            <a:chOff x="1344" y="1248"/>
            <a:chExt cx="288" cy="288"/>
          </a:xfrm>
        </p:grpSpPr>
        <p:sp>
          <p:nvSpPr>
            <p:cNvPr id="1324" name="Google Shape;1324;p37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25" name="Google Shape;1325;p37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B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326" name="Google Shape;1326;p37"/>
          <p:cNvGrpSpPr/>
          <p:nvPr/>
        </p:nvGrpSpPr>
        <p:grpSpPr>
          <a:xfrm>
            <a:off x="533400" y="3429000"/>
            <a:ext cx="457200" cy="457200"/>
            <a:chOff x="1344" y="1248"/>
            <a:chExt cx="288" cy="288"/>
          </a:xfrm>
        </p:grpSpPr>
        <p:sp>
          <p:nvSpPr>
            <p:cNvPr id="1327" name="Google Shape;1327;p37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28" name="Google Shape;1328;p37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329" name="Google Shape;1329;p37"/>
          <p:cNvGrpSpPr/>
          <p:nvPr/>
        </p:nvGrpSpPr>
        <p:grpSpPr>
          <a:xfrm>
            <a:off x="1066800" y="2667000"/>
            <a:ext cx="457200" cy="457200"/>
            <a:chOff x="1344" y="1248"/>
            <a:chExt cx="288" cy="288"/>
          </a:xfrm>
        </p:grpSpPr>
        <p:sp>
          <p:nvSpPr>
            <p:cNvPr id="1330" name="Google Shape;1330;p37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31" name="Google Shape;1331;p37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C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332" name="Google Shape;1332;p37"/>
          <p:cNvGrpSpPr/>
          <p:nvPr/>
        </p:nvGrpSpPr>
        <p:grpSpPr>
          <a:xfrm>
            <a:off x="2209800" y="3124200"/>
            <a:ext cx="457200" cy="457200"/>
            <a:chOff x="1344" y="1248"/>
            <a:chExt cx="288" cy="288"/>
          </a:xfrm>
        </p:grpSpPr>
        <p:sp>
          <p:nvSpPr>
            <p:cNvPr id="1333" name="Google Shape;1333;p37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34" name="Google Shape;1334;p37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E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335" name="Google Shape;1335;p37"/>
          <p:cNvGrpSpPr/>
          <p:nvPr/>
        </p:nvGrpSpPr>
        <p:grpSpPr>
          <a:xfrm>
            <a:off x="2895600" y="4038600"/>
            <a:ext cx="457200" cy="457200"/>
            <a:chOff x="1344" y="1248"/>
            <a:chExt cx="288" cy="288"/>
          </a:xfrm>
        </p:grpSpPr>
        <p:sp>
          <p:nvSpPr>
            <p:cNvPr id="1336" name="Google Shape;1336;p37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37" name="Google Shape;1337;p37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F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338" name="Google Shape;1338;p37"/>
          <p:cNvGrpSpPr/>
          <p:nvPr/>
        </p:nvGrpSpPr>
        <p:grpSpPr>
          <a:xfrm>
            <a:off x="1905000" y="5715000"/>
            <a:ext cx="457200" cy="457200"/>
            <a:chOff x="1344" y="1248"/>
            <a:chExt cx="288" cy="288"/>
          </a:xfrm>
        </p:grpSpPr>
        <p:sp>
          <p:nvSpPr>
            <p:cNvPr id="1339" name="Google Shape;1339;p37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40" name="Google Shape;1340;p37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I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1341" name="Google Shape;1341;p37"/>
          <p:cNvCxnSpPr/>
          <p:nvPr/>
        </p:nvCxnSpPr>
        <p:spPr>
          <a:xfrm>
            <a:off x="2438400" y="3581400"/>
            <a:ext cx="6096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42" name="Google Shape;1342;p37"/>
          <p:cNvCxnSpPr/>
          <p:nvPr/>
        </p:nvCxnSpPr>
        <p:spPr>
          <a:xfrm flipH="1">
            <a:off x="2133600" y="4495800"/>
            <a:ext cx="990600" cy="1219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43" name="Google Shape;1343;p37"/>
          <p:cNvSpPr txBox="1"/>
          <p:nvPr/>
        </p:nvSpPr>
        <p:spPr>
          <a:xfrm>
            <a:off x="2667000" y="3505200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99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44" name="Google Shape;1344;p37"/>
          <p:cNvSpPr txBox="1"/>
          <p:nvPr/>
        </p:nvSpPr>
        <p:spPr>
          <a:xfrm>
            <a:off x="2667000" y="51054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211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345" name="Google Shape;1345;p37"/>
          <p:cNvGrpSpPr/>
          <p:nvPr/>
        </p:nvGrpSpPr>
        <p:grpSpPr>
          <a:xfrm>
            <a:off x="1371600" y="4038600"/>
            <a:ext cx="457200" cy="457200"/>
            <a:chOff x="1344" y="1248"/>
            <a:chExt cx="288" cy="288"/>
          </a:xfrm>
        </p:grpSpPr>
        <p:sp>
          <p:nvSpPr>
            <p:cNvPr id="1346" name="Google Shape;1346;p37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47" name="Google Shape;1347;p37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G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348" name="Google Shape;1348;p37"/>
          <p:cNvGrpSpPr/>
          <p:nvPr/>
        </p:nvGrpSpPr>
        <p:grpSpPr>
          <a:xfrm>
            <a:off x="1143000" y="4953000"/>
            <a:ext cx="457200" cy="457200"/>
            <a:chOff x="1344" y="1248"/>
            <a:chExt cx="288" cy="288"/>
          </a:xfrm>
        </p:grpSpPr>
        <p:sp>
          <p:nvSpPr>
            <p:cNvPr id="1349" name="Google Shape;1349;p37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50" name="Google Shape;1350;p37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H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1351" name="Google Shape;1351;p37"/>
          <p:cNvCxnSpPr/>
          <p:nvPr/>
        </p:nvCxnSpPr>
        <p:spPr>
          <a:xfrm flipH="1">
            <a:off x="1524000" y="3581400"/>
            <a:ext cx="9144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2" name="Google Shape;1352;p37"/>
          <p:cNvCxnSpPr/>
          <p:nvPr/>
        </p:nvCxnSpPr>
        <p:spPr>
          <a:xfrm flipH="1">
            <a:off x="1371600" y="4495800"/>
            <a:ext cx="2286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3" name="Google Shape;1353;p37"/>
          <p:cNvCxnSpPr/>
          <p:nvPr/>
        </p:nvCxnSpPr>
        <p:spPr>
          <a:xfrm>
            <a:off x="1371600" y="5410200"/>
            <a:ext cx="7620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54" name="Google Shape;1354;p37"/>
          <p:cNvSpPr txBox="1"/>
          <p:nvPr/>
        </p:nvSpPr>
        <p:spPr>
          <a:xfrm>
            <a:off x="1600200" y="3505200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80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1355" name="Google Shape;1355;p37"/>
          <p:cNvCxnSpPr/>
          <p:nvPr/>
        </p:nvCxnSpPr>
        <p:spPr>
          <a:xfrm>
            <a:off x="2362200" y="2438400"/>
            <a:ext cx="106680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6" name="Google Shape;1356;p37"/>
          <p:cNvCxnSpPr/>
          <p:nvPr/>
        </p:nvCxnSpPr>
        <p:spPr>
          <a:xfrm>
            <a:off x="2362200" y="2438400"/>
            <a:ext cx="762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7" name="Google Shape;1357;p37"/>
          <p:cNvCxnSpPr/>
          <p:nvPr/>
        </p:nvCxnSpPr>
        <p:spPr>
          <a:xfrm flipH="1">
            <a:off x="1295400" y="2438400"/>
            <a:ext cx="1066800" cy="22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8" name="Google Shape;1358;p37"/>
          <p:cNvCxnSpPr/>
          <p:nvPr/>
        </p:nvCxnSpPr>
        <p:spPr>
          <a:xfrm flipH="1">
            <a:off x="762000" y="3124200"/>
            <a:ext cx="533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59" name="Google Shape;1359;p37"/>
          <p:cNvSpPr txBox="1"/>
          <p:nvPr/>
        </p:nvSpPr>
        <p:spPr>
          <a:xfrm>
            <a:off x="2590800" y="18288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Start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60" name="Google Shape;1360;p37"/>
          <p:cNvSpPr txBox="1"/>
          <p:nvPr/>
        </p:nvSpPr>
        <p:spPr>
          <a:xfrm>
            <a:off x="2438400" y="60198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Goal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61" name="Google Shape;1361;p37"/>
          <p:cNvSpPr txBox="1"/>
          <p:nvPr/>
        </p:nvSpPr>
        <p:spPr>
          <a:xfrm>
            <a:off x="990600" y="4572000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97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62" name="Google Shape;1362;p37"/>
          <p:cNvSpPr txBox="1"/>
          <p:nvPr/>
        </p:nvSpPr>
        <p:spPr>
          <a:xfrm>
            <a:off x="1295400" y="5486400"/>
            <a:ext cx="838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101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63" name="Google Shape;1363;p37"/>
          <p:cNvSpPr txBox="1"/>
          <p:nvPr/>
        </p:nvSpPr>
        <p:spPr>
          <a:xfrm>
            <a:off x="2819400" y="2133600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75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64" name="Google Shape;1364;p37"/>
          <p:cNvSpPr txBox="1"/>
          <p:nvPr/>
        </p:nvSpPr>
        <p:spPr>
          <a:xfrm>
            <a:off x="1371600" y="22098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118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65" name="Google Shape;1365;p37"/>
          <p:cNvSpPr txBox="1"/>
          <p:nvPr/>
        </p:nvSpPr>
        <p:spPr>
          <a:xfrm>
            <a:off x="381000" y="30480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111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66" name="Google Shape;1366;p37"/>
          <p:cNvSpPr txBox="1"/>
          <p:nvPr/>
        </p:nvSpPr>
        <p:spPr>
          <a:xfrm>
            <a:off x="2362200" y="2681288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140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67" name="Google Shape;1367;p37"/>
          <p:cNvSpPr txBox="1"/>
          <p:nvPr/>
        </p:nvSpPr>
        <p:spPr>
          <a:xfrm>
            <a:off x="3733800" y="2133600"/>
            <a:ext cx="5181600" cy="4422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Greedy search is not optimal.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Greedy search is incomplete </a:t>
            </a:r>
            <a:r>
              <a:rPr b="0" i="0" lang="en-US" sz="2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without systematic checking of repeated states.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In the worst case, the Time and Space Complexity of Greedy Search are both O(b</a:t>
            </a:r>
            <a:r>
              <a:rPr b="0" baseline="3000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Where b is the branching factor and m the maximum path length</a:t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Google Shape;1372;p38"/>
          <p:cNvSpPr txBox="1"/>
          <p:nvPr>
            <p:ph type="ctrTitle"/>
          </p:nvPr>
        </p:nvSpPr>
        <p:spPr>
          <a:xfrm>
            <a:off x="990600" y="1676400"/>
            <a:ext cx="7772400" cy="14620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Informed Search Strategies</a:t>
            </a:r>
            <a:endParaRPr/>
          </a:p>
        </p:txBody>
      </p:sp>
      <p:sp>
        <p:nvSpPr>
          <p:cNvPr id="1373" name="Google Shape;1373;p38"/>
          <p:cNvSpPr txBox="1"/>
          <p:nvPr>
            <p:ph idx="1" type="subTitle"/>
          </p:nvPr>
        </p:nvSpPr>
        <p:spPr>
          <a:xfrm>
            <a:off x="1447800" y="3810000"/>
            <a:ext cx="670560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</a:pPr>
            <a:r>
              <a:rPr lang="en-US" sz="3600"/>
              <a:t>A* Search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rPr i="1" lang="en-US" sz="2400">
                <a:latin typeface="Times New Roman"/>
                <a:ea typeface="Times New Roman"/>
                <a:cs typeface="Times New Roman"/>
                <a:sym typeface="Times New Roman"/>
              </a:rPr>
              <a:t>eval-fn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: f(n)=g(n)+h(n)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7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Google Shape;1378;p39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79" name="Google Shape;1379;p39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A* (A Star) </a:t>
            </a:r>
            <a:endParaRPr/>
          </a:p>
        </p:txBody>
      </p:sp>
      <p:sp>
        <p:nvSpPr>
          <p:cNvPr id="1380" name="Google Shape;1380;p39"/>
          <p:cNvSpPr txBox="1"/>
          <p:nvPr>
            <p:ph idx="1" type="body"/>
          </p:nvPr>
        </p:nvSpPr>
        <p:spPr>
          <a:xfrm>
            <a:off x="1182688" y="2017713"/>
            <a:ext cx="7772400" cy="407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40"/>
              <a:buChar char="■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Greedy Search minimizes a heuristic h(n) which is an estimated cost from a node n to the goal state. Greedy Search is efficient but it is not optimal nor complete.</a:t>
            </a:r>
            <a:endParaRPr/>
          </a:p>
          <a:p>
            <a:pPr indent="-251459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Uniform Cost Search minimizes the cost g(n) from the initial state to n. UCS is optimal and complete but not efficient.</a:t>
            </a:r>
            <a:endParaRPr/>
          </a:p>
          <a:p>
            <a:pPr indent="-251459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New Strategy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: Combine Greedy Search and UCS to get an </a:t>
            </a:r>
            <a:r>
              <a:rPr lang="en-US" sz="240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efficient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algorithm which is </a:t>
            </a:r>
            <a:r>
              <a:rPr lang="en-US" sz="240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complete and optimal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4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p40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86" name="Google Shape;1386;p40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A* (A Star) </a:t>
            </a:r>
            <a:endParaRPr/>
          </a:p>
        </p:txBody>
      </p:sp>
      <p:sp>
        <p:nvSpPr>
          <p:cNvPr id="1387" name="Google Shape;1387;p40"/>
          <p:cNvSpPr txBox="1"/>
          <p:nvPr>
            <p:ph idx="1" type="body"/>
          </p:nvPr>
        </p:nvSpPr>
        <p:spPr>
          <a:xfrm>
            <a:off x="1182688" y="2017713"/>
            <a:ext cx="7772400" cy="407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20"/>
              <a:buChar char="■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A* uses an evaluation function which combines g(n) and h(n): f(n) = g(n) + h(n)</a:t>
            </a:r>
            <a:endParaRPr/>
          </a:p>
          <a:p>
            <a:pPr indent="-22098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1920"/>
              <a:buChar char="■"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g(n)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is the exact cost to reach node </a:t>
            </a:r>
            <a:r>
              <a:rPr i="1" lang="en-US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from the initial state.</a:t>
            </a:r>
            <a:endParaRPr/>
          </a:p>
          <a:p>
            <a:pPr indent="-22098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1920"/>
              <a:buChar char="■"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h(n)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is an estimation of the remaining cost to reach the goal.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1392;p41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93" name="Google Shape;1393;p41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A* (A Star) </a:t>
            </a:r>
            <a:endParaRPr/>
          </a:p>
        </p:txBody>
      </p:sp>
      <p:grpSp>
        <p:nvGrpSpPr>
          <p:cNvPr id="1394" name="Google Shape;1394;p41"/>
          <p:cNvGrpSpPr/>
          <p:nvPr/>
        </p:nvGrpSpPr>
        <p:grpSpPr>
          <a:xfrm>
            <a:off x="4914900" y="2057400"/>
            <a:ext cx="609600" cy="474663"/>
            <a:chOff x="2640" y="1776"/>
            <a:chExt cx="336" cy="240"/>
          </a:xfrm>
        </p:grpSpPr>
        <p:sp>
          <p:nvSpPr>
            <p:cNvPr id="1395" name="Google Shape;1395;p41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96" name="Google Shape;1396;p41"/>
            <p:cNvSpPr txBox="1"/>
            <p:nvPr/>
          </p:nvSpPr>
          <p:spPr>
            <a:xfrm>
              <a:off x="2736" y="1776"/>
              <a:ext cx="240" cy="1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397" name="Google Shape;1397;p41"/>
          <p:cNvGrpSpPr/>
          <p:nvPr/>
        </p:nvGrpSpPr>
        <p:grpSpPr>
          <a:xfrm>
            <a:off x="2916238" y="2911475"/>
            <a:ext cx="608012" cy="473075"/>
            <a:chOff x="2640" y="1776"/>
            <a:chExt cx="336" cy="240"/>
          </a:xfrm>
        </p:grpSpPr>
        <p:sp>
          <p:nvSpPr>
            <p:cNvPr id="1398" name="Google Shape;1398;p41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99" name="Google Shape;1399;p41"/>
            <p:cNvSpPr txBox="1"/>
            <p:nvPr/>
          </p:nvSpPr>
          <p:spPr>
            <a:xfrm>
              <a:off x="2736" y="1776"/>
              <a:ext cx="240" cy="1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400" name="Google Shape;1400;p41"/>
          <p:cNvGrpSpPr/>
          <p:nvPr/>
        </p:nvGrpSpPr>
        <p:grpSpPr>
          <a:xfrm>
            <a:off x="4394200" y="2911475"/>
            <a:ext cx="608013" cy="473075"/>
            <a:chOff x="2640" y="1776"/>
            <a:chExt cx="336" cy="240"/>
          </a:xfrm>
        </p:grpSpPr>
        <p:sp>
          <p:nvSpPr>
            <p:cNvPr id="1401" name="Google Shape;1401;p41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02" name="Google Shape;1402;p41"/>
            <p:cNvSpPr txBox="1"/>
            <p:nvPr/>
          </p:nvSpPr>
          <p:spPr>
            <a:xfrm>
              <a:off x="2736" y="1776"/>
              <a:ext cx="240" cy="1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403" name="Google Shape;1403;p41"/>
          <p:cNvGrpSpPr/>
          <p:nvPr/>
        </p:nvGrpSpPr>
        <p:grpSpPr>
          <a:xfrm>
            <a:off x="7697788" y="2911475"/>
            <a:ext cx="608012" cy="473075"/>
            <a:chOff x="2640" y="1776"/>
            <a:chExt cx="336" cy="240"/>
          </a:xfrm>
        </p:grpSpPr>
        <p:sp>
          <p:nvSpPr>
            <p:cNvPr id="1404" name="Google Shape;1404;p41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05" name="Google Shape;1405;p41"/>
            <p:cNvSpPr txBox="1"/>
            <p:nvPr/>
          </p:nvSpPr>
          <p:spPr>
            <a:xfrm>
              <a:off x="2736" y="1776"/>
              <a:ext cx="240" cy="1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406" name="Google Shape;1406;p41"/>
          <p:cNvGrpSpPr/>
          <p:nvPr/>
        </p:nvGrpSpPr>
        <p:grpSpPr>
          <a:xfrm>
            <a:off x="5872163" y="2911475"/>
            <a:ext cx="608012" cy="473075"/>
            <a:chOff x="2640" y="1776"/>
            <a:chExt cx="336" cy="240"/>
          </a:xfrm>
        </p:grpSpPr>
        <p:sp>
          <p:nvSpPr>
            <p:cNvPr id="1407" name="Google Shape;1407;p41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08" name="Google Shape;1408;p41"/>
            <p:cNvSpPr txBox="1"/>
            <p:nvPr/>
          </p:nvSpPr>
          <p:spPr>
            <a:xfrm>
              <a:off x="2736" y="1776"/>
              <a:ext cx="240" cy="1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409" name="Google Shape;1409;p41"/>
          <p:cNvGrpSpPr/>
          <p:nvPr/>
        </p:nvGrpSpPr>
        <p:grpSpPr>
          <a:xfrm>
            <a:off x="3524250" y="3763963"/>
            <a:ext cx="608013" cy="474662"/>
            <a:chOff x="2640" y="1776"/>
            <a:chExt cx="336" cy="240"/>
          </a:xfrm>
        </p:grpSpPr>
        <p:sp>
          <p:nvSpPr>
            <p:cNvPr id="1410" name="Google Shape;1410;p41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11" name="Google Shape;1411;p41"/>
            <p:cNvSpPr txBox="1"/>
            <p:nvPr/>
          </p:nvSpPr>
          <p:spPr>
            <a:xfrm>
              <a:off x="2736" y="1776"/>
              <a:ext cx="240" cy="1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n</a:t>
              </a:r>
              <a:endParaRPr b="1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412" name="Google Shape;1412;p41"/>
          <p:cNvGrpSpPr/>
          <p:nvPr/>
        </p:nvGrpSpPr>
        <p:grpSpPr>
          <a:xfrm>
            <a:off x="4829175" y="3763963"/>
            <a:ext cx="608013" cy="474662"/>
            <a:chOff x="2640" y="1776"/>
            <a:chExt cx="336" cy="240"/>
          </a:xfrm>
        </p:grpSpPr>
        <p:sp>
          <p:nvSpPr>
            <p:cNvPr id="1413" name="Google Shape;1413;p41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14" name="Google Shape;1414;p41"/>
            <p:cNvSpPr txBox="1"/>
            <p:nvPr/>
          </p:nvSpPr>
          <p:spPr>
            <a:xfrm>
              <a:off x="2736" y="1776"/>
              <a:ext cx="240" cy="1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415" name="Google Shape;1415;p41"/>
          <p:cNvGrpSpPr/>
          <p:nvPr/>
        </p:nvGrpSpPr>
        <p:grpSpPr>
          <a:xfrm>
            <a:off x="5697538" y="3763963"/>
            <a:ext cx="609600" cy="474662"/>
            <a:chOff x="2640" y="1776"/>
            <a:chExt cx="336" cy="240"/>
          </a:xfrm>
        </p:grpSpPr>
        <p:sp>
          <p:nvSpPr>
            <p:cNvPr id="1416" name="Google Shape;1416;p41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17" name="Google Shape;1417;p41"/>
            <p:cNvSpPr txBox="1"/>
            <p:nvPr/>
          </p:nvSpPr>
          <p:spPr>
            <a:xfrm>
              <a:off x="2736" y="1776"/>
              <a:ext cx="240" cy="1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418" name="Google Shape;1418;p41"/>
          <p:cNvGrpSpPr/>
          <p:nvPr/>
        </p:nvGrpSpPr>
        <p:grpSpPr>
          <a:xfrm>
            <a:off x="6827838" y="3763963"/>
            <a:ext cx="608012" cy="474662"/>
            <a:chOff x="2640" y="1776"/>
            <a:chExt cx="336" cy="240"/>
          </a:xfrm>
        </p:grpSpPr>
        <p:sp>
          <p:nvSpPr>
            <p:cNvPr id="1419" name="Google Shape;1419;p41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20" name="Google Shape;1420;p41"/>
            <p:cNvSpPr txBox="1"/>
            <p:nvPr/>
          </p:nvSpPr>
          <p:spPr>
            <a:xfrm>
              <a:off x="2736" y="1776"/>
              <a:ext cx="240" cy="1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421" name="Google Shape;1421;p41"/>
          <p:cNvGrpSpPr/>
          <p:nvPr/>
        </p:nvGrpSpPr>
        <p:grpSpPr>
          <a:xfrm>
            <a:off x="2916238" y="4806950"/>
            <a:ext cx="608012" cy="474663"/>
            <a:chOff x="2640" y="1776"/>
            <a:chExt cx="336" cy="240"/>
          </a:xfrm>
        </p:grpSpPr>
        <p:sp>
          <p:nvSpPr>
            <p:cNvPr id="1422" name="Google Shape;1422;p41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23" name="Google Shape;1423;p41"/>
            <p:cNvSpPr txBox="1"/>
            <p:nvPr/>
          </p:nvSpPr>
          <p:spPr>
            <a:xfrm>
              <a:off x="2736" y="1776"/>
              <a:ext cx="240" cy="1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424" name="Google Shape;1424;p41"/>
          <p:cNvGrpSpPr/>
          <p:nvPr/>
        </p:nvGrpSpPr>
        <p:grpSpPr>
          <a:xfrm>
            <a:off x="4046538" y="4806950"/>
            <a:ext cx="608012" cy="474663"/>
            <a:chOff x="2640" y="1776"/>
            <a:chExt cx="336" cy="240"/>
          </a:xfrm>
        </p:grpSpPr>
        <p:sp>
          <p:nvSpPr>
            <p:cNvPr id="1425" name="Google Shape;1425;p41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26" name="Google Shape;1426;p41"/>
            <p:cNvSpPr txBox="1"/>
            <p:nvPr/>
          </p:nvSpPr>
          <p:spPr>
            <a:xfrm>
              <a:off x="2736" y="1776"/>
              <a:ext cx="240" cy="1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1427" name="Google Shape;1427;p41"/>
          <p:cNvSpPr/>
          <p:nvPr/>
        </p:nvSpPr>
        <p:spPr>
          <a:xfrm>
            <a:off x="4046538" y="5849938"/>
            <a:ext cx="608012" cy="474662"/>
          </a:xfrm>
          <a:prstGeom prst="ellipse">
            <a:avLst/>
          </a:prstGeom>
          <a:solidFill>
            <a:srgbClr val="FF0000"/>
          </a:solidFill>
          <a:ln cap="flat" cmpd="dbl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28" name="Google Shape;1428;p41"/>
          <p:cNvSpPr txBox="1"/>
          <p:nvPr/>
        </p:nvSpPr>
        <p:spPr>
          <a:xfrm>
            <a:off x="4219575" y="5849938"/>
            <a:ext cx="434975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1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1429" name="Google Shape;1429;p41"/>
          <p:cNvCxnSpPr/>
          <p:nvPr/>
        </p:nvCxnSpPr>
        <p:spPr>
          <a:xfrm flipH="1">
            <a:off x="3351213" y="2532063"/>
            <a:ext cx="1825625" cy="3794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30" name="Google Shape;1430;p41"/>
          <p:cNvCxnSpPr/>
          <p:nvPr/>
        </p:nvCxnSpPr>
        <p:spPr>
          <a:xfrm flipH="1">
            <a:off x="4829175" y="2532063"/>
            <a:ext cx="347663" cy="3794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31" name="Google Shape;1431;p41"/>
          <p:cNvCxnSpPr/>
          <p:nvPr/>
        </p:nvCxnSpPr>
        <p:spPr>
          <a:xfrm>
            <a:off x="5176838" y="2532063"/>
            <a:ext cx="868362" cy="3794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32" name="Google Shape;1432;p41"/>
          <p:cNvCxnSpPr/>
          <p:nvPr/>
        </p:nvCxnSpPr>
        <p:spPr>
          <a:xfrm>
            <a:off x="5176838" y="2532063"/>
            <a:ext cx="2781300" cy="3794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33" name="Google Shape;1433;p41"/>
          <p:cNvCxnSpPr/>
          <p:nvPr/>
        </p:nvCxnSpPr>
        <p:spPr>
          <a:xfrm>
            <a:off x="3176588" y="3384550"/>
            <a:ext cx="608012" cy="37941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34" name="Google Shape;1434;p41"/>
          <p:cNvCxnSpPr/>
          <p:nvPr/>
        </p:nvCxnSpPr>
        <p:spPr>
          <a:xfrm>
            <a:off x="4829175" y="3384550"/>
            <a:ext cx="173038" cy="37941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35" name="Google Shape;1435;p41"/>
          <p:cNvCxnSpPr/>
          <p:nvPr/>
        </p:nvCxnSpPr>
        <p:spPr>
          <a:xfrm flipH="1">
            <a:off x="5957888" y="3384550"/>
            <a:ext cx="261937" cy="37941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36" name="Google Shape;1436;p41"/>
          <p:cNvCxnSpPr/>
          <p:nvPr/>
        </p:nvCxnSpPr>
        <p:spPr>
          <a:xfrm>
            <a:off x="6219825" y="3384550"/>
            <a:ext cx="782638" cy="37941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37" name="Google Shape;1437;p41"/>
          <p:cNvCxnSpPr/>
          <p:nvPr/>
        </p:nvCxnSpPr>
        <p:spPr>
          <a:xfrm flipH="1">
            <a:off x="3263900" y="4238625"/>
            <a:ext cx="608013" cy="5683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38" name="Google Shape;1438;p41"/>
          <p:cNvCxnSpPr/>
          <p:nvPr/>
        </p:nvCxnSpPr>
        <p:spPr>
          <a:xfrm>
            <a:off x="3871913" y="4238625"/>
            <a:ext cx="434975" cy="5683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1439" name="Google Shape;1439;p41"/>
          <p:cNvGrpSpPr/>
          <p:nvPr/>
        </p:nvGrpSpPr>
        <p:grpSpPr>
          <a:xfrm>
            <a:off x="5784850" y="4806950"/>
            <a:ext cx="608013" cy="474663"/>
            <a:chOff x="2640" y="1776"/>
            <a:chExt cx="336" cy="240"/>
          </a:xfrm>
        </p:grpSpPr>
        <p:sp>
          <p:nvSpPr>
            <p:cNvPr id="1440" name="Google Shape;1440;p41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41" name="Google Shape;1441;p41"/>
            <p:cNvSpPr txBox="1"/>
            <p:nvPr/>
          </p:nvSpPr>
          <p:spPr>
            <a:xfrm>
              <a:off x="2736" y="1776"/>
              <a:ext cx="240" cy="1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442" name="Google Shape;1442;p41"/>
          <p:cNvGrpSpPr/>
          <p:nvPr/>
        </p:nvGrpSpPr>
        <p:grpSpPr>
          <a:xfrm>
            <a:off x="7088188" y="4713288"/>
            <a:ext cx="609600" cy="473075"/>
            <a:chOff x="2640" y="1776"/>
            <a:chExt cx="336" cy="240"/>
          </a:xfrm>
        </p:grpSpPr>
        <p:sp>
          <p:nvSpPr>
            <p:cNvPr id="1443" name="Google Shape;1443;p41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44" name="Google Shape;1444;p41"/>
            <p:cNvSpPr txBox="1"/>
            <p:nvPr/>
          </p:nvSpPr>
          <p:spPr>
            <a:xfrm>
              <a:off x="2736" y="1776"/>
              <a:ext cx="240" cy="1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1445" name="Google Shape;1445;p41"/>
          <p:cNvCxnSpPr/>
          <p:nvPr/>
        </p:nvCxnSpPr>
        <p:spPr>
          <a:xfrm>
            <a:off x="6045200" y="4238625"/>
            <a:ext cx="87313" cy="5683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46" name="Google Shape;1446;p41"/>
          <p:cNvCxnSpPr/>
          <p:nvPr/>
        </p:nvCxnSpPr>
        <p:spPr>
          <a:xfrm>
            <a:off x="7262813" y="4238625"/>
            <a:ext cx="87312" cy="47466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47" name="Google Shape;1447;p41"/>
          <p:cNvCxnSpPr/>
          <p:nvPr/>
        </p:nvCxnSpPr>
        <p:spPr>
          <a:xfrm flipH="1">
            <a:off x="4306888" y="5281613"/>
            <a:ext cx="87312" cy="5683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1448" name="Google Shape;1448;p41"/>
          <p:cNvGrpSpPr/>
          <p:nvPr/>
        </p:nvGrpSpPr>
        <p:grpSpPr>
          <a:xfrm>
            <a:off x="3505200" y="2667000"/>
            <a:ext cx="1447800" cy="990600"/>
            <a:chOff x="1728" y="1680"/>
            <a:chExt cx="912" cy="624"/>
          </a:xfrm>
        </p:grpSpPr>
        <p:cxnSp>
          <p:nvCxnSpPr>
            <p:cNvPr id="1449" name="Google Shape;1449;p41"/>
            <p:cNvCxnSpPr/>
            <p:nvPr/>
          </p:nvCxnSpPr>
          <p:spPr>
            <a:xfrm flipH="1">
              <a:off x="1728" y="1680"/>
              <a:ext cx="912" cy="192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1450" name="Google Shape;1450;p41"/>
            <p:cNvCxnSpPr/>
            <p:nvPr/>
          </p:nvCxnSpPr>
          <p:spPr>
            <a:xfrm>
              <a:off x="1728" y="1872"/>
              <a:ext cx="288" cy="432"/>
            </a:xfrm>
            <a:prstGeom prst="straightConnector1">
              <a:avLst/>
            </a:prstGeom>
            <a:noFill/>
            <a:ln cap="rnd" cmpd="sng" w="38100">
              <a:solidFill>
                <a:schemeClr val="dk1"/>
              </a:solidFill>
              <a:prstDash val="dot"/>
              <a:round/>
              <a:headEnd len="sm" w="sm" type="none"/>
              <a:tailEnd len="med" w="med" type="triangle"/>
            </a:ln>
          </p:spPr>
        </p:cxnSp>
      </p:grpSp>
      <p:cxnSp>
        <p:nvCxnSpPr>
          <p:cNvPr id="1451" name="Google Shape;1451;p41"/>
          <p:cNvCxnSpPr/>
          <p:nvPr/>
        </p:nvCxnSpPr>
        <p:spPr>
          <a:xfrm>
            <a:off x="3810000" y="4419600"/>
            <a:ext cx="152400" cy="1524000"/>
          </a:xfrm>
          <a:prstGeom prst="straightConnector1">
            <a:avLst/>
          </a:prstGeom>
          <a:noFill/>
          <a:ln cap="rnd" cmpd="sng" w="28575">
            <a:solidFill>
              <a:schemeClr val="hlink"/>
            </a:solidFill>
            <a:prstDash val="dot"/>
            <a:round/>
            <a:headEnd len="sm" w="sm" type="none"/>
            <a:tailEnd len="med" w="med" type="triangle"/>
          </a:ln>
        </p:spPr>
      </p:cxnSp>
      <p:sp>
        <p:nvSpPr>
          <p:cNvPr id="1452" name="Google Shape;1452;p41"/>
          <p:cNvSpPr txBox="1"/>
          <p:nvPr/>
        </p:nvSpPr>
        <p:spPr>
          <a:xfrm>
            <a:off x="3657600" y="2895600"/>
            <a:ext cx="91440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g(n)</a:t>
            </a:r>
            <a:endParaRPr b="1" i="0" sz="1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53" name="Google Shape;1453;p41"/>
          <p:cNvSpPr txBox="1"/>
          <p:nvPr/>
        </p:nvSpPr>
        <p:spPr>
          <a:xfrm>
            <a:off x="3276600" y="5257800"/>
            <a:ext cx="9144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h(n)</a:t>
            </a:r>
            <a:endParaRPr b="1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54" name="Google Shape;1454;p41"/>
          <p:cNvSpPr txBox="1"/>
          <p:nvPr/>
        </p:nvSpPr>
        <p:spPr>
          <a:xfrm>
            <a:off x="1066800" y="3733800"/>
            <a:ext cx="2667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f(n) = g(n)+h(n)</a:t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8" name="Shape 1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9" name="Google Shape;1459;p42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60" name="Google Shape;1460;p42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A* Search</a:t>
            </a:r>
            <a:endParaRPr/>
          </a:p>
        </p:txBody>
      </p:sp>
      <p:sp>
        <p:nvSpPr>
          <p:cNvPr id="1461" name="Google Shape;1461;p42"/>
          <p:cNvSpPr txBox="1"/>
          <p:nvPr/>
        </p:nvSpPr>
        <p:spPr>
          <a:xfrm>
            <a:off x="2401825" y="6045196"/>
            <a:ext cx="66294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	f(n) = g(n) + h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1" i="1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</a:t>
            </a:r>
            <a:r>
              <a:rPr b="1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g(n): </a:t>
            </a: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is the exact cost to reach node </a:t>
            </a:r>
            <a:r>
              <a:rPr b="0" i="1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</a:t>
            </a: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from the initial state.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aphicFrame>
        <p:nvGraphicFramePr>
          <p:cNvPr id="1462" name="Google Shape;1462;p42"/>
          <p:cNvGraphicFramePr/>
          <p:nvPr/>
        </p:nvGraphicFramePr>
        <p:xfrm>
          <a:off x="5145088" y="18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{B90EF8FA-749B-4DD1-AEA0-74944B5BCE82}</a:tableStyleId>
              </a:tblPr>
              <a:tblGrid>
                <a:gridCol w="1905000"/>
                <a:gridCol w="1905000"/>
              </a:tblGrid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State</a:t>
                      </a:r>
                      <a:endParaRPr b="1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Heuristic: h(n)</a:t>
                      </a:r>
                      <a:endParaRPr b="1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366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B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374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C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329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D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244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E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253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F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178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G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193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H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98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I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463" name="Google Shape;1463;p42"/>
          <p:cNvGrpSpPr/>
          <p:nvPr/>
        </p:nvGrpSpPr>
        <p:grpSpPr>
          <a:xfrm>
            <a:off x="381000" y="1828800"/>
            <a:ext cx="3429000" cy="4557713"/>
            <a:chOff x="240" y="1152"/>
            <a:chExt cx="2160" cy="2871"/>
          </a:xfrm>
        </p:grpSpPr>
        <p:grpSp>
          <p:nvGrpSpPr>
            <p:cNvPr id="1464" name="Google Shape;1464;p42"/>
            <p:cNvGrpSpPr/>
            <p:nvPr/>
          </p:nvGrpSpPr>
          <p:grpSpPr>
            <a:xfrm>
              <a:off x="1344" y="1248"/>
              <a:ext cx="288" cy="288"/>
              <a:chOff x="1344" y="1248"/>
              <a:chExt cx="288" cy="288"/>
            </a:xfrm>
          </p:grpSpPr>
          <p:sp>
            <p:nvSpPr>
              <p:cNvPr id="1465" name="Google Shape;1465;p42"/>
              <p:cNvSpPr/>
              <p:nvPr/>
            </p:nvSpPr>
            <p:spPr>
              <a:xfrm>
                <a:off x="1344" y="1248"/>
                <a:ext cx="288" cy="288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466" name="Google Shape;1466;p42"/>
              <p:cNvSpPr txBox="1"/>
              <p:nvPr/>
            </p:nvSpPr>
            <p:spPr>
              <a:xfrm>
                <a:off x="1392" y="1296"/>
                <a:ext cx="192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Tahoma"/>
                    <a:ea typeface="Tahoma"/>
                    <a:cs typeface="Tahoma"/>
                    <a:sym typeface="Tahoma"/>
                  </a:rPr>
                  <a:t>A</a:t>
                </a:r>
                <a:endParaRPr b="0" i="0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1467" name="Google Shape;1467;p42"/>
            <p:cNvGrpSpPr/>
            <p:nvPr/>
          </p:nvGrpSpPr>
          <p:grpSpPr>
            <a:xfrm>
              <a:off x="2016" y="1584"/>
              <a:ext cx="288" cy="288"/>
              <a:chOff x="1344" y="1248"/>
              <a:chExt cx="288" cy="288"/>
            </a:xfrm>
          </p:grpSpPr>
          <p:sp>
            <p:nvSpPr>
              <p:cNvPr id="1468" name="Google Shape;1468;p42"/>
              <p:cNvSpPr/>
              <p:nvPr/>
            </p:nvSpPr>
            <p:spPr>
              <a:xfrm>
                <a:off x="1344" y="1248"/>
                <a:ext cx="288" cy="288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469" name="Google Shape;1469;p42"/>
              <p:cNvSpPr txBox="1"/>
              <p:nvPr/>
            </p:nvSpPr>
            <p:spPr>
              <a:xfrm>
                <a:off x="1392" y="1296"/>
                <a:ext cx="192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Tahoma"/>
                    <a:ea typeface="Tahoma"/>
                    <a:cs typeface="Tahoma"/>
                    <a:sym typeface="Tahoma"/>
                  </a:rPr>
                  <a:t>B</a:t>
                </a:r>
                <a:endParaRPr b="0" i="0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1470" name="Google Shape;1470;p42"/>
            <p:cNvGrpSpPr/>
            <p:nvPr/>
          </p:nvGrpSpPr>
          <p:grpSpPr>
            <a:xfrm>
              <a:off x="336" y="2160"/>
              <a:ext cx="288" cy="288"/>
              <a:chOff x="1344" y="1248"/>
              <a:chExt cx="288" cy="288"/>
            </a:xfrm>
          </p:grpSpPr>
          <p:sp>
            <p:nvSpPr>
              <p:cNvPr id="1471" name="Google Shape;1471;p42"/>
              <p:cNvSpPr/>
              <p:nvPr/>
            </p:nvSpPr>
            <p:spPr>
              <a:xfrm>
                <a:off x="1344" y="1248"/>
                <a:ext cx="288" cy="288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472" name="Google Shape;1472;p42"/>
              <p:cNvSpPr txBox="1"/>
              <p:nvPr/>
            </p:nvSpPr>
            <p:spPr>
              <a:xfrm>
                <a:off x="1392" y="1296"/>
                <a:ext cx="192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Tahoma"/>
                    <a:ea typeface="Tahoma"/>
                    <a:cs typeface="Tahoma"/>
                    <a:sym typeface="Tahoma"/>
                  </a:rPr>
                  <a:t>D</a:t>
                </a:r>
                <a:endParaRPr b="0" i="0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1473" name="Google Shape;1473;p42"/>
            <p:cNvGrpSpPr/>
            <p:nvPr/>
          </p:nvGrpSpPr>
          <p:grpSpPr>
            <a:xfrm>
              <a:off x="672" y="1680"/>
              <a:ext cx="288" cy="288"/>
              <a:chOff x="1344" y="1248"/>
              <a:chExt cx="288" cy="288"/>
            </a:xfrm>
          </p:grpSpPr>
          <p:sp>
            <p:nvSpPr>
              <p:cNvPr id="1474" name="Google Shape;1474;p42"/>
              <p:cNvSpPr/>
              <p:nvPr/>
            </p:nvSpPr>
            <p:spPr>
              <a:xfrm>
                <a:off x="1344" y="1248"/>
                <a:ext cx="288" cy="288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475" name="Google Shape;1475;p42"/>
              <p:cNvSpPr txBox="1"/>
              <p:nvPr/>
            </p:nvSpPr>
            <p:spPr>
              <a:xfrm>
                <a:off x="1392" y="1296"/>
                <a:ext cx="192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Tahoma"/>
                    <a:ea typeface="Tahoma"/>
                    <a:cs typeface="Tahoma"/>
                    <a:sym typeface="Tahoma"/>
                  </a:rPr>
                  <a:t>C</a:t>
                </a:r>
                <a:endParaRPr b="0" i="0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1476" name="Google Shape;1476;p42"/>
            <p:cNvGrpSpPr/>
            <p:nvPr/>
          </p:nvGrpSpPr>
          <p:grpSpPr>
            <a:xfrm>
              <a:off x="1392" y="1968"/>
              <a:ext cx="288" cy="288"/>
              <a:chOff x="1344" y="1248"/>
              <a:chExt cx="288" cy="288"/>
            </a:xfrm>
          </p:grpSpPr>
          <p:sp>
            <p:nvSpPr>
              <p:cNvPr id="1477" name="Google Shape;1477;p42"/>
              <p:cNvSpPr/>
              <p:nvPr/>
            </p:nvSpPr>
            <p:spPr>
              <a:xfrm>
                <a:off x="1344" y="1248"/>
                <a:ext cx="288" cy="288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478" name="Google Shape;1478;p42"/>
              <p:cNvSpPr txBox="1"/>
              <p:nvPr/>
            </p:nvSpPr>
            <p:spPr>
              <a:xfrm>
                <a:off x="1392" y="1296"/>
                <a:ext cx="192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Tahoma"/>
                    <a:ea typeface="Tahoma"/>
                    <a:cs typeface="Tahoma"/>
                    <a:sym typeface="Tahoma"/>
                  </a:rPr>
                  <a:t>E</a:t>
                </a:r>
                <a:endParaRPr b="0" i="0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1479" name="Google Shape;1479;p42"/>
            <p:cNvGrpSpPr/>
            <p:nvPr/>
          </p:nvGrpSpPr>
          <p:grpSpPr>
            <a:xfrm>
              <a:off x="1824" y="2544"/>
              <a:ext cx="288" cy="288"/>
              <a:chOff x="1344" y="1248"/>
              <a:chExt cx="288" cy="288"/>
            </a:xfrm>
          </p:grpSpPr>
          <p:sp>
            <p:nvSpPr>
              <p:cNvPr id="1480" name="Google Shape;1480;p42"/>
              <p:cNvSpPr/>
              <p:nvPr/>
            </p:nvSpPr>
            <p:spPr>
              <a:xfrm>
                <a:off x="1344" y="1248"/>
                <a:ext cx="288" cy="288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481" name="Google Shape;1481;p42"/>
              <p:cNvSpPr txBox="1"/>
              <p:nvPr/>
            </p:nvSpPr>
            <p:spPr>
              <a:xfrm>
                <a:off x="1392" y="1296"/>
                <a:ext cx="192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Tahoma"/>
                    <a:ea typeface="Tahoma"/>
                    <a:cs typeface="Tahoma"/>
                    <a:sym typeface="Tahoma"/>
                  </a:rPr>
                  <a:t>F</a:t>
                </a:r>
                <a:endParaRPr b="0" i="0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1482" name="Google Shape;1482;p42"/>
            <p:cNvGrpSpPr/>
            <p:nvPr/>
          </p:nvGrpSpPr>
          <p:grpSpPr>
            <a:xfrm>
              <a:off x="1200" y="3600"/>
              <a:ext cx="288" cy="288"/>
              <a:chOff x="1344" y="1248"/>
              <a:chExt cx="288" cy="288"/>
            </a:xfrm>
          </p:grpSpPr>
          <p:sp>
            <p:nvSpPr>
              <p:cNvPr id="1483" name="Google Shape;1483;p42"/>
              <p:cNvSpPr/>
              <p:nvPr/>
            </p:nvSpPr>
            <p:spPr>
              <a:xfrm>
                <a:off x="1344" y="1248"/>
                <a:ext cx="288" cy="288"/>
              </a:xfrm>
              <a:prstGeom prst="ellipse">
                <a:avLst/>
              </a:prstGeom>
              <a:solidFill>
                <a:schemeClr val="hlink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484" name="Google Shape;1484;p42"/>
              <p:cNvSpPr txBox="1"/>
              <p:nvPr/>
            </p:nvSpPr>
            <p:spPr>
              <a:xfrm>
                <a:off x="1392" y="1296"/>
                <a:ext cx="192" cy="231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Tahoma"/>
                    <a:ea typeface="Tahoma"/>
                    <a:cs typeface="Tahoma"/>
                    <a:sym typeface="Tahoma"/>
                  </a:rPr>
                  <a:t>I</a:t>
                </a:r>
                <a:endParaRPr b="0" i="0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cxnSp>
          <p:nvCxnSpPr>
            <p:cNvPr id="1485" name="Google Shape;1485;p42"/>
            <p:cNvCxnSpPr/>
            <p:nvPr/>
          </p:nvCxnSpPr>
          <p:spPr>
            <a:xfrm>
              <a:off x="1536" y="2256"/>
              <a:ext cx="384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86" name="Google Shape;1486;p42"/>
            <p:cNvCxnSpPr/>
            <p:nvPr/>
          </p:nvCxnSpPr>
          <p:spPr>
            <a:xfrm flipH="1">
              <a:off x="1344" y="2832"/>
              <a:ext cx="624" cy="76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87" name="Google Shape;1487;p42"/>
            <p:cNvSpPr txBox="1"/>
            <p:nvPr/>
          </p:nvSpPr>
          <p:spPr>
            <a:xfrm>
              <a:off x="1680" y="2208"/>
              <a:ext cx="38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hlink"/>
                  </a:solidFill>
                  <a:latin typeface="Tahoma"/>
                  <a:ea typeface="Tahoma"/>
                  <a:cs typeface="Tahoma"/>
                  <a:sym typeface="Tahoma"/>
                </a:rPr>
                <a:t>99</a:t>
              </a:r>
              <a:endParaRPr b="1" i="0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88" name="Google Shape;1488;p42"/>
            <p:cNvSpPr txBox="1"/>
            <p:nvPr/>
          </p:nvSpPr>
          <p:spPr>
            <a:xfrm>
              <a:off x="1680" y="3216"/>
              <a:ext cx="48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hlink"/>
                  </a:solidFill>
                  <a:latin typeface="Tahoma"/>
                  <a:ea typeface="Tahoma"/>
                  <a:cs typeface="Tahoma"/>
                  <a:sym typeface="Tahoma"/>
                </a:rPr>
                <a:t>211</a:t>
              </a:r>
              <a:endParaRPr b="1" i="0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1489" name="Google Shape;1489;p42"/>
            <p:cNvGrpSpPr/>
            <p:nvPr/>
          </p:nvGrpSpPr>
          <p:grpSpPr>
            <a:xfrm>
              <a:off x="864" y="2544"/>
              <a:ext cx="288" cy="288"/>
              <a:chOff x="1344" y="1248"/>
              <a:chExt cx="288" cy="288"/>
            </a:xfrm>
          </p:grpSpPr>
          <p:sp>
            <p:nvSpPr>
              <p:cNvPr id="1490" name="Google Shape;1490;p42"/>
              <p:cNvSpPr/>
              <p:nvPr/>
            </p:nvSpPr>
            <p:spPr>
              <a:xfrm>
                <a:off x="1344" y="1248"/>
                <a:ext cx="288" cy="288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491" name="Google Shape;1491;p42"/>
              <p:cNvSpPr txBox="1"/>
              <p:nvPr/>
            </p:nvSpPr>
            <p:spPr>
              <a:xfrm>
                <a:off x="1392" y="1296"/>
                <a:ext cx="192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Tahoma"/>
                    <a:ea typeface="Tahoma"/>
                    <a:cs typeface="Tahoma"/>
                    <a:sym typeface="Tahoma"/>
                  </a:rPr>
                  <a:t>G</a:t>
                </a:r>
                <a:endParaRPr b="0" i="0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1492" name="Google Shape;1492;p42"/>
            <p:cNvGrpSpPr/>
            <p:nvPr/>
          </p:nvGrpSpPr>
          <p:grpSpPr>
            <a:xfrm>
              <a:off x="720" y="3120"/>
              <a:ext cx="288" cy="288"/>
              <a:chOff x="1344" y="1248"/>
              <a:chExt cx="288" cy="288"/>
            </a:xfrm>
          </p:grpSpPr>
          <p:sp>
            <p:nvSpPr>
              <p:cNvPr id="1493" name="Google Shape;1493;p42"/>
              <p:cNvSpPr/>
              <p:nvPr/>
            </p:nvSpPr>
            <p:spPr>
              <a:xfrm>
                <a:off x="1344" y="1248"/>
                <a:ext cx="288" cy="288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494" name="Google Shape;1494;p42"/>
              <p:cNvSpPr txBox="1"/>
              <p:nvPr/>
            </p:nvSpPr>
            <p:spPr>
              <a:xfrm>
                <a:off x="1392" y="1296"/>
                <a:ext cx="192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Tahoma"/>
                    <a:ea typeface="Tahoma"/>
                    <a:cs typeface="Tahoma"/>
                    <a:sym typeface="Tahoma"/>
                  </a:rPr>
                  <a:t>H</a:t>
                </a:r>
                <a:endParaRPr b="0" i="0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cxnSp>
          <p:nvCxnSpPr>
            <p:cNvPr id="1495" name="Google Shape;1495;p42"/>
            <p:cNvCxnSpPr/>
            <p:nvPr/>
          </p:nvCxnSpPr>
          <p:spPr>
            <a:xfrm flipH="1">
              <a:off x="960" y="2256"/>
              <a:ext cx="576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96" name="Google Shape;1496;p42"/>
            <p:cNvCxnSpPr/>
            <p:nvPr/>
          </p:nvCxnSpPr>
          <p:spPr>
            <a:xfrm flipH="1">
              <a:off x="864" y="2832"/>
              <a:ext cx="144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97" name="Google Shape;1497;p42"/>
            <p:cNvCxnSpPr/>
            <p:nvPr/>
          </p:nvCxnSpPr>
          <p:spPr>
            <a:xfrm>
              <a:off x="864" y="3408"/>
              <a:ext cx="480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98" name="Google Shape;1498;p42"/>
            <p:cNvSpPr txBox="1"/>
            <p:nvPr/>
          </p:nvSpPr>
          <p:spPr>
            <a:xfrm>
              <a:off x="1008" y="2208"/>
              <a:ext cx="38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hlink"/>
                  </a:solidFill>
                  <a:latin typeface="Tahoma"/>
                  <a:ea typeface="Tahoma"/>
                  <a:cs typeface="Tahoma"/>
                  <a:sym typeface="Tahoma"/>
                </a:rPr>
                <a:t>80</a:t>
              </a:r>
              <a:endParaRPr b="1" i="0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1499" name="Google Shape;1499;p42"/>
            <p:cNvCxnSpPr/>
            <p:nvPr/>
          </p:nvCxnSpPr>
          <p:spPr>
            <a:xfrm>
              <a:off x="1488" y="1536"/>
              <a:ext cx="672" cy="4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00" name="Google Shape;1500;p42"/>
            <p:cNvCxnSpPr/>
            <p:nvPr/>
          </p:nvCxnSpPr>
          <p:spPr>
            <a:xfrm>
              <a:off x="1488" y="1536"/>
              <a:ext cx="48" cy="43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01" name="Google Shape;1501;p42"/>
            <p:cNvCxnSpPr/>
            <p:nvPr/>
          </p:nvCxnSpPr>
          <p:spPr>
            <a:xfrm flipH="1">
              <a:off x="816" y="1536"/>
              <a:ext cx="672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02" name="Google Shape;1502;p42"/>
            <p:cNvCxnSpPr/>
            <p:nvPr/>
          </p:nvCxnSpPr>
          <p:spPr>
            <a:xfrm flipH="1">
              <a:off x="480" y="1968"/>
              <a:ext cx="33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03" name="Google Shape;1503;p42"/>
            <p:cNvSpPr txBox="1"/>
            <p:nvPr/>
          </p:nvSpPr>
          <p:spPr>
            <a:xfrm>
              <a:off x="1632" y="1152"/>
              <a:ext cx="768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Start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04" name="Google Shape;1504;p42"/>
            <p:cNvSpPr txBox="1"/>
            <p:nvPr/>
          </p:nvSpPr>
          <p:spPr>
            <a:xfrm>
              <a:off x="1536" y="3792"/>
              <a:ext cx="768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Goal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05" name="Google Shape;1505;p42"/>
            <p:cNvSpPr txBox="1"/>
            <p:nvPr/>
          </p:nvSpPr>
          <p:spPr>
            <a:xfrm>
              <a:off x="624" y="2880"/>
              <a:ext cx="38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hlink"/>
                  </a:solidFill>
                  <a:latin typeface="Tahoma"/>
                  <a:ea typeface="Tahoma"/>
                  <a:cs typeface="Tahoma"/>
                  <a:sym typeface="Tahoma"/>
                </a:rPr>
                <a:t>97</a:t>
              </a:r>
              <a:endParaRPr b="1" i="0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06" name="Google Shape;1506;p42"/>
            <p:cNvSpPr txBox="1"/>
            <p:nvPr/>
          </p:nvSpPr>
          <p:spPr>
            <a:xfrm>
              <a:off x="816" y="3456"/>
              <a:ext cx="528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hlink"/>
                  </a:solidFill>
                  <a:latin typeface="Tahoma"/>
                  <a:ea typeface="Tahoma"/>
                  <a:cs typeface="Tahoma"/>
                  <a:sym typeface="Tahoma"/>
                </a:rPr>
                <a:t>101</a:t>
              </a:r>
              <a:endParaRPr b="1" i="0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07" name="Google Shape;1507;p42"/>
            <p:cNvSpPr txBox="1"/>
            <p:nvPr/>
          </p:nvSpPr>
          <p:spPr>
            <a:xfrm>
              <a:off x="1776" y="1344"/>
              <a:ext cx="38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hlink"/>
                  </a:solidFill>
                  <a:latin typeface="Tahoma"/>
                  <a:ea typeface="Tahoma"/>
                  <a:cs typeface="Tahoma"/>
                  <a:sym typeface="Tahoma"/>
                </a:rPr>
                <a:t>75</a:t>
              </a:r>
              <a:endParaRPr b="1" i="0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08" name="Google Shape;1508;p42"/>
            <p:cNvSpPr txBox="1"/>
            <p:nvPr/>
          </p:nvSpPr>
          <p:spPr>
            <a:xfrm>
              <a:off x="864" y="1392"/>
              <a:ext cx="48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hlink"/>
                  </a:solidFill>
                  <a:latin typeface="Tahoma"/>
                  <a:ea typeface="Tahoma"/>
                  <a:cs typeface="Tahoma"/>
                  <a:sym typeface="Tahoma"/>
                </a:rPr>
                <a:t>118</a:t>
              </a:r>
              <a:endParaRPr b="1" i="0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09" name="Google Shape;1509;p42"/>
            <p:cNvSpPr txBox="1"/>
            <p:nvPr/>
          </p:nvSpPr>
          <p:spPr>
            <a:xfrm>
              <a:off x="240" y="1920"/>
              <a:ext cx="48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hlink"/>
                  </a:solidFill>
                  <a:latin typeface="Tahoma"/>
                  <a:ea typeface="Tahoma"/>
                  <a:cs typeface="Tahoma"/>
                  <a:sym typeface="Tahoma"/>
                </a:rPr>
                <a:t>111</a:t>
              </a:r>
              <a:endParaRPr b="1" i="0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10" name="Google Shape;1510;p42"/>
            <p:cNvSpPr txBox="1"/>
            <p:nvPr/>
          </p:nvSpPr>
          <p:spPr>
            <a:xfrm>
              <a:off x="1488" y="1689"/>
              <a:ext cx="48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hlink"/>
                  </a:solidFill>
                  <a:latin typeface="Tahoma"/>
                  <a:ea typeface="Tahoma"/>
                  <a:cs typeface="Tahoma"/>
                  <a:sym typeface="Tahoma"/>
                </a:rPr>
                <a:t>140</a:t>
              </a:r>
              <a:endParaRPr b="1" i="0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4" name="Shape 1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" name="Google Shape;1515;p43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16" name="Google Shape;1516;p43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A* Search: Tree Search</a:t>
            </a:r>
            <a:endParaRPr/>
          </a:p>
        </p:txBody>
      </p:sp>
      <p:grpSp>
        <p:nvGrpSpPr>
          <p:cNvPr id="1517" name="Google Shape;1517;p43"/>
          <p:cNvGrpSpPr/>
          <p:nvPr/>
        </p:nvGrpSpPr>
        <p:grpSpPr>
          <a:xfrm>
            <a:off x="4343400" y="1843088"/>
            <a:ext cx="457200" cy="457200"/>
            <a:chOff x="1344" y="1248"/>
            <a:chExt cx="288" cy="288"/>
          </a:xfrm>
        </p:grpSpPr>
        <p:sp>
          <p:nvSpPr>
            <p:cNvPr id="1518" name="Google Shape;1518;p43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19" name="Google Shape;1519;p43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A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1520" name="Google Shape;1520;p43"/>
          <p:cNvSpPr txBox="1"/>
          <p:nvPr/>
        </p:nvSpPr>
        <p:spPr>
          <a:xfrm>
            <a:off x="4876800" y="18288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Start</a:t>
            </a:r>
            <a:endParaRPr b="1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4" name="Shape 1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" name="Google Shape;1525;p44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26" name="Google Shape;1526;p44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A* Search: Tree Search</a:t>
            </a:r>
            <a:endParaRPr/>
          </a:p>
        </p:txBody>
      </p:sp>
      <p:grpSp>
        <p:nvGrpSpPr>
          <p:cNvPr id="1527" name="Google Shape;1527;p44"/>
          <p:cNvGrpSpPr/>
          <p:nvPr/>
        </p:nvGrpSpPr>
        <p:grpSpPr>
          <a:xfrm>
            <a:off x="4343400" y="1843088"/>
            <a:ext cx="457200" cy="457200"/>
            <a:chOff x="1344" y="1248"/>
            <a:chExt cx="288" cy="288"/>
          </a:xfrm>
        </p:grpSpPr>
        <p:sp>
          <p:nvSpPr>
            <p:cNvPr id="1528" name="Google Shape;1528;p44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29" name="Google Shape;1529;p44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A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530" name="Google Shape;1530;p44"/>
          <p:cNvGrpSpPr/>
          <p:nvPr/>
        </p:nvGrpSpPr>
        <p:grpSpPr>
          <a:xfrm>
            <a:off x="6705600" y="2971800"/>
            <a:ext cx="457200" cy="457200"/>
            <a:chOff x="1344" y="1248"/>
            <a:chExt cx="288" cy="288"/>
          </a:xfrm>
        </p:grpSpPr>
        <p:sp>
          <p:nvSpPr>
            <p:cNvPr id="1531" name="Google Shape;1531;p44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32" name="Google Shape;1532;p44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B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533" name="Google Shape;1533;p44"/>
          <p:cNvGrpSpPr/>
          <p:nvPr/>
        </p:nvGrpSpPr>
        <p:grpSpPr>
          <a:xfrm>
            <a:off x="2209800" y="3048000"/>
            <a:ext cx="457200" cy="457200"/>
            <a:chOff x="1344" y="1248"/>
            <a:chExt cx="288" cy="288"/>
          </a:xfrm>
        </p:grpSpPr>
        <p:sp>
          <p:nvSpPr>
            <p:cNvPr id="1534" name="Google Shape;1534;p44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35" name="Google Shape;1535;p44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C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536" name="Google Shape;1536;p44"/>
          <p:cNvGrpSpPr/>
          <p:nvPr/>
        </p:nvGrpSpPr>
        <p:grpSpPr>
          <a:xfrm>
            <a:off x="4419600" y="2986088"/>
            <a:ext cx="457200" cy="457200"/>
            <a:chOff x="1344" y="1248"/>
            <a:chExt cx="288" cy="288"/>
          </a:xfrm>
        </p:grpSpPr>
        <p:sp>
          <p:nvSpPr>
            <p:cNvPr id="1537" name="Google Shape;1537;p44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38" name="Google Shape;1538;p44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E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1539" name="Google Shape;1539;p44"/>
          <p:cNvCxnSpPr/>
          <p:nvPr/>
        </p:nvCxnSpPr>
        <p:spPr>
          <a:xfrm>
            <a:off x="4572000" y="2300288"/>
            <a:ext cx="2362200" cy="6715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40" name="Google Shape;1540;p44"/>
          <p:cNvCxnSpPr/>
          <p:nvPr/>
        </p:nvCxnSpPr>
        <p:spPr>
          <a:xfrm>
            <a:off x="4572000" y="2300288"/>
            <a:ext cx="762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41" name="Google Shape;1541;p44"/>
          <p:cNvCxnSpPr/>
          <p:nvPr/>
        </p:nvCxnSpPr>
        <p:spPr>
          <a:xfrm flipH="1">
            <a:off x="2438400" y="2300288"/>
            <a:ext cx="2133600" cy="7477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2" name="Google Shape;1542;p44"/>
          <p:cNvSpPr txBox="1"/>
          <p:nvPr/>
        </p:nvSpPr>
        <p:spPr>
          <a:xfrm>
            <a:off x="4876800" y="18288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Start</a:t>
            </a:r>
            <a:endParaRPr b="1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43" name="Google Shape;1543;p44"/>
          <p:cNvSpPr txBox="1"/>
          <p:nvPr/>
        </p:nvSpPr>
        <p:spPr>
          <a:xfrm>
            <a:off x="5791200" y="2300288"/>
            <a:ext cx="6096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75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44" name="Google Shape;1544;p44"/>
          <p:cNvSpPr txBox="1"/>
          <p:nvPr/>
        </p:nvSpPr>
        <p:spPr>
          <a:xfrm>
            <a:off x="2819400" y="2300288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118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45" name="Google Shape;1545;p44"/>
          <p:cNvSpPr txBox="1"/>
          <p:nvPr/>
        </p:nvSpPr>
        <p:spPr>
          <a:xfrm>
            <a:off x="4572000" y="2543175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140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46" name="Google Shape;1546;p44"/>
          <p:cNvSpPr txBox="1"/>
          <p:nvPr/>
        </p:nvSpPr>
        <p:spPr>
          <a:xfrm>
            <a:off x="4876800" y="2986088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[393]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47" name="Google Shape;1547;p44"/>
          <p:cNvSpPr txBox="1"/>
          <p:nvPr/>
        </p:nvSpPr>
        <p:spPr>
          <a:xfrm>
            <a:off x="7162800" y="29718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[449]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48" name="Google Shape;1548;p44"/>
          <p:cNvSpPr txBox="1"/>
          <p:nvPr/>
        </p:nvSpPr>
        <p:spPr>
          <a:xfrm>
            <a:off x="1447800" y="31242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[447]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2" name="Shape 1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Google Shape;1553;p45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54" name="Google Shape;1554;p45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A* Search: Tree Search</a:t>
            </a:r>
            <a:endParaRPr/>
          </a:p>
        </p:txBody>
      </p:sp>
      <p:grpSp>
        <p:nvGrpSpPr>
          <p:cNvPr id="1555" name="Google Shape;1555;p45"/>
          <p:cNvGrpSpPr/>
          <p:nvPr/>
        </p:nvGrpSpPr>
        <p:grpSpPr>
          <a:xfrm>
            <a:off x="4343400" y="1843088"/>
            <a:ext cx="457200" cy="457200"/>
            <a:chOff x="1344" y="1248"/>
            <a:chExt cx="288" cy="288"/>
          </a:xfrm>
        </p:grpSpPr>
        <p:sp>
          <p:nvSpPr>
            <p:cNvPr id="1556" name="Google Shape;1556;p45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57" name="Google Shape;1557;p45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A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558" name="Google Shape;1558;p45"/>
          <p:cNvGrpSpPr/>
          <p:nvPr/>
        </p:nvGrpSpPr>
        <p:grpSpPr>
          <a:xfrm>
            <a:off x="6705600" y="2971800"/>
            <a:ext cx="457200" cy="457200"/>
            <a:chOff x="1344" y="1248"/>
            <a:chExt cx="288" cy="288"/>
          </a:xfrm>
        </p:grpSpPr>
        <p:sp>
          <p:nvSpPr>
            <p:cNvPr id="1559" name="Google Shape;1559;p45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60" name="Google Shape;1560;p45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B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561" name="Google Shape;1561;p45"/>
          <p:cNvGrpSpPr/>
          <p:nvPr/>
        </p:nvGrpSpPr>
        <p:grpSpPr>
          <a:xfrm>
            <a:off x="2209800" y="3048000"/>
            <a:ext cx="457200" cy="457200"/>
            <a:chOff x="1344" y="1248"/>
            <a:chExt cx="288" cy="288"/>
          </a:xfrm>
        </p:grpSpPr>
        <p:sp>
          <p:nvSpPr>
            <p:cNvPr id="1562" name="Google Shape;1562;p45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63" name="Google Shape;1563;p45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C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564" name="Google Shape;1564;p45"/>
          <p:cNvGrpSpPr/>
          <p:nvPr/>
        </p:nvGrpSpPr>
        <p:grpSpPr>
          <a:xfrm>
            <a:off x="4419600" y="2986088"/>
            <a:ext cx="457200" cy="457200"/>
            <a:chOff x="1344" y="1248"/>
            <a:chExt cx="288" cy="288"/>
          </a:xfrm>
        </p:grpSpPr>
        <p:sp>
          <p:nvSpPr>
            <p:cNvPr id="1565" name="Google Shape;1565;p45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66" name="Google Shape;1566;p45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E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567" name="Google Shape;1567;p45"/>
          <p:cNvGrpSpPr/>
          <p:nvPr/>
        </p:nvGrpSpPr>
        <p:grpSpPr>
          <a:xfrm>
            <a:off x="5105400" y="3900488"/>
            <a:ext cx="457200" cy="457200"/>
            <a:chOff x="1344" y="1248"/>
            <a:chExt cx="288" cy="288"/>
          </a:xfrm>
        </p:grpSpPr>
        <p:sp>
          <p:nvSpPr>
            <p:cNvPr id="1568" name="Google Shape;1568;p45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69" name="Google Shape;1569;p45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F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1570" name="Google Shape;1570;p45"/>
          <p:cNvCxnSpPr/>
          <p:nvPr/>
        </p:nvCxnSpPr>
        <p:spPr>
          <a:xfrm>
            <a:off x="4648200" y="3443288"/>
            <a:ext cx="6096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71" name="Google Shape;1571;p45"/>
          <p:cNvSpPr txBox="1"/>
          <p:nvPr/>
        </p:nvSpPr>
        <p:spPr>
          <a:xfrm>
            <a:off x="4876800" y="3367088"/>
            <a:ext cx="6096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99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572" name="Google Shape;1572;p45"/>
          <p:cNvGrpSpPr/>
          <p:nvPr/>
        </p:nvGrpSpPr>
        <p:grpSpPr>
          <a:xfrm>
            <a:off x="3581400" y="3900488"/>
            <a:ext cx="457200" cy="457200"/>
            <a:chOff x="1344" y="1248"/>
            <a:chExt cx="288" cy="288"/>
          </a:xfrm>
        </p:grpSpPr>
        <p:sp>
          <p:nvSpPr>
            <p:cNvPr id="1573" name="Google Shape;1573;p45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74" name="Google Shape;1574;p45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G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1575" name="Google Shape;1575;p45"/>
          <p:cNvCxnSpPr/>
          <p:nvPr/>
        </p:nvCxnSpPr>
        <p:spPr>
          <a:xfrm flipH="1">
            <a:off x="3733800" y="3443288"/>
            <a:ext cx="9144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76" name="Google Shape;1576;p45"/>
          <p:cNvSpPr txBox="1"/>
          <p:nvPr/>
        </p:nvSpPr>
        <p:spPr>
          <a:xfrm>
            <a:off x="3810000" y="3367088"/>
            <a:ext cx="6096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80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1577" name="Google Shape;1577;p45"/>
          <p:cNvCxnSpPr/>
          <p:nvPr/>
        </p:nvCxnSpPr>
        <p:spPr>
          <a:xfrm>
            <a:off x="4572000" y="2300288"/>
            <a:ext cx="2362200" cy="6715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78" name="Google Shape;1578;p45"/>
          <p:cNvCxnSpPr/>
          <p:nvPr/>
        </p:nvCxnSpPr>
        <p:spPr>
          <a:xfrm>
            <a:off x="4572000" y="2300288"/>
            <a:ext cx="762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79" name="Google Shape;1579;p45"/>
          <p:cNvCxnSpPr/>
          <p:nvPr/>
        </p:nvCxnSpPr>
        <p:spPr>
          <a:xfrm flipH="1">
            <a:off x="2438400" y="2300288"/>
            <a:ext cx="2133600" cy="7477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0" name="Google Shape;1580;p45"/>
          <p:cNvSpPr txBox="1"/>
          <p:nvPr/>
        </p:nvSpPr>
        <p:spPr>
          <a:xfrm>
            <a:off x="4876800" y="18288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Start</a:t>
            </a:r>
            <a:endParaRPr b="1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81" name="Google Shape;1581;p45"/>
          <p:cNvSpPr txBox="1"/>
          <p:nvPr/>
        </p:nvSpPr>
        <p:spPr>
          <a:xfrm>
            <a:off x="5791200" y="2300288"/>
            <a:ext cx="6096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75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82" name="Google Shape;1582;p45"/>
          <p:cNvSpPr txBox="1"/>
          <p:nvPr/>
        </p:nvSpPr>
        <p:spPr>
          <a:xfrm>
            <a:off x="2819400" y="2300288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118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83" name="Google Shape;1583;p45"/>
          <p:cNvSpPr txBox="1"/>
          <p:nvPr/>
        </p:nvSpPr>
        <p:spPr>
          <a:xfrm>
            <a:off x="4572000" y="2543175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140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84" name="Google Shape;1584;p45"/>
          <p:cNvSpPr txBox="1"/>
          <p:nvPr/>
        </p:nvSpPr>
        <p:spPr>
          <a:xfrm>
            <a:off x="4876800" y="2986088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[393]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85" name="Google Shape;1585;p45"/>
          <p:cNvSpPr txBox="1"/>
          <p:nvPr/>
        </p:nvSpPr>
        <p:spPr>
          <a:xfrm>
            <a:off x="7162800" y="29718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[449]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86" name="Google Shape;1586;p45"/>
          <p:cNvSpPr txBox="1"/>
          <p:nvPr/>
        </p:nvSpPr>
        <p:spPr>
          <a:xfrm>
            <a:off x="1447800" y="31242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[447]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87" name="Google Shape;1587;p45"/>
          <p:cNvSpPr txBox="1"/>
          <p:nvPr/>
        </p:nvSpPr>
        <p:spPr>
          <a:xfrm>
            <a:off x="5638800" y="3900488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[417]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88" name="Google Shape;1588;p45"/>
          <p:cNvSpPr txBox="1"/>
          <p:nvPr/>
        </p:nvSpPr>
        <p:spPr>
          <a:xfrm>
            <a:off x="2819400" y="3976688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[413]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2" name="Shape 1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3" name="Google Shape;1593;p46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94" name="Google Shape;1594;p46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A* Search: Tree Search</a:t>
            </a:r>
            <a:endParaRPr/>
          </a:p>
        </p:txBody>
      </p:sp>
      <p:grpSp>
        <p:nvGrpSpPr>
          <p:cNvPr id="1595" name="Google Shape;1595;p46"/>
          <p:cNvGrpSpPr/>
          <p:nvPr/>
        </p:nvGrpSpPr>
        <p:grpSpPr>
          <a:xfrm>
            <a:off x="4343400" y="1843088"/>
            <a:ext cx="457200" cy="457200"/>
            <a:chOff x="1344" y="1248"/>
            <a:chExt cx="288" cy="288"/>
          </a:xfrm>
        </p:grpSpPr>
        <p:sp>
          <p:nvSpPr>
            <p:cNvPr id="1596" name="Google Shape;1596;p46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97" name="Google Shape;1597;p46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A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598" name="Google Shape;1598;p46"/>
          <p:cNvGrpSpPr/>
          <p:nvPr/>
        </p:nvGrpSpPr>
        <p:grpSpPr>
          <a:xfrm>
            <a:off x="6705600" y="2971800"/>
            <a:ext cx="457200" cy="457200"/>
            <a:chOff x="1344" y="1248"/>
            <a:chExt cx="288" cy="288"/>
          </a:xfrm>
        </p:grpSpPr>
        <p:sp>
          <p:nvSpPr>
            <p:cNvPr id="1599" name="Google Shape;1599;p46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600" name="Google Shape;1600;p46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B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601" name="Google Shape;1601;p46"/>
          <p:cNvGrpSpPr/>
          <p:nvPr/>
        </p:nvGrpSpPr>
        <p:grpSpPr>
          <a:xfrm>
            <a:off x="2209800" y="3048000"/>
            <a:ext cx="457200" cy="457200"/>
            <a:chOff x="1344" y="1248"/>
            <a:chExt cx="288" cy="288"/>
          </a:xfrm>
        </p:grpSpPr>
        <p:sp>
          <p:nvSpPr>
            <p:cNvPr id="1602" name="Google Shape;1602;p46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603" name="Google Shape;1603;p46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C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604" name="Google Shape;1604;p46"/>
          <p:cNvGrpSpPr/>
          <p:nvPr/>
        </p:nvGrpSpPr>
        <p:grpSpPr>
          <a:xfrm>
            <a:off x="4419600" y="2986088"/>
            <a:ext cx="457200" cy="457200"/>
            <a:chOff x="1344" y="1248"/>
            <a:chExt cx="288" cy="288"/>
          </a:xfrm>
        </p:grpSpPr>
        <p:sp>
          <p:nvSpPr>
            <p:cNvPr id="1605" name="Google Shape;1605;p46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606" name="Google Shape;1606;p46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E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607" name="Google Shape;1607;p46"/>
          <p:cNvGrpSpPr/>
          <p:nvPr/>
        </p:nvGrpSpPr>
        <p:grpSpPr>
          <a:xfrm>
            <a:off x="5105400" y="3900488"/>
            <a:ext cx="457200" cy="457200"/>
            <a:chOff x="1344" y="1248"/>
            <a:chExt cx="288" cy="288"/>
          </a:xfrm>
        </p:grpSpPr>
        <p:sp>
          <p:nvSpPr>
            <p:cNvPr id="1608" name="Google Shape;1608;p46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609" name="Google Shape;1609;p46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F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1610" name="Google Shape;1610;p46"/>
          <p:cNvCxnSpPr/>
          <p:nvPr/>
        </p:nvCxnSpPr>
        <p:spPr>
          <a:xfrm>
            <a:off x="4648200" y="3443288"/>
            <a:ext cx="6096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11" name="Google Shape;1611;p46"/>
          <p:cNvSpPr txBox="1"/>
          <p:nvPr/>
        </p:nvSpPr>
        <p:spPr>
          <a:xfrm>
            <a:off x="4876800" y="3367088"/>
            <a:ext cx="6096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99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612" name="Google Shape;1612;p46"/>
          <p:cNvGrpSpPr/>
          <p:nvPr/>
        </p:nvGrpSpPr>
        <p:grpSpPr>
          <a:xfrm>
            <a:off x="3581400" y="3900488"/>
            <a:ext cx="457200" cy="457200"/>
            <a:chOff x="1344" y="1248"/>
            <a:chExt cx="288" cy="288"/>
          </a:xfrm>
        </p:grpSpPr>
        <p:sp>
          <p:nvSpPr>
            <p:cNvPr id="1613" name="Google Shape;1613;p46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614" name="Google Shape;1614;p46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G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1615" name="Google Shape;1615;p46"/>
          <p:cNvCxnSpPr/>
          <p:nvPr/>
        </p:nvCxnSpPr>
        <p:spPr>
          <a:xfrm flipH="1">
            <a:off x="3733800" y="3443288"/>
            <a:ext cx="9144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16" name="Google Shape;1616;p46"/>
          <p:cNvSpPr txBox="1"/>
          <p:nvPr/>
        </p:nvSpPr>
        <p:spPr>
          <a:xfrm>
            <a:off x="3810000" y="3367088"/>
            <a:ext cx="6096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80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1617" name="Google Shape;1617;p46"/>
          <p:cNvCxnSpPr/>
          <p:nvPr/>
        </p:nvCxnSpPr>
        <p:spPr>
          <a:xfrm>
            <a:off x="4572000" y="2300288"/>
            <a:ext cx="2362200" cy="6715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18" name="Google Shape;1618;p46"/>
          <p:cNvCxnSpPr/>
          <p:nvPr/>
        </p:nvCxnSpPr>
        <p:spPr>
          <a:xfrm>
            <a:off x="4572000" y="2300288"/>
            <a:ext cx="762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19" name="Google Shape;1619;p46"/>
          <p:cNvCxnSpPr/>
          <p:nvPr/>
        </p:nvCxnSpPr>
        <p:spPr>
          <a:xfrm flipH="1">
            <a:off x="2438400" y="2300288"/>
            <a:ext cx="2133600" cy="7477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20" name="Google Shape;1620;p46"/>
          <p:cNvSpPr txBox="1"/>
          <p:nvPr/>
        </p:nvSpPr>
        <p:spPr>
          <a:xfrm>
            <a:off x="4876800" y="18288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Start</a:t>
            </a:r>
            <a:endParaRPr b="1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21" name="Google Shape;1621;p46"/>
          <p:cNvSpPr txBox="1"/>
          <p:nvPr/>
        </p:nvSpPr>
        <p:spPr>
          <a:xfrm>
            <a:off x="5791200" y="2300288"/>
            <a:ext cx="6096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75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22" name="Google Shape;1622;p46"/>
          <p:cNvSpPr txBox="1"/>
          <p:nvPr/>
        </p:nvSpPr>
        <p:spPr>
          <a:xfrm>
            <a:off x="2819400" y="2300288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118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23" name="Google Shape;1623;p46"/>
          <p:cNvSpPr txBox="1"/>
          <p:nvPr/>
        </p:nvSpPr>
        <p:spPr>
          <a:xfrm>
            <a:off x="4572000" y="2543175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140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24" name="Google Shape;1624;p46"/>
          <p:cNvSpPr txBox="1"/>
          <p:nvPr/>
        </p:nvSpPr>
        <p:spPr>
          <a:xfrm>
            <a:off x="4876800" y="2986088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[393]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25" name="Google Shape;1625;p46"/>
          <p:cNvSpPr txBox="1"/>
          <p:nvPr/>
        </p:nvSpPr>
        <p:spPr>
          <a:xfrm>
            <a:off x="7162800" y="29718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[449]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26" name="Google Shape;1626;p46"/>
          <p:cNvSpPr txBox="1"/>
          <p:nvPr/>
        </p:nvSpPr>
        <p:spPr>
          <a:xfrm>
            <a:off x="1447800" y="31242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[447]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27" name="Google Shape;1627;p46"/>
          <p:cNvSpPr txBox="1"/>
          <p:nvPr/>
        </p:nvSpPr>
        <p:spPr>
          <a:xfrm>
            <a:off x="5638800" y="3900488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[417]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28" name="Google Shape;1628;p46"/>
          <p:cNvSpPr txBox="1"/>
          <p:nvPr/>
        </p:nvSpPr>
        <p:spPr>
          <a:xfrm>
            <a:off x="2819400" y="3976688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[413]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629" name="Google Shape;1629;p46"/>
          <p:cNvGrpSpPr/>
          <p:nvPr/>
        </p:nvGrpSpPr>
        <p:grpSpPr>
          <a:xfrm>
            <a:off x="2743200" y="4800600"/>
            <a:ext cx="457200" cy="457200"/>
            <a:chOff x="1344" y="1248"/>
            <a:chExt cx="288" cy="288"/>
          </a:xfrm>
        </p:grpSpPr>
        <p:sp>
          <p:nvSpPr>
            <p:cNvPr id="1630" name="Google Shape;1630;p46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631" name="Google Shape;1631;p46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H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1632" name="Google Shape;1632;p46"/>
          <p:cNvCxnSpPr/>
          <p:nvPr/>
        </p:nvCxnSpPr>
        <p:spPr>
          <a:xfrm flipH="1">
            <a:off x="3048000" y="4343400"/>
            <a:ext cx="762000" cy="44291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33" name="Google Shape;1633;p46"/>
          <p:cNvSpPr txBox="1"/>
          <p:nvPr/>
        </p:nvSpPr>
        <p:spPr>
          <a:xfrm>
            <a:off x="3429000" y="4481513"/>
            <a:ext cx="6096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97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34" name="Google Shape;1634;p46"/>
          <p:cNvSpPr txBox="1"/>
          <p:nvPr/>
        </p:nvSpPr>
        <p:spPr>
          <a:xfrm>
            <a:off x="2057400" y="4862513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[415]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8" name="Shape 1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" name="Google Shape;1639;p47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40" name="Google Shape;1640;p47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A* Search: Tree Search</a:t>
            </a:r>
            <a:endParaRPr/>
          </a:p>
        </p:txBody>
      </p:sp>
      <p:grpSp>
        <p:nvGrpSpPr>
          <p:cNvPr id="1641" name="Google Shape;1641;p47"/>
          <p:cNvGrpSpPr/>
          <p:nvPr/>
        </p:nvGrpSpPr>
        <p:grpSpPr>
          <a:xfrm>
            <a:off x="4343400" y="1843088"/>
            <a:ext cx="457200" cy="457200"/>
            <a:chOff x="1344" y="1248"/>
            <a:chExt cx="288" cy="288"/>
          </a:xfrm>
        </p:grpSpPr>
        <p:sp>
          <p:nvSpPr>
            <p:cNvPr id="1642" name="Google Shape;1642;p47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643" name="Google Shape;1643;p47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A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644" name="Google Shape;1644;p47"/>
          <p:cNvGrpSpPr/>
          <p:nvPr/>
        </p:nvGrpSpPr>
        <p:grpSpPr>
          <a:xfrm>
            <a:off x="6705600" y="2971800"/>
            <a:ext cx="457200" cy="457200"/>
            <a:chOff x="1344" y="1248"/>
            <a:chExt cx="288" cy="288"/>
          </a:xfrm>
        </p:grpSpPr>
        <p:sp>
          <p:nvSpPr>
            <p:cNvPr id="1645" name="Google Shape;1645;p47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646" name="Google Shape;1646;p47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B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647" name="Google Shape;1647;p47"/>
          <p:cNvGrpSpPr/>
          <p:nvPr/>
        </p:nvGrpSpPr>
        <p:grpSpPr>
          <a:xfrm>
            <a:off x="2209800" y="3048000"/>
            <a:ext cx="457200" cy="457200"/>
            <a:chOff x="1344" y="1248"/>
            <a:chExt cx="288" cy="288"/>
          </a:xfrm>
        </p:grpSpPr>
        <p:sp>
          <p:nvSpPr>
            <p:cNvPr id="1648" name="Google Shape;1648;p47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649" name="Google Shape;1649;p47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C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650" name="Google Shape;1650;p47"/>
          <p:cNvGrpSpPr/>
          <p:nvPr/>
        </p:nvGrpSpPr>
        <p:grpSpPr>
          <a:xfrm>
            <a:off x="4419600" y="2986088"/>
            <a:ext cx="457200" cy="457200"/>
            <a:chOff x="1344" y="1248"/>
            <a:chExt cx="288" cy="288"/>
          </a:xfrm>
        </p:grpSpPr>
        <p:sp>
          <p:nvSpPr>
            <p:cNvPr id="1651" name="Google Shape;1651;p47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652" name="Google Shape;1652;p47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E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653" name="Google Shape;1653;p47"/>
          <p:cNvGrpSpPr/>
          <p:nvPr/>
        </p:nvGrpSpPr>
        <p:grpSpPr>
          <a:xfrm>
            <a:off x="5105400" y="3900488"/>
            <a:ext cx="457200" cy="457200"/>
            <a:chOff x="1344" y="1248"/>
            <a:chExt cx="288" cy="288"/>
          </a:xfrm>
        </p:grpSpPr>
        <p:sp>
          <p:nvSpPr>
            <p:cNvPr id="1654" name="Google Shape;1654;p47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655" name="Google Shape;1655;p47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F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656" name="Google Shape;1656;p47"/>
          <p:cNvGrpSpPr/>
          <p:nvPr/>
        </p:nvGrpSpPr>
        <p:grpSpPr>
          <a:xfrm>
            <a:off x="1981200" y="5715000"/>
            <a:ext cx="457200" cy="457200"/>
            <a:chOff x="1344" y="1248"/>
            <a:chExt cx="288" cy="288"/>
          </a:xfrm>
        </p:grpSpPr>
        <p:sp>
          <p:nvSpPr>
            <p:cNvPr id="1657" name="Google Shape;1657;p47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658" name="Google Shape;1658;p47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I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1659" name="Google Shape;1659;p47"/>
          <p:cNvCxnSpPr/>
          <p:nvPr/>
        </p:nvCxnSpPr>
        <p:spPr>
          <a:xfrm>
            <a:off x="4648200" y="3443288"/>
            <a:ext cx="6096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60" name="Google Shape;1660;p47"/>
          <p:cNvSpPr txBox="1"/>
          <p:nvPr/>
        </p:nvSpPr>
        <p:spPr>
          <a:xfrm>
            <a:off x="4876800" y="3367088"/>
            <a:ext cx="6096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99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661" name="Google Shape;1661;p47"/>
          <p:cNvGrpSpPr/>
          <p:nvPr/>
        </p:nvGrpSpPr>
        <p:grpSpPr>
          <a:xfrm>
            <a:off x="3581400" y="3900488"/>
            <a:ext cx="457200" cy="457200"/>
            <a:chOff x="1344" y="1248"/>
            <a:chExt cx="288" cy="288"/>
          </a:xfrm>
        </p:grpSpPr>
        <p:sp>
          <p:nvSpPr>
            <p:cNvPr id="1662" name="Google Shape;1662;p47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663" name="Google Shape;1663;p47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G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664" name="Google Shape;1664;p47"/>
          <p:cNvGrpSpPr/>
          <p:nvPr/>
        </p:nvGrpSpPr>
        <p:grpSpPr>
          <a:xfrm>
            <a:off x="2743200" y="4814888"/>
            <a:ext cx="457200" cy="457200"/>
            <a:chOff x="1344" y="1248"/>
            <a:chExt cx="288" cy="288"/>
          </a:xfrm>
        </p:grpSpPr>
        <p:sp>
          <p:nvSpPr>
            <p:cNvPr id="1665" name="Google Shape;1665;p47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666" name="Google Shape;1666;p47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H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1667" name="Google Shape;1667;p47"/>
          <p:cNvCxnSpPr/>
          <p:nvPr/>
        </p:nvCxnSpPr>
        <p:spPr>
          <a:xfrm flipH="1">
            <a:off x="3733800" y="3443288"/>
            <a:ext cx="9144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68" name="Google Shape;1668;p47"/>
          <p:cNvCxnSpPr/>
          <p:nvPr/>
        </p:nvCxnSpPr>
        <p:spPr>
          <a:xfrm flipH="1">
            <a:off x="3048000" y="4357688"/>
            <a:ext cx="762000" cy="4429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69" name="Google Shape;1669;p47"/>
          <p:cNvCxnSpPr/>
          <p:nvPr/>
        </p:nvCxnSpPr>
        <p:spPr>
          <a:xfrm flipH="1">
            <a:off x="2209800" y="5272088"/>
            <a:ext cx="762000" cy="4429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70" name="Google Shape;1670;p47"/>
          <p:cNvSpPr txBox="1"/>
          <p:nvPr/>
        </p:nvSpPr>
        <p:spPr>
          <a:xfrm>
            <a:off x="3810000" y="3367088"/>
            <a:ext cx="6096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80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1671" name="Google Shape;1671;p47"/>
          <p:cNvCxnSpPr/>
          <p:nvPr/>
        </p:nvCxnSpPr>
        <p:spPr>
          <a:xfrm>
            <a:off x="4572000" y="2300288"/>
            <a:ext cx="2362200" cy="6715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72" name="Google Shape;1672;p47"/>
          <p:cNvCxnSpPr/>
          <p:nvPr/>
        </p:nvCxnSpPr>
        <p:spPr>
          <a:xfrm>
            <a:off x="4572000" y="2300288"/>
            <a:ext cx="762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73" name="Google Shape;1673;p47"/>
          <p:cNvCxnSpPr/>
          <p:nvPr/>
        </p:nvCxnSpPr>
        <p:spPr>
          <a:xfrm flipH="1">
            <a:off x="2438400" y="2300288"/>
            <a:ext cx="2133600" cy="7477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74" name="Google Shape;1674;p47"/>
          <p:cNvSpPr txBox="1"/>
          <p:nvPr/>
        </p:nvSpPr>
        <p:spPr>
          <a:xfrm>
            <a:off x="4876800" y="18288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Start</a:t>
            </a:r>
            <a:endParaRPr b="1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75" name="Google Shape;1675;p47"/>
          <p:cNvSpPr txBox="1"/>
          <p:nvPr/>
        </p:nvSpPr>
        <p:spPr>
          <a:xfrm>
            <a:off x="3429000" y="4495800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97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76" name="Google Shape;1676;p47"/>
          <p:cNvSpPr txBox="1"/>
          <p:nvPr/>
        </p:nvSpPr>
        <p:spPr>
          <a:xfrm>
            <a:off x="2514600" y="5424488"/>
            <a:ext cx="838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101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77" name="Google Shape;1677;p47"/>
          <p:cNvSpPr txBox="1"/>
          <p:nvPr/>
        </p:nvSpPr>
        <p:spPr>
          <a:xfrm>
            <a:off x="5791200" y="2300288"/>
            <a:ext cx="6096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75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78" name="Google Shape;1678;p47"/>
          <p:cNvSpPr txBox="1"/>
          <p:nvPr/>
        </p:nvSpPr>
        <p:spPr>
          <a:xfrm>
            <a:off x="2819400" y="2300288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118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79" name="Google Shape;1679;p47"/>
          <p:cNvSpPr txBox="1"/>
          <p:nvPr/>
        </p:nvSpPr>
        <p:spPr>
          <a:xfrm>
            <a:off x="4572000" y="2543175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140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80" name="Google Shape;1680;p47"/>
          <p:cNvSpPr txBox="1"/>
          <p:nvPr/>
        </p:nvSpPr>
        <p:spPr>
          <a:xfrm>
            <a:off x="4876800" y="2986088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[393]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81" name="Google Shape;1681;p47"/>
          <p:cNvSpPr txBox="1"/>
          <p:nvPr/>
        </p:nvSpPr>
        <p:spPr>
          <a:xfrm>
            <a:off x="7162800" y="29718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[449]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82" name="Google Shape;1682;p47"/>
          <p:cNvSpPr txBox="1"/>
          <p:nvPr/>
        </p:nvSpPr>
        <p:spPr>
          <a:xfrm>
            <a:off x="1447800" y="31242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[447]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83" name="Google Shape;1683;p47"/>
          <p:cNvSpPr txBox="1"/>
          <p:nvPr/>
        </p:nvSpPr>
        <p:spPr>
          <a:xfrm>
            <a:off x="5638800" y="3900488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[417]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84" name="Google Shape;1684;p47"/>
          <p:cNvSpPr txBox="1"/>
          <p:nvPr/>
        </p:nvSpPr>
        <p:spPr>
          <a:xfrm>
            <a:off x="2819400" y="3976688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[413]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85" name="Google Shape;1685;p47"/>
          <p:cNvSpPr txBox="1"/>
          <p:nvPr/>
        </p:nvSpPr>
        <p:spPr>
          <a:xfrm>
            <a:off x="2057400" y="48768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[415]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86" name="Google Shape;1686;p47"/>
          <p:cNvSpPr txBox="1"/>
          <p:nvPr/>
        </p:nvSpPr>
        <p:spPr>
          <a:xfrm>
            <a:off x="1295400" y="5805488"/>
            <a:ext cx="1219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Goal</a:t>
            </a:r>
            <a:endParaRPr b="1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87" name="Google Shape;1687;p47"/>
          <p:cNvSpPr txBox="1"/>
          <p:nvPr/>
        </p:nvSpPr>
        <p:spPr>
          <a:xfrm>
            <a:off x="2438400" y="5791200"/>
            <a:ext cx="9144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[418]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1" name="Shape 1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2" name="Google Shape;1692;p48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93" name="Google Shape;1693;p48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A* Search: Tree Search</a:t>
            </a:r>
            <a:endParaRPr/>
          </a:p>
        </p:txBody>
      </p:sp>
      <p:grpSp>
        <p:nvGrpSpPr>
          <p:cNvPr id="1694" name="Google Shape;1694;p48"/>
          <p:cNvGrpSpPr/>
          <p:nvPr/>
        </p:nvGrpSpPr>
        <p:grpSpPr>
          <a:xfrm>
            <a:off x="4343400" y="1843088"/>
            <a:ext cx="457200" cy="457200"/>
            <a:chOff x="1344" y="1248"/>
            <a:chExt cx="288" cy="288"/>
          </a:xfrm>
        </p:grpSpPr>
        <p:sp>
          <p:nvSpPr>
            <p:cNvPr id="1695" name="Google Shape;1695;p48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696" name="Google Shape;1696;p48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A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697" name="Google Shape;1697;p48"/>
          <p:cNvGrpSpPr/>
          <p:nvPr/>
        </p:nvGrpSpPr>
        <p:grpSpPr>
          <a:xfrm>
            <a:off x="6705600" y="2971800"/>
            <a:ext cx="457200" cy="457200"/>
            <a:chOff x="1344" y="1248"/>
            <a:chExt cx="288" cy="288"/>
          </a:xfrm>
        </p:grpSpPr>
        <p:sp>
          <p:nvSpPr>
            <p:cNvPr id="1698" name="Google Shape;1698;p48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699" name="Google Shape;1699;p48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B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700" name="Google Shape;1700;p48"/>
          <p:cNvGrpSpPr/>
          <p:nvPr/>
        </p:nvGrpSpPr>
        <p:grpSpPr>
          <a:xfrm>
            <a:off x="2209800" y="3048000"/>
            <a:ext cx="457200" cy="457200"/>
            <a:chOff x="1344" y="1248"/>
            <a:chExt cx="288" cy="288"/>
          </a:xfrm>
        </p:grpSpPr>
        <p:sp>
          <p:nvSpPr>
            <p:cNvPr id="1701" name="Google Shape;1701;p48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702" name="Google Shape;1702;p48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C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703" name="Google Shape;1703;p48"/>
          <p:cNvGrpSpPr/>
          <p:nvPr/>
        </p:nvGrpSpPr>
        <p:grpSpPr>
          <a:xfrm>
            <a:off x="4419600" y="2986088"/>
            <a:ext cx="457200" cy="457200"/>
            <a:chOff x="1344" y="1248"/>
            <a:chExt cx="288" cy="288"/>
          </a:xfrm>
        </p:grpSpPr>
        <p:sp>
          <p:nvSpPr>
            <p:cNvPr id="1704" name="Google Shape;1704;p48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705" name="Google Shape;1705;p48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E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706" name="Google Shape;1706;p48"/>
          <p:cNvGrpSpPr/>
          <p:nvPr/>
        </p:nvGrpSpPr>
        <p:grpSpPr>
          <a:xfrm>
            <a:off x="5105400" y="3900488"/>
            <a:ext cx="457200" cy="457200"/>
            <a:chOff x="1344" y="1248"/>
            <a:chExt cx="288" cy="288"/>
          </a:xfrm>
        </p:grpSpPr>
        <p:sp>
          <p:nvSpPr>
            <p:cNvPr id="1707" name="Google Shape;1707;p48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708" name="Google Shape;1708;p48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F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709" name="Google Shape;1709;p48"/>
          <p:cNvGrpSpPr/>
          <p:nvPr/>
        </p:nvGrpSpPr>
        <p:grpSpPr>
          <a:xfrm>
            <a:off x="1981200" y="5715000"/>
            <a:ext cx="457200" cy="457200"/>
            <a:chOff x="1344" y="1248"/>
            <a:chExt cx="288" cy="288"/>
          </a:xfrm>
        </p:grpSpPr>
        <p:sp>
          <p:nvSpPr>
            <p:cNvPr id="1710" name="Google Shape;1710;p48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711" name="Google Shape;1711;p48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I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1712" name="Google Shape;1712;p48"/>
          <p:cNvCxnSpPr/>
          <p:nvPr/>
        </p:nvCxnSpPr>
        <p:spPr>
          <a:xfrm>
            <a:off x="4648200" y="3443288"/>
            <a:ext cx="6096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13" name="Google Shape;1713;p48"/>
          <p:cNvSpPr txBox="1"/>
          <p:nvPr/>
        </p:nvSpPr>
        <p:spPr>
          <a:xfrm>
            <a:off x="4876800" y="3367088"/>
            <a:ext cx="6096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99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714" name="Google Shape;1714;p48"/>
          <p:cNvGrpSpPr/>
          <p:nvPr/>
        </p:nvGrpSpPr>
        <p:grpSpPr>
          <a:xfrm>
            <a:off x="3581400" y="3900488"/>
            <a:ext cx="457200" cy="457200"/>
            <a:chOff x="1344" y="1248"/>
            <a:chExt cx="288" cy="288"/>
          </a:xfrm>
        </p:grpSpPr>
        <p:sp>
          <p:nvSpPr>
            <p:cNvPr id="1715" name="Google Shape;1715;p48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716" name="Google Shape;1716;p48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G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717" name="Google Shape;1717;p48"/>
          <p:cNvGrpSpPr/>
          <p:nvPr/>
        </p:nvGrpSpPr>
        <p:grpSpPr>
          <a:xfrm>
            <a:off x="2743200" y="4814888"/>
            <a:ext cx="457200" cy="457200"/>
            <a:chOff x="1344" y="1248"/>
            <a:chExt cx="288" cy="288"/>
          </a:xfrm>
        </p:grpSpPr>
        <p:sp>
          <p:nvSpPr>
            <p:cNvPr id="1718" name="Google Shape;1718;p48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719" name="Google Shape;1719;p48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H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1720" name="Google Shape;1720;p48"/>
          <p:cNvCxnSpPr/>
          <p:nvPr/>
        </p:nvCxnSpPr>
        <p:spPr>
          <a:xfrm flipH="1">
            <a:off x="3733800" y="3443288"/>
            <a:ext cx="9144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21" name="Google Shape;1721;p48"/>
          <p:cNvCxnSpPr/>
          <p:nvPr/>
        </p:nvCxnSpPr>
        <p:spPr>
          <a:xfrm flipH="1">
            <a:off x="3048000" y="4357688"/>
            <a:ext cx="762000" cy="4429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22" name="Google Shape;1722;p48"/>
          <p:cNvCxnSpPr/>
          <p:nvPr/>
        </p:nvCxnSpPr>
        <p:spPr>
          <a:xfrm flipH="1">
            <a:off x="2209800" y="5272088"/>
            <a:ext cx="762000" cy="4429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23" name="Google Shape;1723;p48"/>
          <p:cNvSpPr txBox="1"/>
          <p:nvPr/>
        </p:nvSpPr>
        <p:spPr>
          <a:xfrm>
            <a:off x="3810000" y="3367088"/>
            <a:ext cx="6096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80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1724" name="Google Shape;1724;p48"/>
          <p:cNvCxnSpPr/>
          <p:nvPr/>
        </p:nvCxnSpPr>
        <p:spPr>
          <a:xfrm>
            <a:off x="4572000" y="2300288"/>
            <a:ext cx="2362200" cy="6715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25" name="Google Shape;1725;p48"/>
          <p:cNvCxnSpPr/>
          <p:nvPr/>
        </p:nvCxnSpPr>
        <p:spPr>
          <a:xfrm>
            <a:off x="4572000" y="2300288"/>
            <a:ext cx="762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26" name="Google Shape;1726;p48"/>
          <p:cNvCxnSpPr/>
          <p:nvPr/>
        </p:nvCxnSpPr>
        <p:spPr>
          <a:xfrm flipH="1">
            <a:off x="2438400" y="2300288"/>
            <a:ext cx="2133600" cy="7477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27" name="Google Shape;1727;p48"/>
          <p:cNvSpPr txBox="1"/>
          <p:nvPr/>
        </p:nvSpPr>
        <p:spPr>
          <a:xfrm>
            <a:off x="4876800" y="18288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Start</a:t>
            </a:r>
            <a:endParaRPr b="1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28" name="Google Shape;1728;p48"/>
          <p:cNvSpPr txBox="1"/>
          <p:nvPr/>
        </p:nvSpPr>
        <p:spPr>
          <a:xfrm>
            <a:off x="3429000" y="4495800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97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29" name="Google Shape;1729;p48"/>
          <p:cNvSpPr txBox="1"/>
          <p:nvPr/>
        </p:nvSpPr>
        <p:spPr>
          <a:xfrm>
            <a:off x="2514600" y="5424488"/>
            <a:ext cx="838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101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30" name="Google Shape;1730;p48"/>
          <p:cNvSpPr txBox="1"/>
          <p:nvPr/>
        </p:nvSpPr>
        <p:spPr>
          <a:xfrm>
            <a:off x="5791200" y="2300288"/>
            <a:ext cx="6096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75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31" name="Google Shape;1731;p48"/>
          <p:cNvSpPr txBox="1"/>
          <p:nvPr/>
        </p:nvSpPr>
        <p:spPr>
          <a:xfrm>
            <a:off x="2819400" y="2300288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118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32" name="Google Shape;1732;p48"/>
          <p:cNvSpPr txBox="1"/>
          <p:nvPr/>
        </p:nvSpPr>
        <p:spPr>
          <a:xfrm>
            <a:off x="4572000" y="2543175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140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33" name="Google Shape;1733;p48"/>
          <p:cNvSpPr txBox="1"/>
          <p:nvPr/>
        </p:nvSpPr>
        <p:spPr>
          <a:xfrm>
            <a:off x="4876800" y="2986088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[393]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34" name="Google Shape;1734;p48"/>
          <p:cNvSpPr txBox="1"/>
          <p:nvPr/>
        </p:nvSpPr>
        <p:spPr>
          <a:xfrm>
            <a:off x="7162800" y="29718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[449]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35" name="Google Shape;1735;p48"/>
          <p:cNvSpPr txBox="1"/>
          <p:nvPr/>
        </p:nvSpPr>
        <p:spPr>
          <a:xfrm>
            <a:off x="1447800" y="31242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[447]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36" name="Google Shape;1736;p48"/>
          <p:cNvSpPr txBox="1"/>
          <p:nvPr/>
        </p:nvSpPr>
        <p:spPr>
          <a:xfrm>
            <a:off x="5638800" y="3900488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[417]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37" name="Google Shape;1737;p48"/>
          <p:cNvSpPr txBox="1"/>
          <p:nvPr/>
        </p:nvSpPr>
        <p:spPr>
          <a:xfrm>
            <a:off x="2819400" y="3976688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[413]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38" name="Google Shape;1738;p48"/>
          <p:cNvSpPr txBox="1"/>
          <p:nvPr/>
        </p:nvSpPr>
        <p:spPr>
          <a:xfrm>
            <a:off x="2057400" y="48768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[415]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39" name="Google Shape;1739;p48"/>
          <p:cNvSpPr txBox="1"/>
          <p:nvPr/>
        </p:nvSpPr>
        <p:spPr>
          <a:xfrm>
            <a:off x="1295400" y="5805488"/>
            <a:ext cx="1219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Goal</a:t>
            </a:r>
            <a:endParaRPr b="1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40" name="Google Shape;1740;p48"/>
          <p:cNvSpPr txBox="1"/>
          <p:nvPr/>
        </p:nvSpPr>
        <p:spPr>
          <a:xfrm>
            <a:off x="2438400" y="5791200"/>
            <a:ext cx="9144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[418]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741" name="Google Shape;1741;p48"/>
          <p:cNvGrpSpPr/>
          <p:nvPr/>
        </p:nvGrpSpPr>
        <p:grpSpPr>
          <a:xfrm>
            <a:off x="5791200" y="4800600"/>
            <a:ext cx="457200" cy="457200"/>
            <a:chOff x="1344" y="1248"/>
            <a:chExt cx="288" cy="288"/>
          </a:xfrm>
        </p:grpSpPr>
        <p:sp>
          <p:nvSpPr>
            <p:cNvPr id="1742" name="Google Shape;1742;p48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743" name="Google Shape;1743;p48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I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1744" name="Google Shape;1744;p48"/>
          <p:cNvCxnSpPr/>
          <p:nvPr/>
        </p:nvCxnSpPr>
        <p:spPr>
          <a:xfrm>
            <a:off x="5410200" y="4343400"/>
            <a:ext cx="6096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45" name="Google Shape;1745;p48"/>
          <p:cNvSpPr txBox="1"/>
          <p:nvPr/>
        </p:nvSpPr>
        <p:spPr>
          <a:xfrm>
            <a:off x="6248400" y="48768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[450]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9" name="Shape 1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0" name="Google Shape;1750;p49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51" name="Google Shape;1751;p49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A* Search: Tree Search</a:t>
            </a:r>
            <a:endParaRPr/>
          </a:p>
        </p:txBody>
      </p:sp>
      <p:grpSp>
        <p:nvGrpSpPr>
          <p:cNvPr id="1752" name="Google Shape;1752;p49"/>
          <p:cNvGrpSpPr/>
          <p:nvPr/>
        </p:nvGrpSpPr>
        <p:grpSpPr>
          <a:xfrm>
            <a:off x="4343400" y="1843088"/>
            <a:ext cx="457200" cy="457200"/>
            <a:chOff x="1344" y="1248"/>
            <a:chExt cx="288" cy="288"/>
          </a:xfrm>
        </p:grpSpPr>
        <p:sp>
          <p:nvSpPr>
            <p:cNvPr id="1753" name="Google Shape;1753;p49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754" name="Google Shape;1754;p49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A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755" name="Google Shape;1755;p49"/>
          <p:cNvGrpSpPr/>
          <p:nvPr/>
        </p:nvGrpSpPr>
        <p:grpSpPr>
          <a:xfrm>
            <a:off x="6705600" y="2971800"/>
            <a:ext cx="457200" cy="457200"/>
            <a:chOff x="1344" y="1248"/>
            <a:chExt cx="288" cy="288"/>
          </a:xfrm>
        </p:grpSpPr>
        <p:sp>
          <p:nvSpPr>
            <p:cNvPr id="1756" name="Google Shape;1756;p49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757" name="Google Shape;1757;p49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B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758" name="Google Shape;1758;p49"/>
          <p:cNvGrpSpPr/>
          <p:nvPr/>
        </p:nvGrpSpPr>
        <p:grpSpPr>
          <a:xfrm>
            <a:off x="2209800" y="3048000"/>
            <a:ext cx="457200" cy="457200"/>
            <a:chOff x="1344" y="1248"/>
            <a:chExt cx="288" cy="288"/>
          </a:xfrm>
        </p:grpSpPr>
        <p:sp>
          <p:nvSpPr>
            <p:cNvPr id="1759" name="Google Shape;1759;p49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760" name="Google Shape;1760;p49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C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761" name="Google Shape;1761;p49"/>
          <p:cNvGrpSpPr/>
          <p:nvPr/>
        </p:nvGrpSpPr>
        <p:grpSpPr>
          <a:xfrm>
            <a:off x="4419600" y="2986088"/>
            <a:ext cx="457200" cy="457200"/>
            <a:chOff x="1344" y="1248"/>
            <a:chExt cx="288" cy="288"/>
          </a:xfrm>
        </p:grpSpPr>
        <p:sp>
          <p:nvSpPr>
            <p:cNvPr id="1762" name="Google Shape;1762;p49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763" name="Google Shape;1763;p49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E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764" name="Google Shape;1764;p49"/>
          <p:cNvGrpSpPr/>
          <p:nvPr/>
        </p:nvGrpSpPr>
        <p:grpSpPr>
          <a:xfrm>
            <a:off x="5105400" y="3900488"/>
            <a:ext cx="457200" cy="457200"/>
            <a:chOff x="1344" y="1248"/>
            <a:chExt cx="288" cy="288"/>
          </a:xfrm>
        </p:grpSpPr>
        <p:sp>
          <p:nvSpPr>
            <p:cNvPr id="1765" name="Google Shape;1765;p49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766" name="Google Shape;1766;p49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F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767" name="Google Shape;1767;p49"/>
          <p:cNvGrpSpPr/>
          <p:nvPr/>
        </p:nvGrpSpPr>
        <p:grpSpPr>
          <a:xfrm>
            <a:off x="1981200" y="5715000"/>
            <a:ext cx="457200" cy="457200"/>
            <a:chOff x="1344" y="1248"/>
            <a:chExt cx="288" cy="288"/>
          </a:xfrm>
        </p:grpSpPr>
        <p:sp>
          <p:nvSpPr>
            <p:cNvPr id="1768" name="Google Shape;1768;p49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769" name="Google Shape;1769;p49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I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1770" name="Google Shape;1770;p49"/>
          <p:cNvCxnSpPr/>
          <p:nvPr/>
        </p:nvCxnSpPr>
        <p:spPr>
          <a:xfrm>
            <a:off x="4648200" y="3443288"/>
            <a:ext cx="6096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71" name="Google Shape;1771;p49"/>
          <p:cNvSpPr txBox="1"/>
          <p:nvPr/>
        </p:nvSpPr>
        <p:spPr>
          <a:xfrm>
            <a:off x="4876800" y="3367088"/>
            <a:ext cx="6096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99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772" name="Google Shape;1772;p49"/>
          <p:cNvGrpSpPr/>
          <p:nvPr/>
        </p:nvGrpSpPr>
        <p:grpSpPr>
          <a:xfrm>
            <a:off x="3581400" y="3900488"/>
            <a:ext cx="457200" cy="457200"/>
            <a:chOff x="1344" y="1248"/>
            <a:chExt cx="288" cy="288"/>
          </a:xfrm>
        </p:grpSpPr>
        <p:sp>
          <p:nvSpPr>
            <p:cNvPr id="1773" name="Google Shape;1773;p49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774" name="Google Shape;1774;p49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G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775" name="Google Shape;1775;p49"/>
          <p:cNvGrpSpPr/>
          <p:nvPr/>
        </p:nvGrpSpPr>
        <p:grpSpPr>
          <a:xfrm>
            <a:off x="2743200" y="4814888"/>
            <a:ext cx="457200" cy="457200"/>
            <a:chOff x="1344" y="1248"/>
            <a:chExt cx="288" cy="288"/>
          </a:xfrm>
        </p:grpSpPr>
        <p:sp>
          <p:nvSpPr>
            <p:cNvPr id="1776" name="Google Shape;1776;p49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777" name="Google Shape;1777;p49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H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1778" name="Google Shape;1778;p49"/>
          <p:cNvCxnSpPr/>
          <p:nvPr/>
        </p:nvCxnSpPr>
        <p:spPr>
          <a:xfrm flipH="1">
            <a:off x="3733800" y="3443288"/>
            <a:ext cx="9144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9" name="Google Shape;1779;p49"/>
          <p:cNvCxnSpPr/>
          <p:nvPr/>
        </p:nvCxnSpPr>
        <p:spPr>
          <a:xfrm flipH="1">
            <a:off x="3048000" y="4357688"/>
            <a:ext cx="762000" cy="4429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80" name="Google Shape;1780;p49"/>
          <p:cNvCxnSpPr/>
          <p:nvPr/>
        </p:nvCxnSpPr>
        <p:spPr>
          <a:xfrm flipH="1">
            <a:off x="2209800" y="5272088"/>
            <a:ext cx="762000" cy="4429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81" name="Google Shape;1781;p49"/>
          <p:cNvSpPr txBox="1"/>
          <p:nvPr/>
        </p:nvSpPr>
        <p:spPr>
          <a:xfrm>
            <a:off x="3810000" y="3367088"/>
            <a:ext cx="6096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80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1782" name="Google Shape;1782;p49"/>
          <p:cNvCxnSpPr/>
          <p:nvPr/>
        </p:nvCxnSpPr>
        <p:spPr>
          <a:xfrm>
            <a:off x="4572000" y="2300288"/>
            <a:ext cx="2362200" cy="6715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83" name="Google Shape;1783;p49"/>
          <p:cNvCxnSpPr/>
          <p:nvPr/>
        </p:nvCxnSpPr>
        <p:spPr>
          <a:xfrm>
            <a:off x="4572000" y="2300288"/>
            <a:ext cx="762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84" name="Google Shape;1784;p49"/>
          <p:cNvCxnSpPr/>
          <p:nvPr/>
        </p:nvCxnSpPr>
        <p:spPr>
          <a:xfrm flipH="1">
            <a:off x="2438400" y="2300288"/>
            <a:ext cx="2133600" cy="7477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85" name="Google Shape;1785;p49"/>
          <p:cNvSpPr txBox="1"/>
          <p:nvPr/>
        </p:nvSpPr>
        <p:spPr>
          <a:xfrm>
            <a:off x="4876800" y="18288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Start</a:t>
            </a:r>
            <a:endParaRPr b="1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86" name="Google Shape;1786;p49"/>
          <p:cNvSpPr txBox="1"/>
          <p:nvPr/>
        </p:nvSpPr>
        <p:spPr>
          <a:xfrm>
            <a:off x="3429000" y="4495800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97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87" name="Google Shape;1787;p49"/>
          <p:cNvSpPr txBox="1"/>
          <p:nvPr/>
        </p:nvSpPr>
        <p:spPr>
          <a:xfrm>
            <a:off x="2514600" y="5424488"/>
            <a:ext cx="838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101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88" name="Google Shape;1788;p49"/>
          <p:cNvSpPr txBox="1"/>
          <p:nvPr/>
        </p:nvSpPr>
        <p:spPr>
          <a:xfrm>
            <a:off x="5791200" y="2300288"/>
            <a:ext cx="6096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75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89" name="Google Shape;1789;p49"/>
          <p:cNvSpPr txBox="1"/>
          <p:nvPr/>
        </p:nvSpPr>
        <p:spPr>
          <a:xfrm>
            <a:off x="2819400" y="2300288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118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90" name="Google Shape;1790;p49"/>
          <p:cNvSpPr txBox="1"/>
          <p:nvPr/>
        </p:nvSpPr>
        <p:spPr>
          <a:xfrm>
            <a:off x="4572000" y="2543175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140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91" name="Google Shape;1791;p49"/>
          <p:cNvSpPr txBox="1"/>
          <p:nvPr/>
        </p:nvSpPr>
        <p:spPr>
          <a:xfrm>
            <a:off x="4876800" y="2986088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[393]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92" name="Google Shape;1792;p49"/>
          <p:cNvSpPr txBox="1"/>
          <p:nvPr/>
        </p:nvSpPr>
        <p:spPr>
          <a:xfrm>
            <a:off x="7162800" y="29718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[449]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93" name="Google Shape;1793;p49"/>
          <p:cNvSpPr txBox="1"/>
          <p:nvPr/>
        </p:nvSpPr>
        <p:spPr>
          <a:xfrm>
            <a:off x="1447800" y="31242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[447]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94" name="Google Shape;1794;p49"/>
          <p:cNvSpPr txBox="1"/>
          <p:nvPr/>
        </p:nvSpPr>
        <p:spPr>
          <a:xfrm>
            <a:off x="5638800" y="3900488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[417]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95" name="Google Shape;1795;p49"/>
          <p:cNvSpPr txBox="1"/>
          <p:nvPr/>
        </p:nvSpPr>
        <p:spPr>
          <a:xfrm>
            <a:off x="2819400" y="3976688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[413]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96" name="Google Shape;1796;p49"/>
          <p:cNvSpPr txBox="1"/>
          <p:nvPr/>
        </p:nvSpPr>
        <p:spPr>
          <a:xfrm>
            <a:off x="2057400" y="48768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[415]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97" name="Google Shape;1797;p49"/>
          <p:cNvSpPr txBox="1"/>
          <p:nvPr/>
        </p:nvSpPr>
        <p:spPr>
          <a:xfrm>
            <a:off x="1295400" y="5805488"/>
            <a:ext cx="1219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Goal</a:t>
            </a:r>
            <a:endParaRPr b="1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98" name="Google Shape;1798;p49"/>
          <p:cNvSpPr txBox="1"/>
          <p:nvPr/>
        </p:nvSpPr>
        <p:spPr>
          <a:xfrm>
            <a:off x="2438400" y="5791200"/>
            <a:ext cx="9144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[418]</a:t>
            </a:r>
            <a:endParaRPr b="1" i="0" sz="1800" u="none" cap="none" strike="noStrike">
              <a:solidFill>
                <a:schemeClr val="accent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799" name="Google Shape;1799;p49"/>
          <p:cNvGrpSpPr/>
          <p:nvPr/>
        </p:nvGrpSpPr>
        <p:grpSpPr>
          <a:xfrm>
            <a:off x="5791200" y="4800600"/>
            <a:ext cx="457200" cy="457200"/>
            <a:chOff x="1344" y="1248"/>
            <a:chExt cx="288" cy="288"/>
          </a:xfrm>
        </p:grpSpPr>
        <p:sp>
          <p:nvSpPr>
            <p:cNvPr id="1800" name="Google Shape;1800;p49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801" name="Google Shape;1801;p49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I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1802" name="Google Shape;1802;p49"/>
          <p:cNvCxnSpPr/>
          <p:nvPr/>
        </p:nvCxnSpPr>
        <p:spPr>
          <a:xfrm>
            <a:off x="5410200" y="4343400"/>
            <a:ext cx="6096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03" name="Google Shape;1803;p49"/>
          <p:cNvSpPr txBox="1"/>
          <p:nvPr/>
        </p:nvSpPr>
        <p:spPr>
          <a:xfrm>
            <a:off x="6248400" y="48768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[450]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7" name="Shape 1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8" name="Google Shape;1808;p50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09" name="Google Shape;1809;p50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A* Search: Tree Search</a:t>
            </a:r>
            <a:endParaRPr/>
          </a:p>
        </p:txBody>
      </p:sp>
      <p:grpSp>
        <p:nvGrpSpPr>
          <p:cNvPr id="1810" name="Google Shape;1810;p50"/>
          <p:cNvGrpSpPr/>
          <p:nvPr/>
        </p:nvGrpSpPr>
        <p:grpSpPr>
          <a:xfrm>
            <a:off x="4343400" y="1843088"/>
            <a:ext cx="457200" cy="457200"/>
            <a:chOff x="1344" y="1248"/>
            <a:chExt cx="288" cy="288"/>
          </a:xfrm>
        </p:grpSpPr>
        <p:sp>
          <p:nvSpPr>
            <p:cNvPr id="1811" name="Google Shape;1811;p50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812" name="Google Shape;1812;p50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A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813" name="Google Shape;1813;p50"/>
          <p:cNvGrpSpPr/>
          <p:nvPr/>
        </p:nvGrpSpPr>
        <p:grpSpPr>
          <a:xfrm>
            <a:off x="6705600" y="2971800"/>
            <a:ext cx="457200" cy="457200"/>
            <a:chOff x="1344" y="1248"/>
            <a:chExt cx="288" cy="288"/>
          </a:xfrm>
        </p:grpSpPr>
        <p:sp>
          <p:nvSpPr>
            <p:cNvPr id="1814" name="Google Shape;1814;p50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815" name="Google Shape;1815;p50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B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816" name="Google Shape;1816;p50"/>
          <p:cNvGrpSpPr/>
          <p:nvPr/>
        </p:nvGrpSpPr>
        <p:grpSpPr>
          <a:xfrm>
            <a:off x="2209800" y="3048000"/>
            <a:ext cx="457200" cy="457200"/>
            <a:chOff x="1344" y="1248"/>
            <a:chExt cx="288" cy="288"/>
          </a:xfrm>
        </p:grpSpPr>
        <p:sp>
          <p:nvSpPr>
            <p:cNvPr id="1817" name="Google Shape;1817;p50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818" name="Google Shape;1818;p50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C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819" name="Google Shape;1819;p50"/>
          <p:cNvGrpSpPr/>
          <p:nvPr/>
        </p:nvGrpSpPr>
        <p:grpSpPr>
          <a:xfrm>
            <a:off x="4419600" y="2986088"/>
            <a:ext cx="457200" cy="457200"/>
            <a:chOff x="1344" y="1248"/>
            <a:chExt cx="288" cy="288"/>
          </a:xfrm>
        </p:grpSpPr>
        <p:sp>
          <p:nvSpPr>
            <p:cNvPr id="1820" name="Google Shape;1820;p50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821" name="Google Shape;1821;p50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E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822" name="Google Shape;1822;p50"/>
          <p:cNvGrpSpPr/>
          <p:nvPr/>
        </p:nvGrpSpPr>
        <p:grpSpPr>
          <a:xfrm>
            <a:off x="5105400" y="3900488"/>
            <a:ext cx="457200" cy="457200"/>
            <a:chOff x="1344" y="1248"/>
            <a:chExt cx="288" cy="288"/>
          </a:xfrm>
        </p:grpSpPr>
        <p:sp>
          <p:nvSpPr>
            <p:cNvPr id="1823" name="Google Shape;1823;p50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824" name="Google Shape;1824;p50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F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825" name="Google Shape;1825;p50"/>
          <p:cNvGrpSpPr/>
          <p:nvPr/>
        </p:nvGrpSpPr>
        <p:grpSpPr>
          <a:xfrm>
            <a:off x="1981200" y="5715000"/>
            <a:ext cx="457200" cy="457200"/>
            <a:chOff x="1344" y="1248"/>
            <a:chExt cx="288" cy="288"/>
          </a:xfrm>
        </p:grpSpPr>
        <p:sp>
          <p:nvSpPr>
            <p:cNvPr id="1826" name="Google Shape;1826;p50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827" name="Google Shape;1827;p50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I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1828" name="Google Shape;1828;p50"/>
          <p:cNvCxnSpPr/>
          <p:nvPr/>
        </p:nvCxnSpPr>
        <p:spPr>
          <a:xfrm>
            <a:off x="4648200" y="3443288"/>
            <a:ext cx="6096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29" name="Google Shape;1829;p50"/>
          <p:cNvSpPr txBox="1"/>
          <p:nvPr/>
        </p:nvSpPr>
        <p:spPr>
          <a:xfrm>
            <a:off x="4876800" y="3367088"/>
            <a:ext cx="6096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99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830" name="Google Shape;1830;p50"/>
          <p:cNvGrpSpPr/>
          <p:nvPr/>
        </p:nvGrpSpPr>
        <p:grpSpPr>
          <a:xfrm>
            <a:off x="3581400" y="3900488"/>
            <a:ext cx="457200" cy="457200"/>
            <a:chOff x="1344" y="1248"/>
            <a:chExt cx="288" cy="288"/>
          </a:xfrm>
        </p:grpSpPr>
        <p:sp>
          <p:nvSpPr>
            <p:cNvPr id="1831" name="Google Shape;1831;p50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832" name="Google Shape;1832;p50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G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833" name="Google Shape;1833;p50"/>
          <p:cNvGrpSpPr/>
          <p:nvPr/>
        </p:nvGrpSpPr>
        <p:grpSpPr>
          <a:xfrm>
            <a:off x="2743200" y="4814888"/>
            <a:ext cx="457200" cy="457200"/>
            <a:chOff x="1344" y="1248"/>
            <a:chExt cx="288" cy="288"/>
          </a:xfrm>
        </p:grpSpPr>
        <p:sp>
          <p:nvSpPr>
            <p:cNvPr id="1834" name="Google Shape;1834;p50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835" name="Google Shape;1835;p50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H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1836" name="Google Shape;1836;p50"/>
          <p:cNvCxnSpPr/>
          <p:nvPr/>
        </p:nvCxnSpPr>
        <p:spPr>
          <a:xfrm flipH="1">
            <a:off x="3733800" y="3443288"/>
            <a:ext cx="9144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37" name="Google Shape;1837;p50"/>
          <p:cNvCxnSpPr/>
          <p:nvPr/>
        </p:nvCxnSpPr>
        <p:spPr>
          <a:xfrm flipH="1">
            <a:off x="3048000" y="4357688"/>
            <a:ext cx="762000" cy="4429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38" name="Google Shape;1838;p50"/>
          <p:cNvCxnSpPr/>
          <p:nvPr/>
        </p:nvCxnSpPr>
        <p:spPr>
          <a:xfrm flipH="1">
            <a:off x="2209800" y="5272088"/>
            <a:ext cx="762000" cy="4429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39" name="Google Shape;1839;p50"/>
          <p:cNvSpPr txBox="1"/>
          <p:nvPr/>
        </p:nvSpPr>
        <p:spPr>
          <a:xfrm>
            <a:off x="3810000" y="3367088"/>
            <a:ext cx="6096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80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1840" name="Google Shape;1840;p50"/>
          <p:cNvCxnSpPr/>
          <p:nvPr/>
        </p:nvCxnSpPr>
        <p:spPr>
          <a:xfrm>
            <a:off x="4572000" y="2300288"/>
            <a:ext cx="2362200" cy="6715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41" name="Google Shape;1841;p50"/>
          <p:cNvCxnSpPr/>
          <p:nvPr/>
        </p:nvCxnSpPr>
        <p:spPr>
          <a:xfrm>
            <a:off x="4572000" y="2300288"/>
            <a:ext cx="762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42" name="Google Shape;1842;p50"/>
          <p:cNvCxnSpPr/>
          <p:nvPr/>
        </p:nvCxnSpPr>
        <p:spPr>
          <a:xfrm flipH="1">
            <a:off x="2438400" y="2300288"/>
            <a:ext cx="2133600" cy="7477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43" name="Google Shape;1843;p50"/>
          <p:cNvSpPr txBox="1"/>
          <p:nvPr/>
        </p:nvSpPr>
        <p:spPr>
          <a:xfrm>
            <a:off x="4876800" y="18288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Start</a:t>
            </a:r>
            <a:endParaRPr b="1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44" name="Google Shape;1844;p50"/>
          <p:cNvSpPr txBox="1"/>
          <p:nvPr/>
        </p:nvSpPr>
        <p:spPr>
          <a:xfrm>
            <a:off x="3429000" y="4495800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97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45" name="Google Shape;1845;p50"/>
          <p:cNvSpPr txBox="1"/>
          <p:nvPr/>
        </p:nvSpPr>
        <p:spPr>
          <a:xfrm>
            <a:off x="2514600" y="5424488"/>
            <a:ext cx="838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101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46" name="Google Shape;1846;p50"/>
          <p:cNvSpPr txBox="1"/>
          <p:nvPr/>
        </p:nvSpPr>
        <p:spPr>
          <a:xfrm>
            <a:off x="5791200" y="2300288"/>
            <a:ext cx="6096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75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47" name="Google Shape;1847;p50"/>
          <p:cNvSpPr txBox="1"/>
          <p:nvPr/>
        </p:nvSpPr>
        <p:spPr>
          <a:xfrm>
            <a:off x="2819400" y="2300288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118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48" name="Google Shape;1848;p50"/>
          <p:cNvSpPr txBox="1"/>
          <p:nvPr/>
        </p:nvSpPr>
        <p:spPr>
          <a:xfrm>
            <a:off x="4572000" y="2543175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140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49" name="Google Shape;1849;p50"/>
          <p:cNvSpPr txBox="1"/>
          <p:nvPr/>
        </p:nvSpPr>
        <p:spPr>
          <a:xfrm>
            <a:off x="4876800" y="2986088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[393]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50" name="Google Shape;1850;p50"/>
          <p:cNvSpPr txBox="1"/>
          <p:nvPr/>
        </p:nvSpPr>
        <p:spPr>
          <a:xfrm>
            <a:off x="7162800" y="29718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[449]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51" name="Google Shape;1851;p50"/>
          <p:cNvSpPr txBox="1"/>
          <p:nvPr/>
        </p:nvSpPr>
        <p:spPr>
          <a:xfrm>
            <a:off x="1447800" y="31242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[447]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52" name="Google Shape;1852;p50"/>
          <p:cNvSpPr txBox="1"/>
          <p:nvPr/>
        </p:nvSpPr>
        <p:spPr>
          <a:xfrm>
            <a:off x="5638800" y="3900488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[417]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53" name="Google Shape;1853;p50"/>
          <p:cNvSpPr txBox="1"/>
          <p:nvPr/>
        </p:nvSpPr>
        <p:spPr>
          <a:xfrm>
            <a:off x="2819400" y="3976688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[413]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54" name="Google Shape;1854;p50"/>
          <p:cNvSpPr txBox="1"/>
          <p:nvPr/>
        </p:nvSpPr>
        <p:spPr>
          <a:xfrm>
            <a:off x="2057400" y="48768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[415]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55" name="Google Shape;1855;p50"/>
          <p:cNvSpPr txBox="1"/>
          <p:nvPr/>
        </p:nvSpPr>
        <p:spPr>
          <a:xfrm>
            <a:off x="1295400" y="5805488"/>
            <a:ext cx="1219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Goal</a:t>
            </a:r>
            <a:endParaRPr b="1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56" name="Google Shape;1856;p50"/>
          <p:cNvSpPr txBox="1"/>
          <p:nvPr/>
        </p:nvSpPr>
        <p:spPr>
          <a:xfrm>
            <a:off x="2438400" y="5791200"/>
            <a:ext cx="9144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[418]</a:t>
            </a:r>
            <a:endParaRPr b="1" i="0" sz="1800" u="none" cap="none" strike="noStrike">
              <a:solidFill>
                <a:schemeClr val="accent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857" name="Google Shape;1857;p50"/>
          <p:cNvGrpSpPr/>
          <p:nvPr/>
        </p:nvGrpSpPr>
        <p:grpSpPr>
          <a:xfrm>
            <a:off x="5791200" y="4800600"/>
            <a:ext cx="457200" cy="457200"/>
            <a:chOff x="1344" y="1248"/>
            <a:chExt cx="288" cy="288"/>
          </a:xfrm>
        </p:grpSpPr>
        <p:sp>
          <p:nvSpPr>
            <p:cNvPr id="1858" name="Google Shape;1858;p50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859" name="Google Shape;1859;p50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I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1860" name="Google Shape;1860;p50"/>
          <p:cNvCxnSpPr/>
          <p:nvPr/>
        </p:nvCxnSpPr>
        <p:spPr>
          <a:xfrm>
            <a:off x="5410200" y="4343400"/>
            <a:ext cx="6096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61" name="Google Shape;1861;p50"/>
          <p:cNvSpPr txBox="1"/>
          <p:nvPr/>
        </p:nvSpPr>
        <p:spPr>
          <a:xfrm>
            <a:off x="6248400" y="48768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[450]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5" name="Shape 1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6" name="Google Shape;1866;g36b99e6bcf5_0_57"/>
          <p:cNvSpPr txBox="1"/>
          <p:nvPr>
            <p:ph type="ctrTitle"/>
          </p:nvPr>
        </p:nvSpPr>
        <p:spPr>
          <a:xfrm>
            <a:off x="990600" y="1676400"/>
            <a:ext cx="7772400" cy="14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Optimality of A* search</a:t>
            </a:r>
            <a:endParaRPr/>
          </a:p>
        </p:txBody>
      </p:sp>
      <p:sp>
        <p:nvSpPr>
          <p:cNvPr id="1867" name="Google Shape;1867;g36b99e6bcf5_0_57"/>
          <p:cNvSpPr txBox="1"/>
          <p:nvPr>
            <p:ph idx="1" type="subTitle"/>
          </p:nvPr>
        </p:nvSpPr>
        <p:spPr>
          <a:xfrm>
            <a:off x="1371600" y="3886200"/>
            <a:ext cx="6400800" cy="21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052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Char char="●"/>
            </a:pPr>
            <a:r>
              <a:rPr lang="en-US"/>
              <a:t>Tree search of A* is optimal if the heuristic is </a:t>
            </a:r>
            <a:r>
              <a:rPr b="1" lang="en-US"/>
              <a:t>admissible</a:t>
            </a:r>
            <a:endParaRPr b="1"/>
          </a:p>
          <a:p>
            <a:pPr indent="-35052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Char char="●"/>
            </a:pPr>
            <a:r>
              <a:rPr lang="en-US"/>
              <a:t>Graph search of A* is optimal if the heuristic is </a:t>
            </a:r>
            <a:r>
              <a:rPr b="1" lang="en-US"/>
              <a:t>consistent</a:t>
            </a:r>
            <a:endParaRPr b="1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1" name="Shape 1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2" name="Google Shape;1872;g36b99e6bcf5_0_62"/>
          <p:cNvSpPr txBox="1"/>
          <p:nvPr>
            <p:ph type="title"/>
          </p:nvPr>
        </p:nvSpPr>
        <p:spPr>
          <a:xfrm>
            <a:off x="1150938" y="214313"/>
            <a:ext cx="7793100" cy="14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Admissible heuristics</a:t>
            </a:r>
            <a:endParaRPr/>
          </a:p>
        </p:txBody>
      </p:sp>
      <p:sp>
        <p:nvSpPr>
          <p:cNvPr id="1873" name="Google Shape;1873;g36b99e6bcf5_0_62"/>
          <p:cNvSpPr txBox="1"/>
          <p:nvPr>
            <p:ph idx="1" type="body"/>
          </p:nvPr>
        </p:nvSpPr>
        <p:spPr>
          <a:xfrm>
            <a:off x="457200" y="2017713"/>
            <a:ext cx="8497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Char char="■"/>
            </a:pPr>
            <a:r>
              <a:rPr lang="en-US" sz="2800"/>
              <a:t>A heuristic </a:t>
            </a:r>
            <a:r>
              <a:rPr i="1" lang="en-US" sz="2800"/>
              <a:t>h(n)</a:t>
            </a:r>
            <a:r>
              <a:rPr lang="en-US" sz="2800"/>
              <a:t> is </a:t>
            </a:r>
            <a:r>
              <a:rPr lang="en-US" sz="2800">
                <a:solidFill>
                  <a:srgbClr val="FF0000"/>
                </a:solidFill>
              </a:rPr>
              <a:t>admissible</a:t>
            </a:r>
            <a:r>
              <a:rPr lang="en-US" sz="2800"/>
              <a:t> if for every node </a:t>
            </a:r>
            <a:r>
              <a:rPr i="1" lang="en-US" sz="2800"/>
              <a:t>n</a:t>
            </a:r>
            <a:r>
              <a:rPr lang="en-US" sz="2800"/>
              <a:t>,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Font typeface="Noto Sans Symbols"/>
              <a:buNone/>
            </a:pPr>
            <a:r>
              <a:rPr i="1" lang="en-US" sz="2800"/>
              <a:t>	h(n) ≤ h</a:t>
            </a:r>
            <a:r>
              <a:rPr baseline="30000" i="1" lang="en-US" sz="2800"/>
              <a:t>*</a:t>
            </a:r>
            <a:r>
              <a:rPr i="1" lang="en-US" sz="2800"/>
              <a:t>(n), </a:t>
            </a:r>
            <a:r>
              <a:rPr lang="en-US" sz="2800"/>
              <a:t>where </a:t>
            </a:r>
            <a:r>
              <a:rPr i="1" lang="en-US" sz="2800"/>
              <a:t>h</a:t>
            </a:r>
            <a:r>
              <a:rPr baseline="30000" i="1" lang="en-US" sz="2800"/>
              <a:t>*</a:t>
            </a:r>
            <a:r>
              <a:rPr i="1" lang="en-US" sz="2800"/>
              <a:t>(n)</a:t>
            </a:r>
            <a:r>
              <a:rPr lang="en-US" sz="2800"/>
              <a:t> is the </a:t>
            </a:r>
            <a:r>
              <a:rPr lang="en-US" sz="2800">
                <a:solidFill>
                  <a:srgbClr val="FF0000"/>
                </a:solidFill>
              </a:rPr>
              <a:t>true </a:t>
            </a:r>
            <a:r>
              <a:rPr lang="en-US" sz="2800"/>
              <a:t>cost to reach the goal state from </a:t>
            </a:r>
            <a:r>
              <a:rPr i="1" lang="en-US" sz="2800"/>
              <a:t>n</a:t>
            </a:r>
            <a:r>
              <a:rPr lang="en-US" sz="2800"/>
              <a:t>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 sz="2800"/>
              <a:t>An admissible heuristic </a:t>
            </a:r>
            <a:r>
              <a:rPr lang="en-US" sz="2800">
                <a:solidFill>
                  <a:srgbClr val="FF0000"/>
                </a:solidFill>
              </a:rPr>
              <a:t>never overestimates</a:t>
            </a:r>
            <a:r>
              <a:rPr lang="en-US" sz="2800"/>
              <a:t> the cost to reach the goal, i.e., it is </a:t>
            </a:r>
            <a:r>
              <a:rPr lang="en-US" sz="2800">
                <a:solidFill>
                  <a:srgbClr val="FF0000"/>
                </a:solidFill>
              </a:rPr>
              <a:t>optimistic</a:t>
            </a:r>
            <a:endParaRPr sz="2800"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 sz="2800"/>
              <a:t>Example: </a:t>
            </a:r>
            <a:r>
              <a:rPr i="1" lang="en-US" sz="2800"/>
              <a:t>h</a:t>
            </a:r>
            <a:r>
              <a:rPr baseline="-25000" i="1" lang="en-US" sz="2800"/>
              <a:t>SLD</a:t>
            </a:r>
            <a:r>
              <a:rPr i="1" lang="en-US" sz="2800"/>
              <a:t>(n) </a:t>
            </a:r>
            <a:r>
              <a:rPr lang="en-US" sz="2800"/>
              <a:t>(never overestimates the actual road distance)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 sz="2800">
                <a:solidFill>
                  <a:schemeClr val="accent2"/>
                </a:solidFill>
              </a:rPr>
              <a:t>Theorem</a:t>
            </a:r>
            <a:r>
              <a:rPr lang="en-US" sz="2800"/>
              <a:t>: If </a:t>
            </a:r>
            <a:r>
              <a:rPr i="1" lang="en-US" sz="2800"/>
              <a:t>h(n) </a:t>
            </a:r>
            <a:r>
              <a:rPr lang="en-US" sz="2800"/>
              <a:t>is admissible, A</a:t>
            </a:r>
            <a:r>
              <a:rPr baseline="30000" lang="en-US" sz="2800"/>
              <a:t>*</a:t>
            </a:r>
            <a:r>
              <a:rPr lang="en-US" sz="2800"/>
              <a:t> using </a:t>
            </a: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TREE-SEARCH</a:t>
            </a:r>
            <a:r>
              <a:rPr lang="en-US" sz="2800"/>
              <a:t> is optimal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7" name="Shape 1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8" name="Google Shape;1878;g36b99e6bcf5_0_67"/>
          <p:cNvSpPr txBox="1"/>
          <p:nvPr>
            <p:ph type="title"/>
          </p:nvPr>
        </p:nvSpPr>
        <p:spPr>
          <a:xfrm>
            <a:off x="1168388" y="864038"/>
            <a:ext cx="7793100" cy="8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Consistent heuristics</a:t>
            </a:r>
            <a:endParaRPr/>
          </a:p>
        </p:txBody>
      </p:sp>
      <p:sp>
        <p:nvSpPr>
          <p:cNvPr id="1879" name="Google Shape;1879;g36b99e6bcf5_0_67"/>
          <p:cNvSpPr txBox="1"/>
          <p:nvPr>
            <p:ph idx="1" type="body"/>
          </p:nvPr>
        </p:nvSpPr>
        <p:spPr>
          <a:xfrm>
            <a:off x="685800" y="1905000"/>
            <a:ext cx="8229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80"/>
              <a:buChar char="■"/>
            </a:pPr>
            <a:r>
              <a:rPr lang="en-US" sz="1800"/>
              <a:t>A heuristic is </a:t>
            </a:r>
            <a:r>
              <a:rPr b="1" lang="en-US" sz="1800">
                <a:solidFill>
                  <a:srgbClr val="FF0000"/>
                </a:solidFill>
              </a:rPr>
              <a:t>consistent</a:t>
            </a:r>
            <a:r>
              <a:rPr b="1" lang="en-US" sz="1800"/>
              <a:t> </a:t>
            </a:r>
            <a:r>
              <a:rPr lang="en-US" sz="1800"/>
              <a:t>if for every node </a:t>
            </a:r>
            <a:r>
              <a:rPr i="1" lang="en-US" sz="1800"/>
              <a:t>n</a:t>
            </a:r>
            <a:r>
              <a:rPr lang="en-US" sz="1800"/>
              <a:t>, every successor </a:t>
            </a:r>
            <a:r>
              <a:rPr i="1" lang="en-US" sz="1800"/>
              <a:t>n'</a:t>
            </a:r>
            <a:r>
              <a:rPr lang="en-US" sz="1800"/>
              <a:t> of </a:t>
            </a:r>
            <a:r>
              <a:rPr i="1" lang="en-US" sz="1800"/>
              <a:t>n</a:t>
            </a:r>
            <a:r>
              <a:rPr lang="en-US" sz="1800"/>
              <a:t> generated by any action </a:t>
            </a:r>
            <a:r>
              <a:rPr i="1" lang="en-US" sz="1800"/>
              <a:t>a</a:t>
            </a:r>
            <a:r>
              <a:rPr lang="en-US" sz="1800"/>
              <a:t>, follows the triangular inequality.  </a:t>
            </a:r>
            <a:endParaRPr sz="1800"/>
          </a:p>
          <a:p>
            <a:pPr indent="-27432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t/>
            </a:r>
            <a:endParaRPr sz="1800"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080"/>
              <a:buFont typeface="Noto Sans Symbols"/>
              <a:buNone/>
            </a:pPr>
            <a:r>
              <a:rPr lang="en-US" sz="1800"/>
              <a:t>	</a:t>
            </a:r>
            <a:r>
              <a:rPr lang="en-US" sz="2800">
                <a:solidFill>
                  <a:srgbClr val="CC6600"/>
                </a:solidFill>
              </a:rPr>
              <a:t>h(n) </a:t>
            </a:r>
            <a:r>
              <a:rPr b="1" lang="en-US" sz="2400">
                <a:solidFill>
                  <a:srgbClr val="CC66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≤</a:t>
            </a:r>
            <a:r>
              <a:rPr lang="en-US" sz="2800">
                <a:solidFill>
                  <a:srgbClr val="CC6600"/>
                </a:solidFill>
              </a:rPr>
              <a:t> c(n,a,n’) + h(n’)</a:t>
            </a:r>
            <a:br>
              <a:rPr lang="en-US" sz="1800"/>
            </a:br>
            <a:endParaRPr/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t/>
            </a:r>
            <a:endParaRPr sz="1800"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</a:pPr>
            <a:r>
              <a:rPr lang="en-US" sz="1800"/>
              <a:t>If </a:t>
            </a:r>
            <a:r>
              <a:rPr i="1" lang="en-US" sz="1800"/>
              <a:t>h</a:t>
            </a:r>
            <a:r>
              <a:rPr lang="en-US" sz="1800"/>
              <a:t> is consistent, we have</a:t>
            </a:r>
            <a:br>
              <a:rPr lang="en-US" sz="1800"/>
            </a:br>
            <a:r>
              <a:rPr lang="en-US" sz="1800"/>
              <a:t>f(n') 	= g(n') + h(n') 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080"/>
              <a:buFont typeface="Noto Sans Symbols"/>
              <a:buNone/>
            </a:pPr>
            <a:r>
              <a:rPr lang="en-US" sz="1800"/>
              <a:t>      	= g(n) + c(n,a,n') + h(n') 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080"/>
              <a:buFont typeface="Noto Sans Symbols"/>
              <a:buNone/>
            </a:pPr>
            <a:r>
              <a:rPr lang="en-US" sz="1800"/>
              <a:t>      	≥ g(n) + h(n)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080"/>
              <a:buFont typeface="Noto Sans Symbols"/>
              <a:buNone/>
            </a:pPr>
            <a:r>
              <a:rPr lang="en-US" sz="1800"/>
              <a:t>      	= f(n)</a:t>
            </a:r>
            <a:br>
              <a:rPr lang="en-US" sz="1800"/>
            </a:b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</a:pPr>
            <a:r>
              <a:rPr lang="en-US" sz="1800"/>
              <a:t>i.e., </a:t>
            </a:r>
            <a:r>
              <a:rPr i="1" lang="en-US" sz="1800"/>
              <a:t>f(n)</a:t>
            </a:r>
            <a:r>
              <a:rPr lang="en-US" sz="1800"/>
              <a:t> is non-decreasing along any path.</a:t>
            </a:r>
            <a:endParaRPr sz="1800"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</a:pPr>
            <a:r>
              <a:rPr lang="en-US" sz="1800">
                <a:solidFill>
                  <a:schemeClr val="accent2"/>
                </a:solidFill>
              </a:rPr>
              <a:t>Theorem</a:t>
            </a:r>
            <a:r>
              <a:rPr lang="en-US" sz="1800"/>
              <a:t>: If </a:t>
            </a:r>
            <a:r>
              <a:rPr i="1" lang="en-US" sz="1800"/>
              <a:t>h(n)</a:t>
            </a:r>
            <a:r>
              <a:rPr lang="en-US" sz="1800"/>
              <a:t> is consistent, A</a:t>
            </a:r>
            <a:r>
              <a:rPr i="1" lang="en-US" sz="1800"/>
              <a:t>*</a:t>
            </a:r>
            <a:r>
              <a:rPr lang="en-US" sz="1800"/>
              <a:t> using </a:t>
            </a: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GRAPH-SEARCH</a:t>
            </a:r>
            <a:r>
              <a:rPr lang="en-US" sz="1800"/>
              <a:t> is optimal</a:t>
            </a:r>
            <a:endParaRPr sz="1800"/>
          </a:p>
        </p:txBody>
      </p:sp>
      <p:pic>
        <p:nvPicPr>
          <p:cNvPr descr="consistency" id="1880" name="Google Shape;1880;g36b99e6bcf5_0_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81600" y="2819400"/>
            <a:ext cx="1962150" cy="208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4" name="Shape 1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5" name="Google Shape;1885;p51"/>
          <p:cNvSpPr txBox="1"/>
          <p:nvPr>
            <p:ph type="ctrTitle"/>
          </p:nvPr>
        </p:nvSpPr>
        <p:spPr>
          <a:xfrm>
            <a:off x="990600" y="1676400"/>
            <a:ext cx="7772400" cy="14620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What if heuristic is </a:t>
            </a:r>
            <a:r>
              <a:rPr b="1" lang="en-US"/>
              <a:t>NOT</a:t>
            </a:r>
            <a:r>
              <a:rPr lang="en-US"/>
              <a:t> Admissible?</a:t>
            </a:r>
            <a:endParaRPr/>
          </a:p>
        </p:txBody>
      </p:sp>
      <p:sp>
        <p:nvSpPr>
          <p:cNvPr id="1886" name="Google Shape;1886;p5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lang="en-US"/>
              <a:t>h() overestimates the cost to reach the goal state 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0" name="Shape 1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1" name="Google Shape;1891;p52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92" name="Google Shape;1892;p52"/>
          <p:cNvSpPr txBox="1"/>
          <p:nvPr>
            <p:ph type="title"/>
          </p:nvPr>
        </p:nvSpPr>
        <p:spPr>
          <a:xfrm>
            <a:off x="1150950" y="270475"/>
            <a:ext cx="7793100" cy="1406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A* Search: what if </a:t>
            </a:r>
            <a:r>
              <a:rPr i="1" lang="en-US"/>
              <a:t>h</a:t>
            </a:r>
            <a:r>
              <a:rPr lang="en-US"/>
              <a:t> is not admissible !</a:t>
            </a:r>
            <a:endParaRPr/>
          </a:p>
        </p:txBody>
      </p:sp>
      <p:grpSp>
        <p:nvGrpSpPr>
          <p:cNvPr id="1893" name="Google Shape;1893;p52"/>
          <p:cNvGrpSpPr/>
          <p:nvPr/>
        </p:nvGrpSpPr>
        <p:grpSpPr>
          <a:xfrm>
            <a:off x="2133600" y="1981200"/>
            <a:ext cx="457200" cy="457200"/>
            <a:chOff x="1344" y="1248"/>
            <a:chExt cx="288" cy="288"/>
          </a:xfrm>
        </p:grpSpPr>
        <p:sp>
          <p:nvSpPr>
            <p:cNvPr id="1894" name="Google Shape;1894;p52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895" name="Google Shape;1895;p52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A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896" name="Google Shape;1896;p52"/>
          <p:cNvGrpSpPr/>
          <p:nvPr/>
        </p:nvGrpSpPr>
        <p:grpSpPr>
          <a:xfrm>
            <a:off x="3200400" y="2514600"/>
            <a:ext cx="457200" cy="457200"/>
            <a:chOff x="1344" y="1248"/>
            <a:chExt cx="288" cy="288"/>
          </a:xfrm>
        </p:grpSpPr>
        <p:sp>
          <p:nvSpPr>
            <p:cNvPr id="1897" name="Google Shape;1897;p52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898" name="Google Shape;1898;p52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B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899" name="Google Shape;1899;p52"/>
          <p:cNvGrpSpPr/>
          <p:nvPr/>
        </p:nvGrpSpPr>
        <p:grpSpPr>
          <a:xfrm>
            <a:off x="533400" y="3429000"/>
            <a:ext cx="457200" cy="457200"/>
            <a:chOff x="1344" y="1248"/>
            <a:chExt cx="288" cy="288"/>
          </a:xfrm>
        </p:grpSpPr>
        <p:sp>
          <p:nvSpPr>
            <p:cNvPr id="1900" name="Google Shape;1900;p52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01" name="Google Shape;1901;p52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902" name="Google Shape;1902;p52"/>
          <p:cNvGrpSpPr/>
          <p:nvPr/>
        </p:nvGrpSpPr>
        <p:grpSpPr>
          <a:xfrm>
            <a:off x="1066800" y="2667000"/>
            <a:ext cx="457200" cy="457200"/>
            <a:chOff x="1344" y="1248"/>
            <a:chExt cx="288" cy="288"/>
          </a:xfrm>
        </p:grpSpPr>
        <p:sp>
          <p:nvSpPr>
            <p:cNvPr id="1903" name="Google Shape;1903;p52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04" name="Google Shape;1904;p52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C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905" name="Google Shape;1905;p52"/>
          <p:cNvGrpSpPr/>
          <p:nvPr/>
        </p:nvGrpSpPr>
        <p:grpSpPr>
          <a:xfrm>
            <a:off x="2209800" y="3124200"/>
            <a:ext cx="457200" cy="457200"/>
            <a:chOff x="1344" y="1248"/>
            <a:chExt cx="288" cy="288"/>
          </a:xfrm>
        </p:grpSpPr>
        <p:sp>
          <p:nvSpPr>
            <p:cNvPr id="1906" name="Google Shape;1906;p52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07" name="Google Shape;1907;p52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E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908" name="Google Shape;1908;p52"/>
          <p:cNvGrpSpPr/>
          <p:nvPr/>
        </p:nvGrpSpPr>
        <p:grpSpPr>
          <a:xfrm>
            <a:off x="2895600" y="4038600"/>
            <a:ext cx="457200" cy="457200"/>
            <a:chOff x="1344" y="1248"/>
            <a:chExt cx="288" cy="288"/>
          </a:xfrm>
        </p:grpSpPr>
        <p:sp>
          <p:nvSpPr>
            <p:cNvPr id="1909" name="Google Shape;1909;p52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10" name="Google Shape;1910;p52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F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911" name="Google Shape;1911;p52"/>
          <p:cNvGrpSpPr/>
          <p:nvPr/>
        </p:nvGrpSpPr>
        <p:grpSpPr>
          <a:xfrm>
            <a:off x="1905000" y="5715000"/>
            <a:ext cx="457200" cy="457200"/>
            <a:chOff x="1344" y="1248"/>
            <a:chExt cx="288" cy="288"/>
          </a:xfrm>
        </p:grpSpPr>
        <p:sp>
          <p:nvSpPr>
            <p:cNvPr id="1912" name="Google Shape;1912;p52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13" name="Google Shape;1913;p52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I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1914" name="Google Shape;1914;p52"/>
          <p:cNvCxnSpPr/>
          <p:nvPr/>
        </p:nvCxnSpPr>
        <p:spPr>
          <a:xfrm>
            <a:off x="2438400" y="3581400"/>
            <a:ext cx="6096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15" name="Google Shape;1915;p52"/>
          <p:cNvCxnSpPr/>
          <p:nvPr/>
        </p:nvCxnSpPr>
        <p:spPr>
          <a:xfrm flipH="1">
            <a:off x="2133600" y="4495800"/>
            <a:ext cx="990600" cy="1219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16" name="Google Shape;1916;p52"/>
          <p:cNvSpPr txBox="1"/>
          <p:nvPr/>
        </p:nvSpPr>
        <p:spPr>
          <a:xfrm>
            <a:off x="2667000" y="3505200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99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17" name="Google Shape;1917;p52"/>
          <p:cNvSpPr txBox="1"/>
          <p:nvPr/>
        </p:nvSpPr>
        <p:spPr>
          <a:xfrm>
            <a:off x="2667000" y="51054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211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918" name="Google Shape;1918;p52"/>
          <p:cNvGrpSpPr/>
          <p:nvPr/>
        </p:nvGrpSpPr>
        <p:grpSpPr>
          <a:xfrm>
            <a:off x="1371600" y="4038600"/>
            <a:ext cx="457200" cy="457200"/>
            <a:chOff x="1344" y="1248"/>
            <a:chExt cx="288" cy="288"/>
          </a:xfrm>
        </p:grpSpPr>
        <p:sp>
          <p:nvSpPr>
            <p:cNvPr id="1919" name="Google Shape;1919;p52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20" name="Google Shape;1920;p52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G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921" name="Google Shape;1921;p52"/>
          <p:cNvGrpSpPr/>
          <p:nvPr/>
        </p:nvGrpSpPr>
        <p:grpSpPr>
          <a:xfrm>
            <a:off x="1143000" y="4953000"/>
            <a:ext cx="457200" cy="457200"/>
            <a:chOff x="1344" y="1248"/>
            <a:chExt cx="288" cy="288"/>
          </a:xfrm>
        </p:grpSpPr>
        <p:sp>
          <p:nvSpPr>
            <p:cNvPr id="1922" name="Google Shape;1922;p52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23" name="Google Shape;1923;p52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H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1924" name="Google Shape;1924;p52"/>
          <p:cNvCxnSpPr/>
          <p:nvPr/>
        </p:nvCxnSpPr>
        <p:spPr>
          <a:xfrm flipH="1">
            <a:off x="1524000" y="3581400"/>
            <a:ext cx="9144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25" name="Google Shape;1925;p52"/>
          <p:cNvCxnSpPr/>
          <p:nvPr/>
        </p:nvCxnSpPr>
        <p:spPr>
          <a:xfrm flipH="1">
            <a:off x="1371600" y="4495800"/>
            <a:ext cx="2286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26" name="Google Shape;1926;p52"/>
          <p:cNvCxnSpPr/>
          <p:nvPr/>
        </p:nvCxnSpPr>
        <p:spPr>
          <a:xfrm>
            <a:off x="1371600" y="5410200"/>
            <a:ext cx="7620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27" name="Google Shape;1927;p52"/>
          <p:cNvSpPr txBox="1"/>
          <p:nvPr/>
        </p:nvSpPr>
        <p:spPr>
          <a:xfrm>
            <a:off x="1600200" y="3505200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80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1928" name="Google Shape;1928;p52"/>
          <p:cNvCxnSpPr/>
          <p:nvPr/>
        </p:nvCxnSpPr>
        <p:spPr>
          <a:xfrm>
            <a:off x="2362200" y="2438400"/>
            <a:ext cx="106680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29" name="Google Shape;1929;p52"/>
          <p:cNvCxnSpPr/>
          <p:nvPr/>
        </p:nvCxnSpPr>
        <p:spPr>
          <a:xfrm>
            <a:off x="2362200" y="2438400"/>
            <a:ext cx="762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30" name="Google Shape;1930;p52"/>
          <p:cNvCxnSpPr/>
          <p:nvPr/>
        </p:nvCxnSpPr>
        <p:spPr>
          <a:xfrm flipH="1">
            <a:off x="1295400" y="2438400"/>
            <a:ext cx="1066800" cy="22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31" name="Google Shape;1931;p52"/>
          <p:cNvCxnSpPr/>
          <p:nvPr/>
        </p:nvCxnSpPr>
        <p:spPr>
          <a:xfrm flipH="1">
            <a:off x="762000" y="3124200"/>
            <a:ext cx="533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32" name="Google Shape;1932;p52"/>
          <p:cNvSpPr txBox="1"/>
          <p:nvPr/>
        </p:nvSpPr>
        <p:spPr>
          <a:xfrm>
            <a:off x="2590800" y="18288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Start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33" name="Google Shape;1933;p52"/>
          <p:cNvSpPr txBox="1"/>
          <p:nvPr/>
        </p:nvSpPr>
        <p:spPr>
          <a:xfrm>
            <a:off x="2438400" y="60198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Goal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34" name="Google Shape;1934;p52"/>
          <p:cNvSpPr txBox="1"/>
          <p:nvPr/>
        </p:nvSpPr>
        <p:spPr>
          <a:xfrm>
            <a:off x="990600" y="4572000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97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35" name="Google Shape;1935;p52"/>
          <p:cNvSpPr txBox="1"/>
          <p:nvPr/>
        </p:nvSpPr>
        <p:spPr>
          <a:xfrm>
            <a:off x="1295400" y="5486400"/>
            <a:ext cx="838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101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36" name="Google Shape;1936;p52"/>
          <p:cNvSpPr txBox="1"/>
          <p:nvPr/>
        </p:nvSpPr>
        <p:spPr>
          <a:xfrm>
            <a:off x="2819400" y="2133600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75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37" name="Google Shape;1937;p52"/>
          <p:cNvSpPr txBox="1"/>
          <p:nvPr/>
        </p:nvSpPr>
        <p:spPr>
          <a:xfrm>
            <a:off x="1371600" y="22098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118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38" name="Google Shape;1938;p52"/>
          <p:cNvSpPr txBox="1"/>
          <p:nvPr/>
        </p:nvSpPr>
        <p:spPr>
          <a:xfrm>
            <a:off x="381000" y="30480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111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39" name="Google Shape;1939;p52"/>
          <p:cNvSpPr txBox="1"/>
          <p:nvPr/>
        </p:nvSpPr>
        <p:spPr>
          <a:xfrm>
            <a:off x="2286000" y="5970588"/>
            <a:ext cx="6629400" cy="11922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f(n) = g(n) + h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1" i="1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</a:t>
            </a:r>
            <a:r>
              <a:rPr b="1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 – </a:t>
            </a: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(H-I) Overestimated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g(n): </a:t>
            </a: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is the exact cost to reach node </a:t>
            </a:r>
            <a:r>
              <a:rPr b="0" i="1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</a:t>
            </a: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from the initial state.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aphicFrame>
        <p:nvGraphicFramePr>
          <p:cNvPr id="1940" name="Google Shape;1940;p52"/>
          <p:cNvGraphicFramePr/>
          <p:nvPr/>
        </p:nvGraphicFramePr>
        <p:xfrm>
          <a:off x="5145088" y="18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{B90EF8FA-749B-4DD1-AEA0-74944B5BCE82}</a:tableStyleId>
              </a:tblPr>
              <a:tblGrid>
                <a:gridCol w="1905000"/>
                <a:gridCol w="1905000"/>
              </a:tblGrid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State</a:t>
                      </a:r>
                      <a:endParaRPr b="1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Heuristic: h(n)</a:t>
                      </a:r>
                      <a:endParaRPr b="1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366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B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374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C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329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D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244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E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253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F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178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G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193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H</a:t>
                      </a:r>
                      <a:endParaRPr b="1" i="0" sz="1800" u="none" cap="none" strike="noStrike">
                        <a:solidFill>
                          <a:schemeClr val="hlink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138</a:t>
                      </a:r>
                      <a:endParaRPr b="1" i="0" sz="1800" u="none" cap="none" strike="noStrike">
                        <a:solidFill>
                          <a:schemeClr val="hlink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I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41" name="Google Shape;1941;p52"/>
          <p:cNvSpPr txBox="1"/>
          <p:nvPr/>
        </p:nvSpPr>
        <p:spPr>
          <a:xfrm>
            <a:off x="2362200" y="2681288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140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5" name="Shape 1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" name="Google Shape;1946;p53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47" name="Google Shape;1947;p53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A* Search: Tree Search</a:t>
            </a:r>
            <a:endParaRPr/>
          </a:p>
        </p:txBody>
      </p:sp>
      <p:grpSp>
        <p:nvGrpSpPr>
          <p:cNvPr id="1948" name="Google Shape;1948;p53"/>
          <p:cNvGrpSpPr/>
          <p:nvPr/>
        </p:nvGrpSpPr>
        <p:grpSpPr>
          <a:xfrm>
            <a:off x="4343400" y="1843088"/>
            <a:ext cx="457200" cy="457200"/>
            <a:chOff x="1344" y="1248"/>
            <a:chExt cx="288" cy="288"/>
          </a:xfrm>
        </p:grpSpPr>
        <p:sp>
          <p:nvSpPr>
            <p:cNvPr id="1949" name="Google Shape;1949;p53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50" name="Google Shape;1950;p53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A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1951" name="Google Shape;1951;p53"/>
          <p:cNvSpPr txBox="1"/>
          <p:nvPr/>
        </p:nvSpPr>
        <p:spPr>
          <a:xfrm>
            <a:off x="4876800" y="18288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Start</a:t>
            </a:r>
            <a:endParaRPr b="1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5" name="Shape 1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6" name="Google Shape;1956;p54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57" name="Google Shape;1957;p54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A* Search: Tree Search</a:t>
            </a:r>
            <a:endParaRPr/>
          </a:p>
        </p:txBody>
      </p:sp>
      <p:grpSp>
        <p:nvGrpSpPr>
          <p:cNvPr id="1958" name="Google Shape;1958;p54"/>
          <p:cNvGrpSpPr/>
          <p:nvPr/>
        </p:nvGrpSpPr>
        <p:grpSpPr>
          <a:xfrm>
            <a:off x="4343400" y="1843088"/>
            <a:ext cx="457200" cy="457200"/>
            <a:chOff x="1344" y="1248"/>
            <a:chExt cx="288" cy="288"/>
          </a:xfrm>
        </p:grpSpPr>
        <p:sp>
          <p:nvSpPr>
            <p:cNvPr id="1959" name="Google Shape;1959;p54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60" name="Google Shape;1960;p54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A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961" name="Google Shape;1961;p54"/>
          <p:cNvGrpSpPr/>
          <p:nvPr/>
        </p:nvGrpSpPr>
        <p:grpSpPr>
          <a:xfrm>
            <a:off x="6705600" y="2971800"/>
            <a:ext cx="457200" cy="457200"/>
            <a:chOff x="1344" y="1248"/>
            <a:chExt cx="288" cy="288"/>
          </a:xfrm>
        </p:grpSpPr>
        <p:sp>
          <p:nvSpPr>
            <p:cNvPr id="1962" name="Google Shape;1962;p54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63" name="Google Shape;1963;p54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B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964" name="Google Shape;1964;p54"/>
          <p:cNvGrpSpPr/>
          <p:nvPr/>
        </p:nvGrpSpPr>
        <p:grpSpPr>
          <a:xfrm>
            <a:off x="2209800" y="3048000"/>
            <a:ext cx="457200" cy="457200"/>
            <a:chOff x="1344" y="1248"/>
            <a:chExt cx="288" cy="288"/>
          </a:xfrm>
        </p:grpSpPr>
        <p:sp>
          <p:nvSpPr>
            <p:cNvPr id="1965" name="Google Shape;1965;p54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66" name="Google Shape;1966;p54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C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967" name="Google Shape;1967;p54"/>
          <p:cNvGrpSpPr/>
          <p:nvPr/>
        </p:nvGrpSpPr>
        <p:grpSpPr>
          <a:xfrm>
            <a:off x="4419600" y="2986088"/>
            <a:ext cx="457200" cy="457200"/>
            <a:chOff x="1344" y="1248"/>
            <a:chExt cx="288" cy="288"/>
          </a:xfrm>
        </p:grpSpPr>
        <p:sp>
          <p:nvSpPr>
            <p:cNvPr id="1968" name="Google Shape;1968;p54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69" name="Google Shape;1969;p54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E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1970" name="Google Shape;1970;p54"/>
          <p:cNvCxnSpPr/>
          <p:nvPr/>
        </p:nvCxnSpPr>
        <p:spPr>
          <a:xfrm>
            <a:off x="4572000" y="2300288"/>
            <a:ext cx="2362200" cy="6715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71" name="Google Shape;1971;p54"/>
          <p:cNvCxnSpPr/>
          <p:nvPr/>
        </p:nvCxnSpPr>
        <p:spPr>
          <a:xfrm>
            <a:off x="4572000" y="2300288"/>
            <a:ext cx="762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72" name="Google Shape;1972;p54"/>
          <p:cNvCxnSpPr/>
          <p:nvPr/>
        </p:nvCxnSpPr>
        <p:spPr>
          <a:xfrm flipH="1">
            <a:off x="2438400" y="2300288"/>
            <a:ext cx="2133600" cy="7477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73" name="Google Shape;1973;p54"/>
          <p:cNvSpPr txBox="1"/>
          <p:nvPr/>
        </p:nvSpPr>
        <p:spPr>
          <a:xfrm>
            <a:off x="4876800" y="18288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Start</a:t>
            </a:r>
            <a:endParaRPr b="1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74" name="Google Shape;1974;p54"/>
          <p:cNvSpPr txBox="1"/>
          <p:nvPr/>
        </p:nvSpPr>
        <p:spPr>
          <a:xfrm>
            <a:off x="5791200" y="2300288"/>
            <a:ext cx="6096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75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75" name="Google Shape;1975;p54"/>
          <p:cNvSpPr txBox="1"/>
          <p:nvPr/>
        </p:nvSpPr>
        <p:spPr>
          <a:xfrm>
            <a:off x="2819400" y="2300288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118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76" name="Google Shape;1976;p54"/>
          <p:cNvSpPr txBox="1"/>
          <p:nvPr/>
        </p:nvSpPr>
        <p:spPr>
          <a:xfrm>
            <a:off x="4572000" y="2543175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140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77" name="Google Shape;1977;p54"/>
          <p:cNvSpPr txBox="1"/>
          <p:nvPr/>
        </p:nvSpPr>
        <p:spPr>
          <a:xfrm>
            <a:off x="4876800" y="2986088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[393]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78" name="Google Shape;1978;p54"/>
          <p:cNvSpPr txBox="1"/>
          <p:nvPr/>
        </p:nvSpPr>
        <p:spPr>
          <a:xfrm>
            <a:off x="7162800" y="29718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[449]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79" name="Google Shape;1979;p54"/>
          <p:cNvSpPr txBox="1"/>
          <p:nvPr/>
        </p:nvSpPr>
        <p:spPr>
          <a:xfrm>
            <a:off x="1447800" y="31242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[447]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3" name="Shape 1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4" name="Google Shape;1984;p55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85" name="Google Shape;1985;p55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A* Search: Tree Search</a:t>
            </a:r>
            <a:endParaRPr/>
          </a:p>
        </p:txBody>
      </p:sp>
      <p:grpSp>
        <p:nvGrpSpPr>
          <p:cNvPr id="1986" name="Google Shape;1986;p55"/>
          <p:cNvGrpSpPr/>
          <p:nvPr/>
        </p:nvGrpSpPr>
        <p:grpSpPr>
          <a:xfrm>
            <a:off x="4343400" y="1843088"/>
            <a:ext cx="457200" cy="457200"/>
            <a:chOff x="1344" y="1248"/>
            <a:chExt cx="288" cy="288"/>
          </a:xfrm>
        </p:grpSpPr>
        <p:sp>
          <p:nvSpPr>
            <p:cNvPr id="1987" name="Google Shape;1987;p55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88" name="Google Shape;1988;p55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A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989" name="Google Shape;1989;p55"/>
          <p:cNvGrpSpPr/>
          <p:nvPr/>
        </p:nvGrpSpPr>
        <p:grpSpPr>
          <a:xfrm>
            <a:off x="6705600" y="2971800"/>
            <a:ext cx="457200" cy="457200"/>
            <a:chOff x="1344" y="1248"/>
            <a:chExt cx="288" cy="288"/>
          </a:xfrm>
        </p:grpSpPr>
        <p:sp>
          <p:nvSpPr>
            <p:cNvPr id="1990" name="Google Shape;1990;p55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91" name="Google Shape;1991;p55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B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992" name="Google Shape;1992;p55"/>
          <p:cNvGrpSpPr/>
          <p:nvPr/>
        </p:nvGrpSpPr>
        <p:grpSpPr>
          <a:xfrm>
            <a:off x="2209800" y="3048000"/>
            <a:ext cx="457200" cy="457200"/>
            <a:chOff x="1344" y="1248"/>
            <a:chExt cx="288" cy="288"/>
          </a:xfrm>
        </p:grpSpPr>
        <p:sp>
          <p:nvSpPr>
            <p:cNvPr id="1993" name="Google Shape;1993;p55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94" name="Google Shape;1994;p55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C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995" name="Google Shape;1995;p55"/>
          <p:cNvGrpSpPr/>
          <p:nvPr/>
        </p:nvGrpSpPr>
        <p:grpSpPr>
          <a:xfrm>
            <a:off x="4419600" y="2986088"/>
            <a:ext cx="457200" cy="457200"/>
            <a:chOff x="1344" y="1248"/>
            <a:chExt cx="288" cy="288"/>
          </a:xfrm>
        </p:grpSpPr>
        <p:sp>
          <p:nvSpPr>
            <p:cNvPr id="1996" name="Google Shape;1996;p55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97" name="Google Shape;1997;p55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E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998" name="Google Shape;1998;p55"/>
          <p:cNvGrpSpPr/>
          <p:nvPr/>
        </p:nvGrpSpPr>
        <p:grpSpPr>
          <a:xfrm>
            <a:off x="5105400" y="3900488"/>
            <a:ext cx="457200" cy="457200"/>
            <a:chOff x="1344" y="1248"/>
            <a:chExt cx="288" cy="288"/>
          </a:xfrm>
        </p:grpSpPr>
        <p:sp>
          <p:nvSpPr>
            <p:cNvPr id="1999" name="Google Shape;1999;p55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000" name="Google Shape;2000;p55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F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2001" name="Google Shape;2001;p55"/>
          <p:cNvCxnSpPr/>
          <p:nvPr/>
        </p:nvCxnSpPr>
        <p:spPr>
          <a:xfrm>
            <a:off x="4648200" y="3443288"/>
            <a:ext cx="6096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02" name="Google Shape;2002;p55"/>
          <p:cNvSpPr txBox="1"/>
          <p:nvPr/>
        </p:nvSpPr>
        <p:spPr>
          <a:xfrm>
            <a:off x="4876800" y="3367088"/>
            <a:ext cx="6096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99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003" name="Google Shape;2003;p55"/>
          <p:cNvGrpSpPr/>
          <p:nvPr/>
        </p:nvGrpSpPr>
        <p:grpSpPr>
          <a:xfrm>
            <a:off x="3581400" y="3900488"/>
            <a:ext cx="457200" cy="457200"/>
            <a:chOff x="1344" y="1248"/>
            <a:chExt cx="288" cy="288"/>
          </a:xfrm>
        </p:grpSpPr>
        <p:sp>
          <p:nvSpPr>
            <p:cNvPr id="2004" name="Google Shape;2004;p55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005" name="Google Shape;2005;p55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G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2006" name="Google Shape;2006;p55"/>
          <p:cNvCxnSpPr/>
          <p:nvPr/>
        </p:nvCxnSpPr>
        <p:spPr>
          <a:xfrm flipH="1">
            <a:off x="3733800" y="3443288"/>
            <a:ext cx="9144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07" name="Google Shape;2007;p55"/>
          <p:cNvSpPr txBox="1"/>
          <p:nvPr/>
        </p:nvSpPr>
        <p:spPr>
          <a:xfrm>
            <a:off x="3810000" y="3367088"/>
            <a:ext cx="6096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80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2008" name="Google Shape;2008;p55"/>
          <p:cNvCxnSpPr/>
          <p:nvPr/>
        </p:nvCxnSpPr>
        <p:spPr>
          <a:xfrm>
            <a:off x="4572000" y="2300288"/>
            <a:ext cx="2362200" cy="6715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09" name="Google Shape;2009;p55"/>
          <p:cNvCxnSpPr/>
          <p:nvPr/>
        </p:nvCxnSpPr>
        <p:spPr>
          <a:xfrm>
            <a:off x="4572000" y="2300288"/>
            <a:ext cx="762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10" name="Google Shape;2010;p55"/>
          <p:cNvCxnSpPr/>
          <p:nvPr/>
        </p:nvCxnSpPr>
        <p:spPr>
          <a:xfrm flipH="1">
            <a:off x="2438400" y="2300288"/>
            <a:ext cx="2133600" cy="7477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11" name="Google Shape;2011;p55"/>
          <p:cNvSpPr txBox="1"/>
          <p:nvPr/>
        </p:nvSpPr>
        <p:spPr>
          <a:xfrm>
            <a:off x="4876800" y="18288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Start</a:t>
            </a:r>
            <a:endParaRPr b="1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12" name="Google Shape;2012;p55"/>
          <p:cNvSpPr txBox="1"/>
          <p:nvPr/>
        </p:nvSpPr>
        <p:spPr>
          <a:xfrm>
            <a:off x="5791200" y="2300288"/>
            <a:ext cx="6096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75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13" name="Google Shape;2013;p55"/>
          <p:cNvSpPr txBox="1"/>
          <p:nvPr/>
        </p:nvSpPr>
        <p:spPr>
          <a:xfrm>
            <a:off x="2819400" y="2300288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118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14" name="Google Shape;2014;p55"/>
          <p:cNvSpPr txBox="1"/>
          <p:nvPr/>
        </p:nvSpPr>
        <p:spPr>
          <a:xfrm>
            <a:off x="4572000" y="2543175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140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15" name="Google Shape;2015;p55"/>
          <p:cNvSpPr txBox="1"/>
          <p:nvPr/>
        </p:nvSpPr>
        <p:spPr>
          <a:xfrm>
            <a:off x="4876800" y="2986088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[393]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16" name="Google Shape;2016;p55"/>
          <p:cNvSpPr txBox="1"/>
          <p:nvPr/>
        </p:nvSpPr>
        <p:spPr>
          <a:xfrm>
            <a:off x="7162800" y="29718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[449]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17" name="Google Shape;2017;p55"/>
          <p:cNvSpPr txBox="1"/>
          <p:nvPr/>
        </p:nvSpPr>
        <p:spPr>
          <a:xfrm>
            <a:off x="1447800" y="31242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[447]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18" name="Google Shape;2018;p55"/>
          <p:cNvSpPr txBox="1"/>
          <p:nvPr/>
        </p:nvSpPr>
        <p:spPr>
          <a:xfrm>
            <a:off x="5638800" y="3900488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[417]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19" name="Google Shape;2019;p55"/>
          <p:cNvSpPr txBox="1"/>
          <p:nvPr/>
        </p:nvSpPr>
        <p:spPr>
          <a:xfrm>
            <a:off x="2819400" y="3976688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[413]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3" name="Shape 2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4" name="Google Shape;2024;p56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25" name="Google Shape;2025;p56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A* Search: Tree Search</a:t>
            </a:r>
            <a:endParaRPr/>
          </a:p>
        </p:txBody>
      </p:sp>
      <p:grpSp>
        <p:nvGrpSpPr>
          <p:cNvPr id="2026" name="Google Shape;2026;p56"/>
          <p:cNvGrpSpPr/>
          <p:nvPr/>
        </p:nvGrpSpPr>
        <p:grpSpPr>
          <a:xfrm>
            <a:off x="4343400" y="1843088"/>
            <a:ext cx="457200" cy="457200"/>
            <a:chOff x="1344" y="1248"/>
            <a:chExt cx="288" cy="288"/>
          </a:xfrm>
        </p:grpSpPr>
        <p:sp>
          <p:nvSpPr>
            <p:cNvPr id="2027" name="Google Shape;2027;p56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028" name="Google Shape;2028;p56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A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2029" name="Google Shape;2029;p56"/>
          <p:cNvGrpSpPr/>
          <p:nvPr/>
        </p:nvGrpSpPr>
        <p:grpSpPr>
          <a:xfrm>
            <a:off x="6705600" y="2971800"/>
            <a:ext cx="457200" cy="457200"/>
            <a:chOff x="1344" y="1248"/>
            <a:chExt cx="288" cy="288"/>
          </a:xfrm>
        </p:grpSpPr>
        <p:sp>
          <p:nvSpPr>
            <p:cNvPr id="2030" name="Google Shape;2030;p56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031" name="Google Shape;2031;p56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B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2032" name="Google Shape;2032;p56"/>
          <p:cNvGrpSpPr/>
          <p:nvPr/>
        </p:nvGrpSpPr>
        <p:grpSpPr>
          <a:xfrm>
            <a:off x="2209800" y="3048000"/>
            <a:ext cx="457200" cy="457200"/>
            <a:chOff x="1344" y="1248"/>
            <a:chExt cx="288" cy="288"/>
          </a:xfrm>
        </p:grpSpPr>
        <p:sp>
          <p:nvSpPr>
            <p:cNvPr id="2033" name="Google Shape;2033;p56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034" name="Google Shape;2034;p56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C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2035" name="Google Shape;2035;p56"/>
          <p:cNvGrpSpPr/>
          <p:nvPr/>
        </p:nvGrpSpPr>
        <p:grpSpPr>
          <a:xfrm>
            <a:off x="4419600" y="2986088"/>
            <a:ext cx="457200" cy="457200"/>
            <a:chOff x="1344" y="1248"/>
            <a:chExt cx="288" cy="288"/>
          </a:xfrm>
        </p:grpSpPr>
        <p:sp>
          <p:nvSpPr>
            <p:cNvPr id="2036" name="Google Shape;2036;p56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037" name="Google Shape;2037;p56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E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2038" name="Google Shape;2038;p56"/>
          <p:cNvGrpSpPr/>
          <p:nvPr/>
        </p:nvGrpSpPr>
        <p:grpSpPr>
          <a:xfrm>
            <a:off x="5105400" y="3900488"/>
            <a:ext cx="457200" cy="457200"/>
            <a:chOff x="1344" y="1248"/>
            <a:chExt cx="288" cy="288"/>
          </a:xfrm>
        </p:grpSpPr>
        <p:sp>
          <p:nvSpPr>
            <p:cNvPr id="2039" name="Google Shape;2039;p56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040" name="Google Shape;2040;p56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F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2041" name="Google Shape;2041;p56"/>
          <p:cNvCxnSpPr/>
          <p:nvPr/>
        </p:nvCxnSpPr>
        <p:spPr>
          <a:xfrm>
            <a:off x="4648200" y="3443288"/>
            <a:ext cx="6096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42" name="Google Shape;2042;p56"/>
          <p:cNvSpPr txBox="1"/>
          <p:nvPr/>
        </p:nvSpPr>
        <p:spPr>
          <a:xfrm>
            <a:off x="4876800" y="3367088"/>
            <a:ext cx="6096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99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043" name="Google Shape;2043;p56"/>
          <p:cNvGrpSpPr/>
          <p:nvPr/>
        </p:nvGrpSpPr>
        <p:grpSpPr>
          <a:xfrm>
            <a:off x="3581400" y="3900488"/>
            <a:ext cx="457200" cy="457200"/>
            <a:chOff x="1344" y="1248"/>
            <a:chExt cx="288" cy="288"/>
          </a:xfrm>
        </p:grpSpPr>
        <p:sp>
          <p:nvSpPr>
            <p:cNvPr id="2044" name="Google Shape;2044;p56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045" name="Google Shape;2045;p56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G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2046" name="Google Shape;2046;p56"/>
          <p:cNvCxnSpPr/>
          <p:nvPr/>
        </p:nvCxnSpPr>
        <p:spPr>
          <a:xfrm flipH="1">
            <a:off x="3733800" y="3443288"/>
            <a:ext cx="9144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47" name="Google Shape;2047;p56"/>
          <p:cNvSpPr txBox="1"/>
          <p:nvPr/>
        </p:nvSpPr>
        <p:spPr>
          <a:xfrm>
            <a:off x="3810000" y="3367088"/>
            <a:ext cx="6096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80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2048" name="Google Shape;2048;p56"/>
          <p:cNvCxnSpPr/>
          <p:nvPr/>
        </p:nvCxnSpPr>
        <p:spPr>
          <a:xfrm>
            <a:off x="4572000" y="2300288"/>
            <a:ext cx="2362200" cy="6715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49" name="Google Shape;2049;p56"/>
          <p:cNvCxnSpPr/>
          <p:nvPr/>
        </p:nvCxnSpPr>
        <p:spPr>
          <a:xfrm>
            <a:off x="4572000" y="2300288"/>
            <a:ext cx="762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50" name="Google Shape;2050;p56"/>
          <p:cNvCxnSpPr/>
          <p:nvPr/>
        </p:nvCxnSpPr>
        <p:spPr>
          <a:xfrm flipH="1">
            <a:off x="2438400" y="2300288"/>
            <a:ext cx="2133600" cy="7477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51" name="Google Shape;2051;p56"/>
          <p:cNvSpPr txBox="1"/>
          <p:nvPr/>
        </p:nvSpPr>
        <p:spPr>
          <a:xfrm>
            <a:off x="4876800" y="18288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Start</a:t>
            </a:r>
            <a:endParaRPr b="1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52" name="Google Shape;2052;p56"/>
          <p:cNvSpPr txBox="1"/>
          <p:nvPr/>
        </p:nvSpPr>
        <p:spPr>
          <a:xfrm>
            <a:off x="5791200" y="2300288"/>
            <a:ext cx="6096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75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53" name="Google Shape;2053;p56"/>
          <p:cNvSpPr txBox="1"/>
          <p:nvPr/>
        </p:nvSpPr>
        <p:spPr>
          <a:xfrm>
            <a:off x="2819400" y="2300288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118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54" name="Google Shape;2054;p56"/>
          <p:cNvSpPr txBox="1"/>
          <p:nvPr/>
        </p:nvSpPr>
        <p:spPr>
          <a:xfrm>
            <a:off x="4572000" y="2543175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140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55" name="Google Shape;2055;p56"/>
          <p:cNvSpPr txBox="1"/>
          <p:nvPr/>
        </p:nvSpPr>
        <p:spPr>
          <a:xfrm>
            <a:off x="4876800" y="2986088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[393]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56" name="Google Shape;2056;p56"/>
          <p:cNvSpPr txBox="1"/>
          <p:nvPr/>
        </p:nvSpPr>
        <p:spPr>
          <a:xfrm>
            <a:off x="7162800" y="29718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[449]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57" name="Google Shape;2057;p56"/>
          <p:cNvSpPr txBox="1"/>
          <p:nvPr/>
        </p:nvSpPr>
        <p:spPr>
          <a:xfrm>
            <a:off x="1447800" y="31242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[447]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58" name="Google Shape;2058;p56"/>
          <p:cNvSpPr txBox="1"/>
          <p:nvPr/>
        </p:nvSpPr>
        <p:spPr>
          <a:xfrm>
            <a:off x="5638800" y="3900488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[417]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59" name="Google Shape;2059;p56"/>
          <p:cNvSpPr txBox="1"/>
          <p:nvPr/>
        </p:nvSpPr>
        <p:spPr>
          <a:xfrm>
            <a:off x="2819400" y="3976688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[413]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060" name="Google Shape;2060;p56"/>
          <p:cNvGrpSpPr/>
          <p:nvPr/>
        </p:nvGrpSpPr>
        <p:grpSpPr>
          <a:xfrm>
            <a:off x="2743200" y="4800600"/>
            <a:ext cx="457200" cy="457200"/>
            <a:chOff x="1344" y="1248"/>
            <a:chExt cx="288" cy="288"/>
          </a:xfrm>
        </p:grpSpPr>
        <p:sp>
          <p:nvSpPr>
            <p:cNvPr id="2061" name="Google Shape;2061;p56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062" name="Google Shape;2062;p56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H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2063" name="Google Shape;2063;p56"/>
          <p:cNvCxnSpPr/>
          <p:nvPr/>
        </p:nvCxnSpPr>
        <p:spPr>
          <a:xfrm flipH="1">
            <a:off x="3048000" y="4343400"/>
            <a:ext cx="762000" cy="44291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64" name="Google Shape;2064;p56"/>
          <p:cNvSpPr txBox="1"/>
          <p:nvPr/>
        </p:nvSpPr>
        <p:spPr>
          <a:xfrm>
            <a:off x="3429000" y="4481513"/>
            <a:ext cx="6096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97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65" name="Google Shape;2065;p56"/>
          <p:cNvSpPr txBox="1"/>
          <p:nvPr/>
        </p:nvSpPr>
        <p:spPr>
          <a:xfrm>
            <a:off x="2057400" y="4862513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[455]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9" name="Shape 2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0" name="Google Shape;2070;p57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71" name="Google Shape;2071;p57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A* Search: Tree Search</a:t>
            </a:r>
            <a:endParaRPr/>
          </a:p>
        </p:txBody>
      </p:sp>
      <p:grpSp>
        <p:nvGrpSpPr>
          <p:cNvPr id="2072" name="Google Shape;2072;p57"/>
          <p:cNvGrpSpPr/>
          <p:nvPr/>
        </p:nvGrpSpPr>
        <p:grpSpPr>
          <a:xfrm>
            <a:off x="4343400" y="1843088"/>
            <a:ext cx="457200" cy="457200"/>
            <a:chOff x="1344" y="1248"/>
            <a:chExt cx="288" cy="288"/>
          </a:xfrm>
        </p:grpSpPr>
        <p:sp>
          <p:nvSpPr>
            <p:cNvPr id="2073" name="Google Shape;2073;p57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074" name="Google Shape;2074;p57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A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2075" name="Google Shape;2075;p57"/>
          <p:cNvGrpSpPr/>
          <p:nvPr/>
        </p:nvGrpSpPr>
        <p:grpSpPr>
          <a:xfrm>
            <a:off x="6705600" y="2971800"/>
            <a:ext cx="457200" cy="457200"/>
            <a:chOff x="1344" y="1248"/>
            <a:chExt cx="288" cy="288"/>
          </a:xfrm>
        </p:grpSpPr>
        <p:sp>
          <p:nvSpPr>
            <p:cNvPr id="2076" name="Google Shape;2076;p57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077" name="Google Shape;2077;p57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B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2078" name="Google Shape;2078;p57"/>
          <p:cNvGrpSpPr/>
          <p:nvPr/>
        </p:nvGrpSpPr>
        <p:grpSpPr>
          <a:xfrm>
            <a:off x="2209800" y="3048000"/>
            <a:ext cx="457200" cy="457200"/>
            <a:chOff x="1344" y="1248"/>
            <a:chExt cx="288" cy="288"/>
          </a:xfrm>
        </p:grpSpPr>
        <p:sp>
          <p:nvSpPr>
            <p:cNvPr id="2079" name="Google Shape;2079;p57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080" name="Google Shape;2080;p57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C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2081" name="Google Shape;2081;p57"/>
          <p:cNvGrpSpPr/>
          <p:nvPr/>
        </p:nvGrpSpPr>
        <p:grpSpPr>
          <a:xfrm>
            <a:off x="4419600" y="2986088"/>
            <a:ext cx="457200" cy="457200"/>
            <a:chOff x="1344" y="1248"/>
            <a:chExt cx="288" cy="288"/>
          </a:xfrm>
        </p:grpSpPr>
        <p:sp>
          <p:nvSpPr>
            <p:cNvPr id="2082" name="Google Shape;2082;p57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083" name="Google Shape;2083;p57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E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2084" name="Google Shape;2084;p57"/>
          <p:cNvGrpSpPr/>
          <p:nvPr/>
        </p:nvGrpSpPr>
        <p:grpSpPr>
          <a:xfrm>
            <a:off x="5105400" y="3900488"/>
            <a:ext cx="457200" cy="457200"/>
            <a:chOff x="1344" y="1248"/>
            <a:chExt cx="288" cy="288"/>
          </a:xfrm>
        </p:grpSpPr>
        <p:sp>
          <p:nvSpPr>
            <p:cNvPr id="2085" name="Google Shape;2085;p57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086" name="Google Shape;2086;p57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F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2087" name="Google Shape;2087;p57"/>
          <p:cNvCxnSpPr/>
          <p:nvPr/>
        </p:nvCxnSpPr>
        <p:spPr>
          <a:xfrm>
            <a:off x="4648200" y="3443288"/>
            <a:ext cx="6096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88" name="Google Shape;2088;p57"/>
          <p:cNvSpPr txBox="1"/>
          <p:nvPr/>
        </p:nvSpPr>
        <p:spPr>
          <a:xfrm>
            <a:off x="4876800" y="3367088"/>
            <a:ext cx="6096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99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089" name="Google Shape;2089;p57"/>
          <p:cNvGrpSpPr/>
          <p:nvPr/>
        </p:nvGrpSpPr>
        <p:grpSpPr>
          <a:xfrm>
            <a:off x="3581400" y="3900488"/>
            <a:ext cx="457200" cy="457200"/>
            <a:chOff x="1344" y="1248"/>
            <a:chExt cx="288" cy="288"/>
          </a:xfrm>
        </p:grpSpPr>
        <p:sp>
          <p:nvSpPr>
            <p:cNvPr id="2090" name="Google Shape;2090;p57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091" name="Google Shape;2091;p57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G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2092" name="Google Shape;2092;p57"/>
          <p:cNvGrpSpPr/>
          <p:nvPr/>
        </p:nvGrpSpPr>
        <p:grpSpPr>
          <a:xfrm>
            <a:off x="2743200" y="4814888"/>
            <a:ext cx="457200" cy="457200"/>
            <a:chOff x="1344" y="1248"/>
            <a:chExt cx="288" cy="288"/>
          </a:xfrm>
        </p:grpSpPr>
        <p:sp>
          <p:nvSpPr>
            <p:cNvPr id="2093" name="Google Shape;2093;p57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094" name="Google Shape;2094;p57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H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2095" name="Google Shape;2095;p57"/>
          <p:cNvCxnSpPr/>
          <p:nvPr/>
        </p:nvCxnSpPr>
        <p:spPr>
          <a:xfrm flipH="1">
            <a:off x="3733800" y="3443288"/>
            <a:ext cx="9144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96" name="Google Shape;2096;p57"/>
          <p:cNvCxnSpPr/>
          <p:nvPr/>
        </p:nvCxnSpPr>
        <p:spPr>
          <a:xfrm flipH="1">
            <a:off x="3048000" y="4357688"/>
            <a:ext cx="762000" cy="4429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97" name="Google Shape;2097;p57"/>
          <p:cNvSpPr txBox="1"/>
          <p:nvPr/>
        </p:nvSpPr>
        <p:spPr>
          <a:xfrm>
            <a:off x="3810000" y="3367088"/>
            <a:ext cx="6096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80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2098" name="Google Shape;2098;p57"/>
          <p:cNvCxnSpPr/>
          <p:nvPr/>
        </p:nvCxnSpPr>
        <p:spPr>
          <a:xfrm>
            <a:off x="4572000" y="2300288"/>
            <a:ext cx="2362200" cy="6715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99" name="Google Shape;2099;p57"/>
          <p:cNvCxnSpPr/>
          <p:nvPr/>
        </p:nvCxnSpPr>
        <p:spPr>
          <a:xfrm>
            <a:off x="4572000" y="2300288"/>
            <a:ext cx="762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00" name="Google Shape;2100;p57"/>
          <p:cNvCxnSpPr/>
          <p:nvPr/>
        </p:nvCxnSpPr>
        <p:spPr>
          <a:xfrm flipH="1">
            <a:off x="2438400" y="2300288"/>
            <a:ext cx="2133600" cy="7477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01" name="Google Shape;2101;p57"/>
          <p:cNvSpPr txBox="1"/>
          <p:nvPr/>
        </p:nvSpPr>
        <p:spPr>
          <a:xfrm>
            <a:off x="4876800" y="18288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Start</a:t>
            </a:r>
            <a:endParaRPr b="1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02" name="Google Shape;2102;p57"/>
          <p:cNvSpPr txBox="1"/>
          <p:nvPr/>
        </p:nvSpPr>
        <p:spPr>
          <a:xfrm>
            <a:off x="3429000" y="4495800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97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03" name="Google Shape;2103;p57"/>
          <p:cNvSpPr txBox="1"/>
          <p:nvPr/>
        </p:nvSpPr>
        <p:spPr>
          <a:xfrm>
            <a:off x="5791200" y="2300288"/>
            <a:ext cx="6096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75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04" name="Google Shape;2104;p57"/>
          <p:cNvSpPr txBox="1"/>
          <p:nvPr/>
        </p:nvSpPr>
        <p:spPr>
          <a:xfrm>
            <a:off x="2819400" y="2300288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118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05" name="Google Shape;2105;p57"/>
          <p:cNvSpPr txBox="1"/>
          <p:nvPr/>
        </p:nvSpPr>
        <p:spPr>
          <a:xfrm>
            <a:off x="4572000" y="2543175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140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06" name="Google Shape;2106;p57"/>
          <p:cNvSpPr txBox="1"/>
          <p:nvPr/>
        </p:nvSpPr>
        <p:spPr>
          <a:xfrm>
            <a:off x="4876800" y="2986088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[393]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07" name="Google Shape;2107;p57"/>
          <p:cNvSpPr txBox="1"/>
          <p:nvPr/>
        </p:nvSpPr>
        <p:spPr>
          <a:xfrm>
            <a:off x="7162800" y="29718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[449]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08" name="Google Shape;2108;p57"/>
          <p:cNvSpPr txBox="1"/>
          <p:nvPr/>
        </p:nvSpPr>
        <p:spPr>
          <a:xfrm>
            <a:off x="1447800" y="31242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[447]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09" name="Google Shape;2109;p57"/>
          <p:cNvSpPr txBox="1"/>
          <p:nvPr/>
        </p:nvSpPr>
        <p:spPr>
          <a:xfrm>
            <a:off x="5638800" y="3900488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[417]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10" name="Google Shape;2110;p57"/>
          <p:cNvSpPr txBox="1"/>
          <p:nvPr/>
        </p:nvSpPr>
        <p:spPr>
          <a:xfrm>
            <a:off x="2819400" y="3976688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[413]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11" name="Google Shape;2111;p57"/>
          <p:cNvSpPr txBox="1"/>
          <p:nvPr/>
        </p:nvSpPr>
        <p:spPr>
          <a:xfrm>
            <a:off x="2057400" y="48768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[455]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12" name="Google Shape;2112;p57"/>
          <p:cNvSpPr txBox="1"/>
          <p:nvPr/>
        </p:nvSpPr>
        <p:spPr>
          <a:xfrm>
            <a:off x="5105400" y="48768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Goal</a:t>
            </a:r>
            <a:endParaRPr b="1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113" name="Google Shape;2113;p57"/>
          <p:cNvGrpSpPr/>
          <p:nvPr/>
        </p:nvGrpSpPr>
        <p:grpSpPr>
          <a:xfrm>
            <a:off x="5791200" y="4800600"/>
            <a:ext cx="457200" cy="457200"/>
            <a:chOff x="1344" y="1248"/>
            <a:chExt cx="288" cy="288"/>
          </a:xfrm>
        </p:grpSpPr>
        <p:sp>
          <p:nvSpPr>
            <p:cNvPr id="2114" name="Google Shape;2114;p57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115" name="Google Shape;2115;p57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I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2116" name="Google Shape;2116;p57"/>
          <p:cNvCxnSpPr/>
          <p:nvPr/>
        </p:nvCxnSpPr>
        <p:spPr>
          <a:xfrm>
            <a:off x="5410200" y="4343400"/>
            <a:ext cx="6096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17" name="Google Shape;2117;p57"/>
          <p:cNvSpPr txBox="1"/>
          <p:nvPr/>
        </p:nvSpPr>
        <p:spPr>
          <a:xfrm>
            <a:off x="6248400" y="48768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[450]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1" name="Shape 2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2" name="Google Shape;2122;p58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23" name="Google Shape;2123;p58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A* Search: Tree Search</a:t>
            </a:r>
            <a:endParaRPr/>
          </a:p>
        </p:txBody>
      </p:sp>
      <p:grpSp>
        <p:nvGrpSpPr>
          <p:cNvPr id="2124" name="Google Shape;2124;p58"/>
          <p:cNvGrpSpPr/>
          <p:nvPr/>
        </p:nvGrpSpPr>
        <p:grpSpPr>
          <a:xfrm>
            <a:off x="4343400" y="1843088"/>
            <a:ext cx="457200" cy="457200"/>
            <a:chOff x="1344" y="1248"/>
            <a:chExt cx="288" cy="288"/>
          </a:xfrm>
        </p:grpSpPr>
        <p:sp>
          <p:nvSpPr>
            <p:cNvPr id="2125" name="Google Shape;2125;p58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126" name="Google Shape;2126;p58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A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2127" name="Google Shape;2127;p58"/>
          <p:cNvGrpSpPr/>
          <p:nvPr/>
        </p:nvGrpSpPr>
        <p:grpSpPr>
          <a:xfrm>
            <a:off x="6705600" y="2971800"/>
            <a:ext cx="457200" cy="457200"/>
            <a:chOff x="1344" y="1248"/>
            <a:chExt cx="288" cy="288"/>
          </a:xfrm>
        </p:grpSpPr>
        <p:sp>
          <p:nvSpPr>
            <p:cNvPr id="2128" name="Google Shape;2128;p58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129" name="Google Shape;2129;p58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B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2130" name="Google Shape;2130;p58"/>
          <p:cNvGrpSpPr/>
          <p:nvPr/>
        </p:nvGrpSpPr>
        <p:grpSpPr>
          <a:xfrm>
            <a:off x="2209800" y="3048000"/>
            <a:ext cx="457200" cy="457200"/>
            <a:chOff x="1344" y="1248"/>
            <a:chExt cx="288" cy="288"/>
          </a:xfrm>
        </p:grpSpPr>
        <p:sp>
          <p:nvSpPr>
            <p:cNvPr id="2131" name="Google Shape;2131;p58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132" name="Google Shape;2132;p58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C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2133" name="Google Shape;2133;p58"/>
          <p:cNvGrpSpPr/>
          <p:nvPr/>
        </p:nvGrpSpPr>
        <p:grpSpPr>
          <a:xfrm>
            <a:off x="4419600" y="2986088"/>
            <a:ext cx="457200" cy="457200"/>
            <a:chOff x="1344" y="1248"/>
            <a:chExt cx="288" cy="288"/>
          </a:xfrm>
        </p:grpSpPr>
        <p:sp>
          <p:nvSpPr>
            <p:cNvPr id="2134" name="Google Shape;2134;p58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135" name="Google Shape;2135;p58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E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2136" name="Google Shape;2136;p58"/>
          <p:cNvGrpSpPr/>
          <p:nvPr/>
        </p:nvGrpSpPr>
        <p:grpSpPr>
          <a:xfrm>
            <a:off x="5105400" y="3900488"/>
            <a:ext cx="457200" cy="457200"/>
            <a:chOff x="1344" y="1248"/>
            <a:chExt cx="288" cy="288"/>
          </a:xfrm>
        </p:grpSpPr>
        <p:sp>
          <p:nvSpPr>
            <p:cNvPr id="2137" name="Google Shape;2137;p58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138" name="Google Shape;2138;p58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F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2139" name="Google Shape;2139;p58"/>
          <p:cNvCxnSpPr/>
          <p:nvPr/>
        </p:nvCxnSpPr>
        <p:spPr>
          <a:xfrm>
            <a:off x="4648200" y="3443288"/>
            <a:ext cx="6096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40" name="Google Shape;2140;p58"/>
          <p:cNvSpPr txBox="1"/>
          <p:nvPr/>
        </p:nvSpPr>
        <p:spPr>
          <a:xfrm>
            <a:off x="4876800" y="3367088"/>
            <a:ext cx="6096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99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141" name="Google Shape;2141;p58"/>
          <p:cNvGrpSpPr/>
          <p:nvPr/>
        </p:nvGrpSpPr>
        <p:grpSpPr>
          <a:xfrm>
            <a:off x="3581400" y="3900488"/>
            <a:ext cx="457200" cy="457200"/>
            <a:chOff x="1344" y="1248"/>
            <a:chExt cx="288" cy="288"/>
          </a:xfrm>
        </p:grpSpPr>
        <p:sp>
          <p:nvSpPr>
            <p:cNvPr id="2142" name="Google Shape;2142;p58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143" name="Google Shape;2143;p58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G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2144" name="Google Shape;2144;p58"/>
          <p:cNvGrpSpPr/>
          <p:nvPr/>
        </p:nvGrpSpPr>
        <p:grpSpPr>
          <a:xfrm>
            <a:off x="2743200" y="4814888"/>
            <a:ext cx="457200" cy="457200"/>
            <a:chOff x="1344" y="1248"/>
            <a:chExt cx="288" cy="288"/>
          </a:xfrm>
        </p:grpSpPr>
        <p:sp>
          <p:nvSpPr>
            <p:cNvPr id="2145" name="Google Shape;2145;p58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146" name="Google Shape;2146;p58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H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2147" name="Google Shape;2147;p58"/>
          <p:cNvCxnSpPr/>
          <p:nvPr/>
        </p:nvCxnSpPr>
        <p:spPr>
          <a:xfrm flipH="1">
            <a:off x="3733800" y="3443288"/>
            <a:ext cx="9144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48" name="Google Shape;2148;p58"/>
          <p:cNvCxnSpPr/>
          <p:nvPr/>
        </p:nvCxnSpPr>
        <p:spPr>
          <a:xfrm flipH="1">
            <a:off x="3048000" y="4357688"/>
            <a:ext cx="762000" cy="4429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49" name="Google Shape;2149;p58"/>
          <p:cNvSpPr txBox="1"/>
          <p:nvPr/>
        </p:nvSpPr>
        <p:spPr>
          <a:xfrm>
            <a:off x="3810000" y="3367088"/>
            <a:ext cx="6096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80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2150" name="Google Shape;2150;p58"/>
          <p:cNvCxnSpPr/>
          <p:nvPr/>
        </p:nvCxnSpPr>
        <p:spPr>
          <a:xfrm>
            <a:off x="4572000" y="2300288"/>
            <a:ext cx="2362200" cy="6715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51" name="Google Shape;2151;p58"/>
          <p:cNvCxnSpPr/>
          <p:nvPr/>
        </p:nvCxnSpPr>
        <p:spPr>
          <a:xfrm>
            <a:off x="4572000" y="2300288"/>
            <a:ext cx="762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52" name="Google Shape;2152;p58"/>
          <p:cNvCxnSpPr/>
          <p:nvPr/>
        </p:nvCxnSpPr>
        <p:spPr>
          <a:xfrm flipH="1">
            <a:off x="2438400" y="2300288"/>
            <a:ext cx="2133600" cy="7477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53" name="Google Shape;2153;p58"/>
          <p:cNvSpPr txBox="1"/>
          <p:nvPr/>
        </p:nvSpPr>
        <p:spPr>
          <a:xfrm>
            <a:off x="4876800" y="18288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Start</a:t>
            </a:r>
            <a:endParaRPr b="1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54" name="Google Shape;2154;p58"/>
          <p:cNvSpPr txBox="1"/>
          <p:nvPr/>
        </p:nvSpPr>
        <p:spPr>
          <a:xfrm>
            <a:off x="3429000" y="4495800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97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55" name="Google Shape;2155;p58"/>
          <p:cNvSpPr txBox="1"/>
          <p:nvPr/>
        </p:nvSpPr>
        <p:spPr>
          <a:xfrm>
            <a:off x="5791200" y="2300288"/>
            <a:ext cx="6096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75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56" name="Google Shape;2156;p58"/>
          <p:cNvSpPr txBox="1"/>
          <p:nvPr/>
        </p:nvSpPr>
        <p:spPr>
          <a:xfrm>
            <a:off x="2819400" y="2300288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118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57" name="Google Shape;2157;p58"/>
          <p:cNvSpPr txBox="1"/>
          <p:nvPr/>
        </p:nvSpPr>
        <p:spPr>
          <a:xfrm>
            <a:off x="4572000" y="2543175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140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58" name="Google Shape;2158;p58"/>
          <p:cNvSpPr txBox="1"/>
          <p:nvPr/>
        </p:nvSpPr>
        <p:spPr>
          <a:xfrm>
            <a:off x="4876800" y="2986088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[393]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59" name="Google Shape;2159;p58"/>
          <p:cNvSpPr txBox="1"/>
          <p:nvPr/>
        </p:nvSpPr>
        <p:spPr>
          <a:xfrm>
            <a:off x="7162800" y="29718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[449]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60" name="Google Shape;2160;p58"/>
          <p:cNvSpPr txBox="1"/>
          <p:nvPr/>
        </p:nvSpPr>
        <p:spPr>
          <a:xfrm>
            <a:off x="1447800" y="31242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[447]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61" name="Google Shape;2161;p58"/>
          <p:cNvSpPr txBox="1"/>
          <p:nvPr/>
        </p:nvSpPr>
        <p:spPr>
          <a:xfrm>
            <a:off x="5638800" y="3900488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[417]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62" name="Google Shape;2162;p58"/>
          <p:cNvSpPr txBox="1"/>
          <p:nvPr/>
        </p:nvSpPr>
        <p:spPr>
          <a:xfrm>
            <a:off x="2819400" y="3976688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[413]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63" name="Google Shape;2163;p58"/>
          <p:cNvSpPr txBox="1"/>
          <p:nvPr/>
        </p:nvSpPr>
        <p:spPr>
          <a:xfrm>
            <a:off x="2057400" y="48768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[455]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64" name="Google Shape;2164;p58"/>
          <p:cNvSpPr txBox="1"/>
          <p:nvPr/>
        </p:nvSpPr>
        <p:spPr>
          <a:xfrm>
            <a:off x="5105400" y="48768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Goal</a:t>
            </a:r>
            <a:endParaRPr b="1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165" name="Google Shape;2165;p58"/>
          <p:cNvGrpSpPr/>
          <p:nvPr/>
        </p:nvGrpSpPr>
        <p:grpSpPr>
          <a:xfrm>
            <a:off x="5791200" y="4800600"/>
            <a:ext cx="457200" cy="457200"/>
            <a:chOff x="1344" y="1248"/>
            <a:chExt cx="288" cy="288"/>
          </a:xfrm>
        </p:grpSpPr>
        <p:sp>
          <p:nvSpPr>
            <p:cNvPr id="2166" name="Google Shape;2166;p58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167" name="Google Shape;2167;p58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I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2168" name="Google Shape;2168;p58"/>
          <p:cNvCxnSpPr/>
          <p:nvPr/>
        </p:nvCxnSpPr>
        <p:spPr>
          <a:xfrm>
            <a:off x="5410200" y="4343400"/>
            <a:ext cx="6096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69" name="Google Shape;2169;p58"/>
          <p:cNvSpPr txBox="1"/>
          <p:nvPr/>
        </p:nvSpPr>
        <p:spPr>
          <a:xfrm>
            <a:off x="6248400" y="48768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[450]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170" name="Google Shape;2170;p58"/>
          <p:cNvGrpSpPr/>
          <p:nvPr/>
        </p:nvGrpSpPr>
        <p:grpSpPr>
          <a:xfrm>
            <a:off x="1371600" y="3962400"/>
            <a:ext cx="457200" cy="457200"/>
            <a:chOff x="1344" y="1248"/>
            <a:chExt cx="288" cy="288"/>
          </a:xfrm>
        </p:grpSpPr>
        <p:sp>
          <p:nvSpPr>
            <p:cNvPr id="2171" name="Google Shape;2171;p58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172" name="Google Shape;2172;p58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2173" name="Google Shape;2173;p58"/>
          <p:cNvCxnSpPr/>
          <p:nvPr/>
        </p:nvCxnSpPr>
        <p:spPr>
          <a:xfrm flipH="1">
            <a:off x="1524000" y="3505200"/>
            <a:ext cx="9144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74" name="Google Shape;2174;p58"/>
          <p:cNvSpPr txBox="1"/>
          <p:nvPr/>
        </p:nvSpPr>
        <p:spPr>
          <a:xfrm>
            <a:off x="685800" y="3976688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[473]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8" name="Shape 2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9" name="Google Shape;2179;p59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80" name="Google Shape;2180;p59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A* Search: Tree Search</a:t>
            </a:r>
            <a:endParaRPr/>
          </a:p>
        </p:txBody>
      </p:sp>
      <p:grpSp>
        <p:nvGrpSpPr>
          <p:cNvPr id="2181" name="Google Shape;2181;p59"/>
          <p:cNvGrpSpPr/>
          <p:nvPr/>
        </p:nvGrpSpPr>
        <p:grpSpPr>
          <a:xfrm>
            <a:off x="4343400" y="1843088"/>
            <a:ext cx="457200" cy="457200"/>
            <a:chOff x="1344" y="1248"/>
            <a:chExt cx="288" cy="288"/>
          </a:xfrm>
        </p:grpSpPr>
        <p:sp>
          <p:nvSpPr>
            <p:cNvPr id="2182" name="Google Shape;2182;p59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183" name="Google Shape;2183;p59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A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2184" name="Google Shape;2184;p59"/>
          <p:cNvGrpSpPr/>
          <p:nvPr/>
        </p:nvGrpSpPr>
        <p:grpSpPr>
          <a:xfrm>
            <a:off x="6705600" y="2971800"/>
            <a:ext cx="457200" cy="457200"/>
            <a:chOff x="1344" y="1248"/>
            <a:chExt cx="288" cy="288"/>
          </a:xfrm>
        </p:grpSpPr>
        <p:sp>
          <p:nvSpPr>
            <p:cNvPr id="2185" name="Google Shape;2185;p59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186" name="Google Shape;2186;p59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B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2187" name="Google Shape;2187;p59"/>
          <p:cNvGrpSpPr/>
          <p:nvPr/>
        </p:nvGrpSpPr>
        <p:grpSpPr>
          <a:xfrm>
            <a:off x="2209800" y="3048000"/>
            <a:ext cx="457200" cy="457200"/>
            <a:chOff x="1344" y="1248"/>
            <a:chExt cx="288" cy="288"/>
          </a:xfrm>
        </p:grpSpPr>
        <p:sp>
          <p:nvSpPr>
            <p:cNvPr id="2188" name="Google Shape;2188;p59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189" name="Google Shape;2189;p59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C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2190" name="Google Shape;2190;p59"/>
          <p:cNvGrpSpPr/>
          <p:nvPr/>
        </p:nvGrpSpPr>
        <p:grpSpPr>
          <a:xfrm>
            <a:off x="4419600" y="2986088"/>
            <a:ext cx="457200" cy="457200"/>
            <a:chOff x="1344" y="1248"/>
            <a:chExt cx="288" cy="288"/>
          </a:xfrm>
        </p:grpSpPr>
        <p:sp>
          <p:nvSpPr>
            <p:cNvPr id="2191" name="Google Shape;2191;p59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192" name="Google Shape;2192;p59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E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2193" name="Google Shape;2193;p59"/>
          <p:cNvGrpSpPr/>
          <p:nvPr/>
        </p:nvGrpSpPr>
        <p:grpSpPr>
          <a:xfrm>
            <a:off x="5105400" y="3900488"/>
            <a:ext cx="457200" cy="457200"/>
            <a:chOff x="1344" y="1248"/>
            <a:chExt cx="288" cy="288"/>
          </a:xfrm>
        </p:grpSpPr>
        <p:sp>
          <p:nvSpPr>
            <p:cNvPr id="2194" name="Google Shape;2194;p59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195" name="Google Shape;2195;p59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F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2196" name="Google Shape;2196;p59"/>
          <p:cNvCxnSpPr/>
          <p:nvPr/>
        </p:nvCxnSpPr>
        <p:spPr>
          <a:xfrm>
            <a:off x="4648200" y="3443288"/>
            <a:ext cx="6096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97" name="Google Shape;2197;p59"/>
          <p:cNvSpPr txBox="1"/>
          <p:nvPr/>
        </p:nvSpPr>
        <p:spPr>
          <a:xfrm>
            <a:off x="4876800" y="3367088"/>
            <a:ext cx="6096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99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198" name="Google Shape;2198;p59"/>
          <p:cNvGrpSpPr/>
          <p:nvPr/>
        </p:nvGrpSpPr>
        <p:grpSpPr>
          <a:xfrm>
            <a:off x="3581400" y="3900488"/>
            <a:ext cx="457200" cy="457200"/>
            <a:chOff x="1344" y="1248"/>
            <a:chExt cx="288" cy="288"/>
          </a:xfrm>
        </p:grpSpPr>
        <p:sp>
          <p:nvSpPr>
            <p:cNvPr id="2199" name="Google Shape;2199;p59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200" name="Google Shape;2200;p59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G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2201" name="Google Shape;2201;p59"/>
          <p:cNvGrpSpPr/>
          <p:nvPr/>
        </p:nvGrpSpPr>
        <p:grpSpPr>
          <a:xfrm>
            <a:off x="2743200" y="4814888"/>
            <a:ext cx="457200" cy="457200"/>
            <a:chOff x="1344" y="1248"/>
            <a:chExt cx="288" cy="288"/>
          </a:xfrm>
        </p:grpSpPr>
        <p:sp>
          <p:nvSpPr>
            <p:cNvPr id="2202" name="Google Shape;2202;p59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203" name="Google Shape;2203;p59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H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2204" name="Google Shape;2204;p59"/>
          <p:cNvCxnSpPr/>
          <p:nvPr/>
        </p:nvCxnSpPr>
        <p:spPr>
          <a:xfrm flipH="1">
            <a:off x="3733800" y="3443288"/>
            <a:ext cx="9144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05" name="Google Shape;2205;p59"/>
          <p:cNvCxnSpPr/>
          <p:nvPr/>
        </p:nvCxnSpPr>
        <p:spPr>
          <a:xfrm flipH="1">
            <a:off x="3048000" y="4357688"/>
            <a:ext cx="762000" cy="4429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06" name="Google Shape;2206;p59"/>
          <p:cNvSpPr txBox="1"/>
          <p:nvPr/>
        </p:nvSpPr>
        <p:spPr>
          <a:xfrm>
            <a:off x="3810000" y="3367088"/>
            <a:ext cx="6096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80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2207" name="Google Shape;2207;p59"/>
          <p:cNvCxnSpPr/>
          <p:nvPr/>
        </p:nvCxnSpPr>
        <p:spPr>
          <a:xfrm>
            <a:off x="4572000" y="2300288"/>
            <a:ext cx="2362200" cy="6715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08" name="Google Shape;2208;p59"/>
          <p:cNvCxnSpPr/>
          <p:nvPr/>
        </p:nvCxnSpPr>
        <p:spPr>
          <a:xfrm>
            <a:off x="4572000" y="2300288"/>
            <a:ext cx="762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09" name="Google Shape;2209;p59"/>
          <p:cNvCxnSpPr/>
          <p:nvPr/>
        </p:nvCxnSpPr>
        <p:spPr>
          <a:xfrm flipH="1">
            <a:off x="2438400" y="2300288"/>
            <a:ext cx="2133600" cy="7477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10" name="Google Shape;2210;p59"/>
          <p:cNvSpPr txBox="1"/>
          <p:nvPr/>
        </p:nvSpPr>
        <p:spPr>
          <a:xfrm>
            <a:off x="4876800" y="18288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Start</a:t>
            </a:r>
            <a:endParaRPr b="1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11" name="Google Shape;2211;p59"/>
          <p:cNvSpPr txBox="1"/>
          <p:nvPr/>
        </p:nvSpPr>
        <p:spPr>
          <a:xfrm>
            <a:off x="3429000" y="4495800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97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12" name="Google Shape;2212;p59"/>
          <p:cNvSpPr txBox="1"/>
          <p:nvPr/>
        </p:nvSpPr>
        <p:spPr>
          <a:xfrm>
            <a:off x="5791200" y="2300288"/>
            <a:ext cx="6096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75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13" name="Google Shape;2213;p59"/>
          <p:cNvSpPr txBox="1"/>
          <p:nvPr/>
        </p:nvSpPr>
        <p:spPr>
          <a:xfrm>
            <a:off x="2819400" y="2300288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118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14" name="Google Shape;2214;p59"/>
          <p:cNvSpPr txBox="1"/>
          <p:nvPr/>
        </p:nvSpPr>
        <p:spPr>
          <a:xfrm>
            <a:off x="4572000" y="2543175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140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15" name="Google Shape;2215;p59"/>
          <p:cNvSpPr txBox="1"/>
          <p:nvPr/>
        </p:nvSpPr>
        <p:spPr>
          <a:xfrm>
            <a:off x="4876800" y="2986088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[393]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16" name="Google Shape;2216;p59"/>
          <p:cNvSpPr txBox="1"/>
          <p:nvPr/>
        </p:nvSpPr>
        <p:spPr>
          <a:xfrm>
            <a:off x="7162800" y="29718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[449]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17" name="Google Shape;2217;p59"/>
          <p:cNvSpPr txBox="1"/>
          <p:nvPr/>
        </p:nvSpPr>
        <p:spPr>
          <a:xfrm>
            <a:off x="1447800" y="31242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[447]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18" name="Google Shape;2218;p59"/>
          <p:cNvSpPr txBox="1"/>
          <p:nvPr/>
        </p:nvSpPr>
        <p:spPr>
          <a:xfrm>
            <a:off x="5638800" y="3900488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[417]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19" name="Google Shape;2219;p59"/>
          <p:cNvSpPr txBox="1"/>
          <p:nvPr/>
        </p:nvSpPr>
        <p:spPr>
          <a:xfrm>
            <a:off x="2819400" y="3976688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[413]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20" name="Google Shape;2220;p59"/>
          <p:cNvSpPr txBox="1"/>
          <p:nvPr/>
        </p:nvSpPr>
        <p:spPr>
          <a:xfrm>
            <a:off x="2057400" y="48768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[455]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21" name="Google Shape;2221;p59"/>
          <p:cNvSpPr txBox="1"/>
          <p:nvPr/>
        </p:nvSpPr>
        <p:spPr>
          <a:xfrm>
            <a:off x="5105400" y="48768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Goal</a:t>
            </a:r>
            <a:endParaRPr b="1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222" name="Google Shape;2222;p59"/>
          <p:cNvGrpSpPr/>
          <p:nvPr/>
        </p:nvGrpSpPr>
        <p:grpSpPr>
          <a:xfrm>
            <a:off x="5791200" y="4800600"/>
            <a:ext cx="457200" cy="457200"/>
            <a:chOff x="1344" y="1248"/>
            <a:chExt cx="288" cy="288"/>
          </a:xfrm>
        </p:grpSpPr>
        <p:sp>
          <p:nvSpPr>
            <p:cNvPr id="2223" name="Google Shape;2223;p59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224" name="Google Shape;2224;p59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I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2225" name="Google Shape;2225;p59"/>
          <p:cNvCxnSpPr/>
          <p:nvPr/>
        </p:nvCxnSpPr>
        <p:spPr>
          <a:xfrm>
            <a:off x="5410200" y="4343400"/>
            <a:ext cx="6096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26" name="Google Shape;2226;p59"/>
          <p:cNvSpPr txBox="1"/>
          <p:nvPr/>
        </p:nvSpPr>
        <p:spPr>
          <a:xfrm>
            <a:off x="6248400" y="48768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[450]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227" name="Google Shape;2227;p59"/>
          <p:cNvGrpSpPr/>
          <p:nvPr/>
        </p:nvGrpSpPr>
        <p:grpSpPr>
          <a:xfrm>
            <a:off x="1371600" y="3962400"/>
            <a:ext cx="457200" cy="457200"/>
            <a:chOff x="1344" y="1248"/>
            <a:chExt cx="288" cy="288"/>
          </a:xfrm>
        </p:grpSpPr>
        <p:sp>
          <p:nvSpPr>
            <p:cNvPr id="2228" name="Google Shape;2228;p59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229" name="Google Shape;2229;p59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2230" name="Google Shape;2230;p59"/>
          <p:cNvCxnSpPr/>
          <p:nvPr/>
        </p:nvCxnSpPr>
        <p:spPr>
          <a:xfrm flipH="1">
            <a:off x="1524000" y="3505200"/>
            <a:ext cx="9144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31" name="Google Shape;2231;p59"/>
          <p:cNvSpPr txBox="1"/>
          <p:nvPr/>
        </p:nvSpPr>
        <p:spPr>
          <a:xfrm>
            <a:off x="685800" y="3976688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[473]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5" name="Shape 2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6" name="Google Shape;2236;p60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37" name="Google Shape;2237;p60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A* Search: Tree Search</a:t>
            </a:r>
            <a:endParaRPr/>
          </a:p>
        </p:txBody>
      </p:sp>
      <p:grpSp>
        <p:nvGrpSpPr>
          <p:cNvPr id="2238" name="Google Shape;2238;p60"/>
          <p:cNvGrpSpPr/>
          <p:nvPr/>
        </p:nvGrpSpPr>
        <p:grpSpPr>
          <a:xfrm>
            <a:off x="4343400" y="1843088"/>
            <a:ext cx="457200" cy="457200"/>
            <a:chOff x="1344" y="1248"/>
            <a:chExt cx="288" cy="288"/>
          </a:xfrm>
        </p:grpSpPr>
        <p:sp>
          <p:nvSpPr>
            <p:cNvPr id="2239" name="Google Shape;2239;p60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240" name="Google Shape;2240;p60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A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2241" name="Google Shape;2241;p60"/>
          <p:cNvGrpSpPr/>
          <p:nvPr/>
        </p:nvGrpSpPr>
        <p:grpSpPr>
          <a:xfrm>
            <a:off x="6705600" y="2971800"/>
            <a:ext cx="457200" cy="457200"/>
            <a:chOff x="1344" y="1248"/>
            <a:chExt cx="288" cy="288"/>
          </a:xfrm>
        </p:grpSpPr>
        <p:sp>
          <p:nvSpPr>
            <p:cNvPr id="2242" name="Google Shape;2242;p60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243" name="Google Shape;2243;p60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B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2244" name="Google Shape;2244;p60"/>
          <p:cNvGrpSpPr/>
          <p:nvPr/>
        </p:nvGrpSpPr>
        <p:grpSpPr>
          <a:xfrm>
            <a:off x="2209800" y="3048000"/>
            <a:ext cx="457200" cy="457200"/>
            <a:chOff x="1344" y="1248"/>
            <a:chExt cx="288" cy="288"/>
          </a:xfrm>
        </p:grpSpPr>
        <p:sp>
          <p:nvSpPr>
            <p:cNvPr id="2245" name="Google Shape;2245;p60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246" name="Google Shape;2246;p60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C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2247" name="Google Shape;2247;p60"/>
          <p:cNvGrpSpPr/>
          <p:nvPr/>
        </p:nvGrpSpPr>
        <p:grpSpPr>
          <a:xfrm>
            <a:off x="4419600" y="2986088"/>
            <a:ext cx="457200" cy="457200"/>
            <a:chOff x="1344" y="1248"/>
            <a:chExt cx="288" cy="288"/>
          </a:xfrm>
        </p:grpSpPr>
        <p:sp>
          <p:nvSpPr>
            <p:cNvPr id="2248" name="Google Shape;2248;p60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249" name="Google Shape;2249;p60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E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2250" name="Google Shape;2250;p60"/>
          <p:cNvGrpSpPr/>
          <p:nvPr/>
        </p:nvGrpSpPr>
        <p:grpSpPr>
          <a:xfrm>
            <a:off x="5105400" y="3900488"/>
            <a:ext cx="457200" cy="457200"/>
            <a:chOff x="1344" y="1248"/>
            <a:chExt cx="288" cy="288"/>
          </a:xfrm>
        </p:grpSpPr>
        <p:sp>
          <p:nvSpPr>
            <p:cNvPr id="2251" name="Google Shape;2251;p60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252" name="Google Shape;2252;p60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F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2253" name="Google Shape;2253;p60"/>
          <p:cNvCxnSpPr/>
          <p:nvPr/>
        </p:nvCxnSpPr>
        <p:spPr>
          <a:xfrm>
            <a:off x="4648200" y="3443288"/>
            <a:ext cx="6096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54" name="Google Shape;2254;p60"/>
          <p:cNvSpPr txBox="1"/>
          <p:nvPr/>
        </p:nvSpPr>
        <p:spPr>
          <a:xfrm>
            <a:off x="4876800" y="3367088"/>
            <a:ext cx="6096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99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255" name="Google Shape;2255;p60"/>
          <p:cNvGrpSpPr/>
          <p:nvPr/>
        </p:nvGrpSpPr>
        <p:grpSpPr>
          <a:xfrm>
            <a:off x="3581400" y="3900488"/>
            <a:ext cx="457200" cy="457200"/>
            <a:chOff x="1344" y="1248"/>
            <a:chExt cx="288" cy="288"/>
          </a:xfrm>
        </p:grpSpPr>
        <p:sp>
          <p:nvSpPr>
            <p:cNvPr id="2256" name="Google Shape;2256;p60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257" name="Google Shape;2257;p60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G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2258" name="Google Shape;2258;p60"/>
          <p:cNvGrpSpPr/>
          <p:nvPr/>
        </p:nvGrpSpPr>
        <p:grpSpPr>
          <a:xfrm>
            <a:off x="2743200" y="4814888"/>
            <a:ext cx="457200" cy="457200"/>
            <a:chOff x="1344" y="1248"/>
            <a:chExt cx="288" cy="288"/>
          </a:xfrm>
        </p:grpSpPr>
        <p:sp>
          <p:nvSpPr>
            <p:cNvPr id="2259" name="Google Shape;2259;p60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260" name="Google Shape;2260;p60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H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2261" name="Google Shape;2261;p60"/>
          <p:cNvCxnSpPr/>
          <p:nvPr/>
        </p:nvCxnSpPr>
        <p:spPr>
          <a:xfrm flipH="1">
            <a:off x="3733800" y="3443288"/>
            <a:ext cx="9144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62" name="Google Shape;2262;p60"/>
          <p:cNvCxnSpPr/>
          <p:nvPr/>
        </p:nvCxnSpPr>
        <p:spPr>
          <a:xfrm flipH="1">
            <a:off x="3048000" y="4357688"/>
            <a:ext cx="762000" cy="4429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63" name="Google Shape;2263;p60"/>
          <p:cNvSpPr txBox="1"/>
          <p:nvPr/>
        </p:nvSpPr>
        <p:spPr>
          <a:xfrm>
            <a:off x="3810000" y="3367088"/>
            <a:ext cx="6096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80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2264" name="Google Shape;2264;p60"/>
          <p:cNvCxnSpPr/>
          <p:nvPr/>
        </p:nvCxnSpPr>
        <p:spPr>
          <a:xfrm>
            <a:off x="4572000" y="2300288"/>
            <a:ext cx="2362200" cy="6715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65" name="Google Shape;2265;p60"/>
          <p:cNvCxnSpPr/>
          <p:nvPr/>
        </p:nvCxnSpPr>
        <p:spPr>
          <a:xfrm>
            <a:off x="4572000" y="2300288"/>
            <a:ext cx="762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66" name="Google Shape;2266;p60"/>
          <p:cNvCxnSpPr/>
          <p:nvPr/>
        </p:nvCxnSpPr>
        <p:spPr>
          <a:xfrm flipH="1">
            <a:off x="2438400" y="2300288"/>
            <a:ext cx="2133600" cy="7477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67" name="Google Shape;2267;p60"/>
          <p:cNvSpPr txBox="1"/>
          <p:nvPr/>
        </p:nvSpPr>
        <p:spPr>
          <a:xfrm>
            <a:off x="4876800" y="18288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Start</a:t>
            </a:r>
            <a:endParaRPr b="1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68" name="Google Shape;2268;p60"/>
          <p:cNvSpPr txBox="1"/>
          <p:nvPr/>
        </p:nvSpPr>
        <p:spPr>
          <a:xfrm>
            <a:off x="3429000" y="4495800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97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69" name="Google Shape;2269;p60"/>
          <p:cNvSpPr txBox="1"/>
          <p:nvPr/>
        </p:nvSpPr>
        <p:spPr>
          <a:xfrm>
            <a:off x="5791200" y="2300288"/>
            <a:ext cx="6096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75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70" name="Google Shape;2270;p60"/>
          <p:cNvSpPr txBox="1"/>
          <p:nvPr/>
        </p:nvSpPr>
        <p:spPr>
          <a:xfrm>
            <a:off x="2819400" y="2300288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118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71" name="Google Shape;2271;p60"/>
          <p:cNvSpPr txBox="1"/>
          <p:nvPr/>
        </p:nvSpPr>
        <p:spPr>
          <a:xfrm>
            <a:off x="4572000" y="2543175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140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72" name="Google Shape;2272;p60"/>
          <p:cNvSpPr txBox="1"/>
          <p:nvPr/>
        </p:nvSpPr>
        <p:spPr>
          <a:xfrm>
            <a:off x="4876800" y="2986088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[393]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73" name="Google Shape;2273;p60"/>
          <p:cNvSpPr txBox="1"/>
          <p:nvPr/>
        </p:nvSpPr>
        <p:spPr>
          <a:xfrm>
            <a:off x="7162800" y="29718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[449]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74" name="Google Shape;2274;p60"/>
          <p:cNvSpPr txBox="1"/>
          <p:nvPr/>
        </p:nvSpPr>
        <p:spPr>
          <a:xfrm>
            <a:off x="1447800" y="31242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[447]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75" name="Google Shape;2275;p60"/>
          <p:cNvSpPr txBox="1"/>
          <p:nvPr/>
        </p:nvSpPr>
        <p:spPr>
          <a:xfrm>
            <a:off x="5638800" y="3900488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[417]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76" name="Google Shape;2276;p60"/>
          <p:cNvSpPr txBox="1"/>
          <p:nvPr/>
        </p:nvSpPr>
        <p:spPr>
          <a:xfrm>
            <a:off x="2819400" y="3976688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[413]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77" name="Google Shape;2277;p60"/>
          <p:cNvSpPr txBox="1"/>
          <p:nvPr/>
        </p:nvSpPr>
        <p:spPr>
          <a:xfrm>
            <a:off x="2057400" y="48768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[455]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78" name="Google Shape;2278;p60"/>
          <p:cNvSpPr txBox="1"/>
          <p:nvPr/>
        </p:nvSpPr>
        <p:spPr>
          <a:xfrm>
            <a:off x="5105400" y="48768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Goal</a:t>
            </a:r>
            <a:endParaRPr b="1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279" name="Google Shape;2279;p60"/>
          <p:cNvGrpSpPr/>
          <p:nvPr/>
        </p:nvGrpSpPr>
        <p:grpSpPr>
          <a:xfrm>
            <a:off x="5791200" y="4800600"/>
            <a:ext cx="457200" cy="457200"/>
            <a:chOff x="1344" y="1248"/>
            <a:chExt cx="288" cy="288"/>
          </a:xfrm>
        </p:grpSpPr>
        <p:sp>
          <p:nvSpPr>
            <p:cNvPr id="2280" name="Google Shape;2280;p60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281" name="Google Shape;2281;p60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I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2282" name="Google Shape;2282;p60"/>
          <p:cNvCxnSpPr/>
          <p:nvPr/>
        </p:nvCxnSpPr>
        <p:spPr>
          <a:xfrm>
            <a:off x="5410200" y="4343400"/>
            <a:ext cx="6096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83" name="Google Shape;2283;p60"/>
          <p:cNvSpPr txBox="1"/>
          <p:nvPr/>
        </p:nvSpPr>
        <p:spPr>
          <a:xfrm>
            <a:off x="6248400" y="48768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[450]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284" name="Google Shape;2284;p60"/>
          <p:cNvGrpSpPr/>
          <p:nvPr/>
        </p:nvGrpSpPr>
        <p:grpSpPr>
          <a:xfrm>
            <a:off x="1371600" y="3962400"/>
            <a:ext cx="457200" cy="457200"/>
            <a:chOff x="1344" y="1248"/>
            <a:chExt cx="288" cy="288"/>
          </a:xfrm>
        </p:grpSpPr>
        <p:sp>
          <p:nvSpPr>
            <p:cNvPr id="2285" name="Google Shape;2285;p60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286" name="Google Shape;2286;p60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2287" name="Google Shape;2287;p60"/>
          <p:cNvCxnSpPr/>
          <p:nvPr/>
        </p:nvCxnSpPr>
        <p:spPr>
          <a:xfrm flipH="1">
            <a:off x="1524000" y="3505200"/>
            <a:ext cx="9144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88" name="Google Shape;2288;p60"/>
          <p:cNvSpPr txBox="1"/>
          <p:nvPr/>
        </p:nvSpPr>
        <p:spPr>
          <a:xfrm>
            <a:off x="685800" y="3976688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[473]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2" name="Shape 2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" name="Google Shape;2293;p61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94" name="Google Shape;2294;p61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A* Search: Tree Search</a:t>
            </a:r>
            <a:endParaRPr/>
          </a:p>
        </p:txBody>
      </p:sp>
      <p:grpSp>
        <p:nvGrpSpPr>
          <p:cNvPr id="2295" name="Google Shape;2295;p61"/>
          <p:cNvGrpSpPr/>
          <p:nvPr/>
        </p:nvGrpSpPr>
        <p:grpSpPr>
          <a:xfrm>
            <a:off x="4343400" y="1843088"/>
            <a:ext cx="457200" cy="457200"/>
            <a:chOff x="1344" y="1248"/>
            <a:chExt cx="288" cy="288"/>
          </a:xfrm>
        </p:grpSpPr>
        <p:sp>
          <p:nvSpPr>
            <p:cNvPr id="2296" name="Google Shape;2296;p61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297" name="Google Shape;2297;p61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A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2298" name="Google Shape;2298;p61"/>
          <p:cNvGrpSpPr/>
          <p:nvPr/>
        </p:nvGrpSpPr>
        <p:grpSpPr>
          <a:xfrm>
            <a:off x="6705600" y="2971800"/>
            <a:ext cx="457200" cy="457200"/>
            <a:chOff x="1344" y="1248"/>
            <a:chExt cx="288" cy="288"/>
          </a:xfrm>
        </p:grpSpPr>
        <p:sp>
          <p:nvSpPr>
            <p:cNvPr id="2299" name="Google Shape;2299;p61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00" name="Google Shape;2300;p61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B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2301" name="Google Shape;2301;p61"/>
          <p:cNvGrpSpPr/>
          <p:nvPr/>
        </p:nvGrpSpPr>
        <p:grpSpPr>
          <a:xfrm>
            <a:off x="2209800" y="3048000"/>
            <a:ext cx="457200" cy="457200"/>
            <a:chOff x="1344" y="1248"/>
            <a:chExt cx="288" cy="288"/>
          </a:xfrm>
        </p:grpSpPr>
        <p:sp>
          <p:nvSpPr>
            <p:cNvPr id="2302" name="Google Shape;2302;p61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03" name="Google Shape;2303;p61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C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2304" name="Google Shape;2304;p61"/>
          <p:cNvGrpSpPr/>
          <p:nvPr/>
        </p:nvGrpSpPr>
        <p:grpSpPr>
          <a:xfrm>
            <a:off x="4419600" y="2986088"/>
            <a:ext cx="457200" cy="457200"/>
            <a:chOff x="1344" y="1248"/>
            <a:chExt cx="288" cy="288"/>
          </a:xfrm>
        </p:grpSpPr>
        <p:sp>
          <p:nvSpPr>
            <p:cNvPr id="2305" name="Google Shape;2305;p61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06" name="Google Shape;2306;p61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E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2307" name="Google Shape;2307;p61"/>
          <p:cNvGrpSpPr/>
          <p:nvPr/>
        </p:nvGrpSpPr>
        <p:grpSpPr>
          <a:xfrm>
            <a:off x="5105400" y="3900488"/>
            <a:ext cx="457200" cy="457200"/>
            <a:chOff x="1344" y="1248"/>
            <a:chExt cx="288" cy="288"/>
          </a:xfrm>
        </p:grpSpPr>
        <p:sp>
          <p:nvSpPr>
            <p:cNvPr id="2308" name="Google Shape;2308;p61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09" name="Google Shape;2309;p61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F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2310" name="Google Shape;2310;p61"/>
          <p:cNvCxnSpPr/>
          <p:nvPr/>
        </p:nvCxnSpPr>
        <p:spPr>
          <a:xfrm>
            <a:off x="4648200" y="3443288"/>
            <a:ext cx="6096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11" name="Google Shape;2311;p61"/>
          <p:cNvSpPr txBox="1"/>
          <p:nvPr/>
        </p:nvSpPr>
        <p:spPr>
          <a:xfrm>
            <a:off x="4876800" y="3367088"/>
            <a:ext cx="6096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99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312" name="Google Shape;2312;p61"/>
          <p:cNvGrpSpPr/>
          <p:nvPr/>
        </p:nvGrpSpPr>
        <p:grpSpPr>
          <a:xfrm>
            <a:off x="3581400" y="3900488"/>
            <a:ext cx="457200" cy="457200"/>
            <a:chOff x="1344" y="1248"/>
            <a:chExt cx="288" cy="288"/>
          </a:xfrm>
        </p:grpSpPr>
        <p:sp>
          <p:nvSpPr>
            <p:cNvPr id="2313" name="Google Shape;2313;p61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14" name="Google Shape;2314;p61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G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2315" name="Google Shape;2315;p61"/>
          <p:cNvGrpSpPr/>
          <p:nvPr/>
        </p:nvGrpSpPr>
        <p:grpSpPr>
          <a:xfrm>
            <a:off x="2743200" y="4814888"/>
            <a:ext cx="457200" cy="457200"/>
            <a:chOff x="1344" y="1248"/>
            <a:chExt cx="288" cy="288"/>
          </a:xfrm>
        </p:grpSpPr>
        <p:sp>
          <p:nvSpPr>
            <p:cNvPr id="2316" name="Google Shape;2316;p61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17" name="Google Shape;2317;p61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H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2318" name="Google Shape;2318;p61"/>
          <p:cNvCxnSpPr/>
          <p:nvPr/>
        </p:nvCxnSpPr>
        <p:spPr>
          <a:xfrm flipH="1">
            <a:off x="3733800" y="3443288"/>
            <a:ext cx="9144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19" name="Google Shape;2319;p61"/>
          <p:cNvCxnSpPr/>
          <p:nvPr/>
        </p:nvCxnSpPr>
        <p:spPr>
          <a:xfrm flipH="1">
            <a:off x="3048000" y="4357688"/>
            <a:ext cx="762000" cy="4429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20" name="Google Shape;2320;p61"/>
          <p:cNvSpPr txBox="1"/>
          <p:nvPr/>
        </p:nvSpPr>
        <p:spPr>
          <a:xfrm>
            <a:off x="3810000" y="3367088"/>
            <a:ext cx="6096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80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2321" name="Google Shape;2321;p61"/>
          <p:cNvCxnSpPr/>
          <p:nvPr/>
        </p:nvCxnSpPr>
        <p:spPr>
          <a:xfrm>
            <a:off x="4572000" y="2300288"/>
            <a:ext cx="2362200" cy="6715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22" name="Google Shape;2322;p61"/>
          <p:cNvCxnSpPr/>
          <p:nvPr/>
        </p:nvCxnSpPr>
        <p:spPr>
          <a:xfrm>
            <a:off x="4572000" y="2300288"/>
            <a:ext cx="762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23" name="Google Shape;2323;p61"/>
          <p:cNvCxnSpPr/>
          <p:nvPr/>
        </p:nvCxnSpPr>
        <p:spPr>
          <a:xfrm flipH="1">
            <a:off x="2438400" y="2300288"/>
            <a:ext cx="2133600" cy="7477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24" name="Google Shape;2324;p61"/>
          <p:cNvSpPr txBox="1"/>
          <p:nvPr/>
        </p:nvSpPr>
        <p:spPr>
          <a:xfrm>
            <a:off x="4876800" y="18288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Start</a:t>
            </a:r>
            <a:endParaRPr b="1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25" name="Google Shape;2325;p61"/>
          <p:cNvSpPr txBox="1"/>
          <p:nvPr/>
        </p:nvSpPr>
        <p:spPr>
          <a:xfrm>
            <a:off x="3429000" y="4495800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97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26" name="Google Shape;2326;p61"/>
          <p:cNvSpPr txBox="1"/>
          <p:nvPr/>
        </p:nvSpPr>
        <p:spPr>
          <a:xfrm>
            <a:off x="5791200" y="2300288"/>
            <a:ext cx="6096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75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27" name="Google Shape;2327;p61"/>
          <p:cNvSpPr txBox="1"/>
          <p:nvPr/>
        </p:nvSpPr>
        <p:spPr>
          <a:xfrm>
            <a:off x="2819400" y="2300288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118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28" name="Google Shape;2328;p61"/>
          <p:cNvSpPr txBox="1"/>
          <p:nvPr/>
        </p:nvSpPr>
        <p:spPr>
          <a:xfrm>
            <a:off x="4572000" y="2543175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140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29" name="Google Shape;2329;p61"/>
          <p:cNvSpPr txBox="1"/>
          <p:nvPr/>
        </p:nvSpPr>
        <p:spPr>
          <a:xfrm>
            <a:off x="4876800" y="2986088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[393]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30" name="Google Shape;2330;p61"/>
          <p:cNvSpPr txBox="1"/>
          <p:nvPr/>
        </p:nvSpPr>
        <p:spPr>
          <a:xfrm>
            <a:off x="7162800" y="29718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[449]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31" name="Google Shape;2331;p61"/>
          <p:cNvSpPr txBox="1"/>
          <p:nvPr/>
        </p:nvSpPr>
        <p:spPr>
          <a:xfrm>
            <a:off x="1447800" y="31242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[447]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32" name="Google Shape;2332;p61"/>
          <p:cNvSpPr txBox="1"/>
          <p:nvPr/>
        </p:nvSpPr>
        <p:spPr>
          <a:xfrm>
            <a:off x="5638800" y="3900488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[417]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33" name="Google Shape;2333;p61"/>
          <p:cNvSpPr txBox="1"/>
          <p:nvPr/>
        </p:nvSpPr>
        <p:spPr>
          <a:xfrm>
            <a:off x="2819400" y="3976688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[413]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34" name="Google Shape;2334;p61"/>
          <p:cNvSpPr txBox="1"/>
          <p:nvPr/>
        </p:nvSpPr>
        <p:spPr>
          <a:xfrm>
            <a:off x="2057400" y="48768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[455]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35" name="Google Shape;2335;p61"/>
          <p:cNvSpPr txBox="1"/>
          <p:nvPr/>
        </p:nvSpPr>
        <p:spPr>
          <a:xfrm>
            <a:off x="5105400" y="48768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Goal</a:t>
            </a:r>
            <a:endParaRPr b="1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336" name="Google Shape;2336;p61"/>
          <p:cNvGrpSpPr/>
          <p:nvPr/>
        </p:nvGrpSpPr>
        <p:grpSpPr>
          <a:xfrm>
            <a:off x="5791200" y="4800600"/>
            <a:ext cx="457200" cy="457200"/>
            <a:chOff x="1344" y="1248"/>
            <a:chExt cx="288" cy="288"/>
          </a:xfrm>
        </p:grpSpPr>
        <p:sp>
          <p:nvSpPr>
            <p:cNvPr id="2337" name="Google Shape;2337;p61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38" name="Google Shape;2338;p61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I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2339" name="Google Shape;2339;p61"/>
          <p:cNvCxnSpPr/>
          <p:nvPr/>
        </p:nvCxnSpPr>
        <p:spPr>
          <a:xfrm>
            <a:off x="5410200" y="4343400"/>
            <a:ext cx="6096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40" name="Google Shape;2340;p61"/>
          <p:cNvSpPr txBox="1"/>
          <p:nvPr/>
        </p:nvSpPr>
        <p:spPr>
          <a:xfrm>
            <a:off x="6248400" y="48768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[450]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341" name="Google Shape;2341;p61"/>
          <p:cNvGrpSpPr/>
          <p:nvPr/>
        </p:nvGrpSpPr>
        <p:grpSpPr>
          <a:xfrm>
            <a:off x="1371600" y="3962400"/>
            <a:ext cx="457200" cy="457200"/>
            <a:chOff x="1344" y="1248"/>
            <a:chExt cx="288" cy="288"/>
          </a:xfrm>
        </p:grpSpPr>
        <p:sp>
          <p:nvSpPr>
            <p:cNvPr id="2342" name="Google Shape;2342;p61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43" name="Google Shape;2343;p61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2344" name="Google Shape;2344;p61"/>
          <p:cNvCxnSpPr/>
          <p:nvPr/>
        </p:nvCxnSpPr>
        <p:spPr>
          <a:xfrm flipH="1">
            <a:off x="1524000" y="3505200"/>
            <a:ext cx="9144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45" name="Google Shape;2345;p61"/>
          <p:cNvSpPr txBox="1"/>
          <p:nvPr/>
        </p:nvSpPr>
        <p:spPr>
          <a:xfrm>
            <a:off x="685800" y="3976688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[473]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46" name="Google Shape;2346;p61"/>
          <p:cNvSpPr txBox="1"/>
          <p:nvPr/>
        </p:nvSpPr>
        <p:spPr>
          <a:xfrm>
            <a:off x="381000" y="5933125"/>
            <a:ext cx="8251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Not optimal !!! (better path is A -&gt; E -&gt; G -&gt; H -&gt; I</a:t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0" name="Shape 2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1" name="Google Shape;2351;p62"/>
          <p:cNvSpPr txBox="1"/>
          <p:nvPr>
            <p:ph type="ctrTitle"/>
          </p:nvPr>
        </p:nvSpPr>
        <p:spPr>
          <a:xfrm>
            <a:off x="990600" y="1676400"/>
            <a:ext cx="7772400" cy="14620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A* Algorithm</a:t>
            </a:r>
            <a:endParaRPr/>
          </a:p>
        </p:txBody>
      </p:sp>
      <p:sp>
        <p:nvSpPr>
          <p:cNvPr id="2352" name="Google Shape;2352;p6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lang="en-US"/>
              <a:t>A* with systematic checking for repeated states …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6" name="Shape 2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7" name="Google Shape;2357;p63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58" name="Google Shape;2358;p63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A* Algorithm</a:t>
            </a:r>
            <a:endParaRPr/>
          </a:p>
        </p:txBody>
      </p:sp>
      <p:sp>
        <p:nvSpPr>
          <p:cNvPr id="2359" name="Google Shape;2359;p63"/>
          <p:cNvSpPr txBox="1"/>
          <p:nvPr>
            <p:ph idx="1" type="body"/>
          </p:nvPr>
        </p:nvSpPr>
        <p:spPr>
          <a:xfrm>
            <a:off x="1219200" y="1828800"/>
            <a:ext cx="7772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oto Sans Symbols"/>
              <a:buNone/>
            </a:pPr>
            <a:r>
              <a:rPr lang="en-US" sz="2000"/>
              <a:t>1.   Search queue Q is empty.</a:t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Noto Sans Symbols"/>
              <a:buNone/>
            </a:pPr>
            <a:r>
              <a:rPr lang="en-US" sz="2000"/>
              <a:t>2.   Place the start state s in Q with f  value h(s).</a:t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Noto Sans Symbols"/>
              <a:buNone/>
            </a:pPr>
            <a:r>
              <a:rPr lang="en-US" sz="2000"/>
              <a:t>3.   If Q is empty, return failure.</a:t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Noto Sans Symbols"/>
              <a:buNone/>
            </a:pPr>
            <a:r>
              <a:rPr lang="en-US" sz="2000"/>
              <a:t>4.   Take node n from Q with lowest f value.</a:t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Noto Sans Symbols"/>
              <a:buNone/>
            </a:pPr>
            <a:r>
              <a:rPr lang="en-US" sz="2000"/>
              <a:t>      (Keep Q sorted by f  values and pick the first element).</a:t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Noto Sans Symbols"/>
              <a:buNone/>
            </a:pPr>
            <a:r>
              <a:rPr lang="en-US" sz="2000"/>
              <a:t>5.   If n is a goal node, stop and return solution.</a:t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Noto Sans Symbols"/>
              <a:buNone/>
            </a:pPr>
            <a:r>
              <a:rPr lang="en-US" sz="2000"/>
              <a:t>6.   Generate successors of node n.</a:t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Noto Sans Symbols"/>
              <a:buNone/>
            </a:pPr>
            <a:r>
              <a:rPr lang="en-US" sz="2000"/>
              <a:t>7.   For each successor n’ of n do:</a:t>
            </a:r>
            <a:endParaRPr/>
          </a:p>
          <a:p>
            <a:pPr indent="-4572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Noto Sans Symbols"/>
              <a:buNone/>
            </a:pPr>
            <a:r>
              <a:rPr lang="en-US" sz="2000"/>
              <a:t>a) Compute f(n’) = g(n) + cost(n,n’) + h(n’).</a:t>
            </a:r>
            <a:endParaRPr/>
          </a:p>
          <a:p>
            <a:pPr indent="-4572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Noto Sans Symbols"/>
              <a:buNone/>
            </a:pPr>
            <a:r>
              <a:rPr lang="en-US" sz="2000"/>
              <a:t>b) If n’ is new (never generated before), add n’ to Q. </a:t>
            </a:r>
            <a:endParaRPr/>
          </a:p>
          <a:p>
            <a:pPr indent="-4572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Noto Sans Symbols"/>
              <a:buNone/>
            </a:pPr>
            <a:r>
              <a:rPr lang="en-US" sz="2000"/>
              <a:t>c) If node n’ is already in Q with a higher f value, replace it with current f(n’) and place it in sorted order in Q. </a:t>
            </a:r>
            <a:endParaRPr/>
          </a:p>
          <a:p>
            <a:pPr indent="-4572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Noto Sans Symbols"/>
              <a:buNone/>
            </a:pPr>
            <a:r>
              <a:rPr lang="en-US" sz="2000"/>
              <a:t>End for</a:t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Noto Sans Symbols"/>
              <a:buNone/>
            </a:pPr>
            <a:r>
              <a:rPr lang="en-US" sz="2000"/>
              <a:t>8.   Go back to step 3.</a:t>
            </a:r>
            <a:endParaRPr sz="200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3" name="Shape 2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4" name="Google Shape;2364;p64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65" name="Google Shape;2365;p64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A* Search: Analysis</a:t>
            </a:r>
            <a:endParaRPr/>
          </a:p>
        </p:txBody>
      </p:sp>
      <p:grpSp>
        <p:nvGrpSpPr>
          <p:cNvPr id="2366" name="Google Shape;2366;p64"/>
          <p:cNvGrpSpPr/>
          <p:nvPr/>
        </p:nvGrpSpPr>
        <p:grpSpPr>
          <a:xfrm>
            <a:off x="2133600" y="1981200"/>
            <a:ext cx="457200" cy="457200"/>
            <a:chOff x="1344" y="1248"/>
            <a:chExt cx="288" cy="288"/>
          </a:xfrm>
        </p:grpSpPr>
        <p:sp>
          <p:nvSpPr>
            <p:cNvPr id="2367" name="Google Shape;2367;p64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68" name="Google Shape;2368;p64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A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2369" name="Google Shape;2369;p64"/>
          <p:cNvGrpSpPr/>
          <p:nvPr/>
        </p:nvGrpSpPr>
        <p:grpSpPr>
          <a:xfrm>
            <a:off x="3200400" y="2514600"/>
            <a:ext cx="457200" cy="457200"/>
            <a:chOff x="1344" y="1248"/>
            <a:chExt cx="288" cy="288"/>
          </a:xfrm>
        </p:grpSpPr>
        <p:sp>
          <p:nvSpPr>
            <p:cNvPr id="2370" name="Google Shape;2370;p64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71" name="Google Shape;2371;p64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B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2372" name="Google Shape;2372;p64"/>
          <p:cNvGrpSpPr/>
          <p:nvPr/>
        </p:nvGrpSpPr>
        <p:grpSpPr>
          <a:xfrm>
            <a:off x="533400" y="3429000"/>
            <a:ext cx="457200" cy="457200"/>
            <a:chOff x="1344" y="1248"/>
            <a:chExt cx="288" cy="288"/>
          </a:xfrm>
        </p:grpSpPr>
        <p:sp>
          <p:nvSpPr>
            <p:cNvPr id="2373" name="Google Shape;2373;p64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74" name="Google Shape;2374;p64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2375" name="Google Shape;2375;p64"/>
          <p:cNvGrpSpPr/>
          <p:nvPr/>
        </p:nvGrpSpPr>
        <p:grpSpPr>
          <a:xfrm>
            <a:off x="1066800" y="2667000"/>
            <a:ext cx="457200" cy="457200"/>
            <a:chOff x="1344" y="1248"/>
            <a:chExt cx="288" cy="288"/>
          </a:xfrm>
        </p:grpSpPr>
        <p:sp>
          <p:nvSpPr>
            <p:cNvPr id="2376" name="Google Shape;2376;p64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77" name="Google Shape;2377;p64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C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2378" name="Google Shape;2378;p64"/>
          <p:cNvGrpSpPr/>
          <p:nvPr/>
        </p:nvGrpSpPr>
        <p:grpSpPr>
          <a:xfrm>
            <a:off x="2209800" y="3124200"/>
            <a:ext cx="457200" cy="457200"/>
            <a:chOff x="1344" y="1248"/>
            <a:chExt cx="288" cy="288"/>
          </a:xfrm>
        </p:grpSpPr>
        <p:sp>
          <p:nvSpPr>
            <p:cNvPr id="2379" name="Google Shape;2379;p64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80" name="Google Shape;2380;p64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E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2381" name="Google Shape;2381;p64"/>
          <p:cNvGrpSpPr/>
          <p:nvPr/>
        </p:nvGrpSpPr>
        <p:grpSpPr>
          <a:xfrm>
            <a:off x="2895600" y="4038600"/>
            <a:ext cx="457200" cy="457200"/>
            <a:chOff x="1344" y="1248"/>
            <a:chExt cx="288" cy="288"/>
          </a:xfrm>
        </p:grpSpPr>
        <p:sp>
          <p:nvSpPr>
            <p:cNvPr id="2382" name="Google Shape;2382;p64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83" name="Google Shape;2383;p64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F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2384" name="Google Shape;2384;p64"/>
          <p:cNvGrpSpPr/>
          <p:nvPr/>
        </p:nvGrpSpPr>
        <p:grpSpPr>
          <a:xfrm>
            <a:off x="1905000" y="5715000"/>
            <a:ext cx="457200" cy="457200"/>
            <a:chOff x="1344" y="1248"/>
            <a:chExt cx="288" cy="288"/>
          </a:xfrm>
        </p:grpSpPr>
        <p:sp>
          <p:nvSpPr>
            <p:cNvPr id="2385" name="Google Shape;2385;p64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86" name="Google Shape;2386;p64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I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2387" name="Google Shape;2387;p64"/>
          <p:cNvCxnSpPr/>
          <p:nvPr/>
        </p:nvCxnSpPr>
        <p:spPr>
          <a:xfrm>
            <a:off x="2438400" y="3581400"/>
            <a:ext cx="6096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88" name="Google Shape;2388;p64"/>
          <p:cNvCxnSpPr/>
          <p:nvPr/>
        </p:nvCxnSpPr>
        <p:spPr>
          <a:xfrm flipH="1">
            <a:off x="2133600" y="4495800"/>
            <a:ext cx="990600" cy="1219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89" name="Google Shape;2389;p64"/>
          <p:cNvSpPr txBox="1"/>
          <p:nvPr/>
        </p:nvSpPr>
        <p:spPr>
          <a:xfrm>
            <a:off x="2667000" y="3505200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99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90" name="Google Shape;2390;p64"/>
          <p:cNvSpPr txBox="1"/>
          <p:nvPr/>
        </p:nvSpPr>
        <p:spPr>
          <a:xfrm>
            <a:off x="2667000" y="51054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211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391" name="Google Shape;2391;p64"/>
          <p:cNvGrpSpPr/>
          <p:nvPr/>
        </p:nvGrpSpPr>
        <p:grpSpPr>
          <a:xfrm>
            <a:off x="1371600" y="4038600"/>
            <a:ext cx="457200" cy="457200"/>
            <a:chOff x="1344" y="1248"/>
            <a:chExt cx="288" cy="288"/>
          </a:xfrm>
        </p:grpSpPr>
        <p:sp>
          <p:nvSpPr>
            <p:cNvPr id="2392" name="Google Shape;2392;p64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93" name="Google Shape;2393;p64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G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2394" name="Google Shape;2394;p64"/>
          <p:cNvGrpSpPr/>
          <p:nvPr/>
        </p:nvGrpSpPr>
        <p:grpSpPr>
          <a:xfrm>
            <a:off x="1143000" y="4953000"/>
            <a:ext cx="457200" cy="457200"/>
            <a:chOff x="1344" y="1248"/>
            <a:chExt cx="288" cy="288"/>
          </a:xfrm>
        </p:grpSpPr>
        <p:sp>
          <p:nvSpPr>
            <p:cNvPr id="2395" name="Google Shape;2395;p64"/>
            <p:cNvSpPr/>
            <p:nvPr/>
          </p:nvSpPr>
          <p:spPr>
            <a:xfrm>
              <a:off x="1344" y="1248"/>
              <a:ext cx="288" cy="288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96" name="Google Shape;2396;p64"/>
            <p:cNvSpPr txBox="1"/>
            <p:nvPr/>
          </p:nvSpPr>
          <p:spPr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H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2397" name="Google Shape;2397;p64"/>
          <p:cNvCxnSpPr/>
          <p:nvPr/>
        </p:nvCxnSpPr>
        <p:spPr>
          <a:xfrm flipH="1">
            <a:off x="1524000" y="3581400"/>
            <a:ext cx="9144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98" name="Google Shape;2398;p64"/>
          <p:cNvCxnSpPr/>
          <p:nvPr/>
        </p:nvCxnSpPr>
        <p:spPr>
          <a:xfrm flipH="1">
            <a:off x="1371600" y="4495800"/>
            <a:ext cx="2286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99" name="Google Shape;2399;p64"/>
          <p:cNvCxnSpPr/>
          <p:nvPr/>
        </p:nvCxnSpPr>
        <p:spPr>
          <a:xfrm>
            <a:off x="1371600" y="5410200"/>
            <a:ext cx="7620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00" name="Google Shape;2400;p64"/>
          <p:cNvSpPr txBox="1"/>
          <p:nvPr/>
        </p:nvSpPr>
        <p:spPr>
          <a:xfrm>
            <a:off x="1600200" y="3505200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80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2401" name="Google Shape;2401;p64"/>
          <p:cNvCxnSpPr/>
          <p:nvPr/>
        </p:nvCxnSpPr>
        <p:spPr>
          <a:xfrm>
            <a:off x="2362200" y="2438400"/>
            <a:ext cx="106680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02" name="Google Shape;2402;p64"/>
          <p:cNvCxnSpPr/>
          <p:nvPr/>
        </p:nvCxnSpPr>
        <p:spPr>
          <a:xfrm>
            <a:off x="2362200" y="2438400"/>
            <a:ext cx="762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03" name="Google Shape;2403;p64"/>
          <p:cNvCxnSpPr/>
          <p:nvPr/>
        </p:nvCxnSpPr>
        <p:spPr>
          <a:xfrm flipH="1">
            <a:off x="1295400" y="2438400"/>
            <a:ext cx="1066800" cy="22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04" name="Google Shape;2404;p64"/>
          <p:cNvCxnSpPr/>
          <p:nvPr/>
        </p:nvCxnSpPr>
        <p:spPr>
          <a:xfrm flipH="1">
            <a:off x="762000" y="3124200"/>
            <a:ext cx="533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05" name="Google Shape;2405;p64"/>
          <p:cNvSpPr txBox="1"/>
          <p:nvPr/>
        </p:nvSpPr>
        <p:spPr>
          <a:xfrm>
            <a:off x="2590800" y="18288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Start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06" name="Google Shape;2406;p64"/>
          <p:cNvSpPr txBox="1"/>
          <p:nvPr/>
        </p:nvSpPr>
        <p:spPr>
          <a:xfrm>
            <a:off x="2438400" y="60198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Goal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07" name="Google Shape;2407;p64"/>
          <p:cNvSpPr txBox="1"/>
          <p:nvPr/>
        </p:nvSpPr>
        <p:spPr>
          <a:xfrm>
            <a:off x="990600" y="4572000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97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08" name="Google Shape;2408;p64"/>
          <p:cNvSpPr txBox="1"/>
          <p:nvPr/>
        </p:nvSpPr>
        <p:spPr>
          <a:xfrm>
            <a:off x="1295400" y="5486400"/>
            <a:ext cx="838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101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09" name="Google Shape;2409;p64"/>
          <p:cNvSpPr txBox="1"/>
          <p:nvPr/>
        </p:nvSpPr>
        <p:spPr>
          <a:xfrm>
            <a:off x="2819400" y="2133600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75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10" name="Google Shape;2410;p64"/>
          <p:cNvSpPr txBox="1"/>
          <p:nvPr/>
        </p:nvSpPr>
        <p:spPr>
          <a:xfrm>
            <a:off x="1371600" y="22098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118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11" name="Google Shape;2411;p64"/>
          <p:cNvSpPr txBox="1"/>
          <p:nvPr/>
        </p:nvSpPr>
        <p:spPr>
          <a:xfrm>
            <a:off x="381000" y="3048000"/>
            <a:ext cx="76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111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12" name="Google Shape;2412;p64"/>
          <p:cNvSpPr txBox="1"/>
          <p:nvPr/>
        </p:nvSpPr>
        <p:spPr>
          <a:xfrm>
            <a:off x="2362200" y="2681288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140</a:t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13" name="Google Shape;2413;p64"/>
          <p:cNvSpPr txBox="1"/>
          <p:nvPr/>
        </p:nvSpPr>
        <p:spPr>
          <a:xfrm>
            <a:off x="3810000" y="1684338"/>
            <a:ext cx="5105400" cy="5021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A* is complete except if there is an infinity of nodes with f &lt; f(G).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A* is optimal if heuristic </a:t>
            </a:r>
            <a:r>
              <a:rPr b="0" i="1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</a:t>
            </a: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is admissible.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Time complexity depends on the quality of heuristic but is still exponential.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For space complexity, A* keeps all nodes in memory. A* has worst case O(b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</a:t>
            </a: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 space complexity, but an iterative deepening version is possible (IDA*).</a:t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7" name="Shape 2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8" name="Google Shape;2418;p81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19" name="Google Shape;2419;p81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When to Use Search Techniques</a:t>
            </a:r>
            <a:endParaRPr/>
          </a:p>
        </p:txBody>
      </p:sp>
      <p:sp>
        <p:nvSpPr>
          <p:cNvPr id="2420" name="Google Shape;2420;p81"/>
          <p:cNvSpPr txBox="1"/>
          <p:nvPr>
            <p:ph idx="1" type="body"/>
          </p:nvPr>
        </p:nvSpPr>
        <p:spPr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20"/>
              <a:buChar char="■"/>
            </a:pPr>
            <a:r>
              <a:rPr lang="en-US"/>
              <a:t>The search space is small, and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</a:pPr>
            <a:r>
              <a:rPr lang="en-US"/>
              <a:t>There are no other available techniques, or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</a:pPr>
            <a:r>
              <a:rPr lang="en-US"/>
              <a:t>It is not worth the effort to develop a more efficient technique</a:t>
            </a:r>
            <a:endParaRPr/>
          </a:p>
          <a:p>
            <a:pPr indent="-187959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54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1920"/>
              <a:buChar char="■"/>
            </a:pPr>
            <a:r>
              <a:rPr lang="en-US"/>
              <a:t> The search space is large, and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</a:pPr>
            <a:r>
              <a:rPr lang="en-US"/>
              <a:t>There is no other available techniques, and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</a:pPr>
            <a:r>
              <a:rPr lang="en-US"/>
              <a:t>There exist “</a:t>
            </a:r>
            <a:r>
              <a:rPr lang="en-US">
                <a:solidFill>
                  <a:schemeClr val="hlink"/>
                </a:solidFill>
              </a:rPr>
              <a:t>good</a:t>
            </a:r>
            <a:r>
              <a:rPr lang="en-US"/>
              <a:t>” heuristics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4" name="Shape 2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5" name="Google Shape;2425;p82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26" name="Google Shape;2426;p82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Popular AI Search Problems</a:t>
            </a:r>
            <a:endParaRPr/>
          </a:p>
        </p:txBody>
      </p:sp>
      <p:sp>
        <p:nvSpPr>
          <p:cNvPr id="2427" name="Google Shape;2427;p82"/>
          <p:cNvSpPr txBox="1"/>
          <p:nvPr>
            <p:ph idx="1" type="body"/>
          </p:nvPr>
        </p:nvSpPr>
        <p:spPr>
          <a:xfrm>
            <a:off x="1219200" y="1905000"/>
            <a:ext cx="7504112" cy="1030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38100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80"/>
              <a:buFont typeface="Noto Sans Symbols"/>
              <a:buNone/>
            </a:pPr>
            <a:r>
              <a:rPr lang="en-US" sz="2800"/>
              <a:t>Classic AI search problems, Map searching (navigation)</a:t>
            </a:r>
            <a:endParaRPr/>
          </a:p>
        </p:txBody>
      </p:sp>
      <p:sp>
        <p:nvSpPr>
          <p:cNvPr id="2428" name="Google Shape;2428;p82"/>
          <p:cNvSpPr/>
          <p:nvPr/>
        </p:nvSpPr>
        <p:spPr>
          <a:xfrm>
            <a:off x="1905000" y="3886200"/>
            <a:ext cx="304800" cy="3810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29" name="Google Shape;2429;p82"/>
          <p:cNvSpPr/>
          <p:nvPr/>
        </p:nvSpPr>
        <p:spPr>
          <a:xfrm>
            <a:off x="5562600" y="5562600"/>
            <a:ext cx="3048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romania-distances" id="2430" name="Google Shape;2430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2645121"/>
            <a:ext cx="7010400" cy="42128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4" name="Shape 2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5" name="Google Shape;2435;p83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Romania with step costs in km</a:t>
            </a:r>
            <a:endParaRPr/>
          </a:p>
        </p:txBody>
      </p:sp>
      <p:pic>
        <p:nvPicPr>
          <p:cNvPr descr="romania2" id="2436" name="Google Shape;2436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1828800"/>
            <a:ext cx="8229600" cy="40338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0" name="Shape 2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1" name="Google Shape;2441;p84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</a:t>
            </a:r>
            <a:r>
              <a:rPr baseline="30000" lang="en-US"/>
              <a:t>*</a:t>
            </a:r>
            <a:r>
              <a:rPr lang="en-US"/>
              <a:t> search</a:t>
            </a:r>
            <a:endParaRPr/>
          </a:p>
        </p:txBody>
      </p:sp>
      <p:sp>
        <p:nvSpPr>
          <p:cNvPr id="2442" name="Google Shape;2442;p84"/>
          <p:cNvSpPr txBox="1"/>
          <p:nvPr>
            <p:ph idx="1" type="body"/>
          </p:nvPr>
        </p:nvSpPr>
        <p:spPr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Char char="■"/>
            </a:pPr>
            <a:r>
              <a:rPr lang="en-US"/>
              <a:t>Idea: avoid expanding paths that are already expensive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Char char="■"/>
            </a:pPr>
            <a:r>
              <a:rPr lang="en-US"/>
              <a:t>Evaluation function </a:t>
            </a:r>
            <a:r>
              <a:rPr i="1" lang="en-US"/>
              <a:t>f(n) = g(n) + h(n)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</a:pPr>
            <a:r>
              <a:rPr i="1" lang="en-US"/>
              <a:t>g(n) </a:t>
            </a:r>
            <a:r>
              <a:rPr lang="en-US"/>
              <a:t>= cost so far to reach </a:t>
            </a:r>
            <a:r>
              <a:rPr i="1" lang="en-US"/>
              <a:t>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</a:pPr>
            <a:r>
              <a:rPr i="1" lang="en-US"/>
              <a:t>h(n)</a:t>
            </a:r>
            <a:r>
              <a:rPr lang="en-US"/>
              <a:t> = estimated cost from </a:t>
            </a:r>
            <a:r>
              <a:rPr i="1" lang="en-US"/>
              <a:t>n</a:t>
            </a:r>
            <a:r>
              <a:rPr lang="en-US"/>
              <a:t> to goal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Char char="■"/>
            </a:pPr>
            <a:r>
              <a:rPr i="1" lang="en-US"/>
              <a:t>f(n) </a:t>
            </a:r>
            <a:r>
              <a:rPr lang="en-US"/>
              <a:t>= estimated total cost of path through </a:t>
            </a:r>
            <a:r>
              <a:rPr i="1" lang="en-US"/>
              <a:t>n</a:t>
            </a:r>
            <a:r>
              <a:rPr lang="en-US"/>
              <a:t> to goal</a:t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6" name="Shape 2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" name="Google Shape;2447;p85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</a:t>
            </a:r>
            <a:r>
              <a:rPr baseline="30000" lang="en-US"/>
              <a:t>*</a:t>
            </a:r>
            <a:r>
              <a:rPr lang="en-US"/>
              <a:t> search example</a:t>
            </a:r>
            <a:endParaRPr/>
          </a:p>
        </p:txBody>
      </p:sp>
      <p:pic>
        <p:nvPicPr>
          <p:cNvPr descr="astar-progress01c" id="2448" name="Google Shape;2448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5000" y="1524000"/>
            <a:ext cx="5410200" cy="221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2" name="Shape 2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tar-progress02c" id="2453" name="Google Shape;2453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5000" y="1524000"/>
            <a:ext cx="5410200" cy="2219325"/>
          </a:xfrm>
          <a:prstGeom prst="rect">
            <a:avLst/>
          </a:prstGeom>
          <a:noFill/>
          <a:ln>
            <a:noFill/>
          </a:ln>
        </p:spPr>
      </p:pic>
      <p:sp>
        <p:nvSpPr>
          <p:cNvPr id="2454" name="Google Shape;2454;p86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</a:t>
            </a:r>
            <a:r>
              <a:rPr baseline="30000" lang="en-US"/>
              <a:t>*</a:t>
            </a:r>
            <a:r>
              <a:rPr lang="en-US"/>
              <a:t> search example</a:t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8" name="Shape 2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9" name="Google Shape;2459;p87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</a:t>
            </a:r>
            <a:r>
              <a:rPr baseline="30000" lang="en-US"/>
              <a:t>*</a:t>
            </a:r>
            <a:r>
              <a:rPr lang="en-US"/>
              <a:t> search example</a:t>
            </a:r>
            <a:endParaRPr/>
          </a:p>
        </p:txBody>
      </p:sp>
      <p:pic>
        <p:nvPicPr>
          <p:cNvPr descr="astar-progress03c" id="2460" name="Google Shape;2460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5000" y="1524000"/>
            <a:ext cx="5410200" cy="221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4" name="Shape 2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5" name="Google Shape;2465;p88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</a:t>
            </a:r>
            <a:r>
              <a:rPr baseline="30000" lang="en-US"/>
              <a:t>*</a:t>
            </a:r>
            <a:r>
              <a:rPr lang="en-US"/>
              <a:t> search example</a:t>
            </a:r>
            <a:endParaRPr/>
          </a:p>
        </p:txBody>
      </p:sp>
      <p:pic>
        <p:nvPicPr>
          <p:cNvPr descr="astar-progress04c" id="2466" name="Google Shape;2466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5000" y="1524000"/>
            <a:ext cx="5410200" cy="221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0" name="Shape 2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1" name="Google Shape;2471;p89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</a:t>
            </a:r>
            <a:r>
              <a:rPr baseline="30000" lang="en-US"/>
              <a:t>*</a:t>
            </a:r>
            <a:r>
              <a:rPr lang="en-US"/>
              <a:t> search example</a:t>
            </a:r>
            <a:endParaRPr/>
          </a:p>
        </p:txBody>
      </p:sp>
      <p:pic>
        <p:nvPicPr>
          <p:cNvPr descr="astar-progress05c" id="2472" name="Google Shape;2472;p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5000" y="1524000"/>
            <a:ext cx="5410200" cy="221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6" name="Shape 2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7" name="Google Shape;2477;p90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</a:t>
            </a:r>
            <a:r>
              <a:rPr baseline="30000" lang="en-US"/>
              <a:t>*</a:t>
            </a:r>
            <a:r>
              <a:rPr lang="en-US"/>
              <a:t> search example</a:t>
            </a:r>
            <a:endParaRPr/>
          </a:p>
        </p:txBody>
      </p:sp>
      <p:pic>
        <p:nvPicPr>
          <p:cNvPr descr="astar-progress06c" id="2478" name="Google Shape;2478;p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5000" y="1524000"/>
            <a:ext cx="5410200" cy="221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2" name="Shape 2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3" name="Google Shape;2483;g36b99e6bcf5_0_0"/>
          <p:cNvSpPr txBox="1"/>
          <p:nvPr>
            <p:ph idx="1" type="body"/>
          </p:nvPr>
        </p:nvSpPr>
        <p:spPr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080"/>
              <a:buNone/>
            </a:pPr>
            <a:r>
              <a:rPr lang="en-US" sz="3600">
                <a:solidFill>
                  <a:srgbClr val="CC0099"/>
                </a:solidFill>
              </a:rPr>
              <a:t>But what is a </a:t>
            </a:r>
            <a:r>
              <a:rPr b="1" lang="en-US" sz="3600">
                <a:solidFill>
                  <a:srgbClr val="CC0099"/>
                </a:solidFill>
              </a:rPr>
              <a:t>good </a:t>
            </a:r>
            <a:r>
              <a:rPr lang="en-US" sz="3600">
                <a:solidFill>
                  <a:srgbClr val="CC0099"/>
                </a:solidFill>
              </a:rPr>
              <a:t>heuristic?</a:t>
            </a:r>
            <a:endParaRPr sz="360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7" name="Shape 2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" name="Google Shape;2488;g36b99e6bcf5_0_5"/>
          <p:cNvSpPr txBox="1"/>
          <p:nvPr>
            <p:ph type="title"/>
          </p:nvPr>
        </p:nvSpPr>
        <p:spPr>
          <a:xfrm>
            <a:off x="1150938" y="214313"/>
            <a:ext cx="7793100" cy="14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8-puzzle problem</a:t>
            </a:r>
            <a:endParaRPr/>
          </a:p>
        </p:txBody>
      </p:sp>
      <p:pic>
        <p:nvPicPr>
          <p:cNvPr id="2489" name="Google Shape;2489;g36b99e6bcf5_0_5"/>
          <p:cNvPicPr preferRelativeResize="0"/>
          <p:nvPr>
            <p:ph idx="4294967295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281" y="2930419"/>
            <a:ext cx="4521900" cy="227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3" name="Shape 2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4" name="Google Shape;2494;g36b99e6bcf5_0_11"/>
          <p:cNvSpPr txBox="1"/>
          <p:nvPr>
            <p:ph type="title"/>
          </p:nvPr>
        </p:nvSpPr>
        <p:spPr>
          <a:xfrm>
            <a:off x="1150938" y="214313"/>
            <a:ext cx="7793100" cy="14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Heuristic 1: Misplaced Tiles</a:t>
            </a:r>
            <a:endParaRPr/>
          </a:p>
        </p:txBody>
      </p:sp>
      <p:pic>
        <p:nvPicPr>
          <p:cNvPr id="2495" name="Google Shape;2495;g36b99e6bcf5_0_11"/>
          <p:cNvPicPr preferRelativeResize="0"/>
          <p:nvPr>
            <p:ph idx="4294967295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8051" y="2826949"/>
            <a:ext cx="3929100" cy="19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6" name="Google Shape;2496;g36b99e6bcf5_0_11"/>
          <p:cNvSpPr txBox="1"/>
          <p:nvPr/>
        </p:nvSpPr>
        <p:spPr>
          <a:xfrm>
            <a:off x="4647900" y="2434325"/>
            <a:ext cx="3929100" cy="38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h(n) = number of tiles that are out of position in state/node n</a:t>
            </a:r>
            <a:endParaRPr b="1" i="0" sz="1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For the start state h(n) = 8 as all tiles are out of position in comparison to the goal</a:t>
            </a:r>
            <a:endParaRPr b="0" i="0" sz="1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Following a best first search procedure, expanding the start state, we will get 4 newer states. </a:t>
            </a:r>
            <a:endParaRPr b="0" i="0" sz="1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Calculate value of h(n) for each state and expand the state with the least value of h(n) i.e. the best state   </a:t>
            </a:r>
            <a:endParaRPr b="0" i="0" sz="1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Continue same process until we reach goal state </a:t>
            </a:r>
            <a:endParaRPr b="0" i="0" sz="1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0" name="Shape 2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1" name="Google Shape;2501;g36b99e6bcf5_0_18"/>
          <p:cNvSpPr txBox="1"/>
          <p:nvPr>
            <p:ph type="title"/>
          </p:nvPr>
        </p:nvSpPr>
        <p:spPr>
          <a:xfrm>
            <a:off x="1150938" y="214313"/>
            <a:ext cx="7793100" cy="14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Heuristic 2: Manhattan Distance</a:t>
            </a:r>
            <a:endParaRPr/>
          </a:p>
        </p:txBody>
      </p:sp>
      <p:pic>
        <p:nvPicPr>
          <p:cNvPr id="2502" name="Google Shape;2502;g36b99e6bcf5_0_18"/>
          <p:cNvPicPr preferRelativeResize="0"/>
          <p:nvPr>
            <p:ph idx="4294967295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8051" y="2826949"/>
            <a:ext cx="3929100" cy="19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3" name="Google Shape;2503;g36b99e6bcf5_0_18"/>
          <p:cNvSpPr txBox="1"/>
          <p:nvPr/>
        </p:nvSpPr>
        <p:spPr>
          <a:xfrm>
            <a:off x="4572000" y="1989350"/>
            <a:ext cx="4092000" cy="44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h(n) = sum of the distances of the tiles from their current position to the goal positions for a state n</a:t>
            </a:r>
            <a:endParaRPr b="1" i="0" sz="1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For the start state h(n) = 3 + 1 + 2 + 2+ 2 + 3 + 3 + 2 = 18 [Remember that tiles can only move in right angles i.e. either vertically or horizontally]</a:t>
            </a:r>
            <a:endParaRPr b="0" i="0" sz="1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Following a best first search procedure, expanding the start state, we will get 4 newer states.</a:t>
            </a:r>
            <a:endParaRPr b="0" i="0" sz="1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Calculate value of h(n) for each state and expand the state with the least value of h(n) i.e. the best state    </a:t>
            </a:r>
            <a:endParaRPr b="0" i="0" sz="1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Continue same process until we reach goal state </a:t>
            </a:r>
            <a:endParaRPr b="0" i="0" sz="1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7" name="Shape 2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" name="Google Shape;2508;g36b99e6bcf5_0_25"/>
          <p:cNvSpPr txBox="1"/>
          <p:nvPr>
            <p:ph type="title"/>
          </p:nvPr>
        </p:nvSpPr>
        <p:spPr>
          <a:xfrm>
            <a:off x="1150938" y="214313"/>
            <a:ext cx="7793100" cy="14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Heuristic Dominance</a:t>
            </a:r>
            <a:endParaRPr/>
          </a:p>
        </p:txBody>
      </p:sp>
      <p:pic>
        <p:nvPicPr>
          <p:cNvPr id="2509" name="Google Shape;2509;g36b99e6bcf5_0_25"/>
          <p:cNvPicPr preferRelativeResize="0"/>
          <p:nvPr>
            <p:ph idx="4294967295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8051" y="2826949"/>
            <a:ext cx="3929100" cy="19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0" name="Google Shape;2510;g36b99e6bcf5_0_25"/>
          <p:cNvSpPr txBox="1"/>
          <p:nvPr/>
        </p:nvSpPr>
        <p:spPr>
          <a:xfrm>
            <a:off x="4572000" y="1989350"/>
            <a:ext cx="4092000" cy="44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Total Misplaced tiles, h1 = 8</a:t>
            </a:r>
            <a:endParaRPr b="1" i="0" sz="1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Total Manhattan distance, h2 = 18</a:t>
            </a:r>
            <a:endParaRPr b="1" i="0" sz="1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Now if both h1(n) and h2(n) are admissible and h2(n) ≥ h1(n) for all nodes n, then we say h2(n) dominates h1(n).</a:t>
            </a:r>
            <a:endParaRPr b="0" i="0" sz="1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h2(n) will be better for search and will search less nodes than h1(n)</a:t>
            </a:r>
            <a:endParaRPr b="0" i="0" sz="1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If there are several admissible heuristic, the one with highest value should be chosen</a:t>
            </a:r>
            <a:endParaRPr b="0" i="0" sz="1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estimated cost, h (n) should be made as large as possible without exceeding the actual cost, h*(n)  </a:t>
            </a:r>
            <a:endParaRPr b="0" i="0" sz="1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4" name="Shape 2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5" name="Google Shape;2515;g36b99e6bcf5_0_32"/>
          <p:cNvSpPr txBox="1"/>
          <p:nvPr>
            <p:ph idx="1" type="body"/>
          </p:nvPr>
        </p:nvSpPr>
        <p:spPr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080"/>
              <a:buNone/>
            </a:pPr>
            <a:r>
              <a:rPr lang="en-US" sz="3600">
                <a:solidFill>
                  <a:srgbClr val="CC0099"/>
                </a:solidFill>
              </a:rPr>
              <a:t>How to choose an </a:t>
            </a:r>
            <a:r>
              <a:rPr b="1" lang="en-US" sz="3600">
                <a:solidFill>
                  <a:srgbClr val="CC0099"/>
                </a:solidFill>
              </a:rPr>
              <a:t>admissible </a:t>
            </a:r>
            <a:r>
              <a:rPr lang="en-US" sz="3600">
                <a:solidFill>
                  <a:srgbClr val="CC0099"/>
                </a:solidFill>
              </a:rPr>
              <a:t>heuristic?</a:t>
            </a:r>
            <a:endParaRPr sz="360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9" name="Shape 2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0" name="Google Shape;2520;g36b99e6bcf5_0_40"/>
          <p:cNvSpPr txBox="1"/>
          <p:nvPr>
            <p:ph type="title"/>
          </p:nvPr>
        </p:nvSpPr>
        <p:spPr>
          <a:xfrm>
            <a:off x="1150938" y="214313"/>
            <a:ext cx="7793100" cy="14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3800"/>
              <a:t>Generate an Admissible Heuristic by </a:t>
            </a:r>
            <a:r>
              <a:rPr b="1" lang="en-US" sz="3800"/>
              <a:t>Constraint Relaxation</a:t>
            </a:r>
            <a:endParaRPr b="1" sz="3800"/>
          </a:p>
        </p:txBody>
      </p:sp>
      <p:sp>
        <p:nvSpPr>
          <p:cNvPr id="2521" name="Google Shape;2521;g36b99e6bcf5_0_40"/>
          <p:cNvSpPr txBox="1"/>
          <p:nvPr>
            <p:ph idx="1" type="body"/>
          </p:nvPr>
        </p:nvSpPr>
        <p:spPr>
          <a:xfrm>
            <a:off x="457200" y="2017726"/>
            <a:ext cx="8497800" cy="43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988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280"/>
              <a:buChar char="■"/>
            </a:pPr>
            <a:r>
              <a:rPr lang="en-US" sz="2400"/>
              <a:t>Identify the preconditions or constraints</a:t>
            </a:r>
            <a:endParaRPr sz="2400"/>
          </a:p>
          <a:p>
            <a:pPr indent="-30988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280"/>
              <a:buChar char="■"/>
            </a:pPr>
            <a:r>
              <a:rPr lang="en-US" sz="2400"/>
              <a:t>Create relaxed problems by dropping the preconditions or constraints </a:t>
            </a:r>
            <a:endParaRPr sz="2400"/>
          </a:p>
          <a:p>
            <a:pPr indent="-30988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280"/>
              <a:buChar char="■"/>
            </a:pPr>
            <a:r>
              <a:rPr lang="en-US" sz="2400"/>
              <a:t>Solve the relaxed problems without searching</a:t>
            </a:r>
            <a:endParaRPr sz="2400"/>
          </a:p>
          <a:p>
            <a:pPr indent="-30988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280"/>
              <a:buChar char="■"/>
            </a:pPr>
            <a:r>
              <a:rPr lang="en-US" sz="2400"/>
              <a:t>An optimal solution of a relaxed problem will be an admissible heuristic for the original problem.</a:t>
            </a:r>
            <a:endParaRPr sz="2400"/>
          </a:p>
          <a:p>
            <a:pPr indent="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08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080"/>
              <a:buNone/>
            </a:pPr>
            <a:r>
              <a:rPr b="1" lang="en-US" sz="2400"/>
              <a:t>Let us understand this with the help of the 8 puzzle problem</a:t>
            </a:r>
            <a:endParaRPr b="1" sz="240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5" name="Shape 2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6" name="Google Shape;2526;g36b99e6bcf5_0_48"/>
          <p:cNvSpPr txBox="1"/>
          <p:nvPr>
            <p:ph type="title"/>
          </p:nvPr>
        </p:nvSpPr>
        <p:spPr>
          <a:xfrm>
            <a:off x="1150938" y="214313"/>
            <a:ext cx="7793100" cy="14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3800"/>
              <a:t>Generate an Admissible Heuristic by </a:t>
            </a:r>
            <a:r>
              <a:rPr b="1" lang="en-US" sz="3800"/>
              <a:t>Constraint Relaxation</a:t>
            </a:r>
            <a:endParaRPr/>
          </a:p>
        </p:txBody>
      </p:sp>
      <p:pic>
        <p:nvPicPr>
          <p:cNvPr id="2527" name="Google Shape;2527;g36b99e6bcf5_0_48"/>
          <p:cNvPicPr preferRelativeResize="0"/>
          <p:nvPr>
            <p:ph idx="4294967295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1851" y="2826949"/>
            <a:ext cx="3929100" cy="19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8" name="Google Shape;2528;g36b99e6bcf5_0_48"/>
          <p:cNvSpPr txBox="1"/>
          <p:nvPr/>
        </p:nvSpPr>
        <p:spPr>
          <a:xfrm>
            <a:off x="4391100" y="1963175"/>
            <a:ext cx="4622100" cy="44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Let us Keep precondition/ constraint (I), (II) and drop (III) :</a:t>
            </a:r>
            <a:endParaRPr b="1" i="0" sz="2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newer relaxed version of the problem is thus created</a:t>
            </a:r>
            <a:endParaRPr b="0" i="0" sz="1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tile will be placed initially in a specific cell and any tile can move either vertically or horizontally </a:t>
            </a:r>
            <a:r>
              <a:rPr b="1" i="0" lang="en-US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without taking into account whether destination cell or any cell in between is empty</a:t>
            </a:r>
            <a:endParaRPr b="1" i="0" sz="1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An optimum solution can be found by calculating the shortest path between the initial position and the goal positions for each tile</a:t>
            </a:r>
            <a:endParaRPr b="0" i="0" sz="1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This solution is exactly the same as Manhattan Distance heuristic.</a:t>
            </a:r>
            <a:endParaRPr b="0" i="0" sz="1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 b="0" i="0" sz="1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2" name="Shape 2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3" name="Google Shape;2533;p95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Properties of A*</a:t>
            </a:r>
            <a:endParaRPr/>
          </a:p>
        </p:txBody>
      </p:sp>
      <p:sp>
        <p:nvSpPr>
          <p:cNvPr id="2534" name="Google Shape;2534;p95"/>
          <p:cNvSpPr txBox="1"/>
          <p:nvPr>
            <p:ph idx="1" type="body"/>
          </p:nvPr>
        </p:nvSpPr>
        <p:spPr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Char char="■"/>
            </a:pPr>
            <a:r>
              <a:rPr lang="en-US" u="sng">
                <a:solidFill>
                  <a:srgbClr val="CC0099"/>
                </a:solidFill>
              </a:rPr>
              <a:t>Complete?</a:t>
            </a:r>
            <a:r>
              <a:rPr lang="en-US"/>
              <a:t> Yes (unless there are infinitely many nodes with f </a:t>
            </a:r>
            <a:r>
              <a:rPr i="1" lang="en-US"/>
              <a:t>≤ f(G) </a:t>
            </a:r>
            <a:r>
              <a:rPr lang="en-US"/>
              <a:t>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Char char="■"/>
            </a:pPr>
            <a:r>
              <a:rPr lang="en-US" u="sng">
                <a:solidFill>
                  <a:srgbClr val="CC0099"/>
                </a:solidFill>
              </a:rPr>
              <a:t>Time?</a:t>
            </a:r>
            <a:r>
              <a:rPr lang="en-US"/>
              <a:t> Depends on the quality of heuristic but still exponential.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Char char="■"/>
            </a:pPr>
            <a:r>
              <a:rPr lang="en-US" u="sng">
                <a:solidFill>
                  <a:srgbClr val="CC0099"/>
                </a:solidFill>
              </a:rPr>
              <a:t>Space?</a:t>
            </a:r>
            <a:r>
              <a:rPr lang="en-US"/>
              <a:t> Keeps all nodes in memory. A* has worst case O(b</a:t>
            </a:r>
            <a:r>
              <a:rPr baseline="30000" lang="en-US"/>
              <a:t>d</a:t>
            </a:r>
            <a:r>
              <a:rPr lang="en-US"/>
              <a:t>) space complexity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Char char="■"/>
            </a:pPr>
            <a:r>
              <a:rPr lang="en-US" u="sng">
                <a:solidFill>
                  <a:srgbClr val="CC0099"/>
                </a:solidFill>
              </a:rPr>
              <a:t>Optimal?</a:t>
            </a:r>
            <a:r>
              <a:rPr lang="en-US"/>
              <a:t> Yes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usion">
  <a:themeElements>
    <a:clrScheme name="Fusion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2007-09-18T02:19:02Z</dcterms:created>
  <dc:creator>mbatouche</dc:creator>
</cp:coreProperties>
</file>