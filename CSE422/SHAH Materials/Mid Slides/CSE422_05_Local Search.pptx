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6858000" cx="9144000"/>
  <p:notesSz cx="6858000" cy="9144000"/>
  <p:embeddedFontLst>
    <p:embeddedFont>
      <p:font typeface="Arial Black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hYH6bqZcaaAFMef9nPJuUO8FAX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2351D6-D207-41B7-B11B-AC53A3B96864}">
  <a:tblStyle styleId="{352351D6-D207-41B7-B11B-AC53A3B9686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b9b43e8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6b9b43e887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1" name="Google Shape;4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8" name="Google Shape;4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90" name="Google Shape;5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6e3e92b767_0_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6e3e92b767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97" name="Google Shape;597;g36e3e92b76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6e3e92b767_0_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6e3e92b767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04" name="Google Shape;604;g36e3e92b7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e3e92b767_0_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6e3e92b767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11" name="Google Shape;611;g36e3e92b7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6e3e92b7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g36e3e92b767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6e3e92b76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g36e3e92b767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e3e92b767_0_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6e3e92b767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31" name="Google Shape;631;g36e3e92b76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4" name="Google Shape;64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6c0b675e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g36c0b675e68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subTitle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550"/>
              <a:buFont typeface="Noto Sans Symbols"/>
              <a:buNone/>
              <a:defRPr sz="34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0"/>
          <p:cNvSpPr txBox="1"/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" type="body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1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" type="body"/>
          </p:nvPr>
        </p:nvSpPr>
        <p:spPr>
          <a:xfrm rot="5400000">
            <a:off x="2628900" y="-1905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Char char="■"/>
              <a:defRPr sz="3200"/>
            </a:lvl1pPr>
            <a:lvl2pPr indent="-37084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240"/>
              <a:buChar char="◻"/>
              <a:defRPr sz="2800"/>
            </a:lvl2pPr>
            <a:lvl3pPr indent="-32766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◻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6" name="Google Shape;86;p3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3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3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5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1" name="Google Shape;11;p25"/>
            <p:cNvSpPr txBox="1"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5"/>
            <p:cNvSpPr txBox="1"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2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4" name="Google Shape;14;p25"/>
              <p:cNvSpPr txBox="1"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5"/>
              <p:cNvSpPr txBox="1"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5"/>
              <p:cNvSpPr txBox="1"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5"/>
              <p:cNvSpPr txBox="1"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5"/>
              <p:cNvSpPr txBox="1"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5"/>
              <p:cNvSpPr txBox="1"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5"/>
              <p:cNvSpPr txBox="1"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5"/>
              <p:cNvSpPr txBox="1"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5"/>
              <p:cNvSpPr txBox="1"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5"/>
              <p:cNvSpPr txBox="1"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" name="Google Shape;24;p2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27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9" name="Google Shape;39;p27"/>
            <p:cNvSpPr txBox="1"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7"/>
            <p:cNvSpPr txBox="1"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7"/>
            <p:cNvSpPr txBox="1"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7"/>
            <p:cNvSpPr txBox="1"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7"/>
            <p:cNvSpPr txBox="1"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7"/>
            <p:cNvSpPr txBox="1"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7"/>
            <p:cNvSpPr txBox="1"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7"/>
            <p:cNvSpPr txBox="1"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7"/>
            <p:cNvSpPr txBox="1"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2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lang="en-US"/>
              <a:t>Local </a:t>
            </a:r>
            <a:r>
              <a:rPr b="0" i="0" lang="en-US" sz="5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algorithms</a:t>
            </a:r>
            <a:br>
              <a:rPr b="0" i="0" lang="en-US" sz="5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search algorithms</a:t>
            </a:r>
            <a:endParaRPr/>
          </a:p>
        </p:txBody>
      </p:sp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322825" y="1981200"/>
            <a:ext cx="8550600" cy="4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many optimization problems, the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goal is </a:t>
            </a:r>
            <a:r>
              <a:rPr lang="en-US" sz="2800"/>
              <a:t>not relevant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finding the goal state is </a:t>
            </a:r>
            <a:r>
              <a:rPr lang="en-US" sz="2800"/>
              <a:t>sufficient</a:t>
            </a:r>
            <a:endParaRPr/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◻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space = set of "complete" configurations</a:t>
            </a:r>
            <a:endParaRPr sz="2400"/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◻"/>
            </a:pPr>
            <a:r>
              <a:rPr lang="en-US" sz="2400"/>
              <a:t>Example: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n-queens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such cases, we can use </a:t>
            </a:r>
            <a:r>
              <a:rPr b="0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local search algorithms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◻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a single "current" state, tries to improve it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all previous states can be discarded</a:t>
            </a:r>
            <a:endParaRPr sz="2400"/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since only information about the current state is kept, such methods are called local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b9b43e887_0_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search algorithms</a:t>
            </a:r>
            <a:endParaRPr/>
          </a:p>
        </p:txBody>
      </p:sp>
      <p:sp>
        <p:nvSpPr>
          <p:cNvPr id="137" name="Google Shape;137;g36b9b43e887_0_5"/>
          <p:cNvSpPr txBox="1"/>
          <p:nvPr>
            <p:ph idx="1" type="body"/>
          </p:nvPr>
        </p:nvSpPr>
        <p:spPr>
          <a:xfrm>
            <a:off x="322825" y="1981200"/>
            <a:ext cx="8550600" cy="4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Local search = use single current state and move to neighboring states.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Some examples:</a:t>
            </a:r>
            <a:endParaRPr sz="2800"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Hill climbing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Simulated annealing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Constraint satisfaction</a:t>
            </a:r>
            <a:endParaRPr sz="2400"/>
          </a:p>
          <a:p>
            <a:pPr indent="-406400" lvl="0" marL="4572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Advantages:</a:t>
            </a:r>
            <a:endParaRPr sz="2800"/>
          </a:p>
          <a:p>
            <a:pPr indent="-381000" lvl="1" marL="9144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Use very little memory</a:t>
            </a:r>
            <a:endParaRPr sz="2400"/>
          </a:p>
          <a:p>
            <a:pPr indent="-381000" lvl="1" marL="9144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Find often reasonable solutions in large or infinite state spaces.</a:t>
            </a:r>
            <a:endParaRPr sz="2400"/>
          </a:p>
          <a:p>
            <a:pPr indent="0" lvl="0" marL="4572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>
            <p:ph type="title"/>
          </p:nvPr>
        </p:nvSpPr>
        <p:spPr>
          <a:xfrm>
            <a:off x="414337" y="228600"/>
            <a:ext cx="81200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on a Surface of States</a:t>
            </a:r>
            <a:endParaRPr/>
          </a:p>
        </p:txBody>
      </p:sp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5867400" y="4495800"/>
            <a:ext cx="2971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 Defined by Evaluation Function</a:t>
            </a:r>
            <a:endParaRPr/>
          </a:p>
        </p:txBody>
      </p:sp>
      <p:pic>
        <p:nvPicPr>
          <p:cNvPr descr="img33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371600"/>
            <a:ext cx="6934200" cy="52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Search</a:t>
            </a:r>
            <a:endParaRPr/>
          </a:p>
        </p:txBody>
      </p:sp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685800" y="1295400"/>
            <a:ext cx="7772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/>
              <a:t>Search technique that continuously moves uphill (increasing value of an evaluation function h)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◻"/>
            </a:pPr>
            <a:r>
              <a:rPr lang="en-US" sz="2000"/>
              <a:t>Terminates when a peak is reached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there exists a </a:t>
            </a:r>
            <a:r>
              <a:rPr lang="en-US" sz="2000"/>
              <a:t>neighbor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000" u="none">
                <a:solidFill>
                  <a:schemeClr val="dk1"/>
                </a:solidFill>
              </a:rPr>
              <a:t>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current state </a:t>
            </a:r>
            <a:r>
              <a:rPr b="1" i="1" lang="en-US" sz="2000" u="none">
                <a:solidFill>
                  <a:schemeClr val="dk1"/>
                </a:solidFill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◻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&lt; h(n)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◻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≤ h(t) for all the </a:t>
            </a:r>
            <a:r>
              <a:rPr lang="en-US" sz="2000"/>
              <a:t>neighbor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t of n,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then move from n to s. Otherwise, halt at n.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Looks one step ahead to determine if any </a:t>
            </a:r>
            <a:r>
              <a:rPr lang="en-US" sz="2000"/>
              <a:t>neighbor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better than the current state; if there is, move to the best </a:t>
            </a:r>
            <a:r>
              <a:rPr lang="en-US" sz="2000"/>
              <a:t>neighbor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◻"/>
            </a:pPr>
            <a:r>
              <a:rPr lang="en-US" sz="2000"/>
              <a:t>Does not look “beyond the neighbors”</a:t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to Greedy search in that it uses h, but does not allow backtracking or jumping to an alternative path since it doesn’t “remember” where it has been.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Hill-climbing search</a:t>
            </a:r>
            <a:endParaRPr/>
          </a:p>
        </p:txBody>
      </p:sp>
      <p:sp>
        <p:nvSpPr>
          <p:cNvPr id="158" name="Google Shape;158;p6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"Like a blind man climbing mount Everest"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36459" l="17967" r="13277" t="27082"/>
          <a:stretch/>
        </p:blipFill>
        <p:spPr>
          <a:xfrm>
            <a:off x="762000" y="2819400"/>
            <a:ext cx="7620001" cy="3030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8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38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states?</a:t>
            </a:r>
            <a:r>
              <a:rPr b="0" i="0" lang="en-US" sz="2800" u="non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locations of tiles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actions?</a:t>
            </a:r>
            <a:r>
              <a:rPr b="0" i="0" lang="en-US" sz="2800" u="non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blank left, right, up, down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goal test?</a:t>
            </a:r>
            <a:r>
              <a:rPr b="0" i="0" lang="en-US" sz="2800" u="non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goal state (given)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path cost?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per move</a:t>
            </a:r>
            <a:endParaRPr/>
          </a:p>
          <a:p>
            <a:pPr indent="-20955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[Note: optimal solution of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-Puzzle family is NP-hard]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puzzle" id="165" name="Google Shape;1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524000"/>
            <a:ext cx="42576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8-puzzle (here we go again)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8-puzzle (here we go again)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533400" y="16764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2000"/>
              <a:t>Remember the heuristics?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number of misplaced tiles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total Manhattan distance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(i.e., no. of squares from desired location of each tile)</a:t>
            </a:r>
            <a:b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2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(S) = ?</a:t>
            </a:r>
            <a:r>
              <a:rPr b="0" i="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baseline="-25000" i="0" lang="en-US" sz="2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(S) = ?</a:t>
            </a:r>
            <a:r>
              <a:rPr b="0" i="0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3+1+2+2+2+3+3+2 = 18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descr="8puzzle"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3429000"/>
            <a:ext cx="42576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792162" y="177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Example </a:t>
            </a:r>
            <a:endParaRPr/>
          </a:p>
        </p:txBody>
      </p:sp>
      <p:grpSp>
        <p:nvGrpSpPr>
          <p:cNvPr id="180" name="Google Shape;180;p11"/>
          <p:cNvGrpSpPr/>
          <p:nvPr/>
        </p:nvGrpSpPr>
        <p:grpSpPr>
          <a:xfrm>
            <a:off x="1555750" y="1087437"/>
            <a:ext cx="1187450" cy="1285875"/>
            <a:chOff x="3519" y="1880"/>
            <a:chExt cx="748" cy="810"/>
          </a:xfrm>
        </p:grpSpPr>
        <p:grpSp>
          <p:nvGrpSpPr>
            <p:cNvPr id="181" name="Google Shape;181;p11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182" name="Google Shape;182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183" name="Google Shape;18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" name="Google Shape;18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5" name="Google Shape;185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186" name="Google Shape;18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8" name="Google Shape;188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189" name="Google Shape;18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0" name="Google Shape;19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91" name="Google Shape;191;p11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192" name="Google Shape;192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193" name="Google Shape;19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" name="Google Shape;19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5" name="Google Shape;195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196" name="Google Shape;19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8" name="Google Shape;198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199" name="Google Shape;19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01" name="Google Shape;201;p11"/>
            <p:cNvGrpSpPr/>
            <p:nvPr/>
          </p:nvGrpSpPr>
          <p:grpSpPr>
            <a:xfrm>
              <a:off x="3519" y="2402"/>
              <a:ext cx="738" cy="288"/>
              <a:chOff x="1282" y="2126"/>
              <a:chExt cx="738" cy="288"/>
            </a:xfrm>
          </p:grpSpPr>
          <p:grpSp>
            <p:nvGrpSpPr>
              <p:cNvPr id="202" name="Google Shape;202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03" name="Google Shape;20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" name="Google Shape;205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06" name="Google Shape;20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11"/>
                <p:cNvSpPr txBox="1"/>
                <p:nvPr/>
              </p:nvSpPr>
              <p:spPr>
                <a:xfrm>
                  <a:off x="1316" y="1865"/>
                  <a:ext cx="164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8" name="Google Shape;208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09" name="Google Shape;20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11" name="Google Shape;211;p11"/>
          <p:cNvGrpSpPr/>
          <p:nvPr/>
        </p:nvGrpSpPr>
        <p:grpSpPr>
          <a:xfrm>
            <a:off x="1509712" y="2971800"/>
            <a:ext cx="1187450" cy="1651000"/>
            <a:chOff x="3519" y="1880"/>
            <a:chExt cx="748" cy="1040"/>
          </a:xfrm>
        </p:grpSpPr>
        <p:grpSp>
          <p:nvGrpSpPr>
            <p:cNvPr id="212" name="Google Shape;212;p11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14" name="Google Shape;21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6" name="Google Shape;216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17" name="Google Shape;21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9" name="Google Shape;219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20" name="Google Shape;22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22" name="Google Shape;222;p11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223" name="Google Shape;223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24" name="Google Shape;22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6" name="Google Shape;226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27" name="Google Shape;22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9" name="Google Shape;229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30" name="Google Shape;23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2" name="Google Shape;232;p11"/>
            <p:cNvGrpSpPr/>
            <p:nvPr/>
          </p:nvGrpSpPr>
          <p:grpSpPr>
            <a:xfrm>
              <a:off x="3519" y="2402"/>
              <a:ext cx="738" cy="518"/>
              <a:chOff x="1282" y="2126"/>
              <a:chExt cx="738" cy="518"/>
            </a:xfrm>
          </p:grpSpPr>
          <p:grpSp>
            <p:nvGrpSpPr>
              <p:cNvPr id="233" name="Google Shape;233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34" name="Google Shape;23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6" name="Google Shape;236;p11"/>
              <p:cNvGrpSpPr/>
              <p:nvPr/>
            </p:nvGrpSpPr>
            <p:grpSpPr>
              <a:xfrm>
                <a:off x="1528" y="2126"/>
                <a:ext cx="246" cy="518"/>
                <a:chOff x="1287" y="1865"/>
                <a:chExt cx="246" cy="518"/>
              </a:xfrm>
            </p:grpSpPr>
            <p:sp>
              <p:nvSpPr>
                <p:cNvPr id="237" name="Google Shape;23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1"/>
                <p:cNvSpPr txBox="1"/>
                <p:nvPr/>
              </p:nvSpPr>
              <p:spPr>
                <a:xfrm>
                  <a:off x="1316" y="1865"/>
                  <a:ext cx="212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9" name="Google Shape;239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40" name="Google Shape;24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42" name="Google Shape;242;p11"/>
          <p:cNvGrpSpPr/>
          <p:nvPr/>
        </p:nvGrpSpPr>
        <p:grpSpPr>
          <a:xfrm>
            <a:off x="1485900" y="4884737"/>
            <a:ext cx="1187450" cy="1285875"/>
            <a:chOff x="3519" y="1880"/>
            <a:chExt cx="748" cy="810"/>
          </a:xfrm>
        </p:grpSpPr>
        <p:grpSp>
          <p:nvGrpSpPr>
            <p:cNvPr id="243" name="Google Shape;243;p11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244" name="Google Shape;244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45" name="Google Shape;24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7" name="Google Shape;247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48" name="Google Shape;24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" name="Google Shape;250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51" name="Google Shape;25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3" name="Google Shape;253;p11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254" name="Google Shape;254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55" name="Google Shape;25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" name="Google Shape;257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58" name="Google Shape;25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0" name="Google Shape;260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61" name="Google Shape;26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3" name="Google Shape;263;p11"/>
            <p:cNvGrpSpPr/>
            <p:nvPr/>
          </p:nvGrpSpPr>
          <p:grpSpPr>
            <a:xfrm>
              <a:off x="3519" y="2402"/>
              <a:ext cx="738" cy="288"/>
              <a:chOff x="1282" y="2126"/>
              <a:chExt cx="738" cy="288"/>
            </a:xfrm>
          </p:grpSpPr>
          <p:grpSp>
            <p:nvGrpSpPr>
              <p:cNvPr id="264" name="Google Shape;264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65" name="Google Shape;26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7" name="Google Shape;267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68" name="Google Shape;26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" name="Google Shape;270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71" name="Google Shape;27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73" name="Google Shape;273;p11"/>
          <p:cNvGrpSpPr/>
          <p:nvPr/>
        </p:nvGrpSpPr>
        <p:grpSpPr>
          <a:xfrm>
            <a:off x="6297612" y="2995612"/>
            <a:ext cx="1187450" cy="1309687"/>
            <a:chOff x="3797" y="3132"/>
            <a:chExt cx="748" cy="825"/>
          </a:xfrm>
        </p:grpSpPr>
        <p:grpSp>
          <p:nvGrpSpPr>
            <p:cNvPr id="274" name="Google Shape;274;p11"/>
            <p:cNvGrpSpPr/>
            <p:nvPr/>
          </p:nvGrpSpPr>
          <p:grpSpPr>
            <a:xfrm>
              <a:off x="3807" y="3147"/>
              <a:ext cx="738" cy="288"/>
              <a:chOff x="1282" y="2126"/>
              <a:chExt cx="738" cy="288"/>
            </a:xfrm>
          </p:grpSpPr>
          <p:grpSp>
            <p:nvGrpSpPr>
              <p:cNvPr id="275" name="Google Shape;275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76" name="Google Shape;27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8" name="Google Shape;278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79" name="Google Shape;27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" name="Google Shape;281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82" name="Google Shape;28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4" name="Google Shape;284;p11"/>
            <p:cNvGrpSpPr/>
            <p:nvPr/>
          </p:nvGrpSpPr>
          <p:grpSpPr>
            <a:xfrm>
              <a:off x="3802" y="3408"/>
              <a:ext cx="246" cy="288"/>
              <a:chOff x="1287" y="1865"/>
              <a:chExt cx="246" cy="288"/>
            </a:xfrm>
          </p:grpSpPr>
          <p:sp>
            <p:nvSpPr>
              <p:cNvPr id="285" name="Google Shape;285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1"/>
              <p:cNvSpPr txBox="1"/>
              <p:nvPr/>
            </p:nvSpPr>
            <p:spPr>
              <a:xfrm>
                <a:off x="1316" y="1865"/>
                <a:ext cx="1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" name="Google Shape;287;p11"/>
            <p:cNvGrpSpPr/>
            <p:nvPr/>
          </p:nvGrpSpPr>
          <p:grpSpPr>
            <a:xfrm>
              <a:off x="4048" y="3408"/>
              <a:ext cx="246" cy="288"/>
              <a:chOff x="1287" y="1865"/>
              <a:chExt cx="246" cy="288"/>
            </a:xfrm>
          </p:grpSpPr>
          <p:sp>
            <p:nvSpPr>
              <p:cNvPr id="288" name="Google Shape;288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11"/>
            <p:cNvGrpSpPr/>
            <p:nvPr/>
          </p:nvGrpSpPr>
          <p:grpSpPr>
            <a:xfrm>
              <a:off x="4294" y="3408"/>
              <a:ext cx="246" cy="288"/>
              <a:chOff x="1287" y="1865"/>
              <a:chExt cx="246" cy="288"/>
            </a:xfrm>
          </p:grpSpPr>
          <p:sp>
            <p:nvSpPr>
              <p:cNvPr id="291" name="Google Shape;291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3" name="Google Shape;293;p11"/>
            <p:cNvGrpSpPr/>
            <p:nvPr/>
          </p:nvGrpSpPr>
          <p:grpSpPr>
            <a:xfrm>
              <a:off x="3797" y="3669"/>
              <a:ext cx="738" cy="288"/>
              <a:chOff x="1282" y="2126"/>
              <a:chExt cx="738" cy="288"/>
            </a:xfrm>
          </p:grpSpPr>
          <p:grpSp>
            <p:nvGrpSpPr>
              <p:cNvPr id="294" name="Google Shape;294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95" name="Google Shape;29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Google Shape;29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" name="Google Shape;297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98" name="Google Shape;29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0" name="Google Shape;300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01" name="Google Shape;30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Google Shape;302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03" name="Google Shape;303;p11"/>
            <p:cNvSpPr txBox="1"/>
            <p:nvPr/>
          </p:nvSpPr>
          <p:spPr>
            <a:xfrm>
              <a:off x="4072" y="3132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11"/>
          <p:cNvGrpSpPr/>
          <p:nvPr/>
        </p:nvGrpSpPr>
        <p:grpSpPr>
          <a:xfrm>
            <a:off x="6321425" y="4860925"/>
            <a:ext cx="1187450" cy="1309687"/>
            <a:chOff x="3797" y="3132"/>
            <a:chExt cx="748" cy="825"/>
          </a:xfrm>
        </p:grpSpPr>
        <p:grpSp>
          <p:nvGrpSpPr>
            <p:cNvPr id="305" name="Google Shape;305;p11"/>
            <p:cNvGrpSpPr/>
            <p:nvPr/>
          </p:nvGrpSpPr>
          <p:grpSpPr>
            <a:xfrm>
              <a:off x="3807" y="3147"/>
              <a:ext cx="738" cy="288"/>
              <a:chOff x="1282" y="2126"/>
              <a:chExt cx="738" cy="288"/>
            </a:xfrm>
          </p:grpSpPr>
          <p:grpSp>
            <p:nvGrpSpPr>
              <p:cNvPr id="306" name="Google Shape;306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07" name="Google Shape;30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Google Shape;308;p11"/>
                <p:cNvSpPr txBox="1"/>
                <p:nvPr/>
              </p:nvSpPr>
              <p:spPr>
                <a:xfrm>
                  <a:off x="1316" y="1865"/>
                  <a:ext cx="164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9" name="Google Shape;309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10" name="Google Shape;31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" name="Google Shape;312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13" name="Google Shape;31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5" name="Google Shape;315;p11"/>
            <p:cNvGrpSpPr/>
            <p:nvPr/>
          </p:nvGrpSpPr>
          <p:grpSpPr>
            <a:xfrm>
              <a:off x="3802" y="3408"/>
              <a:ext cx="246" cy="288"/>
              <a:chOff x="1287" y="1865"/>
              <a:chExt cx="246" cy="288"/>
            </a:xfrm>
          </p:grpSpPr>
          <p:sp>
            <p:nvSpPr>
              <p:cNvPr id="316" name="Google Shape;316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11"/>
            <p:cNvGrpSpPr/>
            <p:nvPr/>
          </p:nvGrpSpPr>
          <p:grpSpPr>
            <a:xfrm>
              <a:off x="4048" y="3408"/>
              <a:ext cx="246" cy="288"/>
              <a:chOff x="1287" y="1865"/>
              <a:chExt cx="246" cy="288"/>
            </a:xfrm>
          </p:grpSpPr>
          <p:sp>
            <p:nvSpPr>
              <p:cNvPr id="319" name="Google Shape;319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1"/>
            <p:cNvGrpSpPr/>
            <p:nvPr/>
          </p:nvGrpSpPr>
          <p:grpSpPr>
            <a:xfrm>
              <a:off x="4294" y="3408"/>
              <a:ext cx="246" cy="288"/>
              <a:chOff x="1287" y="1865"/>
              <a:chExt cx="246" cy="288"/>
            </a:xfrm>
          </p:grpSpPr>
          <p:sp>
            <p:nvSpPr>
              <p:cNvPr id="322" name="Google Shape;322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1"/>
            <p:cNvGrpSpPr/>
            <p:nvPr/>
          </p:nvGrpSpPr>
          <p:grpSpPr>
            <a:xfrm>
              <a:off x="3797" y="3669"/>
              <a:ext cx="738" cy="288"/>
              <a:chOff x="1282" y="2126"/>
              <a:chExt cx="738" cy="288"/>
            </a:xfrm>
          </p:grpSpPr>
          <p:grpSp>
            <p:nvGrpSpPr>
              <p:cNvPr id="325" name="Google Shape;325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26" name="Google Shape;32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" name="Google Shape;327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" name="Google Shape;328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29" name="Google Shape;32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1" name="Google Shape;331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32" name="Google Shape;33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34" name="Google Shape;334;p11"/>
            <p:cNvSpPr txBox="1"/>
            <p:nvPr/>
          </p:nvSpPr>
          <p:spPr>
            <a:xfrm>
              <a:off x="4072" y="3132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11"/>
          <p:cNvGrpSpPr/>
          <p:nvPr/>
        </p:nvGrpSpPr>
        <p:grpSpPr>
          <a:xfrm>
            <a:off x="6230937" y="1106487"/>
            <a:ext cx="1187450" cy="1309687"/>
            <a:chOff x="3797" y="3132"/>
            <a:chExt cx="748" cy="825"/>
          </a:xfrm>
        </p:grpSpPr>
        <p:grpSp>
          <p:nvGrpSpPr>
            <p:cNvPr id="336" name="Google Shape;336;p11"/>
            <p:cNvGrpSpPr/>
            <p:nvPr/>
          </p:nvGrpSpPr>
          <p:grpSpPr>
            <a:xfrm>
              <a:off x="3807" y="3147"/>
              <a:ext cx="738" cy="288"/>
              <a:chOff x="1282" y="2126"/>
              <a:chExt cx="738" cy="288"/>
            </a:xfrm>
          </p:grpSpPr>
          <p:grpSp>
            <p:nvGrpSpPr>
              <p:cNvPr id="337" name="Google Shape;337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38" name="Google Shape;33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0" name="Google Shape;340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41" name="Google Shape;34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3" name="Google Shape;343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44" name="Google Shape;34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6" name="Google Shape;346;p11"/>
            <p:cNvGrpSpPr/>
            <p:nvPr/>
          </p:nvGrpSpPr>
          <p:grpSpPr>
            <a:xfrm>
              <a:off x="3802" y="3408"/>
              <a:ext cx="289" cy="288"/>
              <a:chOff x="1287" y="1865"/>
              <a:chExt cx="289" cy="288"/>
            </a:xfrm>
          </p:grpSpPr>
          <p:sp>
            <p:nvSpPr>
              <p:cNvPr id="347" name="Google Shape;347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1"/>
              <p:cNvSpPr txBox="1"/>
              <p:nvPr/>
            </p:nvSpPr>
            <p:spPr>
              <a:xfrm>
                <a:off x="1316" y="1865"/>
                <a:ext cx="26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p11"/>
            <p:cNvGrpSpPr/>
            <p:nvPr/>
          </p:nvGrpSpPr>
          <p:grpSpPr>
            <a:xfrm>
              <a:off x="4048" y="3408"/>
              <a:ext cx="246" cy="288"/>
              <a:chOff x="1287" y="1865"/>
              <a:chExt cx="246" cy="288"/>
            </a:xfrm>
          </p:grpSpPr>
          <p:sp>
            <p:nvSpPr>
              <p:cNvPr id="350" name="Google Shape;350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1"/>
              <p:cNvSpPr txBox="1"/>
              <p:nvPr/>
            </p:nvSpPr>
            <p:spPr>
              <a:xfrm>
                <a:off x="1316" y="1865"/>
                <a:ext cx="1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" name="Google Shape;352;p11"/>
            <p:cNvGrpSpPr/>
            <p:nvPr/>
          </p:nvGrpSpPr>
          <p:grpSpPr>
            <a:xfrm>
              <a:off x="4294" y="3408"/>
              <a:ext cx="246" cy="288"/>
              <a:chOff x="1287" y="1865"/>
              <a:chExt cx="246" cy="288"/>
            </a:xfrm>
          </p:grpSpPr>
          <p:sp>
            <p:nvSpPr>
              <p:cNvPr id="353" name="Google Shape;353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" name="Google Shape;355;p11"/>
            <p:cNvGrpSpPr/>
            <p:nvPr/>
          </p:nvGrpSpPr>
          <p:grpSpPr>
            <a:xfrm>
              <a:off x="3797" y="3669"/>
              <a:ext cx="738" cy="288"/>
              <a:chOff x="1282" y="2126"/>
              <a:chExt cx="738" cy="288"/>
            </a:xfrm>
          </p:grpSpPr>
          <p:grpSp>
            <p:nvGrpSpPr>
              <p:cNvPr id="356" name="Google Shape;356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57" name="Google Shape;35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9" name="Google Shape;359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60" name="Google Shape;36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2" name="Google Shape;362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63" name="Google Shape;36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65" name="Google Shape;365;p11"/>
            <p:cNvSpPr txBox="1"/>
            <p:nvPr/>
          </p:nvSpPr>
          <p:spPr>
            <a:xfrm>
              <a:off x="4072" y="3132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1"/>
          <p:cNvSpPr txBox="1"/>
          <p:nvPr/>
        </p:nvSpPr>
        <p:spPr>
          <a:xfrm>
            <a:off x="522287" y="1501775"/>
            <a:ext cx="708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5399087" y="1568450"/>
            <a:ext cx="708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1"/>
          <p:cNvGrpSpPr/>
          <p:nvPr/>
        </p:nvGrpSpPr>
        <p:grpSpPr>
          <a:xfrm>
            <a:off x="1230312" y="2373312"/>
            <a:ext cx="1882775" cy="598487"/>
            <a:chOff x="686" y="1661"/>
            <a:chExt cx="1186" cy="377"/>
          </a:xfrm>
        </p:grpSpPr>
        <p:cxnSp>
          <p:nvCxnSpPr>
            <p:cNvPr id="369" name="Google Shape;369;p11"/>
            <p:cNvCxnSpPr/>
            <p:nvPr/>
          </p:nvCxnSpPr>
          <p:spPr>
            <a:xfrm>
              <a:off x="1258" y="1661"/>
              <a:ext cx="0" cy="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0" name="Google Shape;370;p11"/>
            <p:cNvCxnSpPr/>
            <p:nvPr/>
          </p:nvCxnSpPr>
          <p:spPr>
            <a:xfrm>
              <a:off x="1288" y="1661"/>
              <a:ext cx="584" cy="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11"/>
            <p:cNvCxnSpPr/>
            <p:nvPr/>
          </p:nvCxnSpPr>
          <p:spPr>
            <a:xfrm flipH="1">
              <a:off x="686" y="1661"/>
              <a:ext cx="572" cy="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72" name="Google Shape;372;p11"/>
          <p:cNvGrpSpPr/>
          <p:nvPr/>
        </p:nvGrpSpPr>
        <p:grpSpPr>
          <a:xfrm>
            <a:off x="1131887" y="4257675"/>
            <a:ext cx="1882775" cy="598487"/>
            <a:chOff x="686" y="1661"/>
            <a:chExt cx="1186" cy="377"/>
          </a:xfrm>
        </p:grpSpPr>
        <p:cxnSp>
          <p:nvCxnSpPr>
            <p:cNvPr id="373" name="Google Shape;373;p11"/>
            <p:cNvCxnSpPr/>
            <p:nvPr/>
          </p:nvCxnSpPr>
          <p:spPr>
            <a:xfrm>
              <a:off x="1258" y="1661"/>
              <a:ext cx="0" cy="37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4" name="Google Shape;374;p11"/>
            <p:cNvCxnSpPr/>
            <p:nvPr/>
          </p:nvCxnSpPr>
          <p:spPr>
            <a:xfrm>
              <a:off x="1288" y="1661"/>
              <a:ext cx="584" cy="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5" name="Google Shape;375;p11"/>
            <p:cNvCxnSpPr/>
            <p:nvPr/>
          </p:nvCxnSpPr>
          <p:spPr>
            <a:xfrm flipH="1">
              <a:off x="686" y="1661"/>
              <a:ext cx="572" cy="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76" name="Google Shape;376;p11"/>
          <p:cNvSpPr txBox="1"/>
          <p:nvPr/>
        </p:nvSpPr>
        <p:spPr>
          <a:xfrm>
            <a:off x="792162" y="2586037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2743200" y="3367087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595312" y="590867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7508875" y="528002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7508875" y="343376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7508875" y="1544637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2895600" y="161131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3014662" y="2586037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3371850" y="5908675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3014662" y="4473575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693737" y="4473575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5265737" y="2514600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11"/>
          <p:cNvCxnSpPr/>
          <p:nvPr/>
        </p:nvCxnSpPr>
        <p:spPr>
          <a:xfrm rot="10800000">
            <a:off x="6910387" y="4305300"/>
            <a:ext cx="0" cy="5794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9" name="Google Shape;389;p11"/>
          <p:cNvCxnSpPr/>
          <p:nvPr/>
        </p:nvCxnSpPr>
        <p:spPr>
          <a:xfrm>
            <a:off x="2719387" y="5527675"/>
            <a:ext cx="35115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0" name="Google Shape;390;p11"/>
          <p:cNvCxnSpPr/>
          <p:nvPr/>
        </p:nvCxnSpPr>
        <p:spPr>
          <a:xfrm>
            <a:off x="2719387" y="5527675"/>
            <a:ext cx="733425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1" name="Google Shape;391;p11"/>
          <p:cNvCxnSpPr/>
          <p:nvPr/>
        </p:nvCxnSpPr>
        <p:spPr>
          <a:xfrm rot="10800000">
            <a:off x="6786562" y="2416175"/>
            <a:ext cx="0" cy="5794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2" name="Google Shape;392;p11"/>
          <p:cNvCxnSpPr/>
          <p:nvPr/>
        </p:nvCxnSpPr>
        <p:spPr>
          <a:xfrm rot="10800000">
            <a:off x="5703887" y="2784475"/>
            <a:ext cx="1054100" cy="2111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3" name="Google Shape;393;p11"/>
          <p:cNvSpPr txBox="1"/>
          <p:nvPr/>
        </p:nvSpPr>
        <p:spPr>
          <a:xfrm>
            <a:off x="2320925" y="6365875"/>
            <a:ext cx="4911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f(n) = -(number of tiles out of place)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ated image" id="398" name="Google Shape;3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562" y="1530350"/>
            <a:ext cx="7924800" cy="52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2"/>
          <p:cNvSpPr txBox="1"/>
          <p:nvPr/>
        </p:nvSpPr>
        <p:spPr>
          <a:xfrm>
            <a:off x="228600" y="1128712"/>
            <a:ext cx="4648200" cy="132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with minimization goal: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the objective function is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Where,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)=(manhattan distance)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 txBox="1"/>
          <p:nvPr>
            <p:ph type="title"/>
          </p:nvPr>
        </p:nvSpPr>
        <p:spPr>
          <a:xfrm>
            <a:off x="1189037" y="1857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Example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"/>
          <p:cNvSpPr txBox="1"/>
          <p:nvPr>
            <p:ph type="title"/>
          </p:nvPr>
        </p:nvSpPr>
        <p:spPr>
          <a:xfrm>
            <a:off x="457200" y="45720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Hill-climbing search</a:t>
            </a:r>
            <a:endParaRPr/>
          </a:p>
        </p:txBody>
      </p:sp>
      <p:sp>
        <p:nvSpPr>
          <p:cNvPr id="406" name="Google Shape;406;p13"/>
          <p:cNvSpPr txBox="1"/>
          <p:nvPr>
            <p:ph idx="1" type="body"/>
          </p:nvPr>
        </p:nvSpPr>
        <p:spPr>
          <a:xfrm>
            <a:off x="457200" y="16764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 depending on initial state, can get stuck in local maxima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ill-climbing" id="407" name="Google Shape;4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81300"/>
            <a:ext cx="6705600" cy="376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14"/>
          <p:cNvGrpSpPr/>
          <p:nvPr/>
        </p:nvGrpSpPr>
        <p:grpSpPr>
          <a:xfrm>
            <a:off x="3914775" y="1025525"/>
            <a:ext cx="5248275" cy="4752975"/>
            <a:chOff x="2466" y="611"/>
            <a:chExt cx="3306" cy="2994"/>
          </a:xfrm>
        </p:grpSpPr>
        <p:grpSp>
          <p:nvGrpSpPr>
            <p:cNvPr id="414" name="Google Shape;414;p14"/>
            <p:cNvGrpSpPr/>
            <p:nvPr/>
          </p:nvGrpSpPr>
          <p:grpSpPr>
            <a:xfrm>
              <a:off x="2466" y="611"/>
              <a:ext cx="3294" cy="2994"/>
              <a:chOff x="2466" y="611"/>
              <a:chExt cx="3294" cy="2994"/>
            </a:xfrm>
          </p:grpSpPr>
          <p:pic>
            <p:nvPicPr>
              <p:cNvPr id="415" name="Google Shape;415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66" y="611"/>
                <a:ext cx="3294" cy="29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6" name="Google Shape;416;p14"/>
              <p:cNvSpPr txBox="1"/>
              <p:nvPr/>
            </p:nvSpPr>
            <p:spPr>
              <a:xfrm>
                <a:off x="2996" y="3117"/>
                <a:ext cx="245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Image from: http://classes.yale.edu/fractals/CA/GA/Fitness/Fitness.html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" name="Google Shape;417;p14"/>
            <p:cNvSpPr txBox="1"/>
            <p:nvPr/>
          </p:nvSpPr>
          <p:spPr>
            <a:xfrm>
              <a:off x="4459" y="630"/>
              <a:ext cx="1313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local maximum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8" name="Google Shape;418;p14"/>
            <p:cNvCxnSpPr/>
            <p:nvPr/>
          </p:nvCxnSpPr>
          <p:spPr>
            <a:xfrm flipH="1">
              <a:off x="4849" y="942"/>
              <a:ext cx="195" cy="521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19" name="Google Shape;419;p14"/>
            <p:cNvSpPr txBox="1"/>
            <p:nvPr/>
          </p:nvSpPr>
          <p:spPr>
            <a:xfrm>
              <a:off x="3163" y="2684"/>
              <a:ext cx="50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ridge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4"/>
            <p:cNvSpPr txBox="1"/>
            <p:nvPr/>
          </p:nvSpPr>
          <p:spPr>
            <a:xfrm>
              <a:off x="2832" y="1114"/>
              <a:ext cx="67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plateau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1" name="Google Shape;421;p14"/>
            <p:cNvCxnSpPr/>
            <p:nvPr/>
          </p:nvCxnSpPr>
          <p:spPr>
            <a:xfrm flipH="1" rot="10800000">
              <a:off x="3586" y="2374"/>
              <a:ext cx="260" cy="366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22" name="Google Shape;422;p14"/>
            <p:cNvCxnSpPr/>
            <p:nvPr/>
          </p:nvCxnSpPr>
          <p:spPr>
            <a:xfrm>
              <a:off x="3287" y="1463"/>
              <a:ext cx="846" cy="52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423" name="Google Shape;423;p14"/>
          <p:cNvSpPr txBox="1"/>
          <p:nvPr>
            <p:ph type="title"/>
          </p:nvPr>
        </p:nvSpPr>
        <p:spPr>
          <a:xfrm>
            <a:off x="685800" y="149225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Exploring the Landscape</a:t>
            </a:r>
            <a:endParaRPr/>
          </a:p>
        </p:txBody>
      </p:sp>
      <p:sp>
        <p:nvSpPr>
          <p:cNvPr id="424" name="Google Shape;424;p14"/>
          <p:cNvSpPr txBox="1"/>
          <p:nvPr>
            <p:ph idx="1" type="body"/>
          </p:nvPr>
        </p:nvSpPr>
        <p:spPr>
          <a:xfrm>
            <a:off x="563562" y="1295400"/>
            <a:ext cx="3810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Font typeface="Noto Sans Symbols"/>
              <a:buChar char="■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Maxima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peaks that aren’t the highest point in the space</a:t>
            </a:r>
            <a:endParaRPr/>
          </a:p>
          <a:p>
            <a:pPr indent="-304800" lvl="0" marL="34290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2"/>
              </a:buClr>
              <a:buSzPts val="1650"/>
              <a:buFont typeface="Noto Sans Symbols"/>
              <a:buChar char="■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Plateaus: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space has a broad flat region that gives the search algorithm no direction (random walk)</a:t>
            </a:r>
            <a:endParaRPr/>
          </a:p>
          <a:p>
            <a:pPr indent="-304800" lvl="0" marL="34290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2"/>
              </a:buClr>
              <a:buSzPts val="1650"/>
              <a:buFont typeface="Noto Sans Symbols"/>
              <a:buChar char="■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Ridges: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flat like a plateau, but with drop-offs to the sides; steps to the North, East, South and West may go down, but a step to the NW may go up.</a:t>
            </a:r>
            <a:endParaRPr/>
          </a:p>
          <a:p>
            <a:pPr indent="-238125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65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a Local Optimum</a:t>
            </a:r>
            <a:endParaRPr/>
          </a:p>
        </p:txBody>
      </p:sp>
      <p:grpSp>
        <p:nvGrpSpPr>
          <p:cNvPr id="431" name="Google Shape;431;p15"/>
          <p:cNvGrpSpPr/>
          <p:nvPr/>
        </p:nvGrpSpPr>
        <p:grpSpPr>
          <a:xfrm>
            <a:off x="747712" y="3616325"/>
            <a:ext cx="1187450" cy="1285875"/>
            <a:chOff x="3519" y="1880"/>
            <a:chExt cx="748" cy="810"/>
          </a:xfrm>
        </p:grpSpPr>
        <p:grpSp>
          <p:nvGrpSpPr>
            <p:cNvPr id="432" name="Google Shape;432;p15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433" name="Google Shape;433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34" name="Google Shape;43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5" name="Google Shape;43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6" name="Google Shape;436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437" name="Google Shape;43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8" name="Google Shape;438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40" name="Google Shape;44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42" name="Google Shape;442;p15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443" name="Google Shape;443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44" name="Google Shape;44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6" name="Google Shape;446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447" name="Google Shape;44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9" name="Google Shape;449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50" name="Google Shape;45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52" name="Google Shape;452;p15"/>
            <p:cNvGrpSpPr/>
            <p:nvPr/>
          </p:nvGrpSpPr>
          <p:grpSpPr>
            <a:xfrm>
              <a:off x="3519" y="2402"/>
              <a:ext cx="738" cy="288"/>
              <a:chOff x="1282" y="2126"/>
              <a:chExt cx="738" cy="288"/>
            </a:xfrm>
          </p:grpSpPr>
          <p:grpSp>
            <p:nvGrpSpPr>
              <p:cNvPr id="453" name="Google Shape;453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54" name="Google Shape;45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15"/>
                <p:cNvSpPr txBox="1"/>
                <p:nvPr/>
              </p:nvSpPr>
              <p:spPr>
                <a:xfrm>
                  <a:off x="1316" y="1865"/>
                  <a:ext cx="164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" name="Google Shape;456;p15"/>
              <p:cNvGrpSpPr/>
              <p:nvPr/>
            </p:nvGrpSpPr>
            <p:grpSpPr>
              <a:xfrm>
                <a:off x="1528" y="2126"/>
                <a:ext cx="289" cy="288"/>
                <a:chOff x="1287" y="1865"/>
                <a:chExt cx="289" cy="288"/>
              </a:xfrm>
            </p:grpSpPr>
            <p:sp>
              <p:nvSpPr>
                <p:cNvPr id="457" name="Google Shape;45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15"/>
                <p:cNvSpPr txBox="1"/>
                <p:nvPr/>
              </p:nvSpPr>
              <p:spPr>
                <a:xfrm>
                  <a:off x="1316" y="1865"/>
                  <a:ext cx="260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9" name="Google Shape;459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60" name="Google Shape;46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62" name="Google Shape;462;p15"/>
          <p:cNvGrpSpPr/>
          <p:nvPr/>
        </p:nvGrpSpPr>
        <p:grpSpPr>
          <a:xfrm>
            <a:off x="6900862" y="4056062"/>
            <a:ext cx="390525" cy="457200"/>
            <a:chOff x="1287" y="1865"/>
            <a:chExt cx="246" cy="288"/>
          </a:xfrm>
        </p:grpSpPr>
        <p:sp>
          <p:nvSpPr>
            <p:cNvPr id="463" name="Google Shape;463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 txBox="1"/>
            <p:nvPr/>
          </p:nvSpPr>
          <p:spPr>
            <a:xfrm>
              <a:off x="1316" y="1865"/>
              <a:ext cx="16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5" name="Google Shape;465;p15"/>
          <p:cNvGrpSpPr/>
          <p:nvPr/>
        </p:nvGrpSpPr>
        <p:grpSpPr>
          <a:xfrm>
            <a:off x="7304087" y="4056062"/>
            <a:ext cx="390525" cy="457200"/>
            <a:chOff x="1287" y="1865"/>
            <a:chExt cx="246" cy="288"/>
          </a:xfrm>
        </p:grpSpPr>
        <p:sp>
          <p:nvSpPr>
            <p:cNvPr id="466" name="Google Shape;466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5"/>
            <p:cNvSpPr txBox="1"/>
            <p:nvPr/>
          </p:nvSpPr>
          <p:spPr>
            <a:xfrm>
              <a:off x="1316" y="186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15"/>
          <p:cNvGrpSpPr/>
          <p:nvPr/>
        </p:nvGrpSpPr>
        <p:grpSpPr>
          <a:xfrm>
            <a:off x="6499225" y="3665537"/>
            <a:ext cx="1171575" cy="1236662"/>
            <a:chOff x="4575" y="2293"/>
            <a:chExt cx="738" cy="779"/>
          </a:xfrm>
        </p:grpSpPr>
        <p:grpSp>
          <p:nvGrpSpPr>
            <p:cNvPr id="469" name="Google Shape;469;p15"/>
            <p:cNvGrpSpPr/>
            <p:nvPr/>
          </p:nvGrpSpPr>
          <p:grpSpPr>
            <a:xfrm>
              <a:off x="4575" y="2293"/>
              <a:ext cx="738" cy="288"/>
              <a:chOff x="1282" y="2126"/>
              <a:chExt cx="738" cy="288"/>
            </a:xfrm>
          </p:grpSpPr>
          <p:grpSp>
            <p:nvGrpSpPr>
              <p:cNvPr id="470" name="Google Shape;470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71" name="Google Shape;471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3" name="Google Shape;473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474" name="Google Shape;47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6" name="Google Shape;476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77" name="Google Shape;47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79" name="Google Shape;479;p15"/>
            <p:cNvGrpSpPr/>
            <p:nvPr/>
          </p:nvGrpSpPr>
          <p:grpSpPr>
            <a:xfrm>
              <a:off x="4575" y="2539"/>
              <a:ext cx="246" cy="288"/>
              <a:chOff x="1287" y="1865"/>
              <a:chExt cx="246" cy="288"/>
            </a:xfrm>
          </p:grpSpPr>
          <p:sp>
            <p:nvSpPr>
              <p:cNvPr id="480" name="Google Shape;480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2" name="Google Shape;482;p15"/>
            <p:cNvGrpSpPr/>
            <p:nvPr/>
          </p:nvGrpSpPr>
          <p:grpSpPr>
            <a:xfrm>
              <a:off x="4575" y="2784"/>
              <a:ext cx="738" cy="288"/>
              <a:chOff x="1282" y="2126"/>
              <a:chExt cx="738" cy="288"/>
            </a:xfrm>
          </p:grpSpPr>
          <p:grpSp>
            <p:nvGrpSpPr>
              <p:cNvPr id="483" name="Google Shape;483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84" name="Google Shape;48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6" name="Google Shape;486;p15"/>
              <p:cNvGrpSpPr/>
              <p:nvPr/>
            </p:nvGrpSpPr>
            <p:grpSpPr>
              <a:xfrm>
                <a:off x="1528" y="2126"/>
                <a:ext cx="289" cy="288"/>
                <a:chOff x="1287" y="1865"/>
                <a:chExt cx="289" cy="288"/>
              </a:xfrm>
            </p:grpSpPr>
            <p:sp>
              <p:nvSpPr>
                <p:cNvPr id="487" name="Google Shape;48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" name="Google Shape;488;p15"/>
                <p:cNvSpPr txBox="1"/>
                <p:nvPr/>
              </p:nvSpPr>
              <p:spPr>
                <a:xfrm>
                  <a:off x="1316" y="1865"/>
                  <a:ext cx="260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9" name="Google Shape;489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90" name="Google Shape;49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92" name="Google Shape;492;p15"/>
          <p:cNvGrpSpPr/>
          <p:nvPr/>
        </p:nvGrpSpPr>
        <p:grpSpPr>
          <a:xfrm>
            <a:off x="3260725" y="4930775"/>
            <a:ext cx="1171575" cy="457200"/>
            <a:chOff x="1282" y="2126"/>
            <a:chExt cx="738" cy="288"/>
          </a:xfrm>
        </p:grpSpPr>
        <p:grpSp>
          <p:nvGrpSpPr>
            <p:cNvPr id="493" name="Google Shape;493;p15"/>
            <p:cNvGrpSpPr/>
            <p:nvPr/>
          </p:nvGrpSpPr>
          <p:grpSpPr>
            <a:xfrm>
              <a:off x="1282" y="2126"/>
              <a:ext cx="246" cy="288"/>
              <a:chOff x="1287" y="1865"/>
              <a:chExt cx="246" cy="288"/>
            </a:xfrm>
          </p:grpSpPr>
          <p:sp>
            <p:nvSpPr>
              <p:cNvPr id="494" name="Google Shape;494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15"/>
            <p:cNvGrpSpPr/>
            <p:nvPr/>
          </p:nvGrpSpPr>
          <p:grpSpPr>
            <a:xfrm>
              <a:off x="1528" y="2126"/>
              <a:ext cx="246" cy="288"/>
              <a:chOff x="1287" y="1865"/>
              <a:chExt cx="246" cy="288"/>
            </a:xfrm>
          </p:grpSpPr>
          <p:sp>
            <p:nvSpPr>
              <p:cNvPr id="497" name="Google Shape;497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9" name="Google Shape;499;p15"/>
            <p:cNvGrpSpPr/>
            <p:nvPr/>
          </p:nvGrpSpPr>
          <p:grpSpPr>
            <a:xfrm>
              <a:off x="1774" y="2126"/>
              <a:ext cx="246" cy="288"/>
              <a:chOff x="1287" y="1865"/>
              <a:chExt cx="246" cy="288"/>
            </a:xfrm>
          </p:grpSpPr>
          <p:sp>
            <p:nvSpPr>
              <p:cNvPr id="500" name="Google Shape;500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2" name="Google Shape;502;p15"/>
          <p:cNvGrpSpPr/>
          <p:nvPr/>
        </p:nvGrpSpPr>
        <p:grpSpPr>
          <a:xfrm>
            <a:off x="3252787" y="5345112"/>
            <a:ext cx="1171575" cy="457200"/>
            <a:chOff x="1282" y="2126"/>
            <a:chExt cx="738" cy="288"/>
          </a:xfrm>
        </p:grpSpPr>
        <p:grpSp>
          <p:nvGrpSpPr>
            <p:cNvPr id="503" name="Google Shape;503;p15"/>
            <p:cNvGrpSpPr/>
            <p:nvPr/>
          </p:nvGrpSpPr>
          <p:grpSpPr>
            <a:xfrm>
              <a:off x="1282" y="2126"/>
              <a:ext cx="246" cy="288"/>
              <a:chOff x="1287" y="1865"/>
              <a:chExt cx="246" cy="288"/>
            </a:xfrm>
          </p:grpSpPr>
          <p:sp>
            <p:nvSpPr>
              <p:cNvPr id="504" name="Google Shape;504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p15"/>
            <p:cNvGrpSpPr/>
            <p:nvPr/>
          </p:nvGrpSpPr>
          <p:grpSpPr>
            <a:xfrm>
              <a:off x="1528" y="2126"/>
              <a:ext cx="246" cy="288"/>
              <a:chOff x="1287" y="1865"/>
              <a:chExt cx="246" cy="288"/>
            </a:xfrm>
          </p:grpSpPr>
          <p:sp>
            <p:nvSpPr>
              <p:cNvPr id="507" name="Google Shape;507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15"/>
            <p:cNvGrpSpPr/>
            <p:nvPr/>
          </p:nvGrpSpPr>
          <p:grpSpPr>
            <a:xfrm>
              <a:off x="1774" y="2126"/>
              <a:ext cx="246" cy="288"/>
              <a:chOff x="1287" y="1865"/>
              <a:chExt cx="246" cy="288"/>
            </a:xfrm>
          </p:grpSpPr>
          <p:sp>
            <p:nvSpPr>
              <p:cNvPr id="510" name="Google Shape;510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2" name="Google Shape;512;p15"/>
          <p:cNvGrpSpPr/>
          <p:nvPr/>
        </p:nvGrpSpPr>
        <p:grpSpPr>
          <a:xfrm>
            <a:off x="3244850" y="5759450"/>
            <a:ext cx="390525" cy="457200"/>
            <a:chOff x="1287" y="1865"/>
            <a:chExt cx="246" cy="288"/>
          </a:xfrm>
        </p:grpSpPr>
        <p:sp>
          <p:nvSpPr>
            <p:cNvPr id="513" name="Google Shape;513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5"/>
            <p:cNvSpPr txBox="1"/>
            <p:nvPr/>
          </p:nvSpPr>
          <p:spPr>
            <a:xfrm>
              <a:off x="1316" y="1865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15"/>
          <p:cNvGrpSpPr/>
          <p:nvPr/>
        </p:nvGrpSpPr>
        <p:grpSpPr>
          <a:xfrm>
            <a:off x="3635375" y="5759450"/>
            <a:ext cx="390525" cy="457200"/>
            <a:chOff x="1287" y="1865"/>
            <a:chExt cx="246" cy="288"/>
          </a:xfrm>
        </p:grpSpPr>
        <p:sp>
          <p:nvSpPr>
            <p:cNvPr id="516" name="Google Shape;516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5"/>
            <p:cNvSpPr txBox="1"/>
            <p:nvPr/>
          </p:nvSpPr>
          <p:spPr>
            <a:xfrm>
              <a:off x="1316" y="186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15"/>
          <p:cNvGrpSpPr/>
          <p:nvPr/>
        </p:nvGrpSpPr>
        <p:grpSpPr>
          <a:xfrm>
            <a:off x="4025900" y="5759450"/>
            <a:ext cx="390525" cy="457200"/>
            <a:chOff x="1287" y="1865"/>
            <a:chExt cx="246" cy="288"/>
          </a:xfrm>
        </p:grpSpPr>
        <p:sp>
          <p:nvSpPr>
            <p:cNvPr id="519" name="Google Shape;519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5"/>
            <p:cNvSpPr txBox="1"/>
            <p:nvPr/>
          </p:nvSpPr>
          <p:spPr>
            <a:xfrm>
              <a:off x="1316" y="186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1" name="Google Shape;521;p15"/>
          <p:cNvCxnSpPr/>
          <p:nvPr/>
        </p:nvCxnSpPr>
        <p:spPr>
          <a:xfrm flipH="1" rot="10800000">
            <a:off x="1935162" y="2971800"/>
            <a:ext cx="1189037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2" name="Google Shape;522;p15"/>
          <p:cNvSpPr txBox="1"/>
          <p:nvPr/>
        </p:nvSpPr>
        <p:spPr>
          <a:xfrm>
            <a:off x="889000" y="4954587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-6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5"/>
          <p:cNvSpPr txBox="1"/>
          <p:nvPr/>
        </p:nvSpPr>
        <p:spPr>
          <a:xfrm>
            <a:off x="4572000" y="2701925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-7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5"/>
          <p:cNvSpPr txBox="1"/>
          <p:nvPr/>
        </p:nvSpPr>
        <p:spPr>
          <a:xfrm>
            <a:off x="4572000" y="5326062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-7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 txBox="1"/>
          <p:nvPr/>
        </p:nvSpPr>
        <p:spPr>
          <a:xfrm>
            <a:off x="7694612" y="4079875"/>
            <a:ext cx="763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 txBox="1"/>
          <p:nvPr/>
        </p:nvSpPr>
        <p:spPr>
          <a:xfrm>
            <a:off x="854075" y="3014662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5"/>
          <p:cNvSpPr txBox="1"/>
          <p:nvPr/>
        </p:nvSpPr>
        <p:spPr>
          <a:xfrm>
            <a:off x="6624637" y="3040062"/>
            <a:ext cx="7254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p15"/>
          <p:cNvGrpSpPr/>
          <p:nvPr/>
        </p:nvGrpSpPr>
        <p:grpSpPr>
          <a:xfrm>
            <a:off x="3244850" y="2311400"/>
            <a:ext cx="1187450" cy="1304925"/>
            <a:chOff x="2044" y="1338"/>
            <a:chExt cx="748" cy="822"/>
          </a:xfrm>
        </p:grpSpPr>
        <p:grpSp>
          <p:nvGrpSpPr>
            <p:cNvPr id="529" name="Google Shape;529;p15"/>
            <p:cNvGrpSpPr/>
            <p:nvPr/>
          </p:nvGrpSpPr>
          <p:grpSpPr>
            <a:xfrm>
              <a:off x="2054" y="1350"/>
              <a:ext cx="246" cy="288"/>
              <a:chOff x="1287" y="1865"/>
              <a:chExt cx="246" cy="288"/>
            </a:xfrm>
          </p:grpSpPr>
          <p:sp>
            <p:nvSpPr>
              <p:cNvPr id="530" name="Google Shape;530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5"/>
              <p:cNvSpPr txBox="1"/>
              <p:nvPr/>
            </p:nvSpPr>
            <p:spPr>
              <a:xfrm>
                <a:off x="1316" y="1865"/>
                <a:ext cx="11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2" name="Google Shape;532;p15"/>
            <p:cNvGrpSpPr/>
            <p:nvPr/>
          </p:nvGrpSpPr>
          <p:grpSpPr>
            <a:xfrm>
              <a:off x="2300" y="1350"/>
              <a:ext cx="246" cy="288"/>
              <a:chOff x="1287" y="1865"/>
              <a:chExt cx="246" cy="288"/>
            </a:xfrm>
          </p:grpSpPr>
          <p:sp>
            <p:nvSpPr>
              <p:cNvPr id="533" name="Google Shape;533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5" name="Google Shape;535;p15"/>
            <p:cNvGrpSpPr/>
            <p:nvPr/>
          </p:nvGrpSpPr>
          <p:grpSpPr>
            <a:xfrm>
              <a:off x="2546" y="1350"/>
              <a:ext cx="246" cy="288"/>
              <a:chOff x="1287" y="1865"/>
              <a:chExt cx="246" cy="288"/>
            </a:xfrm>
          </p:grpSpPr>
          <p:sp>
            <p:nvSpPr>
              <p:cNvPr id="536" name="Google Shape;536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8" name="Google Shape;538;p15"/>
            <p:cNvGrpSpPr/>
            <p:nvPr/>
          </p:nvGrpSpPr>
          <p:grpSpPr>
            <a:xfrm>
              <a:off x="2049" y="1611"/>
              <a:ext cx="738" cy="288"/>
              <a:chOff x="1282" y="2126"/>
              <a:chExt cx="738" cy="288"/>
            </a:xfrm>
          </p:grpSpPr>
          <p:grpSp>
            <p:nvGrpSpPr>
              <p:cNvPr id="539" name="Google Shape;539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540" name="Google Shape;54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2" name="Google Shape;542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543" name="Google Shape;543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4" name="Google Shape;544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45" name="Google Shape;545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546" name="Google Shape;546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48" name="Google Shape;548;p15"/>
            <p:cNvGrpSpPr/>
            <p:nvPr/>
          </p:nvGrpSpPr>
          <p:grpSpPr>
            <a:xfrm>
              <a:off x="2044" y="1872"/>
              <a:ext cx="738" cy="288"/>
              <a:chOff x="1282" y="2126"/>
              <a:chExt cx="738" cy="288"/>
            </a:xfrm>
          </p:grpSpPr>
          <p:grpSp>
            <p:nvGrpSpPr>
              <p:cNvPr id="549" name="Google Shape;549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550" name="Google Shape;55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Google Shape;55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2" name="Google Shape;552;p15"/>
              <p:cNvGrpSpPr/>
              <p:nvPr/>
            </p:nvGrpSpPr>
            <p:grpSpPr>
              <a:xfrm>
                <a:off x="1528" y="2126"/>
                <a:ext cx="289" cy="288"/>
                <a:chOff x="1287" y="1865"/>
                <a:chExt cx="289" cy="288"/>
              </a:xfrm>
            </p:grpSpPr>
            <p:sp>
              <p:nvSpPr>
                <p:cNvPr id="553" name="Google Shape;553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5"/>
                <p:cNvSpPr txBox="1"/>
                <p:nvPr/>
              </p:nvSpPr>
              <p:spPr>
                <a:xfrm>
                  <a:off x="1316" y="1865"/>
                  <a:ext cx="260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5" name="Google Shape;555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556" name="Google Shape;556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7" name="Google Shape;557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58" name="Google Shape;558;p15"/>
            <p:cNvSpPr txBox="1"/>
            <p:nvPr/>
          </p:nvSpPr>
          <p:spPr>
            <a:xfrm>
              <a:off x="2079" y="133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9" name="Google Shape;559;p15"/>
          <p:cNvCxnSpPr/>
          <p:nvPr/>
        </p:nvCxnSpPr>
        <p:spPr>
          <a:xfrm>
            <a:off x="1935162" y="4278312"/>
            <a:ext cx="1189037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0" name="Google Shape;560;p15"/>
          <p:cNvSpPr txBox="1"/>
          <p:nvPr/>
        </p:nvSpPr>
        <p:spPr>
          <a:xfrm>
            <a:off x="3260725" y="57594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2338387" y="2911475"/>
            <a:ext cx="6873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2338387" y="4295775"/>
            <a:ext cx="6873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5"/>
          <p:cNvSpPr txBox="1"/>
          <p:nvPr/>
        </p:nvSpPr>
        <p:spPr>
          <a:xfrm>
            <a:off x="6054725" y="5561012"/>
            <a:ext cx="27400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= -(manhattan distance)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763587" y="5411787"/>
            <a:ext cx="15748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4592637" y="5903912"/>
            <a:ext cx="15748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Plateaus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6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b="0" i="1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-queens</a:t>
            </a:r>
            <a:endParaRPr/>
          </a:p>
        </p:txBody>
      </p:sp>
      <p:sp>
        <p:nvSpPr>
          <p:cNvPr id="571" name="Google Shape;571;p16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queens on an </a:t>
            </a: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× n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board with no two queens on the same row, column, or diagonal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4queens-sequence" id="572" name="Google Shape;5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05200"/>
            <a:ext cx="7467600" cy="1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"/>
          <p:cNvSpPr txBox="1"/>
          <p:nvPr>
            <p:ph type="title"/>
          </p:nvPr>
        </p:nvSpPr>
        <p:spPr>
          <a:xfrm>
            <a:off x="457200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Hill-climbing search: 8-queens problem</a:t>
            </a:r>
            <a:endParaRPr/>
          </a:p>
        </p:txBody>
      </p:sp>
      <p:sp>
        <p:nvSpPr>
          <p:cNvPr id="578" name="Google Shape;578;p17"/>
          <p:cNvSpPr txBox="1"/>
          <p:nvPr>
            <p:ph idx="1" type="body"/>
          </p:nvPr>
        </p:nvSpPr>
        <p:spPr>
          <a:xfrm>
            <a:off x="457200" y="4729162"/>
            <a:ext cx="8229600" cy="1138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number of pairs of queens that are attacking each other, either directly or indirectly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= 17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above state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descr="8queens-successors" id="579" name="Google Shape;5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295400"/>
            <a:ext cx="373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Hill-climbing search: 8-queens problem</a:t>
            </a:r>
            <a:endParaRPr/>
          </a:p>
        </p:txBody>
      </p:sp>
      <p:pic>
        <p:nvPicPr>
          <p:cNvPr descr="8queens-local-minimum" id="585" name="Google Shape;5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6002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8"/>
          <p:cNvSpPr txBox="1"/>
          <p:nvPr/>
        </p:nvSpPr>
        <p:spPr>
          <a:xfrm>
            <a:off x="457200" y="55626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local minimum with 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"/>
          <p:cNvSpPr txBox="1"/>
          <p:nvPr>
            <p:ph type="title"/>
          </p:nvPr>
        </p:nvSpPr>
        <p:spPr>
          <a:xfrm>
            <a:off x="2286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Remedies of Hill Climbing Search</a:t>
            </a:r>
            <a:endParaRPr/>
          </a:p>
        </p:txBody>
      </p:sp>
      <p:sp>
        <p:nvSpPr>
          <p:cNvPr id="593" name="Google Shape;593;p19"/>
          <p:cNvSpPr txBox="1"/>
          <p:nvPr>
            <p:ph idx="1" type="body"/>
          </p:nvPr>
        </p:nvSpPr>
        <p:spPr>
          <a:xfrm>
            <a:off x="990600" y="1752600"/>
            <a:ext cx="7315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Problems: local maxima, plateaus, ridges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/>
              <a:t>Remedies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restart: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keep restarting the search from random locations until a goal is found.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b="1" lang="en-US" sz="2400"/>
              <a:t>Accept worse neighbours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/>
              <a:t>even if neighbour is worse, accept with some fixed probability 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problem spaces are great for hill climbing and others are terrible.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6e3e92b767_0_8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sp>
        <p:nvSpPr>
          <p:cNvPr id="600" name="Google Shape;600;g36e3e92b767_0_8"/>
          <p:cNvSpPr txBox="1"/>
          <p:nvPr>
            <p:ph idx="1" type="body"/>
          </p:nvPr>
        </p:nvSpPr>
        <p:spPr>
          <a:xfrm>
            <a:off x="381000" y="1295400"/>
            <a:ext cx="8382000" cy="5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Idea: escape local maxima by </a:t>
            </a:r>
            <a:r>
              <a:rPr lang="en-US" sz="2400">
                <a:solidFill>
                  <a:srgbClr val="38761D"/>
                </a:solidFill>
              </a:rPr>
              <a:t>allowing some "bad" moves</a:t>
            </a:r>
            <a:r>
              <a:rPr lang="en-US" sz="2400"/>
              <a:t> but </a:t>
            </a:r>
            <a:r>
              <a:rPr lang="en-US" sz="2400">
                <a:solidFill>
                  <a:srgbClr val="FF0000"/>
                </a:solidFill>
              </a:rPr>
              <a:t>gradually decrease</a:t>
            </a:r>
            <a:r>
              <a:rPr lang="en-US" sz="2400"/>
              <a:t> their frequency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The algorithm is based on the metallurgical process of </a:t>
            </a:r>
            <a:r>
              <a:rPr b="1" lang="en-US" sz="2400"/>
              <a:t>annealing</a:t>
            </a:r>
            <a:r>
              <a:rPr lang="en-US" sz="2400"/>
              <a:t>, which is used to strengthen metals or remove internal stresses 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Metal is first heated to a high temperature so that its atoms can move freely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Then the metal is slowly cooled down so that the atoms gradually settle into a stable, low-energy crystal structure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Bouncing ball analogy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Shaking hard (= high temperature)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Shaking less (= lower the temperature)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2400"/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6e3e92b767_0_18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pic>
        <p:nvPicPr>
          <p:cNvPr id="607" name="Google Shape;607;g36e3e92b767_0_18" title="sim_anneal_bouncing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288" y="1856349"/>
            <a:ext cx="8171426" cy="36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6e3e92b767_0_25"/>
          <p:cNvSpPr txBox="1"/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sp>
        <p:nvSpPr>
          <p:cNvPr id="614" name="Google Shape;614;g36e3e92b767_0_25"/>
          <p:cNvSpPr txBox="1"/>
          <p:nvPr>
            <p:ph idx="1" type="body"/>
          </p:nvPr>
        </p:nvSpPr>
        <p:spPr>
          <a:xfrm>
            <a:off x="3810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SA uses a random search that accepts changes that increase objective function f, as well as some that decrease it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SA uses a control parameter T, which by analogy with the original application is known as the system “temperature”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 starts out high and gradually decreases toward 0.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00"/>
              <a:buChar char="■"/>
            </a:pPr>
            <a:r>
              <a:rPr lang="en-US" sz="2600"/>
              <a:t>If T decreases slowly enough, best state is reached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 sz="2400"/>
          </a:p>
          <a:p>
            <a:pPr indent="-2286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6e3e92b767_0_1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sp>
        <p:nvSpPr>
          <p:cNvPr id="620" name="Google Shape;620;g36e3e92b767_0_1"/>
          <p:cNvSpPr txBox="1"/>
          <p:nvPr/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SIMULATED-ANNEALING(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problem, schedule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solution state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problem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mapping from time to temperature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variables: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node.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node.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“temperature” controlling the probability of downward steps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current ←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MAKE-NODE(INITIAL-STATE[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 ← 1 to ∞ do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← schedule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0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return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← a randomly selected successor of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∆E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←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VALUE[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- VALUE[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∆E &gt;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←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←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with probability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baseline="3000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∆E /T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6e3e92b767_0_39"/>
          <p:cNvSpPr txBox="1"/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graphicFrame>
        <p:nvGraphicFramePr>
          <p:cNvPr id="626" name="Google Shape;626;g36e3e92b767_0_39"/>
          <p:cNvGraphicFramePr/>
          <p:nvPr/>
        </p:nvGraphicFramePr>
        <p:xfrm>
          <a:off x="200900" y="18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{352351D6-D207-41B7-B11B-AC53A3B96864}</a:tableStyleId>
              </a:tblPr>
              <a:tblGrid>
                <a:gridCol w="637350"/>
                <a:gridCol w="1290775"/>
                <a:gridCol w="628275"/>
                <a:gridCol w="1744275"/>
              </a:tblGrid>
              <a:tr h="319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Time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Temperature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∆E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Probability= </a:t>
                      </a: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="1" baseline="30000" i="1" lang="en-US" sz="1600" u="none" cap="none" strike="noStrike">
                          <a:solidFill>
                            <a:schemeClr val="dk1"/>
                          </a:solidFill>
                        </a:rPr>
                        <a:t>∆E /T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0.93551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0.90484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0.81873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0.80074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0.7788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0.75148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0.71653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7" name="Google Shape;627;g36e3e92b767_0_39"/>
          <p:cNvGraphicFramePr/>
          <p:nvPr/>
        </p:nvGraphicFramePr>
        <p:xfrm>
          <a:off x="4750200" y="18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{352351D6-D207-41B7-B11B-AC53A3B96864}</a:tableStyleId>
              </a:tblPr>
              <a:tblGrid>
                <a:gridCol w="655175"/>
                <a:gridCol w="1272975"/>
                <a:gridCol w="574750"/>
                <a:gridCol w="1744275"/>
              </a:tblGrid>
              <a:tr h="319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Time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Temperature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∆E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Probability= </a:t>
                      </a:r>
                      <a:r>
                        <a:rPr b="1" i="1" lang="en-US" sz="16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="1" baseline="30000" i="1" lang="en-US" sz="1600" u="none" cap="none" strike="noStrike">
                          <a:solidFill>
                            <a:schemeClr val="dk1"/>
                          </a:solidFill>
                        </a:rPr>
                        <a:t>∆E /T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0.67032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0.60653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0.51342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0.36788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0.13534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6e3e92b767_0_3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 (cont.)</a:t>
            </a:r>
            <a:endParaRPr/>
          </a:p>
        </p:txBody>
      </p:sp>
      <p:sp>
        <p:nvSpPr>
          <p:cNvPr id="634" name="Google Shape;634;g36e3e92b767_0_33"/>
          <p:cNvSpPr txBox="1"/>
          <p:nvPr>
            <p:ph idx="1" type="body"/>
          </p:nvPr>
        </p:nvSpPr>
        <p:spPr>
          <a:xfrm>
            <a:off x="685800" y="1676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 that for a </a:t>
            </a:r>
            <a:r>
              <a:rPr lang="en-US" sz="2000"/>
              <a:t>“bad” move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/>
              <a:t>∆E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 be negative, so bad moves always have a relatively probability less than one.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moves, for which </a:t>
            </a:r>
            <a:r>
              <a:rPr lang="en-US" sz="2000"/>
              <a:t>∆E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positive, have a relative probability greater than one.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higher the temperature, the more likely it is that a bad move can be made.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 tends to zero, this probability tends to zero, and SA becomes more like hill climbing</a:t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 is lowered slowly enough, SA is complete and admissible.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result for simulated annealing in artificial intelligence" id="641" name="Google Shape;6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0812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Properties of simulated</a:t>
            </a:r>
            <a:r>
              <a:rPr lang="en-US"/>
              <a:t> </a:t>
            </a: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annealing search</a:t>
            </a:r>
            <a:endParaRPr/>
          </a:p>
        </p:txBody>
      </p:sp>
      <p:sp>
        <p:nvSpPr>
          <p:cNvPr id="647" name="Google Shape;647;p24"/>
          <p:cNvSpPr txBox="1"/>
          <p:nvPr>
            <p:ph idx="1" type="body"/>
          </p:nvPr>
        </p:nvSpPr>
        <p:spPr>
          <a:xfrm>
            <a:off x="457200" y="1981200"/>
            <a:ext cx="8229600" cy="42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can prove: If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decreases slowly enough (infinitely slowly), then simulated annealing search will find a global optimum with probability approaching 1 [complete and optimal]</a:t>
            </a:r>
            <a:endParaRPr sz="2800"/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◻"/>
            </a:pPr>
            <a:r>
              <a:rPr lang="en-US" sz="2200"/>
              <a:t>This would require letting SA run for infinite (very long) time – defeats the purpose</a:t>
            </a:r>
            <a:endParaRPr sz="2200"/>
          </a:p>
          <a:p>
            <a:pPr indent="-20955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Widely used in VLSI layout, airline scheduling, etc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6c0b675e68_0_2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Local</a:t>
            </a: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search vs A* search</a:t>
            </a:r>
            <a:endParaRPr/>
          </a:p>
        </p:txBody>
      </p:sp>
      <p:sp>
        <p:nvSpPr>
          <p:cNvPr id="653" name="Google Shape;653;g36c0b675e68_0_2"/>
          <p:cNvSpPr txBox="1"/>
          <p:nvPr>
            <p:ph idx="1" type="body"/>
          </p:nvPr>
        </p:nvSpPr>
        <p:spPr>
          <a:xfrm>
            <a:off x="457200" y="1981200"/>
            <a:ext cx="8229600" cy="42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2800"/>
              <a:t>A* search needs to know the goal state, local search does not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Char char="■"/>
            </a:pPr>
            <a:r>
              <a:rPr lang="en-US" sz="2800"/>
              <a:t>A* finds the path to goal, local search does not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Char char="■"/>
            </a:pPr>
            <a:r>
              <a:rPr lang="en-US" sz="2800"/>
              <a:t>What else?</a:t>
            </a:r>
            <a:endParaRPr sz="2800"/>
          </a:p>
          <a:p>
            <a:pPr indent="-3810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Char char="◻"/>
            </a:pPr>
            <a:r>
              <a:rPr lang="en-US" sz="2400"/>
              <a:t>Think about </a:t>
            </a:r>
            <a:r>
              <a:rPr lang="en-US" sz="2400"/>
              <a:t>search strategy, memory usage, completeness, optimality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2008-04-02T20:14:30Z</dcterms:created>
  <dc:creator>Thomas Schwarz, S.J.</dc:creator>
</cp:coreProperties>
</file>