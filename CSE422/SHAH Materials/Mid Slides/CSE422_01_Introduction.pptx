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Montserrat"/>
      <p:regular r:id="rId49"/>
      <p:bold r:id="rId50"/>
      <p:italic r:id="rId51"/>
      <p:boldItalic r:id="rId52"/>
    </p:embeddedFont>
    <p:embeddedFont>
      <p:font typeface="Montserrat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MontserratMedium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Montserrat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6be204f25_1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f6be204f25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f6be204f25_1_3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2f6be204f25_1_3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72c42e0e5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672c42e0e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72c42e0e5_0_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672c42e0e5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72c42e0e5_0_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672c42e0e5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72c42e0e5_0_9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672c42e0e5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72c42e0e5_0_10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672c42e0e5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72c42e0e5_0_1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672c42e0e5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72c42e0e5_0_13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672c42e0e5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72c42e0e5_0_14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672c42e0e5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72c42e0e5_0_16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672c42e0e5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72c42e0e5_0_17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672c42e0e5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72c42e0e5_0_5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672c42e0e5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72c42e0e5_0_24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672c42e0e5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672c42e0e5_0_27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672c42e0e5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72c42e0e5_0_3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672c42e0e5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672c42e0e5_0_3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672c42e0e5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72c42e0e5_0_3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672c42e0e5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672c42e0e5_0_4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672c42e0e5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672c42e0e5_0_4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672c42e0e5_0_4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72c42e0e5_0_48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672c42e0e5_0_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672c42e0e5_0_5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672c42e0e5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672c42e0e5_0_5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672c42e0e5_0_5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672c42e0e5_0_58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672c42e0e5_0_5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672c42e0e5_0_6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672c42e0e5_0_6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72c42e0e5_0_19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672c42e0e5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672c42e0e5_0_65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672c42e0e5_0_6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672c42e0e5_0_67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3672c42e0e5_0_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672c42e0e5_0_70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672c42e0e5_0_7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6780c4bf8f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36780c4bf8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672c42e0e5_0_7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672c42e0e5_0_7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672c42e0e5_0_73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g3672c42e0e5_0_7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672c42e0e5_0_77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672c42e0e5_0_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672c42e0e5_0_76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g3672c42e0e5_0_7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672c42e0e5_0_79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672c42e0e5_0_7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672c42e0e5_0_8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g3672c42e0e5_0_8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672c42e0e5_0_82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3672c42e0e5_0_8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672c42e0e5_0_83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672c42e0e5_0_8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672c42e0e5_0_85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3672c42e0e5_0_8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672c42e0e5_0_86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672c42e0e5_0_8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672c42e0e5_0_88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672c42e0e5_0_8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672c42e0e5_0_89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g3672c42e0e5_0_8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7007967" y="4933014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65" name="Google Shape;165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1" name="Google Shape;181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2" name="Google Shape;182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88" name="Google Shape;188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3" name="Google Shape;193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4" name="Google Shape;204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5" name="Google Shape;205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0" name="Google Shape;210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15" name="Google Shape;215;p15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17" name="Google Shape;217;p15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1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43" name="Google Shape;243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1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8" name="Google Shape;248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9" name="Google Shape;249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4" name="Google Shape;254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1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0" name="Google Shape;260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1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65" name="Google Shape;265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66" name="Google Shape;266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1" name="Google Shape;271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18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0" name="Google Shape;290;p19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91" name="Google Shape;291;p19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A43E27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file/d/16g40q1r0ej22x5ziy32mq5__gxq5qRlE/view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jp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535846" y="3178756"/>
            <a:ext cx="8072400" cy="11964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38975" y="1675071"/>
            <a:ext cx="80724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940A1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</a:t>
            </a:r>
            <a:endParaRPr b="1" sz="33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0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Fundamentals of AI</a:t>
            </a:r>
            <a:endParaRPr b="1" sz="20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35896" y="1171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" sz="18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98404" y="3361002"/>
            <a:ext cx="8072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25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2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26"/>
          <p:cNvSpPr txBox="1"/>
          <p:nvPr/>
        </p:nvSpPr>
        <p:spPr>
          <a:xfrm>
            <a:off x="462766" y="917527"/>
            <a:ext cx="8210700" cy="29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science and engineering of making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intelligent machines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especially intelligent computer programs. – </a:t>
            </a:r>
            <a:r>
              <a:rPr i="1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John McCarthy, 1956</a:t>
            </a:r>
            <a:endParaRPr i="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Chess-playing AI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science of making machines do things that would require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intelligence if done by men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– </a:t>
            </a:r>
            <a:r>
              <a:rPr i="1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Marvin Minsky, founder of MIT AI Lab</a:t>
            </a:r>
            <a:endParaRPr i="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Robot vacuum cleaner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study of agents that receive percepts from the environment and perform actions. – </a:t>
            </a:r>
            <a:r>
              <a:rPr i="1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Stuart Russell and Peter Norvig</a:t>
            </a:r>
            <a:endParaRPr i="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self-driving car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466636" y="4866664"/>
            <a:ext cx="2704402" cy="34289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3219797" y="4869810"/>
            <a:ext cx="2704402" cy="34289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972960" y="4866664"/>
            <a:ext cx="2704402" cy="34289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is AI?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2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5" name="Google Shape;455;p2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27"/>
          <p:cNvSpPr txBox="1"/>
          <p:nvPr/>
        </p:nvSpPr>
        <p:spPr>
          <a:xfrm>
            <a:off x="462766" y="917527"/>
            <a:ext cx="82107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Represent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store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knowledge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Retrieve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reason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about knowledge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Behave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intelligently in complex environments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 interesting and useful </a:t>
            </a: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applications</a:t>
            </a:r>
            <a:endParaRPr b="1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Interact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people, agents, and the environment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2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Main goals of 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2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2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28"/>
          <p:cNvSpPr txBox="1"/>
          <p:nvPr/>
        </p:nvSpPr>
        <p:spPr>
          <a:xfrm>
            <a:off x="462775" y="917525"/>
            <a:ext cx="37581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artist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2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2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9" name="Google Shape;479;p2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0" name="Google Shape;480;p29"/>
          <p:cNvSpPr txBox="1"/>
          <p:nvPr/>
        </p:nvSpPr>
        <p:spPr>
          <a:xfrm>
            <a:off x="462775" y="917525"/>
            <a:ext cx="37581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artist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Prompt: “Draw an image of a forest, where a tiger, a deer and a cow are drinking water from the lake.”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2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487" name="Google Shape;487;p29" title="ChatGPT Image Jun 18, 2025, 02_35_2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875" y="664825"/>
            <a:ext cx="4049439" cy="40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9"/>
          <p:cNvSpPr txBox="1"/>
          <p:nvPr/>
        </p:nvSpPr>
        <p:spPr>
          <a:xfrm>
            <a:off x="628225" y="4109575"/>
            <a:ext cx="3592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[This image is generated by GPT-4o.]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3" name="Google Shape;493;p3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4" name="Google Shape;494;p30"/>
          <p:cNvSpPr txBox="1"/>
          <p:nvPr/>
        </p:nvSpPr>
        <p:spPr>
          <a:xfrm>
            <a:off x="462775" y="917525"/>
            <a:ext cx="37581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artist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Prompt: “Draw a Cyberpunk-style abstract picture about the sufferings of the people of Gazza.”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3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01" name="Google Shape;501;p30"/>
          <p:cNvSpPr txBox="1"/>
          <p:nvPr/>
        </p:nvSpPr>
        <p:spPr>
          <a:xfrm>
            <a:off x="628225" y="4109575"/>
            <a:ext cx="3592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image is generated by GPT-4o.]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30" title="gazza_cyberpu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875" y="664825"/>
            <a:ext cx="4049439" cy="4049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7" name="Google Shape;507;p3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8" name="Google Shape;508;p31"/>
          <p:cNvSpPr txBox="1"/>
          <p:nvPr/>
        </p:nvSpPr>
        <p:spPr>
          <a:xfrm>
            <a:off x="462775" y="917525"/>
            <a:ext cx="4019700" cy="31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artist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story-writer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Prompt: “Write a joke about an early space program that had used monkeys as astronauts for many missions, and then sent the first human astronaut into space along with a monkey. Add a slightly dark tone to the story.</a:t>
            </a: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3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15" name="Google Shape;515;p31"/>
          <p:cNvSpPr txBox="1"/>
          <p:nvPr/>
        </p:nvSpPr>
        <p:spPr>
          <a:xfrm>
            <a:off x="5064975" y="633300"/>
            <a:ext cx="3579600" cy="4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early days of the space program, they sent monkeys on mission after mission. Dozens of successful flights. Then finally, they launched their first human… along with a monkey.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Mid-flight, Mission Control radioed in: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“Monkey, engage thrusters.”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monkey did.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“Monkey, initiate course correction.”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monkey complied.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they called the human.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“Human, are you there?”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“Roger that,” he replied. “What’s my job?”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 Control paused, then said: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“Your job is to make sure the monkey survives. He’s the one we trained.”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long silence.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a quiet reply: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“…What happens if I fail?”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“Let’s just say we’ve only packed one return capsule.”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628225" y="4109575"/>
            <a:ext cx="3592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story is generated by GPT-4o.]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3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2" name="Google Shape;522;p32"/>
          <p:cNvSpPr txBox="1"/>
          <p:nvPr/>
        </p:nvSpPr>
        <p:spPr>
          <a:xfrm>
            <a:off x="462775" y="917525"/>
            <a:ext cx="78612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artist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story-writer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serious debate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Who owns AI-generated content?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Intellectual theft during training?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Truly</a:t>
            </a: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creative, or just a remix?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</a:pPr>
            <a:r>
              <a:rPr i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Devaluing human art and storytelling?</a:t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3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3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3" name="Google Shape;533;p3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33"/>
          <p:cNvSpPr txBox="1"/>
          <p:nvPr/>
        </p:nvSpPr>
        <p:spPr>
          <a:xfrm>
            <a:off x="462775" y="917525"/>
            <a:ext cx="37581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  <a:endParaRPr b="1" sz="18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3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3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41" name="Google Shape;541;p33" title="AI-market-siz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274" y="703600"/>
            <a:ext cx="4158199" cy="23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3" title="AI-market-sha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49" y="2454826"/>
            <a:ext cx="3779379" cy="225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p3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34"/>
          <p:cNvSpPr txBox="1"/>
          <p:nvPr/>
        </p:nvSpPr>
        <p:spPr>
          <a:xfrm>
            <a:off x="462775" y="917525"/>
            <a:ext cx="37581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4A86E8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  <a:endParaRPr b="1" sz="18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3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3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3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55" name="Google Shape;555;p34" title="Trump_altm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368" y="710650"/>
            <a:ext cx="3491808" cy="2043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4" title="altman_macr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25" y="2951300"/>
            <a:ext cx="2668826" cy="16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4" title="altman_bide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2150" y="2911704"/>
            <a:ext cx="2704502" cy="180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4" title="altman_mod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9924" y="3056000"/>
            <a:ext cx="2761375" cy="15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3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4" name="Google Shape;564;p35"/>
          <p:cNvSpPr txBox="1"/>
          <p:nvPr/>
        </p:nvSpPr>
        <p:spPr>
          <a:xfrm>
            <a:off x="310375" y="765125"/>
            <a:ext cx="37515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Law</a:t>
            </a:r>
            <a:endParaRPr b="1" sz="18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Lots of lawsuits against AI companies involving copyright claims, training data, and human creativity devaluation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Who’s responsible when AI causes harm?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Laws like the EU AI Act are attempting to classify and regulate risk levels in AI systems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3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3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71" name="Google Shape;571;p35" title="AI_copyr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575" y="813425"/>
            <a:ext cx="4835849" cy="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5" title="AI_get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0050" y="1771825"/>
            <a:ext cx="4526626" cy="93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5" title="anthropic_redd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0450" y="2845276"/>
            <a:ext cx="4486375" cy="1628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8" name="Google Shape;578;p3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36"/>
          <p:cNvSpPr txBox="1"/>
          <p:nvPr/>
        </p:nvSpPr>
        <p:spPr>
          <a:xfrm>
            <a:off x="462775" y="917525"/>
            <a:ext cx="4641600" cy="30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Law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Labor</a:t>
            </a:r>
            <a:endParaRPr b="1" sz="18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Effects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automation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Demanding new skills in the face of AI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Wage polarization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3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3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0" name="Google Shape;590;p3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1" name="Google Shape;591;p37"/>
          <p:cNvSpPr txBox="1"/>
          <p:nvPr/>
        </p:nvSpPr>
        <p:spPr>
          <a:xfrm>
            <a:off x="310375" y="917525"/>
            <a:ext cx="37581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Public imagination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Law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Labor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4A86E8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Scientific advancements</a:t>
            </a:r>
            <a:endParaRPr b="1" sz="18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3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AI: Real World Impact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3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98" name="Google Shape;598;p37" title="Alphaf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050" y="917531"/>
            <a:ext cx="4539275" cy="11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7" title="deepmind_fiss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500" y="2365400"/>
            <a:ext cx="5058551" cy="9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4" name="Google Shape;604;p3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5" name="Google Shape;605;p38"/>
          <p:cNvSpPr txBox="1"/>
          <p:nvPr/>
        </p:nvSpPr>
        <p:spPr>
          <a:xfrm>
            <a:off x="462775" y="917525"/>
            <a:ext cx="464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0" name="Google Shape;610;p3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3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612" name="Google Shape;612;p38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613" name="Google Shape;613;p38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15" name="Google Shape;615;p38" title="deep-blue-kasparov.jpg"/>
          <p:cNvPicPr preferRelativeResize="0"/>
          <p:nvPr/>
        </p:nvPicPr>
        <p:blipFill rotWithShape="1">
          <a:blip r:embed="rId3">
            <a:alphaModFix/>
          </a:blip>
          <a:srcRect b="-5640" l="-3330" r="3330" t="5640"/>
          <a:stretch/>
        </p:blipFill>
        <p:spPr>
          <a:xfrm>
            <a:off x="3738975" y="1005225"/>
            <a:ext cx="4911656" cy="313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3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1" name="Google Shape;621;p39"/>
          <p:cNvSpPr txBox="1"/>
          <p:nvPr/>
        </p:nvSpPr>
        <p:spPr>
          <a:xfrm>
            <a:off x="462775" y="917525"/>
            <a:ext cx="46416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3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3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628" name="Google Shape;628;p39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629" name="Google Shape;629;p3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39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2" name="Google Shape;632;p39" title="ai_tenn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124" y="1453025"/>
            <a:ext cx="4507702" cy="253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4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8" name="Google Shape;638;p40"/>
          <p:cNvSpPr txBox="1"/>
          <p:nvPr/>
        </p:nvSpPr>
        <p:spPr>
          <a:xfrm>
            <a:off x="462775" y="917525"/>
            <a:ext cx="46416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4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4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645" name="Google Shape;645;p40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646" name="Google Shape;646;p4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40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0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4" name="Google Shape;654;p4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41"/>
          <p:cNvSpPr txBox="1"/>
          <p:nvPr/>
        </p:nvSpPr>
        <p:spPr>
          <a:xfrm>
            <a:off x="462775" y="917525"/>
            <a:ext cx="4641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6" name="Google Shape;656;p4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4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4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662" name="Google Shape;662;p41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663" name="Google Shape;663;p4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5" name="Google Shape;665;p41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1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7" name="Google Shape;667;p41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668" name="Google Shape;668;p41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1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4" name="Google Shape;674;p4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5" name="Google Shape;675;p4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4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81" name="Google Shape;681;p42"/>
          <p:cNvSpPr txBox="1"/>
          <p:nvPr/>
        </p:nvSpPr>
        <p:spPr>
          <a:xfrm>
            <a:off x="462775" y="917525"/>
            <a:ext cx="46416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82" name="Google Shape;682;p42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683" name="Google Shape;683;p42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42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2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42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688" name="Google Shape;688;p42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42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5" name="Google Shape;695;p4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43"/>
          <p:cNvSpPr txBox="1"/>
          <p:nvPr/>
        </p:nvSpPr>
        <p:spPr>
          <a:xfrm>
            <a:off x="462775" y="917525"/>
            <a:ext cx="46416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4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4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703" name="Google Shape;703;p43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704" name="Google Shape;704;p43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3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6" name="Google Shape;706;p43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3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8" name="Google Shape;708;p43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709" name="Google Shape;709;p43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43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712" name="Google Shape;712;p43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3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43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9" name="Google Shape;719;p4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44"/>
          <p:cNvSpPr txBox="1"/>
          <p:nvPr/>
        </p:nvSpPr>
        <p:spPr>
          <a:xfrm>
            <a:off x="462775" y="917525"/>
            <a:ext cx="4641600" cy="1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5" name="Google Shape;725;p4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4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727" name="Google Shape;727;p44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728" name="Google Shape;728;p44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44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4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2" name="Google Shape;732;p44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733" name="Google Shape;733;p44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44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736" name="Google Shape;736;p44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4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8" name="Google Shape;738;p44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4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4" name="Google Shape;744;p4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5" name="Google Shape;745;p45"/>
          <p:cNvSpPr txBox="1"/>
          <p:nvPr/>
        </p:nvSpPr>
        <p:spPr>
          <a:xfrm>
            <a:off x="462775" y="917525"/>
            <a:ext cx="4641600" cy="20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6" name="Google Shape;746;p4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0" name="Google Shape;750;p4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4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752" name="Google Shape;752;p45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753" name="Google Shape;753;p45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45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5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7" name="Google Shape;757;p45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758" name="Google Shape;758;p45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5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45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761" name="Google Shape;761;p45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5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3" name="Google Shape;763;p45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5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5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0" name="Google Shape;770;p4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1" name="Google Shape;771;p46"/>
          <p:cNvSpPr txBox="1"/>
          <p:nvPr/>
        </p:nvSpPr>
        <p:spPr>
          <a:xfrm>
            <a:off x="462775" y="917525"/>
            <a:ext cx="4641600" cy="2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a surgical operation?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4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4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778" name="Google Shape;778;p46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779" name="Google Shape;779;p46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6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1" name="Google Shape;781;p46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6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46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784" name="Google Shape;784;p46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6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6" name="Google Shape;786;p46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787" name="Google Shape;787;p46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6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9" name="Google Shape;789;p46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6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6"/>
          <p:cNvSpPr/>
          <p:nvPr/>
        </p:nvSpPr>
        <p:spPr>
          <a:xfrm>
            <a:off x="3219800" y="28611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6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7" name="Google Shape;797;p4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8" name="Google Shape;798;p47"/>
          <p:cNvSpPr txBox="1"/>
          <p:nvPr/>
        </p:nvSpPr>
        <p:spPr>
          <a:xfrm>
            <a:off x="462775" y="917525"/>
            <a:ext cx="46416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a surgical operation?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 a disease from symptoms?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9" name="Google Shape;799;p4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3" name="Google Shape;803;p4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4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805" name="Google Shape;805;p47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806" name="Google Shape;806;p47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47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7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0" name="Google Shape;810;p47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811" name="Google Shape;811;p47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47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814" name="Google Shape;814;p47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6" name="Google Shape;816;p47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7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7"/>
          <p:cNvSpPr/>
          <p:nvPr/>
        </p:nvSpPr>
        <p:spPr>
          <a:xfrm>
            <a:off x="3219800" y="28611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7"/>
          <p:cNvSpPr/>
          <p:nvPr/>
        </p:nvSpPr>
        <p:spPr>
          <a:xfrm>
            <a:off x="3762750" y="310835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7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5" name="Google Shape;825;p4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6" name="Google Shape;826;p48"/>
          <p:cNvSpPr txBox="1"/>
          <p:nvPr/>
        </p:nvSpPr>
        <p:spPr>
          <a:xfrm>
            <a:off x="462775" y="917525"/>
            <a:ext cx="46416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a surgical operation?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 a disease from symptoms?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an art competition?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1" name="Google Shape;831;p4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4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833" name="Google Shape;833;p48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834" name="Google Shape;834;p48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6" name="Google Shape;836;p48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8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8" name="Google Shape;838;p48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839" name="Google Shape;839;p48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8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48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842" name="Google Shape;842;p48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8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4" name="Google Shape;844;p48"/>
          <p:cNvGrpSpPr/>
          <p:nvPr/>
        </p:nvGrpSpPr>
        <p:grpSpPr>
          <a:xfrm>
            <a:off x="2877591" y="3366122"/>
            <a:ext cx="293541" cy="215187"/>
            <a:chOff x="5216456" y="3725484"/>
            <a:chExt cx="356196" cy="265631"/>
          </a:xfrm>
        </p:grpSpPr>
        <p:sp>
          <p:nvSpPr>
            <p:cNvPr id="845" name="Google Shape;845;p48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7" name="Google Shape;847;p48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8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8"/>
          <p:cNvSpPr/>
          <p:nvPr/>
        </p:nvSpPr>
        <p:spPr>
          <a:xfrm>
            <a:off x="3219800" y="28611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8"/>
          <p:cNvSpPr/>
          <p:nvPr/>
        </p:nvSpPr>
        <p:spPr>
          <a:xfrm>
            <a:off x="3762750" y="310835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8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2" name="Google Shape;852;p48" title="220902164241-02-thtre-dopra-spatial-ai-generated-a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775" y="1639125"/>
            <a:ext cx="3734825" cy="210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" name="Google Shape;857;p4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8" name="Google Shape;858;p49"/>
          <p:cNvSpPr txBox="1"/>
          <p:nvPr/>
        </p:nvSpPr>
        <p:spPr>
          <a:xfrm>
            <a:off x="462775" y="917525"/>
            <a:ext cx="4641600" cy="29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a surgical operation?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 a disease from symptoms?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an art competition?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a funny story? 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3" name="Google Shape;863;p4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4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865" name="Google Shape;865;p49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866" name="Google Shape;866;p4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8" name="Google Shape;868;p49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9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0" name="Google Shape;870;p49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871" name="Google Shape;871;p4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3" name="Google Shape;873;p49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874" name="Google Shape;874;p4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49"/>
          <p:cNvGrpSpPr/>
          <p:nvPr/>
        </p:nvGrpSpPr>
        <p:grpSpPr>
          <a:xfrm>
            <a:off x="2877591" y="3366122"/>
            <a:ext cx="293541" cy="215187"/>
            <a:chOff x="5216456" y="3725484"/>
            <a:chExt cx="356196" cy="265631"/>
          </a:xfrm>
        </p:grpSpPr>
        <p:sp>
          <p:nvSpPr>
            <p:cNvPr id="877" name="Google Shape;877;p4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9" name="Google Shape;879;p49"/>
          <p:cNvGrpSpPr/>
          <p:nvPr/>
        </p:nvGrpSpPr>
        <p:grpSpPr>
          <a:xfrm>
            <a:off x="2584066" y="3544347"/>
            <a:ext cx="293541" cy="215187"/>
            <a:chOff x="5216456" y="3725484"/>
            <a:chExt cx="356196" cy="265631"/>
          </a:xfrm>
        </p:grpSpPr>
        <p:sp>
          <p:nvSpPr>
            <p:cNvPr id="880" name="Google Shape;880;p4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49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9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9"/>
          <p:cNvSpPr/>
          <p:nvPr/>
        </p:nvSpPr>
        <p:spPr>
          <a:xfrm>
            <a:off x="3219800" y="28611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9"/>
          <p:cNvSpPr/>
          <p:nvPr/>
        </p:nvSpPr>
        <p:spPr>
          <a:xfrm>
            <a:off x="3762750" y="310835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9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1" name="Google Shape;891;p5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50"/>
          <p:cNvSpPr txBox="1"/>
          <p:nvPr/>
        </p:nvSpPr>
        <p:spPr>
          <a:xfrm>
            <a:off x="462775" y="917525"/>
            <a:ext cx="46416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against humans in chess?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Play a decent game of table tennis?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Unload dishwashers at home?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highway?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Drive safely along the streets of San Francisco, or Dhaka?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the internet?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Shop from supershops like Shopno?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or prove new mathematical theorems?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a surgical operation?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 a disease from symptoms?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 an art competition?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a funny story? 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Construct a building?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3" name="Google Shape;893;p5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5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can AI do?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5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grpSp>
        <p:nvGrpSpPr>
          <p:cNvPr id="899" name="Google Shape;899;p50"/>
          <p:cNvGrpSpPr/>
          <p:nvPr/>
        </p:nvGrpSpPr>
        <p:grpSpPr>
          <a:xfrm>
            <a:off x="3388641" y="917697"/>
            <a:ext cx="293541" cy="215187"/>
            <a:chOff x="5216456" y="3725484"/>
            <a:chExt cx="356196" cy="265631"/>
          </a:xfrm>
        </p:grpSpPr>
        <p:sp>
          <p:nvSpPr>
            <p:cNvPr id="900" name="Google Shape;900;p5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2" name="Google Shape;902;p50"/>
          <p:cNvSpPr/>
          <p:nvPr/>
        </p:nvSpPr>
        <p:spPr>
          <a:xfrm>
            <a:off x="3388650" y="138840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0"/>
          <p:cNvSpPr/>
          <p:nvPr/>
        </p:nvSpPr>
        <p:spPr>
          <a:xfrm>
            <a:off x="3808400" y="113287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4" name="Google Shape;904;p50"/>
          <p:cNvGrpSpPr/>
          <p:nvPr/>
        </p:nvGrpSpPr>
        <p:grpSpPr>
          <a:xfrm>
            <a:off x="3514866" y="1603497"/>
            <a:ext cx="293541" cy="215187"/>
            <a:chOff x="5216456" y="3725484"/>
            <a:chExt cx="356196" cy="265631"/>
          </a:xfrm>
        </p:grpSpPr>
        <p:sp>
          <p:nvSpPr>
            <p:cNvPr id="905" name="Google Shape;905;p5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5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50"/>
          <p:cNvGrpSpPr/>
          <p:nvPr/>
        </p:nvGrpSpPr>
        <p:grpSpPr>
          <a:xfrm>
            <a:off x="2877591" y="2249897"/>
            <a:ext cx="293541" cy="215187"/>
            <a:chOff x="5216456" y="3725484"/>
            <a:chExt cx="356196" cy="265631"/>
          </a:xfrm>
        </p:grpSpPr>
        <p:sp>
          <p:nvSpPr>
            <p:cNvPr id="908" name="Google Shape;908;p5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50"/>
          <p:cNvGrpSpPr/>
          <p:nvPr/>
        </p:nvGrpSpPr>
        <p:grpSpPr>
          <a:xfrm>
            <a:off x="2877591" y="3366122"/>
            <a:ext cx="293541" cy="215187"/>
            <a:chOff x="5216456" y="3725484"/>
            <a:chExt cx="356196" cy="265631"/>
          </a:xfrm>
        </p:grpSpPr>
        <p:sp>
          <p:nvSpPr>
            <p:cNvPr id="911" name="Google Shape;911;p5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5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50"/>
          <p:cNvGrpSpPr/>
          <p:nvPr/>
        </p:nvGrpSpPr>
        <p:grpSpPr>
          <a:xfrm>
            <a:off x="2584066" y="3544347"/>
            <a:ext cx="293541" cy="215187"/>
            <a:chOff x="5216456" y="3725484"/>
            <a:chExt cx="356196" cy="265631"/>
          </a:xfrm>
        </p:grpSpPr>
        <p:sp>
          <p:nvSpPr>
            <p:cNvPr id="914" name="Google Shape;914;p50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50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6" name="Google Shape;916;p50"/>
          <p:cNvSpPr/>
          <p:nvPr/>
        </p:nvSpPr>
        <p:spPr>
          <a:xfrm>
            <a:off x="2630625" y="37595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0"/>
          <p:cNvSpPr/>
          <p:nvPr/>
        </p:nvSpPr>
        <p:spPr>
          <a:xfrm>
            <a:off x="1559325" y="19763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0"/>
          <p:cNvSpPr/>
          <p:nvPr/>
        </p:nvSpPr>
        <p:spPr>
          <a:xfrm>
            <a:off x="3734600" y="2401650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0"/>
          <p:cNvSpPr/>
          <p:nvPr/>
        </p:nvSpPr>
        <p:spPr>
          <a:xfrm>
            <a:off x="3219800" y="2861125"/>
            <a:ext cx="440400" cy="340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0"/>
          <p:cNvSpPr/>
          <p:nvPr/>
        </p:nvSpPr>
        <p:spPr>
          <a:xfrm>
            <a:off x="3762750" y="3108350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0"/>
          <p:cNvSpPr/>
          <p:nvPr/>
        </p:nvSpPr>
        <p:spPr>
          <a:xfrm>
            <a:off x="4767750" y="2693325"/>
            <a:ext cx="209400" cy="2151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6" name="Google Shape;926;p5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7" name="Google Shape;927;p51"/>
          <p:cNvSpPr txBox="1"/>
          <p:nvPr/>
        </p:nvSpPr>
        <p:spPr>
          <a:xfrm>
            <a:off x="462775" y="841325"/>
            <a:ext cx="78612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1940—1950: Early days: neural and computer science meet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1943: McCulloch &amp; Pitts: Boolean circuit model of brain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1950: Turing's “Computing Machinery and Intelligence”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1950—70: Excitement! Logic-driven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1950s: Early AI programs, including Samuel's checkers program, Newell &amp; Simon's Logic Theorist, Gelernter's Geometry Engine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1956: Dartmouth meeting: “Artificial Intelligence” adopted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1957: Newell, Shaw, Simon GPS, General Problem Solver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1965: Robinson's complete algorithm for logical reasoning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1970—90: Knowledge-based approaches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1969—79: Early development of knowledge-based systems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1980—88: Expert systems industry booms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1988—93: Expert systems industry busts: “AI Winter”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2" name="Google Shape;932;p5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 (short) History of 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5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8" name="Google Shape;938;p5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9" name="Google Shape;939;p52"/>
          <p:cNvSpPr txBox="1"/>
          <p:nvPr/>
        </p:nvSpPr>
        <p:spPr>
          <a:xfrm>
            <a:off x="462775" y="688925"/>
            <a:ext cx="7861200" cy="4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1990—2010: Statistical approaches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Resurgence of probability, focus on uncertainty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1992: TD-Gammon attains human-level performance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1996: Kasparov defeats Deep Blue at chess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1997: Deep Blue defeats Kasparov at chess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2002: Embodied AI; Roomba vacuum invented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2004: First DARPA Grand Challenge robot race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2007: Checkers is solved!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2010—2017: Big Data, GPUs, Deep Learning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2010: Google self-driving cars reach their 1000th mile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2011: Apple releases SIRI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2012: AlexNet (neural net) wins ImageNet (image recognition) competition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2015: DeepMind achieves human-level control in Atari games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2016: DeepMind’s AlphaGo beat Go Master, Lee Sedol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2016: Google Translate migrates to neural networks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5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 (short) History of 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5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0" name="Google Shape;950;p5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1" name="Google Shape;951;p53"/>
          <p:cNvSpPr txBox="1"/>
          <p:nvPr/>
        </p:nvSpPr>
        <p:spPr>
          <a:xfrm>
            <a:off x="462775" y="688925"/>
            <a:ext cx="78612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2017—: Scaling up, Large Language Models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2017: Google invents Transformer architecture </a:t>
            </a:r>
            <a:r>
              <a:rPr i="1"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“Attention is All You Need”</a:t>
            </a:r>
            <a:endParaRPr i="1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2017: DeepStack and Libratus defeat humans at poker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2018-2020: AlphaFold predicts protein structure from amino acids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2021-2022: Modern text-to-image generation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2022: OpenAI release ChatGPT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6" name="Google Shape;956;p5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 (short) History of 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5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2" name="Google Shape;962;p5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3" name="Google Shape;963;p54"/>
          <p:cNvSpPr txBox="1"/>
          <p:nvPr/>
        </p:nvSpPr>
        <p:spPr>
          <a:xfrm>
            <a:off x="431900" y="688925"/>
            <a:ext cx="8241600" cy="4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Healthcare: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medical imaging analysis, disease prediction, personalized medicine, drug discovery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Business &amp; finance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fraud detection, algorithmic trading, customer service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Retail &amp; E-commerce: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recommendation system, inventory management, AI shopping assistants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Transportation: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self-driving cars, traffic management, route planning,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autonomous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delivery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Education: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personalized learning platforms, automated grading, virtual teaching assistants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Entertainment: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AI-generated music and art, content development, AI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opponents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games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Cyber security: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threat detection, intrusion prevention, phishing detection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Industry: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Quality control, predictive maintenance, automation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Environment &amp; agriculture: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precision agriculture, wildlife conservation, climate change modelling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Scientific research: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Used in almost every branch of science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Legal systems: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Legal document review, predictive case outcomes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4A86E8"/>
              </a:buClr>
              <a:buSzPts val="1200"/>
              <a:buFont typeface="Montserrat Medium"/>
              <a:buChar char="●"/>
            </a:pP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And everywhere else: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Think of any field, AI is probably being used there in some form or capacity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4" name="Google Shape;964;p5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8" name="Google Shape;968;p5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are we using AI for Today?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5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4" name="Google Shape;974;p5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5" name="Google Shape;975;p55"/>
          <p:cNvSpPr txBox="1"/>
          <p:nvPr/>
        </p:nvSpPr>
        <p:spPr>
          <a:xfrm>
            <a:off x="462766" y="688927"/>
            <a:ext cx="82107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Physical tasks in unstructured environments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General reasoning and common sense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 abstract humor, irony, or sarcasm across cultures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Solve problems requiring deep common-sense knowledge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Truly creative and unaided scientific discovery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excels in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pattern recognition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remixing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but struggles with paradigm-shifting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originality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Ethics, emotion, and empathy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lacks consciousness, emotional states, and lived experience — it may </a:t>
            </a:r>
            <a:r>
              <a:rPr b="1"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simulate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emotion, but cannot </a:t>
            </a:r>
            <a:r>
              <a:rPr b="1"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feel</a:t>
            </a:r>
            <a:endParaRPr b="1" i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Intent and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accountability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cannot define its own goals — current AIs only optimize human-defined objectives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Cannot be legally or morally accountable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6" name="Google Shape;976;p5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0" name="Google Shape;980;p5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Some Things AI CANNOT DO (YET)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5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6" name="Google Shape;986;p5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7" name="Google Shape;987;p56"/>
          <p:cNvSpPr txBox="1"/>
          <p:nvPr/>
        </p:nvSpPr>
        <p:spPr>
          <a:xfrm>
            <a:off x="462766" y="688927"/>
            <a:ext cx="8210700" cy="3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It has been easier to mechanize many of the high-level tasks we usually associate with “intelligence” in people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e.g., symbolic integration, proving theorems, playing chess, medical diagnosis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However, it has been very hard to mechanize tasks that lots of animals can do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walking around without running into things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catching prey and avoiding predators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interpreting complex sensory information (e.g., visual, aural, …)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modeling the internal states of other animals from their behavior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working as a team (e.g., with pack animals)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4A86E8"/>
              </a:buClr>
              <a:buSzPts val="1400"/>
              <a:buFont typeface="Montserrat"/>
              <a:buChar char="●"/>
            </a:pPr>
            <a:r>
              <a:rPr b="1" i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Is there a fundamental difference between the two categories?</a:t>
            </a:r>
            <a:endParaRPr b="1" i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5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2" name="Google Shape;992;p5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is EASY and what is HARD?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5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8" name="Google Shape;998;p5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9" name="Google Shape;999;p57"/>
          <p:cNvSpPr txBox="1"/>
          <p:nvPr/>
        </p:nvSpPr>
        <p:spPr>
          <a:xfrm>
            <a:off x="431900" y="917525"/>
            <a:ext cx="82416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Brains (human minds) are very good at making rational decisions, but not perfect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Rational: </a:t>
            </a:r>
            <a:r>
              <a:rPr i="1"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maximally achieving pre-defined goals</a:t>
            </a:r>
            <a:endParaRPr i="1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are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often irrational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we make emotional, biased, or inconsistent decisions, not focused on achieving optimal results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“Brains are to intelligence as wings are to flight”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Unlike software, human-brain is hard to reverse engineer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Nonetheless, human-brain is still a great inspiration for AI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cannot yet build AI systems on the same scale as human-brain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 AI acting rationally may not align with human values unless those values are encoded — a core challenge in AI safety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0" name="Google Shape;1000;p5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5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5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4" name="Google Shape;1004;p5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Human-brains vs Rationality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5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0" name="Google Shape;1010;p5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1" name="Google Shape;1011;p58"/>
          <p:cNvSpPr txBox="1"/>
          <p:nvPr/>
        </p:nvSpPr>
        <p:spPr>
          <a:xfrm>
            <a:off x="462766" y="688927"/>
            <a:ext cx="8210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rt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i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5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5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6" name="Google Shape;1016;p5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What makes a Successful AI?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7" name="Google Shape;1017;p5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descr="https://cdn-images-1.medium.com/max/1000/1*6D4C9eKQ8UKlSMvI02VhXw.png" id="1018" name="Google Shape;101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575" y="851275"/>
            <a:ext cx="6625626" cy="37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3" name="Google Shape;1023;p5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4" name="Google Shape;1024;p59"/>
          <p:cNvSpPr txBox="1"/>
          <p:nvPr/>
        </p:nvSpPr>
        <p:spPr>
          <a:xfrm>
            <a:off x="431900" y="841325"/>
            <a:ext cx="8241600" cy="3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cognitive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approach [Cognitive means being or involving conscious intellectual activity (such as thinking, reasoning, or remembering)]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Goal: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Model how humans actually </a:t>
            </a:r>
            <a:r>
              <a:rPr b="1"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reason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with flaws, intuitions, biases, etc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 just to produce human-like behavior, but to produce a sequence of steps of the reasoning process that would be similar to what a human would do to solve the same problem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Cognitive architectures like ACT-R or SOAR, which try to simulate human thought processes, including human-like errors or biases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ChatGPT mimicking human conversation styles, often using analogies and informal tone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Measure of success: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the AI reason in the same way a human would?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Useful for: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Cognitive science, psychology, human-AI interaction research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25" name="Google Shape;1025;p5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5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Thinking like Human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5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5" name="Google Shape;1035;p6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6" name="Google Shape;1036;p60"/>
          <p:cNvSpPr txBox="1"/>
          <p:nvPr/>
        </p:nvSpPr>
        <p:spPr>
          <a:xfrm>
            <a:off x="431900" y="917525"/>
            <a:ext cx="82416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behaviourist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approach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Goal: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Make the AI behave indistinguishably from a human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 interested in how you get results, just the similarity to what human results are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Turing Test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if a machine can hold a conversation so natural that a human can't tell it's a machine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Measure of success: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 the AI appear human in action?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Useful for: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Chatbots, virtual assistants, humanoid robots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37" name="Google Shape;1037;p6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1" name="Google Shape;1041;p6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Acting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like Human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6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7" name="Google Shape;1047;p6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8" name="Google Shape;1048;p61"/>
          <p:cNvSpPr txBox="1"/>
          <p:nvPr/>
        </p:nvSpPr>
        <p:spPr>
          <a:xfrm>
            <a:off x="462766" y="688927"/>
            <a:ext cx="8210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rt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i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9" name="Google Shape;1049;p6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3" name="Google Shape;1053;p6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TURING TEST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6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1055" name="Google Shape;1055;p61" title="The-Turing-test-C-123R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025" y="1227875"/>
            <a:ext cx="6508801" cy="26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0" name="Google Shape;1060;p6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p62"/>
          <p:cNvSpPr txBox="1"/>
          <p:nvPr/>
        </p:nvSpPr>
        <p:spPr>
          <a:xfrm>
            <a:off x="431900" y="917525"/>
            <a:ext cx="8241600" cy="3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Goal: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Use formal logic, rules, and reasoning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(that can be rendered in algorithms)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reach correct conclusions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mphasis on systems that are probably correct, and guarantee finding an optimal solution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Expert systems (e.g., logic-based medical diagnosis engines)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Chain-of-thought reasoning in LLMs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Measure of success: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the AI follow valid reasoning paths to the right answer?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Useful for: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Domains requiring logical inference — math, theorem proving, knowledge systems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62" name="Google Shape;1062;p6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6" name="Google Shape;1066;p6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Thinking Rationally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6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2" name="Google Shape;1072;p6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3" name="Google Shape;1073;p63"/>
          <p:cNvSpPr txBox="1"/>
          <p:nvPr/>
        </p:nvSpPr>
        <p:spPr>
          <a:xfrm>
            <a:off x="431900" y="841325"/>
            <a:ext cx="8241600" cy="3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Goal: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Given goals and knowledge, t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ake actions that maximize expected outcomes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emphasis is to choose actions that optimize goals in uncertain environments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 make decisions that appear non-human or counterintuitive if they maximize winning chances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Intelligent agents, like self-driving cars or game-playing AIs (e.g., Stockfish for chess), that make optimal decisions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Measure of success: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the AI choose the best possible action under uncertainty?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Useful for: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Real-world decision-making, robotics, autonomous systems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Heuristic: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 rule of thumb, strategy, trick, simplification, or any other kind of device which drastically limits search for solutions in large problem spaces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Heuristics </a:t>
            </a:r>
            <a:r>
              <a:rPr b="1"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 not guarantee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optimal solutions (they do not guarantee any solution at all); but they can offer solutions which are </a:t>
            </a:r>
            <a:r>
              <a:rPr b="1"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good enough most of the time</a:t>
            </a:r>
            <a:endParaRPr b="1" i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6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8" name="Google Shape;1078;p6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Acting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Rationally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6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4" name="Google Shape;1084;p6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5" name="Google Shape;1085;p64"/>
          <p:cNvSpPr txBox="1"/>
          <p:nvPr/>
        </p:nvSpPr>
        <p:spPr>
          <a:xfrm>
            <a:off x="431900" y="841325"/>
            <a:ext cx="8241600" cy="29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Strong AI</a:t>
            </a: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(Hypothetical) a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rtificial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intelligence with general cognitive abilities that match or surpass human intelligence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Capable of learning, reasoning, and self-awareness (like a human)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Potential to exhibit intent, creativity, and emotional understanding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goal of OpenAI is to create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Artificial General Intelligence (AGI) –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which is still a theoretical concept (some conjecture that OpenAI has already developed AGI but is holding off for commercial reasons)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Think of Samantha from the 2013 movie </a:t>
            </a:r>
            <a:r>
              <a:rPr b="1"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6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0" name="Google Shape;1090;p6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Strong 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6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6" name="Google Shape;1096;p6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7" name="Google Shape;1097;p65"/>
          <p:cNvSpPr txBox="1"/>
          <p:nvPr/>
        </p:nvSpPr>
        <p:spPr>
          <a:xfrm>
            <a:off x="431900" y="841325"/>
            <a:ext cx="8241600" cy="3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Weak </a:t>
            </a: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AI: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Software or system designed and trained for a specific, narrow task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not possess (require) consciousness, self-awareness, or general reasoning ability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not truly </a:t>
            </a:r>
            <a:r>
              <a:rPr i="1"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understand,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uses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pattern recognition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statistical learning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Virtual assistants: Siri, Alexa, Google assistant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 language models: GPT-4o, Gemini, Claude, Deepseek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Recommendation systems: Netflix, Amazon, Spotify recommendations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Specific applications: Gmail spam filter, Facial recognition systems,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Autonomous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vehicles, Stockfish (chess engine)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8" name="Google Shape;1098;p6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6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2" name="Google Shape;1102;p6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Weak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6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6"/>
          <p:cNvSpPr txBox="1"/>
          <p:nvPr/>
        </p:nvSpPr>
        <p:spPr>
          <a:xfrm>
            <a:off x="431900" y="841325"/>
            <a:ext cx="82416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6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6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6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3" name="Google Shape;1113;p6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1114" name="Google Shape;1114;p66"/>
          <p:cNvSpPr/>
          <p:nvPr/>
        </p:nvSpPr>
        <p:spPr>
          <a:xfrm>
            <a:off x="2087525" y="1675225"/>
            <a:ext cx="5287500" cy="126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“The key question is not whether machines can think, but whether people can still think.”</a:t>
            </a:r>
            <a:r>
              <a:rPr i="1" lang="en"/>
              <a:t> </a:t>
            </a:r>
            <a:r>
              <a:rPr lang="en"/>
              <a:t>– Stuart Russell</a:t>
            </a:r>
            <a:r>
              <a:rPr i="1" lang="en"/>
              <a:t> </a:t>
            </a:r>
            <a:endParaRPr i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