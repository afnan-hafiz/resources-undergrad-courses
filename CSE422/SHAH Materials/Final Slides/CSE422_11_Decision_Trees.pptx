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Montserrat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19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Medium-bold.fntdata"/><Relationship Id="rId30" Type="http://schemas.openxmlformats.org/officeDocument/2006/relationships/font" Target="fonts/MontserratMedium-regular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f6be204f25_1_37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2f6be204f25_1_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7836e8bb12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7836e8bb1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7836e8bb12_0_5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7836e8bb12_0_5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7b5229fb63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7b5229fb6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7a0bdbe641_0_12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7a0bdbe641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7a0bdbe641_0_13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7a0bdbe641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7b5229fb63_0_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7b5229fb63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7836e8bb12_0_47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7836e8bb12_0_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7a0bdbe641_0_15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7a0bdbe641_0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7a0bdbe641_0_17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7a0bdbe641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7a0bdbe641_0_1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7a0bdbe641_0_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7a0bdbe641_0_20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7a0bdbe641_0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7a0bdbe641_0_22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7a0bdbe641_0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7a0bdbe641_0_24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37a0bdbe641_0_2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7a0bdbe641_0_26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7a0bdbe641_0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7a0bdbe641_0_28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g37a0bdbe641_0_2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7a0bdbe641_0_31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g37a0bdbe641_0_3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7a0bdbe641_0_33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37a0bdbe641_0_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7a0bdbe641_0_30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37a0bdbe641_0_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4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110" name="Google Shape;110;p14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" name="Google Shape;111;p14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" name="Google Shape;112;p14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" name="Google Shape;113;p14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" name="Google Shape;114;p14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" name="Google Shape;115;p14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" name="Google Shape;116;p14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" name="Google Shape;117;p14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" name="Google Shape;119;p14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" name="Google Shape;120;p14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" name="Google Shape;121;p14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" name="Google Shape;122;p14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" name="Google Shape;123;p14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" name="Google Shape;124;p14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14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26" name="Google Shape;126;p14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27" name="Google Shape;127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2" name="Google Shape;132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33" name="Google Shape;133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4" name="Google Shape;134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5" name="Google Shape;135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6" name="Google Shape;136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7" name="Google Shape;137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38" name="Google Shape;138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43" name="Google Shape;143;p14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44" name="Google Shape;144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" name="Google Shape;147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49" name="Google Shape;149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50" name="Google Shape;150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1" name="Google Shape;151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2" name="Google Shape;152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3" name="Google Shape;153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5" name="Google Shape;155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7" name="Google Shape;157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8" name="Google Shape;158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60" name="Google Shape;160;p14"/>
          <p:cNvSpPr txBox="1"/>
          <p:nvPr>
            <p:ph idx="11" type="ftr"/>
          </p:nvPr>
        </p:nvSpPr>
        <p:spPr>
          <a:xfrm>
            <a:off x="462779" y="4929573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14"/>
          <p:cNvSpPr txBox="1"/>
          <p:nvPr>
            <p:ph idx="10" type="dt"/>
          </p:nvPr>
        </p:nvSpPr>
        <p:spPr>
          <a:xfrm>
            <a:off x="7007967" y="4933014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14"/>
          <p:cNvSpPr txBox="1"/>
          <p:nvPr>
            <p:ph idx="12" type="sldNum"/>
          </p:nvPr>
        </p:nvSpPr>
        <p:spPr>
          <a:xfrm>
            <a:off x="8037713" y="4929573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5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165" name="Google Shape;165;p1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1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" name="Google Shape;167;p1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" name="Google Shape;168;p1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" name="Google Shape;169;p1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" name="Google Shape;170;p1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" name="Google Shape;171;p1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" name="Google Shape;172;p1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" name="Google Shape;173;p1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" name="Google Shape;174;p1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" name="Google Shape;175;p1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" name="Google Shape;176;p1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" name="Google Shape;177;p1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" name="Google Shape;178;p1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" name="Google Shape;179;p1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" name="Google Shape;180;p1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81" name="Google Shape;181;p1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82" name="Google Shape;182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1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87" name="Google Shape;187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88" name="Google Shape;188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" name="Google Shape;189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0" name="Google Shape;190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1" name="Google Shape;191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2" name="Google Shape;192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93" name="Google Shape;193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4" name="Google Shape;194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5" name="Google Shape;195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6" name="Google Shape;196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7" name="Google Shape;197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98" name="Google Shape;198;p1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99" name="Google Shape;199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0" name="Google Shape;200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1" name="Google Shape;201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15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4" name="Google Shape;204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5" name="Google Shape;205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6" name="Google Shape;206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7" name="Google Shape;207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8" name="Google Shape;208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9" name="Google Shape;209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10" name="Google Shape;210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1" name="Google Shape;211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" name="Google Shape;212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3" name="Google Shape;213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4" name="Google Shape;214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15" name="Google Shape;215;p15"/>
          <p:cNvSpPr txBox="1"/>
          <p:nvPr>
            <p:ph type="ctrTitle"/>
          </p:nvPr>
        </p:nvSpPr>
        <p:spPr>
          <a:xfrm>
            <a:off x="970384" y="1432010"/>
            <a:ext cx="7203233" cy="253746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15"/>
          <p:cNvSpPr txBox="1"/>
          <p:nvPr>
            <p:ph idx="1" type="subTitle"/>
          </p:nvPr>
        </p:nvSpPr>
        <p:spPr>
          <a:xfrm>
            <a:off x="970384" y="4074423"/>
            <a:ext cx="72032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rgbClr val="A43E27"/>
                </a:solidFill>
              </a:defRPr>
            </a:lvl1pPr>
            <a:lvl2pPr lvl="1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217" name="Google Shape;217;p15"/>
          <p:cNvCxnSpPr/>
          <p:nvPr/>
        </p:nvCxnSpPr>
        <p:spPr>
          <a:xfrm>
            <a:off x="971550" y="3970631"/>
            <a:ext cx="72009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0" name="Google Shape;220;p16"/>
          <p:cNvSpPr txBox="1"/>
          <p:nvPr>
            <p:ph idx="1" type="body"/>
          </p:nvPr>
        </p:nvSpPr>
        <p:spPr>
          <a:xfrm>
            <a:off x="971550" y="1485901"/>
            <a:ext cx="7200900" cy="2857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6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16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16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AF4329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17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226" name="Google Shape;226;p17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" name="Google Shape;227;p17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17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p17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17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17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17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17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17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17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" name="Google Shape;236;p17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" name="Google Shape;237;p17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" name="Google Shape;238;p17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" name="Google Shape;239;p17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" name="Google Shape;240;p17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" name="Google Shape;241;p17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42" name="Google Shape;242;p17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43" name="Google Shape;243;p1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1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5" name="Google Shape;245;p1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6" name="Google Shape;246;p1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1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48" name="Google Shape;248;p1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49" name="Google Shape;249;p1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1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1" name="Google Shape;251;p1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2" name="Google Shape;252;p1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3" name="Google Shape;253;p1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54" name="Google Shape;254;p1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1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6" name="Google Shape;256;p1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7" name="Google Shape;257;p1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1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59" name="Google Shape;259;p17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0" name="Google Shape;260;p1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1" name="Google Shape;261;p1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2" name="Google Shape;262;p1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1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17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65" name="Google Shape;265;p1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66" name="Google Shape;266;p1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7" name="Google Shape;267;p1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9" name="Google Shape;269;p1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70" name="Google Shape;270;p1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71" name="Google Shape;271;p1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1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1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" name="Google Shape;274;p1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" name="Google Shape;275;p1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76" name="Google Shape;276;p17"/>
          <p:cNvSpPr txBox="1"/>
          <p:nvPr>
            <p:ph type="title"/>
          </p:nvPr>
        </p:nvSpPr>
        <p:spPr>
          <a:xfrm>
            <a:off x="971550" y="1906180"/>
            <a:ext cx="7200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7" name="Google Shape;277;p17"/>
          <p:cNvSpPr txBox="1"/>
          <p:nvPr>
            <p:ph idx="1" type="body"/>
          </p:nvPr>
        </p:nvSpPr>
        <p:spPr>
          <a:xfrm>
            <a:off x="971550" y="4073652"/>
            <a:ext cx="720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278" name="Google Shape;278;p17"/>
          <p:cNvCxnSpPr/>
          <p:nvPr/>
        </p:nvCxnSpPr>
        <p:spPr>
          <a:xfrm>
            <a:off x="971550" y="3970631"/>
            <a:ext cx="7200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1" name="Google Shape;281;p18"/>
          <p:cNvSpPr txBox="1"/>
          <p:nvPr>
            <p:ph idx="1" type="body"/>
          </p:nvPr>
        </p:nvSpPr>
        <p:spPr>
          <a:xfrm>
            <a:off x="971550" y="1485899"/>
            <a:ext cx="3429000" cy="285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2" name="Google Shape;282;p18"/>
          <p:cNvSpPr txBox="1"/>
          <p:nvPr>
            <p:ph idx="2" type="body"/>
          </p:nvPr>
        </p:nvSpPr>
        <p:spPr>
          <a:xfrm>
            <a:off x="4743450" y="1485899"/>
            <a:ext cx="3429000" cy="285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18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4" name="Google Shape;284;p18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5" name="Google Shape;285;p18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19"/>
          <p:cNvSpPr txBox="1"/>
          <p:nvPr>
            <p:ph idx="1" type="body"/>
          </p:nvPr>
        </p:nvSpPr>
        <p:spPr>
          <a:xfrm>
            <a:off x="971550" y="1363742"/>
            <a:ext cx="342900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289" name="Google Shape;289;p19"/>
          <p:cNvSpPr txBox="1"/>
          <p:nvPr>
            <p:ph idx="2" type="body"/>
          </p:nvPr>
        </p:nvSpPr>
        <p:spPr>
          <a:xfrm>
            <a:off x="971550" y="1877785"/>
            <a:ext cx="3429000" cy="24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0" name="Google Shape;290;p19"/>
          <p:cNvSpPr txBox="1"/>
          <p:nvPr>
            <p:ph idx="3" type="body"/>
          </p:nvPr>
        </p:nvSpPr>
        <p:spPr>
          <a:xfrm>
            <a:off x="4743450" y="1363742"/>
            <a:ext cx="342900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291" name="Google Shape;291;p19"/>
          <p:cNvSpPr txBox="1"/>
          <p:nvPr>
            <p:ph idx="4" type="body"/>
          </p:nvPr>
        </p:nvSpPr>
        <p:spPr>
          <a:xfrm>
            <a:off x="4743450" y="1877785"/>
            <a:ext cx="3429000" cy="24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2" name="Google Shape;292;p19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3" name="Google Shape;293;p19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4" name="Google Shape;294;p19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20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20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9" name="Google Shape;299;p20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21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302" name="Google Shape;302;p21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" name="Google Shape;303;p21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" name="Google Shape;304;p21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" name="Google Shape;305;p21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" name="Google Shape;306;p21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1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" name="Google Shape;308;p21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" name="Google Shape;309;p21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0" name="Google Shape;310;p21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" name="Google Shape;311;p21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21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1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21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" name="Google Shape;315;p21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" name="Google Shape;316;p21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21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18" name="Google Shape;318;p21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19" name="Google Shape;319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2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24" name="Google Shape;324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25" name="Google Shape;325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6" name="Google Shape;326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7" name="Google Shape;327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8" name="Google Shape;328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29" name="Google Shape;329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30" name="Google Shape;330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35" name="Google Shape;335;p21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36" name="Google Shape;336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21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1" name="Google Shape;341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2" name="Google Shape;342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3" name="Google Shape;343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4" name="Google Shape;344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7" name="Google Shape;347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52" name="Google Shape;352;p2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 txBox="1"/>
          <p:nvPr>
            <p:ph type="title"/>
          </p:nvPr>
        </p:nvSpPr>
        <p:spPr>
          <a:xfrm>
            <a:off x="5934864" y="428625"/>
            <a:ext cx="2743200" cy="16478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4" name="Google Shape;354;p21"/>
          <p:cNvSpPr txBox="1"/>
          <p:nvPr>
            <p:ph idx="1" type="body"/>
          </p:nvPr>
        </p:nvSpPr>
        <p:spPr>
          <a:xfrm>
            <a:off x="407398" y="428625"/>
            <a:ext cx="4663440" cy="4286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238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55" name="Google Shape;355;p21"/>
          <p:cNvSpPr txBox="1"/>
          <p:nvPr>
            <p:ph idx="2" type="body"/>
          </p:nvPr>
        </p:nvSpPr>
        <p:spPr>
          <a:xfrm>
            <a:off x="5934864" y="2246259"/>
            <a:ext cx="2743200" cy="17144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cxnSp>
        <p:nvCxnSpPr>
          <p:cNvPr id="356" name="Google Shape;356;p21"/>
          <p:cNvCxnSpPr/>
          <p:nvPr/>
        </p:nvCxnSpPr>
        <p:spPr>
          <a:xfrm>
            <a:off x="5942317" y="2171700"/>
            <a:ext cx="274448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21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8" name="Google Shape;358;p21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9" name="Google Shape;359;p21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22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362" name="Google Shape;362;p22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" name="Google Shape;363;p22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" name="Google Shape;364;p22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5" name="Google Shape;365;p22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" name="Google Shape;366;p22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" name="Google Shape;367;p22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" name="Google Shape;368;p22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9" name="Google Shape;369;p22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" name="Google Shape;370;p22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" name="Google Shape;371;p22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" name="Google Shape;372;p22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" name="Google Shape;373;p22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" name="Google Shape;374;p22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" name="Google Shape;375;p22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" name="Google Shape;376;p22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2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78" name="Google Shape;378;p22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79" name="Google Shape;379;p2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2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2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2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22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84" name="Google Shape;384;p2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5" name="Google Shape;385;p2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6" name="Google Shape;386;p2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7" name="Google Shape;387;p2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8" name="Google Shape;388;p2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9" name="Google Shape;389;p2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0" name="Google Shape;390;p2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2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2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3" name="Google Shape;393;p2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2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95" name="Google Shape;395;p22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96" name="Google Shape;396;p2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2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2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2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22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01" name="Google Shape;401;p2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02" name="Google Shape;402;p2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3" name="Google Shape;403;p2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4" name="Google Shape;404;p2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5" name="Google Shape;405;p2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" name="Google Shape;406;p2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07" name="Google Shape;407;p2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2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2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2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2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412" name="Google Shape;412;p22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22"/>
          <p:cNvCxnSpPr/>
          <p:nvPr/>
        </p:nvCxnSpPr>
        <p:spPr>
          <a:xfrm>
            <a:off x="5942317" y="2171700"/>
            <a:ext cx="274448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4" name="Google Shape;414;p22"/>
          <p:cNvSpPr txBox="1"/>
          <p:nvPr>
            <p:ph type="title"/>
          </p:nvPr>
        </p:nvSpPr>
        <p:spPr>
          <a:xfrm>
            <a:off x="5932170" y="432054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." id="415" name="Google Shape;415;p22"/>
          <p:cNvSpPr/>
          <p:nvPr>
            <p:ph idx="2" type="pic"/>
          </p:nvPr>
        </p:nvSpPr>
        <p:spPr>
          <a:xfrm>
            <a:off x="3309" y="-119"/>
            <a:ext cx="54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22"/>
          <p:cNvSpPr txBox="1"/>
          <p:nvPr>
            <p:ph idx="1" type="body"/>
          </p:nvPr>
        </p:nvSpPr>
        <p:spPr>
          <a:xfrm>
            <a:off x="5932170" y="2249424"/>
            <a:ext cx="2743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9" name="Google Shape;419;p23"/>
          <p:cNvSpPr txBox="1"/>
          <p:nvPr>
            <p:ph idx="1" type="body"/>
          </p:nvPr>
        </p:nvSpPr>
        <p:spPr>
          <a:xfrm rot="5400000">
            <a:off x="3143250" y="-685800"/>
            <a:ext cx="2857499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23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1" name="Google Shape;421;p23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2" name="Google Shape;422;p23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"/>
          <p:cNvSpPr txBox="1"/>
          <p:nvPr>
            <p:ph type="title"/>
          </p:nvPr>
        </p:nvSpPr>
        <p:spPr>
          <a:xfrm rot="5400000">
            <a:off x="5551714" y="1722663"/>
            <a:ext cx="3976007" cy="126546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5" name="Google Shape;425;p24"/>
          <p:cNvSpPr txBox="1"/>
          <p:nvPr>
            <p:ph idx="1" type="body"/>
          </p:nvPr>
        </p:nvSpPr>
        <p:spPr>
          <a:xfrm rot="5400000">
            <a:off x="1828800" y="-489858"/>
            <a:ext cx="3976007" cy="56905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24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7" name="Google Shape;427;p24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8" name="Google Shape;428;p24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3000">
              <a:schemeClr val="lt1"/>
            </a:gs>
            <a:gs pos="100000">
              <a:srgbClr val="F2F2F2">
                <a:alpha val="64705"/>
              </a:srgbClr>
            </a:gs>
          </a:gsLst>
          <a:lin ang="54000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" y="-146957"/>
            <a:ext cx="9144002" cy="5143500"/>
            <a:chOff x="-1" y="0"/>
            <a:chExt cx="12192002" cy="6858000"/>
          </a:xfrm>
        </p:grpSpPr>
        <p:cxnSp>
          <p:nvCxnSpPr>
            <p:cNvPr id="52" name="Google Shape;52;p13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" name="Google Shape;53;p13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" name="Google Shape;54;p13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" name="Google Shape;55;p13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" name="Google Shape;56;p13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8" name="Google Shape;68;p13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69" name="Google Shape;69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4" name="Google Shape;74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75" name="Google Shape;75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0" name="Google Shape;80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5" name="Google Shape;85;p13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13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>
            <a:off x="971550" y="1485901"/>
            <a:ext cx="7200900" cy="2857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A43E27"/>
              </a:buClr>
              <a:buSzPts val="1500"/>
              <a:buFont typeface="Arial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200"/>
              <a:buFont typeface="Arial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3E27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04" name="Google Shape;104;p13"/>
          <p:cNvCxnSpPr/>
          <p:nvPr/>
        </p:nvCxnSpPr>
        <p:spPr>
          <a:xfrm>
            <a:off x="457200" y="462915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43E2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13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4.png"/><Relationship Id="rId11" Type="http://schemas.openxmlformats.org/officeDocument/2006/relationships/image" Target="../media/image20.png"/><Relationship Id="rId10" Type="http://schemas.openxmlformats.org/officeDocument/2006/relationships/image" Target="../media/image30.png"/><Relationship Id="rId12" Type="http://schemas.openxmlformats.org/officeDocument/2006/relationships/image" Target="../media/image21.png"/><Relationship Id="rId9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Relationship Id="rId4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9" Type="http://schemas.openxmlformats.org/officeDocument/2006/relationships/image" Target="../media/image27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"/>
          <p:cNvSpPr/>
          <p:nvPr/>
        </p:nvSpPr>
        <p:spPr>
          <a:xfrm>
            <a:off x="535846" y="3178756"/>
            <a:ext cx="8072400" cy="11964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40A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5"/>
          <p:cNvSpPr txBox="1"/>
          <p:nvPr/>
        </p:nvSpPr>
        <p:spPr>
          <a:xfrm>
            <a:off x="538975" y="1675071"/>
            <a:ext cx="8072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Decision Tree</a:t>
            </a:r>
            <a:endParaRPr b="1" sz="3600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535896" y="1171357"/>
            <a:ext cx="807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CSE422</a:t>
            </a:r>
            <a:r>
              <a:rPr b="1" i="0" lang="en" sz="1800" u="none" cap="none" strike="noStrike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lang="en" sz="18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Artificial intelligence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498404" y="3361002"/>
            <a:ext cx="8072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Asif Shahriar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Lecturer, CSE, BRACU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25"/>
          <p:cNvSpPr txBox="1"/>
          <p:nvPr>
            <p:ph idx="12" type="sldNum"/>
          </p:nvPr>
        </p:nvSpPr>
        <p:spPr>
          <a:xfrm>
            <a:off x="8037713" y="4929573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25"/>
          <p:cNvSpPr txBox="1"/>
          <p:nvPr>
            <p:ph idx="11" type="ftr"/>
          </p:nvPr>
        </p:nvSpPr>
        <p:spPr>
          <a:xfrm>
            <a:off x="462779" y="4929573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3" name="Google Shape;443;p2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4" name="Google Shape;444;p2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2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Example of a Decision Tree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2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50" name="Google Shape;450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52" name="Google Shape;4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776287"/>
            <a:ext cx="3565525" cy="36877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" name="Google Shape;453;p26"/>
          <p:cNvCxnSpPr/>
          <p:nvPr/>
        </p:nvCxnSpPr>
        <p:spPr>
          <a:xfrm>
            <a:off x="6965950" y="2774950"/>
            <a:ext cx="243000" cy="527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4" name="Google Shape;454;p26"/>
          <p:cNvCxnSpPr/>
          <p:nvPr/>
        </p:nvCxnSpPr>
        <p:spPr>
          <a:xfrm flipH="1">
            <a:off x="5835800" y="2774950"/>
            <a:ext cx="323700" cy="527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5" name="Google Shape;455;p26"/>
          <p:cNvCxnSpPr/>
          <p:nvPr/>
        </p:nvCxnSpPr>
        <p:spPr>
          <a:xfrm flipH="1">
            <a:off x="6481787" y="1981200"/>
            <a:ext cx="403200" cy="5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6" name="Google Shape;456;p26"/>
          <p:cNvCxnSpPr/>
          <p:nvPr/>
        </p:nvCxnSpPr>
        <p:spPr>
          <a:xfrm>
            <a:off x="7693025" y="1981200"/>
            <a:ext cx="484200" cy="5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7" name="Google Shape;457;p26"/>
          <p:cNvCxnSpPr/>
          <p:nvPr/>
        </p:nvCxnSpPr>
        <p:spPr>
          <a:xfrm>
            <a:off x="6643687" y="1254125"/>
            <a:ext cx="565200" cy="463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8" name="Google Shape;458;p26"/>
          <p:cNvCxnSpPr/>
          <p:nvPr/>
        </p:nvCxnSpPr>
        <p:spPr>
          <a:xfrm flipH="1">
            <a:off x="5270450" y="1254125"/>
            <a:ext cx="565200" cy="463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9" name="Google Shape;459;p26"/>
          <p:cNvSpPr txBox="1"/>
          <p:nvPr/>
        </p:nvSpPr>
        <p:spPr>
          <a:xfrm>
            <a:off x="5788025" y="990600"/>
            <a:ext cx="936600" cy="3387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993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6"/>
          <p:cNvSpPr txBox="1"/>
          <p:nvPr/>
        </p:nvSpPr>
        <p:spPr>
          <a:xfrm>
            <a:off x="6804025" y="1717675"/>
            <a:ext cx="935100" cy="3387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993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6"/>
          <p:cNvSpPr txBox="1"/>
          <p:nvPr/>
        </p:nvSpPr>
        <p:spPr>
          <a:xfrm>
            <a:off x="6078537" y="2509837"/>
            <a:ext cx="968400" cy="3387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993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7005637" y="3298825"/>
            <a:ext cx="627000" cy="366600"/>
          </a:xfrm>
          <a:prstGeom prst="roundRect">
            <a:avLst>
              <a:gd fmla="val 3622" name="adj"/>
            </a:avLst>
          </a:prstGeom>
          <a:solidFill>
            <a:srgbClr val="33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p26"/>
          <p:cNvSpPr txBox="1"/>
          <p:nvPr/>
        </p:nvSpPr>
        <p:spPr>
          <a:xfrm>
            <a:off x="6929437" y="3298825"/>
            <a:ext cx="68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5513387" y="3316287"/>
            <a:ext cx="654000" cy="363600"/>
          </a:xfrm>
          <a:prstGeom prst="roundRect">
            <a:avLst>
              <a:gd fmla="val 16667" name="adj"/>
            </a:avLst>
          </a:prstGeom>
          <a:solidFill>
            <a:srgbClr val="33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26"/>
          <p:cNvSpPr txBox="1"/>
          <p:nvPr/>
        </p:nvSpPr>
        <p:spPr>
          <a:xfrm>
            <a:off x="5610225" y="3302000"/>
            <a:ext cx="48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4948237" y="1731962"/>
            <a:ext cx="685800" cy="347700"/>
          </a:xfrm>
          <a:prstGeom prst="roundRect">
            <a:avLst>
              <a:gd fmla="val 16667" name="adj"/>
            </a:avLst>
          </a:prstGeom>
          <a:solidFill>
            <a:srgbClr val="33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26"/>
          <p:cNvSpPr txBox="1"/>
          <p:nvPr/>
        </p:nvSpPr>
        <p:spPr>
          <a:xfrm>
            <a:off x="5043487" y="1717675"/>
            <a:ext cx="48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7843837" y="2536825"/>
            <a:ext cx="685800" cy="381000"/>
          </a:xfrm>
          <a:prstGeom prst="roundRect">
            <a:avLst>
              <a:gd fmla="val 16667" name="adj"/>
            </a:avLst>
          </a:prstGeom>
          <a:solidFill>
            <a:srgbClr val="33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26"/>
          <p:cNvSpPr txBox="1"/>
          <p:nvPr/>
        </p:nvSpPr>
        <p:spPr>
          <a:xfrm>
            <a:off x="7920037" y="2536825"/>
            <a:ext cx="48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6"/>
          <p:cNvSpPr txBox="1"/>
          <p:nvPr/>
        </p:nvSpPr>
        <p:spPr>
          <a:xfrm>
            <a:off x="5060950" y="1254125"/>
            <a:ext cx="5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6"/>
          <p:cNvSpPr txBox="1"/>
          <p:nvPr/>
        </p:nvSpPr>
        <p:spPr>
          <a:xfrm>
            <a:off x="6926262" y="1254125"/>
            <a:ext cx="44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6"/>
          <p:cNvSpPr txBox="1"/>
          <p:nvPr/>
        </p:nvSpPr>
        <p:spPr>
          <a:xfrm>
            <a:off x="7908925" y="2019300"/>
            <a:ext cx="93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r>
              <a:rPr b="0" i="0" lang="en" sz="1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6"/>
          <p:cNvSpPr txBox="1"/>
          <p:nvPr/>
        </p:nvSpPr>
        <p:spPr>
          <a:xfrm>
            <a:off x="6548375" y="1971675"/>
            <a:ext cx="118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</a:t>
            </a:r>
            <a:endParaRPr sz="1600"/>
          </a:p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Divorced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6"/>
          <p:cNvSpPr txBox="1"/>
          <p:nvPr/>
        </p:nvSpPr>
        <p:spPr>
          <a:xfrm>
            <a:off x="5313362" y="2840037"/>
            <a:ext cx="72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6"/>
          <p:cNvSpPr txBox="1"/>
          <p:nvPr/>
        </p:nvSpPr>
        <p:spPr>
          <a:xfrm>
            <a:off x="6707167" y="2840025"/>
            <a:ext cx="122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&gt;= 80K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3810000" y="2438400"/>
            <a:ext cx="914400" cy="29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p26"/>
          <p:cNvSpPr txBox="1"/>
          <p:nvPr/>
        </p:nvSpPr>
        <p:spPr>
          <a:xfrm>
            <a:off x="762000" y="4495800"/>
            <a:ext cx="25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6"/>
          <p:cNvSpPr txBox="1"/>
          <p:nvPr/>
        </p:nvSpPr>
        <p:spPr>
          <a:xfrm>
            <a:off x="5029200" y="4464050"/>
            <a:ext cx="31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Model:  Decision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3" name="Google Shape;483;p2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4" name="Google Shape;484;p2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2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489" name="Google Shape;489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490" name="Google Shape;490;p27"/>
          <p:cNvGrpSpPr/>
          <p:nvPr/>
        </p:nvGrpSpPr>
        <p:grpSpPr>
          <a:xfrm>
            <a:off x="662227" y="990600"/>
            <a:ext cx="4405680" cy="3571961"/>
            <a:chOff x="370" y="1584"/>
            <a:chExt cx="2531" cy="1834"/>
          </a:xfrm>
        </p:grpSpPr>
        <p:cxnSp>
          <p:nvCxnSpPr>
            <p:cNvPr id="491" name="Google Shape;491;p27"/>
            <p:cNvCxnSpPr/>
            <p:nvPr/>
          </p:nvCxnSpPr>
          <p:spPr>
            <a:xfrm>
              <a:off x="1655" y="2708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92" name="Google Shape;492;p27"/>
            <p:cNvCxnSpPr/>
            <p:nvPr/>
          </p:nvCxnSpPr>
          <p:spPr>
            <a:xfrm flipH="1">
              <a:off x="847" y="2708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93" name="Google Shape;493;p27"/>
            <p:cNvCxnSpPr/>
            <p:nvPr/>
          </p:nvCxnSpPr>
          <p:spPr>
            <a:xfrm flipH="1">
              <a:off x="1304" y="2208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94" name="Google Shape;494;p27"/>
            <p:cNvCxnSpPr/>
            <p:nvPr/>
          </p:nvCxnSpPr>
          <p:spPr>
            <a:xfrm>
              <a:off x="2025" y="2247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95" name="Google Shape;495;p27"/>
            <p:cNvCxnSpPr/>
            <p:nvPr/>
          </p:nvCxnSpPr>
          <p:spPr>
            <a:xfrm>
              <a:off x="1452" y="1750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96" name="Google Shape;496;p27"/>
            <p:cNvCxnSpPr/>
            <p:nvPr/>
          </p:nvCxnSpPr>
          <p:spPr>
            <a:xfrm flipH="1">
              <a:off x="643" y="1750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97" name="Google Shape;497;p27"/>
            <p:cNvSpPr txBox="1"/>
            <p:nvPr/>
          </p:nvSpPr>
          <p:spPr>
            <a:xfrm>
              <a:off x="913" y="1584"/>
              <a:ext cx="600" cy="300"/>
            </a:xfrm>
            <a:prstGeom prst="rect">
              <a:avLst/>
            </a:prstGeom>
            <a:solidFill>
              <a:srgbClr val="FFFF00"/>
            </a:solidFill>
            <a:ln cap="flat" cmpd="sng" w="12700">
              <a:solidFill>
                <a:srgbClr val="0000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1993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2D1993"/>
                  </a:solidFill>
                  <a:latin typeface="Arial"/>
                  <a:ea typeface="Arial"/>
                  <a:cs typeface="Arial"/>
                  <a:sym typeface="Arial"/>
                </a:rPr>
                <a:t>Refund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7"/>
            <p:cNvSpPr txBox="1"/>
            <p:nvPr/>
          </p:nvSpPr>
          <p:spPr>
            <a:xfrm>
              <a:off x="1553" y="2042"/>
              <a:ext cx="600" cy="300"/>
            </a:xfrm>
            <a:prstGeom prst="rect">
              <a:avLst/>
            </a:prstGeom>
            <a:solidFill>
              <a:srgbClr val="FFFF00"/>
            </a:solidFill>
            <a:ln cap="flat" cmpd="sng" w="12700">
              <a:solidFill>
                <a:srgbClr val="0000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1993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2D1993"/>
                  </a:solidFill>
                  <a:latin typeface="Arial"/>
                  <a:ea typeface="Arial"/>
                  <a:cs typeface="Arial"/>
                  <a:sym typeface="Arial"/>
                </a:rPr>
                <a:t>MarSt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7"/>
            <p:cNvSpPr txBox="1"/>
            <p:nvPr/>
          </p:nvSpPr>
          <p:spPr>
            <a:xfrm>
              <a:off x="1096" y="2541"/>
              <a:ext cx="600" cy="300"/>
            </a:xfrm>
            <a:prstGeom prst="rect">
              <a:avLst/>
            </a:prstGeom>
            <a:solidFill>
              <a:srgbClr val="FFFF00"/>
            </a:solidFill>
            <a:ln cap="flat" cmpd="sng" w="12700">
              <a:solidFill>
                <a:srgbClr val="0000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1993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2D1993"/>
                  </a:solidFill>
                  <a:latin typeface="Arial"/>
                  <a:ea typeface="Arial"/>
                  <a:cs typeface="Arial"/>
                  <a:sym typeface="Arial"/>
                </a:rPr>
                <a:t>TaxInc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7"/>
            <p:cNvSpPr/>
            <p:nvPr/>
          </p:nvSpPr>
          <p:spPr>
            <a:xfrm>
              <a:off x="1680" y="3038"/>
              <a:ext cx="600" cy="300"/>
            </a:xfrm>
            <a:prstGeom prst="roundRect">
              <a:avLst>
                <a:gd fmla="val 3622" name="adj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1" name="Google Shape;501;p27"/>
            <p:cNvSpPr txBox="1"/>
            <p:nvPr/>
          </p:nvSpPr>
          <p:spPr>
            <a:xfrm>
              <a:off x="1632" y="307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lang="en" sz="1600">
                  <a:solidFill>
                    <a:srgbClr val="800000"/>
                  </a:solidFill>
                </a:rPr>
                <a:t>E</a:t>
              </a:r>
              <a:r>
                <a:rPr b="0" i="0" lang="en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7"/>
            <p:cNvSpPr/>
            <p:nvPr/>
          </p:nvSpPr>
          <p:spPr>
            <a:xfrm>
              <a:off x="740" y="3049"/>
              <a:ext cx="300" cy="300"/>
            </a:xfrm>
            <a:prstGeom prst="roundRect">
              <a:avLst>
                <a:gd fmla="val 16667" name="adj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27"/>
            <p:cNvSpPr txBox="1"/>
            <p:nvPr/>
          </p:nvSpPr>
          <p:spPr>
            <a:xfrm>
              <a:off x="726" y="311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7"/>
            <p:cNvSpPr/>
            <p:nvPr/>
          </p:nvSpPr>
          <p:spPr>
            <a:xfrm>
              <a:off x="384" y="2051"/>
              <a:ext cx="300" cy="300"/>
            </a:xfrm>
            <a:prstGeom prst="roundRect">
              <a:avLst>
                <a:gd fmla="val 16667" name="adj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5" name="Google Shape;505;p27"/>
            <p:cNvSpPr txBox="1"/>
            <p:nvPr/>
          </p:nvSpPr>
          <p:spPr>
            <a:xfrm>
              <a:off x="370" y="212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7"/>
            <p:cNvSpPr/>
            <p:nvPr/>
          </p:nvSpPr>
          <p:spPr>
            <a:xfrm>
              <a:off x="2208" y="2558"/>
              <a:ext cx="300" cy="300"/>
            </a:xfrm>
            <a:prstGeom prst="roundRect">
              <a:avLst>
                <a:gd fmla="val 16667" name="adj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7" name="Google Shape;507;p27"/>
            <p:cNvSpPr txBox="1"/>
            <p:nvPr/>
          </p:nvSpPr>
          <p:spPr>
            <a:xfrm>
              <a:off x="2182" y="259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7"/>
            <p:cNvSpPr txBox="1"/>
            <p:nvPr/>
          </p:nvSpPr>
          <p:spPr>
            <a:xfrm>
              <a:off x="484" y="175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7"/>
            <p:cNvSpPr txBox="1"/>
            <p:nvPr/>
          </p:nvSpPr>
          <p:spPr>
            <a:xfrm>
              <a:off x="1654" y="175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7"/>
            <p:cNvSpPr txBox="1"/>
            <p:nvPr/>
          </p:nvSpPr>
          <p:spPr>
            <a:xfrm>
              <a:off x="2301" y="223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Married</a:t>
              </a:r>
              <a:r>
                <a:rPr b="0" i="0" lang="en" sz="16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7"/>
            <p:cNvSpPr txBox="1"/>
            <p:nvPr/>
          </p:nvSpPr>
          <p:spPr>
            <a:xfrm>
              <a:off x="507" y="217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Single, Divorced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7"/>
            <p:cNvSpPr txBox="1"/>
            <p:nvPr/>
          </p:nvSpPr>
          <p:spPr>
            <a:xfrm>
              <a:off x="370" y="274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 80K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7"/>
            <p:cNvSpPr txBox="1"/>
            <p:nvPr/>
          </p:nvSpPr>
          <p:spPr>
            <a:xfrm>
              <a:off x="1648" y="275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&gt;= 80K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4" name="Google Shape;5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1600200"/>
            <a:ext cx="3343274" cy="1133476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/>
        </p:nvSpPr>
        <p:spPr>
          <a:xfrm>
            <a:off x="4800600" y="1143000"/>
            <a:ext cx="160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Example of a Decision Tree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1" name="Google Shape;521;p2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2" name="Google Shape;522;p2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6" name="Google Shape;526;p2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to Build a Decision Tree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p2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528" name="Google Shape;5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975" y="644938"/>
            <a:ext cx="6109975" cy="415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3" name="Google Shape;533;p2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4" name="Google Shape;534;p2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2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Decision Tree 1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2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540" name="Google Shape;540;p29" title="DT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664825"/>
            <a:ext cx="7610294" cy="4049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5" name="Google Shape;545;p3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6" name="Google Shape;546;p3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3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Decision Tree 2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3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552" name="Google Shape;552;p30" title="DT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375" y="937638"/>
            <a:ext cx="7386175" cy="326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7" name="Google Shape;557;p31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8" name="Google Shape;558;p31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1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1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1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2" name="Google Shape;562;p31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Which Feature is Better?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31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564" name="Google Shape;564;p31" title="1272px-Entropy-illustr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575" y="910263"/>
            <a:ext cx="6633626" cy="37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1"/>
          <p:cNvSpPr txBox="1"/>
          <p:nvPr/>
        </p:nvSpPr>
        <p:spPr>
          <a:xfrm>
            <a:off x="1650100" y="3880525"/>
            <a:ext cx="16959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Total match &gt; 300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566" name="Google Shape;566;p31"/>
          <p:cNvSpPr txBox="1"/>
          <p:nvPr/>
        </p:nvSpPr>
        <p:spPr>
          <a:xfrm>
            <a:off x="4070300" y="3915125"/>
            <a:ext cx="17592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Total Runs &gt; 5000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567" name="Google Shape;567;p31"/>
          <p:cNvSpPr txBox="1"/>
          <p:nvPr/>
        </p:nvSpPr>
        <p:spPr>
          <a:xfrm>
            <a:off x="6678725" y="3880525"/>
            <a:ext cx="11583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High avg (&gt;50)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2" name="Google Shape;572;p32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3" name="Google Shape;573;p32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2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2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2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7" name="Google Shape;577;p32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Entropy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32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79" name="Google Shape;579;p32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Consider a Feature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N classes: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Each class has an associated probability: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Entropy of the feature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S,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Consider a dataset of 100 batsmen. Consider the feature “batting hand”, where 55 are right handed and rest are left handed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Consider their average, where 15 has high average (&gt;45), rest low average (&lt;35)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Lower entropy -&gt; higher discrimination -&gt; easier to decide -&gt; better feature  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0" name="Google Shape;580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81" name="Google Shape;5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200" y="676800"/>
            <a:ext cx="1340975" cy="3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7818" y="1010818"/>
            <a:ext cx="1340941" cy="3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3063" y="1525686"/>
            <a:ext cx="2743525" cy="850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2700" y="3115000"/>
            <a:ext cx="6679037" cy="4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80700" y="3899625"/>
            <a:ext cx="1889366" cy="3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0" name="Google Shape;590;p33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1" name="Google Shape;591;p33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3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3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3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33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to Choose a Feature?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" name="Google Shape;596;p33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597" name="Google Shape;597;p33"/>
          <p:cNvSpPr txBox="1"/>
          <p:nvPr/>
        </p:nvSpPr>
        <p:spPr>
          <a:xfrm>
            <a:off x="462775" y="631001"/>
            <a:ext cx="8264100" cy="4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Let, output is S (boolean), there are THREE features A, B, C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Calculate entropy of S, H(S)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Feature A has N classes: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Calculate Remainder of A: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Information gain of A for S, </a:t>
            </a:r>
            <a:r>
              <a:rPr b="1" i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Gain(S, A) = H(S) - Remainder(A)</a:t>
            </a:r>
            <a:endParaRPr b="1"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Similarly calculate Gain(S, B),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Gain(S, C), Gain(S, D)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Choose the feature with </a:t>
            </a: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highest gain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8" name="Google Shape;598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99" name="Google Shape;59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4500" y="1396025"/>
            <a:ext cx="1374725" cy="31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3650" y="1638299"/>
            <a:ext cx="2999999" cy="600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5" name="Google Shape;605;p34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6" name="Google Shape;606;p34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4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4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4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0" name="Google Shape;610;p34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to Build a Decision Tree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34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612" name="Google Shape;61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975" y="644938"/>
            <a:ext cx="6109975" cy="415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7" name="Google Shape;617;p35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8" name="Google Shape;618;p35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5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5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5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2" name="Google Shape;622;p35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to Build a Decision Tree: ID3 Algorithm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3" name="Google Shape;623;p35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624" name="Google Shape;62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75" y="1011397"/>
            <a:ext cx="4689925" cy="3192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35"/>
          <p:cNvSpPr txBox="1"/>
          <p:nvPr/>
        </p:nvSpPr>
        <p:spPr>
          <a:xfrm>
            <a:off x="5152700" y="949325"/>
            <a:ext cx="3574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Here output is </a:t>
            </a:r>
            <a:r>
              <a:rPr b="1" lang="en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Decision</a:t>
            </a:r>
            <a:endParaRPr b="1"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There are four features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need to choose a feature first that will make our decision easier (reduce the tree size)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Calculate H(decision)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Calculate Gain(Decision, Outlook), </a:t>
            </a: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Gain(Decision, Temp), Gain(Decision, Humidity), Gain(Decision, Wind)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 Medium"/>
              <a:buChar char="●"/>
            </a:pPr>
            <a:r>
              <a:rPr lang="en" sz="13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Choose the feature w/ most gain</a:t>
            </a:r>
            <a:endParaRPr sz="13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36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1" name="Google Shape;631;p36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6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6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6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5" name="Google Shape;635;p36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636" name="Google Shape;63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75" y="1011400"/>
            <a:ext cx="4060875" cy="276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8775" y="796924"/>
            <a:ext cx="3317675" cy="4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2675" y="1247800"/>
            <a:ext cx="3826274" cy="25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3000" y="1549200"/>
            <a:ext cx="2226074" cy="58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4248" y="2165975"/>
            <a:ext cx="3038103" cy="45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06100" y="2673650"/>
            <a:ext cx="1826534" cy="4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3000" y="3106150"/>
            <a:ext cx="3038175" cy="45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3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51850" y="3556254"/>
            <a:ext cx="1756236" cy="4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47673" y="4018800"/>
            <a:ext cx="3317674" cy="385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3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88306" y="4169550"/>
            <a:ext cx="4282416" cy="30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6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to Build a Decision Tree: ID3 Algorithm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1" name="Google Shape;651;p37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2" name="Google Shape;652;p37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7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7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7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6" name="Google Shape;656;p37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657" name="Google Shape;65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75" y="1011400"/>
            <a:ext cx="4060875" cy="276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3645" y="933620"/>
            <a:ext cx="3593774" cy="36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3375" y="1428875"/>
            <a:ext cx="3593774" cy="36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5525" y="1917375"/>
            <a:ext cx="3250876" cy="36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88350" y="2314250"/>
            <a:ext cx="3250868" cy="36355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37"/>
          <p:cNvSpPr txBox="1"/>
          <p:nvPr/>
        </p:nvSpPr>
        <p:spPr>
          <a:xfrm>
            <a:off x="5169675" y="2805875"/>
            <a:ext cx="3193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Choose OUTLOOK as root of Tree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63" name="Google Shape;663;p37" title="DT-3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11400" y="3355175"/>
            <a:ext cx="3427814" cy="11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37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to Build a Decision Tree: ID3 Algorithm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9" name="Google Shape;669;p38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0" name="Google Shape;670;p38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8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8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8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38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675" name="Google Shape;67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75" y="1011400"/>
            <a:ext cx="4060875" cy="276442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38"/>
          <p:cNvSpPr txBox="1"/>
          <p:nvPr/>
        </p:nvSpPr>
        <p:spPr>
          <a:xfrm>
            <a:off x="4737800" y="1078300"/>
            <a:ext cx="3989100" cy="3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Note: If Outlook = Overcast, Decision is always YES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What if Outlook is Sunny or Rain?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Now we have to choose a second feature to look at: Temp or Humidity or Wind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Calculate Gain(Sunny, Temp), </a:t>
            </a:r>
            <a:r>
              <a:rPr lang="en" sz="1300">
                <a:solidFill>
                  <a:schemeClr val="dk1"/>
                </a:solidFill>
              </a:rPr>
              <a:t>Gain(Sunny, Humidity), Gain(Sunny, Wind) -&gt; choose the feature with highest gain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lang="en" sz="1300">
                <a:solidFill>
                  <a:schemeClr val="dk1"/>
                </a:solidFill>
              </a:rPr>
              <a:t>Calculate Gain(Rain, Temp), Gain(Rain, Humidity), Gain(Rain, Wind) -&gt; choose the feature with highest gain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77" name="Google Shape;677;p38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to Build a Decision Tree: ID3 Algorithm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2" name="Google Shape;682;p39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3" name="Google Shape;683;p39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9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9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9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7" name="Google Shape;687;p39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688" name="Google Shape;688;p39"/>
          <p:cNvSpPr txBox="1"/>
          <p:nvPr/>
        </p:nvSpPr>
        <p:spPr>
          <a:xfrm>
            <a:off x="4737800" y="1078300"/>
            <a:ext cx="3989100" cy="3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Let’s calculate Gain(Sunny, Temp)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689" name="Google Shape;689;p39" title="DT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475" y="1629875"/>
            <a:ext cx="4310224" cy="151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6375" y="1448250"/>
            <a:ext cx="3747099" cy="5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0100" y="2050700"/>
            <a:ext cx="2804925" cy="3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58925" y="2404500"/>
            <a:ext cx="2704499" cy="360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23900" y="2738975"/>
            <a:ext cx="3178452" cy="4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52725" y="3260375"/>
            <a:ext cx="3667674" cy="493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52713" y="3806176"/>
            <a:ext cx="3667675" cy="349298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39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to Build a Decision Tree: ID3 Algorithm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1" name="Google Shape;701;p40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2" name="Google Shape;702;p40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0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0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0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6" name="Google Shape;706;p40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07" name="Google Shape;707;p40"/>
          <p:cNvSpPr txBox="1"/>
          <p:nvPr/>
        </p:nvSpPr>
        <p:spPr>
          <a:xfrm>
            <a:off x="4737800" y="1611700"/>
            <a:ext cx="3989100" cy="15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Gain(Sunny, Temp) = 0.57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Gain(Sunny, Humidity) = 0.97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Gain(Sunny, Wind) = 0.019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Choose Humidity for sunny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708" name="Google Shape;708;p40" title="DT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475" y="1629875"/>
            <a:ext cx="4310224" cy="1515975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40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to Build a Decision Tree: ID3 Algorithm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4" name="Google Shape;714;p41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5" name="Google Shape;715;p41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1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1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1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9" name="Google Shape;719;p41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20" name="Google Shape;720;p41"/>
          <p:cNvSpPr txBox="1"/>
          <p:nvPr/>
        </p:nvSpPr>
        <p:spPr>
          <a:xfrm>
            <a:off x="4737800" y="1002100"/>
            <a:ext cx="3989100" cy="15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Similarly, Calculate </a:t>
            </a:r>
            <a:r>
              <a:rPr lang="en" sz="1300">
                <a:solidFill>
                  <a:schemeClr val="dk1"/>
                </a:solidFill>
              </a:rPr>
              <a:t>Gain(Rain, Temp), Gain(Rain, Humidity), Gain(Rain, Wind)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Gain(Rain, Wind) is highest, choose Wind for Rain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721" name="Google Shape;721;p41" title="DT-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625" y="843525"/>
            <a:ext cx="4349501" cy="162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41" title="DT-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6200" y="2471800"/>
            <a:ext cx="6595624" cy="2013864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41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to Build a Decision Tree: ID3 Algorithm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8" name="Google Shape;728;p42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9" name="Google Shape;729;p42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2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2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2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3" name="Google Shape;733;p42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sp>
        <p:nvSpPr>
          <p:cNvPr id="734" name="Google Shape;734;p42"/>
          <p:cNvSpPr txBox="1"/>
          <p:nvPr/>
        </p:nvSpPr>
        <p:spPr>
          <a:xfrm>
            <a:off x="4678700" y="1348200"/>
            <a:ext cx="3989100" cy="27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Notice that, if Outlook = Sunny and Humidity = High, Decision is always NO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Similarly </a:t>
            </a:r>
            <a:r>
              <a:rPr lang="en" sz="1300">
                <a:solidFill>
                  <a:schemeClr val="dk1"/>
                </a:solidFill>
              </a:rPr>
              <a:t>if Outlook = Sunny and Humidity = Normal, Decision is always Yes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Moreover, if Outlook = Rain and Wind = Weak, Decision is always Yes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If Outlook = Rain and Wind = Strong, Decision is always No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At this point, the tree construction is over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735" name="Google Shape;735;p42" title="DT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625" y="1021300"/>
            <a:ext cx="4310224" cy="151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42" title="DT-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25" y="2840950"/>
            <a:ext cx="4350226" cy="16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42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How to Build a Decision Tree: ID3 Algorithm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2" name="Google Shape;742;p43"/>
          <p:cNvCxnSpPr/>
          <p:nvPr/>
        </p:nvCxnSpPr>
        <p:spPr>
          <a:xfrm>
            <a:off x="462767" y="579434"/>
            <a:ext cx="8210700" cy="0"/>
          </a:xfrm>
          <a:prstGeom prst="straightConnector1">
            <a:avLst/>
          </a:prstGeom>
          <a:noFill/>
          <a:ln cap="flat" cmpd="sng" w="38100">
            <a:solidFill>
              <a:srgbClr val="940A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3" name="Google Shape;743;p43"/>
          <p:cNvSpPr/>
          <p:nvPr/>
        </p:nvSpPr>
        <p:spPr>
          <a:xfrm>
            <a:off x="466636" y="4866664"/>
            <a:ext cx="2704500" cy="34200"/>
          </a:xfrm>
          <a:prstGeom prst="rect">
            <a:avLst/>
          </a:prstGeom>
          <a:solidFill>
            <a:srgbClr val="701F28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3"/>
          <p:cNvSpPr/>
          <p:nvPr/>
        </p:nvSpPr>
        <p:spPr>
          <a:xfrm>
            <a:off x="3219797" y="4869810"/>
            <a:ext cx="2704500" cy="34200"/>
          </a:xfrm>
          <a:prstGeom prst="rect">
            <a:avLst/>
          </a:prstGeom>
          <a:solidFill>
            <a:srgbClr val="D60093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91BF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3"/>
          <p:cNvSpPr/>
          <p:nvPr/>
        </p:nvSpPr>
        <p:spPr>
          <a:xfrm>
            <a:off x="5972960" y="4866664"/>
            <a:ext cx="2704500" cy="34200"/>
          </a:xfrm>
          <a:prstGeom prst="rect">
            <a:avLst/>
          </a:prstGeom>
          <a:solidFill>
            <a:srgbClr val="757575"/>
          </a:solidFill>
          <a:ln cap="flat" cmpd="sng" w="12700">
            <a:solidFill>
              <a:srgbClr val="75757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3"/>
          <p:cNvSpPr txBox="1"/>
          <p:nvPr>
            <p:ph idx="12" type="sldNum"/>
          </p:nvPr>
        </p:nvSpPr>
        <p:spPr>
          <a:xfrm>
            <a:off x="8037713" y="4929573"/>
            <a:ext cx="6891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43"/>
          <p:cNvSpPr txBox="1"/>
          <p:nvPr/>
        </p:nvSpPr>
        <p:spPr>
          <a:xfrm>
            <a:off x="462779" y="42925"/>
            <a:ext cx="82107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40A15"/>
                </a:solidFill>
                <a:latin typeface="Montserrat"/>
                <a:ea typeface="Montserrat"/>
                <a:cs typeface="Montserrat"/>
                <a:sym typeface="Montserrat"/>
              </a:rPr>
              <a:t>Final Decision Tree</a:t>
            </a:r>
            <a:endParaRPr b="1" i="0" sz="2600" u="none" cap="none" strike="noStrike">
              <a:solidFill>
                <a:srgbClr val="940A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8" name="Google Shape;748;p43"/>
          <p:cNvSpPr txBox="1"/>
          <p:nvPr>
            <p:ph idx="11" type="ftr"/>
          </p:nvPr>
        </p:nvSpPr>
        <p:spPr>
          <a:xfrm>
            <a:off x="462779" y="4929573"/>
            <a:ext cx="45960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CSE422: Artificial Intelligence [SHAH]</a:t>
            </a:r>
            <a:endParaRPr/>
          </a:p>
        </p:txBody>
      </p:sp>
      <p:pic>
        <p:nvPicPr>
          <p:cNvPr id="749" name="Google Shape;749;p43" title="DT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375" y="937638"/>
            <a:ext cx="7386175" cy="326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