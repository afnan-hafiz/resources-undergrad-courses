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Montserrat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ED2773-4DD5-45D0-98B0-4F96E8D79107}">
  <a:tblStyle styleId="{30ED2773-4DD5-45D0-98B0-4F96E8D791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Medium-bold.fntdata"/><Relationship Id="rId27" Type="http://schemas.openxmlformats.org/officeDocument/2006/relationships/font" Target="fonts/MontserratMedium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Medium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MontserratMedium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f6be204f25_1_37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2f6be204f25_1_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7836e8bb12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7836e8bb1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7836e8bb12_0_39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7836e8bb12_0_3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7836e8bb12_0_41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7836e8bb12_0_4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7836e8bb12_0_44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7836e8bb12_0_4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7836e8bb12_0_45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7836e8bb12_0_4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7836e8bb12_0_47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7836e8bb12_0_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7836e8bb12_0_49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7836e8bb12_0_4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7836e8bb12_0_5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7836e8bb12_0_5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7836e8bb12_0_5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7836e8bb12_0_5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7836e8bb12_0_53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7836e8bb12_0_5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6dce728c7a_0_3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6dce728c7a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7836e8bb12_0_56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7836e8bb12_0_5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7836e8bb12_0_59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7836e8bb12_0_5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7836e8bb12_0_61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7836e8bb12_0_6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4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110" name="Google Shape;110;p14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" name="Google Shape;111;p14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" name="Google Shape;112;p14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" name="Google Shape;113;p14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" name="Google Shape;114;p14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" name="Google Shape;115;p14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" name="Google Shape;116;p14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" name="Google Shape;117;p14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" name="Google Shape;119;p14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" name="Google Shape;120;p14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" name="Google Shape;121;p14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" name="Google Shape;122;p14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" name="Google Shape;123;p14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" name="Google Shape;124;p14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14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26" name="Google Shape;126;p14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27" name="Google Shape;127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2" name="Google Shape;132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33" name="Google Shape;133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4" name="Google Shape;134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5" name="Google Shape;135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6" name="Google Shape;136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7" name="Google Shape;137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38" name="Google Shape;138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43" name="Google Shape;143;p14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44" name="Google Shape;144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" name="Google Shape;147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49" name="Google Shape;149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50" name="Google Shape;150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1" name="Google Shape;151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2" name="Google Shape;152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3" name="Google Shape;153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5" name="Google Shape;155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7" name="Google Shape;157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8" name="Google Shape;158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60" name="Google Shape;160;p14"/>
          <p:cNvSpPr txBox="1"/>
          <p:nvPr>
            <p:ph idx="11" type="ftr"/>
          </p:nvPr>
        </p:nvSpPr>
        <p:spPr>
          <a:xfrm>
            <a:off x="462779" y="4929573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14"/>
          <p:cNvSpPr txBox="1"/>
          <p:nvPr>
            <p:ph idx="10" type="dt"/>
          </p:nvPr>
        </p:nvSpPr>
        <p:spPr>
          <a:xfrm>
            <a:off x="7007967" y="4933014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14"/>
          <p:cNvSpPr txBox="1"/>
          <p:nvPr>
            <p:ph idx="12" type="sldNum"/>
          </p:nvPr>
        </p:nvSpPr>
        <p:spPr>
          <a:xfrm>
            <a:off x="8037713" y="4929573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5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165" name="Google Shape;165;p1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1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" name="Google Shape;167;p1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" name="Google Shape;168;p1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" name="Google Shape;169;p1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" name="Google Shape;170;p1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" name="Google Shape;171;p1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" name="Google Shape;172;p1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" name="Google Shape;173;p1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" name="Google Shape;174;p1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" name="Google Shape;175;p1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" name="Google Shape;176;p1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" name="Google Shape;177;p1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" name="Google Shape;178;p1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" name="Google Shape;179;p1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" name="Google Shape;180;p1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81" name="Google Shape;181;p1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82" name="Google Shape;182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1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87" name="Google Shape;187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88" name="Google Shape;188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" name="Google Shape;189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0" name="Google Shape;190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1" name="Google Shape;191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2" name="Google Shape;192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93" name="Google Shape;193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4" name="Google Shape;194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5" name="Google Shape;195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6" name="Google Shape;196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7" name="Google Shape;197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98" name="Google Shape;198;p1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99" name="Google Shape;199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0" name="Google Shape;200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1" name="Google Shape;201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15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4" name="Google Shape;204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5" name="Google Shape;205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6" name="Google Shape;206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7" name="Google Shape;207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8" name="Google Shape;208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9" name="Google Shape;209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10" name="Google Shape;210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1" name="Google Shape;211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" name="Google Shape;212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3" name="Google Shape;213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4" name="Google Shape;214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15" name="Google Shape;215;p15"/>
          <p:cNvSpPr txBox="1"/>
          <p:nvPr>
            <p:ph type="ctrTitle"/>
          </p:nvPr>
        </p:nvSpPr>
        <p:spPr>
          <a:xfrm>
            <a:off x="970384" y="1432010"/>
            <a:ext cx="7203233" cy="253746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15"/>
          <p:cNvSpPr txBox="1"/>
          <p:nvPr>
            <p:ph idx="1" type="subTitle"/>
          </p:nvPr>
        </p:nvSpPr>
        <p:spPr>
          <a:xfrm>
            <a:off x="970384" y="4074423"/>
            <a:ext cx="72032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rgbClr val="A43E27"/>
                </a:solidFill>
              </a:defRPr>
            </a:lvl1pPr>
            <a:lvl2pPr lvl="1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217" name="Google Shape;217;p15"/>
          <p:cNvCxnSpPr/>
          <p:nvPr/>
        </p:nvCxnSpPr>
        <p:spPr>
          <a:xfrm>
            <a:off x="971550" y="3970631"/>
            <a:ext cx="72009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0" name="Google Shape;220;p16"/>
          <p:cNvSpPr txBox="1"/>
          <p:nvPr>
            <p:ph idx="1" type="body"/>
          </p:nvPr>
        </p:nvSpPr>
        <p:spPr>
          <a:xfrm>
            <a:off x="971550" y="1485901"/>
            <a:ext cx="7200900" cy="2857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6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16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16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AF4329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17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226" name="Google Shape;226;p17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" name="Google Shape;227;p17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17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p17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17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17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17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17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17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17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" name="Google Shape;236;p17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" name="Google Shape;237;p17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" name="Google Shape;238;p17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" name="Google Shape;239;p17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" name="Google Shape;240;p17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" name="Google Shape;241;p17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42" name="Google Shape;242;p17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43" name="Google Shape;243;p1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1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5" name="Google Shape;245;p1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6" name="Google Shape;246;p1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1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48" name="Google Shape;248;p1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49" name="Google Shape;249;p1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1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1" name="Google Shape;251;p1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2" name="Google Shape;252;p1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3" name="Google Shape;253;p1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54" name="Google Shape;254;p1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1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6" name="Google Shape;256;p1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7" name="Google Shape;257;p1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1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59" name="Google Shape;259;p17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0" name="Google Shape;260;p1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1" name="Google Shape;261;p1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2" name="Google Shape;262;p1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1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17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65" name="Google Shape;265;p1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66" name="Google Shape;266;p1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7" name="Google Shape;267;p1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9" name="Google Shape;269;p1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0" name="Google Shape;270;p1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71" name="Google Shape;271;p1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1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1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" name="Google Shape;274;p1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" name="Google Shape;275;p1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76" name="Google Shape;276;p17"/>
          <p:cNvSpPr txBox="1"/>
          <p:nvPr>
            <p:ph type="title"/>
          </p:nvPr>
        </p:nvSpPr>
        <p:spPr>
          <a:xfrm>
            <a:off x="971550" y="1906180"/>
            <a:ext cx="7200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7" name="Google Shape;277;p17"/>
          <p:cNvSpPr txBox="1"/>
          <p:nvPr>
            <p:ph idx="1" type="body"/>
          </p:nvPr>
        </p:nvSpPr>
        <p:spPr>
          <a:xfrm>
            <a:off x="971550" y="4073652"/>
            <a:ext cx="720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278" name="Google Shape;278;p17"/>
          <p:cNvCxnSpPr/>
          <p:nvPr/>
        </p:nvCxnSpPr>
        <p:spPr>
          <a:xfrm>
            <a:off x="971550" y="3970631"/>
            <a:ext cx="7200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1" name="Google Shape;281;p18"/>
          <p:cNvSpPr txBox="1"/>
          <p:nvPr>
            <p:ph idx="1" type="body"/>
          </p:nvPr>
        </p:nvSpPr>
        <p:spPr>
          <a:xfrm>
            <a:off x="971550" y="1485899"/>
            <a:ext cx="3429000" cy="285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2" name="Google Shape;282;p18"/>
          <p:cNvSpPr txBox="1"/>
          <p:nvPr>
            <p:ph idx="2" type="body"/>
          </p:nvPr>
        </p:nvSpPr>
        <p:spPr>
          <a:xfrm>
            <a:off x="4743450" y="1485899"/>
            <a:ext cx="3429000" cy="285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18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4" name="Google Shape;284;p18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5" name="Google Shape;285;p18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19"/>
          <p:cNvSpPr txBox="1"/>
          <p:nvPr>
            <p:ph idx="1" type="body"/>
          </p:nvPr>
        </p:nvSpPr>
        <p:spPr>
          <a:xfrm>
            <a:off x="971550" y="1363742"/>
            <a:ext cx="342900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289" name="Google Shape;289;p19"/>
          <p:cNvSpPr txBox="1"/>
          <p:nvPr>
            <p:ph idx="2" type="body"/>
          </p:nvPr>
        </p:nvSpPr>
        <p:spPr>
          <a:xfrm>
            <a:off x="971550" y="1877785"/>
            <a:ext cx="3429000" cy="24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0" name="Google Shape;290;p19"/>
          <p:cNvSpPr txBox="1"/>
          <p:nvPr>
            <p:ph idx="3" type="body"/>
          </p:nvPr>
        </p:nvSpPr>
        <p:spPr>
          <a:xfrm>
            <a:off x="4743450" y="1363742"/>
            <a:ext cx="342900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291" name="Google Shape;291;p19"/>
          <p:cNvSpPr txBox="1"/>
          <p:nvPr>
            <p:ph idx="4" type="body"/>
          </p:nvPr>
        </p:nvSpPr>
        <p:spPr>
          <a:xfrm>
            <a:off x="4743450" y="1877785"/>
            <a:ext cx="3429000" cy="24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2" name="Google Shape;292;p19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3" name="Google Shape;293;p19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4" name="Google Shape;294;p19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20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20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9" name="Google Shape;299;p20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21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302" name="Google Shape;302;p21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" name="Google Shape;303;p21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" name="Google Shape;304;p21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" name="Google Shape;305;p21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" name="Google Shape;306;p21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1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" name="Google Shape;308;p21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" name="Google Shape;309;p21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0" name="Google Shape;310;p21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" name="Google Shape;311;p21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21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1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21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" name="Google Shape;315;p21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" name="Google Shape;316;p21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21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18" name="Google Shape;318;p21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19" name="Google Shape;319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2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24" name="Google Shape;324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25" name="Google Shape;325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6" name="Google Shape;326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7" name="Google Shape;327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8" name="Google Shape;328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9" name="Google Shape;329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30" name="Google Shape;330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35" name="Google Shape;335;p21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36" name="Google Shape;336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21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1" name="Google Shape;341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2" name="Google Shape;342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3" name="Google Shape;343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4" name="Google Shape;344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7" name="Google Shape;347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52" name="Google Shape;352;p2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 txBox="1"/>
          <p:nvPr>
            <p:ph type="title"/>
          </p:nvPr>
        </p:nvSpPr>
        <p:spPr>
          <a:xfrm>
            <a:off x="5934864" y="428625"/>
            <a:ext cx="2743200" cy="16478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4" name="Google Shape;354;p21"/>
          <p:cNvSpPr txBox="1"/>
          <p:nvPr>
            <p:ph idx="1" type="body"/>
          </p:nvPr>
        </p:nvSpPr>
        <p:spPr>
          <a:xfrm>
            <a:off x="407398" y="428625"/>
            <a:ext cx="4663440" cy="4286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238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55" name="Google Shape;355;p21"/>
          <p:cNvSpPr txBox="1"/>
          <p:nvPr>
            <p:ph idx="2" type="body"/>
          </p:nvPr>
        </p:nvSpPr>
        <p:spPr>
          <a:xfrm>
            <a:off x="5934864" y="2246259"/>
            <a:ext cx="2743200" cy="17144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cxnSp>
        <p:nvCxnSpPr>
          <p:cNvPr id="356" name="Google Shape;356;p21"/>
          <p:cNvCxnSpPr/>
          <p:nvPr/>
        </p:nvCxnSpPr>
        <p:spPr>
          <a:xfrm>
            <a:off x="5942317" y="2171700"/>
            <a:ext cx="274448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21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8" name="Google Shape;358;p21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9" name="Google Shape;359;p21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22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362" name="Google Shape;362;p22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" name="Google Shape;363;p22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" name="Google Shape;364;p22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5" name="Google Shape;365;p22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" name="Google Shape;366;p22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" name="Google Shape;367;p22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" name="Google Shape;368;p22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9" name="Google Shape;369;p22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" name="Google Shape;370;p22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" name="Google Shape;371;p22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" name="Google Shape;372;p22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" name="Google Shape;373;p22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" name="Google Shape;374;p22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" name="Google Shape;375;p22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" name="Google Shape;376;p22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2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78" name="Google Shape;378;p22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79" name="Google Shape;379;p2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2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2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2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22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84" name="Google Shape;384;p2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5" name="Google Shape;385;p2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6" name="Google Shape;386;p2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7" name="Google Shape;387;p2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8" name="Google Shape;388;p2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9" name="Google Shape;389;p2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0" name="Google Shape;390;p2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2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2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3" name="Google Shape;393;p2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2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95" name="Google Shape;395;p22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96" name="Google Shape;396;p2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2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2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2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22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01" name="Google Shape;401;p2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02" name="Google Shape;402;p2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3" name="Google Shape;403;p2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4" name="Google Shape;404;p2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5" name="Google Shape;405;p2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" name="Google Shape;406;p2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07" name="Google Shape;407;p2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2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2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2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2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412" name="Google Shape;412;p22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22"/>
          <p:cNvCxnSpPr/>
          <p:nvPr/>
        </p:nvCxnSpPr>
        <p:spPr>
          <a:xfrm>
            <a:off x="5942317" y="2171700"/>
            <a:ext cx="274448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4" name="Google Shape;414;p22"/>
          <p:cNvSpPr txBox="1"/>
          <p:nvPr>
            <p:ph type="title"/>
          </p:nvPr>
        </p:nvSpPr>
        <p:spPr>
          <a:xfrm>
            <a:off x="5932170" y="432054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." id="415" name="Google Shape;415;p22"/>
          <p:cNvSpPr/>
          <p:nvPr>
            <p:ph idx="2" type="pic"/>
          </p:nvPr>
        </p:nvSpPr>
        <p:spPr>
          <a:xfrm>
            <a:off x="3309" y="-119"/>
            <a:ext cx="54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22"/>
          <p:cNvSpPr txBox="1"/>
          <p:nvPr>
            <p:ph idx="1" type="body"/>
          </p:nvPr>
        </p:nvSpPr>
        <p:spPr>
          <a:xfrm>
            <a:off x="5932170" y="2249424"/>
            <a:ext cx="2743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9" name="Google Shape;419;p23"/>
          <p:cNvSpPr txBox="1"/>
          <p:nvPr>
            <p:ph idx="1" type="body"/>
          </p:nvPr>
        </p:nvSpPr>
        <p:spPr>
          <a:xfrm rot="5400000">
            <a:off x="3143250" y="-685800"/>
            <a:ext cx="2857499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23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1" name="Google Shape;421;p23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2" name="Google Shape;422;p23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"/>
          <p:cNvSpPr txBox="1"/>
          <p:nvPr>
            <p:ph type="title"/>
          </p:nvPr>
        </p:nvSpPr>
        <p:spPr>
          <a:xfrm rot="5400000">
            <a:off x="5551714" y="1722663"/>
            <a:ext cx="3976007" cy="126546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5" name="Google Shape;425;p24"/>
          <p:cNvSpPr txBox="1"/>
          <p:nvPr>
            <p:ph idx="1" type="body"/>
          </p:nvPr>
        </p:nvSpPr>
        <p:spPr>
          <a:xfrm rot="5400000">
            <a:off x="1828800" y="-489858"/>
            <a:ext cx="3976007" cy="56905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24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7" name="Google Shape;427;p24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8" name="Google Shape;428;p24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3000">
              <a:schemeClr val="lt1"/>
            </a:gs>
            <a:gs pos="100000">
              <a:srgbClr val="F2F2F2">
                <a:alpha val="64705"/>
              </a:srgbClr>
            </a:gs>
          </a:gsLst>
          <a:lin ang="54000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" y="-146957"/>
            <a:ext cx="9144002" cy="5143500"/>
            <a:chOff x="-1" y="0"/>
            <a:chExt cx="12192002" cy="6858000"/>
          </a:xfrm>
        </p:grpSpPr>
        <p:cxnSp>
          <p:nvCxnSpPr>
            <p:cNvPr id="52" name="Google Shape;52;p13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" name="Google Shape;53;p13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" name="Google Shape;54;p13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" name="Google Shape;55;p13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" name="Google Shape;56;p13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8" name="Google Shape;68;p13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69" name="Google Shape;69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4" name="Google Shape;74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75" name="Google Shape;75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0" name="Google Shape;80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5" name="Google Shape;85;p13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13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>
            <a:off x="971550" y="1485901"/>
            <a:ext cx="7200900" cy="2857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A43E27"/>
              </a:buClr>
              <a:buSzPts val="1500"/>
              <a:buFont typeface="Arial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200"/>
              <a:buFont typeface="Arial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04" name="Google Shape;104;p13"/>
          <p:cNvCxnSpPr/>
          <p:nvPr/>
        </p:nvCxnSpPr>
        <p:spPr>
          <a:xfrm>
            <a:off x="457200" y="462915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43E2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13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olab.research.google.com/drive/1nPANhne9V3I-fLaKGDdGSOHyOe88_j8A?usp=sharing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"/>
          <p:cNvSpPr/>
          <p:nvPr/>
        </p:nvSpPr>
        <p:spPr>
          <a:xfrm>
            <a:off x="535846" y="3178756"/>
            <a:ext cx="8072400" cy="11964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40A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5"/>
          <p:cNvSpPr txBox="1"/>
          <p:nvPr/>
        </p:nvSpPr>
        <p:spPr>
          <a:xfrm>
            <a:off x="538975" y="1675071"/>
            <a:ext cx="8072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Naïve</a:t>
            </a:r>
            <a:r>
              <a:rPr b="1" lang="en" sz="3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-Bayes Classifier</a:t>
            </a:r>
            <a:endParaRPr b="1" sz="2000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535896" y="1171357"/>
            <a:ext cx="807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CSE422</a:t>
            </a:r>
            <a:r>
              <a:rPr b="1" i="0" lang="en" sz="1800" u="none" cap="none" strike="noStrike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lang="en" sz="18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Artificial intelligence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498404" y="3361002"/>
            <a:ext cx="8072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Asif Shahriar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Lecturer, CSE, BRACU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25"/>
          <p:cNvSpPr txBox="1"/>
          <p:nvPr>
            <p:ph idx="12" type="sldNum"/>
          </p:nvPr>
        </p:nvSpPr>
        <p:spPr>
          <a:xfrm>
            <a:off x="8037713" y="4929573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25"/>
          <p:cNvSpPr txBox="1"/>
          <p:nvPr>
            <p:ph idx="11" type="ftr"/>
          </p:nvPr>
        </p:nvSpPr>
        <p:spPr>
          <a:xfrm>
            <a:off x="462779" y="4929573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654471" y="2398657"/>
            <a:ext cx="8072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4" name="Google Shape;444;p2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" name="Google Shape;445;p2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2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BAYES’ Rule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2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543150" y="631000"/>
            <a:ext cx="77808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From the formula of conditional probability P(x ∣ y)  =  P(x, y) / P(y), we can infer: P(x, y) = P (x | y) × P(y) [called the product rule]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Similarly, P(x, y) =  P (y | x) × P(x)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Dividing we get: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other words: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Why is this SO important?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is hard to know the cause, but it is easy to see the effect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Using this formula, we can infer the cause by analyzing the effect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52" name="Google Shape;452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3" name="Google Shape;453;p26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54" name="Google Shape;454;p26" title="bayes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9700" y="1574100"/>
            <a:ext cx="2861625" cy="8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6" title="bayes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7200" y="2576700"/>
            <a:ext cx="4628876" cy="7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0" name="Google Shape;460;p2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1" name="Google Shape;461;p2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2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BAYES’ Rule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2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67" name="Google Shape;467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68" name="Google Shape;468;p27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69" name="Google Shape;469;p27" title="bayes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9700" y="1574100"/>
            <a:ext cx="2861625" cy="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7"/>
          <p:cNvSpPr/>
          <p:nvPr/>
        </p:nvSpPr>
        <p:spPr>
          <a:xfrm>
            <a:off x="2905500" y="1727600"/>
            <a:ext cx="975000" cy="5169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7"/>
          <p:cNvSpPr/>
          <p:nvPr/>
        </p:nvSpPr>
        <p:spPr>
          <a:xfrm>
            <a:off x="4220800" y="1564800"/>
            <a:ext cx="876900" cy="4002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7"/>
          <p:cNvSpPr/>
          <p:nvPr/>
        </p:nvSpPr>
        <p:spPr>
          <a:xfrm>
            <a:off x="4220800" y="2041700"/>
            <a:ext cx="876900" cy="3207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7"/>
          <p:cNvSpPr/>
          <p:nvPr/>
        </p:nvSpPr>
        <p:spPr>
          <a:xfrm>
            <a:off x="5132300" y="1838850"/>
            <a:ext cx="659100" cy="3207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7"/>
          <p:cNvSpPr txBox="1"/>
          <p:nvPr/>
        </p:nvSpPr>
        <p:spPr>
          <a:xfrm>
            <a:off x="3948300" y="1238675"/>
            <a:ext cx="143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876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Likelihood</a:t>
            </a:r>
            <a:endParaRPr sz="1500">
              <a:solidFill>
                <a:srgbClr val="3876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5" name="Google Shape;475;p27"/>
          <p:cNvSpPr txBox="1"/>
          <p:nvPr/>
        </p:nvSpPr>
        <p:spPr>
          <a:xfrm>
            <a:off x="2634850" y="2145725"/>
            <a:ext cx="14397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Posterior probability</a:t>
            </a:r>
            <a:endParaRPr sz="1500">
              <a:solidFill>
                <a:srgbClr val="CC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6" name="Google Shape;476;p27"/>
          <p:cNvSpPr txBox="1"/>
          <p:nvPr/>
        </p:nvSpPr>
        <p:spPr>
          <a:xfrm>
            <a:off x="5603525" y="1727600"/>
            <a:ext cx="1439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Class-pri</a:t>
            </a:r>
            <a:r>
              <a:rPr lang="en" sz="1200">
                <a:solidFill>
                  <a:srgbClr val="0000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 probability</a:t>
            </a:r>
            <a:endParaRPr sz="1200">
              <a:solidFill>
                <a:srgbClr val="0000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7" name="Google Shape;477;p27"/>
          <p:cNvSpPr txBox="1"/>
          <p:nvPr/>
        </p:nvSpPr>
        <p:spPr>
          <a:xfrm>
            <a:off x="4022200" y="2298125"/>
            <a:ext cx="1439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Predictor</a:t>
            </a:r>
            <a:r>
              <a:rPr lang="en" sz="1200">
                <a:solidFill>
                  <a:srgbClr val="0000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-prior probability</a:t>
            </a:r>
            <a:endParaRPr sz="1200">
              <a:solidFill>
                <a:srgbClr val="0000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2" name="Google Shape;482;p2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3" name="Google Shape;483;p2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2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BAYES’ Rule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2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89" name="Google Shape;489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0" name="Google Shape;490;p28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491" name="Google Shape;491;p28"/>
          <p:cNvGraphicFramePr/>
          <p:nvPr/>
        </p:nvGraphicFramePr>
        <p:xfrm>
          <a:off x="7239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{30ED2773-4DD5-45D0-98B0-4F96E8D79107}</a:tableStyleId>
              </a:tblPr>
              <a:tblGrid>
                <a:gridCol w="1289875"/>
                <a:gridCol w="1132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Temperature</a:t>
                      </a: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(F)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Play Tennis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70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Yes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32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65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75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Yes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30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75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Yes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72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2" name="Google Shape;492;p28"/>
          <p:cNvSpPr txBox="1"/>
          <p:nvPr/>
        </p:nvSpPr>
        <p:spPr>
          <a:xfrm>
            <a:off x="3271950" y="1002650"/>
            <a:ext cx="5454900" cy="3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Consider two boolean RVs, A: “We will play tennis” and B: “Warm day (Temp &gt;= 50 F)”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rgbClr val="3876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Think ML: Temperature is </a:t>
            </a:r>
            <a:r>
              <a:rPr b="1" i="1" lang="en" sz="13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“feature</a:t>
            </a:r>
            <a:r>
              <a:rPr lang="en" sz="1300">
                <a:solidFill>
                  <a:srgbClr val="3876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”, Play tennis is </a:t>
            </a:r>
            <a:r>
              <a:rPr b="1" i="1" lang="en" sz="13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“target”</a:t>
            </a:r>
            <a:endParaRPr b="1" i="1" sz="13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it is a warm day, what is the probability that we will play tennis? 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spcBef>
                <a:spcPts val="1000"/>
              </a:spcBef>
              <a:spcAft>
                <a:spcPts val="1000"/>
              </a:spcAft>
              <a:buClr>
                <a:srgbClr val="38761D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rgbClr val="3876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Think ML: Given a </a:t>
            </a:r>
            <a:r>
              <a:rPr b="1" i="1" lang="en" sz="13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feature</a:t>
            </a:r>
            <a:r>
              <a:rPr lang="en" sz="1300">
                <a:solidFill>
                  <a:srgbClr val="3876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predict the </a:t>
            </a:r>
            <a:r>
              <a:rPr b="1" i="1" lang="en" sz="13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target</a:t>
            </a:r>
            <a:endParaRPr b="1" i="1" sz="13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7" name="Google Shape;497;p2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8" name="Google Shape;498;p2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2" name="Google Shape;502;p2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BAYES’ Rule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2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04" name="Google Shape;504;p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05" name="Google Shape;505;p29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506" name="Google Shape;506;p29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{30ED2773-4DD5-45D0-98B0-4F96E8D79107}</a:tableStyleId>
              </a:tblPr>
              <a:tblGrid>
                <a:gridCol w="1289875"/>
                <a:gridCol w="1132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Temperature (F)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Play Tennis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70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Yes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32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65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75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Yes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30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75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Yes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72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3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7" name="Google Shape;507;p29"/>
          <p:cNvSpPr txBox="1"/>
          <p:nvPr/>
        </p:nvSpPr>
        <p:spPr>
          <a:xfrm>
            <a:off x="3788925" y="1007750"/>
            <a:ext cx="4757400" cy="3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it is a warm day, what is the probability that we will play tennis?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P(b | a) = 1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P(a) = 3/7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P(b) =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/7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Therefore, P(a | b) = 0.6 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Clr>
                <a:srgbClr val="38761D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rgbClr val="3876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Think ML: </a:t>
            </a:r>
            <a:r>
              <a:rPr b="1" lang="en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Output</a:t>
            </a:r>
            <a:r>
              <a:rPr b="1" lang="en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 = YES</a:t>
            </a:r>
            <a:endParaRPr b="1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2" name="Google Shape;512;p3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3" name="Google Shape;513;p3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3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Why </a:t>
            </a: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BAYES is DIFFICULT in Practice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3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19" name="Google Shape;519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20" name="Google Shape;520;p30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521" name="Google Shape;521;p30"/>
          <p:cNvGraphicFramePr/>
          <p:nvPr/>
        </p:nvGraphicFramePr>
        <p:xfrm>
          <a:off x="466625" y="81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{30ED2773-4DD5-45D0-98B0-4F96E8D79107}</a:tableStyleId>
              </a:tblPr>
              <a:tblGrid>
                <a:gridCol w="720525"/>
                <a:gridCol w="919125"/>
                <a:gridCol w="814425"/>
                <a:gridCol w="82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Wind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Humidity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Temperature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Play Tennis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95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70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Yes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80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32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20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80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85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Yes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8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30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8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Yes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72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2" name="Google Shape;522;p30"/>
          <p:cNvSpPr txBox="1"/>
          <p:nvPr/>
        </p:nvSpPr>
        <p:spPr>
          <a:xfrm>
            <a:off x="3950250" y="752550"/>
            <a:ext cx="45960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Now let there are FOUR boolean RVs: A (“Play tennis”), B(“Warm day”), C(“Dry day”), D(“Windy day”) </a:t>
            </a:r>
            <a:r>
              <a:rPr lang="en" sz="1300">
                <a:solidFill>
                  <a:srgbClr val="3876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[Think ML: Features: B, C, D, Target: A]</a:t>
            </a:r>
            <a:endParaRPr sz="1300">
              <a:solidFill>
                <a:srgbClr val="3876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want to find the probability of playing tennis in a warm, dry, windy day P(a | b, c, d)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this we need the likelihood P(b, c, d | a)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Computing this is REALLY difficult and makes it hard to use BAYES in real applications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this problem it is actually easy (do it)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But this is a small table with 7 entries only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real world, to compute such a likelihood with good accuracy would </a:t>
            </a: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require an extensive record with</a:t>
            </a: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millions of entries – very expensive and difficult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7" name="Google Shape;527;p31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8" name="Google Shape;528;p31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1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1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1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2" name="Google Shape;532;p31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Naïve-Bayes Classifier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3" name="Google Shape;533;p31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34" name="Google Shape;534;p31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Computing the likelihood P(b, c, d | a) is difficult in real world applications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However, we can APPROXIMATE the calculation, making it practical for real use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Naïve assumption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All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features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are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conditionally independent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of each other given the target label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other words, B, C, D are conditionally independent given A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So, using our formula for conditional independence, we get: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P(b, c, d | a) = P(b | a) × P(c | a) × P(d | a)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is much easier to calculate from records!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Naïve Bayes classifier often does surprisingly well, outperforming more sophisticated classification methods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P(X1, X2,⋅⋅⋅, Xn |C) = P(X1 |C)P(X2 |C) ⋅⋅⋅ P(Xn |C)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5" name="Google Shape;535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36" name="Google Shape;536;p31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1" name="Google Shape;541;p32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2" name="Google Shape;542;p32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2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2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2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32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Approximation using Naïve-BAYES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32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48" name="Google Shape;548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49" name="Google Shape;549;p32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550" name="Google Shape;550;p32"/>
          <p:cNvGraphicFramePr/>
          <p:nvPr/>
        </p:nvGraphicFramePr>
        <p:xfrm>
          <a:off x="466625" y="81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{30ED2773-4DD5-45D0-98B0-4F96E8D79107}</a:tableStyleId>
              </a:tblPr>
              <a:tblGrid>
                <a:gridCol w="720525"/>
                <a:gridCol w="919125"/>
                <a:gridCol w="814425"/>
                <a:gridCol w="82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Wind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Humidity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Temperature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Play Tennis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95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70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Yes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80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32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80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85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Yes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30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Yes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35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72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</a:t>
                      </a:r>
                      <a:endParaRPr sz="12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1" name="Google Shape;551;p32"/>
          <p:cNvSpPr txBox="1"/>
          <p:nvPr/>
        </p:nvSpPr>
        <p:spPr>
          <a:xfrm>
            <a:off x="3950250" y="752550"/>
            <a:ext cx="45960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want to find the probability of playing tennis in a warm, dry, windy day P(a | b, c, d)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P(a | b, c, d) =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P(b, c, d | a) × P (a) / P(b, c, d)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 it yourself!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6" name="Google Shape;556;p33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7" name="Google Shape;557;p33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3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3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3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1" name="Google Shape;561;p33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Naïve</a:t>
            </a: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-BAYES Example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33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63" name="Google Shape;563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64" name="Google Shape;564;p33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65" name="Google Shape;565;p33" title="naive-bayes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450" y="698350"/>
            <a:ext cx="4091099" cy="3079067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3"/>
          <p:cNvSpPr txBox="1"/>
          <p:nvPr/>
        </p:nvSpPr>
        <p:spPr>
          <a:xfrm>
            <a:off x="466625" y="3896425"/>
            <a:ext cx="82602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Step 1 –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Learning:</a:t>
            </a: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From the training data, we will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 the conditional probability</a:t>
            </a: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distribution of each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</a:t>
            </a: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(Outlook, Temperature, Humidity, Wind) </a:t>
            </a: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Given the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Target</a:t>
            </a: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(PlayTennis)</a:t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1" name="Google Shape;571;p34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2" name="Google Shape;572;p34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4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4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34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Naïve</a:t>
            </a: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-BAYES Example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7" name="Google Shape;577;p34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78" name="Google Shape;578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9" name="Google Shape;579;p34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80" name="Google Shape;580;p34" title="naive-bayes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375" y="1480062"/>
            <a:ext cx="3925224" cy="2485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34" title="naive-bayes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950" y="1156325"/>
            <a:ext cx="3925225" cy="2954226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4"/>
          <p:cNvSpPr txBox="1"/>
          <p:nvPr/>
        </p:nvSpPr>
        <p:spPr>
          <a:xfrm>
            <a:off x="4567625" y="4076850"/>
            <a:ext cx="4109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Caution: This is a 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CONDITIONAL</a:t>
            </a: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probability table, NOT Joint Probability Distribution Table like toothache, cavity tables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7" name="Google Shape;587;p35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8" name="Google Shape;588;p35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5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5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5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2" name="Google Shape;592;p35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Naïve</a:t>
            </a: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-BAYES Example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p35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594" name="Google Shape;594;p35" title="naive-bayes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400" y="1624925"/>
            <a:ext cx="4312426" cy="259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5" title="naive-bayes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775" y="1769225"/>
            <a:ext cx="3685850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35"/>
          <p:cNvSpPr txBox="1"/>
          <p:nvPr/>
        </p:nvSpPr>
        <p:spPr>
          <a:xfrm>
            <a:off x="508625" y="709550"/>
            <a:ext cx="82602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Step 2 –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Using what we learned (likelihoods) during training, we will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PREDICT</a:t>
            </a: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the label (target) for a new, unseen input data</a:t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1" name="Google Shape;601;p3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2" name="Google Shape;602;p3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6" name="Google Shape;606;p3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Naïve-BAYES for Continuous-valued Features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p3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08" name="Google Shape;608;p36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Features are not always discrete, sometimes they are continuous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Example: Temperature is a naturally continuous RV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Yes: 25.2, 19.3, 18.5, 21.7, 20.1, 24.3, 22.8, 23.1, 19.8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No: 27.3, 30.1, 17.4, 29.5, 15.1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Problem: Very unlikely that we will find an exact value of temperature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E.g. P(Play = YES | Temp = 25.8), but Temp = 25.8 DOES NOT EXIST in data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Solution: Model continuous probabilities with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Normal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Distribution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9" name="Google Shape;609;p36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10" name="Google Shape;610;p36" title="naive-bayes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150" y="3370550"/>
            <a:ext cx="6276500" cy="135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5" name="Google Shape;615;p3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6" name="Google Shape;616;p3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0" name="Google Shape;620;p3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Naïve-BAYES for Continuous-valued Features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3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22" name="Google Shape;622;p37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3" name="Google Shape;623;p37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24" name="Google Shape;624;p37" title="naive-bayes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925" y="1060550"/>
            <a:ext cx="6276500" cy="135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37" title="naive-bayes-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7275" y="2684600"/>
            <a:ext cx="6561725" cy="1671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3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1" name="Google Shape;631;p3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5" name="Google Shape;635;p3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Naïve-BAYES for Continuous-valued Features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3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37" name="Google Shape;637;p38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Let’s consider the temperature example again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Yes: 25.2, 19.3, 18.5, 21.7, 20.1, 24.3, 22.8, 23.1, 19.8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No: 27.3, 30.1, 17.4, 29.5, 15.1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Estimate mean and variance for each class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Learning Phase: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output two Gaussian models for P(temp|C)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8" name="Google Shape;638;p38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39" name="Google Shape;639;p38" title="naive-bayes-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2675" y="2120725"/>
            <a:ext cx="5709876" cy="7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8" title="naive-bayes-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1150" y="3323675"/>
            <a:ext cx="6099646" cy="12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5" name="Google Shape;645;p3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6" name="Google Shape;646;p3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0" name="Google Shape;650;p3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Relevant Issues to consider for </a:t>
            </a: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Naïve-BAYES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1" name="Google Shape;651;p3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52" name="Google Shape;652;p39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Violation of Independence Assumption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most real worlds tasks, P(X1,⋅⋅⋅,Xn|C) ≠ P(X1|C)⋅⋅⋅ P(Xn|C) [</a:t>
            </a: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i.e. </a:t>
            </a: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features are not independent]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Nonetheless, Naïve-BAYES works surprisingly well anyway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Check this out for a comparison against other models: </a:t>
            </a:r>
            <a:r>
              <a:rPr lang="en" sz="13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3"/>
              </a:rPr>
              <a:t>notebook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Zero conditional probability Problem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53" name="Google Shape;653;p39" title="naive-bayes-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200" y="2647950"/>
            <a:ext cx="5226399" cy="218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