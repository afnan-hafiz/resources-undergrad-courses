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Proxima Nova"/>
      <p:regular r:id="rId43"/>
      <p:bold r:id="rId44"/>
      <p:italic r:id="rId45"/>
      <p:boldItalic r:id="rId46"/>
    </p:embeddedFont>
    <p:embeddedFont>
      <p:font typeface="Montserrat"/>
      <p:regular r:id="rId47"/>
      <p:bold r:id="rId48"/>
      <p:italic r:id="rId49"/>
      <p:boldItalic r:id="rId50"/>
    </p:embeddedFont>
    <p:embeddedFont>
      <p:font typeface="Montserrat Medium"/>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37579A-5A14-4019-876A-0D022D41D2FB}">
  <a:tblStyle styleId="{D337579A-5A14-4019-876A-0D022D41D2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BCA39EF-B9D9-47B5-86BF-13B007F336FA}"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B8AFAC2-DE7C-4C76-8830-E91A5CCBC6E1}"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ontserratMedium-regular.fntdata"/><Relationship Id="rId50" Type="http://schemas.openxmlformats.org/officeDocument/2006/relationships/font" Target="fonts/Montserrat-boldItalic.fntdata"/><Relationship Id="rId53" Type="http://schemas.openxmlformats.org/officeDocument/2006/relationships/font" Target="fonts/MontserratMedium-italic.fntdata"/><Relationship Id="rId52" Type="http://schemas.openxmlformats.org/officeDocument/2006/relationships/font" Target="fonts/MontserratMedium-bold.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MontserratMedium-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f6be204f25_1_37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f6be204f25_1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6dce728c7a_0_1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6dce728c7a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6dce728c7a_0_33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6dce728c7a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dce728c7a_0_34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6dce728c7a_0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3c2a66c91_0_1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63c2a66c91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dce728c7a_0_4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6dce728c7a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3c2a66c91_0_3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363c2a66c91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63c2a66c91_0_5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363c2a66c91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63c2a66c91_0_10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63c2a66c91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63c2a66c91_0_9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363c2a66c91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3c2a66c91_0_8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63c2a66c91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63c2a66c91_0_6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g363c2a66c91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6dce728c7a_0_6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36dce728c7a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63c2a66c91_0_13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63c2a66c91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63c2a66c91_0_15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63c2a66c91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ae3bf26d50_0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ae3bf26d5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e3bf26d50_0_1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g3ae3bf26d5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74438121a4_0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g374438121a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74438121a4_0_2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74438121a4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63c2a66c91_0_16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g363c2a66c91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63c2a66c91_0_18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363c2a66c91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63c2a66c91_0_19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g363c2a66c91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74438121a4_0_3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374438121a4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aedc72bb50_2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g3aedc72bb50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74438121a4_0_5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74438121a4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74438121a4_0_7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g374438121a4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74438121a4_0_9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g374438121a4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aed8c82ba0_0_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g3aed8c82ba0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74438121a4_0_10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374438121a4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aed8c82ba0_0_1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g3aed8c82ba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74438121a4_0_13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g374438121a4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74438121a4_0_16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g374438121a4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74438121a4_0_26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g374438121a4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74438121a4_0_27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g374438121a4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74438121a4_0_29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g374438121a4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8" name="Shape 108"/>
        <p:cNvGrpSpPr/>
        <p:nvPr/>
      </p:nvGrpSpPr>
      <p:grpSpPr>
        <a:xfrm>
          <a:off x="0" y="0"/>
          <a:ext cx="0" cy="0"/>
          <a:chOff x="0" y="0"/>
          <a:chExt cx="0" cy="0"/>
        </a:xfrm>
      </p:grpSpPr>
      <p:grpSp>
        <p:nvGrpSpPr>
          <p:cNvPr id="109" name="Google Shape;109;p14"/>
          <p:cNvGrpSpPr/>
          <p:nvPr/>
        </p:nvGrpSpPr>
        <p:grpSpPr>
          <a:xfrm>
            <a:off x="-1" y="0"/>
            <a:ext cx="9144002" cy="5143500"/>
            <a:chOff x="-1" y="0"/>
            <a:chExt cx="12192002" cy="6858000"/>
          </a:xfrm>
        </p:grpSpPr>
        <p:cxnSp>
          <p:nvCxnSpPr>
            <p:cNvPr id="110" name="Google Shape;110;p14"/>
            <p:cNvCxnSpPr/>
            <p:nvPr/>
          </p:nvCxnSpPr>
          <p:spPr>
            <a:xfrm>
              <a:off x="61019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1" name="Google Shape;111;p14"/>
            <p:cNvCxnSpPr/>
            <p:nvPr/>
          </p:nvCxnSpPr>
          <p:spPr>
            <a:xfrm>
              <a:off x="182933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2" name="Google Shape;112;p14"/>
            <p:cNvCxnSpPr/>
            <p:nvPr/>
          </p:nvCxnSpPr>
          <p:spPr>
            <a:xfrm>
              <a:off x="304847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3" name="Google Shape;113;p14"/>
            <p:cNvCxnSpPr/>
            <p:nvPr/>
          </p:nvCxnSpPr>
          <p:spPr>
            <a:xfrm>
              <a:off x="426760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4" name="Google Shape;114;p14"/>
            <p:cNvCxnSpPr/>
            <p:nvPr/>
          </p:nvCxnSpPr>
          <p:spPr>
            <a:xfrm>
              <a:off x="548674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5" name="Google Shape;115;p14"/>
            <p:cNvCxnSpPr/>
            <p:nvPr/>
          </p:nvCxnSpPr>
          <p:spPr>
            <a:xfrm>
              <a:off x="670588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6" name="Google Shape;116;p14"/>
            <p:cNvCxnSpPr/>
            <p:nvPr/>
          </p:nvCxnSpPr>
          <p:spPr>
            <a:xfrm>
              <a:off x="792502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7" name="Google Shape;117;p14"/>
            <p:cNvCxnSpPr/>
            <p:nvPr/>
          </p:nvCxnSpPr>
          <p:spPr>
            <a:xfrm>
              <a:off x="914416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8" name="Google Shape;118;p14"/>
            <p:cNvCxnSpPr/>
            <p:nvPr/>
          </p:nvCxnSpPr>
          <p:spPr>
            <a:xfrm>
              <a:off x="1036329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9" name="Google Shape;119;p14"/>
            <p:cNvCxnSpPr/>
            <p:nvPr/>
          </p:nvCxnSpPr>
          <p:spPr>
            <a:xfrm>
              <a:off x="1158243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0" name="Google Shape;120;p14"/>
            <p:cNvCxnSpPr/>
            <p:nvPr/>
          </p:nvCxnSpPr>
          <p:spPr>
            <a:xfrm>
              <a:off x="2819" y="38648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1" name="Google Shape;121;p14"/>
            <p:cNvCxnSpPr/>
            <p:nvPr/>
          </p:nvCxnSpPr>
          <p:spPr>
            <a:xfrm>
              <a:off x="2819" y="1611181"/>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2" name="Google Shape;122;p14"/>
            <p:cNvCxnSpPr/>
            <p:nvPr/>
          </p:nvCxnSpPr>
          <p:spPr>
            <a:xfrm>
              <a:off x="2819" y="2835877"/>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3" name="Google Shape;123;p14"/>
            <p:cNvCxnSpPr/>
            <p:nvPr/>
          </p:nvCxnSpPr>
          <p:spPr>
            <a:xfrm>
              <a:off x="2819" y="4060573"/>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4" name="Google Shape;124;p14"/>
            <p:cNvCxnSpPr/>
            <p:nvPr/>
          </p:nvCxnSpPr>
          <p:spPr>
            <a:xfrm>
              <a:off x="2819" y="5285269"/>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5" name="Google Shape;125;p14"/>
            <p:cNvCxnSpPr/>
            <p:nvPr/>
          </p:nvCxnSpPr>
          <p:spPr>
            <a:xfrm>
              <a:off x="2819" y="650996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26" name="Google Shape;126;p14"/>
            <p:cNvGrpSpPr/>
            <p:nvPr/>
          </p:nvGrpSpPr>
          <p:grpSpPr>
            <a:xfrm>
              <a:off x="-1" y="0"/>
              <a:ext cx="12192001" cy="6858000"/>
              <a:chOff x="-1" y="0"/>
              <a:chExt cx="12192001" cy="6858000"/>
            </a:xfrm>
          </p:grpSpPr>
          <p:cxnSp>
            <p:nvCxnSpPr>
              <p:cNvPr id="127" name="Google Shape;127;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8" name="Google Shape;128;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9" name="Google Shape;129;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0" name="Google Shape;130;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1" name="Google Shape;131;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32" name="Google Shape;132;p14"/>
              <p:cNvGrpSpPr/>
              <p:nvPr/>
            </p:nvGrpSpPr>
            <p:grpSpPr>
              <a:xfrm>
                <a:off x="6327885" y="0"/>
                <a:ext cx="5864115" cy="5898673"/>
                <a:chOff x="6327885" y="0"/>
                <a:chExt cx="5864115" cy="5898673"/>
              </a:xfrm>
            </p:grpSpPr>
            <p:cxnSp>
              <p:nvCxnSpPr>
                <p:cNvPr id="133" name="Google Shape;133;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4" name="Google Shape;134;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5" name="Google Shape;135;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6" name="Google Shape;136;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7" name="Google Shape;137;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38" name="Google Shape;138;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9" name="Google Shape;139;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0" name="Google Shape;140;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1" name="Google Shape;141;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2" name="Google Shape;142;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nvGrpSpPr>
            <p:cNvPr id="143" name="Google Shape;143;p14"/>
            <p:cNvGrpSpPr/>
            <p:nvPr/>
          </p:nvGrpSpPr>
          <p:grpSpPr>
            <a:xfrm flipH="1">
              <a:off x="0" y="0"/>
              <a:ext cx="12192001" cy="6858000"/>
              <a:chOff x="-1" y="0"/>
              <a:chExt cx="12192001" cy="6858000"/>
            </a:xfrm>
          </p:grpSpPr>
          <p:cxnSp>
            <p:nvCxnSpPr>
              <p:cNvPr id="144" name="Google Shape;144;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5" name="Google Shape;145;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6" name="Google Shape;146;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7" name="Google Shape;147;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8" name="Google Shape;148;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49" name="Google Shape;149;p14"/>
              <p:cNvGrpSpPr/>
              <p:nvPr/>
            </p:nvGrpSpPr>
            <p:grpSpPr>
              <a:xfrm>
                <a:off x="6327885" y="0"/>
                <a:ext cx="5864115" cy="5898673"/>
                <a:chOff x="6327885" y="0"/>
                <a:chExt cx="5864115" cy="5898673"/>
              </a:xfrm>
            </p:grpSpPr>
            <p:cxnSp>
              <p:nvCxnSpPr>
                <p:cNvPr id="150" name="Google Shape;150;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1" name="Google Shape;151;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2" name="Google Shape;152;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3" name="Google Shape;153;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4" name="Google Shape;154;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55" name="Google Shape;155;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6" name="Google Shape;156;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7" name="Google Shape;157;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8" name="Google Shape;158;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9" name="Google Shape;159;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sp>
        <p:nvSpPr>
          <p:cNvPr id="160" name="Google Shape;160;p14"/>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14"/>
          <p:cNvSpPr txBox="1"/>
          <p:nvPr>
            <p:ph idx="10" type="dt"/>
          </p:nvPr>
        </p:nvSpPr>
        <p:spPr>
          <a:xfrm>
            <a:off x="7007967" y="4933014"/>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14"/>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3" name="Shape 163"/>
        <p:cNvGrpSpPr/>
        <p:nvPr/>
      </p:nvGrpSpPr>
      <p:grpSpPr>
        <a:xfrm>
          <a:off x="0" y="0"/>
          <a:ext cx="0" cy="0"/>
          <a:chOff x="0" y="0"/>
          <a:chExt cx="0" cy="0"/>
        </a:xfrm>
      </p:grpSpPr>
      <p:grpSp>
        <p:nvGrpSpPr>
          <p:cNvPr id="164" name="Google Shape;164;p15"/>
          <p:cNvGrpSpPr/>
          <p:nvPr/>
        </p:nvGrpSpPr>
        <p:grpSpPr>
          <a:xfrm>
            <a:off x="-1" y="0"/>
            <a:ext cx="9144002" cy="5143500"/>
            <a:chOff x="-1" y="0"/>
            <a:chExt cx="12192002" cy="6858000"/>
          </a:xfrm>
        </p:grpSpPr>
        <p:cxnSp>
          <p:nvCxnSpPr>
            <p:cNvPr id="165" name="Google Shape;165;p15"/>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6" name="Google Shape;166;p15"/>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7" name="Google Shape;167;p15"/>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8" name="Google Shape;168;p15"/>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9" name="Google Shape;169;p15"/>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0" name="Google Shape;170;p15"/>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1" name="Google Shape;171;p15"/>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2" name="Google Shape;172;p15"/>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3" name="Google Shape;173;p15"/>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4" name="Google Shape;174;p15"/>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5" name="Google Shape;175;p15"/>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6" name="Google Shape;176;p15"/>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7" name="Google Shape;177;p15"/>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8" name="Google Shape;178;p15"/>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9" name="Google Shape;179;p15"/>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0" name="Google Shape;180;p15"/>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1" name="Google Shape;181;p15"/>
            <p:cNvGrpSpPr/>
            <p:nvPr/>
          </p:nvGrpSpPr>
          <p:grpSpPr>
            <a:xfrm>
              <a:off x="-1" y="0"/>
              <a:ext cx="12192001" cy="6858000"/>
              <a:chOff x="-1" y="0"/>
              <a:chExt cx="12192001" cy="6858000"/>
            </a:xfrm>
          </p:grpSpPr>
          <p:cxnSp>
            <p:nvCxnSpPr>
              <p:cNvPr id="182" name="Google Shape;182;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3" name="Google Shape;183;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4" name="Google Shape;184;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5" name="Google Shape;185;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6" name="Google Shape;186;p15"/>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7" name="Google Shape;187;p15"/>
              <p:cNvGrpSpPr/>
              <p:nvPr/>
            </p:nvGrpSpPr>
            <p:grpSpPr>
              <a:xfrm>
                <a:off x="6327885" y="0"/>
                <a:ext cx="5864115" cy="5898673"/>
                <a:chOff x="6327885" y="0"/>
                <a:chExt cx="5864115" cy="5898673"/>
              </a:xfrm>
            </p:grpSpPr>
            <p:cxnSp>
              <p:nvCxnSpPr>
                <p:cNvPr id="188" name="Google Shape;188;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9" name="Google Shape;189;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0" name="Google Shape;190;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1" name="Google Shape;191;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2" name="Google Shape;192;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93" name="Google Shape;193;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4" name="Google Shape;194;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5" name="Google Shape;195;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6" name="Google Shape;196;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7" name="Google Shape;197;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98" name="Google Shape;198;p15"/>
            <p:cNvGrpSpPr/>
            <p:nvPr/>
          </p:nvGrpSpPr>
          <p:grpSpPr>
            <a:xfrm flipH="1">
              <a:off x="0" y="0"/>
              <a:ext cx="12192001" cy="6858000"/>
              <a:chOff x="-1" y="0"/>
              <a:chExt cx="12192001" cy="6858000"/>
            </a:xfrm>
          </p:grpSpPr>
          <p:cxnSp>
            <p:nvCxnSpPr>
              <p:cNvPr id="199" name="Google Shape;199;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0" name="Google Shape;200;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1" name="Google Shape;201;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2" name="Google Shape;202;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3" name="Google Shape;203;p15"/>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204" name="Google Shape;204;p15"/>
              <p:cNvGrpSpPr/>
              <p:nvPr/>
            </p:nvGrpSpPr>
            <p:grpSpPr>
              <a:xfrm>
                <a:off x="6327885" y="0"/>
                <a:ext cx="5864115" cy="5898673"/>
                <a:chOff x="6327885" y="0"/>
                <a:chExt cx="5864115" cy="5898673"/>
              </a:xfrm>
            </p:grpSpPr>
            <p:cxnSp>
              <p:nvCxnSpPr>
                <p:cNvPr id="205" name="Google Shape;205;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6" name="Google Shape;206;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7" name="Google Shape;207;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8" name="Google Shape;208;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9" name="Google Shape;209;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210" name="Google Shape;210;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1" name="Google Shape;211;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2" name="Google Shape;212;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3" name="Google Shape;213;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4" name="Google Shape;214;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215" name="Google Shape;215;p15"/>
          <p:cNvSpPr txBox="1"/>
          <p:nvPr>
            <p:ph type="ctrTitle"/>
          </p:nvPr>
        </p:nvSpPr>
        <p:spPr>
          <a:xfrm>
            <a:off x="970384" y="1432010"/>
            <a:ext cx="7203233" cy="2537460"/>
          </a:xfrm>
          <a:prstGeom prst="rect">
            <a:avLst/>
          </a:prstGeom>
          <a:noFill/>
          <a:ln>
            <a:noFill/>
          </a:ln>
        </p:spPr>
        <p:txBody>
          <a:bodyPr anchorCtr="0" anchor="b" bIns="34275" lIns="68575" spcFirstLastPara="1" rIns="68575" wrap="square" tIns="34275">
            <a:normAutofit/>
          </a:bodyPr>
          <a:lstStyle>
            <a:lvl1pPr lvl="0" algn="l">
              <a:lnSpc>
                <a:spcPct val="76000"/>
              </a:lnSpc>
              <a:spcBef>
                <a:spcPts val="0"/>
              </a:spcBef>
              <a:spcAft>
                <a:spcPts val="0"/>
              </a:spcAft>
              <a:buClr>
                <a:schemeClr val="dk1"/>
              </a:buClr>
              <a:buSzPts val="6000"/>
              <a:buFont typeface="Arial"/>
              <a:buNone/>
              <a:defRPr sz="6000" cap="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15"/>
          <p:cNvSpPr txBox="1"/>
          <p:nvPr>
            <p:ph idx="1" type="subTitle"/>
          </p:nvPr>
        </p:nvSpPr>
        <p:spPr>
          <a:xfrm>
            <a:off x="970384" y="4074423"/>
            <a:ext cx="7203233" cy="342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SzPts val="1500"/>
              <a:buNone/>
              <a:defRPr b="0" sz="1500">
                <a:solidFill>
                  <a:srgbClr val="A43E27"/>
                </a:solidFill>
              </a:defRPr>
            </a:lvl1pPr>
            <a:lvl2pPr lvl="1" algn="ctr">
              <a:lnSpc>
                <a:spcPct val="90000"/>
              </a:lnSpc>
              <a:spcBef>
                <a:spcPts val="900"/>
              </a:spcBef>
              <a:spcAft>
                <a:spcPts val="0"/>
              </a:spcAft>
              <a:buSzPts val="1500"/>
              <a:buNone/>
              <a:defRPr sz="1500"/>
            </a:lvl2pPr>
            <a:lvl3pPr lvl="2" algn="ctr">
              <a:lnSpc>
                <a:spcPct val="90000"/>
              </a:lnSpc>
              <a:spcBef>
                <a:spcPts val="600"/>
              </a:spcBef>
              <a:spcAft>
                <a:spcPts val="0"/>
              </a:spcAft>
              <a:buSzPts val="1400"/>
              <a:buNone/>
              <a:defRPr sz="1400"/>
            </a:lvl3pPr>
            <a:lvl4pPr lvl="3" algn="ctr">
              <a:lnSpc>
                <a:spcPct val="90000"/>
              </a:lnSpc>
              <a:spcBef>
                <a:spcPts val="600"/>
              </a:spcBef>
              <a:spcAft>
                <a:spcPts val="0"/>
              </a:spcAft>
              <a:buSzPts val="1200"/>
              <a:buNone/>
              <a:defRPr sz="1200"/>
            </a:lvl4pPr>
            <a:lvl5pPr lvl="4" algn="ctr">
              <a:lnSpc>
                <a:spcPct val="90000"/>
              </a:lnSpc>
              <a:spcBef>
                <a:spcPts val="500"/>
              </a:spcBef>
              <a:spcAft>
                <a:spcPts val="0"/>
              </a:spcAft>
              <a:buSzPts val="1200"/>
              <a:buNone/>
              <a:defRPr sz="1200"/>
            </a:lvl5pPr>
            <a:lvl6pPr lvl="5" algn="ctr">
              <a:lnSpc>
                <a:spcPct val="90000"/>
              </a:lnSpc>
              <a:spcBef>
                <a:spcPts val="500"/>
              </a:spcBef>
              <a:spcAft>
                <a:spcPts val="0"/>
              </a:spcAft>
              <a:buSzPts val="1200"/>
              <a:buNone/>
              <a:defRPr sz="1200"/>
            </a:lvl6pPr>
            <a:lvl7pPr lvl="6" algn="ctr">
              <a:lnSpc>
                <a:spcPct val="90000"/>
              </a:lnSpc>
              <a:spcBef>
                <a:spcPts val="500"/>
              </a:spcBef>
              <a:spcAft>
                <a:spcPts val="0"/>
              </a:spcAft>
              <a:buSzPts val="1200"/>
              <a:buNone/>
              <a:defRPr sz="1200"/>
            </a:lvl7pPr>
            <a:lvl8pPr lvl="7" algn="ctr">
              <a:lnSpc>
                <a:spcPct val="90000"/>
              </a:lnSpc>
              <a:spcBef>
                <a:spcPts val="500"/>
              </a:spcBef>
              <a:spcAft>
                <a:spcPts val="0"/>
              </a:spcAft>
              <a:buSzPts val="1200"/>
              <a:buNone/>
              <a:defRPr sz="1200"/>
            </a:lvl8pPr>
            <a:lvl9pPr lvl="8" algn="ctr">
              <a:lnSpc>
                <a:spcPct val="90000"/>
              </a:lnSpc>
              <a:spcBef>
                <a:spcPts val="500"/>
              </a:spcBef>
              <a:spcAft>
                <a:spcPts val="0"/>
              </a:spcAft>
              <a:buSzPts val="1200"/>
              <a:buNone/>
              <a:defRPr sz="1200"/>
            </a:lvl9pPr>
          </a:lstStyle>
          <a:p/>
        </p:txBody>
      </p:sp>
      <p:cxnSp>
        <p:nvCxnSpPr>
          <p:cNvPr id="217" name="Google Shape;217;p15"/>
          <p:cNvCxnSpPr/>
          <p:nvPr/>
        </p:nvCxnSpPr>
        <p:spPr>
          <a:xfrm>
            <a:off x="971550" y="3970631"/>
            <a:ext cx="72009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8" name="Shape 218"/>
        <p:cNvGrpSpPr/>
        <p:nvPr/>
      </p:nvGrpSpPr>
      <p:grpSpPr>
        <a:xfrm>
          <a:off x="0" y="0"/>
          <a:ext cx="0" cy="0"/>
          <a:chOff x="0" y="0"/>
          <a:chExt cx="0" cy="0"/>
        </a:xfrm>
      </p:grpSpPr>
      <p:sp>
        <p:nvSpPr>
          <p:cNvPr id="219" name="Google Shape;219;p16"/>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16"/>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221" name="Google Shape;221;p16"/>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16"/>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3" name="Google Shape;223;p16"/>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AF4329"/>
            </a:gs>
            <a:gs pos="100000">
              <a:srgbClr val="AF4329"/>
            </a:gs>
          </a:gsLst>
          <a:path path="circle">
            <a:fillToRect b="50%" l="50%" r="50%" t="50%"/>
          </a:path>
          <a:tileRect/>
        </a:gradFill>
      </p:bgPr>
    </p:bg>
    <p:spTree>
      <p:nvGrpSpPr>
        <p:cNvPr id="224" name="Shape 224"/>
        <p:cNvGrpSpPr/>
        <p:nvPr/>
      </p:nvGrpSpPr>
      <p:grpSpPr>
        <a:xfrm>
          <a:off x="0" y="0"/>
          <a:ext cx="0" cy="0"/>
          <a:chOff x="0" y="0"/>
          <a:chExt cx="0" cy="0"/>
        </a:xfrm>
      </p:grpSpPr>
      <p:grpSp>
        <p:nvGrpSpPr>
          <p:cNvPr id="225" name="Google Shape;225;p17"/>
          <p:cNvGrpSpPr/>
          <p:nvPr/>
        </p:nvGrpSpPr>
        <p:grpSpPr>
          <a:xfrm>
            <a:off x="-1" y="0"/>
            <a:ext cx="9144002" cy="5143500"/>
            <a:chOff x="-1" y="0"/>
            <a:chExt cx="12192002" cy="6858000"/>
          </a:xfrm>
        </p:grpSpPr>
        <p:cxnSp>
          <p:nvCxnSpPr>
            <p:cNvPr id="226" name="Google Shape;226;p17"/>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7" name="Google Shape;227;p17"/>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8" name="Google Shape;228;p17"/>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9" name="Google Shape;229;p17"/>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0" name="Google Shape;230;p17"/>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1" name="Google Shape;231;p17"/>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2" name="Google Shape;232;p17"/>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3" name="Google Shape;233;p17"/>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4" name="Google Shape;234;p17"/>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5" name="Google Shape;235;p17"/>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6" name="Google Shape;236;p17"/>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7" name="Google Shape;237;p17"/>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8" name="Google Shape;238;p17"/>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9" name="Google Shape;239;p17"/>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0" name="Google Shape;240;p17"/>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1" name="Google Shape;241;p17"/>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2" name="Google Shape;242;p17"/>
            <p:cNvGrpSpPr/>
            <p:nvPr/>
          </p:nvGrpSpPr>
          <p:grpSpPr>
            <a:xfrm>
              <a:off x="-1" y="0"/>
              <a:ext cx="12192001" cy="6858000"/>
              <a:chOff x="-1" y="0"/>
              <a:chExt cx="12192001" cy="6858000"/>
            </a:xfrm>
          </p:grpSpPr>
          <p:cxnSp>
            <p:nvCxnSpPr>
              <p:cNvPr id="243" name="Google Shape;243;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4" name="Google Shape;244;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5" name="Google Shape;245;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6" name="Google Shape;246;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7" name="Google Shape;247;p17"/>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8" name="Google Shape;248;p17"/>
              <p:cNvGrpSpPr/>
              <p:nvPr/>
            </p:nvGrpSpPr>
            <p:grpSpPr>
              <a:xfrm>
                <a:off x="6327885" y="0"/>
                <a:ext cx="5864115" cy="5898673"/>
                <a:chOff x="6327885" y="0"/>
                <a:chExt cx="5864115" cy="5898673"/>
              </a:xfrm>
            </p:grpSpPr>
            <p:cxnSp>
              <p:nvCxnSpPr>
                <p:cNvPr id="249" name="Google Shape;249;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0" name="Google Shape;250;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1" name="Google Shape;251;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2" name="Google Shape;252;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3" name="Google Shape;253;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54" name="Google Shape;254;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5" name="Google Shape;255;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6" name="Google Shape;256;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7" name="Google Shape;257;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8" name="Google Shape;258;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259" name="Google Shape;259;p17"/>
            <p:cNvGrpSpPr/>
            <p:nvPr/>
          </p:nvGrpSpPr>
          <p:grpSpPr>
            <a:xfrm flipH="1">
              <a:off x="0" y="0"/>
              <a:ext cx="12192001" cy="6858000"/>
              <a:chOff x="-1" y="0"/>
              <a:chExt cx="12192001" cy="6858000"/>
            </a:xfrm>
          </p:grpSpPr>
          <p:cxnSp>
            <p:nvCxnSpPr>
              <p:cNvPr id="260" name="Google Shape;260;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1" name="Google Shape;261;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2" name="Google Shape;262;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3" name="Google Shape;263;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4" name="Google Shape;264;p17"/>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65" name="Google Shape;265;p17"/>
              <p:cNvGrpSpPr/>
              <p:nvPr/>
            </p:nvGrpSpPr>
            <p:grpSpPr>
              <a:xfrm>
                <a:off x="6327885" y="0"/>
                <a:ext cx="5864115" cy="5898673"/>
                <a:chOff x="6327885" y="0"/>
                <a:chExt cx="5864115" cy="5898673"/>
              </a:xfrm>
            </p:grpSpPr>
            <p:cxnSp>
              <p:nvCxnSpPr>
                <p:cNvPr id="266" name="Google Shape;266;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7" name="Google Shape;267;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8" name="Google Shape;268;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9" name="Google Shape;269;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0" name="Google Shape;270;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71" name="Google Shape;271;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2" name="Google Shape;272;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3" name="Google Shape;273;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4" name="Google Shape;274;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5" name="Google Shape;275;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276" name="Google Shape;276;p17"/>
          <p:cNvSpPr txBox="1"/>
          <p:nvPr>
            <p:ph type="title"/>
          </p:nvPr>
        </p:nvSpPr>
        <p:spPr>
          <a:xfrm>
            <a:off x="971550" y="1906180"/>
            <a:ext cx="7200900" cy="20574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chemeClr val="lt1"/>
              </a:buClr>
              <a:buSzPts val="4500"/>
              <a:buFont typeface="Arial"/>
              <a:buNone/>
              <a:defRPr sz="45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7" name="Google Shape;277;p17"/>
          <p:cNvSpPr txBox="1"/>
          <p:nvPr>
            <p:ph idx="1" type="body"/>
          </p:nvPr>
        </p:nvSpPr>
        <p:spPr>
          <a:xfrm>
            <a:off x="971550" y="4073652"/>
            <a:ext cx="7200900" cy="3429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lt1"/>
                </a:solidFill>
              </a:defRPr>
            </a:lvl1pPr>
            <a:lvl2pPr indent="-228600" lvl="1" marL="914400" algn="l">
              <a:lnSpc>
                <a:spcPct val="90000"/>
              </a:lnSpc>
              <a:spcBef>
                <a:spcPts val="900"/>
              </a:spcBef>
              <a:spcAft>
                <a:spcPts val="0"/>
              </a:spcAft>
              <a:buSzPts val="1500"/>
              <a:buNone/>
              <a:defRPr sz="1500"/>
            </a:lvl2pPr>
            <a:lvl3pPr indent="-228600" lvl="2" marL="1371600" algn="l">
              <a:lnSpc>
                <a:spcPct val="90000"/>
              </a:lnSpc>
              <a:spcBef>
                <a:spcPts val="600"/>
              </a:spcBef>
              <a:spcAft>
                <a:spcPts val="0"/>
              </a:spcAft>
              <a:buSzPts val="1400"/>
              <a:buNone/>
              <a:defRPr sz="1400"/>
            </a:lvl3pPr>
            <a:lvl4pPr indent="-228600" lvl="3" marL="1828800" algn="l">
              <a:lnSpc>
                <a:spcPct val="90000"/>
              </a:lnSpc>
              <a:spcBef>
                <a:spcPts val="600"/>
              </a:spcBef>
              <a:spcAft>
                <a:spcPts val="0"/>
              </a:spcAft>
              <a:buSzPts val="1200"/>
              <a:buNone/>
              <a:defRPr sz="1200"/>
            </a:lvl4pPr>
            <a:lvl5pPr indent="-228600" lvl="4" marL="2286000" algn="l">
              <a:lnSpc>
                <a:spcPct val="90000"/>
              </a:lnSpc>
              <a:spcBef>
                <a:spcPts val="500"/>
              </a:spcBef>
              <a:spcAft>
                <a:spcPts val="0"/>
              </a:spcAft>
              <a:buSzPts val="1200"/>
              <a:buNone/>
              <a:defRPr sz="1200"/>
            </a:lvl5pPr>
            <a:lvl6pPr indent="-228600" lvl="5" marL="2743200" algn="l">
              <a:lnSpc>
                <a:spcPct val="90000"/>
              </a:lnSpc>
              <a:spcBef>
                <a:spcPts val="500"/>
              </a:spcBef>
              <a:spcAft>
                <a:spcPts val="0"/>
              </a:spcAft>
              <a:buSzPts val="1200"/>
              <a:buNone/>
              <a:defRPr sz="1200"/>
            </a:lvl6pPr>
            <a:lvl7pPr indent="-228600" lvl="6" marL="3200400" algn="l">
              <a:lnSpc>
                <a:spcPct val="90000"/>
              </a:lnSpc>
              <a:spcBef>
                <a:spcPts val="500"/>
              </a:spcBef>
              <a:spcAft>
                <a:spcPts val="0"/>
              </a:spcAft>
              <a:buSzPts val="1200"/>
              <a:buNone/>
              <a:defRPr sz="1200"/>
            </a:lvl7pPr>
            <a:lvl8pPr indent="-228600" lvl="7" marL="3657600" algn="l">
              <a:lnSpc>
                <a:spcPct val="90000"/>
              </a:lnSpc>
              <a:spcBef>
                <a:spcPts val="500"/>
              </a:spcBef>
              <a:spcAft>
                <a:spcPts val="0"/>
              </a:spcAft>
              <a:buSzPts val="1200"/>
              <a:buNone/>
              <a:defRPr sz="1200"/>
            </a:lvl8pPr>
            <a:lvl9pPr indent="-228600" lvl="8" marL="4114800" algn="l">
              <a:lnSpc>
                <a:spcPct val="90000"/>
              </a:lnSpc>
              <a:spcBef>
                <a:spcPts val="500"/>
              </a:spcBef>
              <a:spcAft>
                <a:spcPts val="0"/>
              </a:spcAft>
              <a:buSzPts val="1200"/>
              <a:buNone/>
              <a:defRPr sz="1200"/>
            </a:lvl9pPr>
          </a:lstStyle>
          <a:p/>
        </p:txBody>
      </p:sp>
      <p:cxnSp>
        <p:nvCxnSpPr>
          <p:cNvPr id="278" name="Google Shape;278;p17"/>
          <p:cNvCxnSpPr/>
          <p:nvPr/>
        </p:nvCxnSpPr>
        <p:spPr>
          <a:xfrm>
            <a:off x="971550" y="3970631"/>
            <a:ext cx="72009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9" name="Shape 279"/>
        <p:cNvGrpSpPr/>
        <p:nvPr/>
      </p:nvGrpSpPr>
      <p:grpSpPr>
        <a:xfrm>
          <a:off x="0" y="0"/>
          <a:ext cx="0" cy="0"/>
          <a:chOff x="0" y="0"/>
          <a:chExt cx="0" cy="0"/>
        </a:xfrm>
      </p:grpSpPr>
      <p:sp>
        <p:nvSpPr>
          <p:cNvPr id="280" name="Google Shape;280;p18"/>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1" name="Google Shape;281;p18"/>
          <p:cNvSpPr txBox="1"/>
          <p:nvPr>
            <p:ph idx="1" type="body"/>
          </p:nvPr>
        </p:nvSpPr>
        <p:spPr>
          <a:xfrm>
            <a:off x="9715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2" name="Google Shape;282;p18"/>
          <p:cNvSpPr txBox="1"/>
          <p:nvPr>
            <p:ph idx="2" type="body"/>
          </p:nvPr>
        </p:nvSpPr>
        <p:spPr>
          <a:xfrm>
            <a:off x="47434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3" name="Google Shape;283;p18"/>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4" name="Google Shape;284;p18"/>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5" name="Google Shape;285;p18"/>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6" name="Shape 286"/>
        <p:cNvGrpSpPr/>
        <p:nvPr/>
      </p:nvGrpSpPr>
      <p:grpSpPr>
        <a:xfrm>
          <a:off x="0" y="0"/>
          <a:ext cx="0" cy="0"/>
          <a:chOff x="0" y="0"/>
          <a:chExt cx="0" cy="0"/>
        </a:xfrm>
      </p:grpSpPr>
      <p:sp>
        <p:nvSpPr>
          <p:cNvPr id="287" name="Google Shape;287;p19"/>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8" name="Google Shape;288;p19"/>
          <p:cNvSpPr txBox="1"/>
          <p:nvPr>
            <p:ph idx="1" type="body"/>
          </p:nvPr>
        </p:nvSpPr>
        <p:spPr>
          <a:xfrm>
            <a:off x="9715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89" name="Google Shape;289;p19"/>
          <p:cNvSpPr txBox="1"/>
          <p:nvPr>
            <p:ph idx="2" type="body"/>
          </p:nvPr>
        </p:nvSpPr>
        <p:spPr>
          <a:xfrm>
            <a:off x="9715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0" name="Google Shape;290;p19"/>
          <p:cNvSpPr txBox="1"/>
          <p:nvPr>
            <p:ph idx="3" type="body"/>
          </p:nvPr>
        </p:nvSpPr>
        <p:spPr>
          <a:xfrm>
            <a:off x="47434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91" name="Google Shape;291;p19"/>
          <p:cNvSpPr txBox="1"/>
          <p:nvPr>
            <p:ph idx="4" type="body"/>
          </p:nvPr>
        </p:nvSpPr>
        <p:spPr>
          <a:xfrm>
            <a:off x="47434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2" name="Google Shape;292;p19"/>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3" name="Google Shape;293;p19"/>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4" name="Google Shape;294;p19"/>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5" name="Shape 295"/>
        <p:cNvGrpSpPr/>
        <p:nvPr/>
      </p:nvGrpSpPr>
      <p:grpSpPr>
        <a:xfrm>
          <a:off x="0" y="0"/>
          <a:ext cx="0" cy="0"/>
          <a:chOff x="0" y="0"/>
          <a:chExt cx="0" cy="0"/>
        </a:xfrm>
      </p:grpSpPr>
      <p:sp>
        <p:nvSpPr>
          <p:cNvPr id="296" name="Google Shape;296;p20"/>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7" name="Google Shape;297;p20"/>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8" name="Google Shape;298;p20"/>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9" name="Google Shape;299;p20"/>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AF4329"/>
            </a:gs>
          </a:gsLst>
          <a:path path="circle">
            <a:fillToRect b="50%" l="50%" r="50%" t="50%"/>
          </a:path>
          <a:tileRect/>
        </a:gradFill>
      </p:bgPr>
    </p:bg>
    <p:spTree>
      <p:nvGrpSpPr>
        <p:cNvPr id="300" name="Shape 300"/>
        <p:cNvGrpSpPr/>
        <p:nvPr/>
      </p:nvGrpSpPr>
      <p:grpSpPr>
        <a:xfrm>
          <a:off x="0" y="0"/>
          <a:ext cx="0" cy="0"/>
          <a:chOff x="0" y="0"/>
          <a:chExt cx="0" cy="0"/>
        </a:xfrm>
      </p:grpSpPr>
      <p:grpSp>
        <p:nvGrpSpPr>
          <p:cNvPr id="301" name="Google Shape;301;p21"/>
          <p:cNvGrpSpPr/>
          <p:nvPr/>
        </p:nvGrpSpPr>
        <p:grpSpPr>
          <a:xfrm>
            <a:off x="-1" y="0"/>
            <a:ext cx="9144002" cy="5143500"/>
            <a:chOff x="-1" y="0"/>
            <a:chExt cx="12192002" cy="6858000"/>
          </a:xfrm>
        </p:grpSpPr>
        <p:cxnSp>
          <p:nvCxnSpPr>
            <p:cNvPr id="302" name="Google Shape;302;p21"/>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3" name="Google Shape;303;p21"/>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4" name="Google Shape;304;p21"/>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5" name="Google Shape;305;p21"/>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6" name="Google Shape;306;p21"/>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7" name="Google Shape;307;p21"/>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8" name="Google Shape;308;p21"/>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9" name="Google Shape;309;p21"/>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0" name="Google Shape;310;p21"/>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1" name="Google Shape;311;p21"/>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2" name="Google Shape;312;p21"/>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3" name="Google Shape;313;p21"/>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4" name="Google Shape;314;p21"/>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5" name="Google Shape;315;p21"/>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6" name="Google Shape;316;p21"/>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7" name="Google Shape;317;p21"/>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18" name="Google Shape;318;p21"/>
            <p:cNvGrpSpPr/>
            <p:nvPr/>
          </p:nvGrpSpPr>
          <p:grpSpPr>
            <a:xfrm>
              <a:off x="-1" y="0"/>
              <a:ext cx="12192001" cy="6858000"/>
              <a:chOff x="-1" y="0"/>
              <a:chExt cx="12192001" cy="6858000"/>
            </a:xfrm>
          </p:grpSpPr>
          <p:cxnSp>
            <p:nvCxnSpPr>
              <p:cNvPr id="319" name="Google Shape;319;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0" name="Google Shape;320;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1" name="Google Shape;321;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2" name="Google Shape;322;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3" name="Google Shape;323;p21"/>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24" name="Google Shape;324;p21"/>
              <p:cNvGrpSpPr/>
              <p:nvPr/>
            </p:nvGrpSpPr>
            <p:grpSpPr>
              <a:xfrm>
                <a:off x="6327885" y="0"/>
                <a:ext cx="5864115" cy="5898673"/>
                <a:chOff x="6327885" y="0"/>
                <a:chExt cx="5864115" cy="5898673"/>
              </a:xfrm>
            </p:grpSpPr>
            <p:cxnSp>
              <p:nvCxnSpPr>
                <p:cNvPr id="325" name="Google Shape;325;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6" name="Google Shape;326;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7" name="Google Shape;327;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8" name="Google Shape;328;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9" name="Google Shape;329;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30" name="Google Shape;330;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1" name="Google Shape;331;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2" name="Google Shape;332;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3" name="Google Shape;333;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4" name="Google Shape;334;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35" name="Google Shape;335;p21"/>
            <p:cNvGrpSpPr/>
            <p:nvPr/>
          </p:nvGrpSpPr>
          <p:grpSpPr>
            <a:xfrm flipH="1">
              <a:off x="0" y="0"/>
              <a:ext cx="12192001" cy="6858000"/>
              <a:chOff x="-1" y="0"/>
              <a:chExt cx="12192001" cy="6858000"/>
            </a:xfrm>
          </p:grpSpPr>
          <p:cxnSp>
            <p:nvCxnSpPr>
              <p:cNvPr id="336" name="Google Shape;336;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7" name="Google Shape;337;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8" name="Google Shape;338;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9" name="Google Shape;339;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0" name="Google Shape;340;p21"/>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41" name="Google Shape;341;p21"/>
              <p:cNvGrpSpPr/>
              <p:nvPr/>
            </p:nvGrpSpPr>
            <p:grpSpPr>
              <a:xfrm>
                <a:off x="6327885" y="0"/>
                <a:ext cx="5864115" cy="5898673"/>
                <a:chOff x="6327885" y="0"/>
                <a:chExt cx="5864115" cy="5898673"/>
              </a:xfrm>
            </p:grpSpPr>
            <p:cxnSp>
              <p:nvCxnSpPr>
                <p:cNvPr id="342" name="Google Shape;342;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3" name="Google Shape;343;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4" name="Google Shape;344;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5" name="Google Shape;345;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6" name="Google Shape;346;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47" name="Google Shape;347;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8" name="Google Shape;348;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9" name="Google Shape;349;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0" name="Google Shape;350;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1" name="Google Shape;351;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352" name="Google Shape;352;p21"/>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21"/>
          <p:cNvSpPr txBox="1"/>
          <p:nvPr>
            <p:ph type="title"/>
          </p:nvPr>
        </p:nvSpPr>
        <p:spPr>
          <a:xfrm>
            <a:off x="5934864" y="428625"/>
            <a:ext cx="2743200" cy="164782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4" name="Google Shape;354;p21"/>
          <p:cNvSpPr txBox="1"/>
          <p:nvPr>
            <p:ph idx="1" type="body"/>
          </p:nvPr>
        </p:nvSpPr>
        <p:spPr>
          <a:xfrm>
            <a:off x="407398" y="428625"/>
            <a:ext cx="4663440" cy="4286250"/>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23850" lvl="5" marL="2743200" algn="l">
              <a:lnSpc>
                <a:spcPct val="90000"/>
              </a:lnSpc>
              <a:spcBef>
                <a:spcPts val="500"/>
              </a:spcBef>
              <a:spcAft>
                <a:spcPts val="0"/>
              </a:spcAft>
              <a:buSzPts val="1500"/>
              <a:buChar char="▪"/>
              <a:defRPr sz="1500"/>
            </a:lvl6pPr>
            <a:lvl7pPr indent="-323850" lvl="6" marL="3200400" algn="l">
              <a:lnSpc>
                <a:spcPct val="90000"/>
              </a:lnSpc>
              <a:spcBef>
                <a:spcPts val="500"/>
              </a:spcBef>
              <a:spcAft>
                <a:spcPts val="0"/>
              </a:spcAft>
              <a:buSzPts val="1500"/>
              <a:buChar char="▪"/>
              <a:defRPr sz="1500"/>
            </a:lvl7pPr>
            <a:lvl8pPr indent="-323850" lvl="7" marL="3657600" algn="l">
              <a:lnSpc>
                <a:spcPct val="90000"/>
              </a:lnSpc>
              <a:spcBef>
                <a:spcPts val="500"/>
              </a:spcBef>
              <a:spcAft>
                <a:spcPts val="0"/>
              </a:spcAft>
              <a:buSzPts val="1500"/>
              <a:buChar char="▪"/>
              <a:defRPr sz="1500"/>
            </a:lvl8pPr>
            <a:lvl9pPr indent="-228600" lvl="8" marL="4114800" algn="l">
              <a:lnSpc>
                <a:spcPct val="90000"/>
              </a:lnSpc>
              <a:spcBef>
                <a:spcPts val="500"/>
              </a:spcBef>
              <a:spcAft>
                <a:spcPts val="0"/>
              </a:spcAft>
              <a:buSzPts val="1500"/>
              <a:buNone/>
              <a:defRPr sz="1500"/>
            </a:lvl9pPr>
          </a:lstStyle>
          <a:p/>
        </p:txBody>
      </p:sp>
      <p:sp>
        <p:nvSpPr>
          <p:cNvPr id="355" name="Google Shape;355;p21"/>
          <p:cNvSpPr txBox="1"/>
          <p:nvPr>
            <p:ph idx="2" type="body"/>
          </p:nvPr>
        </p:nvSpPr>
        <p:spPr>
          <a:xfrm>
            <a:off x="5934864" y="2246259"/>
            <a:ext cx="2743200" cy="1714462"/>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cxnSp>
        <p:nvCxnSpPr>
          <p:cNvPr id="356" name="Google Shape;356;p21"/>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357" name="Google Shape;357;p21"/>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8" name="Google Shape;358;p21"/>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9" name="Google Shape;359;p21"/>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chemeClr val="lt1"/>
                </a:solidFill>
                <a:latin typeface="Arial"/>
                <a:ea typeface="Arial"/>
                <a:cs typeface="Arial"/>
                <a:sym typeface="Arial"/>
              </a:defRPr>
            </a:lvl1pPr>
            <a:lvl2pPr indent="0" lvl="1" marL="0" algn="r">
              <a:spcBef>
                <a:spcPts val="0"/>
              </a:spcBef>
              <a:buNone/>
              <a:defRPr b="0" i="0" sz="800" u="none" cap="none" strike="noStrike">
                <a:solidFill>
                  <a:schemeClr val="lt1"/>
                </a:solidFill>
                <a:latin typeface="Arial"/>
                <a:ea typeface="Arial"/>
                <a:cs typeface="Arial"/>
                <a:sym typeface="Arial"/>
              </a:defRPr>
            </a:lvl2pPr>
            <a:lvl3pPr indent="0" lvl="2" marL="0" algn="r">
              <a:spcBef>
                <a:spcPts val="0"/>
              </a:spcBef>
              <a:buNone/>
              <a:defRPr b="0" i="0" sz="800" u="none" cap="none" strike="noStrike">
                <a:solidFill>
                  <a:schemeClr val="lt1"/>
                </a:solidFill>
                <a:latin typeface="Arial"/>
                <a:ea typeface="Arial"/>
                <a:cs typeface="Arial"/>
                <a:sym typeface="Arial"/>
              </a:defRPr>
            </a:lvl3pPr>
            <a:lvl4pPr indent="0" lvl="3" marL="0" algn="r">
              <a:spcBef>
                <a:spcPts val="0"/>
              </a:spcBef>
              <a:buNone/>
              <a:defRPr b="0" i="0" sz="800" u="none" cap="none" strike="noStrike">
                <a:solidFill>
                  <a:schemeClr val="lt1"/>
                </a:solidFill>
                <a:latin typeface="Arial"/>
                <a:ea typeface="Arial"/>
                <a:cs typeface="Arial"/>
                <a:sym typeface="Arial"/>
              </a:defRPr>
            </a:lvl4pPr>
            <a:lvl5pPr indent="0" lvl="4" marL="0" algn="r">
              <a:spcBef>
                <a:spcPts val="0"/>
              </a:spcBef>
              <a:buNone/>
              <a:defRPr b="0" i="0" sz="800" u="none" cap="none" strike="noStrike">
                <a:solidFill>
                  <a:schemeClr val="lt1"/>
                </a:solidFill>
                <a:latin typeface="Arial"/>
                <a:ea typeface="Arial"/>
                <a:cs typeface="Arial"/>
                <a:sym typeface="Arial"/>
              </a:defRPr>
            </a:lvl5pPr>
            <a:lvl6pPr indent="0" lvl="5" marL="0" algn="r">
              <a:spcBef>
                <a:spcPts val="0"/>
              </a:spcBef>
              <a:buNone/>
              <a:defRPr b="0" i="0" sz="800" u="none" cap="none" strike="noStrike">
                <a:solidFill>
                  <a:schemeClr val="lt1"/>
                </a:solidFill>
                <a:latin typeface="Arial"/>
                <a:ea typeface="Arial"/>
                <a:cs typeface="Arial"/>
                <a:sym typeface="Arial"/>
              </a:defRPr>
            </a:lvl6pPr>
            <a:lvl7pPr indent="0" lvl="6" marL="0" algn="r">
              <a:spcBef>
                <a:spcPts val="0"/>
              </a:spcBef>
              <a:buNone/>
              <a:defRPr b="0" i="0" sz="800" u="none" cap="none" strike="noStrike">
                <a:solidFill>
                  <a:schemeClr val="lt1"/>
                </a:solidFill>
                <a:latin typeface="Arial"/>
                <a:ea typeface="Arial"/>
                <a:cs typeface="Arial"/>
                <a:sym typeface="Arial"/>
              </a:defRPr>
            </a:lvl7pPr>
            <a:lvl8pPr indent="0" lvl="7" marL="0" algn="r">
              <a:spcBef>
                <a:spcPts val="0"/>
              </a:spcBef>
              <a:buNone/>
              <a:defRPr b="0" i="0" sz="800" u="none" cap="none" strike="noStrike">
                <a:solidFill>
                  <a:schemeClr val="lt1"/>
                </a:solidFill>
                <a:latin typeface="Arial"/>
                <a:ea typeface="Arial"/>
                <a:cs typeface="Arial"/>
                <a:sym typeface="Arial"/>
              </a:defRPr>
            </a:lvl8pPr>
            <a:lvl9pPr indent="0" lvl="8" marL="0" algn="r">
              <a:spcBef>
                <a:spcPts val="0"/>
              </a:spcBef>
              <a:buNone/>
              <a:defRPr b="0" i="0" sz="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AF4329"/>
            </a:gs>
          </a:gsLst>
          <a:path path="circle">
            <a:fillToRect b="50%" l="50%" r="50%" t="50%"/>
          </a:path>
          <a:tileRect/>
        </a:gradFill>
      </p:bgPr>
    </p:bg>
    <p:spTree>
      <p:nvGrpSpPr>
        <p:cNvPr id="360" name="Shape 360"/>
        <p:cNvGrpSpPr/>
        <p:nvPr/>
      </p:nvGrpSpPr>
      <p:grpSpPr>
        <a:xfrm>
          <a:off x="0" y="0"/>
          <a:ext cx="0" cy="0"/>
          <a:chOff x="0" y="0"/>
          <a:chExt cx="0" cy="0"/>
        </a:xfrm>
      </p:grpSpPr>
      <p:grpSp>
        <p:nvGrpSpPr>
          <p:cNvPr id="361" name="Google Shape;361;p22"/>
          <p:cNvGrpSpPr/>
          <p:nvPr/>
        </p:nvGrpSpPr>
        <p:grpSpPr>
          <a:xfrm>
            <a:off x="-1" y="0"/>
            <a:ext cx="9144002" cy="5143500"/>
            <a:chOff x="-1" y="0"/>
            <a:chExt cx="12192002" cy="6858000"/>
          </a:xfrm>
        </p:grpSpPr>
        <p:cxnSp>
          <p:nvCxnSpPr>
            <p:cNvPr id="362" name="Google Shape;362;p22"/>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3" name="Google Shape;363;p22"/>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4" name="Google Shape;364;p22"/>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5" name="Google Shape;365;p22"/>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6" name="Google Shape;366;p22"/>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7" name="Google Shape;367;p22"/>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8" name="Google Shape;368;p22"/>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9" name="Google Shape;369;p22"/>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0" name="Google Shape;370;p22"/>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1" name="Google Shape;371;p22"/>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2" name="Google Shape;372;p22"/>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3" name="Google Shape;373;p22"/>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4" name="Google Shape;374;p22"/>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5" name="Google Shape;375;p22"/>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6" name="Google Shape;376;p22"/>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7" name="Google Shape;377;p22"/>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78" name="Google Shape;378;p22"/>
            <p:cNvGrpSpPr/>
            <p:nvPr/>
          </p:nvGrpSpPr>
          <p:grpSpPr>
            <a:xfrm>
              <a:off x="-1" y="0"/>
              <a:ext cx="12192001" cy="6858000"/>
              <a:chOff x="-1" y="0"/>
              <a:chExt cx="12192001" cy="6858000"/>
            </a:xfrm>
          </p:grpSpPr>
          <p:cxnSp>
            <p:nvCxnSpPr>
              <p:cNvPr id="379" name="Google Shape;379;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0" name="Google Shape;380;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1" name="Google Shape;381;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2" name="Google Shape;382;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3" name="Google Shape;383;p22"/>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84" name="Google Shape;384;p22"/>
              <p:cNvGrpSpPr/>
              <p:nvPr/>
            </p:nvGrpSpPr>
            <p:grpSpPr>
              <a:xfrm>
                <a:off x="6327885" y="0"/>
                <a:ext cx="5864115" cy="5898673"/>
                <a:chOff x="6327885" y="0"/>
                <a:chExt cx="5864115" cy="5898673"/>
              </a:xfrm>
            </p:grpSpPr>
            <p:cxnSp>
              <p:nvCxnSpPr>
                <p:cNvPr id="385" name="Google Shape;385;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6" name="Google Shape;386;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7" name="Google Shape;387;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8" name="Google Shape;388;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9" name="Google Shape;389;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90" name="Google Shape;390;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1" name="Google Shape;391;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2" name="Google Shape;392;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3" name="Google Shape;393;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4" name="Google Shape;394;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95" name="Google Shape;395;p22"/>
            <p:cNvGrpSpPr/>
            <p:nvPr/>
          </p:nvGrpSpPr>
          <p:grpSpPr>
            <a:xfrm flipH="1">
              <a:off x="0" y="0"/>
              <a:ext cx="12192001" cy="6858000"/>
              <a:chOff x="-1" y="0"/>
              <a:chExt cx="12192001" cy="6858000"/>
            </a:xfrm>
          </p:grpSpPr>
          <p:cxnSp>
            <p:nvCxnSpPr>
              <p:cNvPr id="396" name="Google Shape;396;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7" name="Google Shape;397;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8" name="Google Shape;398;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9" name="Google Shape;399;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0" name="Google Shape;400;p22"/>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401" name="Google Shape;401;p22"/>
              <p:cNvGrpSpPr/>
              <p:nvPr/>
            </p:nvGrpSpPr>
            <p:grpSpPr>
              <a:xfrm>
                <a:off x="6327885" y="0"/>
                <a:ext cx="5864115" cy="5898673"/>
                <a:chOff x="6327885" y="0"/>
                <a:chExt cx="5864115" cy="5898673"/>
              </a:xfrm>
            </p:grpSpPr>
            <p:cxnSp>
              <p:nvCxnSpPr>
                <p:cNvPr id="402" name="Google Shape;402;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3" name="Google Shape;403;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4" name="Google Shape;404;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5" name="Google Shape;405;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6" name="Google Shape;406;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407" name="Google Shape;407;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8" name="Google Shape;408;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9" name="Google Shape;409;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0" name="Google Shape;410;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1" name="Google Shape;411;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412" name="Google Shape;412;p22"/>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13" name="Google Shape;413;p22"/>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414" name="Google Shape;414;p22"/>
          <p:cNvSpPr txBox="1"/>
          <p:nvPr>
            <p:ph type="title"/>
          </p:nvPr>
        </p:nvSpPr>
        <p:spPr>
          <a:xfrm>
            <a:off x="5932170" y="432054"/>
            <a:ext cx="2743200" cy="164592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An empty placeholder to add an image. Click on the placeholder and select the image that you wish to add." id="415" name="Google Shape;415;p22"/>
          <p:cNvSpPr/>
          <p:nvPr>
            <p:ph idx="2" type="pic"/>
          </p:nvPr>
        </p:nvSpPr>
        <p:spPr>
          <a:xfrm>
            <a:off x="3309" y="-119"/>
            <a:ext cx="5486400" cy="5143500"/>
          </a:xfrm>
          <a:prstGeom prst="rect">
            <a:avLst/>
          </a:prstGeom>
          <a:noFill/>
          <a:ln>
            <a:noFill/>
          </a:ln>
        </p:spPr>
      </p:sp>
      <p:sp>
        <p:nvSpPr>
          <p:cNvPr id="416" name="Google Shape;416;p22"/>
          <p:cNvSpPr txBox="1"/>
          <p:nvPr>
            <p:ph idx="1" type="body"/>
          </p:nvPr>
        </p:nvSpPr>
        <p:spPr>
          <a:xfrm>
            <a:off x="5932170" y="2249424"/>
            <a:ext cx="2743200" cy="17145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17" name="Shape 417"/>
        <p:cNvGrpSpPr/>
        <p:nvPr/>
      </p:nvGrpSpPr>
      <p:grpSpPr>
        <a:xfrm>
          <a:off x="0" y="0"/>
          <a:ext cx="0" cy="0"/>
          <a:chOff x="0" y="0"/>
          <a:chExt cx="0" cy="0"/>
        </a:xfrm>
      </p:grpSpPr>
      <p:sp>
        <p:nvSpPr>
          <p:cNvPr id="418" name="Google Shape;418;p2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9" name="Google Shape;419;p23"/>
          <p:cNvSpPr txBox="1"/>
          <p:nvPr>
            <p:ph idx="1" type="body"/>
          </p:nvPr>
        </p:nvSpPr>
        <p:spPr>
          <a:xfrm rot="5400000">
            <a:off x="3143250" y="-685800"/>
            <a:ext cx="2857499" cy="72009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0" name="Google Shape;420;p2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1" name="Google Shape;421;p2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2" name="Google Shape;422;p2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3" name="Shape 423"/>
        <p:cNvGrpSpPr/>
        <p:nvPr/>
      </p:nvGrpSpPr>
      <p:grpSpPr>
        <a:xfrm>
          <a:off x="0" y="0"/>
          <a:ext cx="0" cy="0"/>
          <a:chOff x="0" y="0"/>
          <a:chExt cx="0" cy="0"/>
        </a:xfrm>
      </p:grpSpPr>
      <p:sp>
        <p:nvSpPr>
          <p:cNvPr id="424" name="Google Shape;424;p24"/>
          <p:cNvSpPr txBox="1"/>
          <p:nvPr>
            <p:ph type="title"/>
          </p:nvPr>
        </p:nvSpPr>
        <p:spPr>
          <a:xfrm rot="5400000">
            <a:off x="5551714" y="1722663"/>
            <a:ext cx="3976007" cy="126546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24"/>
          <p:cNvSpPr txBox="1"/>
          <p:nvPr>
            <p:ph idx="1" type="body"/>
          </p:nvPr>
        </p:nvSpPr>
        <p:spPr>
          <a:xfrm rot="5400000">
            <a:off x="1828800" y="-489858"/>
            <a:ext cx="3976007" cy="5690508"/>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6" name="Google Shape;426;p24"/>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7" name="Google Shape;427;p24"/>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8" name="Google Shape;428;p24"/>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4705"/>
              </a:srgbClr>
            </a:gs>
          </a:gsLst>
          <a:lin ang="5400000" scaled="0"/>
        </a:gradFill>
      </p:bgPr>
    </p:bg>
    <p:spTree>
      <p:nvGrpSpPr>
        <p:cNvPr id="50" name="Shape 50"/>
        <p:cNvGrpSpPr/>
        <p:nvPr/>
      </p:nvGrpSpPr>
      <p:grpSpPr>
        <a:xfrm>
          <a:off x="0" y="0"/>
          <a:ext cx="0" cy="0"/>
          <a:chOff x="0" y="0"/>
          <a:chExt cx="0" cy="0"/>
        </a:xfrm>
      </p:grpSpPr>
      <p:grpSp>
        <p:nvGrpSpPr>
          <p:cNvPr id="51" name="Google Shape;51;p13"/>
          <p:cNvGrpSpPr/>
          <p:nvPr/>
        </p:nvGrpSpPr>
        <p:grpSpPr>
          <a:xfrm>
            <a:off x="-1" y="-146957"/>
            <a:ext cx="9144002" cy="5143500"/>
            <a:chOff x="-1" y="0"/>
            <a:chExt cx="12192002" cy="6858000"/>
          </a:xfrm>
        </p:grpSpPr>
        <p:cxnSp>
          <p:nvCxnSpPr>
            <p:cNvPr id="52" name="Google Shape;52;p13"/>
            <p:cNvCxnSpPr/>
            <p:nvPr/>
          </p:nvCxnSpPr>
          <p:spPr>
            <a:xfrm>
              <a:off x="61019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3" name="Google Shape;53;p13"/>
            <p:cNvCxnSpPr/>
            <p:nvPr/>
          </p:nvCxnSpPr>
          <p:spPr>
            <a:xfrm>
              <a:off x="182933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4" name="Google Shape;54;p13"/>
            <p:cNvCxnSpPr/>
            <p:nvPr/>
          </p:nvCxnSpPr>
          <p:spPr>
            <a:xfrm>
              <a:off x="304847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5" name="Google Shape;55;p13"/>
            <p:cNvCxnSpPr/>
            <p:nvPr/>
          </p:nvCxnSpPr>
          <p:spPr>
            <a:xfrm>
              <a:off x="426760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6" name="Google Shape;56;p13"/>
            <p:cNvCxnSpPr/>
            <p:nvPr/>
          </p:nvCxnSpPr>
          <p:spPr>
            <a:xfrm>
              <a:off x="548674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7" name="Google Shape;57;p13"/>
            <p:cNvCxnSpPr/>
            <p:nvPr/>
          </p:nvCxnSpPr>
          <p:spPr>
            <a:xfrm>
              <a:off x="670588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8" name="Google Shape;58;p13"/>
            <p:cNvCxnSpPr/>
            <p:nvPr/>
          </p:nvCxnSpPr>
          <p:spPr>
            <a:xfrm>
              <a:off x="792502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9" name="Google Shape;59;p13"/>
            <p:cNvCxnSpPr/>
            <p:nvPr/>
          </p:nvCxnSpPr>
          <p:spPr>
            <a:xfrm>
              <a:off x="914416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0" name="Google Shape;60;p13"/>
            <p:cNvCxnSpPr/>
            <p:nvPr/>
          </p:nvCxnSpPr>
          <p:spPr>
            <a:xfrm>
              <a:off x="1036329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1" name="Google Shape;61;p13"/>
            <p:cNvCxnSpPr/>
            <p:nvPr/>
          </p:nvCxnSpPr>
          <p:spPr>
            <a:xfrm>
              <a:off x="1158243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2" name="Google Shape;62;p13"/>
            <p:cNvCxnSpPr/>
            <p:nvPr/>
          </p:nvCxnSpPr>
          <p:spPr>
            <a:xfrm>
              <a:off x="2819" y="38648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3" name="Google Shape;63;p13"/>
            <p:cNvCxnSpPr/>
            <p:nvPr/>
          </p:nvCxnSpPr>
          <p:spPr>
            <a:xfrm>
              <a:off x="2819" y="1611181"/>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4" name="Google Shape;64;p13"/>
            <p:cNvCxnSpPr/>
            <p:nvPr/>
          </p:nvCxnSpPr>
          <p:spPr>
            <a:xfrm>
              <a:off x="2819" y="2835877"/>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5" name="Google Shape;65;p13"/>
            <p:cNvCxnSpPr/>
            <p:nvPr/>
          </p:nvCxnSpPr>
          <p:spPr>
            <a:xfrm>
              <a:off x="2819" y="4060573"/>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6" name="Google Shape;66;p13"/>
            <p:cNvCxnSpPr/>
            <p:nvPr/>
          </p:nvCxnSpPr>
          <p:spPr>
            <a:xfrm>
              <a:off x="2819" y="5285269"/>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7" name="Google Shape;67;p13"/>
            <p:cNvCxnSpPr/>
            <p:nvPr/>
          </p:nvCxnSpPr>
          <p:spPr>
            <a:xfrm>
              <a:off x="2819" y="650996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68" name="Google Shape;68;p13"/>
            <p:cNvGrpSpPr/>
            <p:nvPr/>
          </p:nvGrpSpPr>
          <p:grpSpPr>
            <a:xfrm>
              <a:off x="-1" y="0"/>
              <a:ext cx="12192001" cy="6858000"/>
              <a:chOff x="-1" y="0"/>
              <a:chExt cx="12192001" cy="6858000"/>
            </a:xfrm>
          </p:grpSpPr>
          <p:cxnSp>
            <p:nvCxnSpPr>
              <p:cNvPr id="69" name="Google Shape;69;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0" name="Google Shape;70;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1" name="Google Shape;71;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2" name="Google Shape;72;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3" name="Google Shape;73;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74" name="Google Shape;74;p13"/>
              <p:cNvGrpSpPr/>
              <p:nvPr/>
            </p:nvGrpSpPr>
            <p:grpSpPr>
              <a:xfrm>
                <a:off x="6327885" y="0"/>
                <a:ext cx="5864115" cy="5898673"/>
                <a:chOff x="6327885" y="0"/>
                <a:chExt cx="5864115" cy="5898673"/>
              </a:xfrm>
            </p:grpSpPr>
            <p:cxnSp>
              <p:nvCxnSpPr>
                <p:cNvPr id="75" name="Google Shape;75;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6" name="Google Shape;76;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7" name="Google Shape;77;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8" name="Google Shape;78;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9" name="Google Shape;79;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80" name="Google Shape;80;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1" name="Google Shape;81;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2" name="Google Shape;82;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3" name="Google Shape;83;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4" name="Google Shape;84;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nvGrpSpPr>
            <p:cNvPr id="85" name="Google Shape;85;p13"/>
            <p:cNvGrpSpPr/>
            <p:nvPr/>
          </p:nvGrpSpPr>
          <p:grpSpPr>
            <a:xfrm flipH="1">
              <a:off x="0" y="0"/>
              <a:ext cx="12192001" cy="6858000"/>
              <a:chOff x="-1" y="0"/>
              <a:chExt cx="12192001" cy="6858000"/>
            </a:xfrm>
          </p:grpSpPr>
          <p:cxnSp>
            <p:nvCxnSpPr>
              <p:cNvPr id="86" name="Google Shape;86;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7" name="Google Shape;87;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8" name="Google Shape;88;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9" name="Google Shape;89;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0" name="Google Shape;90;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91" name="Google Shape;91;p13"/>
              <p:cNvGrpSpPr/>
              <p:nvPr/>
            </p:nvGrpSpPr>
            <p:grpSpPr>
              <a:xfrm>
                <a:off x="6327885" y="0"/>
                <a:ext cx="5864115" cy="5898673"/>
                <a:chOff x="6327885" y="0"/>
                <a:chExt cx="5864115" cy="5898673"/>
              </a:xfrm>
            </p:grpSpPr>
            <p:cxnSp>
              <p:nvCxnSpPr>
                <p:cNvPr id="92" name="Google Shape;92;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3" name="Google Shape;93;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4" name="Google Shape;94;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5" name="Google Shape;95;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6" name="Google Shape;96;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97" name="Google Shape;97;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8" name="Google Shape;98;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9" name="Google Shape;99;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0" name="Google Shape;100;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1" name="Google Shape;101;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sp>
        <p:nvSpPr>
          <p:cNvPr id="102" name="Google Shape;102;p1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3E27"/>
              </a:buClr>
              <a:buSzPts val="2400"/>
              <a:buFont typeface="Arial"/>
              <a:buNone/>
              <a:defRPr b="1" i="0" sz="2400" u="none" cap="none" strike="noStrike">
                <a:solidFill>
                  <a:srgbClr val="A43E27"/>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3" name="Google Shape;103;p13"/>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23850" lvl="0" marL="457200" marR="0" rtl="0" algn="l">
              <a:lnSpc>
                <a:spcPct val="90000"/>
              </a:lnSpc>
              <a:spcBef>
                <a:spcPts val="1400"/>
              </a:spcBef>
              <a:spcAft>
                <a:spcPts val="0"/>
              </a:spcAft>
              <a:buClr>
                <a:srgbClr val="A43E27"/>
              </a:buClr>
              <a:buSzPts val="1500"/>
              <a:buFont typeface="Arial"/>
              <a:buChar char="▪"/>
              <a:defRPr b="0" i="0" sz="1500" u="none" cap="none" strike="noStrike">
                <a:solidFill>
                  <a:schemeClr val="dk1"/>
                </a:solidFill>
                <a:latin typeface="Arial"/>
                <a:ea typeface="Arial"/>
                <a:cs typeface="Arial"/>
                <a:sym typeface="Arial"/>
              </a:defRPr>
            </a:lvl1pPr>
            <a:lvl2pPr indent="-317500" lvl="1" marL="914400" marR="0" rtl="0" algn="l">
              <a:lnSpc>
                <a:spcPct val="90000"/>
              </a:lnSpc>
              <a:spcBef>
                <a:spcPts val="900"/>
              </a:spcBef>
              <a:spcAft>
                <a:spcPts val="0"/>
              </a:spcAft>
              <a:buClr>
                <a:srgbClr val="A43E27"/>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0000"/>
              </a:lnSpc>
              <a:spcBef>
                <a:spcPts val="600"/>
              </a:spcBef>
              <a:spcAft>
                <a:spcPts val="0"/>
              </a:spcAft>
              <a:buClr>
                <a:srgbClr val="A43E27"/>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6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rgbClr val="A43E27"/>
              </a:buClr>
              <a:buSzPts val="1100"/>
              <a:buFont typeface="Arial"/>
              <a:buNone/>
              <a:defRPr b="0" i="0" sz="1100" u="none" cap="none" strike="noStrike">
                <a:solidFill>
                  <a:schemeClr val="dk1"/>
                </a:solidFill>
                <a:latin typeface="Arial"/>
                <a:ea typeface="Arial"/>
                <a:cs typeface="Arial"/>
                <a:sym typeface="Arial"/>
              </a:defRPr>
            </a:lvl9pPr>
          </a:lstStyle>
          <a:p/>
        </p:txBody>
      </p:sp>
      <p:cxnSp>
        <p:nvCxnSpPr>
          <p:cNvPr id="104" name="Google Shape;104;p13"/>
          <p:cNvCxnSpPr/>
          <p:nvPr/>
        </p:nvCxnSpPr>
        <p:spPr>
          <a:xfrm>
            <a:off x="457200" y="4629150"/>
            <a:ext cx="8229600" cy="0"/>
          </a:xfrm>
          <a:prstGeom prst="straightConnector1">
            <a:avLst/>
          </a:prstGeom>
          <a:noFill/>
          <a:ln cap="flat" cmpd="sng" w="12700">
            <a:solidFill>
              <a:srgbClr val="A43E27"/>
            </a:solidFill>
            <a:prstDash val="solid"/>
            <a:miter lim="800000"/>
            <a:headEnd len="sm" w="sm" type="none"/>
            <a:tailEnd len="sm" w="sm" type="none"/>
          </a:ln>
        </p:spPr>
      </p:cxnSp>
      <p:sp>
        <p:nvSpPr>
          <p:cNvPr id="105" name="Google Shape;105;p1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6" name="Google Shape;106;p1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7" name="Google Shape;107;p1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414241"/>
                </a:solidFill>
                <a:latin typeface="Arial"/>
                <a:ea typeface="Arial"/>
                <a:cs typeface="Arial"/>
                <a:sym typeface="Arial"/>
              </a:defRPr>
            </a:lvl1pPr>
            <a:lvl2pPr indent="0" lvl="1" marL="0" marR="0" rtl="0" algn="r">
              <a:spcBef>
                <a:spcPts val="0"/>
              </a:spcBef>
              <a:buNone/>
              <a:defRPr b="0" i="0" sz="800" u="none" cap="none" strike="noStrike">
                <a:solidFill>
                  <a:srgbClr val="414241"/>
                </a:solidFill>
                <a:latin typeface="Arial"/>
                <a:ea typeface="Arial"/>
                <a:cs typeface="Arial"/>
                <a:sym typeface="Arial"/>
              </a:defRPr>
            </a:lvl2pPr>
            <a:lvl3pPr indent="0" lvl="2" marL="0" marR="0" rtl="0" algn="r">
              <a:spcBef>
                <a:spcPts val="0"/>
              </a:spcBef>
              <a:buNone/>
              <a:defRPr b="0" i="0" sz="800" u="none" cap="none" strike="noStrike">
                <a:solidFill>
                  <a:srgbClr val="414241"/>
                </a:solidFill>
                <a:latin typeface="Arial"/>
                <a:ea typeface="Arial"/>
                <a:cs typeface="Arial"/>
                <a:sym typeface="Arial"/>
              </a:defRPr>
            </a:lvl3pPr>
            <a:lvl4pPr indent="0" lvl="3" marL="0" marR="0" rtl="0" algn="r">
              <a:spcBef>
                <a:spcPts val="0"/>
              </a:spcBef>
              <a:buNone/>
              <a:defRPr b="0" i="0" sz="800" u="none" cap="none" strike="noStrike">
                <a:solidFill>
                  <a:srgbClr val="414241"/>
                </a:solidFill>
                <a:latin typeface="Arial"/>
                <a:ea typeface="Arial"/>
                <a:cs typeface="Arial"/>
                <a:sym typeface="Arial"/>
              </a:defRPr>
            </a:lvl4pPr>
            <a:lvl5pPr indent="0" lvl="4" marL="0" marR="0" rtl="0" algn="r">
              <a:spcBef>
                <a:spcPts val="0"/>
              </a:spcBef>
              <a:buNone/>
              <a:defRPr b="0" i="0" sz="800" u="none" cap="none" strike="noStrike">
                <a:solidFill>
                  <a:srgbClr val="414241"/>
                </a:solidFill>
                <a:latin typeface="Arial"/>
                <a:ea typeface="Arial"/>
                <a:cs typeface="Arial"/>
                <a:sym typeface="Arial"/>
              </a:defRPr>
            </a:lvl5pPr>
            <a:lvl6pPr indent="0" lvl="5" marL="0" marR="0" rtl="0" algn="r">
              <a:spcBef>
                <a:spcPts val="0"/>
              </a:spcBef>
              <a:buNone/>
              <a:defRPr b="0" i="0" sz="800" u="none" cap="none" strike="noStrike">
                <a:solidFill>
                  <a:srgbClr val="414241"/>
                </a:solidFill>
                <a:latin typeface="Arial"/>
                <a:ea typeface="Arial"/>
                <a:cs typeface="Arial"/>
                <a:sym typeface="Arial"/>
              </a:defRPr>
            </a:lvl6pPr>
            <a:lvl7pPr indent="0" lvl="6" marL="0" marR="0" rtl="0" algn="r">
              <a:spcBef>
                <a:spcPts val="0"/>
              </a:spcBef>
              <a:buNone/>
              <a:defRPr b="0" i="0" sz="800" u="none" cap="none" strike="noStrike">
                <a:solidFill>
                  <a:srgbClr val="414241"/>
                </a:solidFill>
                <a:latin typeface="Arial"/>
                <a:ea typeface="Arial"/>
                <a:cs typeface="Arial"/>
                <a:sym typeface="Arial"/>
              </a:defRPr>
            </a:lvl7pPr>
            <a:lvl8pPr indent="0" lvl="7" marL="0" marR="0" rtl="0" algn="r">
              <a:spcBef>
                <a:spcPts val="0"/>
              </a:spcBef>
              <a:buNone/>
              <a:defRPr b="0" i="0" sz="800" u="none" cap="none" strike="noStrike">
                <a:solidFill>
                  <a:srgbClr val="414241"/>
                </a:solidFill>
                <a:latin typeface="Arial"/>
                <a:ea typeface="Arial"/>
                <a:cs typeface="Arial"/>
                <a:sym typeface="Arial"/>
              </a:defRPr>
            </a:lvl8pPr>
            <a:lvl9pPr indent="0" lvl="8" marL="0" marR="0" rtl="0" algn="r">
              <a:spcBef>
                <a:spcPts val="0"/>
              </a:spcBef>
              <a:buNone/>
              <a:defRPr b="0" i="0" sz="800" u="none" cap="none" strike="noStrike">
                <a:solidFill>
                  <a:srgbClr val="41424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p:nvPr/>
        </p:nvSpPr>
        <p:spPr>
          <a:xfrm>
            <a:off x="535846" y="3178756"/>
            <a:ext cx="8072400" cy="11964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40A15"/>
              </a:solidFill>
              <a:latin typeface="Arial"/>
              <a:ea typeface="Arial"/>
              <a:cs typeface="Arial"/>
              <a:sym typeface="Arial"/>
            </a:endParaRPr>
          </a:p>
        </p:txBody>
      </p:sp>
      <p:sp>
        <p:nvSpPr>
          <p:cNvPr id="434" name="Google Shape;434;p25"/>
          <p:cNvSpPr txBox="1"/>
          <p:nvPr/>
        </p:nvSpPr>
        <p:spPr>
          <a:xfrm>
            <a:off x="538975" y="1675071"/>
            <a:ext cx="8072400" cy="623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1000"/>
              </a:spcAft>
              <a:buNone/>
            </a:pPr>
            <a:r>
              <a:rPr b="1" lang="en" sz="3600">
                <a:solidFill>
                  <a:srgbClr val="940A15"/>
                </a:solidFill>
                <a:latin typeface="Montserrat"/>
                <a:ea typeface="Montserrat"/>
                <a:cs typeface="Montserrat"/>
                <a:sym typeface="Montserrat"/>
              </a:rPr>
              <a:t>Probability</a:t>
            </a:r>
            <a:endParaRPr b="1" sz="2000">
              <a:solidFill>
                <a:srgbClr val="940A15"/>
              </a:solidFill>
              <a:latin typeface="Montserrat"/>
              <a:ea typeface="Montserrat"/>
              <a:cs typeface="Montserrat"/>
              <a:sym typeface="Montserrat"/>
            </a:endParaRPr>
          </a:p>
        </p:txBody>
      </p:sp>
      <p:sp>
        <p:nvSpPr>
          <p:cNvPr id="435" name="Google Shape;435;p25"/>
          <p:cNvSpPr txBox="1"/>
          <p:nvPr/>
        </p:nvSpPr>
        <p:spPr>
          <a:xfrm>
            <a:off x="535896" y="1171357"/>
            <a:ext cx="80724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940A15"/>
                </a:solidFill>
                <a:latin typeface="Montserrat"/>
                <a:ea typeface="Montserrat"/>
                <a:cs typeface="Montserrat"/>
                <a:sym typeface="Montserrat"/>
              </a:rPr>
              <a:t>CSE422</a:t>
            </a:r>
            <a:r>
              <a:rPr b="1" i="0" lang="en" sz="1800" u="none" cap="none" strike="noStrike">
                <a:solidFill>
                  <a:srgbClr val="940A15"/>
                </a:solidFill>
                <a:latin typeface="Montserrat"/>
                <a:ea typeface="Montserrat"/>
                <a:cs typeface="Montserrat"/>
                <a:sym typeface="Montserrat"/>
              </a:rPr>
              <a:t>: </a:t>
            </a:r>
            <a:r>
              <a:rPr b="1" lang="en" sz="1800">
                <a:solidFill>
                  <a:srgbClr val="940A15"/>
                </a:solidFill>
                <a:latin typeface="Montserrat"/>
                <a:ea typeface="Montserrat"/>
                <a:cs typeface="Montserrat"/>
                <a:sym typeface="Montserrat"/>
              </a:rPr>
              <a:t>Artificial intelligence</a:t>
            </a:r>
            <a:endParaRPr b="1" sz="1100">
              <a:latin typeface="Montserrat"/>
              <a:ea typeface="Montserrat"/>
              <a:cs typeface="Montserrat"/>
              <a:sym typeface="Montserrat"/>
            </a:endParaRPr>
          </a:p>
        </p:txBody>
      </p:sp>
      <p:sp>
        <p:nvSpPr>
          <p:cNvPr id="436" name="Google Shape;436;p25"/>
          <p:cNvSpPr txBox="1"/>
          <p:nvPr/>
        </p:nvSpPr>
        <p:spPr>
          <a:xfrm>
            <a:off x="498404" y="3361002"/>
            <a:ext cx="8072400" cy="7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Asif Shahriar</a:t>
            </a:r>
            <a:endParaRPr b="1" sz="1100">
              <a:latin typeface="Montserrat"/>
              <a:ea typeface="Montserrat"/>
              <a:cs typeface="Montserrat"/>
              <a:sym typeface="Montserrat"/>
            </a:endParaRPr>
          </a:p>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Lecturer, CSE, BRACU</a:t>
            </a:r>
            <a:endParaRPr b="1" sz="1100">
              <a:latin typeface="Montserrat"/>
              <a:ea typeface="Montserrat"/>
              <a:cs typeface="Montserrat"/>
              <a:sym typeface="Montserrat"/>
            </a:endParaRPr>
          </a:p>
        </p:txBody>
      </p:sp>
      <p:sp>
        <p:nvSpPr>
          <p:cNvPr id="437" name="Google Shape;437;p25"/>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25"/>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39" name="Google Shape;439;p25"/>
          <p:cNvSpPr txBox="1"/>
          <p:nvPr/>
        </p:nvSpPr>
        <p:spPr>
          <a:xfrm>
            <a:off x="654471" y="2398657"/>
            <a:ext cx="80724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b="1" sz="1100">
              <a:latin typeface="Montserrat"/>
              <a:ea typeface="Montserrat"/>
              <a:cs typeface="Montserrat"/>
              <a:sym typeface="Montserra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cxnSp>
        <p:nvCxnSpPr>
          <p:cNvPr id="444" name="Google Shape;444;p2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45" name="Google Shape;445;p2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46" name="Google Shape;446;p2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47" name="Google Shape;447;p2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8" name="Google Shape;448;p2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2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You PROBABLY Know These</a:t>
            </a:r>
            <a:endParaRPr b="1" i="0" sz="2600" u="none" cap="none" strike="noStrike">
              <a:solidFill>
                <a:srgbClr val="940A15"/>
              </a:solidFill>
              <a:latin typeface="Montserrat"/>
              <a:ea typeface="Montserrat"/>
              <a:cs typeface="Montserrat"/>
              <a:sym typeface="Montserrat"/>
            </a:endParaRPr>
          </a:p>
        </p:txBody>
      </p:sp>
      <p:sp>
        <p:nvSpPr>
          <p:cNvPr id="450" name="Google Shape;450;p2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51" name="Google Shape;451;p26"/>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Probability of an Event is defined by how LIKELY the event is to occur in an experiment</a:t>
            </a:r>
            <a:endParaRPr sz="1500">
              <a:solidFill>
                <a:schemeClr val="dk2"/>
              </a:solidFill>
              <a:latin typeface="Montserrat Medium"/>
              <a:ea typeface="Montserrat Medium"/>
              <a:cs typeface="Montserrat Medium"/>
              <a:sym typeface="Montserrat Medium"/>
            </a:endParaRPr>
          </a:p>
          <a:p>
            <a:pPr indent="-323850" lvl="0" marL="4572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If we repeat an experiment many times and record how often an event E happens, then probability of event E : P(E) = Number of times E occurs​ / Total number of trials</a:t>
            </a:r>
            <a:endParaRPr sz="1500">
              <a:solidFill>
                <a:schemeClr val="dk2"/>
              </a:solidFill>
              <a:latin typeface="Montserrat Medium"/>
              <a:ea typeface="Montserrat Medium"/>
              <a:cs typeface="Montserrat Medium"/>
              <a:sym typeface="Montserrat Medium"/>
            </a:endParaRPr>
          </a:p>
          <a:p>
            <a:pPr indent="-323850" lvl="0" marL="4572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In a </a:t>
            </a:r>
            <a:r>
              <a:rPr lang="en" sz="1500">
                <a:solidFill>
                  <a:schemeClr val="dk2"/>
                </a:solidFill>
                <a:latin typeface="Montserrat Medium"/>
                <a:ea typeface="Montserrat Medium"/>
                <a:cs typeface="Montserrat Medium"/>
                <a:sym typeface="Montserrat Medium"/>
              </a:rPr>
              <a:t>coin toss, probability of heads occurring: P(head) = 1 / 2 = 0.5</a:t>
            </a:r>
            <a:endParaRPr sz="1500">
              <a:solidFill>
                <a:schemeClr val="dk2"/>
              </a:solidFill>
              <a:latin typeface="Montserrat Medium"/>
              <a:ea typeface="Montserrat Medium"/>
              <a:cs typeface="Montserrat Medium"/>
              <a:sym typeface="Montserrat Medium"/>
            </a:endParaRPr>
          </a:p>
          <a:p>
            <a:pPr indent="-323850" lvl="0" marL="4572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In a fair dice rolling (where all faces of the dice are equal)</a:t>
            </a:r>
            <a:endParaRPr sz="1500">
              <a:solidFill>
                <a:schemeClr val="dk2"/>
              </a:solidFill>
              <a:latin typeface="Montserrat Medium"/>
              <a:ea typeface="Montserrat Medium"/>
              <a:cs typeface="Montserrat Medium"/>
              <a:sym typeface="Montserrat Medium"/>
            </a:endParaRPr>
          </a:p>
          <a:p>
            <a:pPr indent="-323850" lvl="1" marL="9144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Probability of getting 4: P(4) = 1 / 6</a:t>
            </a:r>
            <a:endParaRPr sz="1500">
              <a:solidFill>
                <a:schemeClr val="dk2"/>
              </a:solidFill>
              <a:latin typeface="Montserrat Medium"/>
              <a:ea typeface="Montserrat Medium"/>
              <a:cs typeface="Montserrat Medium"/>
              <a:sym typeface="Montserrat Medium"/>
            </a:endParaRPr>
          </a:p>
          <a:p>
            <a:pPr indent="-323850" lvl="1" marL="9144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Probability of NOT getting 4: P(not 4) = 1 - P(4) = 1 - 1/6  = 5/6</a:t>
            </a:r>
            <a:endParaRPr sz="1500">
              <a:solidFill>
                <a:schemeClr val="dk2"/>
              </a:solidFill>
              <a:latin typeface="Montserrat Medium"/>
              <a:ea typeface="Montserrat Medium"/>
              <a:cs typeface="Montserrat Medium"/>
              <a:sym typeface="Montserrat Medium"/>
            </a:endParaRPr>
          </a:p>
          <a:p>
            <a:pPr indent="-323850" lvl="1" marL="914400" rtl="0" algn="l">
              <a:lnSpc>
                <a:spcPct val="115000"/>
              </a:lnSpc>
              <a:spcBef>
                <a:spcPts val="1000"/>
              </a:spcBef>
              <a:spcAft>
                <a:spcPts val="0"/>
              </a:spcAft>
              <a:buClr>
                <a:schemeClr val="dk2"/>
              </a:buClr>
              <a:buSzPts val="1500"/>
              <a:buFont typeface="Montserrat Medium"/>
              <a:buChar char="○"/>
            </a:pPr>
            <a:r>
              <a:rPr lang="en" sz="1500">
                <a:solidFill>
                  <a:schemeClr val="dk2"/>
                </a:solidFill>
                <a:latin typeface="Montserrat Medium"/>
                <a:ea typeface="Montserrat Medium"/>
                <a:cs typeface="Montserrat Medium"/>
                <a:sym typeface="Montserrat Medium"/>
              </a:rPr>
              <a:t>Probability of getting an even number = P({2, 4, 6}) = P(2) + P(4) + P(6) = 3/6 = 0.5</a:t>
            </a:r>
            <a:endParaRPr sz="1500">
              <a:solidFill>
                <a:schemeClr val="dk2"/>
              </a:solidFill>
              <a:latin typeface="Montserrat Medium"/>
              <a:ea typeface="Montserrat Medium"/>
              <a:cs typeface="Montserrat Medium"/>
              <a:sym typeface="Montserrat Medium"/>
            </a:endParaRPr>
          </a:p>
        </p:txBody>
      </p:sp>
      <p:sp>
        <p:nvSpPr>
          <p:cNvPr id="452" name="Google Shape;452;p2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53" name="Google Shape;453;p2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cxnSp>
        <p:nvCxnSpPr>
          <p:cNvPr id="458" name="Google Shape;458;p2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59" name="Google Shape;459;p2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60" name="Google Shape;460;p2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61" name="Google Shape;461;p2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2" name="Google Shape;462;p2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2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Random Variables</a:t>
            </a:r>
            <a:endParaRPr b="1" i="0" sz="2600" u="none" cap="none" strike="noStrike">
              <a:solidFill>
                <a:srgbClr val="940A15"/>
              </a:solidFill>
              <a:latin typeface="Montserrat"/>
              <a:ea typeface="Montserrat"/>
              <a:cs typeface="Montserrat"/>
              <a:sym typeface="Montserrat"/>
            </a:endParaRPr>
          </a:p>
        </p:txBody>
      </p:sp>
      <p:sp>
        <p:nvSpPr>
          <p:cNvPr id="464" name="Google Shape;464;p2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65" name="Google Shape;465;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66" name="Google Shape;466;p2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467" name="Google Shape;467;p27"/>
          <p:cNvPicPr preferRelativeResize="0"/>
          <p:nvPr/>
        </p:nvPicPr>
        <p:blipFill rotWithShape="1">
          <a:blip r:embed="rId3">
            <a:alphaModFix/>
          </a:blip>
          <a:srcRect b="0" l="0" r="0" t="0"/>
          <a:stretch/>
        </p:blipFill>
        <p:spPr>
          <a:xfrm>
            <a:off x="2675950" y="710760"/>
            <a:ext cx="3771549" cy="36902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cxnSp>
        <p:nvCxnSpPr>
          <p:cNvPr id="472" name="Google Shape;472;p2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73" name="Google Shape;473;p2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74" name="Google Shape;474;p2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75" name="Google Shape;475;p2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6" name="Google Shape;476;p2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2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Random Variables</a:t>
            </a:r>
            <a:endParaRPr b="1" i="0" sz="2600" u="none" cap="none" strike="noStrike">
              <a:solidFill>
                <a:srgbClr val="940A15"/>
              </a:solidFill>
              <a:latin typeface="Montserrat"/>
              <a:ea typeface="Montserrat"/>
              <a:cs typeface="Montserrat"/>
              <a:sym typeface="Montserrat"/>
            </a:endParaRPr>
          </a:p>
        </p:txBody>
      </p:sp>
      <p:sp>
        <p:nvSpPr>
          <p:cNvPr id="478" name="Google Shape;478;p2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79" name="Google Shape;479;p28"/>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a:t>
            </a:r>
            <a:r>
              <a:rPr b="1" lang="en">
                <a:solidFill>
                  <a:schemeClr val="dk2"/>
                </a:solidFill>
                <a:latin typeface="Montserrat"/>
                <a:ea typeface="Montserrat"/>
                <a:cs typeface="Montserrat"/>
                <a:sym typeface="Montserrat"/>
              </a:rPr>
              <a:t>Random Variable (RV)</a:t>
            </a:r>
            <a:r>
              <a:rPr lang="en">
                <a:solidFill>
                  <a:schemeClr val="dk2"/>
                </a:solidFill>
                <a:latin typeface="Montserrat Medium"/>
                <a:ea typeface="Montserrat Medium"/>
                <a:cs typeface="Montserrat Medium"/>
                <a:sym typeface="Montserrat Medium"/>
              </a:rPr>
              <a:t> is an aspect of the environment for which we have some uncertainty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Random variable can have ONE of a set of values from its </a:t>
            </a:r>
            <a:r>
              <a:rPr b="1" lang="en">
                <a:solidFill>
                  <a:schemeClr val="dk2"/>
                </a:solidFill>
                <a:latin typeface="Montserrat"/>
                <a:ea typeface="Montserrat"/>
                <a:cs typeface="Montserrat"/>
                <a:sym typeface="Montserrat"/>
              </a:rPr>
              <a:t>domain</a:t>
            </a:r>
            <a:r>
              <a:rPr lang="en">
                <a:solidFill>
                  <a:schemeClr val="dk2"/>
                </a:solidFill>
                <a:latin typeface="Montserrat Medium"/>
                <a:ea typeface="Montserrat Medium"/>
                <a:cs typeface="Montserrat Medium"/>
                <a:sym typeface="Montserrat Medium"/>
              </a:rPr>
              <a:t>, each with an associated probability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Example: Weather is a RV with domain = {sunny, rainy, cloudy, snowy}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Domain values must be exhaustive and mutually exclusive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Random variable can be </a:t>
            </a:r>
            <a:r>
              <a:rPr b="1" lang="en">
                <a:solidFill>
                  <a:schemeClr val="dk2"/>
                </a:solidFill>
                <a:latin typeface="Montserrat"/>
                <a:ea typeface="Montserrat"/>
                <a:cs typeface="Montserrat"/>
                <a:sym typeface="Montserrat"/>
              </a:rPr>
              <a:t>DISCRETE</a:t>
            </a:r>
            <a:r>
              <a:rPr lang="en">
                <a:solidFill>
                  <a:schemeClr val="dk2"/>
                </a:solidFill>
                <a:latin typeface="Montserrat Medium"/>
                <a:ea typeface="Montserrat Medium"/>
                <a:cs typeface="Montserrat Medium"/>
                <a:sym typeface="Montserrat Medium"/>
              </a:rPr>
              <a:t> or </a:t>
            </a:r>
            <a:r>
              <a:rPr b="1" lang="en">
                <a:solidFill>
                  <a:schemeClr val="dk2"/>
                </a:solidFill>
                <a:latin typeface="Montserrat"/>
                <a:ea typeface="Montserrat"/>
                <a:cs typeface="Montserrat"/>
                <a:sym typeface="Montserrat"/>
              </a:rPr>
              <a:t>CONTINUOUS</a:t>
            </a:r>
            <a:endParaRPr b="1">
              <a:solidFill>
                <a:schemeClr val="dk2"/>
              </a:solidFill>
              <a:latin typeface="Montserrat"/>
              <a:ea typeface="Montserrat"/>
              <a:cs typeface="Montserrat"/>
              <a:sym typeface="Montserrat"/>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Discrete RV can take a discrete value from a finite range. Example: weather, mark you will get in the MID</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Continuous RV can take ANY value from an infinite / continuous range. Example: Temperature of a day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Let X be a RV defined as the SUM  of two fair dice, what are the domain values?</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480" name="Google Shape;480;p2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81" name="Google Shape;481;p2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cxnSp>
        <p:nvCxnSpPr>
          <p:cNvPr id="486" name="Google Shape;486;p2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87" name="Google Shape;487;p2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88" name="Google Shape;488;p2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89" name="Google Shape;489;p2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0" name="Google Shape;490;p2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2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Probability Distribution</a:t>
            </a:r>
            <a:endParaRPr b="1" i="0" sz="2600" u="none" cap="none" strike="noStrike">
              <a:solidFill>
                <a:srgbClr val="940A15"/>
              </a:solidFill>
              <a:latin typeface="Montserrat"/>
              <a:ea typeface="Montserrat"/>
              <a:cs typeface="Montserrat"/>
              <a:sym typeface="Montserrat"/>
            </a:endParaRPr>
          </a:p>
        </p:txBody>
      </p:sp>
      <p:sp>
        <p:nvSpPr>
          <p:cNvPr id="492" name="Google Shape;492;p2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93" name="Google Shape;493;p29"/>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 A probability distribution assigns a probability to each value of a Random Variable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Let X be a random variable that represents YOUR CURRENT MODE, with the domain being {bored, sleepy, annoyed, excited, anxious about mid marks}</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P(X = bored) = 0.25</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P(X = sleepy) = 0.20</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P(X = annoyed) = 0.10</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P(X = excited) = 0.05</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P(X = anxious about mid marks) = 0.4</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We write this as: P(X) = &lt;0.25, 0.20, 0.10, 0.05, 0.4&gt; [called Vector Notation]</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The sum of all probabilities in a distribution must be 1 : TRUE or FALSE?</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494" name="Google Shape;494;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95" name="Google Shape;495;p2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cxnSp>
        <p:nvCxnSpPr>
          <p:cNvPr id="500" name="Google Shape;500;p3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01" name="Google Shape;501;p3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02" name="Google Shape;502;p3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03" name="Google Shape;503;p3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4" name="Google Shape;504;p3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05" name="Google Shape;505;p3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Some Notations</a:t>
            </a:r>
            <a:endParaRPr b="1" i="0" sz="2600" u="none" cap="none" strike="noStrike">
              <a:solidFill>
                <a:srgbClr val="940A15"/>
              </a:solidFill>
              <a:latin typeface="Montserrat"/>
              <a:ea typeface="Montserrat"/>
              <a:cs typeface="Montserrat"/>
              <a:sym typeface="Montserrat"/>
            </a:endParaRPr>
          </a:p>
        </p:txBody>
      </p:sp>
      <p:sp>
        <p:nvSpPr>
          <p:cNvPr id="506" name="Google Shape;506;p3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07" name="Google Shape;507;p30"/>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Suppose </a:t>
            </a:r>
            <a:r>
              <a:rPr b="1" lang="en">
                <a:solidFill>
                  <a:schemeClr val="dk2"/>
                </a:solidFill>
                <a:latin typeface="Montserrat"/>
                <a:ea typeface="Montserrat"/>
                <a:cs typeface="Montserrat"/>
                <a:sym typeface="Montserrat"/>
              </a:rPr>
              <a:t>weather</a:t>
            </a:r>
            <a:r>
              <a:rPr lang="en">
                <a:solidFill>
                  <a:schemeClr val="dk2"/>
                </a:solidFill>
                <a:latin typeface="Montserrat Medium"/>
                <a:ea typeface="Montserrat Medium"/>
                <a:cs typeface="Montserrat Medium"/>
                <a:sym typeface="Montserrat Medium"/>
              </a:rPr>
              <a:t> is a discrete RV with the domain {sunny, rainy, cloudy, snowy}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i="1" lang="en">
                <a:solidFill>
                  <a:schemeClr val="dk2"/>
                </a:solidFill>
                <a:latin typeface="Montserrat Medium"/>
                <a:ea typeface="Montserrat Medium"/>
                <a:cs typeface="Montserrat Medium"/>
                <a:sym typeface="Montserrat Medium"/>
              </a:rPr>
              <a:t>“Weather = sunny”</a:t>
            </a:r>
            <a:r>
              <a:rPr lang="en">
                <a:solidFill>
                  <a:schemeClr val="dk2"/>
                </a:solidFill>
                <a:latin typeface="Montserrat Medium"/>
                <a:ea typeface="Montserrat Medium"/>
                <a:cs typeface="Montserrat Medium"/>
                <a:sym typeface="Montserrat Medium"/>
              </a:rPr>
              <a:t> is written as </a:t>
            </a:r>
            <a:r>
              <a:rPr i="1" lang="en">
                <a:solidFill>
                  <a:schemeClr val="dk2"/>
                </a:solidFill>
                <a:latin typeface="Montserrat Medium"/>
                <a:ea typeface="Montserrat Medium"/>
                <a:cs typeface="Montserrat Medium"/>
                <a:sym typeface="Montserrat Medium"/>
              </a:rPr>
              <a:t>“sunny”</a:t>
            </a:r>
            <a:endParaRPr i="1">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i="1" lang="en">
                <a:solidFill>
                  <a:schemeClr val="dk2"/>
                </a:solidFill>
                <a:latin typeface="Montserrat Medium"/>
                <a:ea typeface="Montserrat Medium"/>
                <a:cs typeface="Montserrat Medium"/>
                <a:sym typeface="Montserrat Medium"/>
              </a:rPr>
              <a:t>“P(</a:t>
            </a:r>
            <a:r>
              <a:rPr i="1" lang="en">
                <a:solidFill>
                  <a:schemeClr val="dk2"/>
                </a:solidFill>
                <a:latin typeface="Montserrat Medium"/>
                <a:ea typeface="Montserrat Medium"/>
                <a:cs typeface="Montserrat Medium"/>
                <a:sym typeface="Montserrat Medium"/>
              </a:rPr>
              <a:t>Weather = sunny</a:t>
            </a:r>
            <a:r>
              <a:rPr i="1" lang="en">
                <a:solidFill>
                  <a:schemeClr val="dk2"/>
                </a:solidFill>
                <a:latin typeface="Montserrat Medium"/>
                <a:ea typeface="Montserrat Medium"/>
                <a:cs typeface="Montserrat Medium"/>
                <a:sym typeface="Montserrat Medium"/>
              </a:rPr>
              <a:t>) = 0.6</a:t>
            </a:r>
            <a:r>
              <a:rPr lang="en">
                <a:solidFill>
                  <a:schemeClr val="dk2"/>
                </a:solidFill>
                <a:latin typeface="Montserrat Medium"/>
                <a:ea typeface="Montserrat Medium"/>
                <a:cs typeface="Montserrat Medium"/>
                <a:sym typeface="Montserrat Medium"/>
              </a:rPr>
              <a:t>” is written as </a:t>
            </a:r>
            <a:r>
              <a:rPr i="1" lang="en">
                <a:solidFill>
                  <a:schemeClr val="dk2"/>
                </a:solidFill>
                <a:latin typeface="Montserrat Medium"/>
                <a:ea typeface="Montserrat Medium"/>
                <a:cs typeface="Montserrat Medium"/>
                <a:sym typeface="Montserrat Medium"/>
              </a:rPr>
              <a:t>“P(sunny) = 0.6</a:t>
            </a:r>
            <a:r>
              <a:rPr lang="en">
                <a:solidFill>
                  <a:schemeClr val="dk2"/>
                </a:solidFill>
                <a:latin typeface="Montserrat Medium"/>
                <a:ea typeface="Montserrat Medium"/>
                <a:cs typeface="Montserrat Medium"/>
                <a:sym typeface="Montserrat Medium"/>
              </a:rPr>
              <a:t>”</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Suppose cavity is a discrete RV with the domain {TRUE, FALSE}</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i="1" lang="en">
                <a:solidFill>
                  <a:schemeClr val="dk2"/>
                </a:solidFill>
                <a:latin typeface="Montserrat Medium"/>
                <a:ea typeface="Montserrat Medium"/>
                <a:cs typeface="Montserrat Medium"/>
                <a:sym typeface="Montserrat Medium"/>
              </a:rPr>
              <a:t>“Cavity = TRUE”</a:t>
            </a:r>
            <a:r>
              <a:rPr lang="en">
                <a:solidFill>
                  <a:schemeClr val="dk2"/>
                </a:solidFill>
                <a:latin typeface="Montserrat Medium"/>
                <a:ea typeface="Montserrat Medium"/>
                <a:cs typeface="Montserrat Medium"/>
                <a:sym typeface="Montserrat Medium"/>
              </a:rPr>
              <a:t> is written as </a:t>
            </a:r>
            <a:r>
              <a:rPr i="1" lang="en">
                <a:solidFill>
                  <a:schemeClr val="dk2"/>
                </a:solidFill>
                <a:latin typeface="Montserrat Medium"/>
                <a:ea typeface="Montserrat Medium"/>
                <a:cs typeface="Montserrat Medium"/>
                <a:sym typeface="Montserrat Medium"/>
              </a:rPr>
              <a:t>“cavity”</a:t>
            </a:r>
            <a:endParaRPr i="1">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i="1" lang="en">
                <a:solidFill>
                  <a:schemeClr val="dk2"/>
                </a:solidFill>
                <a:latin typeface="Montserrat Medium"/>
                <a:ea typeface="Montserrat Medium"/>
                <a:cs typeface="Montserrat Medium"/>
                <a:sym typeface="Montserrat Medium"/>
              </a:rPr>
              <a:t>“Cavity = False”</a:t>
            </a:r>
            <a:r>
              <a:rPr lang="en">
                <a:solidFill>
                  <a:schemeClr val="dk2"/>
                </a:solidFill>
                <a:latin typeface="Montserrat Medium"/>
                <a:ea typeface="Montserrat Medium"/>
                <a:cs typeface="Montserrat Medium"/>
                <a:sym typeface="Montserrat Medium"/>
              </a:rPr>
              <a:t> is written as </a:t>
            </a:r>
            <a:r>
              <a:rPr i="1" lang="en">
                <a:solidFill>
                  <a:schemeClr val="dk2"/>
                </a:solidFill>
                <a:latin typeface="Montserrat Medium"/>
                <a:ea typeface="Montserrat Medium"/>
                <a:cs typeface="Montserrat Medium"/>
                <a:sym typeface="Montserrat Medium"/>
              </a:rPr>
              <a:t>“¬cavity”</a:t>
            </a:r>
            <a:endParaRPr i="1">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i="1" lang="en">
                <a:solidFill>
                  <a:schemeClr val="dk2"/>
                </a:solidFill>
                <a:latin typeface="Montserrat Medium"/>
                <a:ea typeface="Montserrat Medium"/>
                <a:cs typeface="Montserrat Medium"/>
                <a:sym typeface="Montserrat Medium"/>
              </a:rPr>
              <a:t>“P(Cavity = False) = 0.6”</a:t>
            </a:r>
            <a:r>
              <a:rPr lang="en">
                <a:solidFill>
                  <a:schemeClr val="dk2"/>
                </a:solidFill>
                <a:latin typeface="Montserrat Medium"/>
                <a:ea typeface="Montserrat Medium"/>
                <a:cs typeface="Montserrat Medium"/>
                <a:sym typeface="Montserrat Medium"/>
              </a:rPr>
              <a:t> is written as </a:t>
            </a:r>
            <a:r>
              <a:rPr i="1" lang="en">
                <a:solidFill>
                  <a:schemeClr val="dk2"/>
                </a:solidFill>
                <a:latin typeface="Montserrat Medium"/>
                <a:ea typeface="Montserrat Medium"/>
                <a:cs typeface="Montserrat Medium"/>
                <a:sym typeface="Montserrat Medium"/>
              </a:rPr>
              <a:t>“P(¬cavity) = 0.6”</a:t>
            </a:r>
            <a:endParaRPr i="1">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Probability distribution is often presented in a table</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P(Weather) = &lt;0.6, 0.15, 0.24, 0.01&gt; is the same as:</a:t>
            </a:r>
            <a:endParaRPr>
              <a:solidFill>
                <a:schemeClr val="dk2"/>
              </a:solidFill>
              <a:latin typeface="Montserrat Medium"/>
              <a:ea typeface="Montserrat Medium"/>
              <a:cs typeface="Montserrat Medium"/>
              <a:sym typeface="Montserrat Medium"/>
            </a:endParaRPr>
          </a:p>
          <a:p>
            <a:pPr indent="0" lvl="0" marL="9144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508" name="Google Shape;508;p3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09" name="Google Shape;509;p3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510" name="Google Shape;510;p30"/>
          <p:cNvGraphicFramePr/>
          <p:nvPr/>
        </p:nvGraphicFramePr>
        <p:xfrm>
          <a:off x="5972925" y="2821300"/>
          <a:ext cx="3000000" cy="3000000"/>
        </p:xfrm>
        <a:graphic>
          <a:graphicData uri="http://schemas.openxmlformats.org/drawingml/2006/table">
            <a:tbl>
              <a:tblPr>
                <a:noFill/>
                <a:tableStyleId>{D337579A-5A14-4019-876A-0D022D41D2FB}</a:tableStyleId>
              </a:tblPr>
              <a:tblGrid>
                <a:gridCol w="1076575"/>
                <a:gridCol w="1076575"/>
              </a:tblGrid>
              <a:tr h="381000">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Weather</a:t>
                      </a:r>
                      <a:endParaRPr sz="12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Probability</a:t>
                      </a:r>
                      <a:endParaRPr sz="1200">
                        <a:latin typeface="Montserrat Medium"/>
                        <a:ea typeface="Montserrat Medium"/>
                        <a:cs typeface="Montserrat Medium"/>
                        <a:sym typeface="Montserrat Medium"/>
                      </a:endParaRPr>
                    </a:p>
                  </a:txBody>
                  <a:tcPr marT="91425" marB="91425" marR="91425" marL="91425"/>
                </a:tc>
              </a:tr>
              <a:tr h="381000">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sunny</a:t>
                      </a:r>
                      <a:endParaRPr sz="12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0.60</a:t>
                      </a:r>
                      <a:endParaRPr sz="1200">
                        <a:latin typeface="Montserrat Medium"/>
                        <a:ea typeface="Montserrat Medium"/>
                        <a:cs typeface="Montserrat Medium"/>
                        <a:sym typeface="Montserrat Medium"/>
                      </a:endParaRPr>
                    </a:p>
                  </a:txBody>
                  <a:tcPr marT="91425" marB="91425" marR="91425" marL="91425"/>
                </a:tc>
              </a:tr>
              <a:tr h="381000">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rainy</a:t>
                      </a:r>
                      <a:endParaRPr sz="12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0.15</a:t>
                      </a:r>
                      <a:endParaRPr sz="1200">
                        <a:latin typeface="Montserrat Medium"/>
                        <a:ea typeface="Montserrat Medium"/>
                        <a:cs typeface="Montserrat Medium"/>
                        <a:sym typeface="Montserrat Medium"/>
                      </a:endParaRPr>
                    </a:p>
                  </a:txBody>
                  <a:tcPr marT="91425" marB="91425" marR="91425" marL="91425"/>
                </a:tc>
              </a:tr>
              <a:tr h="381000">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cloudy</a:t>
                      </a:r>
                      <a:endParaRPr sz="12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0.24</a:t>
                      </a:r>
                      <a:endParaRPr sz="1200">
                        <a:latin typeface="Montserrat Medium"/>
                        <a:ea typeface="Montserrat Medium"/>
                        <a:cs typeface="Montserrat Medium"/>
                        <a:sym typeface="Montserrat Medium"/>
                      </a:endParaRPr>
                    </a:p>
                  </a:txBody>
                  <a:tcPr marT="91425" marB="91425" marR="91425" marL="91425"/>
                </a:tc>
              </a:tr>
              <a:tr h="381000">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snowy</a:t>
                      </a:r>
                      <a:endParaRPr sz="12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200">
                          <a:latin typeface="Montserrat Medium"/>
                          <a:ea typeface="Montserrat Medium"/>
                          <a:cs typeface="Montserrat Medium"/>
                          <a:sym typeface="Montserrat Medium"/>
                        </a:rPr>
                        <a:t>0.01</a:t>
                      </a:r>
                      <a:endParaRPr sz="12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cxnSp>
        <p:nvCxnSpPr>
          <p:cNvPr id="515" name="Google Shape;515;p3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16" name="Google Shape;516;p3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17" name="Google Shape;517;p3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18" name="Google Shape;518;p3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19" name="Google Shape;519;p3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20" name="Google Shape;520;p3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Joint </a:t>
            </a:r>
            <a:r>
              <a:rPr b="1" lang="en" sz="2600">
                <a:solidFill>
                  <a:srgbClr val="940A15"/>
                </a:solidFill>
                <a:latin typeface="Montserrat"/>
                <a:ea typeface="Montserrat"/>
                <a:cs typeface="Montserrat"/>
                <a:sym typeface="Montserrat"/>
              </a:rPr>
              <a:t>Probability Distribution</a:t>
            </a:r>
            <a:endParaRPr b="1" i="0" sz="2600" u="none" cap="none" strike="noStrike">
              <a:solidFill>
                <a:srgbClr val="940A15"/>
              </a:solidFill>
              <a:latin typeface="Montserrat"/>
              <a:ea typeface="Montserrat"/>
              <a:cs typeface="Montserrat"/>
              <a:sym typeface="Montserrat"/>
            </a:endParaRPr>
          </a:p>
        </p:txBody>
      </p:sp>
      <p:sp>
        <p:nvSpPr>
          <p:cNvPr id="521" name="Google Shape;521;p3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22" name="Google Shape;522;p31"/>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Probability distribution over a SET of Random variables  (i.e. two or more random variables are being considered)</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Let’s consider two boolean RVs: </a:t>
            </a:r>
            <a:r>
              <a:rPr b="1" lang="en">
                <a:solidFill>
                  <a:schemeClr val="dk2"/>
                </a:solidFill>
                <a:latin typeface="Montserrat"/>
                <a:ea typeface="Montserrat"/>
                <a:cs typeface="Montserrat"/>
                <a:sym typeface="Montserrat"/>
              </a:rPr>
              <a:t>Toothache </a:t>
            </a:r>
            <a:r>
              <a:rPr lang="en">
                <a:solidFill>
                  <a:schemeClr val="dk2"/>
                </a:solidFill>
                <a:latin typeface="Montserrat Medium"/>
                <a:ea typeface="Montserrat Medium"/>
                <a:cs typeface="Montserrat Medium"/>
                <a:sym typeface="Montserrat Medium"/>
              </a:rPr>
              <a:t>and </a:t>
            </a:r>
            <a:r>
              <a:rPr b="1" lang="en">
                <a:solidFill>
                  <a:schemeClr val="dk2"/>
                </a:solidFill>
                <a:latin typeface="Montserrat"/>
                <a:ea typeface="Montserrat"/>
                <a:cs typeface="Montserrat"/>
                <a:sym typeface="Montserrat"/>
              </a:rPr>
              <a:t>Cavity</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Sum of ALL entries in the joint probability distribution table must be 1</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Every question about a domain can be answered by looking at the table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Quiz: P(cavity, toothache) = ? </a:t>
            </a:r>
            <a:r>
              <a:rPr lang="en">
                <a:solidFill>
                  <a:schemeClr val="dk2"/>
                </a:solidFill>
                <a:latin typeface="Montserrat Medium"/>
                <a:ea typeface="Montserrat Medium"/>
                <a:cs typeface="Montserrat Medium"/>
                <a:sym typeface="Montserrat Medium"/>
              </a:rPr>
              <a:t>P(</a:t>
            </a:r>
            <a:r>
              <a:rPr lang="en" sz="1300">
                <a:solidFill>
                  <a:schemeClr val="dk2"/>
                </a:solidFill>
                <a:latin typeface="Montserrat Medium"/>
                <a:ea typeface="Montserrat Medium"/>
                <a:cs typeface="Montserrat Medium"/>
                <a:sym typeface="Montserrat Medium"/>
              </a:rPr>
              <a:t>¬</a:t>
            </a:r>
            <a:r>
              <a:rPr lang="en">
                <a:solidFill>
                  <a:schemeClr val="dk2"/>
                </a:solidFill>
                <a:latin typeface="Montserrat Medium"/>
                <a:ea typeface="Montserrat Medium"/>
                <a:cs typeface="Montserrat Medium"/>
                <a:sym typeface="Montserrat Medium"/>
              </a:rPr>
              <a:t>cavity, toothache) =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Quiz: If I have cavity, probability of toothache is 0.22 -&gt; TRUE or FALSE?</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graphicFrame>
        <p:nvGraphicFramePr>
          <p:cNvPr id="523" name="Google Shape;523;p31"/>
          <p:cNvGraphicFramePr/>
          <p:nvPr/>
        </p:nvGraphicFramePr>
        <p:xfrm>
          <a:off x="2372500" y="1859200"/>
          <a:ext cx="3000000" cy="3000000"/>
        </p:xfrm>
        <a:graphic>
          <a:graphicData uri="http://schemas.openxmlformats.org/drawingml/2006/table">
            <a:tbl>
              <a:tblPr>
                <a:noFill/>
                <a:tableStyleId>{D337579A-5A14-4019-876A-0D022D41D2FB}</a:tableStyleId>
              </a:tblPr>
              <a:tblGrid>
                <a:gridCol w="847300"/>
                <a:gridCol w="1286950"/>
                <a:gridCol w="1165300"/>
              </a:tblGrid>
              <a:tr h="34387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r>
              <a:tr h="34387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0.22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0.15</a:t>
                      </a:r>
                      <a:endParaRPr sz="1300">
                        <a:latin typeface="Montserrat Medium"/>
                        <a:ea typeface="Montserrat Medium"/>
                        <a:cs typeface="Montserrat Medium"/>
                        <a:sym typeface="Montserrat Medium"/>
                      </a:endParaRPr>
                    </a:p>
                  </a:txBody>
                  <a:tcPr marT="91425" marB="91425" marR="91425" marL="91425"/>
                </a:tc>
              </a:tr>
              <a:tr h="343875">
                <a:tc>
                  <a:txBody>
                    <a:bodyPr/>
                    <a:lstStyle/>
                    <a:p>
                      <a:pPr indent="0" lvl="0" marL="0" rtl="0" algn="ctr">
                        <a:lnSpc>
                          <a:spcPct val="115000"/>
                        </a:lnSpc>
                        <a:spcBef>
                          <a:spcPts val="0"/>
                        </a:spcBef>
                        <a:spcAft>
                          <a:spcPts val="0"/>
                        </a:spcAft>
                        <a:buClr>
                          <a:schemeClr val="dk2"/>
                        </a:buClr>
                        <a:buSzPts val="1100"/>
                        <a:buFont typeface="Arial"/>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0.55</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cxnSp>
        <p:nvCxnSpPr>
          <p:cNvPr id="528" name="Google Shape;528;p3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29" name="Google Shape;529;p3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30" name="Google Shape;530;p3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31" name="Google Shape;531;p3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2" name="Google Shape;532;p3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33" name="Google Shape;533;p3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Marginal </a:t>
            </a:r>
            <a:r>
              <a:rPr b="1" lang="en" sz="2600">
                <a:solidFill>
                  <a:srgbClr val="940A15"/>
                </a:solidFill>
                <a:latin typeface="Montserrat"/>
                <a:ea typeface="Montserrat"/>
                <a:cs typeface="Montserrat"/>
                <a:sym typeface="Montserrat"/>
              </a:rPr>
              <a:t>Probability Distribution</a:t>
            </a:r>
            <a:endParaRPr b="1" i="0" sz="2600" u="none" cap="none" strike="noStrike">
              <a:solidFill>
                <a:srgbClr val="940A15"/>
              </a:solidFill>
              <a:latin typeface="Montserrat"/>
              <a:ea typeface="Montserrat"/>
              <a:cs typeface="Montserrat"/>
              <a:sym typeface="Montserrat"/>
            </a:endParaRPr>
          </a:p>
        </p:txBody>
      </p:sp>
      <p:sp>
        <p:nvSpPr>
          <p:cNvPr id="534" name="Google Shape;534;p3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35" name="Google Shape;535;p32"/>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Probability</a:t>
            </a:r>
            <a:r>
              <a:rPr lang="en">
                <a:solidFill>
                  <a:schemeClr val="dk2"/>
                </a:solidFill>
                <a:latin typeface="Montserrat Medium"/>
                <a:ea typeface="Montserrat Medium"/>
                <a:cs typeface="Montserrat Medium"/>
                <a:sym typeface="Montserrat Medium"/>
              </a:rPr>
              <a:t> of a proposition is the sum of probabilities of all events where that proposition holds TRUE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P(cavity) = sum of all events where (Cavity=cavity) holds = 0.22 + 0.15 = 0.37</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t>
            </a:r>
            <a:r>
              <a:rPr lang="en" sz="1300">
                <a:solidFill>
                  <a:schemeClr val="dk2"/>
                </a:solidFill>
                <a:latin typeface="Montserrat Medium"/>
                <a:ea typeface="Montserrat Medium"/>
                <a:cs typeface="Montserrat Medium"/>
                <a:sym typeface="Montserrat Medium"/>
              </a:rPr>
              <a:t>¬toothache</a:t>
            </a:r>
            <a:r>
              <a:rPr lang="en">
                <a:solidFill>
                  <a:schemeClr val="dk2"/>
                </a:solidFill>
                <a:latin typeface="Montserrat Medium"/>
                <a:ea typeface="Montserrat Medium"/>
                <a:cs typeface="Montserrat Medium"/>
                <a:sym typeface="Montserrat Medium"/>
              </a:rPr>
              <a:t>) = sum of all events where (Toothache=</a:t>
            </a:r>
            <a:r>
              <a:rPr lang="en" sz="1300">
                <a:solidFill>
                  <a:schemeClr val="dk2"/>
                </a:solidFill>
                <a:latin typeface="Montserrat Medium"/>
                <a:ea typeface="Montserrat Medium"/>
                <a:cs typeface="Montserrat Medium"/>
                <a:sym typeface="Montserrat Medium"/>
              </a:rPr>
              <a:t>¬toothache</a:t>
            </a:r>
            <a:r>
              <a:rPr lang="en">
                <a:solidFill>
                  <a:schemeClr val="dk2"/>
                </a:solidFill>
                <a:latin typeface="Montserrat Medium"/>
                <a:ea typeface="Montserrat Medium"/>
                <a:cs typeface="Montserrat Medium"/>
                <a:sym typeface="Montserrat Medium"/>
              </a:rPr>
              <a:t>) holds = 0.15 + 0.55 = 0.70</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Quiz: P(</a:t>
            </a:r>
            <a:r>
              <a:rPr lang="en" sz="1300">
                <a:solidFill>
                  <a:schemeClr val="dk2"/>
                </a:solidFill>
                <a:latin typeface="Montserrat Medium"/>
                <a:ea typeface="Montserrat Medium"/>
                <a:cs typeface="Montserrat Medium"/>
                <a:sym typeface="Montserrat Medium"/>
              </a:rPr>
              <a:t>¬</a:t>
            </a:r>
            <a:r>
              <a:rPr lang="en">
                <a:solidFill>
                  <a:schemeClr val="dk2"/>
                </a:solidFill>
                <a:latin typeface="Montserrat Medium"/>
                <a:ea typeface="Montserrat Medium"/>
                <a:cs typeface="Montserrat Medium"/>
                <a:sym typeface="Montserrat Medium"/>
              </a:rPr>
              <a:t>cavity) = ? P(</a:t>
            </a:r>
            <a:r>
              <a:rPr lang="en" sz="1300">
                <a:solidFill>
                  <a:schemeClr val="dk2"/>
                </a:solidFill>
                <a:latin typeface="Montserrat Medium"/>
                <a:ea typeface="Montserrat Medium"/>
                <a:cs typeface="Montserrat Medium"/>
                <a:sym typeface="Montserrat Medium"/>
              </a:rPr>
              <a:t>toothache</a:t>
            </a:r>
            <a:r>
              <a:rPr lang="en">
                <a:solidFill>
                  <a:schemeClr val="dk2"/>
                </a:solidFill>
                <a:latin typeface="Montserrat Medium"/>
                <a:ea typeface="Montserrat Medium"/>
                <a:cs typeface="Montserrat Medium"/>
                <a:sym typeface="Montserrat Medium"/>
              </a:rPr>
              <a:t>) = ?</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graphicFrame>
        <p:nvGraphicFramePr>
          <p:cNvPr id="536" name="Google Shape;536;p32"/>
          <p:cNvGraphicFramePr/>
          <p:nvPr/>
        </p:nvGraphicFramePr>
        <p:xfrm>
          <a:off x="2673400" y="733650"/>
          <a:ext cx="3000000" cy="3000000"/>
        </p:xfrm>
        <a:graphic>
          <a:graphicData uri="http://schemas.openxmlformats.org/drawingml/2006/table">
            <a:tbl>
              <a:tblPr>
                <a:noFill/>
                <a:tableStyleId>{D337579A-5A14-4019-876A-0D022D41D2FB}</a:tableStyleId>
              </a:tblPr>
              <a:tblGrid>
                <a:gridCol w="847300"/>
                <a:gridCol w="1286950"/>
                <a:gridCol w="1165300"/>
              </a:tblGrid>
              <a:tr h="34387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r>
              <a:tr h="34387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0.22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0.15</a:t>
                      </a:r>
                      <a:endParaRPr sz="1300">
                        <a:latin typeface="Montserrat Medium"/>
                        <a:ea typeface="Montserrat Medium"/>
                        <a:cs typeface="Montserrat Medium"/>
                        <a:sym typeface="Montserrat Medium"/>
                      </a:endParaRPr>
                    </a:p>
                  </a:txBody>
                  <a:tcPr marT="91425" marB="91425" marR="91425" marL="91425"/>
                </a:tc>
              </a:tr>
              <a:tr h="34387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0.55</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cxnSp>
        <p:nvCxnSpPr>
          <p:cNvPr id="541" name="Google Shape;541;p3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42" name="Google Shape;542;p3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43" name="Google Shape;543;p3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44" name="Google Shape;544;p3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5" name="Google Shape;545;p3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3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AND OR</a:t>
            </a:r>
            <a:endParaRPr b="1" i="0" sz="2600" u="none" cap="none" strike="noStrike">
              <a:solidFill>
                <a:srgbClr val="940A15"/>
              </a:solidFill>
              <a:latin typeface="Montserrat"/>
              <a:ea typeface="Montserrat"/>
              <a:cs typeface="Montserrat"/>
              <a:sym typeface="Montserrat"/>
            </a:endParaRPr>
          </a:p>
        </p:txBody>
      </p:sp>
      <p:sp>
        <p:nvSpPr>
          <p:cNvPr id="547" name="Google Shape;547;p3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48" name="Google Shape;548;p33"/>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 P(A) + P (B) - P(A ∩ B)</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 P(A) × P(B) 	[ONLY IF A and B are independent, else not]</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is also written as P(A ∨ B)</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is also written as P(A ∧ B)</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549" name="Google Shape;549;p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50" name="Google Shape;550;p3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cxnSp>
        <p:nvCxnSpPr>
          <p:cNvPr id="555" name="Google Shape;555;p3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56" name="Google Shape;556;p3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57" name="Google Shape;557;p3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58" name="Google Shape;558;p3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9" name="Google Shape;559;p3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3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Quiz on Probability Distribution</a:t>
            </a:r>
            <a:endParaRPr b="1" i="0" sz="2600" u="none" cap="none" strike="noStrike">
              <a:solidFill>
                <a:srgbClr val="940A15"/>
              </a:solidFill>
              <a:latin typeface="Montserrat"/>
              <a:ea typeface="Montserrat"/>
              <a:cs typeface="Montserrat"/>
              <a:sym typeface="Montserrat"/>
            </a:endParaRPr>
          </a:p>
        </p:txBody>
      </p:sp>
      <p:sp>
        <p:nvSpPr>
          <p:cNvPr id="561" name="Google Shape;561;p3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62" name="Google Shape;562;p34"/>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Let’s consider a Joint probability distribution with THREE boolean RV: H, B, S</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563" name="Google Shape;563;p34"/>
          <p:cNvSpPr txBox="1"/>
          <p:nvPr/>
        </p:nvSpPr>
        <p:spPr>
          <a:xfrm>
            <a:off x="3062550" y="1243350"/>
            <a:ext cx="5313900" cy="31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Montserrat Medium"/>
              <a:ea typeface="Montserrat Medium"/>
              <a:cs typeface="Montserrat Medium"/>
              <a:sym typeface="Montserrat Medium"/>
            </a:endParaRPr>
          </a:p>
          <a:p>
            <a:pPr indent="0" lvl="0" marL="0" rtl="0" algn="l">
              <a:spcBef>
                <a:spcPts val="1000"/>
              </a:spcBef>
              <a:spcAft>
                <a:spcPts val="0"/>
              </a:spcAft>
              <a:buNone/>
            </a:pPr>
            <a:r>
              <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cxnSp>
        <p:nvCxnSpPr>
          <p:cNvPr id="568" name="Google Shape;568;p3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69" name="Google Shape;569;p3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70" name="Google Shape;570;p3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71" name="Google Shape;571;p3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2" name="Google Shape;572;p3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3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Quiz on Probability Distribution</a:t>
            </a:r>
            <a:endParaRPr b="1" i="0" sz="2600" u="none" cap="none" strike="noStrike">
              <a:solidFill>
                <a:srgbClr val="940A15"/>
              </a:solidFill>
              <a:latin typeface="Montserrat"/>
              <a:ea typeface="Montserrat"/>
              <a:cs typeface="Montserrat"/>
              <a:sym typeface="Montserrat"/>
            </a:endParaRPr>
          </a:p>
        </p:txBody>
      </p:sp>
      <p:sp>
        <p:nvSpPr>
          <p:cNvPr id="574" name="Google Shape;574;p3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75" name="Google Shape;575;p35"/>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Let’s consider a Joint probability distribution with THREE boolean RV: H, B, S</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graphicFrame>
        <p:nvGraphicFramePr>
          <p:cNvPr id="576" name="Google Shape;576;p35"/>
          <p:cNvGraphicFramePr/>
          <p:nvPr/>
        </p:nvGraphicFramePr>
        <p:xfrm>
          <a:off x="836025" y="1577700"/>
          <a:ext cx="3000000" cy="3000000"/>
        </p:xfrm>
        <a:graphic>
          <a:graphicData uri="http://schemas.openxmlformats.org/drawingml/2006/table">
            <a:tbl>
              <a:tblPr>
                <a:noFill/>
                <a:tableStyleId>{BBCA39EF-B9D9-47B5-86BF-13B007F336FA}</a:tableStyleId>
              </a:tblPr>
              <a:tblGrid>
                <a:gridCol w="395875"/>
                <a:gridCol w="407525"/>
                <a:gridCol w="382850"/>
                <a:gridCol w="623150"/>
              </a:tblGrid>
              <a:tr h="382375">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H</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B</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S</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Prob.</a:t>
                      </a:r>
                      <a:endParaRPr b="1"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0.44</a:t>
                      </a:r>
                      <a:endParaRPr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0.15</a:t>
                      </a:r>
                      <a:endParaRPr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0.14</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0.07</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0.10</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0.04</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0.05</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0.01</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577" name="Google Shape;577;p35"/>
          <p:cNvSpPr txBox="1"/>
          <p:nvPr/>
        </p:nvSpPr>
        <p:spPr>
          <a:xfrm>
            <a:off x="3062550" y="1243350"/>
            <a:ext cx="5313900" cy="31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Montserrat Medium"/>
              <a:ea typeface="Montserrat Medium"/>
              <a:cs typeface="Montserrat Medium"/>
              <a:sym typeface="Montserrat Medium"/>
            </a:endParaRPr>
          </a:p>
          <a:p>
            <a:pPr indent="0" lvl="0" marL="0" rtl="0" algn="l">
              <a:spcBef>
                <a:spcPts val="1000"/>
              </a:spcBef>
              <a:spcAft>
                <a:spcPts val="0"/>
              </a:spcAft>
              <a:buNone/>
            </a:pPr>
            <a:r>
              <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3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83" name="Google Shape;583;p3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84" name="Google Shape;584;p3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85" name="Google Shape;585;p3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6" name="Google Shape;586;p3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87" name="Google Shape;587;p3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Quiz on</a:t>
            </a:r>
            <a:r>
              <a:rPr b="1" lang="en" sz="2600">
                <a:solidFill>
                  <a:srgbClr val="940A15"/>
                </a:solidFill>
                <a:latin typeface="Montserrat"/>
                <a:ea typeface="Montserrat"/>
                <a:cs typeface="Montserrat"/>
                <a:sym typeface="Montserrat"/>
              </a:rPr>
              <a:t> Probability Distribution</a:t>
            </a:r>
            <a:endParaRPr b="1" i="0" sz="2600" u="none" cap="none" strike="noStrike">
              <a:solidFill>
                <a:srgbClr val="940A15"/>
              </a:solidFill>
              <a:latin typeface="Montserrat"/>
              <a:ea typeface="Montserrat"/>
              <a:cs typeface="Montserrat"/>
              <a:sym typeface="Montserrat"/>
            </a:endParaRPr>
          </a:p>
        </p:txBody>
      </p:sp>
      <p:sp>
        <p:nvSpPr>
          <p:cNvPr id="588" name="Google Shape;588;p3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89" name="Google Shape;589;p36"/>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Let’s consider a Joint probability distribution with THREE boolean RV: H, B, S</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graphicFrame>
        <p:nvGraphicFramePr>
          <p:cNvPr id="590" name="Google Shape;590;p36"/>
          <p:cNvGraphicFramePr/>
          <p:nvPr/>
        </p:nvGraphicFramePr>
        <p:xfrm>
          <a:off x="778625" y="1116425"/>
          <a:ext cx="3000000" cy="3000000"/>
        </p:xfrm>
        <a:graphic>
          <a:graphicData uri="http://schemas.openxmlformats.org/drawingml/2006/table">
            <a:tbl>
              <a:tblPr>
                <a:noFill/>
                <a:tableStyleId>{BBCA39EF-B9D9-47B5-86BF-13B007F336FA}</a:tableStyleId>
              </a:tblPr>
              <a:tblGrid>
                <a:gridCol w="395875"/>
                <a:gridCol w="407525"/>
                <a:gridCol w="382850"/>
                <a:gridCol w="623150"/>
              </a:tblGrid>
              <a:tr h="382375">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H</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B</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616161"/>
                          </a:solidFill>
                          <a:latin typeface="Proxima Nova"/>
                          <a:ea typeface="Proxima Nova"/>
                          <a:cs typeface="Proxima Nova"/>
                          <a:sym typeface="Proxima Nova"/>
                        </a:rPr>
                        <a:t>S</a:t>
                      </a:r>
                      <a:endParaRPr b="1" i="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Prob.</a:t>
                      </a:r>
                      <a:endParaRPr b="1"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0.44</a:t>
                      </a:r>
                      <a:endParaRPr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0.15</a:t>
                      </a:r>
                      <a:endParaRPr sz="1400" u="none" cap="none" strike="noStrike">
                        <a:solidFill>
                          <a:srgbClr val="616161"/>
                        </a:solidFill>
                        <a:latin typeface="Proxima Nova"/>
                        <a:ea typeface="Proxima Nova"/>
                        <a:cs typeface="Proxima Nova"/>
                        <a:sym typeface="Proxima Nova"/>
                      </a:endParaRPr>
                    </a:p>
                  </a:txBody>
                  <a:tcPr marT="91425" marB="91425" marR="91425" marL="91425"/>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0.14</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0.07</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0.10</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0.04</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0.05</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823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-h</a:t>
                      </a:r>
                      <a:endParaRPr b="1" sz="1400" u="none" cap="none" strike="noStrike">
                        <a:solidFill>
                          <a:srgbClr val="616161"/>
                        </a:solidFill>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-b</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16161"/>
                          </a:solidFill>
                          <a:latin typeface="Proxima Nova"/>
                          <a:ea typeface="Proxima Nova"/>
                          <a:cs typeface="Proxima Nova"/>
                          <a:sym typeface="Proxima Nova"/>
                        </a:rPr>
                        <a:t>-s</a:t>
                      </a:r>
                      <a:endParaRPr b="1"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616161"/>
                          </a:solidFill>
                          <a:latin typeface="Proxima Nova"/>
                          <a:ea typeface="Proxima Nova"/>
                          <a:cs typeface="Proxima Nova"/>
                          <a:sym typeface="Proxima Nova"/>
                        </a:rPr>
                        <a:t>0.01</a:t>
                      </a:r>
                      <a:endParaRPr sz="1400" u="none" cap="none" strike="noStrike">
                        <a:solidFill>
                          <a:srgbClr val="61616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591" name="Google Shape;591;p36"/>
          <p:cNvSpPr txBox="1"/>
          <p:nvPr/>
        </p:nvSpPr>
        <p:spPr>
          <a:xfrm>
            <a:off x="3062550" y="1243350"/>
            <a:ext cx="5313900" cy="3114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P(+h, -b, +s)     = 0.14</a:t>
            </a:r>
            <a:endParaRPr>
              <a:solidFill>
                <a:schemeClr val="dk1"/>
              </a:solidFill>
              <a:latin typeface="Montserrat Medium"/>
              <a:ea typeface="Montserrat Medium"/>
              <a:cs typeface="Montserrat Medium"/>
              <a:sym typeface="Montserrat Medium"/>
            </a:endParaRPr>
          </a:p>
          <a:p>
            <a:pPr indent="-317500" lvl="0" marL="457200" rtl="0" algn="l">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P(+b)  = 0.44 + 0.15 + 0.10 + 0.04 = 0.73</a:t>
            </a:r>
            <a:endParaRPr>
              <a:solidFill>
                <a:schemeClr val="dk1"/>
              </a:solidFill>
              <a:latin typeface="Montserrat Medium"/>
              <a:ea typeface="Montserrat Medium"/>
              <a:cs typeface="Montserrat Medium"/>
              <a:sym typeface="Montserrat Medium"/>
            </a:endParaRPr>
          </a:p>
          <a:p>
            <a:pPr indent="-317500" lvl="0" marL="457200" rtl="0" algn="l">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P((+h, -b) OR +s) </a:t>
            </a:r>
            <a:endParaRPr>
              <a:solidFill>
                <a:schemeClr val="dk1"/>
              </a:solidFill>
              <a:latin typeface="Montserrat Medium"/>
              <a:ea typeface="Montserrat Medium"/>
              <a:cs typeface="Montserrat Medium"/>
              <a:sym typeface="Montserrat Medium"/>
            </a:endParaRPr>
          </a:p>
          <a:p>
            <a:pPr indent="0" lvl="0" marL="457200" rtl="0" algn="l">
              <a:spcBef>
                <a:spcPts val="1000"/>
              </a:spcBef>
              <a:spcAft>
                <a:spcPts val="0"/>
              </a:spcAft>
              <a:buNone/>
            </a:pPr>
            <a:r>
              <a:rPr lang="en">
                <a:solidFill>
                  <a:schemeClr val="dk1"/>
                </a:solidFill>
                <a:latin typeface="Montserrat Medium"/>
                <a:ea typeface="Montserrat Medium"/>
                <a:cs typeface="Montserrat Medium"/>
                <a:sym typeface="Montserrat Medium"/>
              </a:rPr>
              <a:t>   = P(+h, -b) + P(+s) - P(+h, -b, +s)</a:t>
            </a:r>
            <a:endParaRPr>
              <a:solidFill>
                <a:schemeClr val="dk1"/>
              </a:solidFill>
              <a:latin typeface="Montserrat Medium"/>
              <a:ea typeface="Montserrat Medium"/>
              <a:cs typeface="Montserrat Medium"/>
              <a:sym typeface="Montserrat Medium"/>
            </a:endParaRPr>
          </a:p>
          <a:p>
            <a:pPr indent="0" lvl="0" marL="0" rtl="0" algn="l">
              <a:spcBef>
                <a:spcPts val="1000"/>
              </a:spcBef>
              <a:spcAft>
                <a:spcPts val="0"/>
              </a:spcAft>
              <a:buNone/>
            </a:pPr>
            <a:r>
              <a:rPr lang="en">
                <a:solidFill>
                  <a:schemeClr val="dk1"/>
                </a:solidFill>
                <a:latin typeface="Montserrat Medium"/>
                <a:ea typeface="Montserrat Medium"/>
                <a:cs typeface="Montserrat Medium"/>
                <a:sym typeface="Montserrat Medium"/>
              </a:rPr>
              <a:t>             = (0.14 + 0.07) + (0.44 + 0.14 + 0.10 + 0.05) - 0.14</a:t>
            </a:r>
            <a:endParaRPr>
              <a:solidFill>
                <a:schemeClr val="dk1"/>
              </a:solidFill>
              <a:latin typeface="Montserrat Medium"/>
              <a:ea typeface="Montserrat Medium"/>
              <a:cs typeface="Montserrat Medium"/>
              <a:sym typeface="Montserrat Medium"/>
            </a:endParaRPr>
          </a:p>
          <a:p>
            <a:pPr indent="0" lvl="0" marL="0" rtl="0" algn="l">
              <a:spcBef>
                <a:spcPts val="1000"/>
              </a:spcBef>
              <a:spcAft>
                <a:spcPts val="0"/>
              </a:spcAft>
              <a:buNone/>
            </a:pPr>
            <a:r>
              <a:rPr lang="en">
                <a:solidFill>
                  <a:schemeClr val="dk1"/>
                </a:solidFill>
                <a:latin typeface="Montserrat Medium"/>
                <a:ea typeface="Montserrat Medium"/>
                <a:cs typeface="Montserrat Medium"/>
                <a:sym typeface="Montserrat Medium"/>
              </a:rPr>
              <a:t>             = 0.80</a:t>
            </a:r>
            <a:endParaRPr>
              <a:solidFill>
                <a:schemeClr val="dk1"/>
              </a:solidFill>
              <a:latin typeface="Montserrat Medium"/>
              <a:ea typeface="Montserrat Medium"/>
              <a:cs typeface="Montserrat Medium"/>
              <a:sym typeface="Montserrat Medium"/>
            </a:endParaRPr>
          </a:p>
          <a:p>
            <a:pPr indent="0" lvl="0" marL="0" rtl="0" algn="l">
              <a:spcBef>
                <a:spcPts val="1000"/>
              </a:spcBef>
              <a:spcAft>
                <a:spcPts val="0"/>
              </a:spcAft>
              <a:buNone/>
            </a:pPr>
            <a:r>
              <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cxnSp>
        <p:nvCxnSpPr>
          <p:cNvPr id="596" name="Google Shape;596;p3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97" name="Google Shape;597;p3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98" name="Google Shape;598;p3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99" name="Google Shape;599;p3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0" name="Google Shape;600;p3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3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Probability</a:t>
            </a:r>
            <a:endParaRPr b="1" i="0" sz="2600" u="none" cap="none" strike="noStrike">
              <a:solidFill>
                <a:srgbClr val="940A15"/>
              </a:solidFill>
              <a:latin typeface="Montserrat"/>
              <a:ea typeface="Montserrat"/>
              <a:cs typeface="Montserrat"/>
              <a:sym typeface="Montserrat"/>
            </a:endParaRPr>
          </a:p>
        </p:txBody>
      </p:sp>
      <p:sp>
        <p:nvSpPr>
          <p:cNvPr id="602" name="Google Shape;602;p3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03" name="Google Shape;603;p37"/>
          <p:cNvSpPr txBox="1"/>
          <p:nvPr/>
        </p:nvSpPr>
        <p:spPr>
          <a:xfrm>
            <a:off x="462775" y="631001"/>
            <a:ext cx="82641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Conditional probability is the probability of an event A occurring </a:t>
            </a:r>
            <a:r>
              <a:rPr b="1" lang="en">
                <a:solidFill>
                  <a:schemeClr val="dk2"/>
                </a:solidFill>
                <a:latin typeface="Montserrat"/>
                <a:ea typeface="Montserrat"/>
                <a:cs typeface="Montserrat"/>
                <a:sym typeface="Montserrat"/>
              </a:rPr>
              <a:t>given</a:t>
            </a:r>
            <a:r>
              <a:rPr lang="en">
                <a:solidFill>
                  <a:schemeClr val="dk2"/>
                </a:solidFill>
                <a:latin typeface="Montserrat Medium"/>
                <a:ea typeface="Montserrat Medium"/>
                <a:cs typeface="Montserrat Medium"/>
                <a:sym typeface="Montserrat Medium"/>
              </a:rPr>
              <a:t> that another event B has already occurred</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Written as P(a∣b) [read as Probability of a given b] and defined by: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b)  =  P(a ∩ b) / P(b)</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Also written as </a:t>
            </a:r>
            <a:r>
              <a:rPr lang="en">
                <a:solidFill>
                  <a:schemeClr val="dk2"/>
                </a:solidFill>
                <a:latin typeface="Montserrat Medium"/>
                <a:ea typeface="Montserrat Medium"/>
                <a:cs typeface="Montserrat Medium"/>
                <a:sym typeface="Montserrat Medium"/>
              </a:rPr>
              <a:t>P(a ∣ b)  =  P(a, b) / P(b)</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Here b is </a:t>
            </a:r>
            <a:r>
              <a:rPr b="1" lang="en">
                <a:solidFill>
                  <a:schemeClr val="dk2"/>
                </a:solidFill>
                <a:latin typeface="Montserrat"/>
                <a:ea typeface="Montserrat"/>
                <a:cs typeface="Montserrat"/>
                <a:sym typeface="Montserrat"/>
              </a:rPr>
              <a:t>evidence</a:t>
            </a:r>
            <a:r>
              <a:rPr lang="en">
                <a:solidFill>
                  <a:schemeClr val="dk2"/>
                </a:solidFill>
                <a:latin typeface="Montserrat Medium"/>
                <a:ea typeface="Montserrat Medium"/>
                <a:cs typeface="Montserrat Medium"/>
                <a:sym typeface="Montserrat Medium"/>
              </a:rPr>
              <a:t> (we know its probability) and a is </a:t>
            </a:r>
            <a:r>
              <a:rPr b="1" lang="en">
                <a:solidFill>
                  <a:schemeClr val="dk2"/>
                </a:solidFill>
                <a:latin typeface="Montserrat"/>
                <a:ea typeface="Montserrat"/>
                <a:cs typeface="Montserrat"/>
                <a:sym typeface="Montserrat"/>
              </a:rPr>
              <a:t>query</a:t>
            </a:r>
            <a:r>
              <a:rPr lang="en">
                <a:solidFill>
                  <a:schemeClr val="dk2"/>
                </a:solidFill>
                <a:latin typeface="Montserrat Medium"/>
                <a:ea typeface="Montserrat Medium"/>
                <a:cs typeface="Montserrat Medium"/>
                <a:sym typeface="Montserrat Medium"/>
              </a:rPr>
              <a:t> (we WANT to know its probability)</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604" name="Google Shape;604;p3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05" name="Google Shape;605;p3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606" name="Google Shape;606;p37"/>
          <p:cNvGraphicFramePr/>
          <p:nvPr/>
        </p:nvGraphicFramePr>
        <p:xfrm>
          <a:off x="893450" y="3141800"/>
          <a:ext cx="3000000" cy="3000000"/>
        </p:xfrm>
        <a:graphic>
          <a:graphicData uri="http://schemas.openxmlformats.org/drawingml/2006/table">
            <a:tbl>
              <a:tblPr>
                <a:noFill/>
                <a:tableStyleId>{D337579A-5A14-4019-876A-0D022D41D2FB}</a:tableStyleId>
              </a:tblPr>
              <a:tblGrid>
                <a:gridCol w="889300"/>
                <a:gridCol w="1350750"/>
                <a:gridCol w="1223075"/>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0.22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0.15</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0.55</a:t>
                      </a:r>
                      <a:endParaRPr sz="1300">
                        <a:latin typeface="Montserrat Medium"/>
                        <a:ea typeface="Montserrat Medium"/>
                        <a:cs typeface="Montserrat Medium"/>
                        <a:sym typeface="Montserrat Medium"/>
                      </a:endParaRPr>
                    </a:p>
                  </a:txBody>
                  <a:tcPr marT="91425" marB="91425" marR="91425" marL="91425"/>
                </a:tc>
              </a:tr>
            </a:tbl>
          </a:graphicData>
        </a:graphic>
      </p:graphicFrame>
      <p:sp>
        <p:nvSpPr>
          <p:cNvPr id="607" name="Google Shape;607;p37"/>
          <p:cNvSpPr txBox="1"/>
          <p:nvPr/>
        </p:nvSpPr>
        <p:spPr>
          <a:xfrm>
            <a:off x="4430225" y="3025850"/>
            <a:ext cx="4151700" cy="1683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Montserrat Medium"/>
                <a:ea typeface="Montserrat Medium"/>
                <a:cs typeface="Montserrat Medium"/>
                <a:sym typeface="Montserrat Medium"/>
              </a:rPr>
              <a:t>Probability of toothache IF i have cavity</a:t>
            </a:r>
            <a:endParaRPr>
              <a:solidFill>
                <a:schemeClr val="dk1"/>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None/>
            </a:pPr>
            <a:r>
              <a:rPr lang="en">
                <a:solidFill>
                  <a:schemeClr val="dk1"/>
                </a:solidFill>
                <a:latin typeface="Montserrat Medium"/>
                <a:ea typeface="Montserrat Medium"/>
                <a:cs typeface="Montserrat Medium"/>
                <a:sym typeface="Montserrat Medium"/>
              </a:rPr>
              <a:t>= P(toothache | cavity)</a:t>
            </a:r>
            <a:endParaRPr>
              <a:solidFill>
                <a:schemeClr val="dk1"/>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None/>
            </a:pPr>
            <a:r>
              <a:rPr lang="en">
                <a:solidFill>
                  <a:schemeClr val="dk1"/>
                </a:solidFill>
                <a:latin typeface="Montserrat Medium"/>
                <a:ea typeface="Montserrat Medium"/>
                <a:cs typeface="Montserrat Medium"/>
                <a:sym typeface="Montserrat Medium"/>
              </a:rPr>
              <a:t>= P(toothache, cavity) / P(cavity) </a:t>
            </a:r>
            <a:endParaRPr>
              <a:solidFill>
                <a:schemeClr val="dk1"/>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None/>
            </a:pPr>
            <a:r>
              <a:rPr lang="en">
                <a:solidFill>
                  <a:schemeClr val="dk1"/>
                </a:solidFill>
                <a:latin typeface="Montserrat Medium"/>
                <a:ea typeface="Montserrat Medium"/>
                <a:cs typeface="Montserrat Medium"/>
                <a:sym typeface="Montserrat Medium"/>
              </a:rPr>
              <a:t>= 0.22 / (0.22 + 0.15)</a:t>
            </a:r>
            <a:endParaRPr>
              <a:solidFill>
                <a:schemeClr val="dk1"/>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None/>
            </a:pPr>
            <a:r>
              <a:rPr lang="en">
                <a:solidFill>
                  <a:schemeClr val="dk1"/>
                </a:solidFill>
                <a:latin typeface="Montserrat Medium"/>
                <a:ea typeface="Montserrat Medium"/>
                <a:cs typeface="Montserrat Medium"/>
                <a:sym typeface="Montserrat Medium"/>
              </a:rPr>
              <a:t>= 22 / 37 = 0.595</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cxnSp>
        <p:nvCxnSpPr>
          <p:cNvPr id="612" name="Google Shape;612;p3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13" name="Google Shape;613;p3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14" name="Google Shape;614;p3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15" name="Google Shape;615;p3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6" name="Google Shape;616;p3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17" name="Google Shape;617;p3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Probability</a:t>
            </a:r>
            <a:endParaRPr b="1" i="0" sz="2600" u="none" cap="none" strike="noStrike">
              <a:solidFill>
                <a:srgbClr val="940A15"/>
              </a:solidFill>
              <a:latin typeface="Montserrat"/>
              <a:ea typeface="Montserrat"/>
              <a:cs typeface="Montserrat"/>
              <a:sym typeface="Montserrat"/>
            </a:endParaRPr>
          </a:p>
        </p:txBody>
      </p:sp>
      <p:sp>
        <p:nvSpPr>
          <p:cNvPr id="618" name="Google Shape;618;p3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19" name="Google Shape;619;p38"/>
          <p:cNvSpPr txBox="1"/>
          <p:nvPr/>
        </p:nvSpPr>
        <p:spPr>
          <a:xfrm>
            <a:off x="409375" y="6419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620" name="Google Shape;620;p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21" name="Google Shape;621;p3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622" name="Google Shape;622;p38"/>
          <p:cNvGraphicFramePr/>
          <p:nvPr/>
        </p:nvGraphicFramePr>
        <p:xfrm>
          <a:off x="2738825" y="727100"/>
          <a:ext cx="3000000" cy="3000000"/>
        </p:xfrm>
        <a:graphic>
          <a:graphicData uri="http://schemas.openxmlformats.org/drawingml/2006/table">
            <a:tbl>
              <a:tblPr>
                <a:noFill/>
                <a:tableStyleId>{D337579A-5A14-4019-876A-0D022D41D2FB}</a:tableStyleId>
              </a:tblPr>
              <a:tblGrid>
                <a:gridCol w="889300"/>
                <a:gridCol w="1350750"/>
                <a:gridCol w="1223075"/>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Female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GoT</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0.16</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0.24</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BB</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0.05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TBBT</a:t>
                      </a:r>
                      <a:endParaRPr sz="1300">
                        <a:solidFill>
                          <a:schemeClr val="dk2"/>
                        </a:solidFill>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23" name="Google Shape;623;p38"/>
          <p:cNvSpPr txBox="1"/>
          <p:nvPr/>
        </p:nvSpPr>
        <p:spPr>
          <a:xfrm>
            <a:off x="713300" y="2962350"/>
            <a:ext cx="7715100" cy="1683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P(GoT | Male) = ?</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P(Male | GoT) = ?</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P(TBBT | Female) = ?</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cxnSp>
        <p:nvCxnSpPr>
          <p:cNvPr id="628" name="Google Shape;628;p3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29" name="Google Shape;629;p3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30" name="Google Shape;630;p3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31" name="Google Shape;631;p3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2" name="Google Shape;632;p3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33" name="Google Shape;633;p3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Probability</a:t>
            </a:r>
            <a:endParaRPr b="1" i="0" sz="2600" u="none" cap="none" strike="noStrike">
              <a:solidFill>
                <a:srgbClr val="940A15"/>
              </a:solidFill>
              <a:latin typeface="Montserrat"/>
              <a:ea typeface="Montserrat"/>
              <a:cs typeface="Montserrat"/>
              <a:sym typeface="Montserrat"/>
            </a:endParaRPr>
          </a:p>
        </p:txBody>
      </p:sp>
      <p:sp>
        <p:nvSpPr>
          <p:cNvPr id="634" name="Google Shape;634;p3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35" name="Google Shape;635;p39"/>
          <p:cNvSpPr txBox="1"/>
          <p:nvPr/>
        </p:nvSpPr>
        <p:spPr>
          <a:xfrm>
            <a:off x="409375" y="6419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636" name="Google Shape;636;p3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37" name="Google Shape;637;p3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638" name="Google Shape;638;p39"/>
          <p:cNvGraphicFramePr/>
          <p:nvPr/>
        </p:nvGraphicFramePr>
        <p:xfrm>
          <a:off x="2738825" y="727100"/>
          <a:ext cx="3000000" cy="3000000"/>
        </p:xfrm>
        <a:graphic>
          <a:graphicData uri="http://schemas.openxmlformats.org/drawingml/2006/table">
            <a:tbl>
              <a:tblPr>
                <a:noFill/>
                <a:tableStyleId>{D337579A-5A14-4019-876A-0D022D41D2FB}</a:tableStyleId>
              </a:tblPr>
              <a:tblGrid>
                <a:gridCol w="889300"/>
                <a:gridCol w="1350750"/>
                <a:gridCol w="1223075"/>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Female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GoT</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0.16</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0.24</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BB</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0.05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TBBT</a:t>
                      </a:r>
                      <a:endParaRPr sz="1300">
                        <a:solidFill>
                          <a:schemeClr val="dk2"/>
                        </a:solidFill>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39" name="Google Shape;639;p39"/>
          <p:cNvSpPr txBox="1"/>
          <p:nvPr/>
        </p:nvSpPr>
        <p:spPr>
          <a:xfrm>
            <a:off x="713300" y="2962350"/>
            <a:ext cx="7715100" cy="1683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P(GoT | Male) = P(GoT, Male) / P(Male) = 0.16 / 0.46 = 0.3478</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P(Male | GoT) = P(Male, GoT) / P(GoT) = 0.16 / 0.4 = 0.4</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P(TBBT | Female) = ? Do it yourself</a:t>
            </a:r>
            <a:endParaRPr>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cxnSp>
        <p:nvCxnSpPr>
          <p:cNvPr id="644" name="Google Shape;644;p4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45" name="Google Shape;645;p4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46" name="Google Shape;646;p4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47" name="Google Shape;647;p4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8" name="Google Shape;648;p4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40"/>
          <p:cNvSpPr txBox="1"/>
          <p:nvPr/>
        </p:nvSpPr>
        <p:spPr>
          <a:xfrm>
            <a:off x="462779" y="42925"/>
            <a:ext cx="8210700" cy="869700"/>
          </a:xfrm>
          <a:prstGeom prst="rect">
            <a:avLst/>
          </a:prstGeom>
          <a:noFill/>
          <a:ln>
            <a:noFill/>
          </a:ln>
        </p:spPr>
        <p:txBody>
          <a:bodyPr anchorCtr="0" anchor="t" bIns="34275" lIns="68575" spcFirstLastPara="1" rIns="68575" wrap="square" tIns="34275">
            <a:spAutoFit/>
          </a:bodyPr>
          <a:lstStyle/>
          <a:p>
            <a:pPr indent="0" lvl="0" marL="0" rtl="0" algn="ctr">
              <a:spcBef>
                <a:spcPts val="0"/>
              </a:spcBef>
              <a:spcAft>
                <a:spcPts val="0"/>
              </a:spcAft>
              <a:buClr>
                <a:schemeClr val="dk2"/>
              </a:buClr>
              <a:buFont typeface="Arial"/>
              <a:buNone/>
            </a:pPr>
            <a:r>
              <a:rPr b="1" lang="en" sz="2600">
                <a:solidFill>
                  <a:srgbClr val="940A15"/>
                </a:solidFill>
                <a:latin typeface="Montserrat"/>
                <a:ea typeface="Montserrat"/>
                <a:cs typeface="Montserrat"/>
                <a:sym typeface="Montserrat"/>
              </a:rPr>
              <a:t>Conditional Probability</a:t>
            </a:r>
            <a:endParaRPr b="1" sz="2600">
              <a:solidFill>
                <a:srgbClr val="940A15"/>
              </a:solidFill>
              <a:latin typeface="Montserrat"/>
              <a:ea typeface="Montserrat"/>
              <a:cs typeface="Montserrat"/>
              <a:sym typeface="Montserrat"/>
            </a:endParaRPr>
          </a:p>
          <a:p>
            <a:pPr indent="0" lvl="0" marL="0" marR="0" rtl="0" algn="ctr">
              <a:spcBef>
                <a:spcPts val="0"/>
              </a:spcBef>
              <a:spcAft>
                <a:spcPts val="0"/>
              </a:spcAft>
              <a:buNone/>
            </a:pPr>
            <a:r>
              <a:t/>
            </a:r>
            <a:endParaRPr b="1" sz="2600">
              <a:solidFill>
                <a:srgbClr val="940A15"/>
              </a:solidFill>
              <a:latin typeface="Montserrat"/>
              <a:ea typeface="Montserrat"/>
              <a:cs typeface="Montserrat"/>
              <a:sym typeface="Montserrat"/>
            </a:endParaRPr>
          </a:p>
        </p:txBody>
      </p:sp>
      <p:sp>
        <p:nvSpPr>
          <p:cNvPr id="650" name="Google Shape;650;p4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51" name="Google Shape;651;p40"/>
          <p:cNvSpPr txBox="1"/>
          <p:nvPr/>
        </p:nvSpPr>
        <p:spPr>
          <a:xfrm>
            <a:off x="543150" y="631000"/>
            <a:ext cx="77808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From the joint probability distribution given above, find the probability that a randomly selected person is:</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Male given right handed</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Right handed given male</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Female given left handed</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Are the events “being female” and “being left handed” INDEPENDENT?</a:t>
            </a:r>
            <a:endParaRPr>
              <a:solidFill>
                <a:schemeClr val="dk2"/>
              </a:solidFill>
              <a:latin typeface="Montserrat Medium"/>
              <a:ea typeface="Montserrat Medium"/>
              <a:cs typeface="Montserrat Medium"/>
              <a:sym typeface="Montserrat Medium"/>
            </a:endParaRPr>
          </a:p>
        </p:txBody>
      </p:sp>
      <p:sp>
        <p:nvSpPr>
          <p:cNvPr id="652" name="Google Shape;652;p4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53" name="Google Shape;653;p4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654" name="Google Shape;654;p40"/>
          <p:cNvGraphicFramePr/>
          <p:nvPr/>
        </p:nvGraphicFramePr>
        <p:xfrm>
          <a:off x="2922075" y="758650"/>
          <a:ext cx="3000000" cy="3000000"/>
        </p:xfrm>
        <a:graphic>
          <a:graphicData uri="http://schemas.openxmlformats.org/drawingml/2006/table">
            <a:tbl>
              <a:tblPr>
                <a:noFill/>
                <a:tableStyleId>{D337579A-5A14-4019-876A-0D022D41D2FB}</a:tableStyleId>
              </a:tblPr>
              <a:tblGrid>
                <a:gridCol w="889300"/>
                <a:gridCol w="1350750"/>
                <a:gridCol w="1223075"/>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Right handed</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Left handed</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Male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0.41</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0.08</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Female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0.45</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cxnSp>
        <p:nvCxnSpPr>
          <p:cNvPr id="659" name="Google Shape;659;p4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60" name="Google Shape;660;p4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61" name="Google Shape;661;p4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62" name="Google Shape;662;p4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3" name="Google Shape;663;p4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4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rtl="0" algn="ctr">
              <a:spcBef>
                <a:spcPts val="0"/>
              </a:spcBef>
              <a:spcAft>
                <a:spcPts val="0"/>
              </a:spcAft>
              <a:buNone/>
            </a:pPr>
            <a:r>
              <a:rPr b="1" lang="en" sz="2600">
                <a:solidFill>
                  <a:srgbClr val="940A15"/>
                </a:solidFill>
                <a:latin typeface="Montserrat"/>
                <a:ea typeface="Montserrat"/>
                <a:cs typeface="Montserrat"/>
                <a:sym typeface="Montserrat"/>
              </a:rPr>
              <a:t>Conditional Probability</a:t>
            </a:r>
            <a:endParaRPr b="1" sz="2600">
              <a:solidFill>
                <a:srgbClr val="940A15"/>
              </a:solidFill>
              <a:latin typeface="Montserrat"/>
              <a:ea typeface="Montserrat"/>
              <a:cs typeface="Montserrat"/>
              <a:sym typeface="Montserrat"/>
            </a:endParaRPr>
          </a:p>
        </p:txBody>
      </p:sp>
      <p:sp>
        <p:nvSpPr>
          <p:cNvPr id="665" name="Google Shape;665;p4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66" name="Google Shape;666;p41"/>
          <p:cNvSpPr txBox="1"/>
          <p:nvPr/>
        </p:nvSpPr>
        <p:spPr>
          <a:xfrm>
            <a:off x="543150" y="631000"/>
            <a:ext cx="80817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From the joint probability distribution given above, find the probability that a randomly selected person is:</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Male given right handed [0.477]</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Right handed given male [0.837]</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Female given left handed [0.429]</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Are the events “being female” and “being left handed” INDEPENDENT? [No]</a:t>
            </a:r>
            <a:endParaRPr>
              <a:solidFill>
                <a:schemeClr val="dk2"/>
              </a:solidFill>
              <a:latin typeface="Montserrat Medium"/>
              <a:ea typeface="Montserrat Medium"/>
              <a:cs typeface="Montserrat Medium"/>
              <a:sym typeface="Montserrat Medium"/>
            </a:endParaRPr>
          </a:p>
        </p:txBody>
      </p:sp>
      <p:sp>
        <p:nvSpPr>
          <p:cNvPr id="667" name="Google Shape;667;p4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68" name="Google Shape;668;p41"/>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669" name="Google Shape;669;p41"/>
          <p:cNvGraphicFramePr/>
          <p:nvPr/>
        </p:nvGraphicFramePr>
        <p:xfrm>
          <a:off x="2922075" y="758650"/>
          <a:ext cx="3000000" cy="3000000"/>
        </p:xfrm>
        <a:graphic>
          <a:graphicData uri="http://schemas.openxmlformats.org/drawingml/2006/table">
            <a:tbl>
              <a:tblPr>
                <a:noFill/>
                <a:tableStyleId>{D337579A-5A14-4019-876A-0D022D41D2FB}</a:tableStyleId>
              </a:tblPr>
              <a:tblGrid>
                <a:gridCol w="889300"/>
                <a:gridCol w="1350750"/>
                <a:gridCol w="1223075"/>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Right handed</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Left handed</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Male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0.41</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0.08</a:t>
                      </a:r>
                      <a:endParaRPr sz="1300">
                        <a:latin typeface="Montserrat Medium"/>
                        <a:ea typeface="Montserrat Medium"/>
                        <a:cs typeface="Montserrat Medium"/>
                        <a:sym typeface="Montserrat Medium"/>
                      </a:endParaRPr>
                    </a:p>
                  </a:txBody>
                  <a:tcPr marT="91425" marB="91425" marR="91425" marL="91425"/>
                </a:tc>
              </a:tr>
              <a:tr h="48782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Female</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0.45</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cxnSp>
        <p:nvCxnSpPr>
          <p:cNvPr id="674" name="Google Shape;674;p4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75" name="Google Shape;675;p4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76" name="Google Shape;676;p4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77" name="Google Shape;677;p4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8" name="Google Shape;678;p4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79" name="Google Shape;679;p4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Marginal Probability</a:t>
            </a:r>
            <a:endParaRPr b="1" i="0" sz="2600" u="none" cap="none" strike="noStrike">
              <a:solidFill>
                <a:srgbClr val="940A15"/>
              </a:solidFill>
              <a:latin typeface="Montserrat"/>
              <a:ea typeface="Montserrat"/>
              <a:cs typeface="Montserrat"/>
              <a:sym typeface="Montserrat"/>
            </a:endParaRPr>
          </a:p>
        </p:txBody>
      </p:sp>
      <p:sp>
        <p:nvSpPr>
          <p:cNvPr id="680" name="Google Shape;680;p4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81" name="Google Shape;681;p42"/>
          <p:cNvSpPr txBox="1"/>
          <p:nvPr/>
        </p:nvSpPr>
        <p:spPr>
          <a:xfrm>
            <a:off x="409375" y="6419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682" name="Google Shape;682;p4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83" name="Google Shape;683;p4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84" name="Google Shape;684;p42"/>
          <p:cNvSpPr txBox="1"/>
          <p:nvPr/>
        </p:nvSpPr>
        <p:spPr>
          <a:xfrm>
            <a:off x="713300" y="2962350"/>
            <a:ext cx="7715100" cy="1683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Consider three Boolean RV Toothache, Cavity, and ShowsOnXRay</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P(cavity) = ?</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P(toothache) = ?</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P(cavity ∨ toothache) = ?</a:t>
            </a:r>
            <a:endParaRPr>
              <a:solidFill>
                <a:schemeClr val="dk1"/>
              </a:solidFill>
              <a:latin typeface="Montserrat Medium"/>
              <a:ea typeface="Montserrat Medium"/>
              <a:cs typeface="Montserrat Medium"/>
              <a:sym typeface="Montserrat Medium"/>
            </a:endParaRPr>
          </a:p>
        </p:txBody>
      </p:sp>
      <p:graphicFrame>
        <p:nvGraphicFramePr>
          <p:cNvPr id="685" name="Google Shape;685;p42"/>
          <p:cNvGraphicFramePr/>
          <p:nvPr/>
        </p:nvGraphicFramePr>
        <p:xfrm>
          <a:off x="2189150" y="758650"/>
          <a:ext cx="3000000" cy="3000000"/>
        </p:xfrm>
        <a:graphic>
          <a:graphicData uri="http://schemas.openxmlformats.org/drawingml/2006/table">
            <a:tbl>
              <a:tblPr>
                <a:noFill/>
                <a:tableStyleId>{D337579A-5A14-4019-876A-0D022D41D2FB}</a:tableStyleId>
              </a:tblPr>
              <a:tblGrid>
                <a:gridCol w="920350"/>
                <a:gridCol w="857050"/>
                <a:gridCol w="847650"/>
                <a:gridCol w="919650"/>
                <a:gridCol w="847650"/>
              </a:tblGrid>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gridSpan="2">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hMerge="1"/>
                <a:tc gridSpan="2">
                  <a:txBody>
                    <a:bodyPr/>
                    <a:lstStyle/>
                    <a:p>
                      <a:pPr indent="0" lvl="0" marL="0" rtl="0" algn="ctr">
                        <a:spcBef>
                          <a:spcPts val="0"/>
                        </a:spcBef>
                        <a:spcAft>
                          <a:spcPts val="0"/>
                        </a:spcAft>
                        <a:buClr>
                          <a:schemeClr val="dk2"/>
                        </a:buClr>
                        <a:buSzPts val="1100"/>
                        <a:buFont typeface="Arial"/>
                        <a:buNone/>
                      </a:pPr>
                      <a:r>
                        <a:rPr lang="en" sz="1300">
                          <a:solidFill>
                            <a:schemeClr val="dk2"/>
                          </a:solidFill>
                          <a:latin typeface="Montserrat Medium"/>
                          <a:ea typeface="Montserrat Medium"/>
                          <a:cs typeface="Montserrat Medium"/>
                          <a:sym typeface="Montserrat Medium"/>
                        </a:rPr>
                        <a:t>¬toothache</a:t>
                      </a:r>
                      <a:endParaRPr sz="1300">
                        <a:solidFill>
                          <a:schemeClr val="dk2"/>
                        </a:solidFill>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hMerge="1"/>
              </a:tr>
              <a:tr h="48782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Clr>
                          <a:schemeClr val="dk2"/>
                        </a:buClr>
                        <a:buSzPts val="1100"/>
                        <a:buFont typeface="Arial"/>
                        <a:buNone/>
                      </a:pPr>
                      <a:r>
                        <a:rPr lang="en" sz="1300">
                          <a:solidFill>
                            <a:schemeClr val="dk2"/>
                          </a:solidFill>
                          <a:latin typeface="Montserrat Medium"/>
                          <a:ea typeface="Montserrat Medium"/>
                          <a:cs typeface="Montserrat Medium"/>
                          <a:sym typeface="Montserrat Medium"/>
                        </a:rPr>
                        <a:t>¬</a:t>
                      </a:r>
                      <a:r>
                        <a:rPr lang="en" sz="1300">
                          <a:solidFill>
                            <a:schemeClr val="dk2"/>
                          </a:solidFill>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782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0.072</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0.008</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r>
              <a:tr h="487825">
                <a:tc>
                  <a:txBody>
                    <a:bodyPr/>
                    <a:lstStyle/>
                    <a:p>
                      <a:pPr indent="0" lvl="0" marL="0" rtl="0" algn="ctr">
                        <a:spcBef>
                          <a:spcPts val="0"/>
                        </a:spcBef>
                        <a:spcAft>
                          <a:spcPts val="0"/>
                        </a:spcAft>
                        <a:buClr>
                          <a:schemeClr val="dk2"/>
                        </a:buClr>
                        <a:buSzPts val="1100"/>
                        <a:buFont typeface="Arial"/>
                        <a:buNone/>
                      </a:pPr>
                      <a:r>
                        <a:rPr lang="en" sz="1300">
                          <a:solidFill>
                            <a:schemeClr val="dk2"/>
                          </a:solidFill>
                          <a:latin typeface="Montserrat Medium"/>
                          <a:ea typeface="Montserrat Medium"/>
                          <a:cs typeface="Montserrat Medium"/>
                          <a:sym typeface="Montserrat Medium"/>
                        </a:rPr>
                        <a:t>¬</a:t>
                      </a: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0.016</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0.144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0.576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cxnSp>
        <p:nvCxnSpPr>
          <p:cNvPr id="690" name="Google Shape;690;p4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91" name="Google Shape;691;p4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92" name="Google Shape;692;p4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93" name="Google Shape;693;p4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4" name="Google Shape;694;p4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95" name="Google Shape;695;p4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Marginal Probability via Conditioning</a:t>
            </a:r>
            <a:endParaRPr b="1" i="0" sz="2600" u="none" cap="none" strike="noStrike">
              <a:solidFill>
                <a:srgbClr val="940A15"/>
              </a:solidFill>
              <a:latin typeface="Montserrat"/>
              <a:ea typeface="Montserrat"/>
              <a:cs typeface="Montserrat"/>
              <a:sym typeface="Montserrat"/>
            </a:endParaRPr>
          </a:p>
        </p:txBody>
      </p:sp>
      <p:sp>
        <p:nvSpPr>
          <p:cNvPr id="696" name="Google Shape;696;p4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97" name="Google Shape;697;p43"/>
          <p:cNvSpPr txBox="1"/>
          <p:nvPr/>
        </p:nvSpPr>
        <p:spPr>
          <a:xfrm>
            <a:off x="409375" y="641901"/>
            <a:ext cx="82641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p:txBody>
      </p:sp>
      <p:sp>
        <p:nvSpPr>
          <p:cNvPr id="698" name="Google Shape;698;p4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99" name="Google Shape;699;p4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00" name="Google Shape;700;p43"/>
          <p:cNvSpPr txBox="1"/>
          <p:nvPr/>
        </p:nvSpPr>
        <p:spPr>
          <a:xfrm>
            <a:off x="714500" y="2488500"/>
            <a:ext cx="7715100" cy="21054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If A and B are two boolean RVs,</a:t>
            </a:r>
            <a:endParaRPr>
              <a:solidFill>
                <a:schemeClr val="dk1"/>
              </a:solidFill>
              <a:latin typeface="Montserrat Medium"/>
              <a:ea typeface="Montserrat Medium"/>
              <a:cs typeface="Montserrat Medium"/>
              <a:sym typeface="Montserrat Medium"/>
            </a:endParaRPr>
          </a:p>
          <a:p>
            <a:pPr indent="-317500" lvl="1" marL="9144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P(a) = P(a ^ b) + P (a ^ </a:t>
            </a:r>
            <a:r>
              <a:rPr lang="en" sz="1300">
                <a:solidFill>
                  <a:schemeClr val="dk2"/>
                </a:solidFill>
                <a:latin typeface="Montserrat Medium"/>
                <a:ea typeface="Montserrat Medium"/>
                <a:cs typeface="Montserrat Medium"/>
                <a:sym typeface="Montserrat Medium"/>
              </a:rPr>
              <a:t>¬b) [easier to find if Joint distribution table given]</a:t>
            </a:r>
            <a:endParaRPr sz="1300">
              <a:solidFill>
                <a:schemeClr val="dk2"/>
              </a:solidFill>
              <a:latin typeface="Montserrat Medium"/>
              <a:ea typeface="Montserrat Medium"/>
              <a:cs typeface="Montserrat Medium"/>
              <a:sym typeface="Montserrat Medium"/>
            </a:endParaRPr>
          </a:p>
          <a:p>
            <a:pPr indent="-317500" lvl="1" marL="9144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In other words, P(a) = P(a | b) × P(b) + P(a | </a:t>
            </a:r>
            <a:r>
              <a:rPr lang="en" sz="1300">
                <a:solidFill>
                  <a:schemeClr val="dk2"/>
                </a:solidFill>
                <a:latin typeface="Montserrat Medium"/>
                <a:ea typeface="Montserrat Medium"/>
                <a:cs typeface="Montserrat Medium"/>
                <a:sym typeface="Montserrat Medium"/>
              </a:rPr>
              <a:t>¬b) × P(¬b) [if table not given]</a:t>
            </a:r>
            <a:endParaRPr>
              <a:solidFill>
                <a:schemeClr val="dk1"/>
              </a:solidFill>
              <a:latin typeface="Montserrat Medium"/>
              <a:ea typeface="Montserrat Medium"/>
              <a:cs typeface="Montserrat Medium"/>
              <a:sym typeface="Montserrat Medium"/>
            </a:endParaRPr>
          </a:p>
          <a:p>
            <a:pPr indent="-317500" lvl="0" marL="457200" rtl="0" algn="l">
              <a:lnSpc>
                <a:spcPct val="150000"/>
              </a:lnSpc>
              <a:spcBef>
                <a:spcPts val="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P(cavity) = P(cavity ^ shows ^ toothache) + </a:t>
            </a:r>
            <a:r>
              <a:rPr lang="en">
                <a:solidFill>
                  <a:schemeClr val="dk1"/>
                </a:solidFill>
                <a:latin typeface="Montserrat Medium"/>
                <a:ea typeface="Montserrat Medium"/>
                <a:cs typeface="Montserrat Medium"/>
                <a:sym typeface="Montserrat Medium"/>
              </a:rPr>
              <a:t>P(cavity ^ </a:t>
            </a:r>
            <a:r>
              <a:rPr lang="en" sz="1300">
                <a:solidFill>
                  <a:schemeClr val="dk2"/>
                </a:solidFill>
                <a:latin typeface="Montserrat Medium"/>
                <a:ea typeface="Montserrat Medium"/>
                <a:cs typeface="Montserrat Medium"/>
                <a:sym typeface="Montserrat Medium"/>
              </a:rPr>
              <a:t>¬</a:t>
            </a:r>
            <a:r>
              <a:rPr lang="en">
                <a:solidFill>
                  <a:schemeClr val="dk1"/>
                </a:solidFill>
                <a:latin typeface="Montserrat Medium"/>
                <a:ea typeface="Montserrat Medium"/>
                <a:cs typeface="Montserrat Medium"/>
                <a:sym typeface="Montserrat Medium"/>
              </a:rPr>
              <a:t>shows ^ toothache) +            P(cavity ^ shows ^ </a:t>
            </a:r>
            <a:r>
              <a:rPr lang="en" sz="1300">
                <a:solidFill>
                  <a:schemeClr val="dk2"/>
                </a:solidFill>
                <a:latin typeface="Montserrat Medium"/>
                <a:ea typeface="Montserrat Medium"/>
                <a:cs typeface="Montserrat Medium"/>
                <a:sym typeface="Montserrat Medium"/>
              </a:rPr>
              <a:t>¬</a:t>
            </a:r>
            <a:r>
              <a:rPr lang="en">
                <a:solidFill>
                  <a:schemeClr val="dk1"/>
                </a:solidFill>
                <a:latin typeface="Montserrat Medium"/>
                <a:ea typeface="Montserrat Medium"/>
                <a:cs typeface="Montserrat Medium"/>
                <a:sym typeface="Montserrat Medium"/>
              </a:rPr>
              <a:t>toothache) + P(cavity ^ </a:t>
            </a:r>
            <a:r>
              <a:rPr lang="en" sz="1300">
                <a:solidFill>
                  <a:schemeClr val="dk2"/>
                </a:solidFill>
                <a:latin typeface="Montserrat Medium"/>
                <a:ea typeface="Montserrat Medium"/>
                <a:cs typeface="Montserrat Medium"/>
                <a:sym typeface="Montserrat Medium"/>
              </a:rPr>
              <a:t>¬</a:t>
            </a:r>
            <a:r>
              <a:rPr lang="en">
                <a:solidFill>
                  <a:schemeClr val="dk1"/>
                </a:solidFill>
                <a:latin typeface="Montserrat Medium"/>
                <a:ea typeface="Montserrat Medium"/>
                <a:cs typeface="Montserrat Medium"/>
                <a:sym typeface="Montserrat Medium"/>
              </a:rPr>
              <a:t>shows ^ </a:t>
            </a:r>
            <a:r>
              <a:rPr lang="en" sz="1300">
                <a:solidFill>
                  <a:schemeClr val="dk2"/>
                </a:solidFill>
                <a:latin typeface="Montserrat Medium"/>
                <a:ea typeface="Montserrat Medium"/>
                <a:cs typeface="Montserrat Medium"/>
                <a:sym typeface="Montserrat Medium"/>
              </a:rPr>
              <a:t>¬</a:t>
            </a:r>
            <a:r>
              <a:rPr lang="en">
                <a:solidFill>
                  <a:schemeClr val="dk1"/>
                </a:solidFill>
                <a:latin typeface="Montserrat Medium"/>
                <a:ea typeface="Montserrat Medium"/>
                <a:cs typeface="Montserrat Medium"/>
                <a:sym typeface="Montserrat Medium"/>
              </a:rPr>
              <a:t>toothache)</a:t>
            </a:r>
            <a:r>
              <a:rPr lang="en">
                <a:solidFill>
                  <a:schemeClr val="dk1"/>
                </a:solidFill>
                <a:latin typeface="Montserrat Medium"/>
                <a:ea typeface="Montserrat Medium"/>
                <a:cs typeface="Montserrat Medium"/>
                <a:sym typeface="Montserrat Medium"/>
              </a:rPr>
              <a:t> </a:t>
            </a:r>
            <a:endParaRPr>
              <a:solidFill>
                <a:schemeClr val="dk1"/>
              </a:solidFill>
              <a:latin typeface="Montserrat Medium"/>
              <a:ea typeface="Montserrat Medium"/>
              <a:cs typeface="Montserrat Medium"/>
              <a:sym typeface="Montserrat Medium"/>
            </a:endParaRPr>
          </a:p>
        </p:txBody>
      </p:sp>
      <p:graphicFrame>
        <p:nvGraphicFramePr>
          <p:cNvPr id="701" name="Google Shape;701;p43"/>
          <p:cNvGraphicFramePr/>
          <p:nvPr/>
        </p:nvGraphicFramePr>
        <p:xfrm>
          <a:off x="2189150" y="758650"/>
          <a:ext cx="3000000" cy="3000000"/>
        </p:xfrm>
        <a:graphic>
          <a:graphicData uri="http://schemas.openxmlformats.org/drawingml/2006/table">
            <a:tbl>
              <a:tblPr>
                <a:noFill/>
                <a:tableStyleId>{D337579A-5A14-4019-876A-0D022D41D2FB}</a:tableStyleId>
              </a:tblPr>
              <a:tblGrid>
                <a:gridCol w="862750"/>
                <a:gridCol w="757600"/>
                <a:gridCol w="840425"/>
                <a:gridCol w="803200"/>
                <a:gridCol w="853500"/>
              </a:tblGrid>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gridSpan="2">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hMerge="1"/>
                <a:tc gridSpan="2">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solidFill>
                          <a:schemeClr val="dk2"/>
                        </a:solidFill>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hMerge="1"/>
              </a:tr>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0050">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0.072</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0.008</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r>
              <a:tr h="370050">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0.016</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0.144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0.576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cxnSp>
        <p:nvCxnSpPr>
          <p:cNvPr id="706" name="Google Shape;706;p4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07" name="Google Shape;707;p4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08" name="Google Shape;708;p4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09" name="Google Shape;709;p4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0" name="Google Shape;710;p4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11" name="Google Shape;711;p4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BAYES’ Rule</a:t>
            </a:r>
            <a:endParaRPr b="1" i="0" sz="2600" u="none" cap="none" strike="noStrike">
              <a:solidFill>
                <a:srgbClr val="940A15"/>
              </a:solidFill>
              <a:latin typeface="Montserrat"/>
              <a:ea typeface="Montserrat"/>
              <a:cs typeface="Montserrat"/>
              <a:sym typeface="Montserrat"/>
            </a:endParaRPr>
          </a:p>
        </p:txBody>
      </p:sp>
      <p:sp>
        <p:nvSpPr>
          <p:cNvPr id="712" name="Google Shape;712;p4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13" name="Google Shape;713;p44"/>
          <p:cNvSpPr txBox="1"/>
          <p:nvPr/>
        </p:nvSpPr>
        <p:spPr>
          <a:xfrm>
            <a:off x="543150" y="631000"/>
            <a:ext cx="77808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From the formula of conditional probability </a:t>
            </a:r>
            <a:r>
              <a:rPr lang="en">
                <a:solidFill>
                  <a:schemeClr val="dk2"/>
                </a:solidFill>
                <a:latin typeface="Montserrat Medium"/>
                <a:ea typeface="Montserrat Medium"/>
                <a:cs typeface="Montserrat Medium"/>
                <a:sym typeface="Montserrat Medium"/>
              </a:rPr>
              <a:t>P(x ∣ y)  =  P(x, y) / P(y), we can infer: P(x, y) = P (x | y) × P(y) [called the product rule]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Similarly, P(x, y) =  P (y | x) × P(x)</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Dividing we get:</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 other words:</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 Why is this SO important?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It is hard to know the cause, but it is easy to see the effect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Using this formula, we can infer the cause by analyzing the effect</a:t>
            </a:r>
            <a:endParaRPr>
              <a:solidFill>
                <a:schemeClr val="dk2"/>
              </a:solidFill>
              <a:latin typeface="Montserrat Medium"/>
              <a:ea typeface="Montserrat Medium"/>
              <a:cs typeface="Montserrat Medium"/>
              <a:sym typeface="Montserrat Medium"/>
            </a:endParaRPr>
          </a:p>
        </p:txBody>
      </p:sp>
      <p:sp>
        <p:nvSpPr>
          <p:cNvPr id="714" name="Google Shape;714;p4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15" name="Google Shape;715;p4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716" name="Google Shape;716;p44" title="bayes-1.png"/>
          <p:cNvPicPr preferRelativeResize="0"/>
          <p:nvPr/>
        </p:nvPicPr>
        <p:blipFill>
          <a:blip r:embed="rId3">
            <a:alphaModFix/>
          </a:blip>
          <a:stretch>
            <a:fillRect/>
          </a:stretch>
        </p:blipFill>
        <p:spPr>
          <a:xfrm>
            <a:off x="2929700" y="1574100"/>
            <a:ext cx="2861625" cy="850200"/>
          </a:xfrm>
          <a:prstGeom prst="rect">
            <a:avLst/>
          </a:prstGeom>
          <a:noFill/>
          <a:ln>
            <a:noFill/>
          </a:ln>
        </p:spPr>
      </p:pic>
      <p:pic>
        <p:nvPicPr>
          <p:cNvPr id="717" name="Google Shape;717;p44" title="bayes-2.png"/>
          <p:cNvPicPr preferRelativeResize="0"/>
          <p:nvPr/>
        </p:nvPicPr>
        <p:blipFill>
          <a:blip r:embed="rId4">
            <a:alphaModFix/>
          </a:blip>
          <a:stretch>
            <a:fillRect/>
          </a:stretch>
        </p:blipFill>
        <p:spPr>
          <a:xfrm>
            <a:off x="2687200" y="2576700"/>
            <a:ext cx="4628876" cy="7824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cxnSp>
        <p:nvCxnSpPr>
          <p:cNvPr id="722" name="Google Shape;722;p4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23" name="Google Shape;723;p4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24" name="Google Shape;724;p4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25" name="Google Shape;725;p4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6" name="Google Shape;726;p4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27" name="Google Shape;727;p4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BAYES’ Rule</a:t>
            </a:r>
            <a:endParaRPr b="1" i="0" sz="2600" u="none" cap="none" strike="noStrike">
              <a:solidFill>
                <a:srgbClr val="940A15"/>
              </a:solidFill>
              <a:latin typeface="Montserrat"/>
              <a:ea typeface="Montserrat"/>
              <a:cs typeface="Montserrat"/>
              <a:sym typeface="Montserrat"/>
            </a:endParaRPr>
          </a:p>
        </p:txBody>
      </p:sp>
      <p:sp>
        <p:nvSpPr>
          <p:cNvPr id="728" name="Google Shape;728;p4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29" name="Google Shape;729;p4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30" name="Google Shape;730;p4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731" name="Google Shape;731;p45"/>
          <p:cNvPicPr preferRelativeResize="0"/>
          <p:nvPr/>
        </p:nvPicPr>
        <p:blipFill>
          <a:blip r:embed="rId3">
            <a:alphaModFix/>
          </a:blip>
          <a:stretch>
            <a:fillRect/>
          </a:stretch>
        </p:blipFill>
        <p:spPr>
          <a:xfrm>
            <a:off x="813325" y="804475"/>
            <a:ext cx="7628301" cy="1590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cxnSp>
        <p:nvCxnSpPr>
          <p:cNvPr id="736" name="Google Shape;736;p4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37" name="Google Shape;737;p4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38" name="Google Shape;738;p4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39" name="Google Shape;739;p4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0" name="Google Shape;740;p4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41" name="Google Shape;741;p4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BAYES’ Rule</a:t>
            </a:r>
            <a:endParaRPr b="1" i="0" sz="2600" u="none" cap="none" strike="noStrike">
              <a:solidFill>
                <a:srgbClr val="940A15"/>
              </a:solidFill>
              <a:latin typeface="Montserrat"/>
              <a:ea typeface="Montserrat"/>
              <a:cs typeface="Montserrat"/>
              <a:sym typeface="Montserrat"/>
            </a:endParaRPr>
          </a:p>
        </p:txBody>
      </p:sp>
      <p:sp>
        <p:nvSpPr>
          <p:cNvPr id="742" name="Google Shape;742;p4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43" name="Google Shape;743;p4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44" name="Google Shape;744;p4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745" name="Google Shape;745;p46"/>
          <p:cNvPicPr preferRelativeResize="0"/>
          <p:nvPr/>
        </p:nvPicPr>
        <p:blipFill>
          <a:blip r:embed="rId3">
            <a:alphaModFix/>
          </a:blip>
          <a:stretch>
            <a:fillRect/>
          </a:stretch>
        </p:blipFill>
        <p:spPr>
          <a:xfrm>
            <a:off x="813325" y="728275"/>
            <a:ext cx="7121458" cy="1485013"/>
          </a:xfrm>
          <a:prstGeom prst="rect">
            <a:avLst/>
          </a:prstGeom>
          <a:noFill/>
          <a:ln>
            <a:noFill/>
          </a:ln>
        </p:spPr>
      </p:pic>
      <p:pic>
        <p:nvPicPr>
          <p:cNvPr id="746" name="Google Shape;746;p46"/>
          <p:cNvPicPr preferRelativeResize="0"/>
          <p:nvPr/>
        </p:nvPicPr>
        <p:blipFill>
          <a:blip r:embed="rId4">
            <a:alphaModFix/>
          </a:blip>
          <a:stretch>
            <a:fillRect/>
          </a:stretch>
        </p:blipFill>
        <p:spPr>
          <a:xfrm>
            <a:off x="1569575" y="2318975"/>
            <a:ext cx="5229523" cy="1886899"/>
          </a:xfrm>
          <a:prstGeom prst="rect">
            <a:avLst/>
          </a:prstGeom>
          <a:noFill/>
          <a:ln>
            <a:noFill/>
          </a:ln>
        </p:spPr>
      </p:pic>
      <p:sp>
        <p:nvSpPr>
          <p:cNvPr id="747" name="Google Shape;747;p46"/>
          <p:cNvSpPr txBox="1"/>
          <p:nvPr/>
        </p:nvSpPr>
        <p:spPr>
          <a:xfrm>
            <a:off x="1001225" y="4273150"/>
            <a:ext cx="3243000" cy="5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Montserrat Medium"/>
                <a:ea typeface="Montserrat Medium"/>
                <a:cs typeface="Montserrat Medium"/>
                <a:sym typeface="Montserrat Medium"/>
              </a:rPr>
              <a:t>Note: If A and B are boolean RV:</a:t>
            </a:r>
            <a:endParaRPr sz="1500">
              <a:solidFill>
                <a:schemeClr val="dk1"/>
              </a:solidFill>
              <a:latin typeface="Montserrat Medium"/>
              <a:ea typeface="Montserrat Medium"/>
              <a:cs typeface="Montserrat Medium"/>
              <a:sym typeface="Montserrat Medium"/>
            </a:endParaRPr>
          </a:p>
        </p:txBody>
      </p:sp>
      <p:sp>
        <p:nvSpPr>
          <p:cNvPr id="748" name="Google Shape;748;p46"/>
          <p:cNvSpPr txBox="1"/>
          <p:nvPr/>
        </p:nvSpPr>
        <p:spPr>
          <a:xfrm>
            <a:off x="4244225" y="4205875"/>
            <a:ext cx="2429700" cy="5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Montserrat Medium"/>
                <a:ea typeface="Montserrat Medium"/>
                <a:cs typeface="Montserrat Medium"/>
                <a:sym typeface="Montserrat Medium"/>
              </a:rPr>
              <a:t>P</a:t>
            </a:r>
            <a:r>
              <a:rPr lang="en" sz="1500">
                <a:solidFill>
                  <a:schemeClr val="dk1"/>
                </a:solidFill>
                <a:latin typeface="Montserrat Medium"/>
                <a:ea typeface="Montserrat Medium"/>
                <a:cs typeface="Montserrat Medium"/>
                <a:sym typeface="Montserrat Medium"/>
              </a:rPr>
              <a:t>(a | b) + P (</a:t>
            </a:r>
            <a:r>
              <a:rPr lang="en" sz="1300">
                <a:solidFill>
                  <a:schemeClr val="dk2"/>
                </a:solidFill>
                <a:latin typeface="Montserrat Medium"/>
                <a:ea typeface="Montserrat Medium"/>
                <a:cs typeface="Montserrat Medium"/>
                <a:sym typeface="Montserrat Medium"/>
              </a:rPr>
              <a:t>¬</a:t>
            </a:r>
            <a:r>
              <a:rPr lang="en" sz="1500">
                <a:solidFill>
                  <a:schemeClr val="dk1"/>
                </a:solidFill>
                <a:latin typeface="Montserrat Medium"/>
                <a:ea typeface="Montserrat Medium"/>
                <a:cs typeface="Montserrat Medium"/>
                <a:sym typeface="Montserrat Medium"/>
              </a:rPr>
              <a:t>a | b) = 1</a:t>
            </a:r>
            <a:endParaRPr sz="15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rPr lang="en" sz="1500">
                <a:solidFill>
                  <a:schemeClr val="dk1"/>
                </a:solidFill>
                <a:latin typeface="Montserrat Medium"/>
                <a:ea typeface="Montserrat Medium"/>
                <a:cs typeface="Montserrat Medium"/>
                <a:sym typeface="Montserrat Medium"/>
              </a:rPr>
              <a:t>P(a, b) + P (a, </a:t>
            </a:r>
            <a:r>
              <a:rPr lang="en" sz="1300">
                <a:solidFill>
                  <a:schemeClr val="dk2"/>
                </a:solidFill>
                <a:latin typeface="Montserrat Medium"/>
                <a:ea typeface="Montserrat Medium"/>
                <a:cs typeface="Montserrat Medium"/>
                <a:sym typeface="Montserrat Medium"/>
              </a:rPr>
              <a:t>¬b) = P(a)</a:t>
            </a:r>
            <a:endParaRPr sz="1500">
              <a:solidFill>
                <a:schemeClr val="dk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cxnSp>
        <p:nvCxnSpPr>
          <p:cNvPr id="753" name="Google Shape;753;p4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54" name="Google Shape;754;p4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55" name="Google Shape;755;p4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56" name="Google Shape;756;p4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7" name="Google Shape;757;p4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58" name="Google Shape;758;p4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BAYES’ Rule</a:t>
            </a:r>
            <a:endParaRPr b="1" i="0" sz="2600" u="none" cap="none" strike="noStrike">
              <a:solidFill>
                <a:srgbClr val="940A15"/>
              </a:solidFill>
              <a:latin typeface="Montserrat"/>
              <a:ea typeface="Montserrat"/>
              <a:cs typeface="Montserrat"/>
              <a:sym typeface="Montserrat"/>
            </a:endParaRPr>
          </a:p>
        </p:txBody>
      </p:sp>
      <p:sp>
        <p:nvSpPr>
          <p:cNvPr id="759" name="Google Shape;759;p4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60" name="Google Shape;760;p47"/>
          <p:cNvSpPr txBox="1"/>
          <p:nvPr/>
        </p:nvSpPr>
        <p:spPr>
          <a:xfrm>
            <a:off x="543150" y="631000"/>
            <a:ext cx="80817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2"/>
              </a:buClr>
              <a:buSzPts val="1100"/>
              <a:buFont typeface="Arial"/>
              <a:buNone/>
            </a:pPr>
            <a:r>
              <a:rPr lang="en">
                <a:solidFill>
                  <a:schemeClr val="dk2"/>
                </a:solidFill>
                <a:latin typeface="Montserrat Medium"/>
                <a:ea typeface="Montserrat Medium"/>
                <a:cs typeface="Montserrat Medium"/>
                <a:sym typeface="Montserrat Medium"/>
              </a:rPr>
              <a:t>A person is brought in front of a jury. The jury finds the defendant guilty in 98% of the cases in which they indeed committed the crime; and it finds the defendant not guilty 97% of the cases when the defendant did not commit the crime. Only 0.8% of the population has committed a crime.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If a person is found guilty by the jury, what is the probability that person has truly committed the crime?</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2"/>
              </a:buClr>
              <a:buSzPts val="1100"/>
              <a:buFont typeface="Arial"/>
              <a:buNone/>
            </a:pPr>
            <a:r>
              <a:rPr lang="en">
                <a:solidFill>
                  <a:schemeClr val="dk2"/>
                </a:solidFill>
                <a:latin typeface="Montserrat Medium"/>
                <a:ea typeface="Montserrat Medium"/>
                <a:cs typeface="Montserrat Medium"/>
                <a:sym typeface="Montserrat Medium"/>
              </a:rPr>
              <a:t>Answer: 49 / 235 = 0.2085</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2"/>
              </a:buClr>
              <a:buSzPts val="1100"/>
              <a:buFont typeface="Arial"/>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761" name="Google Shape;761;p4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62" name="Google Shape;762;p4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cxnSp>
        <p:nvCxnSpPr>
          <p:cNvPr id="767" name="Google Shape;767;p4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68" name="Google Shape;768;p4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69" name="Google Shape;769;p4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70" name="Google Shape;770;p4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1" name="Google Shape;771;p4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72" name="Google Shape;772;p4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BAYES’ Rule</a:t>
            </a:r>
            <a:endParaRPr b="1" i="0" sz="2600" u="none" cap="none" strike="noStrike">
              <a:solidFill>
                <a:srgbClr val="940A15"/>
              </a:solidFill>
              <a:latin typeface="Montserrat"/>
              <a:ea typeface="Montserrat"/>
              <a:cs typeface="Montserrat"/>
              <a:sym typeface="Montserrat"/>
            </a:endParaRPr>
          </a:p>
        </p:txBody>
      </p:sp>
      <p:sp>
        <p:nvSpPr>
          <p:cNvPr id="773" name="Google Shape;773;p4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74" name="Google Shape;774;p48"/>
          <p:cNvSpPr txBox="1"/>
          <p:nvPr/>
        </p:nvSpPr>
        <p:spPr>
          <a:xfrm>
            <a:off x="543150" y="631000"/>
            <a:ext cx="8081700" cy="40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Wilson’s disease is a very rare disease, only about 0.005% people are affected with it (this is an imaginary value, actual rate is even lower). Unfortunately, during a routine medical checkup,  your uncle has been diagnosed with it. The best hospital in Bangladesh is 97% effective in diagnosing this disease (if a person has it, the hospital detects it correctly). In 2% cases the hospital falsely detects it in a person (the person does not actually have it). Now, you are no medical expert, but you DO know probabilistic theory. Based on the information available to you, would you suggest your uncle starts treatment right away, or would you suggest your uncle performs a second test in Singapore to check if he actually has it? Explain with mathematical reasoning.</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2"/>
              </a:buClr>
              <a:buSzPts val="1100"/>
              <a:buFont typeface="Arial"/>
              <a:buNone/>
            </a:pPr>
            <a:r>
              <a:t/>
            </a:r>
            <a:endParaRPr>
              <a:solidFill>
                <a:schemeClr val="dk2"/>
              </a:solidFill>
              <a:latin typeface="Montserrat Medium"/>
              <a:ea typeface="Montserrat Medium"/>
              <a:cs typeface="Montserrat Medium"/>
              <a:sym typeface="Montserrat Medium"/>
            </a:endParaRPr>
          </a:p>
          <a:p>
            <a:pPr indent="0" lvl="0" marL="0" rtl="0" algn="just">
              <a:lnSpc>
                <a:spcPct val="120000"/>
              </a:lnSpc>
              <a:spcBef>
                <a:spcPts val="1000"/>
              </a:spcBef>
              <a:spcAft>
                <a:spcPts val="0"/>
              </a:spcAft>
              <a:buClr>
                <a:schemeClr val="dk2"/>
              </a:buClr>
              <a:buSzPts val="1100"/>
              <a:buFont typeface="Arial"/>
              <a:buNone/>
            </a:pPr>
            <a:r>
              <a:rPr lang="en">
                <a:solidFill>
                  <a:schemeClr val="dk2"/>
                </a:solidFill>
                <a:latin typeface="Montserrat Medium"/>
                <a:ea typeface="Montserrat Medium"/>
                <a:cs typeface="Montserrat Medium"/>
                <a:sym typeface="Montserrat Medium"/>
              </a:rPr>
              <a:t>Ans: </a:t>
            </a:r>
            <a:r>
              <a:rPr lang="en">
                <a:solidFill>
                  <a:schemeClr val="dk2"/>
                </a:solidFill>
                <a:latin typeface="Montserrat Medium"/>
                <a:ea typeface="Montserrat Medium"/>
                <a:cs typeface="Montserrat Medium"/>
                <a:sym typeface="Montserrat Medium"/>
              </a:rPr>
              <a:t>2.42X10^-3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2"/>
              </a:buClr>
              <a:buSzPts val="1100"/>
              <a:buFont typeface="Arial"/>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775" name="Google Shape;775;p4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76" name="Google Shape;776;p4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cxnSp>
        <p:nvCxnSpPr>
          <p:cNvPr id="781" name="Google Shape;781;p4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82" name="Google Shape;782;p4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83" name="Google Shape;783;p4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84" name="Google Shape;784;p4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85" name="Google Shape;785;p4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86" name="Google Shape;786;p4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Chain Rule of Conditional Probability</a:t>
            </a:r>
            <a:endParaRPr b="1" i="0" sz="2600" u="none" cap="none" strike="noStrike">
              <a:solidFill>
                <a:srgbClr val="940A15"/>
              </a:solidFill>
              <a:latin typeface="Montserrat"/>
              <a:ea typeface="Montserrat"/>
              <a:cs typeface="Montserrat"/>
              <a:sym typeface="Montserrat"/>
            </a:endParaRPr>
          </a:p>
        </p:txBody>
      </p:sp>
      <p:sp>
        <p:nvSpPr>
          <p:cNvPr id="787" name="Google Shape;787;p4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88" name="Google Shape;788;p49"/>
          <p:cNvSpPr txBox="1"/>
          <p:nvPr/>
        </p:nvSpPr>
        <p:spPr>
          <a:xfrm>
            <a:off x="543150" y="631000"/>
            <a:ext cx="8081700" cy="409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We know, P(a, b) = P(a | b) × P(b) [product rule]</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We can extend this using chain rule of multiplication</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b | c) = P(a, b, c) / P(c)</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Hence, P(a, b, c) = P(a, b | c) × P(c)</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c) = P(a, b, c) / P(b, c)</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Hence, P(a, b, c) = P(a | b, c) × P(b, c)</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b, c, d, e) = P(a | b, c, d, e) × P(b, c, d, e)</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                         = </a:t>
            </a:r>
            <a:r>
              <a:rPr lang="en">
                <a:solidFill>
                  <a:schemeClr val="dk2"/>
                </a:solidFill>
                <a:latin typeface="Montserrat Medium"/>
                <a:ea typeface="Montserrat Medium"/>
                <a:cs typeface="Montserrat Medium"/>
                <a:sym typeface="Montserrat Medium"/>
              </a:rPr>
              <a:t>P(a | b, c, d, e) × P(b | c, d, e) × P(c, d, e)</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		      = P(a | b, c, d, e) × P(b | c, d, e) × P(c | d, e) × P(d, e)</a:t>
            </a:r>
            <a:endParaRPr>
              <a:solidFill>
                <a:schemeClr val="dk2"/>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rPr lang="en">
                <a:solidFill>
                  <a:schemeClr val="dk2"/>
                </a:solidFill>
                <a:latin typeface="Montserrat Medium"/>
                <a:ea typeface="Montserrat Medium"/>
                <a:cs typeface="Montserrat Medium"/>
                <a:sym typeface="Montserrat Medium"/>
              </a:rPr>
              <a:t>		      = P(a | b, c, d, e) × P(b | c, d, e) × P(c | d, e) × P(d | e)× P(e)</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789" name="Google Shape;789;p4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90" name="Google Shape;790;p4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cxnSp>
        <p:nvCxnSpPr>
          <p:cNvPr id="795" name="Google Shape;795;p5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96" name="Google Shape;796;p5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97" name="Google Shape;797;p5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98" name="Google Shape;798;p5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9" name="Google Shape;799;p5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00" name="Google Shape;800;p5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Probabilistic Independence</a:t>
            </a:r>
            <a:endParaRPr b="1" i="0" sz="2600" u="none" cap="none" strike="noStrike">
              <a:solidFill>
                <a:srgbClr val="940A15"/>
              </a:solidFill>
              <a:latin typeface="Montserrat"/>
              <a:ea typeface="Montserrat"/>
              <a:cs typeface="Montserrat"/>
              <a:sym typeface="Montserrat"/>
            </a:endParaRPr>
          </a:p>
        </p:txBody>
      </p:sp>
      <p:sp>
        <p:nvSpPr>
          <p:cNvPr id="801" name="Google Shape;801;p5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02" name="Google Shape;802;p50"/>
          <p:cNvSpPr txBox="1"/>
          <p:nvPr/>
        </p:nvSpPr>
        <p:spPr>
          <a:xfrm>
            <a:off x="543150" y="631000"/>
            <a:ext cx="8081700" cy="4011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If two events A and B are independent, then the probability of A occurring does not depend on B</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So, P(A | B) = P(A)</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Hence, P(A ^ B) = P(A | B) × P(B) = P(A) × P(B) [proved]</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This is also called </a:t>
            </a:r>
            <a:r>
              <a:rPr b="1" lang="en">
                <a:solidFill>
                  <a:schemeClr val="dk2"/>
                </a:solidFill>
                <a:latin typeface="Montserrat"/>
                <a:ea typeface="Montserrat"/>
                <a:cs typeface="Montserrat"/>
                <a:sym typeface="Montserrat"/>
              </a:rPr>
              <a:t>absolute independence</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Consider the joint distribution of the RVs Toothache, Cavity, and ShowsOnXRay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Suppose we bring in another RV Weather = {sunny, cloudy, rainy, snowy}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Dental problems have no effect on weather</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So, P(Weather = cloudy | toothache, cavity, shows) = P(Weather = cloudy)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P(Weather = cloudy, toothache, cavity, shows) = P(Weather = cloudy) × P(toothache, cavity, shows)</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0"/>
              </a:spcBef>
              <a:spcAft>
                <a:spcPts val="0"/>
              </a:spcAft>
              <a:buClr>
                <a:schemeClr val="dk2"/>
              </a:buClr>
              <a:buSzPts val="1400"/>
              <a:buFont typeface="Montserrat Medium"/>
              <a:buChar char="○"/>
            </a:pPr>
            <a:r>
              <a:rPr b="1" lang="en">
                <a:solidFill>
                  <a:schemeClr val="dk2"/>
                </a:solidFill>
                <a:latin typeface="Montserrat"/>
                <a:ea typeface="Montserrat"/>
                <a:cs typeface="Montserrat"/>
                <a:sym typeface="Montserrat"/>
              </a:rPr>
              <a:t>Caution!</a:t>
            </a:r>
            <a:r>
              <a:rPr lang="en">
                <a:solidFill>
                  <a:schemeClr val="dk2"/>
                </a:solidFill>
                <a:latin typeface="Montserrat Medium"/>
                <a:ea typeface="Montserrat Medium"/>
                <a:cs typeface="Montserrat Medium"/>
                <a:sym typeface="Montserrat Medium"/>
              </a:rPr>
              <a:t> P(toothache, clavity) ≠ P(toothache) × P(cavity) [toothache and cavity are not independent]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03" name="Google Shape;803;p5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04" name="Google Shape;804;p5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cxnSp>
        <p:nvCxnSpPr>
          <p:cNvPr id="809" name="Google Shape;809;p5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10" name="Google Shape;810;p5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11" name="Google Shape;811;p5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12" name="Google Shape;812;p5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3" name="Google Shape;813;p5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14" name="Google Shape;814;p5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Probabilistic Independence</a:t>
            </a:r>
            <a:endParaRPr b="1" i="0" sz="2600" u="none" cap="none" strike="noStrike">
              <a:solidFill>
                <a:srgbClr val="940A15"/>
              </a:solidFill>
              <a:latin typeface="Montserrat"/>
              <a:ea typeface="Montserrat"/>
              <a:cs typeface="Montserrat"/>
              <a:sym typeface="Montserrat"/>
            </a:endParaRPr>
          </a:p>
        </p:txBody>
      </p:sp>
      <p:sp>
        <p:nvSpPr>
          <p:cNvPr id="815" name="Google Shape;815;p5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16" name="Google Shape;816;p5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17" name="Google Shape;817;p51"/>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818" name="Google Shape;818;p51"/>
          <p:cNvGraphicFramePr/>
          <p:nvPr/>
        </p:nvGraphicFramePr>
        <p:xfrm>
          <a:off x="2810850" y="860300"/>
          <a:ext cx="3000000" cy="3000000"/>
        </p:xfrm>
        <a:graphic>
          <a:graphicData uri="http://schemas.openxmlformats.org/drawingml/2006/table">
            <a:tbl>
              <a:tblPr>
                <a:noFill/>
                <a:tableStyleId>{D337579A-5A14-4019-876A-0D022D41D2FB}</a:tableStyleId>
              </a:tblPr>
              <a:tblGrid>
                <a:gridCol w="812000"/>
                <a:gridCol w="1233350"/>
                <a:gridCol w="1116750"/>
              </a:tblGrid>
              <a:tr h="348775">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Female</a:t>
                      </a:r>
                      <a:endParaRPr sz="1300">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r>
              <a:tr h="348775">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GoT</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0.16</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0.24</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877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BB</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0.05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8775">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TBBT</a:t>
                      </a:r>
                      <a:endParaRPr sz="1300">
                        <a:solidFill>
                          <a:schemeClr val="dk2"/>
                        </a:solidFill>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0.1</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0.25</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19" name="Google Shape;819;p51"/>
          <p:cNvSpPr txBox="1"/>
          <p:nvPr/>
        </p:nvSpPr>
        <p:spPr>
          <a:xfrm>
            <a:off x="497350" y="2604075"/>
            <a:ext cx="8081700" cy="1341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Are Male viewers and GoT independent?</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P(Male ^ GoT) = ? P(Male)= ? P(GoT) =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P(Male ^ GoT) = P(Male) × P(GoT)?</a:t>
            </a:r>
            <a:endParaRPr>
              <a:solidFill>
                <a:schemeClr val="dk2"/>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cxnSp>
        <p:nvCxnSpPr>
          <p:cNvPr id="824" name="Google Shape;824;p5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25" name="Google Shape;825;p5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26" name="Google Shape;826;p5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27" name="Google Shape;827;p5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8" name="Google Shape;828;p5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29" name="Google Shape;829;p5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Independence</a:t>
            </a:r>
            <a:endParaRPr b="1" i="0" sz="2600" u="none" cap="none" strike="noStrike">
              <a:solidFill>
                <a:srgbClr val="940A15"/>
              </a:solidFill>
              <a:latin typeface="Montserrat"/>
              <a:ea typeface="Montserrat"/>
              <a:cs typeface="Montserrat"/>
              <a:sym typeface="Montserrat"/>
            </a:endParaRPr>
          </a:p>
        </p:txBody>
      </p:sp>
      <p:sp>
        <p:nvSpPr>
          <p:cNvPr id="830" name="Google Shape;830;p5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31" name="Google Shape;831;p52"/>
          <p:cNvSpPr txBox="1"/>
          <p:nvPr/>
        </p:nvSpPr>
        <p:spPr>
          <a:xfrm>
            <a:off x="543150" y="631000"/>
            <a:ext cx="8081700" cy="4189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and B are </a:t>
            </a:r>
            <a:r>
              <a:rPr b="1" lang="en">
                <a:solidFill>
                  <a:schemeClr val="dk2"/>
                </a:solidFill>
                <a:latin typeface="Montserrat"/>
                <a:ea typeface="Montserrat"/>
                <a:cs typeface="Montserrat"/>
                <a:sym typeface="Montserrat"/>
              </a:rPr>
              <a:t>conditionally independent</a:t>
            </a:r>
            <a:r>
              <a:rPr lang="en">
                <a:solidFill>
                  <a:schemeClr val="dk2"/>
                </a:solidFill>
                <a:latin typeface="Montserrat Medium"/>
                <a:ea typeface="Montserrat Medium"/>
                <a:cs typeface="Montserrat Medium"/>
                <a:sym typeface="Montserrat Medium"/>
              </a:rPr>
              <a:t> given C, then the probability of A </a:t>
            </a:r>
            <a:r>
              <a:rPr lang="en">
                <a:solidFill>
                  <a:schemeClr val="dk2"/>
                </a:solidFill>
                <a:latin typeface="Montserrat Medium"/>
                <a:ea typeface="Montserrat Medium"/>
                <a:cs typeface="Montserrat Medium"/>
                <a:sym typeface="Montserrat Medium"/>
              </a:rPr>
              <a:t>occurring</a:t>
            </a:r>
            <a:r>
              <a:rPr lang="en">
                <a:solidFill>
                  <a:schemeClr val="dk2"/>
                </a:solidFill>
                <a:latin typeface="Montserrat Medium"/>
                <a:ea typeface="Montserrat Medium"/>
                <a:cs typeface="Montserrat Medium"/>
                <a:sym typeface="Montserrat Medium"/>
              </a:rPr>
              <a:t> </a:t>
            </a:r>
            <a:r>
              <a:rPr b="1" lang="en">
                <a:solidFill>
                  <a:schemeClr val="dk2"/>
                </a:solidFill>
                <a:latin typeface="Montserrat"/>
                <a:ea typeface="Montserrat"/>
                <a:cs typeface="Montserrat"/>
                <a:sym typeface="Montserrat"/>
              </a:rPr>
              <a:t>given</a:t>
            </a:r>
            <a:r>
              <a:rPr lang="en">
                <a:solidFill>
                  <a:schemeClr val="dk2"/>
                </a:solidFill>
                <a:latin typeface="Montserrat Medium"/>
                <a:ea typeface="Montserrat Medium"/>
                <a:cs typeface="Montserrat Medium"/>
                <a:sym typeface="Montserrat Medium"/>
              </a:rPr>
              <a:t> C </a:t>
            </a:r>
            <a:r>
              <a:rPr b="1" lang="en">
                <a:solidFill>
                  <a:schemeClr val="dk2"/>
                </a:solidFill>
                <a:latin typeface="Montserrat"/>
                <a:ea typeface="Montserrat"/>
                <a:cs typeface="Montserrat"/>
                <a:sym typeface="Montserrat"/>
              </a:rPr>
              <a:t>does not depend</a:t>
            </a:r>
            <a:r>
              <a:rPr lang="en">
                <a:solidFill>
                  <a:schemeClr val="dk2"/>
                </a:solidFill>
                <a:latin typeface="Montserrat Medium"/>
                <a:ea typeface="Montserrat Medium"/>
                <a:cs typeface="Montserrat Medium"/>
                <a:sym typeface="Montserrat Medium"/>
              </a:rPr>
              <a:t> on B, and vice versa</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 notation: P(A | B, C) = P(A | C) </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Similarly, P(B | A, C) = P(B | C) </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Consider the OG boolean RVs Toothache, Cavity, Shows</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If I have cavity, probability of X-Ray showing it does not depend on whether I have toothache or not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+toothache, +cavity) = P(+shows | +cavity)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Same independence holds if I do not have cavity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+toothache, –cavity) = P(shows | –cavity)</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32" name="Google Shape;832;p5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33" name="Google Shape;833;p5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cxnSp>
        <p:nvCxnSpPr>
          <p:cNvPr id="838" name="Google Shape;838;p5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39" name="Google Shape;839;p5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40" name="Google Shape;840;p5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41" name="Google Shape;841;p5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2" name="Google Shape;842;p5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43" name="Google Shape;843;p5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a:t>
            </a:r>
            <a:r>
              <a:rPr b="1" lang="en" sz="2600">
                <a:solidFill>
                  <a:srgbClr val="940A15"/>
                </a:solidFill>
                <a:latin typeface="Montserrat"/>
                <a:ea typeface="Montserrat"/>
                <a:cs typeface="Montserrat"/>
                <a:sym typeface="Montserrat"/>
              </a:rPr>
              <a:t>Independence</a:t>
            </a:r>
            <a:endParaRPr b="1" i="0" sz="2600" u="none" cap="none" strike="noStrike">
              <a:solidFill>
                <a:srgbClr val="940A15"/>
              </a:solidFill>
              <a:latin typeface="Montserrat"/>
              <a:ea typeface="Montserrat"/>
              <a:cs typeface="Montserrat"/>
              <a:sym typeface="Montserrat"/>
            </a:endParaRPr>
          </a:p>
        </p:txBody>
      </p:sp>
      <p:sp>
        <p:nvSpPr>
          <p:cNvPr id="844" name="Google Shape;844;p5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45" name="Google Shape;845;p53"/>
          <p:cNvSpPr txBox="1"/>
          <p:nvPr/>
        </p:nvSpPr>
        <p:spPr>
          <a:xfrm>
            <a:off x="543150" y="631000"/>
            <a:ext cx="8081700" cy="4189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Mathematically we can show that </a:t>
            </a:r>
            <a:r>
              <a:rPr lang="en">
                <a:solidFill>
                  <a:schemeClr val="dk2"/>
                </a:solidFill>
                <a:latin typeface="Montserrat Medium"/>
                <a:ea typeface="Montserrat Medium"/>
                <a:cs typeface="Montserrat Medium"/>
                <a:sym typeface="Montserrat Medium"/>
              </a:rPr>
              <a:t>A and B are </a:t>
            </a:r>
            <a:r>
              <a:rPr b="1" lang="en">
                <a:solidFill>
                  <a:schemeClr val="dk2"/>
                </a:solidFill>
                <a:latin typeface="Montserrat"/>
                <a:ea typeface="Montserrat"/>
                <a:cs typeface="Montserrat"/>
                <a:sym typeface="Montserrat"/>
              </a:rPr>
              <a:t>conditionally independent</a:t>
            </a:r>
            <a:r>
              <a:rPr lang="en">
                <a:solidFill>
                  <a:schemeClr val="dk2"/>
                </a:solidFill>
                <a:latin typeface="Montserrat Medium"/>
                <a:ea typeface="Montserrat Medium"/>
                <a:cs typeface="Montserrat Medium"/>
                <a:sym typeface="Montserrat Medium"/>
              </a:rPr>
              <a:t> given C iff </a:t>
            </a:r>
            <a:r>
              <a:rPr b="1" lang="en">
                <a:solidFill>
                  <a:schemeClr val="dk2"/>
                </a:solidFill>
                <a:latin typeface="Montserrat"/>
                <a:ea typeface="Montserrat"/>
                <a:cs typeface="Montserrat"/>
                <a:sym typeface="Montserrat"/>
              </a:rPr>
              <a:t>P(A, B | C) = P(A | C) ×</a:t>
            </a:r>
            <a:r>
              <a:rPr lang="en"/>
              <a:t> </a:t>
            </a:r>
            <a:r>
              <a:rPr b="1" lang="en">
                <a:solidFill>
                  <a:schemeClr val="dk2"/>
                </a:solidFill>
                <a:latin typeface="Montserrat"/>
                <a:ea typeface="Montserrat"/>
                <a:cs typeface="Montserrat"/>
                <a:sym typeface="Montserrat"/>
              </a:rPr>
              <a:t>P(B | C)</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 that case we can decompose the joint distribution:</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P(A ∧ B ∧ C) = P(A | C) P(B | C) P(C) [Note: P(A ∧ B ∧ C) is the same as P(A, B, C)]</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Since the random variable </a:t>
            </a:r>
            <a:r>
              <a:rPr i="1" lang="en">
                <a:solidFill>
                  <a:schemeClr val="dk2"/>
                </a:solidFill>
                <a:latin typeface="Montserrat Medium"/>
                <a:ea typeface="Montserrat Medium"/>
                <a:cs typeface="Montserrat Medium"/>
                <a:sym typeface="Montserrat Medium"/>
              </a:rPr>
              <a:t>Shows</a:t>
            </a:r>
            <a:r>
              <a:rPr lang="en">
                <a:solidFill>
                  <a:schemeClr val="dk2"/>
                </a:solidFill>
                <a:latin typeface="Montserrat Medium"/>
                <a:ea typeface="Montserrat Medium"/>
                <a:cs typeface="Montserrat Medium"/>
                <a:sym typeface="Montserrat Medium"/>
              </a:rPr>
              <a:t> is conditionally independent of </a:t>
            </a:r>
            <a:r>
              <a:rPr i="1" lang="en">
                <a:solidFill>
                  <a:schemeClr val="dk2"/>
                </a:solidFill>
                <a:latin typeface="Montserrat Medium"/>
                <a:ea typeface="Montserrat Medium"/>
                <a:cs typeface="Montserrat Medium"/>
                <a:sym typeface="Montserrat Medium"/>
              </a:rPr>
              <a:t>Toothache</a:t>
            </a:r>
            <a:r>
              <a:rPr lang="en">
                <a:solidFill>
                  <a:schemeClr val="dk2"/>
                </a:solidFill>
                <a:latin typeface="Montserrat Medium"/>
                <a:ea typeface="Montserrat Medium"/>
                <a:cs typeface="Montserrat Medium"/>
                <a:sym typeface="Montserrat Medium"/>
              </a:rPr>
              <a:t> given </a:t>
            </a:r>
            <a:r>
              <a:rPr i="1" lang="en">
                <a:solidFill>
                  <a:schemeClr val="dk2"/>
                </a:solidFill>
                <a:latin typeface="Montserrat Medium"/>
                <a:ea typeface="Montserrat Medium"/>
                <a:cs typeface="Montserrat Medium"/>
                <a:sym typeface="Montserrat Medium"/>
              </a:rPr>
              <a:t>Cavity</a:t>
            </a:r>
            <a:endParaRPr i="1">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Toothache | Cavity) = P(Shows | Cavity) × P(Toothache | Cavity)</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46" name="Google Shape;846;p5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47" name="Google Shape;847;p5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5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53" name="Google Shape;853;p5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54" name="Google Shape;854;p5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55" name="Google Shape;855;p5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6" name="Google Shape;856;p5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57" name="Google Shape;857;p5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Independence Check</a:t>
            </a:r>
            <a:endParaRPr b="1" i="0" sz="2600" u="none" cap="none" strike="noStrike">
              <a:solidFill>
                <a:srgbClr val="940A15"/>
              </a:solidFill>
              <a:latin typeface="Montserrat"/>
              <a:ea typeface="Montserrat"/>
              <a:cs typeface="Montserrat"/>
              <a:sym typeface="Montserrat"/>
            </a:endParaRPr>
          </a:p>
        </p:txBody>
      </p:sp>
      <p:sp>
        <p:nvSpPr>
          <p:cNvPr id="858" name="Google Shape;858;p5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59" name="Google Shape;859;p54"/>
          <p:cNvSpPr txBox="1"/>
          <p:nvPr/>
        </p:nvSpPr>
        <p:spPr>
          <a:xfrm>
            <a:off x="543150" y="631000"/>
            <a:ext cx="8081700" cy="4189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To prove that A and B are </a:t>
            </a:r>
            <a:r>
              <a:rPr b="1" lang="en">
                <a:solidFill>
                  <a:schemeClr val="dk2"/>
                </a:solidFill>
                <a:latin typeface="Montserrat"/>
                <a:ea typeface="Montserrat"/>
                <a:cs typeface="Montserrat"/>
                <a:sym typeface="Montserrat"/>
              </a:rPr>
              <a:t>absolutely independent</a:t>
            </a:r>
            <a:r>
              <a:rPr lang="en">
                <a:solidFill>
                  <a:schemeClr val="dk2"/>
                </a:solidFill>
                <a:latin typeface="Montserrat Medium"/>
                <a:ea typeface="Montserrat Medium"/>
                <a:cs typeface="Montserrat Medium"/>
                <a:sym typeface="Montserrat Medium"/>
              </a:rPr>
              <a:t>, we need to show that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a:buChar char="○"/>
            </a:pPr>
            <a:r>
              <a:rPr b="1" lang="en">
                <a:solidFill>
                  <a:schemeClr val="dk2"/>
                </a:solidFill>
                <a:latin typeface="Montserrat"/>
                <a:ea typeface="Montserrat"/>
                <a:cs typeface="Montserrat"/>
                <a:sym typeface="Montserrat"/>
              </a:rPr>
              <a:t>P(A, B) = </a:t>
            </a:r>
            <a:r>
              <a:rPr b="1" lang="en">
                <a:solidFill>
                  <a:schemeClr val="dk2"/>
                </a:solidFill>
                <a:latin typeface="Montserrat"/>
                <a:ea typeface="Montserrat"/>
                <a:cs typeface="Montserrat"/>
                <a:sym typeface="Montserrat"/>
              </a:rPr>
              <a:t>P(A) × P(B)</a:t>
            </a:r>
            <a:endParaRPr b="1">
              <a:solidFill>
                <a:schemeClr val="dk2"/>
              </a:solidFill>
              <a:latin typeface="Montserrat"/>
              <a:ea typeface="Montserrat"/>
              <a:cs typeface="Montserrat"/>
              <a:sym typeface="Montserrat"/>
            </a:endParaRPr>
          </a:p>
          <a:p>
            <a:pPr indent="0" lvl="0" marL="914400" rtl="0" algn="l">
              <a:lnSpc>
                <a:spcPct val="115000"/>
              </a:lnSpc>
              <a:spcBef>
                <a:spcPts val="1000"/>
              </a:spcBef>
              <a:spcAft>
                <a:spcPts val="0"/>
              </a:spcAft>
              <a:buNone/>
            </a:pPr>
            <a:r>
              <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To prove that A and B are </a:t>
            </a:r>
            <a:r>
              <a:rPr b="1" lang="en">
                <a:solidFill>
                  <a:schemeClr val="dk2"/>
                </a:solidFill>
                <a:latin typeface="Montserrat"/>
                <a:ea typeface="Montserrat"/>
                <a:cs typeface="Montserrat"/>
                <a:sym typeface="Montserrat"/>
              </a:rPr>
              <a:t>conditionally independent given C</a:t>
            </a:r>
            <a:r>
              <a:rPr lang="en">
                <a:solidFill>
                  <a:schemeClr val="dk2"/>
                </a:solidFill>
                <a:latin typeface="Montserrat Medium"/>
                <a:ea typeface="Montserrat Medium"/>
                <a:cs typeface="Montserrat Medium"/>
                <a:sym typeface="Montserrat Medium"/>
              </a:rPr>
              <a:t>, we need to </a:t>
            </a:r>
            <a:r>
              <a:rPr lang="en">
                <a:solidFill>
                  <a:schemeClr val="dk2"/>
                </a:solidFill>
                <a:latin typeface="Montserrat Medium"/>
                <a:ea typeface="Montserrat Medium"/>
                <a:cs typeface="Montserrat Medium"/>
                <a:sym typeface="Montserrat Medium"/>
              </a:rPr>
              <a:t>show</a:t>
            </a:r>
            <a:r>
              <a:rPr lang="en">
                <a:solidFill>
                  <a:schemeClr val="dk2"/>
                </a:solidFill>
                <a:latin typeface="Montserrat Medium"/>
                <a:ea typeface="Montserrat Medium"/>
                <a:cs typeface="Montserrat Medium"/>
                <a:sym typeface="Montserrat Medium"/>
              </a:rPr>
              <a:t> that: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b="1" lang="en">
                <a:solidFill>
                  <a:schemeClr val="dk2"/>
                </a:solidFill>
                <a:latin typeface="Montserrat"/>
                <a:ea typeface="Montserrat"/>
                <a:cs typeface="Montserrat"/>
                <a:sym typeface="Montserrat"/>
              </a:rPr>
              <a:t>P(A, B | C) = P(A | C) ×</a:t>
            </a:r>
            <a:r>
              <a:rPr lang="en">
                <a:solidFill>
                  <a:schemeClr val="dk2"/>
                </a:solidFill>
              </a:rPr>
              <a:t> </a:t>
            </a:r>
            <a:r>
              <a:rPr b="1" lang="en">
                <a:solidFill>
                  <a:schemeClr val="dk2"/>
                </a:solidFill>
                <a:latin typeface="Montserrat"/>
                <a:ea typeface="Montserrat"/>
                <a:cs typeface="Montserrat"/>
                <a:sym typeface="Montserrat"/>
              </a:rPr>
              <a:t>P(B | C)</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60" name="Google Shape;860;p5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61" name="Google Shape;861;p5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cxnSp>
        <p:nvCxnSpPr>
          <p:cNvPr id="866" name="Google Shape;866;p5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67" name="Google Shape;867;p5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68" name="Google Shape;868;p5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69" name="Google Shape;869;p5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0" name="Google Shape;870;p5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71" name="Google Shape;871;p5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Independence</a:t>
            </a:r>
            <a:endParaRPr b="1" i="0" sz="2600" u="none" cap="none" strike="noStrike">
              <a:solidFill>
                <a:srgbClr val="940A15"/>
              </a:solidFill>
              <a:latin typeface="Montserrat"/>
              <a:ea typeface="Montserrat"/>
              <a:cs typeface="Montserrat"/>
              <a:sym typeface="Montserrat"/>
            </a:endParaRPr>
          </a:p>
        </p:txBody>
      </p:sp>
      <p:sp>
        <p:nvSpPr>
          <p:cNvPr id="872" name="Google Shape;872;p5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73" name="Google Shape;873;p55"/>
          <p:cNvSpPr txBox="1"/>
          <p:nvPr/>
        </p:nvSpPr>
        <p:spPr>
          <a:xfrm>
            <a:off x="543150" y="2571750"/>
            <a:ext cx="8081700" cy="2248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From this join distribution, find out whether the random variables Shows and Toothache are independent given Cavity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P(Shows ^ Toothache | Cavity) = P(Shows | Cavity) × P(Toothache | Cavity)?</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Toothache | Cavity) = ?</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Cavity) = ?</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P(Toothache | Cavity) =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74" name="Google Shape;874;p5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75" name="Google Shape;875;p5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876" name="Google Shape;876;p55"/>
          <p:cNvGraphicFramePr/>
          <p:nvPr/>
        </p:nvGraphicFramePr>
        <p:xfrm>
          <a:off x="2189150" y="758650"/>
          <a:ext cx="3000000" cy="3000000"/>
        </p:xfrm>
        <a:graphic>
          <a:graphicData uri="http://schemas.openxmlformats.org/drawingml/2006/table">
            <a:tbl>
              <a:tblPr>
                <a:noFill/>
                <a:tableStyleId>{D337579A-5A14-4019-876A-0D022D41D2FB}</a:tableStyleId>
              </a:tblPr>
              <a:tblGrid>
                <a:gridCol w="862750"/>
                <a:gridCol w="757600"/>
                <a:gridCol w="840425"/>
                <a:gridCol w="803200"/>
                <a:gridCol w="853500"/>
              </a:tblGrid>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gridSpan="2">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hMerge="1"/>
                <a:tc gridSpan="2">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solidFill>
                          <a:schemeClr val="dk2"/>
                        </a:solidFill>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hMerge="1"/>
              </a:tr>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0050">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0.072</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0.008</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r>
              <a:tr h="370050">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0.016</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0.144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0.576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cxnSp>
        <p:nvCxnSpPr>
          <p:cNvPr id="881" name="Google Shape;881;p5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82" name="Google Shape;882;p5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83" name="Google Shape;883;p5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84" name="Google Shape;884;p5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5" name="Google Shape;885;p5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86" name="Google Shape;886;p5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Conditional Independence</a:t>
            </a:r>
            <a:endParaRPr b="1" i="0" sz="2600" u="none" cap="none" strike="noStrike">
              <a:solidFill>
                <a:srgbClr val="940A15"/>
              </a:solidFill>
              <a:latin typeface="Montserrat"/>
              <a:ea typeface="Montserrat"/>
              <a:cs typeface="Montserrat"/>
              <a:sym typeface="Montserrat"/>
            </a:endParaRPr>
          </a:p>
        </p:txBody>
      </p:sp>
      <p:sp>
        <p:nvSpPr>
          <p:cNvPr id="887" name="Google Shape;887;p5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888" name="Google Shape;888;p56"/>
          <p:cNvSpPr txBox="1"/>
          <p:nvPr/>
        </p:nvSpPr>
        <p:spPr>
          <a:xfrm>
            <a:off x="543150" y="2571750"/>
            <a:ext cx="8081700" cy="2248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From this join distribution, find out whether the random variables Shows and Toothache are independent given Cavity</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P(Shows ^ Toothache | Cavity) = P(Shows | Cavity) × P(Toothache | Cavity)?</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Toothache | Cavity) = 0.54</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P(Shows | Cavity) = 0.9</a:t>
            </a:r>
            <a:endParaRPr>
              <a:solidFill>
                <a:schemeClr val="dk2"/>
              </a:solidFill>
              <a:latin typeface="Montserrat Medium"/>
              <a:ea typeface="Montserrat Medium"/>
              <a:cs typeface="Montserrat Medium"/>
              <a:sym typeface="Montserrat Medium"/>
            </a:endParaRPr>
          </a:p>
          <a:p>
            <a:pPr indent="-317500" lvl="2" marL="13716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P(Toothache | Cavity) = 0.6</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889" name="Google Shape;889;p5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890" name="Google Shape;890;p5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891" name="Google Shape;891;p56"/>
          <p:cNvGraphicFramePr/>
          <p:nvPr/>
        </p:nvGraphicFramePr>
        <p:xfrm>
          <a:off x="2189150" y="758650"/>
          <a:ext cx="3000000" cy="3000000"/>
        </p:xfrm>
        <a:graphic>
          <a:graphicData uri="http://schemas.openxmlformats.org/drawingml/2006/table">
            <a:tbl>
              <a:tblPr>
                <a:noFill/>
                <a:tableStyleId>{D337579A-5A14-4019-876A-0D022D41D2FB}</a:tableStyleId>
              </a:tblPr>
              <a:tblGrid>
                <a:gridCol w="862750"/>
                <a:gridCol w="757600"/>
                <a:gridCol w="840425"/>
                <a:gridCol w="803200"/>
                <a:gridCol w="853500"/>
              </a:tblGrid>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gridSpan="2">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toothache</a:t>
                      </a:r>
                      <a:endParaRPr sz="1300">
                        <a:latin typeface="Montserrat Medium"/>
                        <a:ea typeface="Montserrat Medium"/>
                        <a:cs typeface="Montserrat Medium"/>
                        <a:sym typeface="Montserrat Medium"/>
                      </a:endParaRPr>
                    </a:p>
                  </a:txBody>
                  <a:tcPr marT="91425" marB="91425" marR="91425" marL="91425"/>
                </a:tc>
                <a:tc hMerge="1"/>
                <a:tc gridSpan="2">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¬toothache</a:t>
                      </a:r>
                      <a:endParaRPr sz="1300">
                        <a:solidFill>
                          <a:schemeClr val="dk2"/>
                        </a:solidFill>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hMerge="1"/>
              </a:tr>
              <a:tr h="370050">
                <a:tc>
                  <a:txBody>
                    <a:bodyPr/>
                    <a:lstStyle/>
                    <a:p>
                      <a:pPr indent="0" lvl="0" marL="0" rtl="0" algn="ctr">
                        <a:spcBef>
                          <a:spcPts val="0"/>
                        </a:spcBef>
                        <a:spcAft>
                          <a:spcPts val="0"/>
                        </a:spcAft>
                        <a:buNone/>
                      </a:pPr>
                      <a:r>
                        <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2"/>
                          </a:solidFill>
                          <a:latin typeface="Montserrat Medium"/>
                          <a:ea typeface="Montserrat Medium"/>
                          <a:cs typeface="Montserrat Medium"/>
                          <a:sym typeface="Montserrat Medium"/>
                        </a:rPr>
                        <a:t>¬shows</a:t>
                      </a:r>
                      <a:endParaRPr sz="1300">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0050">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0.108</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0.012</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0.072</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0.008</a:t>
                      </a:r>
                      <a:endParaRPr sz="1300">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r>
              <a:tr h="370050">
                <a:tc>
                  <a:txBody>
                    <a:bodyPr/>
                    <a:lstStyle/>
                    <a:p>
                      <a:pPr indent="0" lvl="0" marL="0" rtl="0" algn="ctr">
                        <a:spcBef>
                          <a:spcPts val="0"/>
                        </a:spcBef>
                        <a:spcAft>
                          <a:spcPts val="0"/>
                        </a:spcAft>
                        <a:buNone/>
                      </a:pPr>
                      <a:r>
                        <a:rPr lang="en" sz="1300">
                          <a:solidFill>
                            <a:schemeClr val="dk2"/>
                          </a:solidFill>
                          <a:latin typeface="Montserrat Medium"/>
                          <a:ea typeface="Montserrat Medium"/>
                          <a:cs typeface="Montserrat Medium"/>
                          <a:sym typeface="Montserrat Medium"/>
                        </a:rPr>
                        <a:t>¬cavity</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0.016</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0.064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0.144</a:t>
                      </a:r>
                      <a:endParaRPr sz="1300">
                        <a:latin typeface="Montserrat Medium"/>
                        <a:ea typeface="Montserrat Medium"/>
                        <a:cs typeface="Montserrat Medium"/>
                        <a:sym typeface="Montserrat Medium"/>
                      </a:endParaRPr>
                    </a:p>
                  </a:txBody>
                  <a:tcPr marT="91425" marB="91425" marR="91425" marL="91425"/>
                </a:tc>
                <a:tc>
                  <a:txBody>
                    <a:bodyPr/>
                    <a:lstStyle/>
                    <a:p>
                      <a:pPr indent="0" lvl="0" marL="0" rtl="0" algn="ctr">
                        <a:spcBef>
                          <a:spcPts val="0"/>
                        </a:spcBef>
                        <a:spcAft>
                          <a:spcPts val="0"/>
                        </a:spcAft>
                        <a:buNone/>
                      </a:pPr>
                      <a:r>
                        <a:rPr lang="en" sz="1300">
                          <a:latin typeface="Montserrat Medium"/>
                          <a:ea typeface="Montserrat Medium"/>
                          <a:cs typeface="Montserrat Medium"/>
                          <a:sym typeface="Montserrat Medium"/>
                        </a:rPr>
                        <a:t>0.576</a:t>
                      </a:r>
                      <a:endParaRPr sz="1300">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cxnSp>
        <p:nvCxnSpPr>
          <p:cNvPr id="896" name="Google Shape;896;p5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97" name="Google Shape;897;p5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98" name="Google Shape;898;p5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99" name="Google Shape;899;p5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0" name="Google Shape;900;p5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01" name="Google Shape;901;p5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Exercise</a:t>
            </a:r>
            <a:endParaRPr b="1" i="0" sz="2600" u="none" cap="none" strike="noStrike">
              <a:solidFill>
                <a:srgbClr val="940A15"/>
              </a:solidFill>
              <a:latin typeface="Montserrat"/>
              <a:ea typeface="Montserrat"/>
              <a:cs typeface="Montserrat"/>
              <a:sym typeface="Montserrat"/>
            </a:endParaRPr>
          </a:p>
        </p:txBody>
      </p:sp>
      <p:sp>
        <p:nvSpPr>
          <p:cNvPr id="902" name="Google Shape;902;p5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903" name="Google Shape;903;p57"/>
          <p:cNvSpPr txBox="1"/>
          <p:nvPr/>
        </p:nvSpPr>
        <p:spPr>
          <a:xfrm>
            <a:off x="543150" y="2571750"/>
            <a:ext cx="8081700" cy="224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
                <a:solidFill>
                  <a:schemeClr val="dk2"/>
                </a:solidFill>
                <a:latin typeface="Montserrat"/>
                <a:ea typeface="Montserrat"/>
                <a:cs typeface="Montserrat"/>
                <a:sym typeface="Montserrat"/>
              </a:rPr>
              <a:t>Queries:</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is the prior probability of smart?</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is the prior probability of study?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is the conditional probability of prepared, given study and smart?</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Save these answers for later!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904" name="Google Shape;904;p5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905" name="Google Shape;905;p5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906" name="Google Shape;906;p57"/>
          <p:cNvGraphicFramePr/>
          <p:nvPr/>
        </p:nvGraphicFramePr>
        <p:xfrm>
          <a:off x="1676400" y="876300"/>
          <a:ext cx="3000000" cy="3000000"/>
        </p:xfrm>
        <a:graphic>
          <a:graphicData uri="http://schemas.openxmlformats.org/drawingml/2006/table">
            <a:tbl>
              <a:tblPr>
                <a:noFill/>
                <a:tableStyleId>{3B8AFAC2-DE7C-4C76-8830-E91A5CCBC6E1}</a:tableStyleId>
              </a:tblPr>
              <a:tblGrid>
                <a:gridCol w="1752600"/>
                <a:gridCol w="838200"/>
                <a:gridCol w="1066800"/>
                <a:gridCol w="990600"/>
                <a:gridCol w="1066800"/>
              </a:tblGrid>
              <a:tr h="400050">
                <a:tc rowSpan="2">
                  <a:txBody>
                    <a:bodyPr/>
                    <a:lstStyle/>
                    <a:p>
                      <a:pPr indent="0" lvl="0" marL="0" marR="0" rtl="0" algn="l">
                        <a:lnSpc>
                          <a:spcPct val="100000"/>
                        </a:lnSpc>
                        <a:spcBef>
                          <a:spcPts val="0"/>
                        </a:spcBef>
                        <a:spcAft>
                          <a:spcPts val="0"/>
                        </a:spcAft>
                        <a:buClr>
                          <a:schemeClr val="dk1"/>
                        </a:buClr>
                        <a:buSzPts val="1500"/>
                        <a:buFont typeface="Times New Roman"/>
                        <a:buNone/>
                      </a:pPr>
                      <a:r>
                        <a:t/>
                      </a:r>
                      <a:endParaRPr u="none" cap="none" strike="noStrike">
                        <a:latin typeface="Montserrat Medium"/>
                        <a:ea typeface="Montserrat Medium"/>
                        <a:cs typeface="Montserrat Medium"/>
                        <a:sym typeface="Montserrat Medium"/>
                      </a:endParaRPr>
                    </a:p>
                  </a:txBody>
                  <a:tcPr marT="34300" marB="343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404825">
                <a:tc vMerge="1"/>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.432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.084</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.008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90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.048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.036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.072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cxnSp>
        <p:nvCxnSpPr>
          <p:cNvPr id="911" name="Google Shape;911;p5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12" name="Google Shape;912;p5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13" name="Google Shape;913;p5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14" name="Google Shape;914;p5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5" name="Google Shape;915;p5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16" name="Google Shape;916;p5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Exercise</a:t>
            </a:r>
            <a:endParaRPr b="1" i="0" sz="2600" u="none" cap="none" strike="noStrike">
              <a:solidFill>
                <a:srgbClr val="940A15"/>
              </a:solidFill>
              <a:latin typeface="Montserrat"/>
              <a:ea typeface="Montserrat"/>
              <a:cs typeface="Montserrat"/>
              <a:sym typeface="Montserrat"/>
            </a:endParaRPr>
          </a:p>
        </p:txBody>
      </p:sp>
      <p:sp>
        <p:nvSpPr>
          <p:cNvPr id="917" name="Google Shape;917;p5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918" name="Google Shape;918;p58"/>
          <p:cNvSpPr txBox="1"/>
          <p:nvPr/>
        </p:nvSpPr>
        <p:spPr>
          <a:xfrm>
            <a:off x="543150" y="2571750"/>
            <a:ext cx="8081700" cy="224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
                <a:solidFill>
                  <a:schemeClr val="dk2"/>
                </a:solidFill>
                <a:latin typeface="Montserrat"/>
                <a:ea typeface="Montserrat"/>
                <a:cs typeface="Montserrat"/>
                <a:sym typeface="Montserrat"/>
              </a:rPr>
              <a:t>Queries:</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smart independent of study?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prepared independent of study?</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919" name="Google Shape;919;p5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920" name="Google Shape;920;p5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921" name="Google Shape;921;p58"/>
          <p:cNvGraphicFramePr/>
          <p:nvPr/>
        </p:nvGraphicFramePr>
        <p:xfrm>
          <a:off x="1676400" y="876300"/>
          <a:ext cx="3000000" cy="3000000"/>
        </p:xfrm>
        <a:graphic>
          <a:graphicData uri="http://schemas.openxmlformats.org/drawingml/2006/table">
            <a:tbl>
              <a:tblPr>
                <a:noFill/>
                <a:tableStyleId>{3B8AFAC2-DE7C-4C76-8830-E91A5CCBC6E1}</a:tableStyleId>
              </a:tblPr>
              <a:tblGrid>
                <a:gridCol w="1752600"/>
                <a:gridCol w="838200"/>
                <a:gridCol w="1066800"/>
                <a:gridCol w="990600"/>
                <a:gridCol w="1066800"/>
              </a:tblGrid>
              <a:tr h="400050">
                <a:tc rowSpan="2">
                  <a:txBody>
                    <a:bodyPr/>
                    <a:lstStyle/>
                    <a:p>
                      <a:pPr indent="0" lvl="0" marL="0" marR="0" rtl="0" algn="l">
                        <a:lnSpc>
                          <a:spcPct val="100000"/>
                        </a:lnSpc>
                        <a:spcBef>
                          <a:spcPts val="0"/>
                        </a:spcBef>
                        <a:spcAft>
                          <a:spcPts val="0"/>
                        </a:spcAft>
                        <a:buClr>
                          <a:schemeClr val="dk1"/>
                        </a:buClr>
                        <a:buSzPts val="1500"/>
                        <a:buFont typeface="Times New Roman"/>
                        <a:buNone/>
                      </a:pPr>
                      <a:r>
                        <a:t/>
                      </a:r>
                      <a:endParaRPr u="none" cap="none" strike="noStrike">
                        <a:latin typeface="Montserrat Medium"/>
                        <a:ea typeface="Montserrat Medium"/>
                        <a:cs typeface="Montserrat Medium"/>
                        <a:sym typeface="Montserrat Medium"/>
                      </a:endParaRPr>
                    </a:p>
                  </a:txBody>
                  <a:tcPr marT="34300" marB="343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404825">
                <a:tc vMerge="1"/>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.432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.084</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.008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90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.048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.036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.072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cxnSp>
        <p:nvCxnSpPr>
          <p:cNvPr id="926" name="Google Shape;926;p5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27" name="Google Shape;927;p5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28" name="Google Shape;928;p5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29" name="Google Shape;929;p5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30" name="Google Shape;930;p5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31" name="Google Shape;931;p5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Exercise</a:t>
            </a:r>
            <a:endParaRPr b="1" i="0" sz="2600" u="none" cap="none" strike="noStrike">
              <a:solidFill>
                <a:srgbClr val="940A15"/>
              </a:solidFill>
              <a:latin typeface="Montserrat"/>
              <a:ea typeface="Montserrat"/>
              <a:cs typeface="Montserrat"/>
              <a:sym typeface="Montserrat"/>
            </a:endParaRPr>
          </a:p>
        </p:txBody>
      </p:sp>
      <p:sp>
        <p:nvSpPr>
          <p:cNvPr id="932" name="Google Shape;932;p5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933" name="Google Shape;933;p59"/>
          <p:cNvSpPr txBox="1"/>
          <p:nvPr/>
        </p:nvSpPr>
        <p:spPr>
          <a:xfrm>
            <a:off x="543150" y="2571750"/>
            <a:ext cx="8081700" cy="224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
                <a:solidFill>
                  <a:schemeClr val="dk2"/>
                </a:solidFill>
                <a:latin typeface="Montserrat"/>
                <a:ea typeface="Montserrat"/>
                <a:cs typeface="Montserrat"/>
                <a:sym typeface="Montserrat"/>
              </a:rPr>
              <a:t>Queries:</a:t>
            </a:r>
            <a:endParaRPr b="1">
              <a:solidFill>
                <a:schemeClr val="dk2"/>
              </a:solidFill>
              <a:latin typeface="Montserrat"/>
              <a:ea typeface="Montserrat"/>
              <a:cs typeface="Montserrat"/>
              <a:sym typeface="Montserrat"/>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smart conditionally independent of prepared, given study?</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Is study conditionally independent of prepared, given smart?</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a:solidFill>
                <a:schemeClr val="dk2"/>
              </a:solidFill>
              <a:latin typeface="Montserrat Medium"/>
              <a:ea typeface="Montserrat Medium"/>
              <a:cs typeface="Montserrat Medium"/>
              <a:sym typeface="Montserrat Medium"/>
            </a:endParaRPr>
          </a:p>
        </p:txBody>
      </p:sp>
      <p:sp>
        <p:nvSpPr>
          <p:cNvPr id="934" name="Google Shape;934;p5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935" name="Google Shape;935;p5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graphicFrame>
        <p:nvGraphicFramePr>
          <p:cNvPr id="936" name="Google Shape;936;p59"/>
          <p:cNvGraphicFramePr/>
          <p:nvPr/>
        </p:nvGraphicFramePr>
        <p:xfrm>
          <a:off x="1676400" y="876300"/>
          <a:ext cx="3000000" cy="3000000"/>
        </p:xfrm>
        <a:graphic>
          <a:graphicData uri="http://schemas.openxmlformats.org/drawingml/2006/table">
            <a:tbl>
              <a:tblPr>
                <a:noFill/>
                <a:tableStyleId>{3B8AFAC2-DE7C-4C76-8830-E91A5CCBC6E1}</a:tableStyleId>
              </a:tblPr>
              <a:tblGrid>
                <a:gridCol w="1752600"/>
                <a:gridCol w="838200"/>
                <a:gridCol w="1066800"/>
                <a:gridCol w="990600"/>
                <a:gridCol w="1066800"/>
              </a:tblGrid>
              <a:tr h="400050">
                <a:tc rowSpan="2">
                  <a:txBody>
                    <a:bodyPr/>
                    <a:lstStyle/>
                    <a:p>
                      <a:pPr indent="0" lvl="0" marL="0" marR="0" rtl="0" algn="l">
                        <a:lnSpc>
                          <a:spcPct val="100000"/>
                        </a:lnSpc>
                        <a:spcBef>
                          <a:spcPts val="0"/>
                        </a:spcBef>
                        <a:spcAft>
                          <a:spcPts val="0"/>
                        </a:spcAft>
                        <a:buClr>
                          <a:schemeClr val="dk1"/>
                        </a:buClr>
                        <a:buSzPts val="1500"/>
                        <a:buFont typeface="Times New Roman"/>
                        <a:buNone/>
                      </a:pPr>
                      <a:r>
                        <a:t/>
                      </a:r>
                      <a:endParaRPr u="none" cap="none" strike="noStrike">
                        <a:latin typeface="Montserrat Medium"/>
                        <a:ea typeface="Montserrat Medium"/>
                        <a:cs typeface="Montserrat Medium"/>
                        <a:sym typeface="Montserrat Medium"/>
                      </a:endParaRPr>
                    </a:p>
                  </a:txBody>
                  <a:tcPr marT="34300" marB="343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¬smart</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404825">
                <a:tc vMerge="1"/>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¬study</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.432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.084</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.008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900">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¬prepared</a:t>
                      </a:r>
                      <a:endParaRPr u="none" cap="none" strike="noStrike">
                        <a:latin typeface="Montserrat Medium"/>
                        <a:ea typeface="Montserrat Medium"/>
                        <a:cs typeface="Montserrat Medium"/>
                        <a:sym typeface="Montserrat Medium"/>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.048</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.16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.036</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Times New Roman"/>
                        <a:buNone/>
                      </a:pPr>
                      <a:r>
                        <a:rPr i="0" lang="en" u="none" cap="none" strike="noStrike">
                          <a:solidFill>
                            <a:schemeClr val="dk1"/>
                          </a:solidFill>
                          <a:latin typeface="Montserrat Medium"/>
                          <a:ea typeface="Montserrat Medium"/>
                          <a:cs typeface="Montserrat Medium"/>
                          <a:sym typeface="Montserrat Medium"/>
                        </a:rPr>
                        <a:t>.072</a:t>
                      </a:r>
                      <a:endParaRPr u="none" cap="none" strike="noStrike">
                        <a:latin typeface="Montserrat Medium"/>
                        <a:ea typeface="Montserrat Medium"/>
                        <a:cs typeface="Montserrat Medium"/>
                        <a:sym typeface="Montserrat Medium"/>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