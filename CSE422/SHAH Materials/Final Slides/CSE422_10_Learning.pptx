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y="5143500" cx="9144000"/>
  <p:notesSz cx="6858000" cy="9144000"/>
  <p:embeddedFontLst>
    <p:embeddedFont>
      <p:font typeface="Montserrat"/>
      <p:regular r:id="rId44"/>
      <p:bold r:id="rId45"/>
      <p:italic r:id="rId46"/>
      <p:boldItalic r:id="rId47"/>
    </p:embeddedFont>
    <p:embeddedFont>
      <p:font typeface="Montserrat Medium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A946952-77E1-4572-B74E-54F2ACEB30CE}">
  <a:tblStyle styleId="{DA946952-77E1-4572-B74E-54F2ACEB30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C2D9DEB-A690-4CB2-B302-C8860A38EA94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font" Target="fonts/Montserrat-regular.fntdata"/><Relationship Id="rId43" Type="http://schemas.openxmlformats.org/officeDocument/2006/relationships/slide" Target="slides/slide36.xml"/><Relationship Id="rId46" Type="http://schemas.openxmlformats.org/officeDocument/2006/relationships/font" Target="fonts/Montserrat-italic.fntdata"/><Relationship Id="rId45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MontserratMedium-regular.fntdata"/><Relationship Id="rId47" Type="http://schemas.openxmlformats.org/officeDocument/2006/relationships/font" Target="fonts/Montserrat-boldItalic.fntdata"/><Relationship Id="rId49" Type="http://schemas.openxmlformats.org/officeDocument/2006/relationships/font" Target="fonts/MontserratMedium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MontserratMedium-boldItalic.fntdata"/><Relationship Id="rId50" Type="http://schemas.openxmlformats.org/officeDocument/2006/relationships/font" Target="fonts/MontserratMedium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f6be204f25_1_37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2f6be204f25_1_3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7836e8bb12_0_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7836e8bb12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7836e8bb12_0_51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7836e8bb12_0_5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b5229fb63_0_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7b5229fb63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7b5229fb63_0_1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37b5229fb63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7836e8bb12_0_47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37836e8bb12_0_4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7b5229fb63_0_3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7b5229fb63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7b5229fb63_0_5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37b5229fb63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7836e8bb12_0_49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37836e8bb12_0_4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77b5e8d930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77b5e8d93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7b5229fb63_0_8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g37b5229fb63_0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7b5229fb63_0_11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g37b5229fb63_0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7b5229fb63_0_17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7b5229fb63_0_1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82a7d9a729_0_2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g382a7d9a729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82a7d9a729_0_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g382a7d9a729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82a7d9a729_0_3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g382a7d9a729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77b5e8d930_0_1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g377b5e8d930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77b5e8d930_0_7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g377b5e8d930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77b5e8d930_0_8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g377b5e8d930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78cb1d0b42_0_11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g378cb1d0b42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77b5e8d930_0_10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g377b5e8d930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77b5e8d930_0_12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g377b5e8d930_0_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77b5e8d930_0_14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g377b5e8d930_0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77b5e8d930_0_16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g377b5e8d930_0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77b5e8d930_0_17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g377b5e8d930_0_1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7a94a4d056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g37a94a4d05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7a94a4d056_0_1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g37a94a4d056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77b5e8d930_0_19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g377b5e8d930_0_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77b5e8d930_0_20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g377b5e8d930_0_2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78cb1d0b42_0_7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g378cb1d0b42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7a82014337_0_2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g37a82014337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78cb1d0b42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g378cb1d0b4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78cb1d0b42_0_2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g378cb1d0b42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78cb1d0b42_0_4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g378cb1d0b42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7a82014337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g37a8201433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78cb1d0b42_0_9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g378cb1d0b42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4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110" name="Google Shape;110;p14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1" name="Google Shape;111;p14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" name="Google Shape;112;p14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3" name="Google Shape;113;p14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4" name="Google Shape;114;p14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5" name="Google Shape;115;p14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6" name="Google Shape;116;p14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" name="Google Shape;117;p14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" name="Google Shape;118;p14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" name="Google Shape;119;p14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" name="Google Shape;120;p14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" name="Google Shape;121;p14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" name="Google Shape;122;p14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3" name="Google Shape;123;p14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4" name="Google Shape;124;p14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" name="Google Shape;125;p14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26" name="Google Shape;126;p14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27" name="Google Shape;127;p14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" name="Google Shape;128;p14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" name="Google Shape;129;p14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0" name="Google Shape;130;p14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" name="Google Shape;131;p14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32" name="Google Shape;132;p14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33" name="Google Shape;133;p14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4" name="Google Shape;134;p14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5" name="Google Shape;135;p14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6" name="Google Shape;136;p14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7" name="Google Shape;137;p14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38" name="Google Shape;138;p14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9" name="Google Shape;139;p14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0" name="Google Shape;140;p14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1" name="Google Shape;141;p14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2" name="Google Shape;142;p14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43" name="Google Shape;143;p14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44" name="Google Shape;144;p14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5" name="Google Shape;145;p14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6" name="Google Shape;146;p14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7" name="Google Shape;147;p14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8" name="Google Shape;148;p14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49" name="Google Shape;149;p14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50" name="Google Shape;150;p14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1" name="Google Shape;151;p14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2" name="Google Shape;152;p14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3" name="Google Shape;153;p14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4" name="Google Shape;154;p14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55" name="Google Shape;155;p14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6" name="Google Shape;156;p14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7" name="Google Shape;157;p14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8" name="Google Shape;158;p14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9" name="Google Shape;159;p14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60" name="Google Shape;160;p14"/>
          <p:cNvSpPr txBox="1"/>
          <p:nvPr>
            <p:ph idx="11" type="ftr"/>
          </p:nvPr>
        </p:nvSpPr>
        <p:spPr>
          <a:xfrm>
            <a:off x="462779" y="4929573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14"/>
          <p:cNvSpPr txBox="1"/>
          <p:nvPr>
            <p:ph idx="10" type="dt"/>
          </p:nvPr>
        </p:nvSpPr>
        <p:spPr>
          <a:xfrm>
            <a:off x="7007967" y="4933014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14"/>
          <p:cNvSpPr txBox="1"/>
          <p:nvPr>
            <p:ph idx="12" type="sldNum"/>
          </p:nvPr>
        </p:nvSpPr>
        <p:spPr>
          <a:xfrm>
            <a:off x="8037713" y="4929573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5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165" name="Google Shape;165;p15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6" name="Google Shape;166;p15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7" name="Google Shape;167;p15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8" name="Google Shape;168;p15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9" name="Google Shape;169;p15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0" name="Google Shape;170;p15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" name="Google Shape;171;p15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2" name="Google Shape;172;p15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3" name="Google Shape;173;p15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" name="Google Shape;174;p15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" name="Google Shape;175;p15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6" name="Google Shape;176;p15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7" name="Google Shape;177;p15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8" name="Google Shape;178;p15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" name="Google Shape;179;p15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" name="Google Shape;180;p15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81" name="Google Shape;181;p15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82" name="Google Shape;182;p1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3" name="Google Shape;183;p1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" name="Google Shape;184;p1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5" name="Google Shape;185;p1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6" name="Google Shape;186;p15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87" name="Google Shape;187;p1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88" name="Google Shape;188;p1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9" name="Google Shape;189;p1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0" name="Google Shape;190;p1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1" name="Google Shape;191;p1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2" name="Google Shape;192;p1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93" name="Google Shape;193;p1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4" name="Google Shape;194;p1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5" name="Google Shape;195;p1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6" name="Google Shape;196;p1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7" name="Google Shape;197;p1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98" name="Google Shape;198;p15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99" name="Google Shape;199;p1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0" name="Google Shape;200;p1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1" name="Google Shape;201;p1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2" name="Google Shape;202;p1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3" name="Google Shape;203;p15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04" name="Google Shape;204;p1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5" name="Google Shape;205;p1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6" name="Google Shape;206;p1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7" name="Google Shape;207;p1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8" name="Google Shape;208;p1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9" name="Google Shape;209;p1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10" name="Google Shape;210;p1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1" name="Google Shape;211;p1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2" name="Google Shape;212;p1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3" name="Google Shape;213;p1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4" name="Google Shape;214;p1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15" name="Google Shape;215;p15"/>
          <p:cNvSpPr txBox="1"/>
          <p:nvPr>
            <p:ph type="ctrTitle"/>
          </p:nvPr>
        </p:nvSpPr>
        <p:spPr>
          <a:xfrm>
            <a:off x="970384" y="1432010"/>
            <a:ext cx="7203233" cy="253746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6" name="Google Shape;216;p15"/>
          <p:cNvSpPr txBox="1"/>
          <p:nvPr>
            <p:ph idx="1" type="subTitle"/>
          </p:nvPr>
        </p:nvSpPr>
        <p:spPr>
          <a:xfrm>
            <a:off x="970384" y="4074423"/>
            <a:ext cx="720323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>
                <a:solidFill>
                  <a:srgbClr val="A43E27"/>
                </a:solidFill>
              </a:defRPr>
            </a:lvl1pPr>
            <a:lvl2pPr lvl="1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cxnSp>
        <p:nvCxnSpPr>
          <p:cNvPr id="217" name="Google Shape;217;p15"/>
          <p:cNvCxnSpPr/>
          <p:nvPr/>
        </p:nvCxnSpPr>
        <p:spPr>
          <a:xfrm>
            <a:off x="971550" y="3970631"/>
            <a:ext cx="72009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0" name="Google Shape;220;p16"/>
          <p:cNvSpPr txBox="1"/>
          <p:nvPr>
            <p:ph idx="1" type="body"/>
          </p:nvPr>
        </p:nvSpPr>
        <p:spPr>
          <a:xfrm>
            <a:off x="971550" y="1485901"/>
            <a:ext cx="7200900" cy="28574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16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2" name="Google Shape;222;p16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3" name="Google Shape;223;p16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gradFill>
          <a:gsLst>
            <a:gs pos="0">
              <a:schemeClr val="accent1"/>
            </a:gs>
            <a:gs pos="97000">
              <a:srgbClr val="AF4329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p17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226" name="Google Shape;226;p17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7" name="Google Shape;227;p17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" name="Google Shape;228;p17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" name="Google Shape;229;p17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" name="Google Shape;230;p17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" name="Google Shape;231;p17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" name="Google Shape;232;p17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" name="Google Shape;233;p17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4" name="Google Shape;234;p17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5" name="Google Shape;235;p17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6" name="Google Shape;236;p17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7" name="Google Shape;237;p17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8" name="Google Shape;238;p17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9" name="Google Shape;239;p17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0" name="Google Shape;240;p17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1" name="Google Shape;241;p17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42" name="Google Shape;242;p17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43" name="Google Shape;243;p17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4" name="Google Shape;244;p17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5" name="Google Shape;245;p17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6" name="Google Shape;246;p17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7" name="Google Shape;247;p17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48" name="Google Shape;248;p17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49" name="Google Shape;249;p17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0" name="Google Shape;250;p17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1" name="Google Shape;251;p17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2" name="Google Shape;252;p17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3" name="Google Shape;253;p17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54" name="Google Shape;254;p17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5" name="Google Shape;255;p17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6" name="Google Shape;256;p17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7" name="Google Shape;257;p17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8" name="Google Shape;258;p17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59" name="Google Shape;259;p17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0" name="Google Shape;260;p17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1" name="Google Shape;261;p17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2" name="Google Shape;262;p17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3" name="Google Shape;263;p17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4" name="Google Shape;264;p17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65" name="Google Shape;265;p17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66" name="Google Shape;266;p17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67" name="Google Shape;267;p17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68" name="Google Shape;268;p17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69" name="Google Shape;269;p17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70" name="Google Shape;270;p17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71" name="Google Shape;271;p17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2" name="Google Shape;272;p17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3" name="Google Shape;273;p17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" name="Google Shape;274;p17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5" name="Google Shape;275;p17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76" name="Google Shape;276;p17"/>
          <p:cNvSpPr txBox="1"/>
          <p:nvPr>
            <p:ph type="title"/>
          </p:nvPr>
        </p:nvSpPr>
        <p:spPr>
          <a:xfrm>
            <a:off x="971550" y="1906180"/>
            <a:ext cx="7200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7" name="Google Shape;277;p17"/>
          <p:cNvSpPr txBox="1"/>
          <p:nvPr>
            <p:ph idx="1" type="body"/>
          </p:nvPr>
        </p:nvSpPr>
        <p:spPr>
          <a:xfrm>
            <a:off x="971550" y="4073652"/>
            <a:ext cx="7200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cxnSp>
        <p:nvCxnSpPr>
          <p:cNvPr id="278" name="Google Shape;278;p17"/>
          <p:cNvCxnSpPr/>
          <p:nvPr/>
        </p:nvCxnSpPr>
        <p:spPr>
          <a:xfrm>
            <a:off x="971550" y="3970631"/>
            <a:ext cx="72009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8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1" name="Google Shape;281;p18"/>
          <p:cNvSpPr txBox="1"/>
          <p:nvPr>
            <p:ph idx="1" type="body"/>
          </p:nvPr>
        </p:nvSpPr>
        <p:spPr>
          <a:xfrm>
            <a:off x="971550" y="1485899"/>
            <a:ext cx="3429000" cy="2857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82" name="Google Shape;282;p18"/>
          <p:cNvSpPr txBox="1"/>
          <p:nvPr>
            <p:ph idx="2" type="body"/>
          </p:nvPr>
        </p:nvSpPr>
        <p:spPr>
          <a:xfrm>
            <a:off x="4743450" y="1485899"/>
            <a:ext cx="3429000" cy="2857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83" name="Google Shape;283;p18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4" name="Google Shape;284;p18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5" name="Google Shape;285;p18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9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8" name="Google Shape;288;p19"/>
          <p:cNvSpPr txBox="1"/>
          <p:nvPr>
            <p:ph idx="1" type="body"/>
          </p:nvPr>
        </p:nvSpPr>
        <p:spPr>
          <a:xfrm>
            <a:off x="971550" y="1363742"/>
            <a:ext cx="3429000" cy="48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289" name="Google Shape;289;p19"/>
          <p:cNvSpPr txBox="1"/>
          <p:nvPr>
            <p:ph idx="2" type="body"/>
          </p:nvPr>
        </p:nvSpPr>
        <p:spPr>
          <a:xfrm>
            <a:off x="971550" y="1877785"/>
            <a:ext cx="3429000" cy="24656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6pPr>
            <a:lvl7pPr indent="-3048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7pPr>
            <a:lvl8pPr indent="-3048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0" name="Google Shape;290;p19"/>
          <p:cNvSpPr txBox="1"/>
          <p:nvPr>
            <p:ph idx="3" type="body"/>
          </p:nvPr>
        </p:nvSpPr>
        <p:spPr>
          <a:xfrm>
            <a:off x="4743450" y="1363742"/>
            <a:ext cx="3429000" cy="48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291" name="Google Shape;291;p19"/>
          <p:cNvSpPr txBox="1"/>
          <p:nvPr>
            <p:ph idx="4" type="body"/>
          </p:nvPr>
        </p:nvSpPr>
        <p:spPr>
          <a:xfrm>
            <a:off x="4743450" y="1877785"/>
            <a:ext cx="3429000" cy="24656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6pPr>
            <a:lvl7pPr indent="-3048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7pPr>
            <a:lvl8pPr indent="-3048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2" name="Google Shape;292;p19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3" name="Google Shape;293;p19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4" name="Google Shape;294;p19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7" name="Google Shape;297;p20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8" name="Google Shape;298;p20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9" name="Google Shape;299;p20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bg>
      <p:bgPr>
        <a:gradFill>
          <a:gsLst>
            <a:gs pos="0">
              <a:schemeClr val="accent1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oogle Shape;301;p21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302" name="Google Shape;302;p21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3" name="Google Shape;303;p21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4" name="Google Shape;304;p21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5" name="Google Shape;305;p21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6" name="Google Shape;306;p21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7" name="Google Shape;307;p21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8" name="Google Shape;308;p21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9" name="Google Shape;309;p21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0" name="Google Shape;310;p21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1" name="Google Shape;311;p21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2" name="Google Shape;312;p21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" name="Google Shape;313;p21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" name="Google Shape;314;p21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" name="Google Shape;315;p21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6" name="Google Shape;316;p21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7" name="Google Shape;317;p21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18" name="Google Shape;318;p21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319" name="Google Shape;319;p21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0" name="Google Shape;320;p21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1" name="Google Shape;321;p21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" name="Google Shape;322;p21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3" name="Google Shape;323;p21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24" name="Google Shape;324;p21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25" name="Google Shape;325;p21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26" name="Google Shape;326;p21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27" name="Google Shape;327;p21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28" name="Google Shape;328;p21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29" name="Google Shape;329;p21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30" name="Google Shape;330;p21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1" name="Google Shape;331;p21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2" name="Google Shape;332;p21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3" name="Google Shape;333;p21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4" name="Google Shape;334;p21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35" name="Google Shape;335;p21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36" name="Google Shape;336;p21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7" name="Google Shape;337;p21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8" name="Google Shape;338;p21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9" name="Google Shape;339;p21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" name="Google Shape;340;p21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41" name="Google Shape;341;p21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42" name="Google Shape;342;p21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3" name="Google Shape;343;p21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4" name="Google Shape;344;p21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5" name="Google Shape;345;p21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6" name="Google Shape;346;p21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47" name="Google Shape;347;p21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8" name="Google Shape;348;p21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" name="Google Shape;349;p21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21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21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352" name="Google Shape;352;p21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1"/>
          <p:cNvSpPr txBox="1"/>
          <p:nvPr>
            <p:ph type="title"/>
          </p:nvPr>
        </p:nvSpPr>
        <p:spPr>
          <a:xfrm>
            <a:off x="5934864" y="428625"/>
            <a:ext cx="2743200" cy="164782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4" name="Google Shape;354;p21"/>
          <p:cNvSpPr txBox="1"/>
          <p:nvPr>
            <p:ph idx="1" type="body"/>
          </p:nvPr>
        </p:nvSpPr>
        <p:spPr>
          <a:xfrm>
            <a:off x="407398" y="428625"/>
            <a:ext cx="4663440" cy="42862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238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15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55" name="Google Shape;355;p21"/>
          <p:cNvSpPr txBox="1"/>
          <p:nvPr>
            <p:ph idx="2" type="body"/>
          </p:nvPr>
        </p:nvSpPr>
        <p:spPr>
          <a:xfrm>
            <a:off x="5934864" y="2246259"/>
            <a:ext cx="2743200" cy="17144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cxnSp>
        <p:nvCxnSpPr>
          <p:cNvPr id="356" name="Google Shape;356;p21"/>
          <p:cNvCxnSpPr/>
          <p:nvPr/>
        </p:nvCxnSpPr>
        <p:spPr>
          <a:xfrm>
            <a:off x="5942317" y="2171700"/>
            <a:ext cx="2744483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7" name="Google Shape;357;p21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8" name="Google Shape;358;p21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9" name="Google Shape;359;p21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bg>
      <p:bgPr>
        <a:gradFill>
          <a:gsLst>
            <a:gs pos="0">
              <a:schemeClr val="accent1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22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362" name="Google Shape;362;p22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3" name="Google Shape;363;p22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4" name="Google Shape;364;p22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5" name="Google Shape;365;p22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6" name="Google Shape;366;p22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7" name="Google Shape;367;p22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8" name="Google Shape;368;p22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9" name="Google Shape;369;p22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0" name="Google Shape;370;p22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1" name="Google Shape;371;p22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2" name="Google Shape;372;p22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3" name="Google Shape;373;p22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4" name="Google Shape;374;p22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5" name="Google Shape;375;p22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6" name="Google Shape;376;p22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" name="Google Shape;377;p22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78" name="Google Shape;378;p22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379" name="Google Shape;379;p22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0" name="Google Shape;380;p22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1" name="Google Shape;381;p22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2" name="Google Shape;382;p22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3" name="Google Shape;383;p22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84" name="Google Shape;384;p22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5" name="Google Shape;385;p22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6" name="Google Shape;386;p22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7" name="Google Shape;387;p22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8" name="Google Shape;388;p22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9" name="Google Shape;389;p22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90" name="Google Shape;390;p22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1" name="Google Shape;391;p22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2" name="Google Shape;392;p22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3" name="Google Shape;393;p22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4" name="Google Shape;394;p22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95" name="Google Shape;395;p22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96" name="Google Shape;396;p22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7" name="Google Shape;397;p22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8" name="Google Shape;398;p22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9" name="Google Shape;399;p22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0" name="Google Shape;400;p22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01" name="Google Shape;401;p22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02" name="Google Shape;402;p22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3" name="Google Shape;403;p22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4" name="Google Shape;404;p22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5" name="Google Shape;405;p22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6" name="Google Shape;406;p22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407" name="Google Shape;407;p22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8" name="Google Shape;408;p22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9" name="Google Shape;409;p22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0" name="Google Shape;410;p22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1" name="Google Shape;411;p22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412" name="Google Shape;412;p22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3" name="Google Shape;413;p22"/>
          <p:cNvCxnSpPr/>
          <p:nvPr/>
        </p:nvCxnSpPr>
        <p:spPr>
          <a:xfrm>
            <a:off x="5942317" y="2171700"/>
            <a:ext cx="2744483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4" name="Google Shape;414;p22"/>
          <p:cNvSpPr txBox="1"/>
          <p:nvPr>
            <p:ph type="title"/>
          </p:nvPr>
        </p:nvSpPr>
        <p:spPr>
          <a:xfrm>
            <a:off x="5932170" y="432054"/>
            <a:ext cx="2743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An empty placeholder to add an image. Click on the placeholder and select the image that you wish to add." id="415" name="Google Shape;415;p22"/>
          <p:cNvSpPr/>
          <p:nvPr>
            <p:ph idx="2" type="pic"/>
          </p:nvPr>
        </p:nvSpPr>
        <p:spPr>
          <a:xfrm>
            <a:off x="3309" y="-119"/>
            <a:ext cx="54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22"/>
          <p:cNvSpPr txBox="1"/>
          <p:nvPr>
            <p:ph idx="1" type="body"/>
          </p:nvPr>
        </p:nvSpPr>
        <p:spPr>
          <a:xfrm>
            <a:off x="5932170" y="2249424"/>
            <a:ext cx="2743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3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9" name="Google Shape;419;p23"/>
          <p:cNvSpPr txBox="1"/>
          <p:nvPr>
            <p:ph idx="1" type="body"/>
          </p:nvPr>
        </p:nvSpPr>
        <p:spPr>
          <a:xfrm rot="5400000">
            <a:off x="3143250" y="-685800"/>
            <a:ext cx="2857499" cy="72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23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1" name="Google Shape;421;p23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2" name="Google Shape;422;p23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4"/>
          <p:cNvSpPr txBox="1"/>
          <p:nvPr>
            <p:ph type="title"/>
          </p:nvPr>
        </p:nvSpPr>
        <p:spPr>
          <a:xfrm rot="5400000">
            <a:off x="5551714" y="1722663"/>
            <a:ext cx="3976007" cy="126546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5" name="Google Shape;425;p24"/>
          <p:cNvSpPr txBox="1"/>
          <p:nvPr>
            <p:ph idx="1" type="body"/>
          </p:nvPr>
        </p:nvSpPr>
        <p:spPr>
          <a:xfrm rot="5400000">
            <a:off x="1828800" y="-489858"/>
            <a:ext cx="3976007" cy="56905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24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7" name="Google Shape;427;p24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8" name="Google Shape;428;p24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3000">
              <a:schemeClr val="lt1"/>
            </a:gs>
            <a:gs pos="100000">
              <a:srgbClr val="F2F2F2">
                <a:alpha val="64705"/>
              </a:srgbClr>
            </a:gs>
          </a:gsLst>
          <a:lin ang="5400000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-1" y="-146957"/>
            <a:ext cx="9144002" cy="5143500"/>
            <a:chOff x="-1" y="0"/>
            <a:chExt cx="12192002" cy="6858000"/>
          </a:xfrm>
        </p:grpSpPr>
        <p:cxnSp>
          <p:nvCxnSpPr>
            <p:cNvPr id="52" name="Google Shape;52;p13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" name="Google Shape;53;p13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" name="Google Shape;54;p13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" name="Google Shape;55;p13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" name="Google Shape;56;p13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" name="Google Shape;57;p13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" name="Google Shape;58;p13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9" name="Google Shape;59;p13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" name="Google Shape;60;p13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" name="Google Shape;61;p13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" name="Google Shape;62;p13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3" name="Google Shape;63;p13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" name="Google Shape;64;p13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5" name="Google Shape;65;p13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" name="Google Shape;66;p13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" name="Google Shape;67;p13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68" name="Google Shape;68;p13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69" name="Google Shape;69;p13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13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" name="Google Shape;71;p13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" name="Google Shape;72;p13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13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74" name="Google Shape;74;p13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75" name="Google Shape;75;p13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" name="Google Shape;76;p13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7" name="Google Shape;77;p13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8" name="Google Shape;78;p13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9" name="Google Shape;79;p13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80" name="Google Shape;80;p13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13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" name="Google Shape;82;p13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13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13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85" name="Google Shape;85;p13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86" name="Google Shape;86;p13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13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13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13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13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91" name="Google Shape;91;p13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92" name="Google Shape;92;p13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3" name="Google Shape;93;p13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4" name="Google Shape;94;p13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5" name="Google Shape;95;p13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6" name="Google Shape;96;p13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97" name="Google Shape;97;p13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13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13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13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13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02" name="Google Shape;102;p13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A43E2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3" name="Google Shape;103;p13"/>
          <p:cNvSpPr txBox="1"/>
          <p:nvPr>
            <p:ph idx="1" type="body"/>
          </p:nvPr>
        </p:nvSpPr>
        <p:spPr>
          <a:xfrm>
            <a:off x="971550" y="1485901"/>
            <a:ext cx="7200900" cy="28574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A43E27"/>
              </a:buClr>
              <a:buSzPts val="1500"/>
              <a:buFont typeface="Arial"/>
              <a:buChar char="▪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200"/>
              <a:buFont typeface="Arial"/>
              <a:buChar char="▪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04" name="Google Shape;104;p13"/>
          <p:cNvCxnSpPr/>
          <p:nvPr/>
        </p:nvCxnSpPr>
        <p:spPr>
          <a:xfrm>
            <a:off x="457200" y="462915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43E2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13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13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p13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4.png"/><Relationship Id="rId4" Type="http://schemas.openxmlformats.org/officeDocument/2006/relationships/image" Target="../media/image3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Relationship Id="rId5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Relationship Id="rId4" Type="http://schemas.openxmlformats.org/officeDocument/2006/relationships/image" Target="../media/image37.png"/><Relationship Id="rId5" Type="http://schemas.openxmlformats.org/officeDocument/2006/relationships/image" Target="../media/image28.png"/><Relationship Id="rId6" Type="http://schemas.openxmlformats.org/officeDocument/2006/relationships/image" Target="../media/image32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image" Target="../media/image3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Relationship Id="rId4" Type="http://schemas.openxmlformats.org/officeDocument/2006/relationships/image" Target="../media/image39.png"/><Relationship Id="rId5" Type="http://schemas.openxmlformats.org/officeDocument/2006/relationships/image" Target="../media/image3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2.png"/><Relationship Id="rId4" Type="http://schemas.openxmlformats.org/officeDocument/2006/relationships/image" Target="../media/image36.png"/><Relationship Id="rId5" Type="http://schemas.openxmlformats.org/officeDocument/2006/relationships/image" Target="../media/image38.png"/><Relationship Id="rId6" Type="http://schemas.openxmlformats.org/officeDocument/2006/relationships/image" Target="../media/image41.png"/><Relationship Id="rId7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5"/>
          <p:cNvSpPr/>
          <p:nvPr/>
        </p:nvSpPr>
        <p:spPr>
          <a:xfrm>
            <a:off x="535846" y="3178756"/>
            <a:ext cx="8072400" cy="11964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40A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5"/>
          <p:cNvSpPr txBox="1"/>
          <p:nvPr/>
        </p:nvSpPr>
        <p:spPr>
          <a:xfrm>
            <a:off x="538975" y="1675071"/>
            <a:ext cx="80724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3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How Machines Learn</a:t>
            </a:r>
            <a:endParaRPr b="1" sz="2000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5" name="Google Shape;435;p25"/>
          <p:cNvSpPr txBox="1"/>
          <p:nvPr/>
        </p:nvSpPr>
        <p:spPr>
          <a:xfrm>
            <a:off x="535896" y="1171357"/>
            <a:ext cx="8072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CSE422</a:t>
            </a:r>
            <a:r>
              <a:rPr b="1" i="0" lang="en" sz="1800" u="none" cap="none" strike="noStrike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b="1" lang="en" sz="18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Artificial intelligence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25"/>
          <p:cNvSpPr txBox="1"/>
          <p:nvPr/>
        </p:nvSpPr>
        <p:spPr>
          <a:xfrm>
            <a:off x="498404" y="3361002"/>
            <a:ext cx="80724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Asif Shahriar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Lecturer, CSE, BRACU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7" name="Google Shape;437;p25"/>
          <p:cNvSpPr txBox="1"/>
          <p:nvPr>
            <p:ph idx="12" type="sldNum"/>
          </p:nvPr>
        </p:nvSpPr>
        <p:spPr>
          <a:xfrm>
            <a:off x="8037713" y="4929573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8" name="Google Shape;438;p25"/>
          <p:cNvSpPr txBox="1"/>
          <p:nvPr>
            <p:ph idx="11" type="ftr"/>
          </p:nvPr>
        </p:nvSpPr>
        <p:spPr>
          <a:xfrm>
            <a:off x="462779" y="4929573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439" name="Google Shape;439;p25"/>
          <p:cNvSpPr txBox="1"/>
          <p:nvPr/>
        </p:nvSpPr>
        <p:spPr>
          <a:xfrm>
            <a:off x="688296" y="2314357"/>
            <a:ext cx="8072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Regression, Logistic Regression, Gradient Descent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4" name="Google Shape;444;p26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5" name="Google Shape;445;p26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6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6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6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9" name="Google Shape;449;p26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Tasks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0" name="Google Shape;450;p26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451" name="Google Shape;451;p26"/>
          <p:cNvSpPr txBox="1"/>
          <p:nvPr/>
        </p:nvSpPr>
        <p:spPr>
          <a:xfrm>
            <a:off x="543150" y="631000"/>
            <a:ext cx="7780800" cy="4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Machine learning tasks can be divided into three broad categories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Supervised Learning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Learns from </a:t>
            </a:r>
            <a:r>
              <a:rPr b="1"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labeled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training data (input-output pairs)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model “supervises” itself by making predictions for input data and 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comparing the 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known answers (right: okay, wrong: improve)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Used for prediction tasks like spam detection, price forecasting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Unsupervised Learning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Works with </a:t>
            </a:r>
            <a:r>
              <a:rPr b="1"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unlabeled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data to find patterns, groups or structures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Example: clustering (grouping customers into segments based on buying behavior), dimensionality reduction, anomaly detection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Reinforcement Learning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algorithm learns by interacting with an environment, making decisions, and receiving </a:t>
            </a:r>
            <a:r>
              <a:rPr b="1"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feedback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in the form of </a:t>
            </a:r>
            <a:r>
              <a:rPr b="1"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rewards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or </a:t>
            </a:r>
            <a:r>
              <a:rPr b="1"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penalties</a:t>
            </a:r>
            <a:endParaRPr b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Applied in robotics, game playing, and self-driving cars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52" name="Google Shape;452;p2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7" name="Google Shape;457;p27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8" name="Google Shape;458;p27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7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7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7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2" name="Google Shape;462;p27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Supervised Learning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3" name="Google Shape;463;p27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464" name="Google Shape;464;p2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65" name="Google Shape;465;p27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466" name="Google Shape;466;p27" title="supervise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2600" y="705000"/>
            <a:ext cx="5653485" cy="4009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1" name="Google Shape;471;p28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2" name="Google Shape;472;p28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8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8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8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6" name="Google Shape;476;p28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Uns</a:t>
            </a: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upervised Learning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28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pic>
        <p:nvPicPr>
          <p:cNvPr id="478" name="Google Shape;478;p28" title="Unsupervised_Learning_951a02cb5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650" y="1070175"/>
            <a:ext cx="6930351" cy="300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3" name="Google Shape;483;p29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4" name="Google Shape;484;p29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9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9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9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8" name="Google Shape;488;p29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Reinforcement </a:t>
            </a: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Learning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9" name="Google Shape;489;p29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pic>
        <p:nvPicPr>
          <p:cNvPr id="490" name="Google Shape;490;p29" title="Reinforcement-Learning-in-ML-TV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600" y="809449"/>
            <a:ext cx="7170225" cy="375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5" name="Google Shape;495;p30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6" name="Google Shape;496;p30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0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30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0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0" name="Google Shape;500;p30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Supervised Learning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p30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502" name="Google Shape;502;p30"/>
          <p:cNvSpPr txBox="1"/>
          <p:nvPr/>
        </p:nvSpPr>
        <p:spPr>
          <a:xfrm>
            <a:off x="462775" y="631001"/>
            <a:ext cx="8264100" cy="4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Supervised Learning can be of TWO types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Regression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Predicts a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continuous numerical value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based on input features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Example: Estimating house price from size, location, and number of rooms.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Classification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Predicts a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discrete class label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from input data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Example: Classifying an email into &lt;spam, ham&gt;, identifying emotion from a social media post &lt;happy, sad, angry, fearful, sarcastic&gt;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03" name="Google Shape;503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04" name="Google Shape;504;p30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9" name="Google Shape;509;p31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0" name="Google Shape;510;p31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1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1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1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4" name="Google Shape;514;p31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Supervised </a:t>
            </a: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Learning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5" name="Google Shape;515;p31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pic>
        <p:nvPicPr>
          <p:cNvPr descr="Image result for what is classification in machine learning" id="516" name="Google Shape;51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9000" y="1644940"/>
            <a:ext cx="4178449" cy="2089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lassification vs regression" id="517" name="Google Shape;51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5050" y="1415350"/>
            <a:ext cx="3571075" cy="26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2" name="Google Shape;522;p32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3" name="Google Shape;523;p32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2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32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2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7" name="Google Shape;527;p32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Train-Test Set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8" name="Google Shape;528;p32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pic>
        <p:nvPicPr>
          <p:cNvPr id="529" name="Google Shape;529;p32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2650" y="848275"/>
            <a:ext cx="4840500" cy="360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4" name="Google Shape;534;p33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5" name="Google Shape;535;p33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3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3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3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9" name="Google Shape;539;p33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0" name="Google Shape;540;p33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541" name="Google Shape;541;p3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42" name="Google Shape;542;p33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543" name="Google Shape;543;p33" title="dataset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8375" y="1331750"/>
            <a:ext cx="350520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8" name="Google Shape;548;p34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9" name="Google Shape;549;p34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34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34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4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3" name="Google Shape;553;p34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4" name="Google Shape;554;p34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555" name="Google Shape;555;p3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56" name="Google Shape;556;p34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57" name="Google Shape;557;p34"/>
          <p:cNvSpPr txBox="1"/>
          <p:nvPr/>
        </p:nvSpPr>
        <p:spPr>
          <a:xfrm>
            <a:off x="458075" y="837625"/>
            <a:ext cx="8210700" cy="38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most straightforward (and very powerful) regression model is a Linear model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Here we assume that the features (x) and the target (y) have a linear relationship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 other words, we try to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FIT 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straight line on the dataset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 each input x</a:t>
            </a:r>
            <a:r>
              <a:rPr baseline="-25000"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we predict the output (target) as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b="1" baseline="-25000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(x) = w</a:t>
            </a:r>
            <a:r>
              <a:rPr b="1" baseline="-25000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+ w</a:t>
            </a:r>
            <a:r>
              <a:rPr b="1" baseline="-25000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</a:t>
            </a:r>
            <a:r>
              <a:rPr baseline="-25000"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and w</a:t>
            </a:r>
            <a:r>
              <a:rPr baseline="-25000"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are called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model parameters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or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weights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we need to find their optimal values during training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</a:t>
            </a:r>
            <a:r>
              <a:rPr baseline="-25000"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 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(the constant term) is often called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“bias”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compare our prediction h</a:t>
            </a:r>
            <a:r>
              <a:rPr baseline="-25000"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(x) with the actual output y to check how right or wrong our current model is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2" name="Google Shape;562;p35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3" name="Google Shape;563;p35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35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5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5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7" name="Google Shape;567;p35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8" name="Google Shape;568;p35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569" name="Google Shape;569;p3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70" name="Google Shape;570;p35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571" name="Google Shape;571;p35" title="dataset-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300" y="2000238"/>
            <a:ext cx="35052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35" title="dataset-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000238"/>
            <a:ext cx="350520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35"/>
          <p:cNvSpPr txBox="1"/>
          <p:nvPr/>
        </p:nvSpPr>
        <p:spPr>
          <a:xfrm>
            <a:off x="458075" y="837625"/>
            <a:ext cx="821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Here are TWO linear regression models (straight lines) fit on the same data.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Which model is better?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8" name="Google Shape;578;p36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9" name="Google Shape;579;p36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6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6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6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3" name="Google Shape;583;p36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 Mini-Housing Dataset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4" name="Google Shape;584;p36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585" name="Google Shape;585;p3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86" name="Google Shape;586;p36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graphicFrame>
        <p:nvGraphicFramePr>
          <p:cNvPr id="587" name="Google Shape;587;p36"/>
          <p:cNvGraphicFramePr/>
          <p:nvPr/>
        </p:nvGraphicFramePr>
        <p:xfrm>
          <a:off x="764675" y="76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{DA946952-77E1-4572-B74E-54F2ACEB30CE}</a:tableStyleId>
              </a:tblPr>
              <a:tblGrid>
                <a:gridCol w="724625"/>
                <a:gridCol w="746025"/>
              </a:tblGrid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Area (x)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Price (y)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1200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2000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1288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2588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1377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2955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1466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3236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1555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3646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1644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4208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1733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4485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1822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5012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1911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5476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2000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6000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588" name="Google Shape;588;p36" title="housing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0000" y="1113501"/>
            <a:ext cx="5432223" cy="3222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3" name="Google Shape;593;p37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4" name="Google Shape;594;p37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7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7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7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8" name="Google Shape;598;p37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Regression: Model Building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9" name="Google Shape;599;p37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600" name="Google Shape;600;p3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01" name="Google Shape;601;p37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graphicFrame>
        <p:nvGraphicFramePr>
          <p:cNvPr id="602" name="Google Shape;602;p37"/>
          <p:cNvGraphicFramePr/>
          <p:nvPr/>
        </p:nvGraphicFramePr>
        <p:xfrm>
          <a:off x="5237775" y="76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{DA946952-77E1-4572-B74E-54F2ACEB30CE}</a:tableStyleId>
              </a:tblPr>
              <a:tblGrid>
                <a:gridCol w="816250"/>
                <a:gridCol w="765650"/>
                <a:gridCol w="1313275"/>
              </a:tblGrid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Area (x)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Price (y)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Predicted= 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</a:t>
                      </a:r>
                      <a:r>
                        <a:rPr b="1" baseline="-25000" lang="en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(x)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1200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2000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4400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1288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2588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4576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1377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2955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4754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1466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3236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4932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1555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3646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5110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1644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4208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5288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1733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4485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5466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1822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5012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5644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1911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5476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5822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2000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6000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6000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03" name="Google Shape;603;p37"/>
          <p:cNvSpPr txBox="1"/>
          <p:nvPr/>
        </p:nvSpPr>
        <p:spPr>
          <a:xfrm>
            <a:off x="462775" y="710625"/>
            <a:ext cx="4047900" cy="13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Let our initial model be </a:t>
            </a:r>
            <a:r>
              <a:rPr b="1" i="1" lang="en" sz="1500">
                <a:solidFill>
                  <a:schemeClr val="dk1"/>
                </a:solidFill>
              </a:rPr>
              <a:t>h(x) = 2x + 2000</a:t>
            </a:r>
            <a:endParaRPr b="1" i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x: feature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h(x): predicted output (price)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y: actual output (price)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Here w</a:t>
            </a:r>
            <a:r>
              <a:rPr baseline="-25000"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= 2000, w</a:t>
            </a:r>
            <a:r>
              <a:rPr baseline="-25000"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 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= 2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604" name="Google Shape;604;p37" title="housing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625" y="2178675"/>
            <a:ext cx="4219076" cy="248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9" name="Google Shape;609;p38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0" name="Google Shape;610;p38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8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8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8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4" name="Google Shape;614;p38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Regression: Loss Function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5" name="Google Shape;615;p38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616" name="Google Shape;616;p3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17" name="Google Shape;617;p38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18" name="Google Shape;618;p38"/>
          <p:cNvSpPr txBox="1"/>
          <p:nvPr/>
        </p:nvSpPr>
        <p:spPr>
          <a:xfrm>
            <a:off x="458075" y="837625"/>
            <a:ext cx="8210700" cy="38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After we get predictions using our initial linear model, we need to determine the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“goodness”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of the current model (how good the model performs)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most common approach is to use a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loss function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loss function measures how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bad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the current model is 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Our goal is to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minimize the loss function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choice of loss function depends on the problem. For regression, we can use the following loss functions: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Absolute Error (AE): |y -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b="1" baseline="-25000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(x)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|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2" marL="1371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 practice we use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Mean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Absolute Error (MAE): |y - h</a:t>
            </a:r>
            <a:r>
              <a:rPr b="1" baseline="-25000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(x))| / N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Squared Error (SE): (y -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b="1" baseline="-25000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(x)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r>
              <a:rPr b="1" baseline="30000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2" marL="1371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 practice we use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Mean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Squared Error (MSE): (y - h</a:t>
            </a:r>
            <a:r>
              <a:rPr b="1" baseline="-25000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(x))</a:t>
            </a:r>
            <a:r>
              <a:rPr b="1" baseline="30000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/ N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2" marL="13716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Montserrat Medium"/>
              <a:buChar char="■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Also called L2 loss function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3" name="Google Shape;623;p39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4" name="Google Shape;624;p39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9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9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39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8" name="Google Shape;628;p39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Regression: Loss Function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9" name="Google Shape;629;p39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630" name="Google Shape;630;p3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31" name="Google Shape;631;p39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graphicFrame>
        <p:nvGraphicFramePr>
          <p:cNvPr id="632" name="Google Shape;632;p39"/>
          <p:cNvGraphicFramePr/>
          <p:nvPr/>
        </p:nvGraphicFramePr>
        <p:xfrm>
          <a:off x="1777450" y="713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{DA946952-77E1-4572-B74E-54F2ACEB30CE}</a:tableStyleId>
              </a:tblPr>
              <a:tblGrid>
                <a:gridCol w="694450"/>
                <a:gridCol w="811525"/>
                <a:gridCol w="894900"/>
                <a:gridCol w="764200"/>
                <a:gridCol w="792275"/>
                <a:gridCol w="865100"/>
                <a:gridCol w="932450"/>
              </a:tblGrid>
              <a:tr h="29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Area (x)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Price (y)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Pred=h(x)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AE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MAE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MSE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1200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2000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4400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2400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2400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5760000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5760000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1288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2588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4576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1988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2194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3952144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4856072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1377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2955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4754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1799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2062.333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3236401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4316182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1466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3236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4932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1696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1970.75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2876416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3956240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1555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3646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5110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1464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1869.4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2143296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3593651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1644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4208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5288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1080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1737.833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1166400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3189110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1733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4485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5466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981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1629.714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962361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2871003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1822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5012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5644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632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1505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399424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2562055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1911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5476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5822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346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1376.222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119716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2290684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2000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6000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6000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1238.6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2061616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12386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1238.6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20616158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2061616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7" name="Google Shape;637;p40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8" name="Google Shape;638;p40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40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40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0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2" name="Google Shape;642;p40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Regression: Model Update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3" name="Google Shape;643;p40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644" name="Google Shape;644;p4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45" name="Google Shape;645;p40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46" name="Google Shape;646;p40"/>
          <p:cNvSpPr txBox="1"/>
          <p:nvPr/>
        </p:nvSpPr>
        <p:spPr>
          <a:xfrm>
            <a:off x="458075" y="837625"/>
            <a:ext cx="8210700" cy="38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Once we have the loss/error values, we need to update the model to make it better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This is done by updating the model parameters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want to select new values for our parameters that minimizes the current loss function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 this we use Gradient Descent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1" name="Google Shape;651;p41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2" name="Google Shape;652;p41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41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41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41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6" name="Google Shape;656;p41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Gradient Descent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7" name="Google Shape;657;p41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658" name="Google Shape;658;p4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59" name="Google Shape;659;p41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60" name="Google Shape;660;p41"/>
          <p:cNvSpPr txBox="1"/>
          <p:nvPr/>
        </p:nvSpPr>
        <p:spPr>
          <a:xfrm>
            <a:off x="458075" y="837625"/>
            <a:ext cx="821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want to choose new values for w</a:t>
            </a:r>
            <a:r>
              <a:rPr baseline="-25000"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and w</a:t>
            </a:r>
            <a:r>
              <a:rPr baseline="-25000"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that minimize the L2 loss function (MSE): 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(y - h</a:t>
            </a:r>
            <a:r>
              <a:rPr b="1" baseline="-25000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(x))</a:t>
            </a:r>
            <a:r>
              <a:rPr b="1" baseline="30000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/ N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61" name="Google Shape;661;p41" title="loss_vs_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550" y="1837787"/>
            <a:ext cx="4085099" cy="2770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41" title="loss_vs_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4050" y="2045799"/>
            <a:ext cx="3729175" cy="2577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7" name="Google Shape;667;p42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8" name="Google Shape;668;p42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42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2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42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2" name="Google Shape;672;p42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Gradient Descent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3" name="Google Shape;673;p42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674" name="Google Shape;674;p4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75" name="Google Shape;675;p42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676" name="Google Shape;67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0400" y="758650"/>
            <a:ext cx="5072399" cy="2335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1" name="Google Shape;681;p43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82" name="Google Shape;682;p43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43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43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43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6" name="Google Shape;686;p43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Gradient Descent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7" name="Google Shape;687;p43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688" name="Google Shape;688;p4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89" name="Google Shape;689;p43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690" name="Google Shape;69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2822" y="705425"/>
            <a:ext cx="3381101" cy="133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6500" y="2228525"/>
            <a:ext cx="3047549" cy="84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6500" y="3622025"/>
            <a:ext cx="3143676" cy="1146602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43"/>
          <p:cNvSpPr txBox="1"/>
          <p:nvPr/>
        </p:nvSpPr>
        <p:spPr>
          <a:xfrm>
            <a:off x="1472825" y="2469500"/>
            <a:ext cx="22578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For single example: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94" name="Google Shape;694;p43"/>
          <p:cNvSpPr txBox="1"/>
          <p:nvPr/>
        </p:nvSpPr>
        <p:spPr>
          <a:xfrm>
            <a:off x="1579250" y="3835675"/>
            <a:ext cx="22578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For entire training set: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9" name="Google Shape;699;p44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0" name="Google Shape;700;p44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44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4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4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4" name="Google Shape;704;p44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Performing Gradient Descent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5" name="Google Shape;705;p44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706" name="Google Shape;706;p4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07" name="Google Shape;707;p44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graphicFrame>
        <p:nvGraphicFramePr>
          <p:cNvPr id="708" name="Google Shape;708;p44"/>
          <p:cNvGraphicFramePr/>
          <p:nvPr/>
        </p:nvGraphicFramePr>
        <p:xfrm>
          <a:off x="841675" y="71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{DA946952-77E1-4572-B74E-54F2ACEB30CE}</a:tableStyleId>
              </a:tblPr>
              <a:tblGrid>
                <a:gridCol w="694450"/>
                <a:gridCol w="811525"/>
                <a:gridCol w="894900"/>
                <a:gridCol w="764200"/>
                <a:gridCol w="981775"/>
              </a:tblGrid>
              <a:tr h="29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Area (x)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Price (y)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Pred=h(x)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y-h(x)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[y-h(x)]x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1200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2000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4400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-2400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-2880000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1288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2588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4576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-1988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-2560544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1377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2955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4754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-1799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-2477223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1466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3236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4932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-1696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-2486336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1555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3646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5110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-1464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-2276520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1644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4208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5288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-1080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-1775520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1733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4485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5466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-981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-1700073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1822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5012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5644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-632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-1151504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1911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5476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5822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-346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-661206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2000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6000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6000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Sum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-12386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-17968926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709" name="Google Shape;70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9750" y="821250"/>
            <a:ext cx="3143676" cy="1146602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44"/>
          <p:cNvSpPr txBox="1"/>
          <p:nvPr/>
        </p:nvSpPr>
        <p:spPr>
          <a:xfrm>
            <a:off x="5333275" y="2209675"/>
            <a:ext cx="35076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</a:t>
            </a:r>
            <a:r>
              <a:rPr baseline="-25000"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=  2000 + (1e-8)(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-12386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 = 1999.999987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</a:t>
            </a:r>
            <a:r>
              <a:rPr baseline="-25000"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=  2 + (1e-8)(</a:t>
            </a: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-17968926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 = 1.82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11" name="Google Shape;71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650" y="2276668"/>
            <a:ext cx="1038180" cy="2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6" name="Google Shape;716;p45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7" name="Google Shape;717;p45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45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45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45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1" name="Google Shape;721;p45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Multi-variable Linear Regression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2" name="Google Shape;722;p45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723" name="Google Shape;723;p4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24" name="Google Shape;724;p45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725" name="Google Shape;72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3175" y="1596850"/>
            <a:ext cx="4860201" cy="594475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45"/>
          <p:cNvSpPr txBox="1"/>
          <p:nvPr/>
        </p:nvSpPr>
        <p:spPr>
          <a:xfrm>
            <a:off x="549675" y="772175"/>
            <a:ext cx="81771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Linear regression is not limited to a single feature only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If there are multiple features, we can extend Linear Regression model naturally: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27" name="Google Shape;727;p45"/>
          <p:cNvSpPr txBox="1"/>
          <p:nvPr/>
        </p:nvSpPr>
        <p:spPr>
          <a:xfrm>
            <a:off x="500350" y="2397800"/>
            <a:ext cx="81771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can use Linear Regression to model non-linear relationships too!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2" name="Google Shape;732;p46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3" name="Google Shape;733;p46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46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46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46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7" name="Google Shape;737;p46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 for Non-Linear Relations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8" name="Google Shape;738;p46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739" name="Google Shape;739;p4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40" name="Google Shape;740;p46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741" name="Google Shape;741;p46" title="dataset-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300" y="1110725"/>
            <a:ext cx="3597250" cy="227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46" title="dataset-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4700" y="986113"/>
            <a:ext cx="3743325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46"/>
          <p:cNvSpPr txBox="1"/>
          <p:nvPr/>
        </p:nvSpPr>
        <p:spPr>
          <a:xfrm>
            <a:off x="428350" y="3529900"/>
            <a:ext cx="81771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linear function (straight line) does not quite fit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Just extend the model!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b="1" baseline="-25000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(x) = w</a:t>
            </a:r>
            <a:r>
              <a:rPr b="1" baseline="-25000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+ w</a:t>
            </a:r>
            <a:r>
              <a:rPr b="1" baseline="-25000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 + w</a:t>
            </a:r>
            <a:r>
              <a:rPr b="1" baseline="-25000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1" baseline="30000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30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8" name="Google Shape;748;p47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9" name="Google Shape;749;p47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47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47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47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3" name="Google Shape;753;p47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 for Non-Linear Relations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4" name="Google Shape;754;p47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755" name="Google Shape;755;p4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56" name="Google Shape;756;p47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757" name="Google Shape;757;p47" title="dataset-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1675" y="973300"/>
            <a:ext cx="3743325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2" name="Google Shape;762;p48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63" name="Google Shape;763;p48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48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48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48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7" name="Google Shape;767;p48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 for Non-Linear Relations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8" name="Google Shape;768;p48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769" name="Google Shape;769;p4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70" name="Google Shape;770;p48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771" name="Google Shape;771;p48" title="cubi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8850" y="1235050"/>
            <a:ext cx="3189900" cy="2111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6" name="Google Shape;776;p49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7" name="Google Shape;777;p49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49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49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49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1" name="Google Shape;781;p49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 for Non-Linear Relations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2" name="Google Shape;782;p49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783" name="Google Shape;783;p4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84" name="Google Shape;784;p49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785" name="Google Shape;785;p49" title="cubic-f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0000" y="1203313"/>
            <a:ext cx="3324225" cy="22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0" name="Google Shape;790;p50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91" name="Google Shape;791;p50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50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50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50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5" name="Google Shape;795;p50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But what about</a:t>
            </a: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 Classification?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6" name="Google Shape;796;p50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797" name="Google Shape;797;p5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98" name="Google Shape;798;p50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graphicFrame>
        <p:nvGraphicFramePr>
          <p:cNvPr id="799" name="Google Shape;799;p50"/>
          <p:cNvGraphicFramePr/>
          <p:nvPr/>
        </p:nvGraphicFramePr>
        <p:xfrm>
          <a:off x="1553225" y="8647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{DC2D9DEB-A690-4CB2-B302-C8860A38EA94}</a:tableStyleId>
              </a:tblPr>
              <a:tblGrid>
                <a:gridCol w="1064500"/>
                <a:gridCol w="1024000"/>
              </a:tblGrid>
              <a:tr h="14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Hours Study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Pass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4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No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4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</a:rPr>
                        <a:t>No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4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Yes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4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</a:rPr>
                        <a:t>No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4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</a:rPr>
                        <a:t>Yes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4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</a:rPr>
                        <a:t>Yes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4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</a:rPr>
                        <a:t>Yes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4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9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</a:rPr>
                        <a:t>Yes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26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?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</a:tbl>
          </a:graphicData>
        </a:graphic>
      </p:graphicFrame>
      <p:cxnSp>
        <p:nvCxnSpPr>
          <p:cNvPr id="800" name="Google Shape;800;p50"/>
          <p:cNvCxnSpPr/>
          <p:nvPr/>
        </p:nvCxnSpPr>
        <p:spPr>
          <a:xfrm>
            <a:off x="3880125" y="1794807"/>
            <a:ext cx="1360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801" name="Google Shape;801;p50"/>
          <p:cNvGraphicFramePr/>
          <p:nvPr/>
        </p:nvGraphicFramePr>
        <p:xfrm>
          <a:off x="5479025" y="8254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{DC2D9DEB-A690-4CB2-B302-C8860A38EA94}</a:tableStyleId>
              </a:tblPr>
              <a:tblGrid>
                <a:gridCol w="1064500"/>
                <a:gridCol w="1024000"/>
              </a:tblGrid>
              <a:tr h="14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Hours Study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Pass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4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4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</a:rPr>
                        <a:t>0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4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4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</a:rPr>
                        <a:t>0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4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4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4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4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9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26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?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802" name="Google Shape;802;p50"/>
          <p:cNvSpPr txBox="1"/>
          <p:nvPr/>
        </p:nvSpPr>
        <p:spPr>
          <a:xfrm>
            <a:off x="608595" y="2820428"/>
            <a:ext cx="8210700" cy="17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 Medium"/>
              <a:buChar char="●"/>
            </a:pPr>
            <a:r>
              <a:rPr lang="en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Here, let’s say we are trying to predict whether a student is going to pass based on hours study</a:t>
            </a:r>
            <a:endParaRPr sz="15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 Medium"/>
              <a:buChar char="●"/>
            </a:pPr>
            <a:r>
              <a:rPr lang="en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Hours study, in this case is the feature and Pass, is a label</a:t>
            </a:r>
            <a:endParaRPr sz="15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 Medium"/>
              <a:buChar char="●"/>
            </a:pPr>
            <a:r>
              <a:rPr lang="en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Pass is a categorical variable consisting of two values {Yes, No}</a:t>
            </a:r>
            <a:endParaRPr sz="15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 Medium"/>
              <a:buChar char="●"/>
            </a:pPr>
            <a:r>
              <a:rPr lang="en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This is a </a:t>
            </a:r>
            <a:r>
              <a:rPr b="1"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classification</a:t>
            </a:r>
            <a:r>
              <a:rPr lang="en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problem [binary classification]</a:t>
            </a:r>
            <a:endParaRPr sz="15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7" name="Google Shape;807;p51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08" name="Google Shape;808;p51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51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51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51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2" name="Google Shape;812;p51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But what about Classification?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3" name="Google Shape;813;p51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814" name="Google Shape;814;p5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15" name="Google Shape;815;p51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graphicFrame>
        <p:nvGraphicFramePr>
          <p:cNvPr id="816" name="Google Shape;816;p51"/>
          <p:cNvGraphicFramePr/>
          <p:nvPr/>
        </p:nvGraphicFramePr>
        <p:xfrm>
          <a:off x="6408225" y="10219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{DC2D9DEB-A690-4CB2-B302-C8860A38EA94}</a:tableStyleId>
              </a:tblPr>
              <a:tblGrid>
                <a:gridCol w="1064500"/>
                <a:gridCol w="1024000"/>
              </a:tblGrid>
              <a:tr h="14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Hours Study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Pass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4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4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</a:rPr>
                        <a:t>0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4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4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</a:rPr>
                        <a:t>0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4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4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4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4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9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  <a:tr h="126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?</a:t>
                      </a:r>
                      <a:endParaRPr sz="1200" u="none" cap="none" strike="noStrike"/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817" name="Google Shape;817;p51"/>
          <p:cNvSpPr txBox="1"/>
          <p:nvPr/>
        </p:nvSpPr>
        <p:spPr>
          <a:xfrm>
            <a:off x="553750" y="877300"/>
            <a:ext cx="37188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Let’s try to plot the dataset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818" name="Google Shape;818;p51"/>
          <p:cNvSpPr txBox="1"/>
          <p:nvPr/>
        </p:nvSpPr>
        <p:spPr>
          <a:xfrm>
            <a:off x="679975" y="3746000"/>
            <a:ext cx="78168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Does not fit</a:t>
            </a:r>
            <a:endParaRPr sz="1600">
              <a:solidFill>
                <a:srgbClr val="FF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Linear models cannot fit non-linear classification data</a:t>
            </a:r>
            <a:endParaRPr sz="16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819" name="Google Shape;819;p51" title="Classification.drawio (4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225" y="1668938"/>
            <a:ext cx="2302575" cy="1805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51" title="Classification.drawio (5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0425" y="1612249"/>
            <a:ext cx="2447167" cy="1919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5" name="Google Shape;825;p52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26" name="Google Shape;826;p52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52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52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52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0" name="Google Shape;830;p52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Linear Model for Classification?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1" name="Google Shape;831;p52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832" name="Google Shape;832;p5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33" name="Google Shape;833;p52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34" name="Google Shape;834;p52"/>
          <p:cNvSpPr txBox="1"/>
          <p:nvPr/>
        </p:nvSpPr>
        <p:spPr>
          <a:xfrm>
            <a:off x="462775" y="945050"/>
            <a:ext cx="8371500" cy="30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 how to fit a linear model to non-linear classification problem?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By passing the linear output through a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non-linear activation function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 binary classification, a suitable non-linear activation function is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sigmoid function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Linear function: z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= w</a:t>
            </a:r>
            <a:r>
              <a:rPr b="1" baseline="-25000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+ w</a:t>
            </a:r>
            <a:r>
              <a:rPr b="1" baseline="-25000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  </a:t>
            </a:r>
            <a:endParaRPr b="1" baseline="30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Sigmoid function: σ(z) = 1 / (1 + e</a:t>
            </a:r>
            <a:r>
              <a:rPr b="1" baseline="30000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-z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 [σ(z)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is called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Logit]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This is called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 (note: this is NOT actually regression, it is classification. We keep the regression word because the idea originally came from Linear Regression)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9" name="Google Shape;839;p53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0" name="Google Shape;840;p53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53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53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53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4" name="Google Shape;844;p53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Sigmoid Function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5" name="Google Shape;845;p53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846" name="Google Shape;846;p5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47" name="Google Shape;847;p53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848" name="Google Shape;848;p53" title="sigmoi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1108" y="1071267"/>
            <a:ext cx="5132000" cy="332960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49" name="Google Shape;849;p53"/>
          <p:cNvGraphicFramePr/>
          <p:nvPr/>
        </p:nvGraphicFramePr>
        <p:xfrm>
          <a:off x="558250" y="713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{DA946952-77E1-4572-B74E-54F2ACEB30CE}</a:tableStyleId>
              </a:tblPr>
              <a:tblGrid>
                <a:gridCol w="498125"/>
                <a:gridCol w="883525"/>
                <a:gridCol w="495725"/>
                <a:gridCol w="823100"/>
              </a:tblGrid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z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σ(z)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z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σ(z)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-10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4.50E-05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0.731059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-9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0.000123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0.880797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-8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0.000335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0.952574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-7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0.000911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0.982014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0.002473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0.993307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-5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0.006693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0.997527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-4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0.017986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7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0.999089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-3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0.047426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8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0.999665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-2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0.119203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9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0.999877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-1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0.268941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0.999955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29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0.5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4" name="Google Shape;854;p54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5" name="Google Shape;855;p54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54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54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54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9" name="Google Shape;859;p54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for Classification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0" name="Google Shape;860;p54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861" name="Google Shape;861;p5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62" name="Google Shape;862;p54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63" name="Google Shape;863;p54"/>
          <p:cNvSpPr txBox="1"/>
          <p:nvPr/>
        </p:nvSpPr>
        <p:spPr>
          <a:xfrm>
            <a:off x="462775" y="727800"/>
            <a:ext cx="8177100" cy="3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z = w</a:t>
            </a:r>
            <a:r>
              <a:rPr b="1" baseline="-25000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+ w</a:t>
            </a:r>
            <a:r>
              <a:rPr b="1" baseline="-25000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Using sigmoid function, we get the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logits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 binary classification, these logits are compared with a fixed threshold, i.e. 0.5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If 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Φ(z) &gt; threshold, prediction y’ = 1, else y’ = 0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Compare the prediction y’ against the true label, y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 binary classification, loss is calculated using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Binary Cross-Entropy (BCE) loss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64" name="Google Shape;864;p54"/>
          <p:cNvPicPr preferRelativeResize="0"/>
          <p:nvPr/>
        </p:nvPicPr>
        <p:blipFill rotWithShape="1">
          <a:blip r:embed="rId3">
            <a:alphaModFix/>
          </a:blip>
          <a:srcRect b="-525400" l="-23680" r="23680" t="525400"/>
          <a:stretch/>
        </p:blipFill>
        <p:spPr>
          <a:xfrm>
            <a:off x="152400" y="4163750"/>
            <a:ext cx="6246647" cy="550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4000" y="1025850"/>
            <a:ext cx="3093102" cy="46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2450" y="3291225"/>
            <a:ext cx="4164391" cy="4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1" name="Google Shape;871;p55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2" name="Google Shape;872;p55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55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55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55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6" name="Google Shape;876;p55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Intuition behind BCE Loss Function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7" name="Google Shape;877;p55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878" name="Google Shape;878;p5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879" name="Google Shape;879;p55"/>
          <p:cNvPicPr preferRelativeResize="0"/>
          <p:nvPr/>
        </p:nvPicPr>
        <p:blipFill rotWithShape="1">
          <a:blip r:embed="rId3">
            <a:alphaModFix/>
          </a:blip>
          <a:srcRect b="-525400" l="-23680" r="23680" t="525400"/>
          <a:stretch/>
        </p:blipFill>
        <p:spPr>
          <a:xfrm>
            <a:off x="152400" y="4163750"/>
            <a:ext cx="6246647" cy="550514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55"/>
          <p:cNvSpPr txBox="1"/>
          <p:nvPr/>
        </p:nvSpPr>
        <p:spPr>
          <a:xfrm>
            <a:off x="464625" y="857250"/>
            <a:ext cx="8147100" cy="38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If y = 1 and 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σ(z)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= 0.000005 [Extreme case of misclassification]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loss = -1.log0 - (1-1).log(1-0) = 5.301 [High loss value]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If y = 1 and a = 1 [Best case of correct classification]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loss = -1.log1 - (1-1).log(1-1) = 0 [Low loss value]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If y = 0 and 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σ(z)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= .000095 [Extreme case of misclassification]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loss = -0.log1 - (1-0).log(1-1) = 4.022 [High loss value]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If y = 0 and a = 0 [Best case of correct classification]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loss = -0.log0 - (1-0).log(1-0) = 0 [Low loss value]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5" name="Google Shape;885;p56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6" name="Google Shape;886;p56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56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56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56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0" name="Google Shape;890;p56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for Classification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1" name="Google Shape;891;p56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892" name="Google Shape;892;p5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93" name="Google Shape;893;p56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94" name="Google Shape;894;p56"/>
          <p:cNvSpPr txBox="1"/>
          <p:nvPr/>
        </p:nvSpPr>
        <p:spPr>
          <a:xfrm>
            <a:off x="462775" y="727800"/>
            <a:ext cx="8177100" cy="3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Updating parameters using gradient descent: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5" name="Google Shape;895;p56"/>
          <p:cNvPicPr preferRelativeResize="0"/>
          <p:nvPr/>
        </p:nvPicPr>
        <p:blipFill rotWithShape="1">
          <a:blip r:embed="rId3">
            <a:alphaModFix/>
          </a:blip>
          <a:srcRect b="-525400" l="-23680" r="23680" t="525400"/>
          <a:stretch/>
        </p:blipFill>
        <p:spPr>
          <a:xfrm>
            <a:off x="152400" y="4163750"/>
            <a:ext cx="6246647" cy="550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3650" y="1140380"/>
            <a:ext cx="5515751" cy="789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6005" y="1974418"/>
            <a:ext cx="3278474" cy="46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98525" y="2488288"/>
            <a:ext cx="3650762" cy="46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65993" y="3023900"/>
            <a:ext cx="2717535" cy="2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5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98525" y="3367050"/>
            <a:ext cx="1214700" cy="32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5" name="Google Shape;905;p57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6" name="Google Shape;906;p57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57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57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57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0" name="Google Shape;910;p57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for Classification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1" name="Google Shape;911;p57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912" name="Google Shape;912;p5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13" name="Google Shape;913;p57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14" name="Google Shape;914;p57"/>
          <p:cNvSpPr txBox="1"/>
          <p:nvPr/>
        </p:nvSpPr>
        <p:spPr>
          <a:xfrm>
            <a:off x="462775" y="727800"/>
            <a:ext cx="8177100" cy="3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Since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z = w</a:t>
            </a:r>
            <a:r>
              <a:rPr b="1" baseline="-25000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+ w</a:t>
            </a:r>
            <a:r>
              <a:rPr b="1" baseline="-25000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x,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Using chain rule,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Does it look familiar?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Similar to linear regression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15" name="Google Shape;915;p57"/>
          <p:cNvPicPr preferRelativeResize="0"/>
          <p:nvPr/>
        </p:nvPicPr>
        <p:blipFill rotWithShape="1">
          <a:blip r:embed="rId3">
            <a:alphaModFix/>
          </a:blip>
          <a:srcRect b="-525400" l="-23680" r="23680" t="525400"/>
          <a:stretch/>
        </p:blipFill>
        <p:spPr>
          <a:xfrm>
            <a:off x="152400" y="4163750"/>
            <a:ext cx="6246647" cy="550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2225" y="1133596"/>
            <a:ext cx="2004159" cy="55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38344" y="2124075"/>
            <a:ext cx="2767639" cy="55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51470" y="2828500"/>
            <a:ext cx="3105101" cy="61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3" name="Google Shape;923;p58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4" name="Google Shape;924;p58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58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58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58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8" name="Google Shape;928;p58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for Classification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9" name="Google Shape;929;p58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930" name="Google Shape;930;p5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31" name="Google Shape;931;p58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32" name="Google Shape;932;p58"/>
          <p:cNvSpPr txBox="1"/>
          <p:nvPr/>
        </p:nvSpPr>
        <p:spPr>
          <a:xfrm>
            <a:off x="462775" y="727800"/>
            <a:ext cx="8177100" cy="3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 single data point: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 entire training set: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33" name="Google Shape;933;p58"/>
          <p:cNvPicPr preferRelativeResize="0"/>
          <p:nvPr/>
        </p:nvPicPr>
        <p:blipFill rotWithShape="1">
          <a:blip r:embed="rId3">
            <a:alphaModFix/>
          </a:blip>
          <a:srcRect b="-525400" l="-23680" r="23680" t="525400"/>
          <a:stretch/>
        </p:blipFill>
        <p:spPr>
          <a:xfrm>
            <a:off x="152400" y="4163750"/>
            <a:ext cx="6246647" cy="550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9099" y="1221299"/>
            <a:ext cx="2832125" cy="10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00144" y="2571750"/>
            <a:ext cx="2640475" cy="1814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0" name="Google Shape;940;p59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1" name="Google Shape;941;p59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59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59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59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5" name="Google Shape;945;p59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Summary of Logistic Regression Steps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6" name="Google Shape;946;p59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947" name="Google Shape;947;p5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48" name="Google Shape;948;p59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49" name="Google Shape;949;p59"/>
          <p:cNvSpPr txBox="1"/>
          <p:nvPr/>
        </p:nvSpPr>
        <p:spPr>
          <a:xfrm>
            <a:off x="462775" y="727800"/>
            <a:ext cx="8177100" cy="3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Take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z = w</a:t>
            </a:r>
            <a:r>
              <a:rPr b="1" baseline="-25000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+ w</a:t>
            </a:r>
            <a:r>
              <a:rPr b="1" baseline="-25000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randomly initialized w</a:t>
            </a:r>
            <a:r>
              <a:rPr baseline="-25000"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and w</a:t>
            </a:r>
            <a:r>
              <a:rPr baseline="-25000"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Pass through sigmoid function to get the logit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σ(z) 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[for Binary classification]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Compare the logit against threshold to get the predicted value y’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Compare y’ with y, calculate the loss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Apply gradient descent to update w</a:t>
            </a:r>
            <a:r>
              <a:rPr baseline="-25000"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and w</a:t>
            </a:r>
            <a:r>
              <a:rPr baseline="-25000"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Repeat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950" name="Google Shape;950;p59"/>
          <p:cNvPicPr preferRelativeResize="0"/>
          <p:nvPr/>
        </p:nvPicPr>
        <p:blipFill rotWithShape="1">
          <a:blip r:embed="rId3">
            <a:alphaModFix/>
          </a:blip>
          <a:srcRect b="-525400" l="-23680" r="23680" t="525400"/>
          <a:stretch/>
        </p:blipFill>
        <p:spPr>
          <a:xfrm>
            <a:off x="152400" y="4163750"/>
            <a:ext cx="6246647" cy="550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5" name="Google Shape;955;p60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6" name="Google Shape;956;p60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60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60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60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0" name="Google Shape;960;p60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for Classification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1" name="Google Shape;961;p60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962" name="Google Shape;962;p6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63" name="Google Shape;963;p60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64" name="Google Shape;964;p60"/>
          <p:cNvSpPr txBox="1"/>
          <p:nvPr/>
        </p:nvSpPr>
        <p:spPr>
          <a:xfrm>
            <a:off x="462775" y="727800"/>
            <a:ext cx="8177100" cy="3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You are training a logistic regression model with two input features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prediction is:                      where 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Input features: x</a:t>
            </a:r>
            <a:r>
              <a:rPr baseline="-25000"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= 1 and 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x</a:t>
            </a:r>
            <a:r>
              <a:rPr baseline="-25000"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= 2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Bias: b = 0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True label: y = 1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Initial weights: w</a:t>
            </a:r>
            <a:r>
              <a:rPr baseline="-25000"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= 0.2 and w</a:t>
            </a:r>
            <a:r>
              <a:rPr baseline="-25000"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= – 0.4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Learning rate, 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Based on these, answer the following questions: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AutoNum type="arabicPeriod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Compute the value of z and the predicted output y'.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AutoNum type="arabicPeriod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Using Binary Cross-entropy loss given as                               perform one step of gradient descent to update the weights. 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65" name="Google Shape;965;p60"/>
          <p:cNvPicPr preferRelativeResize="0"/>
          <p:nvPr/>
        </p:nvPicPr>
        <p:blipFill rotWithShape="1">
          <a:blip r:embed="rId3">
            <a:alphaModFix/>
          </a:blip>
          <a:srcRect b="-525400" l="-23680" r="23680" t="525400"/>
          <a:stretch/>
        </p:blipFill>
        <p:spPr>
          <a:xfrm>
            <a:off x="152400" y="4163750"/>
            <a:ext cx="6246647" cy="550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9825" y="1109363"/>
            <a:ext cx="9906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5050" y="1109375"/>
            <a:ext cx="3773419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41925" y="2791700"/>
            <a:ext cx="689100" cy="366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76275" y="3755943"/>
            <a:ext cx="1439950" cy="43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iamond Grid 16x9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