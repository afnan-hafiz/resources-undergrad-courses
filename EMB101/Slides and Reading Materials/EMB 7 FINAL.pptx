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7" d="100"/>
          <a:sy n="77" d="100"/>
        </p:scale>
        <p:origin x="974" y="-54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990600"/>
            <a:ext cx="8305800" cy="3200400"/>
          </a:xfrm>
          <a:solidFill>
            <a:srgbClr val="C00000"/>
          </a:solidFill>
        </p:spPr>
        <p:txBody>
          <a:bodyPr>
            <a:normAutofit fontScale="90000"/>
          </a:bodyPr>
          <a:lstStyle/>
          <a:p>
            <a:br>
              <a:rPr lang="en-US" sz="4000" b="1" dirty="0">
                <a:solidFill>
                  <a:schemeClr val="bg1"/>
                </a:solidFill>
                <a:cs typeface="BrowalliaUPC" pitchFamily="34" charset="-34"/>
              </a:rPr>
            </a:br>
            <a:r>
              <a:rPr lang="en-US" sz="4000" b="1" dirty="0">
                <a:solidFill>
                  <a:schemeClr val="bg1"/>
                </a:solidFill>
                <a:cs typeface="BrowalliaUPC" pitchFamily="34" charset="-34"/>
              </a:rPr>
              <a:t>LECTURE: 7</a:t>
            </a:r>
            <a:br>
              <a:rPr lang="en-US" sz="4000" b="1" dirty="0">
                <a:solidFill>
                  <a:schemeClr val="bg1"/>
                </a:solidFill>
                <a:cs typeface="BrowalliaUPC" pitchFamily="34" charset="-34"/>
              </a:rPr>
            </a:br>
            <a:r>
              <a:rPr lang="en-US" sz="4000" b="1" dirty="0">
                <a:solidFill>
                  <a:schemeClr val="bg1"/>
                </a:solidFill>
                <a:cs typeface="BrowalliaUPC" pitchFamily="34" charset="-34"/>
              </a:rPr>
              <a:t>CAPITALIST DEVELOPMENT </a:t>
            </a:r>
            <a:br>
              <a:rPr lang="en-US" sz="4000" b="1" dirty="0">
                <a:solidFill>
                  <a:schemeClr val="bg1"/>
                </a:solidFill>
                <a:cs typeface="BrowalliaUPC" pitchFamily="34" charset="-34"/>
              </a:rPr>
            </a:br>
            <a:r>
              <a:rPr lang="en-US" sz="4000" b="1" dirty="0">
                <a:solidFill>
                  <a:schemeClr val="bg1"/>
                </a:solidFill>
                <a:cs typeface="BrowalliaUPC" pitchFamily="34" charset="-34"/>
              </a:rPr>
              <a:t>AND REGIONAL DISPARITY IN PAKISTAN</a:t>
            </a:r>
            <a:br>
              <a:rPr lang="en-US" sz="4000" b="1" dirty="0">
                <a:solidFill>
                  <a:schemeClr val="bg1"/>
                </a:solidFill>
                <a:cs typeface="BrowalliaUPC" pitchFamily="34" charset="-34"/>
              </a:rPr>
            </a:br>
            <a:r>
              <a:rPr lang="en-US" sz="4000" b="1" dirty="0">
                <a:solidFill>
                  <a:schemeClr val="bg1"/>
                </a:solidFill>
                <a:cs typeface="BrowalliaUPC" pitchFamily="34" charset="-34"/>
              </a:rPr>
              <a:t>1947-1970</a:t>
            </a:r>
            <a:br>
              <a:rPr lang="en-US" sz="3200" b="1" dirty="0">
                <a:solidFill>
                  <a:schemeClr val="bg1"/>
                </a:solidFill>
                <a:cs typeface="BrowalliaUPC" pitchFamily="34" charset="-34"/>
              </a:rPr>
            </a:br>
            <a:br>
              <a:rPr lang="en-US" sz="3200" b="1" dirty="0">
                <a:solidFill>
                  <a:schemeClr val="bg1"/>
                </a:solidFill>
                <a:cs typeface="BrowalliaUPC" pitchFamily="34" charset="-34"/>
              </a:rPr>
            </a:br>
            <a:endParaRPr lang="en-US" sz="3600" dirty="0">
              <a:solidFill>
                <a:schemeClr val="bg1"/>
              </a:solidFill>
              <a:cs typeface="BrowalliaUPC" pitchFamily="34" charset="-34"/>
            </a:endParaRPr>
          </a:p>
        </p:txBody>
      </p:sp>
      <p:sp>
        <p:nvSpPr>
          <p:cNvPr id="6" name="Rectangle 5"/>
          <p:cNvSpPr/>
          <p:nvPr/>
        </p:nvSpPr>
        <p:spPr>
          <a:xfrm>
            <a:off x="457200" y="533400"/>
            <a:ext cx="8305800" cy="362833"/>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TextBox 6"/>
          <p:cNvSpPr txBox="1"/>
          <p:nvPr/>
        </p:nvSpPr>
        <p:spPr>
          <a:xfrm>
            <a:off x="4648200" y="5562600"/>
            <a:ext cx="4031232" cy="461665"/>
          </a:xfrm>
          <a:prstGeom prst="rect">
            <a:avLst/>
          </a:prstGeom>
          <a:noFill/>
        </p:spPr>
        <p:txBody>
          <a:bodyPr wrap="none" rtlCol="0">
            <a:spAutoFit/>
          </a:bodyPr>
          <a:lstStyle/>
          <a:p>
            <a:r>
              <a:rPr lang="en-US" sz="2400" b="1" dirty="0">
                <a:solidFill>
                  <a:srgbClr val="FF0000"/>
                </a:solidFill>
              </a:rPr>
              <a:t>PROFESSOR SYED M HASHEMI</a:t>
            </a:r>
            <a:endParaRPr lang="en-US" sz="24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71600"/>
            <a:ext cx="8915400" cy="4724400"/>
          </a:xfrm>
        </p:spPr>
        <p:txBody>
          <a:bodyPr>
            <a:normAutofit lnSpcReduction="10000"/>
          </a:bodyPr>
          <a:lstStyle/>
          <a:p>
            <a:pPr marL="0" marR="0" algn="ctr">
              <a:lnSpc>
                <a:spcPct val="115000"/>
              </a:lnSpc>
              <a:spcBef>
                <a:spcPts val="0"/>
              </a:spcBef>
              <a:spcAft>
                <a:spcPts val="0"/>
              </a:spcAft>
              <a:buNone/>
            </a:pPr>
            <a:r>
              <a:rPr lang="en-US" sz="2800" b="1" dirty="0">
                <a:ea typeface="Calibri" panose="020F0502020204030204" pitchFamily="34" charset="0"/>
                <a:cs typeface="Times New Roman" panose="02020603050405020304" pitchFamily="18" charset="0"/>
              </a:rPr>
              <a:t>Capitalist Development and Regional Disparity in Pakistan</a:t>
            </a:r>
            <a:endParaRPr lang="en-US" sz="2800" b="1" i="1" dirty="0">
              <a:ea typeface="Calibri" panose="020F0502020204030204" pitchFamily="34" charset="0"/>
              <a:cs typeface="Times New Roman" panose="02020603050405020304" pitchFamily="18" charset="0"/>
            </a:endParaRPr>
          </a:p>
          <a:p>
            <a:pPr marL="0" marR="0">
              <a:lnSpc>
                <a:spcPct val="115000"/>
              </a:lnSpc>
              <a:spcBef>
                <a:spcPts val="0"/>
              </a:spcBef>
              <a:spcAft>
                <a:spcPts val="0"/>
              </a:spcAft>
              <a:buNone/>
            </a:pPr>
            <a:endParaRPr lang="en-US" sz="2800" b="1" i="1" dirty="0">
              <a:ea typeface="Calibri" panose="020F0502020204030204" pitchFamily="34" charset="0"/>
              <a:cs typeface="Times New Roman" panose="02020603050405020304" pitchFamily="18" charset="0"/>
            </a:endParaRPr>
          </a:p>
          <a:p>
            <a:pPr marL="0" marR="0">
              <a:lnSpc>
                <a:spcPct val="115000"/>
              </a:lnSpc>
              <a:spcBef>
                <a:spcPts val="0"/>
              </a:spcBef>
              <a:spcAft>
                <a:spcPts val="0"/>
              </a:spcAft>
              <a:buNone/>
            </a:pPr>
            <a:r>
              <a:rPr lang="en-US" sz="2800" b="1" i="1" dirty="0">
                <a:ea typeface="Calibri" panose="020F0502020204030204" pitchFamily="34" charset="0"/>
                <a:cs typeface="Times New Roman" panose="02020603050405020304" pitchFamily="18" charset="0"/>
              </a:rPr>
              <a:t>Learning Objectives: </a:t>
            </a:r>
          </a:p>
          <a:p>
            <a:pPr marR="0">
              <a:lnSpc>
                <a:spcPct val="115000"/>
              </a:lnSpc>
              <a:spcBef>
                <a:spcPts val="0"/>
              </a:spcBef>
              <a:spcAft>
                <a:spcPts val="0"/>
              </a:spcAft>
              <a:buFont typeface="Wingdings" panose="05000000000000000000" pitchFamily="2" charset="2"/>
              <a:buChar char="Ø"/>
            </a:pPr>
            <a:r>
              <a:rPr lang="en-US" sz="2800" b="1" dirty="0">
                <a:ea typeface="Calibri" panose="020F0502020204030204" pitchFamily="34" charset="0"/>
                <a:cs typeface="Times New Roman" panose="02020603050405020304" pitchFamily="18" charset="0"/>
              </a:rPr>
              <a:t>Identify the causes of economic disparity between East and West Pakistan</a:t>
            </a:r>
          </a:p>
          <a:p>
            <a:pPr marR="0" lvl="0">
              <a:lnSpc>
                <a:spcPct val="115000"/>
              </a:lnSpc>
              <a:spcBef>
                <a:spcPts val="0"/>
              </a:spcBef>
              <a:spcAft>
                <a:spcPts val="0"/>
              </a:spcAft>
              <a:buFont typeface="Wingdings" panose="05000000000000000000" pitchFamily="2" charset="2"/>
              <a:buChar char="Ø"/>
              <a:tabLst>
                <a:tab pos="381000" algn="l"/>
              </a:tabLst>
            </a:pPr>
            <a:r>
              <a:rPr lang="en-US" sz="2800" b="1" dirty="0">
                <a:ea typeface="Calibri" panose="020F0502020204030204" pitchFamily="34" charset="0"/>
                <a:cs typeface="Times New Roman" panose="02020603050405020304" pitchFamily="18" charset="0"/>
              </a:rPr>
              <a:t>Recognize how the capitalist development strategy in Pakistan led to regional and income inequality</a:t>
            </a:r>
          </a:p>
          <a:p>
            <a:pPr marR="0" lvl="0">
              <a:lnSpc>
                <a:spcPct val="115000"/>
              </a:lnSpc>
              <a:spcBef>
                <a:spcPts val="0"/>
              </a:spcBef>
              <a:spcAft>
                <a:spcPts val="0"/>
              </a:spcAft>
              <a:buFont typeface="Wingdings" panose="05000000000000000000" pitchFamily="2" charset="2"/>
              <a:buChar char="Ø"/>
              <a:tabLst>
                <a:tab pos="381000" algn="l"/>
              </a:tabLst>
            </a:pPr>
            <a:r>
              <a:rPr lang="en-US" sz="2800" b="1" dirty="0">
                <a:ea typeface="Calibri" panose="020F0502020204030204" pitchFamily="34" charset="0"/>
                <a:cs typeface="Times New Roman" panose="02020603050405020304" pitchFamily="18" charset="0"/>
              </a:rPr>
              <a:t>Understand the 6 points as an economic program to redress the imbalances of the Pakistan development strategy</a:t>
            </a:r>
          </a:p>
          <a:p>
            <a:endParaRPr lang="en-US" dirty="0"/>
          </a:p>
        </p:txBody>
      </p:sp>
      <p:sp>
        <p:nvSpPr>
          <p:cNvPr id="4" name="Title 1"/>
          <p:cNvSpPr txBox="1">
            <a:spLocks/>
          </p:cNvSpPr>
          <p:nvPr/>
        </p:nvSpPr>
        <p:spPr>
          <a:xfrm>
            <a:off x="0" y="0"/>
            <a:ext cx="9144000" cy="762000"/>
          </a:xfrm>
          <a:prstGeom prst="rect">
            <a:avLst/>
          </a:prstGeom>
          <a:solidFill>
            <a:srgbClr val="C00000"/>
          </a:solidFill>
        </p:spPr>
        <p:txBody>
          <a:bodyPr vert="horz" lIns="91440" tIns="45720" rIns="91440" bIns="45720" rtlCol="0" anchor="ctr">
            <a:normAutofit/>
          </a:bodyPr>
          <a:lstStyle/>
          <a:p>
            <a:pPr lvl="0" algn="ctr">
              <a:spcBef>
                <a:spcPct val="0"/>
              </a:spcBef>
            </a:pPr>
            <a:r>
              <a:rPr lang="en-US" sz="4000" b="1" dirty="0">
                <a:solidFill>
                  <a:schemeClr val="bg1"/>
                </a:solidFill>
              </a:rPr>
              <a:t>OUTLINE:  LECTURE 7</a:t>
            </a:r>
            <a:endParaRPr kumimoji="0" lang="en-US" sz="40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7620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8763000" cy="5181600"/>
          </a:xfrm>
        </p:spPr>
        <p:txBody>
          <a:bodyPr>
            <a:normAutofit/>
          </a:bodyPr>
          <a:lstStyle/>
          <a:p>
            <a:pPr>
              <a:buFont typeface="Wingdings" panose="05000000000000000000" pitchFamily="2" charset="2"/>
              <a:buChar char="Ø"/>
            </a:pPr>
            <a:r>
              <a:rPr lang="en-US" sz="2800" b="1" dirty="0"/>
              <a:t> West: slightly better roads, railways irrigation  &amp; power</a:t>
            </a:r>
          </a:p>
          <a:p>
            <a:pPr>
              <a:buFont typeface="Wingdings" panose="05000000000000000000" pitchFamily="2" charset="2"/>
              <a:buChar char="Ø"/>
            </a:pPr>
            <a:r>
              <a:rPr lang="en-US" sz="2800" b="1" dirty="0"/>
              <a:t> East: fertile land, high rainfall, well developed system of waterways</a:t>
            </a:r>
          </a:p>
          <a:p>
            <a:pPr>
              <a:buFont typeface="Wingdings" panose="05000000000000000000" pitchFamily="2" charset="2"/>
              <a:buChar char="Ø"/>
            </a:pPr>
            <a:r>
              <a:rPr lang="en-US" sz="2800" b="1" dirty="0"/>
              <a:t> Both wings had very low industrial capacity though EP had a strong rural handloom industry</a:t>
            </a:r>
          </a:p>
          <a:p>
            <a:pPr>
              <a:buFont typeface="Wingdings" panose="05000000000000000000" pitchFamily="2" charset="2"/>
              <a:buChar char="Ø"/>
            </a:pPr>
            <a:r>
              <a:rPr lang="en-US" sz="2800" b="1" dirty="0"/>
              <a:t> Low educational attainment in both wings</a:t>
            </a:r>
          </a:p>
          <a:p>
            <a:pPr>
              <a:buFont typeface="Wingdings" panose="05000000000000000000" pitchFamily="2" charset="2"/>
              <a:buChar char="Ø"/>
            </a:pPr>
            <a:r>
              <a:rPr lang="en-US" sz="2800" b="1" dirty="0"/>
              <a:t> But WP had strong army; and Muslim civil bureaucrats and Muslim traders from India emigrating to WP </a:t>
            </a:r>
          </a:p>
          <a:p>
            <a:pPr>
              <a:buNone/>
            </a:pPr>
            <a:endParaRPr lang="en-US" sz="3600" dirty="0"/>
          </a:p>
          <a:p>
            <a:pPr>
              <a:buNone/>
            </a:pPr>
            <a:endParaRPr lang="en-US" sz="3600" dirty="0"/>
          </a:p>
          <a:p>
            <a:endParaRPr lang="en-US" dirty="0"/>
          </a:p>
          <a:p>
            <a:endParaRPr lang="en-US" dirty="0"/>
          </a:p>
        </p:txBody>
      </p:sp>
      <p:sp>
        <p:nvSpPr>
          <p:cNvPr id="4" name="Title 1"/>
          <p:cNvSpPr txBox="1">
            <a:spLocks/>
          </p:cNvSpPr>
          <p:nvPr/>
        </p:nvSpPr>
        <p:spPr>
          <a:xfrm>
            <a:off x="0" y="0"/>
            <a:ext cx="9144000" cy="762000"/>
          </a:xfrm>
          <a:prstGeom prst="rect">
            <a:avLst/>
          </a:prstGeom>
          <a:solidFill>
            <a:srgbClr val="C00000"/>
          </a:solidFill>
        </p:spPr>
        <p:txBody>
          <a:bodyPr vert="horz" lIns="91440" tIns="45720" rIns="91440" bIns="45720" rtlCol="0" anchor="ctr">
            <a:noAutofit/>
          </a:bodyPr>
          <a:lstStyle/>
          <a:p>
            <a:pPr lvl="0" algn="ctr">
              <a:spcBef>
                <a:spcPct val="0"/>
              </a:spcBef>
            </a:pPr>
            <a:r>
              <a:rPr lang="en-US" sz="3600" b="1" dirty="0">
                <a:solidFill>
                  <a:schemeClr val="bg1"/>
                </a:solidFill>
              </a:rPr>
              <a:t>INITIAL CONDITIONS: EAST &amp; WEST PAKISTAN</a:t>
            </a:r>
            <a:endParaRPr kumimoji="0" lang="en-US" sz="36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7620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71600"/>
            <a:ext cx="8686800" cy="4876800"/>
          </a:xfrm>
        </p:spPr>
        <p:txBody>
          <a:bodyPr>
            <a:normAutofit fontScale="92500" lnSpcReduction="20000"/>
          </a:bodyPr>
          <a:lstStyle/>
          <a:p>
            <a:pPr>
              <a:buFont typeface="Wingdings" panose="05000000000000000000" pitchFamily="2" charset="2"/>
              <a:buChar char="Ø"/>
            </a:pPr>
            <a:r>
              <a:rPr lang="en-US" b="1" dirty="0"/>
              <a:t> Metropolitan Kolkata and East Bengal hinterland</a:t>
            </a:r>
          </a:p>
          <a:p>
            <a:pPr>
              <a:buFont typeface="Wingdings" panose="05000000000000000000" pitchFamily="2" charset="2"/>
              <a:buChar char="Ø"/>
            </a:pPr>
            <a:r>
              <a:rPr lang="en-US" b="1" dirty="0"/>
              <a:t> Hindu </a:t>
            </a:r>
            <a:r>
              <a:rPr lang="en-US" b="1" dirty="0" err="1"/>
              <a:t>zamindars</a:t>
            </a:r>
            <a:r>
              <a:rPr lang="en-US" b="1" dirty="0"/>
              <a:t> and Muslim tenant and small holder farmers</a:t>
            </a:r>
          </a:p>
          <a:p>
            <a:pPr>
              <a:buFont typeface="Wingdings" panose="05000000000000000000" pitchFamily="2" charset="2"/>
              <a:buChar char="Ø"/>
            </a:pPr>
            <a:r>
              <a:rPr lang="en-US" b="1" dirty="0"/>
              <a:t> Trade, commerce, financial intermediation and rural industries dominated by Hindus</a:t>
            </a:r>
          </a:p>
          <a:p>
            <a:pPr>
              <a:buFont typeface="Wingdings" panose="05000000000000000000" pitchFamily="2" charset="2"/>
              <a:buChar char="Ø"/>
            </a:pPr>
            <a:r>
              <a:rPr lang="en-US" b="1" dirty="0"/>
              <a:t> Tea industry and mechanized river transport owned by British</a:t>
            </a:r>
          </a:p>
          <a:p>
            <a:pPr>
              <a:buFont typeface="Wingdings" panose="05000000000000000000" pitchFamily="2" charset="2"/>
              <a:buChar char="Ø"/>
            </a:pPr>
            <a:r>
              <a:rPr lang="en-US" b="1" dirty="0"/>
              <a:t> Bureaucracy, teaching and legal professions in EB dominated by Hindus </a:t>
            </a:r>
          </a:p>
          <a:p>
            <a:pPr>
              <a:buFont typeface="Wingdings" panose="05000000000000000000" pitchFamily="2" charset="2"/>
              <a:buChar char="Ø"/>
            </a:pPr>
            <a:r>
              <a:rPr lang="en-US" b="1" i="1" dirty="0"/>
              <a:t>Bengali Muslim expectation of advancement through Pakistan </a:t>
            </a:r>
          </a:p>
          <a:p>
            <a:pPr>
              <a:buNone/>
            </a:pPr>
            <a:endParaRPr lang="en-US" dirty="0"/>
          </a:p>
          <a:p>
            <a:endParaRPr lang="en-US" dirty="0"/>
          </a:p>
        </p:txBody>
      </p:sp>
      <p:sp>
        <p:nvSpPr>
          <p:cNvPr id="4" name="Title 1"/>
          <p:cNvSpPr txBox="1">
            <a:spLocks/>
          </p:cNvSpPr>
          <p:nvPr/>
        </p:nvSpPr>
        <p:spPr>
          <a:xfrm>
            <a:off x="0" y="0"/>
            <a:ext cx="9144000" cy="914400"/>
          </a:xfrm>
          <a:prstGeom prst="rect">
            <a:avLst/>
          </a:prstGeom>
          <a:solidFill>
            <a:srgbClr val="C00000"/>
          </a:solidFill>
        </p:spPr>
        <p:txBody>
          <a:bodyPr vert="horz" lIns="91440" tIns="45720" rIns="91440" bIns="45720" rtlCol="0" anchor="ctr">
            <a:normAutofit/>
          </a:bodyPr>
          <a:lstStyle/>
          <a:p>
            <a:pPr lvl="0" algn="ctr">
              <a:spcBef>
                <a:spcPct val="0"/>
              </a:spcBef>
            </a:pPr>
            <a:r>
              <a:rPr lang="en-US" sz="3600" b="1" dirty="0">
                <a:solidFill>
                  <a:schemeClr val="bg1"/>
                </a:solidFill>
              </a:rPr>
              <a:t>ECONOMIC</a:t>
            </a:r>
            <a:r>
              <a:rPr lang="en-US" sz="4000" b="1" dirty="0">
                <a:solidFill>
                  <a:schemeClr val="bg1"/>
                </a:solidFill>
              </a:rPr>
              <a:t> CONDITIONS OF EP IN 1947</a:t>
            </a:r>
            <a:endParaRPr kumimoji="0" lang="en-US" sz="40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9144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838200"/>
          </a:xfrm>
          <a:prstGeom prst="rect">
            <a:avLst/>
          </a:prstGeom>
          <a:solidFill>
            <a:srgbClr val="C00000"/>
          </a:solidFill>
        </p:spPr>
        <p:txBody>
          <a:bodyPr vert="horz" lIns="91440" tIns="45720" rIns="91440" bIns="45720" rtlCol="0" anchor="ctr">
            <a:noAutofit/>
          </a:bodyPr>
          <a:lstStyle/>
          <a:p>
            <a:pPr lvl="0" algn="ctr">
              <a:spcBef>
                <a:spcPct val="0"/>
              </a:spcBef>
            </a:pPr>
            <a:r>
              <a:rPr lang="en-US" sz="3600" b="1" dirty="0">
                <a:solidFill>
                  <a:schemeClr val="bg1"/>
                </a:solidFill>
              </a:rPr>
              <a:t>GROWTH OF DISPARITY: PER CAPITA INCOMES</a:t>
            </a:r>
            <a:endParaRPr kumimoji="0" lang="en-US" sz="36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8382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3">
            <a:extLst>
              <a:ext uri="{FF2B5EF4-FFF2-40B4-BE49-F238E27FC236}">
                <a16:creationId xmlns:a16="http://schemas.microsoft.com/office/drawing/2014/main" id="{FCF90879-1E1B-4961-8477-BDA998EF623A}"/>
              </a:ext>
            </a:extLst>
          </p:cNvPr>
          <p:cNvGraphicFramePr>
            <a:graphicFrameLocks noGrp="1"/>
          </p:cNvGraphicFramePr>
          <p:nvPr>
            <p:ph idx="1"/>
            <p:extLst>
              <p:ext uri="{D42A27DB-BD31-4B8C-83A1-F6EECF244321}">
                <p14:modId xmlns:p14="http://schemas.microsoft.com/office/powerpoint/2010/main" val="23200674"/>
              </p:ext>
            </p:extLst>
          </p:nvPr>
        </p:nvGraphicFramePr>
        <p:xfrm>
          <a:off x="173105" y="1371603"/>
          <a:ext cx="8818495" cy="4495797"/>
        </p:xfrm>
        <a:graphic>
          <a:graphicData uri="http://schemas.openxmlformats.org/drawingml/2006/table">
            <a:tbl>
              <a:tblPr firstRow="1" firstCol="1" bandRow="1">
                <a:tableStyleId>{5940675A-B579-460E-94D1-54222C63F5DA}</a:tableStyleId>
              </a:tblPr>
              <a:tblGrid>
                <a:gridCol w="1579495">
                  <a:extLst>
                    <a:ext uri="{9D8B030D-6E8A-4147-A177-3AD203B41FA5}">
                      <a16:colId xmlns:a16="http://schemas.microsoft.com/office/drawing/2014/main" val="3903656744"/>
                    </a:ext>
                  </a:extLst>
                </a:gridCol>
                <a:gridCol w="2057400">
                  <a:extLst>
                    <a:ext uri="{9D8B030D-6E8A-4147-A177-3AD203B41FA5}">
                      <a16:colId xmlns:a16="http://schemas.microsoft.com/office/drawing/2014/main" val="3748562544"/>
                    </a:ext>
                  </a:extLst>
                </a:gridCol>
                <a:gridCol w="1524000">
                  <a:extLst>
                    <a:ext uri="{9D8B030D-6E8A-4147-A177-3AD203B41FA5}">
                      <a16:colId xmlns:a16="http://schemas.microsoft.com/office/drawing/2014/main" val="1191110460"/>
                    </a:ext>
                  </a:extLst>
                </a:gridCol>
                <a:gridCol w="1879818">
                  <a:extLst>
                    <a:ext uri="{9D8B030D-6E8A-4147-A177-3AD203B41FA5}">
                      <a16:colId xmlns:a16="http://schemas.microsoft.com/office/drawing/2014/main" val="3007051265"/>
                    </a:ext>
                  </a:extLst>
                </a:gridCol>
                <a:gridCol w="1777782">
                  <a:extLst>
                    <a:ext uri="{9D8B030D-6E8A-4147-A177-3AD203B41FA5}">
                      <a16:colId xmlns:a16="http://schemas.microsoft.com/office/drawing/2014/main" val="3986553257"/>
                    </a:ext>
                  </a:extLst>
                </a:gridCol>
              </a:tblGrid>
              <a:tr h="1304097">
                <a:tc>
                  <a:txBody>
                    <a:bodyPr/>
                    <a:lstStyle/>
                    <a:p>
                      <a:pPr marL="0" marR="0" algn="ctr">
                        <a:lnSpc>
                          <a:spcPct val="115000"/>
                        </a:lnSpc>
                        <a:spcBef>
                          <a:spcPts val="0"/>
                        </a:spcBef>
                        <a:spcAft>
                          <a:spcPts val="0"/>
                        </a:spcAft>
                      </a:pPr>
                      <a:r>
                        <a:rPr lang="en-US" sz="2400" b="1" dirty="0">
                          <a:effectLst/>
                        </a:rPr>
                        <a:t>Year</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East Pakistan</a:t>
                      </a:r>
                    </a:p>
                    <a:p>
                      <a:pPr marL="0" marR="0" algn="ctr">
                        <a:lnSpc>
                          <a:spcPct val="115000"/>
                        </a:lnSpc>
                        <a:spcBef>
                          <a:spcPts val="0"/>
                        </a:spcBef>
                        <a:spcAft>
                          <a:spcPts val="0"/>
                        </a:spcAft>
                      </a:pPr>
                      <a:r>
                        <a:rPr lang="en-US" sz="2400" b="1" dirty="0">
                          <a:effectLst/>
                        </a:rPr>
                        <a:t>Rupees</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West Pakistan</a:t>
                      </a:r>
                    </a:p>
                    <a:p>
                      <a:pPr marL="0" marR="0" algn="ctr">
                        <a:lnSpc>
                          <a:spcPct val="115000"/>
                        </a:lnSpc>
                        <a:spcBef>
                          <a:spcPts val="0"/>
                        </a:spcBef>
                        <a:spcAft>
                          <a:spcPts val="0"/>
                        </a:spcAft>
                      </a:pPr>
                      <a:r>
                        <a:rPr lang="en-US" sz="2400" b="1" dirty="0">
                          <a:effectLst/>
                        </a:rPr>
                        <a:t>Rupees</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Disparity </a:t>
                      </a:r>
                    </a:p>
                    <a:p>
                      <a:pPr marL="0" marR="0" algn="ctr">
                        <a:lnSpc>
                          <a:spcPct val="115000"/>
                        </a:lnSpc>
                        <a:spcBef>
                          <a:spcPts val="0"/>
                        </a:spcBef>
                        <a:spcAft>
                          <a:spcPts val="0"/>
                        </a:spcAft>
                      </a:pPr>
                      <a:r>
                        <a:rPr lang="en-US" sz="2400" b="1" dirty="0">
                          <a:effectLst/>
                        </a:rPr>
                        <a:t>(2-1)</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Disparity ration 2-1x100</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36574932"/>
                  </a:ext>
                </a:extLst>
              </a:tr>
              <a:tr h="638340">
                <a:tc>
                  <a:txBody>
                    <a:bodyPr/>
                    <a:lstStyle/>
                    <a:p>
                      <a:pPr marL="0" marR="0" algn="ctr">
                        <a:lnSpc>
                          <a:spcPct val="115000"/>
                        </a:lnSpc>
                        <a:spcBef>
                          <a:spcPts val="0"/>
                        </a:spcBef>
                        <a:spcAft>
                          <a:spcPts val="0"/>
                        </a:spcAft>
                      </a:pPr>
                      <a:r>
                        <a:rPr lang="en-US" sz="2400" b="1" dirty="0">
                          <a:effectLst/>
                        </a:rPr>
                        <a:t>1949/50</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288</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351</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a:effectLst/>
                        </a:rPr>
                        <a:t>63</a:t>
                      </a:r>
                      <a:endParaRPr lang="en-US" sz="24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21.9</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02845671"/>
                  </a:ext>
                </a:extLst>
              </a:tr>
              <a:tr h="638340">
                <a:tc>
                  <a:txBody>
                    <a:bodyPr/>
                    <a:lstStyle/>
                    <a:p>
                      <a:pPr marL="0" marR="0" algn="ctr">
                        <a:lnSpc>
                          <a:spcPct val="115000"/>
                        </a:lnSpc>
                        <a:spcBef>
                          <a:spcPts val="0"/>
                        </a:spcBef>
                        <a:spcAft>
                          <a:spcPts val="0"/>
                        </a:spcAft>
                      </a:pPr>
                      <a:r>
                        <a:rPr lang="en-US" sz="2400" b="1">
                          <a:effectLst/>
                        </a:rPr>
                        <a:t>1954/55</a:t>
                      </a:r>
                      <a:endParaRPr lang="en-US" sz="24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294</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365</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71</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24.1</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61506162"/>
                  </a:ext>
                </a:extLst>
              </a:tr>
              <a:tr h="638340">
                <a:tc>
                  <a:txBody>
                    <a:bodyPr/>
                    <a:lstStyle/>
                    <a:p>
                      <a:pPr marL="0" marR="0" algn="ctr">
                        <a:lnSpc>
                          <a:spcPct val="115000"/>
                        </a:lnSpc>
                        <a:spcBef>
                          <a:spcPts val="0"/>
                        </a:spcBef>
                        <a:spcAft>
                          <a:spcPts val="0"/>
                        </a:spcAft>
                      </a:pPr>
                      <a:r>
                        <a:rPr lang="en-US" sz="2400" b="1">
                          <a:effectLst/>
                        </a:rPr>
                        <a:t>1959/60</a:t>
                      </a:r>
                      <a:endParaRPr lang="en-US" sz="24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277</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367</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90</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32.5</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81113240"/>
                  </a:ext>
                </a:extLst>
              </a:tr>
              <a:tr h="638340">
                <a:tc>
                  <a:txBody>
                    <a:bodyPr/>
                    <a:lstStyle/>
                    <a:p>
                      <a:pPr marL="0" marR="0" algn="ctr">
                        <a:lnSpc>
                          <a:spcPct val="115000"/>
                        </a:lnSpc>
                        <a:spcBef>
                          <a:spcPts val="0"/>
                        </a:spcBef>
                        <a:spcAft>
                          <a:spcPts val="0"/>
                        </a:spcAft>
                      </a:pPr>
                      <a:r>
                        <a:rPr lang="en-US" sz="2400" b="1">
                          <a:effectLst/>
                        </a:rPr>
                        <a:t>1964/65</a:t>
                      </a:r>
                      <a:endParaRPr lang="en-US" sz="24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a:effectLst/>
                        </a:rPr>
                        <a:t>303</a:t>
                      </a:r>
                      <a:endParaRPr lang="en-US" sz="24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440</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137</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45.2</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58852799"/>
                  </a:ext>
                </a:extLst>
              </a:tr>
              <a:tr h="638340">
                <a:tc>
                  <a:txBody>
                    <a:bodyPr/>
                    <a:lstStyle/>
                    <a:p>
                      <a:pPr marL="0" marR="0" algn="ctr">
                        <a:lnSpc>
                          <a:spcPct val="115000"/>
                        </a:lnSpc>
                        <a:spcBef>
                          <a:spcPts val="0"/>
                        </a:spcBef>
                        <a:spcAft>
                          <a:spcPts val="0"/>
                        </a:spcAft>
                      </a:pPr>
                      <a:r>
                        <a:rPr lang="en-US" sz="2400" b="1" dirty="0">
                          <a:effectLst/>
                        </a:rPr>
                        <a:t>1969/70</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a:effectLst/>
                        </a:rPr>
                        <a:t>331</a:t>
                      </a:r>
                      <a:endParaRPr lang="en-US" sz="24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533</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202</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b="1" dirty="0">
                          <a:effectLst/>
                        </a:rPr>
                        <a:t>61.0</a:t>
                      </a:r>
                      <a:endParaRPr lang="en-US" sz="24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37403426"/>
                  </a:ext>
                </a:extLst>
              </a:tr>
            </a:tbl>
          </a:graphicData>
        </a:graphic>
      </p:graphicFrame>
      <p:sp>
        <p:nvSpPr>
          <p:cNvPr id="7" name="TextBox 6"/>
          <p:cNvSpPr txBox="1"/>
          <p:nvPr/>
        </p:nvSpPr>
        <p:spPr>
          <a:xfrm>
            <a:off x="3532" y="5889604"/>
            <a:ext cx="9273757" cy="307777"/>
          </a:xfrm>
          <a:prstGeom prst="rect">
            <a:avLst/>
          </a:prstGeom>
          <a:noFill/>
        </p:spPr>
        <p:txBody>
          <a:bodyPr wrap="none" rtlCol="0">
            <a:spAutoFit/>
          </a:bodyPr>
          <a:lstStyle/>
          <a:p>
            <a:pPr algn="l"/>
            <a:r>
              <a:rPr lang="en-US" sz="1400" b="1" dirty="0">
                <a:solidFill>
                  <a:schemeClr val="tx1"/>
                </a:solidFill>
                <a:latin typeface="+mn-lt"/>
              </a:rPr>
              <a:t>Source: </a:t>
            </a:r>
            <a:r>
              <a:rPr lang="en-US" sz="1400" b="1" dirty="0" err="1">
                <a:solidFill>
                  <a:schemeClr val="tx1"/>
                </a:solidFill>
                <a:latin typeface="+mn-lt"/>
              </a:rPr>
              <a:t>Sobhan</a:t>
            </a:r>
            <a:r>
              <a:rPr lang="en-US" sz="1400" b="1" dirty="0">
                <a:solidFill>
                  <a:schemeClr val="tx1"/>
                </a:solidFill>
                <a:latin typeface="+mn-lt"/>
              </a:rPr>
              <a:t>, </a:t>
            </a:r>
            <a:r>
              <a:rPr lang="en-US" sz="1400" b="1" dirty="0" err="1">
                <a:solidFill>
                  <a:schemeClr val="tx1"/>
                </a:solidFill>
                <a:latin typeface="+mn-lt"/>
              </a:rPr>
              <a:t>Rehman</a:t>
            </a:r>
            <a:r>
              <a:rPr lang="en-US" sz="1400" b="1" dirty="0">
                <a:solidFill>
                  <a:schemeClr val="tx1"/>
                </a:solidFill>
                <a:latin typeface="+mn-lt"/>
              </a:rPr>
              <a:t>, </a:t>
            </a:r>
            <a:r>
              <a:rPr lang="en-US" sz="1400" b="1" i="1" dirty="0">
                <a:solidFill>
                  <a:schemeClr val="tx1"/>
                </a:solidFill>
                <a:latin typeface="+mn-lt"/>
              </a:rPr>
              <a:t>From Two Economies to Two Nations: My Journey to Bangladesh </a:t>
            </a:r>
            <a:r>
              <a:rPr lang="en-US" sz="1400" b="1" dirty="0">
                <a:solidFill>
                  <a:schemeClr val="tx1"/>
                </a:solidFill>
                <a:latin typeface="+mn-lt"/>
              </a:rPr>
              <a:t>(Dhaka: Daily Star Books, 2015</a:t>
            </a:r>
            <a:r>
              <a:rPr lang="en-US" sz="1200" b="1" dirty="0">
                <a:solidFill>
                  <a:schemeClr val="tx1"/>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762000"/>
          </a:xfrm>
          <a:prstGeom prst="rect">
            <a:avLst/>
          </a:prstGeom>
          <a:solidFill>
            <a:srgbClr val="C00000"/>
          </a:solidFill>
        </p:spPr>
        <p:txBody>
          <a:bodyPr vert="horz" lIns="91440" tIns="45720" rIns="91440" bIns="45720" rtlCol="0" anchor="ctr">
            <a:noAutofit/>
          </a:bodyPr>
          <a:lstStyle/>
          <a:p>
            <a:pPr lvl="0" algn="ctr">
              <a:spcBef>
                <a:spcPct val="0"/>
              </a:spcBef>
            </a:pPr>
            <a:r>
              <a:rPr lang="en-US" sz="3200" b="1" dirty="0">
                <a:solidFill>
                  <a:schemeClr val="bg1"/>
                </a:solidFill>
              </a:rPr>
              <a:t>DISPARITY: BASIC CONSUMPTION EXPENDITURES</a:t>
            </a:r>
            <a:endParaRPr kumimoji="0" lang="en-US" sz="32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7620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1">
            <a:extLst>
              <a:ext uri="{FF2B5EF4-FFF2-40B4-BE49-F238E27FC236}">
                <a16:creationId xmlns:a16="http://schemas.microsoft.com/office/drawing/2014/main" id="{567996B7-20AD-4758-9F26-93DF06CE3B0D}"/>
              </a:ext>
            </a:extLst>
          </p:cNvPr>
          <p:cNvGraphicFramePr>
            <a:graphicFrameLocks noGrp="1"/>
          </p:cNvGraphicFramePr>
          <p:nvPr>
            <p:ph idx="1"/>
            <p:extLst>
              <p:ext uri="{D42A27DB-BD31-4B8C-83A1-F6EECF244321}">
                <p14:modId xmlns:p14="http://schemas.microsoft.com/office/powerpoint/2010/main" val="636013468"/>
              </p:ext>
            </p:extLst>
          </p:nvPr>
        </p:nvGraphicFramePr>
        <p:xfrm>
          <a:off x="188338" y="1066800"/>
          <a:ext cx="8803262" cy="5107827"/>
        </p:xfrm>
        <a:graphic>
          <a:graphicData uri="http://schemas.openxmlformats.org/drawingml/2006/table">
            <a:tbl>
              <a:tblPr firstRow="1" firstCol="1" bandRow="1">
                <a:tableStyleId>{5940675A-B579-460E-94D1-54222C63F5DA}</a:tableStyleId>
              </a:tblPr>
              <a:tblGrid>
                <a:gridCol w="2413020">
                  <a:extLst>
                    <a:ext uri="{9D8B030D-6E8A-4147-A177-3AD203B41FA5}">
                      <a16:colId xmlns:a16="http://schemas.microsoft.com/office/drawing/2014/main" val="3882119690"/>
                    </a:ext>
                  </a:extLst>
                </a:gridCol>
                <a:gridCol w="1883689">
                  <a:extLst>
                    <a:ext uri="{9D8B030D-6E8A-4147-A177-3AD203B41FA5}">
                      <a16:colId xmlns:a16="http://schemas.microsoft.com/office/drawing/2014/main" val="1264959876"/>
                    </a:ext>
                  </a:extLst>
                </a:gridCol>
                <a:gridCol w="1127778">
                  <a:extLst>
                    <a:ext uri="{9D8B030D-6E8A-4147-A177-3AD203B41FA5}">
                      <a16:colId xmlns:a16="http://schemas.microsoft.com/office/drawing/2014/main" val="2810148221"/>
                    </a:ext>
                  </a:extLst>
                </a:gridCol>
                <a:gridCol w="1127778">
                  <a:extLst>
                    <a:ext uri="{9D8B030D-6E8A-4147-A177-3AD203B41FA5}">
                      <a16:colId xmlns:a16="http://schemas.microsoft.com/office/drawing/2014/main" val="561705192"/>
                    </a:ext>
                  </a:extLst>
                </a:gridCol>
                <a:gridCol w="1127778">
                  <a:extLst>
                    <a:ext uri="{9D8B030D-6E8A-4147-A177-3AD203B41FA5}">
                      <a16:colId xmlns:a16="http://schemas.microsoft.com/office/drawing/2014/main" val="1164773355"/>
                    </a:ext>
                  </a:extLst>
                </a:gridCol>
                <a:gridCol w="1123219">
                  <a:extLst>
                    <a:ext uri="{9D8B030D-6E8A-4147-A177-3AD203B41FA5}">
                      <a16:colId xmlns:a16="http://schemas.microsoft.com/office/drawing/2014/main" val="481547279"/>
                    </a:ext>
                  </a:extLst>
                </a:gridCol>
              </a:tblGrid>
              <a:tr h="280918">
                <a:tc rowSpan="2">
                  <a:txBody>
                    <a:bodyPr/>
                    <a:lstStyle/>
                    <a:p>
                      <a:pPr marL="0" marR="0" algn="ctr">
                        <a:lnSpc>
                          <a:spcPct val="115000"/>
                        </a:lnSpc>
                        <a:spcBef>
                          <a:spcPts val="0"/>
                        </a:spcBef>
                        <a:spcAft>
                          <a:spcPts val="0"/>
                        </a:spcAft>
                      </a:pPr>
                      <a:r>
                        <a:rPr lang="en-US" sz="1600" b="1" dirty="0">
                          <a:effectLst/>
                          <a:latin typeface="+mn-lt"/>
                        </a:rPr>
                        <a:t>Commodity</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rowSpan="2">
                  <a:txBody>
                    <a:bodyPr/>
                    <a:lstStyle/>
                    <a:p>
                      <a:pPr marL="0" marR="0" algn="ctr">
                        <a:lnSpc>
                          <a:spcPct val="100000"/>
                        </a:lnSpc>
                        <a:spcBef>
                          <a:spcPts val="0"/>
                        </a:spcBef>
                        <a:spcAft>
                          <a:spcPts val="0"/>
                        </a:spcAft>
                      </a:pPr>
                      <a:r>
                        <a:rPr lang="en-US" sz="1600" b="1" dirty="0">
                          <a:effectLst/>
                          <a:latin typeface="+mn-lt"/>
                        </a:rPr>
                        <a:t>Unit of Measurement per capita</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lnSpc>
                          <a:spcPct val="115000"/>
                        </a:lnSpc>
                        <a:spcBef>
                          <a:spcPts val="0"/>
                        </a:spcBef>
                        <a:spcAft>
                          <a:spcPts val="0"/>
                        </a:spcAft>
                      </a:pPr>
                      <a:r>
                        <a:rPr lang="en-US" sz="1600" b="1">
                          <a:effectLst/>
                          <a:latin typeface="+mn-lt"/>
                        </a:rPr>
                        <a:t>1951-52</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15000"/>
                        </a:lnSpc>
                        <a:spcBef>
                          <a:spcPts val="0"/>
                        </a:spcBef>
                        <a:spcAft>
                          <a:spcPts val="0"/>
                        </a:spcAft>
                      </a:pPr>
                      <a:r>
                        <a:rPr lang="en-US" sz="1600" b="1">
                          <a:effectLst/>
                          <a:latin typeface="+mn-lt"/>
                        </a:rPr>
                        <a:t>1963-64</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3629085643"/>
                  </a:ext>
                </a:extLst>
              </a:tr>
              <a:tr h="596920">
                <a:tc vMerge="1">
                  <a:txBody>
                    <a:bodyPr/>
                    <a:lstStyle/>
                    <a:p>
                      <a:endParaRPr lang="en-US"/>
                    </a:p>
                  </a:txBody>
                  <a:tcPr/>
                </a:tc>
                <a:tc vMerge="1">
                  <a:txBody>
                    <a:bodyPr/>
                    <a:lstStyle/>
                    <a:p>
                      <a:endParaRPr lang="en-US"/>
                    </a:p>
                  </a:txBody>
                  <a:tcPr/>
                </a:tc>
                <a:tc>
                  <a:txBody>
                    <a:bodyPr/>
                    <a:lstStyle/>
                    <a:p>
                      <a:pPr marL="0" marR="0" algn="ctr">
                        <a:lnSpc>
                          <a:spcPct val="115000"/>
                        </a:lnSpc>
                        <a:spcBef>
                          <a:spcPts val="0"/>
                        </a:spcBef>
                        <a:spcAft>
                          <a:spcPts val="0"/>
                        </a:spcAft>
                      </a:pPr>
                      <a:r>
                        <a:rPr lang="en-US" sz="1600" b="1" dirty="0">
                          <a:effectLst/>
                          <a:latin typeface="+mn-lt"/>
                        </a:rPr>
                        <a:t>EP</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600" b="1" dirty="0">
                          <a:effectLst/>
                          <a:latin typeface="+mn-lt"/>
                        </a:rPr>
                        <a:t>WP</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600" b="1" dirty="0">
                          <a:effectLst/>
                          <a:latin typeface="+mn-lt"/>
                        </a:rPr>
                        <a:t>EP</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600" b="1" dirty="0">
                          <a:effectLst/>
                          <a:latin typeface="+mn-lt"/>
                        </a:rPr>
                        <a:t>WP</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7305034"/>
                  </a:ext>
                </a:extLst>
              </a:tr>
              <a:tr h="327348">
                <a:tc>
                  <a:txBody>
                    <a:bodyPr/>
                    <a:lstStyle/>
                    <a:p>
                      <a:pPr marL="0" marR="0">
                        <a:lnSpc>
                          <a:spcPct val="115000"/>
                        </a:lnSpc>
                        <a:spcBef>
                          <a:spcPts val="0"/>
                        </a:spcBef>
                        <a:spcAft>
                          <a:spcPts val="0"/>
                        </a:spcAft>
                      </a:pPr>
                      <a:r>
                        <a:rPr lang="en-US" sz="1600" b="1" dirty="0">
                          <a:effectLst/>
                          <a:latin typeface="+mn-lt"/>
                        </a:rPr>
                        <a:t>Cereals</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Per oz. </a:t>
                      </a:r>
                      <a:r>
                        <a:rPr lang="en-US" sz="1600" b="1" dirty="0" err="1">
                          <a:effectLst/>
                          <a:latin typeface="+mn-lt"/>
                        </a:rPr>
                        <a:t>p.d.</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14.9</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15.7</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16.8</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17.4</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6515827"/>
                  </a:ext>
                </a:extLst>
              </a:tr>
              <a:tr h="327348">
                <a:tc>
                  <a:txBody>
                    <a:bodyPr/>
                    <a:lstStyle/>
                    <a:p>
                      <a:pPr marL="0" marR="0">
                        <a:lnSpc>
                          <a:spcPct val="115000"/>
                        </a:lnSpc>
                        <a:spcBef>
                          <a:spcPts val="0"/>
                        </a:spcBef>
                        <a:spcAft>
                          <a:spcPts val="0"/>
                        </a:spcAft>
                      </a:pPr>
                      <a:r>
                        <a:rPr lang="en-US" sz="1600" b="1" dirty="0">
                          <a:effectLst/>
                          <a:latin typeface="+mn-lt"/>
                        </a:rPr>
                        <a:t>Sugar</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Per oz. p.m.</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24.5</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43.5</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10.2</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38.4</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5033797"/>
                  </a:ext>
                </a:extLst>
              </a:tr>
              <a:tr h="327348">
                <a:tc>
                  <a:txBody>
                    <a:bodyPr/>
                    <a:lstStyle/>
                    <a:p>
                      <a:pPr marL="0" marR="0">
                        <a:lnSpc>
                          <a:spcPct val="115000"/>
                        </a:lnSpc>
                        <a:spcBef>
                          <a:spcPts val="0"/>
                        </a:spcBef>
                        <a:spcAft>
                          <a:spcPts val="0"/>
                        </a:spcAft>
                      </a:pPr>
                      <a:r>
                        <a:rPr lang="en-US" sz="1600" b="1" dirty="0">
                          <a:effectLst/>
                          <a:latin typeface="+mn-lt"/>
                        </a:rPr>
                        <a:t>Tea</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Per oz. p.m.</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0.13</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0.6</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0.16</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1.12</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38515598"/>
                  </a:ext>
                </a:extLst>
              </a:tr>
              <a:tr h="327348">
                <a:tc>
                  <a:txBody>
                    <a:bodyPr/>
                    <a:lstStyle/>
                    <a:p>
                      <a:pPr marL="0" marR="0">
                        <a:lnSpc>
                          <a:spcPct val="115000"/>
                        </a:lnSpc>
                        <a:spcBef>
                          <a:spcPts val="0"/>
                        </a:spcBef>
                        <a:spcAft>
                          <a:spcPts val="0"/>
                        </a:spcAft>
                      </a:pPr>
                      <a:r>
                        <a:rPr lang="en-US" sz="1600" b="1" dirty="0">
                          <a:effectLst/>
                          <a:latin typeface="+mn-lt"/>
                        </a:rPr>
                        <a:t>Cloth</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Yds. p.a.</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1.7</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1.4</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a:effectLst/>
                          <a:latin typeface="+mn-lt"/>
                        </a:rPr>
                        <a:t> </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83384393"/>
                  </a:ext>
                </a:extLst>
              </a:tr>
              <a:tr h="327348">
                <a:tc>
                  <a:txBody>
                    <a:bodyPr/>
                    <a:lstStyle/>
                    <a:p>
                      <a:pPr marL="0" marR="0">
                        <a:lnSpc>
                          <a:spcPct val="115000"/>
                        </a:lnSpc>
                        <a:spcBef>
                          <a:spcPts val="0"/>
                        </a:spcBef>
                        <a:spcAft>
                          <a:spcPts val="0"/>
                        </a:spcAft>
                      </a:pPr>
                      <a:r>
                        <a:rPr lang="en-US" sz="1600" b="1" dirty="0">
                          <a:effectLst/>
                          <a:latin typeface="+mn-lt"/>
                        </a:rPr>
                        <a:t>Kerosene</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Gallon p.a.</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0.5</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0.5</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68086918"/>
                  </a:ext>
                </a:extLst>
              </a:tr>
              <a:tr h="327348">
                <a:tc>
                  <a:txBody>
                    <a:bodyPr/>
                    <a:lstStyle/>
                    <a:p>
                      <a:pPr marL="0" marR="0">
                        <a:lnSpc>
                          <a:spcPct val="115000"/>
                        </a:lnSpc>
                        <a:spcBef>
                          <a:spcPts val="0"/>
                        </a:spcBef>
                        <a:spcAft>
                          <a:spcPts val="0"/>
                        </a:spcAft>
                      </a:pPr>
                      <a:r>
                        <a:rPr lang="en-US" sz="1600" b="1" dirty="0">
                          <a:effectLst/>
                          <a:latin typeface="+mn-lt"/>
                        </a:rPr>
                        <a:t>Paper</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Lbs. p.a.</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0.2</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a:effectLst/>
                          <a:latin typeface="+mn-lt"/>
                        </a:rPr>
                        <a:t>0.5</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04085095"/>
                  </a:ext>
                </a:extLst>
              </a:tr>
              <a:tr h="327348">
                <a:tc>
                  <a:txBody>
                    <a:bodyPr/>
                    <a:lstStyle/>
                    <a:p>
                      <a:pPr marL="0" marR="0">
                        <a:lnSpc>
                          <a:spcPct val="115000"/>
                        </a:lnSpc>
                        <a:spcBef>
                          <a:spcPts val="0"/>
                        </a:spcBef>
                        <a:spcAft>
                          <a:spcPts val="0"/>
                        </a:spcAft>
                      </a:pPr>
                      <a:r>
                        <a:rPr lang="en-US" sz="1600" b="1" dirty="0">
                          <a:effectLst/>
                          <a:latin typeface="+mn-lt"/>
                        </a:rPr>
                        <a:t>Milk and Butter</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Lbs. p.m.</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a:effectLst/>
                          <a:latin typeface="+mn-lt"/>
                        </a:rPr>
                        <a:t> </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a:effectLst/>
                          <a:latin typeface="+mn-lt"/>
                        </a:rPr>
                        <a:t>2.1</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8.6</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59239738"/>
                  </a:ext>
                </a:extLst>
              </a:tr>
              <a:tr h="327348">
                <a:tc>
                  <a:txBody>
                    <a:bodyPr/>
                    <a:lstStyle/>
                    <a:p>
                      <a:pPr marL="0" marR="0">
                        <a:lnSpc>
                          <a:spcPct val="115000"/>
                        </a:lnSpc>
                        <a:spcBef>
                          <a:spcPts val="0"/>
                        </a:spcBef>
                        <a:spcAft>
                          <a:spcPts val="0"/>
                        </a:spcAft>
                      </a:pPr>
                      <a:r>
                        <a:rPr lang="en-US" sz="1600" b="1" dirty="0">
                          <a:effectLst/>
                          <a:latin typeface="+mn-lt"/>
                        </a:rPr>
                        <a:t>Mutton, beef and fish</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Lbs. p.m.</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a:effectLst/>
                          <a:latin typeface="+mn-lt"/>
                        </a:rPr>
                        <a:t>0.4</a:t>
                      </a:r>
                      <a:endParaRPr lang="en-US" sz="1600" b="1">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1.7</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28428559"/>
                  </a:ext>
                </a:extLst>
              </a:tr>
              <a:tr h="327348">
                <a:tc>
                  <a:txBody>
                    <a:bodyPr/>
                    <a:lstStyle/>
                    <a:p>
                      <a:pPr marL="0" marR="0">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gridSpan="2">
                  <a:txBody>
                    <a:bodyPr/>
                    <a:lstStyle/>
                    <a:p>
                      <a:pPr marL="0" marR="0" algn="ctr">
                        <a:lnSpc>
                          <a:spcPct val="115000"/>
                        </a:lnSpc>
                        <a:spcBef>
                          <a:spcPts val="0"/>
                        </a:spcBef>
                        <a:spcAft>
                          <a:spcPts val="0"/>
                        </a:spcAft>
                      </a:pPr>
                      <a:r>
                        <a:rPr lang="en-US" sz="1600" b="1" dirty="0">
                          <a:effectLst/>
                          <a:latin typeface="+mn-lt"/>
                        </a:rPr>
                        <a:t>1960</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15000"/>
                        </a:lnSpc>
                        <a:spcBef>
                          <a:spcPts val="0"/>
                        </a:spcBef>
                        <a:spcAft>
                          <a:spcPts val="0"/>
                        </a:spcAft>
                      </a:pPr>
                      <a:r>
                        <a:rPr lang="en-US" sz="1600" b="1" dirty="0">
                          <a:effectLst/>
                          <a:latin typeface="+mn-lt"/>
                        </a:rPr>
                        <a:t>1966-67</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587464783"/>
                  </a:ext>
                </a:extLst>
              </a:tr>
              <a:tr h="627007">
                <a:tc>
                  <a:txBody>
                    <a:bodyPr/>
                    <a:lstStyle/>
                    <a:p>
                      <a:pPr marL="0" marR="0">
                        <a:lnSpc>
                          <a:spcPct val="115000"/>
                        </a:lnSpc>
                        <a:spcBef>
                          <a:spcPts val="0"/>
                        </a:spcBef>
                        <a:spcAft>
                          <a:spcPts val="0"/>
                        </a:spcAft>
                      </a:pPr>
                      <a:r>
                        <a:rPr lang="en-US" sz="1600" b="1" dirty="0">
                          <a:effectLst/>
                          <a:latin typeface="+mn-lt"/>
                        </a:rPr>
                        <a:t>Household in Rs. monthly consumption expenditure</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121.9</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143.8</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151.5</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211.4</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2289928"/>
                  </a:ext>
                </a:extLst>
              </a:tr>
              <a:tr h="656850">
                <a:tc>
                  <a:txBody>
                    <a:bodyPr/>
                    <a:lstStyle/>
                    <a:p>
                      <a:pPr marL="0" marR="0">
                        <a:lnSpc>
                          <a:spcPct val="115000"/>
                        </a:lnSpc>
                        <a:spcBef>
                          <a:spcPts val="0"/>
                        </a:spcBef>
                        <a:spcAft>
                          <a:spcPts val="0"/>
                        </a:spcAft>
                      </a:pPr>
                      <a:r>
                        <a:rPr lang="en-US" sz="1600" b="1" dirty="0">
                          <a:effectLst/>
                          <a:latin typeface="+mn-lt"/>
                        </a:rPr>
                        <a:t> Rice price</a:t>
                      </a:r>
                    </a:p>
                    <a:p>
                      <a:pPr marL="0" marR="0">
                        <a:lnSpc>
                          <a:spcPct val="115000"/>
                        </a:lnSpc>
                        <a:spcBef>
                          <a:spcPts val="0"/>
                        </a:spcBef>
                        <a:spcAft>
                          <a:spcPts val="0"/>
                        </a:spcAft>
                      </a:pPr>
                      <a:r>
                        <a:rPr lang="en-US" sz="1600" b="1" dirty="0">
                          <a:effectLst/>
                          <a:latin typeface="+mn-lt"/>
                        </a:rPr>
                        <a:t>Wheat price </a:t>
                      </a: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b="1" dirty="0">
                          <a:effectLst/>
                          <a:latin typeface="+mn-lt"/>
                        </a:rPr>
                        <a:t>Rs per ton </a:t>
                      </a:r>
                    </a:p>
                    <a:p>
                      <a:pPr marL="0" marR="0">
                        <a:lnSpc>
                          <a:spcPct val="115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Rs per ton</a:t>
                      </a:r>
                    </a:p>
                  </a:txBody>
                  <a:tcPr marL="68580" marR="68580" marT="0" marB="0"/>
                </a:tc>
                <a:tc>
                  <a:txBody>
                    <a:bodyPr/>
                    <a:lstStyle/>
                    <a:p>
                      <a:pPr marL="0" marR="0" algn="r">
                        <a:lnSpc>
                          <a:spcPct val="115000"/>
                        </a:lnSpc>
                        <a:spcBef>
                          <a:spcPts val="0"/>
                        </a:spcBef>
                        <a:spcAft>
                          <a:spcPts val="0"/>
                        </a:spcAft>
                      </a:pP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endParaRPr lang="en-US" sz="16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r">
                        <a:lnSpc>
                          <a:spcPct val="115000"/>
                        </a:lnSpc>
                        <a:spcBef>
                          <a:spcPts val="0"/>
                        </a:spcBef>
                        <a:spcAft>
                          <a:spcPts val="0"/>
                        </a:spcAft>
                      </a:pPr>
                      <a:r>
                        <a:rPr lang="en-US" sz="1600" b="1" dirty="0">
                          <a:effectLst/>
                          <a:latin typeface="+mn-lt"/>
                        </a:rPr>
                        <a:t> 518</a:t>
                      </a:r>
                    </a:p>
                    <a:p>
                      <a:pPr marL="0" marR="0" algn="r">
                        <a:lnSpc>
                          <a:spcPct val="115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517</a:t>
                      </a:r>
                    </a:p>
                  </a:txBody>
                  <a:tcPr marL="68580" marR="68580" marT="0" marB="0"/>
                </a:tc>
                <a:tc>
                  <a:txBody>
                    <a:bodyPr/>
                    <a:lstStyle/>
                    <a:p>
                      <a:pPr marL="0" marR="0" algn="r">
                        <a:lnSpc>
                          <a:spcPct val="115000"/>
                        </a:lnSpc>
                        <a:spcBef>
                          <a:spcPts val="0"/>
                        </a:spcBef>
                        <a:spcAft>
                          <a:spcPts val="0"/>
                        </a:spcAft>
                      </a:pPr>
                      <a:r>
                        <a:rPr lang="en-US" sz="1600" b="1" dirty="0">
                          <a:effectLst/>
                          <a:latin typeface="+mn-lt"/>
                        </a:rPr>
                        <a:t> 334</a:t>
                      </a:r>
                    </a:p>
                    <a:p>
                      <a:pPr marL="0" marR="0" algn="r">
                        <a:lnSpc>
                          <a:spcPct val="115000"/>
                        </a:lnSpc>
                        <a:spcBef>
                          <a:spcPts val="0"/>
                        </a:spcBef>
                        <a:spcAft>
                          <a:spcPts val="0"/>
                        </a:spcAft>
                      </a:pPr>
                      <a:r>
                        <a:rPr lang="en-US" sz="1600" b="1" dirty="0">
                          <a:effectLst/>
                          <a:latin typeface="+mn-lt"/>
                          <a:ea typeface="Times New Roman" panose="02020603050405020304" pitchFamily="18" charset="0"/>
                          <a:cs typeface="Times New Roman" panose="02020603050405020304" pitchFamily="18" charset="0"/>
                        </a:rPr>
                        <a:t>267</a:t>
                      </a:r>
                    </a:p>
                  </a:txBody>
                  <a:tcPr marL="68580" marR="68580" marT="0" marB="0"/>
                </a:tc>
                <a:extLst>
                  <a:ext uri="{0D108BD9-81ED-4DB2-BD59-A6C34878D82A}">
                    <a16:rowId xmlns:a16="http://schemas.microsoft.com/office/drawing/2014/main" val="1769064169"/>
                  </a:ext>
                </a:extLst>
              </a:tr>
            </a:tbl>
          </a:graphicData>
        </a:graphic>
      </p:graphicFrame>
      <p:sp>
        <p:nvSpPr>
          <p:cNvPr id="7" name="TextBox 6"/>
          <p:cNvSpPr txBox="1"/>
          <p:nvPr/>
        </p:nvSpPr>
        <p:spPr>
          <a:xfrm>
            <a:off x="95637" y="6248400"/>
            <a:ext cx="9276963" cy="307777"/>
          </a:xfrm>
          <a:prstGeom prst="rect">
            <a:avLst/>
          </a:prstGeom>
          <a:noFill/>
        </p:spPr>
        <p:txBody>
          <a:bodyPr wrap="none" rtlCol="0">
            <a:spAutoFit/>
          </a:bodyPr>
          <a:lstStyle/>
          <a:p>
            <a:pPr algn="l"/>
            <a:r>
              <a:rPr lang="en-US" sz="1400" b="1" dirty="0">
                <a:solidFill>
                  <a:schemeClr val="tx1"/>
                </a:solidFill>
                <a:latin typeface="+mn-lt"/>
              </a:rPr>
              <a:t>Source: </a:t>
            </a:r>
            <a:r>
              <a:rPr lang="en-US" sz="1400" b="1" dirty="0" err="1">
                <a:solidFill>
                  <a:schemeClr val="tx1"/>
                </a:solidFill>
                <a:latin typeface="+mn-lt"/>
              </a:rPr>
              <a:t>Sobhan</a:t>
            </a:r>
            <a:r>
              <a:rPr lang="en-US" sz="1400" b="1" dirty="0">
                <a:solidFill>
                  <a:schemeClr val="tx1"/>
                </a:solidFill>
                <a:latin typeface="+mn-lt"/>
              </a:rPr>
              <a:t>, </a:t>
            </a:r>
            <a:r>
              <a:rPr lang="en-US" sz="1400" b="1" dirty="0" err="1">
                <a:solidFill>
                  <a:schemeClr val="tx1"/>
                </a:solidFill>
                <a:latin typeface="+mn-lt"/>
              </a:rPr>
              <a:t>Rehman</a:t>
            </a:r>
            <a:r>
              <a:rPr lang="en-US" sz="1400" b="1" dirty="0">
                <a:solidFill>
                  <a:schemeClr val="tx1"/>
                </a:solidFill>
                <a:latin typeface="+mn-lt"/>
              </a:rPr>
              <a:t>, </a:t>
            </a:r>
            <a:r>
              <a:rPr lang="en-US" sz="1400" b="1" i="1" dirty="0">
                <a:solidFill>
                  <a:schemeClr val="tx1"/>
                </a:solidFill>
                <a:latin typeface="+mn-lt"/>
              </a:rPr>
              <a:t>From Two Economies to Two Nations: My Journey to Bangladesh </a:t>
            </a:r>
            <a:r>
              <a:rPr lang="en-US" sz="1400" b="1" dirty="0">
                <a:solidFill>
                  <a:schemeClr val="tx1"/>
                </a:solidFill>
                <a:latin typeface="+mn-lt"/>
              </a:rPr>
              <a:t>(Dhaka: Daily Star Books, 2015</a:t>
            </a:r>
            <a:r>
              <a:rPr lang="en-US" sz="1400" dirty="0">
                <a:solidFill>
                  <a:schemeClr val="tx1"/>
                </a:solidFill>
                <a:latin typeface="+mn-l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762000"/>
          </a:xfrm>
          <a:prstGeom prst="rect">
            <a:avLst/>
          </a:prstGeom>
          <a:solidFill>
            <a:srgbClr val="C00000"/>
          </a:solidFill>
        </p:spPr>
        <p:txBody>
          <a:bodyPr vert="horz" lIns="91440" tIns="45720" rIns="91440" bIns="45720" rtlCol="0" anchor="ctr">
            <a:noAutofit/>
          </a:bodyPr>
          <a:lstStyle/>
          <a:p>
            <a:pPr lvl="0" algn="ctr">
              <a:spcBef>
                <a:spcPct val="0"/>
              </a:spcBef>
            </a:pPr>
            <a:r>
              <a:rPr lang="en-US" sz="3200" b="1" dirty="0">
                <a:solidFill>
                  <a:schemeClr val="bg1"/>
                </a:solidFill>
              </a:rPr>
              <a:t>DISPARITY: SOCIAL AND PHYSICAL INFRASTRUCTURE</a:t>
            </a:r>
            <a:endParaRPr kumimoji="0" lang="en-US" sz="32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7620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7"/>
          <p:cNvGraphicFramePr>
            <a:graphicFrameLocks noGrp="1"/>
          </p:cNvGraphicFramePr>
          <p:nvPr>
            <p:ph idx="1"/>
            <p:extLst>
              <p:ext uri="{D42A27DB-BD31-4B8C-83A1-F6EECF244321}">
                <p14:modId xmlns:p14="http://schemas.microsoft.com/office/powerpoint/2010/main" val="1983103032"/>
              </p:ext>
            </p:extLst>
          </p:nvPr>
        </p:nvGraphicFramePr>
        <p:xfrm>
          <a:off x="152400" y="1066800"/>
          <a:ext cx="8839204" cy="5351388"/>
        </p:xfrm>
        <a:graphic>
          <a:graphicData uri="http://schemas.openxmlformats.org/drawingml/2006/table">
            <a:tbl>
              <a:tblPr firstRow="1" bandRow="1">
                <a:tableStyleId>{5940675A-B579-460E-94D1-54222C63F5DA}</a:tableStyleId>
              </a:tblPr>
              <a:tblGrid>
                <a:gridCol w="1485437">
                  <a:extLst>
                    <a:ext uri="{9D8B030D-6E8A-4147-A177-3AD203B41FA5}">
                      <a16:colId xmlns:a16="http://schemas.microsoft.com/office/drawing/2014/main" val="20001"/>
                    </a:ext>
                  </a:extLst>
                </a:gridCol>
                <a:gridCol w="1182585">
                  <a:extLst>
                    <a:ext uri="{9D8B030D-6E8A-4147-A177-3AD203B41FA5}">
                      <a16:colId xmlns:a16="http://schemas.microsoft.com/office/drawing/2014/main" val="20002"/>
                    </a:ext>
                  </a:extLst>
                </a:gridCol>
                <a:gridCol w="909457">
                  <a:extLst>
                    <a:ext uri="{9D8B030D-6E8A-4147-A177-3AD203B41FA5}">
                      <a16:colId xmlns:a16="http://schemas.microsoft.com/office/drawing/2014/main" val="20003"/>
                    </a:ext>
                  </a:extLst>
                </a:gridCol>
                <a:gridCol w="986458">
                  <a:extLst>
                    <a:ext uri="{9D8B030D-6E8A-4147-A177-3AD203B41FA5}">
                      <a16:colId xmlns:a16="http://schemas.microsoft.com/office/drawing/2014/main" val="20004"/>
                    </a:ext>
                  </a:extLst>
                </a:gridCol>
                <a:gridCol w="986458">
                  <a:extLst>
                    <a:ext uri="{9D8B030D-6E8A-4147-A177-3AD203B41FA5}">
                      <a16:colId xmlns:a16="http://schemas.microsoft.com/office/drawing/2014/main" val="20005"/>
                    </a:ext>
                  </a:extLst>
                </a:gridCol>
                <a:gridCol w="986458">
                  <a:extLst>
                    <a:ext uri="{9D8B030D-6E8A-4147-A177-3AD203B41FA5}">
                      <a16:colId xmlns:a16="http://schemas.microsoft.com/office/drawing/2014/main" val="20006"/>
                    </a:ext>
                  </a:extLst>
                </a:gridCol>
                <a:gridCol w="986458">
                  <a:extLst>
                    <a:ext uri="{9D8B030D-6E8A-4147-A177-3AD203B41FA5}">
                      <a16:colId xmlns:a16="http://schemas.microsoft.com/office/drawing/2014/main" val="20007"/>
                    </a:ext>
                  </a:extLst>
                </a:gridCol>
                <a:gridCol w="1315893">
                  <a:extLst>
                    <a:ext uri="{9D8B030D-6E8A-4147-A177-3AD203B41FA5}">
                      <a16:colId xmlns:a16="http://schemas.microsoft.com/office/drawing/2014/main" val="20008"/>
                    </a:ext>
                  </a:extLst>
                </a:gridCol>
              </a:tblGrid>
              <a:tr h="335431">
                <a:tc rowSpan="2">
                  <a:txBody>
                    <a:bodyPr/>
                    <a:lstStyle/>
                    <a:p>
                      <a:pPr marL="0" marR="0" algn="ctr">
                        <a:lnSpc>
                          <a:spcPct val="115000"/>
                        </a:lnSpc>
                        <a:spcBef>
                          <a:spcPts val="0"/>
                        </a:spcBef>
                        <a:spcAft>
                          <a:spcPts val="0"/>
                        </a:spcAft>
                      </a:pPr>
                      <a:r>
                        <a:rPr lang="en-US" sz="1600" b="1" dirty="0"/>
                        <a:t>Item</a:t>
                      </a:r>
                      <a:endParaRPr lang="en-US" sz="1600" b="1" dirty="0">
                        <a:latin typeface="+mn-lt"/>
                        <a:ea typeface="Times New Roman"/>
                        <a:cs typeface="Times New Roman"/>
                      </a:endParaRPr>
                    </a:p>
                  </a:txBody>
                  <a:tcPr marL="68580" marR="68580" marT="0" marB="0"/>
                </a:tc>
                <a:tc rowSpan="2">
                  <a:txBody>
                    <a:bodyPr/>
                    <a:lstStyle/>
                    <a:p>
                      <a:pPr marL="0" marR="0" algn="ctr">
                        <a:lnSpc>
                          <a:spcPct val="115000"/>
                        </a:lnSpc>
                        <a:spcBef>
                          <a:spcPts val="0"/>
                        </a:spcBef>
                        <a:spcAft>
                          <a:spcPts val="0"/>
                        </a:spcAft>
                      </a:pPr>
                      <a:r>
                        <a:rPr lang="en-US" sz="1600" b="1" dirty="0"/>
                        <a:t>Unit of Measurement per capita</a:t>
                      </a:r>
                      <a:endParaRPr lang="en-US" sz="1600" b="1" dirty="0">
                        <a:latin typeface="+mn-lt"/>
                        <a:ea typeface="Times New Roman"/>
                        <a:cs typeface="Times New Roman"/>
                      </a:endParaRPr>
                    </a:p>
                  </a:txBody>
                  <a:tcPr marL="68580" marR="68580" marT="0" marB="0"/>
                </a:tc>
                <a:tc gridSpan="2">
                  <a:txBody>
                    <a:bodyPr/>
                    <a:lstStyle/>
                    <a:p>
                      <a:pPr marL="0" marR="0" algn="ctr">
                        <a:lnSpc>
                          <a:spcPct val="115000"/>
                        </a:lnSpc>
                        <a:spcBef>
                          <a:spcPts val="0"/>
                        </a:spcBef>
                        <a:spcAft>
                          <a:spcPts val="0"/>
                        </a:spcAft>
                      </a:pPr>
                      <a:r>
                        <a:rPr lang="en-US" sz="1600" b="1" dirty="0"/>
                        <a:t>1951-52</a:t>
                      </a:r>
                      <a:endParaRPr lang="en-US" sz="1600" b="1" dirty="0">
                        <a:latin typeface="+mn-lt"/>
                        <a:ea typeface="Times New Roman"/>
                        <a:cs typeface="Times New Roman"/>
                      </a:endParaRPr>
                    </a:p>
                  </a:txBody>
                  <a:tcPr marL="68580" marR="68580" marT="0" marB="0"/>
                </a:tc>
                <a:tc hMerge="1">
                  <a:txBody>
                    <a:bodyPr/>
                    <a:lstStyle/>
                    <a:p>
                      <a:pPr marL="0" marR="0" algn="ctr">
                        <a:lnSpc>
                          <a:spcPct val="115000"/>
                        </a:lnSpc>
                        <a:spcBef>
                          <a:spcPts val="0"/>
                        </a:spcBef>
                        <a:spcAft>
                          <a:spcPts val="0"/>
                        </a:spcAft>
                      </a:pPr>
                      <a:endParaRPr lang="en-US" sz="1100" dirty="0">
                        <a:latin typeface="Calibri"/>
                        <a:ea typeface="Times New Roman"/>
                        <a:cs typeface="Times New Roman"/>
                      </a:endParaRPr>
                    </a:p>
                  </a:txBody>
                  <a:tcPr marL="68580" marR="68580" marT="0" marB="0"/>
                </a:tc>
                <a:tc gridSpan="2">
                  <a:txBody>
                    <a:bodyPr/>
                    <a:lstStyle/>
                    <a:p>
                      <a:pPr marL="0" marR="0" algn="ctr">
                        <a:lnSpc>
                          <a:spcPct val="115000"/>
                        </a:lnSpc>
                        <a:spcBef>
                          <a:spcPts val="0"/>
                        </a:spcBef>
                        <a:spcAft>
                          <a:spcPts val="0"/>
                        </a:spcAft>
                      </a:pPr>
                      <a:r>
                        <a:rPr lang="en-US" sz="1600" b="1" dirty="0"/>
                        <a:t>1959-60</a:t>
                      </a:r>
                      <a:endParaRPr lang="en-US" sz="1600" b="1" dirty="0">
                        <a:latin typeface="+mn-lt"/>
                        <a:ea typeface="Times New Roman"/>
                        <a:cs typeface="Times New Roman"/>
                      </a:endParaRPr>
                    </a:p>
                  </a:txBody>
                  <a:tcPr marL="68580" marR="68580" marT="0" marB="0"/>
                </a:tc>
                <a:tc hMerge="1">
                  <a:txBody>
                    <a:bodyPr/>
                    <a:lstStyle/>
                    <a:p>
                      <a:endParaRPr lang="en-US" sz="1100" dirty="0"/>
                    </a:p>
                  </a:txBody>
                  <a:tcPr/>
                </a:tc>
                <a:tc gridSpan="2">
                  <a:txBody>
                    <a:bodyPr/>
                    <a:lstStyle/>
                    <a:p>
                      <a:pPr algn="ctr"/>
                      <a:r>
                        <a:rPr lang="en-US" sz="1600" b="1" dirty="0"/>
                        <a:t>1967-68</a:t>
                      </a:r>
                      <a:endParaRPr lang="en-US" sz="1600" b="1" dirty="0">
                        <a:latin typeface="+mn-lt"/>
                      </a:endParaRPr>
                    </a:p>
                  </a:txBody>
                  <a:tcPr/>
                </a:tc>
                <a:tc hMerge="1">
                  <a:txBody>
                    <a:bodyPr/>
                    <a:lstStyle/>
                    <a:p>
                      <a:endParaRPr lang="en-US" sz="1100" dirty="0"/>
                    </a:p>
                  </a:txBody>
                  <a:tcPr/>
                </a:tc>
                <a:extLst>
                  <a:ext uri="{0D108BD9-81ED-4DB2-BD59-A6C34878D82A}">
                    <a16:rowId xmlns:a16="http://schemas.microsoft.com/office/drawing/2014/main" val="10000"/>
                  </a:ext>
                </a:extLst>
              </a:tr>
              <a:tr h="752335">
                <a:tc vMerge="1">
                  <a:txBody>
                    <a:bodyPr/>
                    <a:lstStyle/>
                    <a:p>
                      <a:pPr marL="0" marR="0" algn="ctr">
                        <a:lnSpc>
                          <a:spcPct val="115000"/>
                        </a:lnSpc>
                        <a:spcBef>
                          <a:spcPts val="0"/>
                        </a:spcBef>
                        <a:spcAft>
                          <a:spcPts val="0"/>
                        </a:spcAft>
                      </a:pPr>
                      <a:endParaRPr lang="en-US" sz="1100" dirty="0">
                        <a:latin typeface="Calibri"/>
                        <a:ea typeface="Times New Roman"/>
                        <a:cs typeface="Times New Roman"/>
                      </a:endParaRPr>
                    </a:p>
                  </a:txBody>
                  <a:tcPr marL="68580" marR="68580" marT="0" marB="0"/>
                </a:tc>
                <a:tc vMerge="1">
                  <a:txBody>
                    <a:bodyPr/>
                    <a:lstStyle/>
                    <a:p>
                      <a:pPr marL="0" marR="0" algn="ctr">
                        <a:lnSpc>
                          <a:spcPct val="115000"/>
                        </a:lnSpc>
                        <a:spcBef>
                          <a:spcPts val="0"/>
                        </a:spcBef>
                        <a:spcAft>
                          <a:spcPts val="0"/>
                        </a:spcAft>
                      </a:pPr>
                      <a:endParaRPr lang="en-US" sz="1100" dirty="0">
                        <a:latin typeface="Calibri"/>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600" b="1" dirty="0"/>
                        <a:t>EP</a:t>
                      </a:r>
                      <a:endParaRPr lang="en-US" sz="1600" b="1" dirty="0">
                        <a:latin typeface="+mn-lt"/>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600" b="1" dirty="0"/>
                        <a:t>WP</a:t>
                      </a:r>
                      <a:endParaRPr lang="en-US" sz="1600" b="1" dirty="0">
                        <a:latin typeface="+mn-lt"/>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600" b="1" dirty="0"/>
                        <a:t>EP</a:t>
                      </a:r>
                      <a:endParaRPr lang="en-US" sz="1600" b="1" dirty="0">
                        <a:latin typeface="+mn-lt"/>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600" b="1" dirty="0"/>
                        <a:t>WP</a:t>
                      </a:r>
                      <a:endParaRPr lang="en-US" sz="1600" b="1" dirty="0">
                        <a:latin typeface="+mn-lt"/>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600" b="1" dirty="0"/>
                        <a:t>EP</a:t>
                      </a:r>
                      <a:endParaRPr lang="en-US" sz="1600" b="1" dirty="0">
                        <a:latin typeface="+mn-lt"/>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1600" b="1" dirty="0"/>
                        <a:t>WP</a:t>
                      </a:r>
                      <a:endParaRPr lang="en-US" sz="1600" b="1" dirty="0">
                        <a:latin typeface="+mn-lt"/>
                        <a:ea typeface="Times New Roman"/>
                        <a:cs typeface="Times New Roman"/>
                      </a:endParaRPr>
                    </a:p>
                  </a:txBody>
                  <a:tcPr marL="68580" marR="68580" marT="0" marB="0"/>
                </a:tc>
                <a:extLst>
                  <a:ext uri="{0D108BD9-81ED-4DB2-BD59-A6C34878D82A}">
                    <a16:rowId xmlns:a16="http://schemas.microsoft.com/office/drawing/2014/main" val="10001"/>
                  </a:ext>
                </a:extLst>
              </a:tr>
              <a:tr h="579381">
                <a:tc rowSpan="2">
                  <a:txBody>
                    <a:bodyPr/>
                    <a:lstStyle/>
                    <a:p>
                      <a:r>
                        <a:rPr lang="en-US" sz="1600" b="1" dirty="0"/>
                        <a:t>Electricity</a:t>
                      </a:r>
                      <a:r>
                        <a:rPr lang="en-US" sz="1600" b="1" baseline="0" dirty="0"/>
                        <a:t> </a:t>
                      </a:r>
                      <a:endParaRPr lang="en-US" sz="1600" b="1" dirty="0">
                        <a:latin typeface="+mn-lt"/>
                      </a:endParaRPr>
                    </a:p>
                  </a:txBody>
                  <a:tcPr/>
                </a:tc>
                <a:tc rowSpan="2">
                  <a:txBody>
                    <a:bodyPr/>
                    <a:lstStyle/>
                    <a:p>
                      <a:r>
                        <a:rPr lang="en-US" sz="1600" b="1" dirty="0" err="1"/>
                        <a:t>Kwh</a:t>
                      </a:r>
                      <a:r>
                        <a:rPr lang="en-US" sz="1600" b="1" dirty="0"/>
                        <a:t>. </a:t>
                      </a:r>
                      <a:r>
                        <a:rPr lang="en-US" sz="1600" b="1" dirty="0" err="1"/>
                        <a:t>p.a</a:t>
                      </a:r>
                      <a:endParaRPr lang="en-US" sz="1600" b="1" dirty="0">
                        <a:latin typeface="+mn-lt"/>
                      </a:endParaRPr>
                    </a:p>
                  </a:txBody>
                  <a:tcPr/>
                </a:tc>
                <a:tc rowSpan="2">
                  <a:txBody>
                    <a:bodyPr/>
                    <a:lstStyle/>
                    <a:p>
                      <a:pPr algn="ctr"/>
                      <a:r>
                        <a:rPr lang="en-US" sz="1600" b="1" dirty="0"/>
                        <a:t>0.5</a:t>
                      </a:r>
                      <a:endParaRPr lang="en-US" sz="1600" b="1" dirty="0">
                        <a:latin typeface="+mn-lt"/>
                      </a:endParaRPr>
                    </a:p>
                  </a:txBody>
                  <a:tcPr/>
                </a:tc>
                <a:tc rowSpan="2">
                  <a:txBody>
                    <a:bodyPr/>
                    <a:lstStyle/>
                    <a:p>
                      <a:pPr algn="ctr"/>
                      <a:r>
                        <a:rPr lang="en-US" sz="1600" b="1" dirty="0"/>
                        <a:t>8.6</a:t>
                      </a:r>
                      <a:endParaRPr lang="en-US" sz="1600" b="1" dirty="0">
                        <a:latin typeface="+mn-lt"/>
                      </a:endParaRPr>
                    </a:p>
                  </a:txBody>
                  <a:tcPr/>
                </a:tc>
                <a:tc rowSpan="2">
                  <a:txBody>
                    <a:bodyPr/>
                    <a:lstStyle/>
                    <a:p>
                      <a:pPr algn="ctr"/>
                      <a:r>
                        <a:rPr lang="en-US" sz="1600" b="1" dirty="0"/>
                        <a:t>1.6</a:t>
                      </a:r>
                      <a:endParaRPr lang="en-US" sz="1600" b="1" dirty="0">
                        <a:latin typeface="+mn-lt"/>
                      </a:endParaRPr>
                    </a:p>
                  </a:txBody>
                  <a:tcPr/>
                </a:tc>
                <a:tc rowSpan="2">
                  <a:txBody>
                    <a:bodyPr/>
                    <a:lstStyle/>
                    <a:p>
                      <a:pPr algn="ctr"/>
                      <a:r>
                        <a:rPr lang="en-US" sz="1600" b="1" dirty="0"/>
                        <a:t>28.8</a:t>
                      </a:r>
                      <a:endParaRPr lang="en-US" sz="1600" b="1" dirty="0">
                        <a:latin typeface="+mn-lt"/>
                      </a:endParaRPr>
                    </a:p>
                  </a:txBody>
                  <a:tcPr/>
                </a:tc>
                <a:tc gridSpan="2">
                  <a:txBody>
                    <a:bodyPr/>
                    <a:lstStyle/>
                    <a:p>
                      <a:pPr algn="ctr"/>
                      <a:r>
                        <a:rPr lang="en-US" sz="1600" b="1" dirty="0"/>
                        <a:t>(Total generating capacity on Dec. 1969)</a:t>
                      </a:r>
                      <a:endParaRPr lang="en-US" sz="1600" b="1" dirty="0">
                        <a:latin typeface="+mn-lt"/>
                      </a:endParaRPr>
                    </a:p>
                  </a:txBody>
                  <a:tcPr/>
                </a:tc>
                <a:tc hMerge="1">
                  <a:txBody>
                    <a:bodyPr/>
                    <a:lstStyle/>
                    <a:p>
                      <a:endParaRPr lang="en-US" sz="1100" dirty="0"/>
                    </a:p>
                  </a:txBody>
                  <a:tcPr/>
                </a:tc>
                <a:extLst>
                  <a:ext uri="{0D108BD9-81ED-4DB2-BD59-A6C34878D82A}">
                    <a16:rowId xmlns:a16="http://schemas.microsoft.com/office/drawing/2014/main" val="10002"/>
                  </a:ext>
                </a:extLst>
              </a:tr>
              <a:tr h="335431">
                <a:tc vMerge="1">
                  <a:txBody>
                    <a:bodyPr/>
                    <a:lstStyle/>
                    <a:p>
                      <a:endParaRPr lang="en-US" sz="1100" dirty="0"/>
                    </a:p>
                  </a:txBody>
                  <a:tcPr/>
                </a:tc>
                <a:tc vMerge="1">
                  <a:txBody>
                    <a:bodyPr/>
                    <a:lstStyle/>
                    <a:p>
                      <a:endParaRPr lang="en-US" sz="1100" dirty="0"/>
                    </a:p>
                  </a:txBody>
                  <a:tcPr/>
                </a:tc>
                <a:tc vMerge="1">
                  <a:txBody>
                    <a:bodyPr/>
                    <a:lstStyle/>
                    <a:p>
                      <a:endParaRPr lang="en-US" sz="1100" dirty="0"/>
                    </a:p>
                  </a:txBody>
                  <a:tcPr/>
                </a:tc>
                <a:tc vMerge="1">
                  <a:txBody>
                    <a:bodyPr/>
                    <a:lstStyle/>
                    <a:p>
                      <a:endParaRPr lang="en-US" sz="1100" dirty="0"/>
                    </a:p>
                  </a:txBody>
                  <a:tcPr/>
                </a:tc>
                <a:tc vMerge="1">
                  <a:txBody>
                    <a:bodyPr/>
                    <a:lstStyle/>
                    <a:p>
                      <a:endParaRPr lang="en-US" sz="1100" dirty="0"/>
                    </a:p>
                  </a:txBody>
                  <a:tcPr/>
                </a:tc>
                <a:tc vMerge="1">
                  <a:txBody>
                    <a:bodyPr/>
                    <a:lstStyle/>
                    <a:p>
                      <a:endParaRPr lang="en-US" sz="1100" dirty="0"/>
                    </a:p>
                  </a:txBody>
                  <a:tcPr/>
                </a:tc>
                <a:tc>
                  <a:txBody>
                    <a:bodyPr/>
                    <a:lstStyle/>
                    <a:p>
                      <a:pPr algn="ctr"/>
                      <a:r>
                        <a:rPr lang="en-US" sz="1600" b="1" dirty="0"/>
                        <a:t>378 MW</a:t>
                      </a:r>
                      <a:endParaRPr lang="en-US" sz="1600" b="1" dirty="0">
                        <a:latin typeface="+mn-lt"/>
                      </a:endParaRPr>
                    </a:p>
                  </a:txBody>
                  <a:tcPr/>
                </a:tc>
                <a:tc>
                  <a:txBody>
                    <a:bodyPr/>
                    <a:lstStyle/>
                    <a:p>
                      <a:pPr algn="ctr"/>
                      <a:r>
                        <a:rPr lang="en-US" sz="1600" b="1" dirty="0"/>
                        <a:t>1559 MW</a:t>
                      </a:r>
                      <a:endParaRPr lang="en-US" sz="1600" b="1" dirty="0">
                        <a:latin typeface="+mn-lt"/>
                      </a:endParaRPr>
                    </a:p>
                  </a:txBody>
                  <a:tcPr/>
                </a:tc>
                <a:extLst>
                  <a:ext uri="{0D108BD9-81ED-4DB2-BD59-A6C34878D82A}">
                    <a16:rowId xmlns:a16="http://schemas.microsoft.com/office/drawing/2014/main" val="10003"/>
                  </a:ext>
                </a:extLst>
              </a:tr>
              <a:tr h="579381">
                <a:tc>
                  <a:txBody>
                    <a:bodyPr/>
                    <a:lstStyle/>
                    <a:p>
                      <a:r>
                        <a:rPr lang="en-US" sz="1600" b="1" dirty="0"/>
                        <a:t>Route mileage of railways</a:t>
                      </a:r>
                      <a:endParaRPr lang="en-US" sz="1600" b="1" dirty="0">
                        <a:latin typeface="+mn-lt"/>
                      </a:endParaRPr>
                    </a:p>
                  </a:txBody>
                  <a:tcPr/>
                </a:tc>
                <a:tc>
                  <a:txBody>
                    <a:bodyPr/>
                    <a:lstStyle/>
                    <a:p>
                      <a:r>
                        <a:rPr lang="en-US" sz="1600" b="1" dirty="0"/>
                        <a:t>Miles</a:t>
                      </a:r>
                      <a:endParaRPr lang="en-US" sz="1600" b="1" dirty="0">
                        <a:latin typeface="+mn-lt"/>
                      </a:endParaRPr>
                    </a:p>
                  </a:txBody>
                  <a:tcPr/>
                </a:tc>
                <a:tc>
                  <a:txBody>
                    <a:bodyPr/>
                    <a:lstStyle/>
                    <a:p>
                      <a:pPr algn="ctr"/>
                      <a:r>
                        <a:rPr lang="en-US" sz="1600" b="1" dirty="0"/>
                        <a:t>1682</a:t>
                      </a:r>
                      <a:endParaRPr lang="en-US" sz="1600" b="1" dirty="0">
                        <a:latin typeface="+mn-lt"/>
                      </a:endParaRPr>
                    </a:p>
                  </a:txBody>
                  <a:tcPr/>
                </a:tc>
                <a:tc>
                  <a:txBody>
                    <a:bodyPr/>
                    <a:lstStyle/>
                    <a:p>
                      <a:pPr algn="ctr"/>
                      <a:r>
                        <a:rPr lang="en-US" sz="1600" b="1" dirty="0"/>
                        <a:t>5316</a:t>
                      </a:r>
                      <a:endParaRPr lang="en-US" sz="1600" b="1" dirty="0">
                        <a:latin typeface="+mn-lt"/>
                      </a:endParaRPr>
                    </a:p>
                  </a:txBody>
                  <a:tcPr/>
                </a:tc>
                <a:tc>
                  <a:txBody>
                    <a:bodyPr/>
                    <a:lstStyle/>
                    <a:p>
                      <a:pPr algn="ctr"/>
                      <a:r>
                        <a:rPr lang="en-US" sz="1600" b="1" dirty="0"/>
                        <a:t>1714</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5327</a:t>
                      </a:r>
                      <a:endParaRPr lang="en-US" sz="1600" b="1" dirty="0">
                        <a:latin typeface="+mn-lt"/>
                      </a:endParaRPr>
                    </a:p>
                  </a:txBody>
                  <a:tcPr/>
                </a:tc>
                <a:tc>
                  <a:txBody>
                    <a:bodyPr/>
                    <a:lstStyle/>
                    <a:p>
                      <a:pPr algn="ctr"/>
                      <a:r>
                        <a:rPr lang="en-US" sz="1600" b="1" dirty="0"/>
                        <a:t>1712</a:t>
                      </a:r>
                      <a:endParaRPr lang="en-US" sz="1600" b="1" dirty="0">
                        <a:latin typeface="+mn-lt"/>
                      </a:endParaRPr>
                    </a:p>
                  </a:txBody>
                  <a:tcPr/>
                </a:tc>
                <a:tc>
                  <a:txBody>
                    <a:bodyPr/>
                    <a:lstStyle/>
                    <a:p>
                      <a:pPr algn="ctr"/>
                      <a:r>
                        <a:rPr lang="en-US" sz="1600" b="1" dirty="0"/>
                        <a:t>5334</a:t>
                      </a:r>
                      <a:endParaRPr lang="en-US" sz="1600" b="1" dirty="0">
                        <a:latin typeface="+mn-lt"/>
                      </a:endParaRPr>
                    </a:p>
                  </a:txBody>
                  <a:tcPr/>
                </a:tc>
                <a:extLst>
                  <a:ext uri="{0D108BD9-81ED-4DB2-BD59-A6C34878D82A}">
                    <a16:rowId xmlns:a16="http://schemas.microsoft.com/office/drawing/2014/main" val="10004"/>
                  </a:ext>
                </a:extLst>
              </a:tr>
              <a:tr h="384940">
                <a:tc>
                  <a:txBody>
                    <a:bodyPr/>
                    <a:lstStyle/>
                    <a:p>
                      <a:r>
                        <a:rPr lang="en-US" sz="1600" b="1" dirty="0"/>
                        <a:t>Road mileage</a:t>
                      </a:r>
                      <a:endParaRPr lang="en-US" sz="1600" b="1" dirty="0">
                        <a:latin typeface="+mn-lt"/>
                      </a:endParaRPr>
                    </a:p>
                  </a:txBody>
                  <a:tcPr/>
                </a:tc>
                <a:tc>
                  <a:txBody>
                    <a:bodyPr/>
                    <a:lstStyle/>
                    <a:p>
                      <a:r>
                        <a:rPr lang="en-US" sz="1600" b="1" dirty="0"/>
                        <a:t>Miles</a:t>
                      </a:r>
                      <a:endParaRPr lang="en-US" sz="1600" b="1" dirty="0">
                        <a:latin typeface="+mn-lt"/>
                      </a:endParaRPr>
                    </a:p>
                  </a:txBody>
                  <a:tcPr/>
                </a:tc>
                <a:tc>
                  <a:txBody>
                    <a:bodyPr/>
                    <a:lstStyle/>
                    <a:p>
                      <a:pPr algn="ctr"/>
                      <a:r>
                        <a:rPr lang="en-US" sz="1600" b="1" dirty="0"/>
                        <a:t>405</a:t>
                      </a:r>
                      <a:endParaRPr lang="en-US" sz="1600" b="1" dirty="0">
                        <a:latin typeface="+mn-lt"/>
                      </a:endParaRPr>
                    </a:p>
                  </a:txBody>
                  <a:tcPr/>
                </a:tc>
                <a:tc>
                  <a:txBody>
                    <a:bodyPr/>
                    <a:lstStyle/>
                    <a:p>
                      <a:pPr algn="ctr"/>
                      <a:r>
                        <a:rPr lang="en-US" sz="1600" b="1" dirty="0"/>
                        <a:t>17152</a:t>
                      </a:r>
                      <a:endParaRPr lang="en-US" sz="1600" b="1" dirty="0">
                        <a:latin typeface="+mn-lt"/>
                      </a:endParaRPr>
                    </a:p>
                  </a:txBody>
                  <a:tcPr/>
                </a:tc>
                <a:tc>
                  <a:txBody>
                    <a:bodyPr/>
                    <a:lstStyle/>
                    <a:p>
                      <a:pPr algn="ctr"/>
                      <a:r>
                        <a:rPr lang="en-US" sz="1600" b="1" dirty="0"/>
                        <a:t>1040</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19684</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2588</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22508</a:t>
                      </a:r>
                      <a:endParaRPr lang="en-US" sz="1600" b="1" dirty="0">
                        <a:latin typeface="+mn-lt"/>
                      </a:endParaRPr>
                    </a:p>
                  </a:txBody>
                  <a:tcPr/>
                </a:tc>
                <a:extLst>
                  <a:ext uri="{0D108BD9-81ED-4DB2-BD59-A6C34878D82A}">
                    <a16:rowId xmlns:a16="http://schemas.microsoft.com/office/drawing/2014/main" val="10005"/>
                  </a:ext>
                </a:extLst>
              </a:tr>
              <a:tr h="458055">
                <a:tc>
                  <a:txBody>
                    <a:bodyPr/>
                    <a:lstStyle/>
                    <a:p>
                      <a:r>
                        <a:rPr lang="en-US" sz="1600" b="1" dirty="0"/>
                        <a:t>Motor Vehicles</a:t>
                      </a:r>
                      <a:endParaRPr lang="en-US" sz="1600" b="1" dirty="0">
                        <a:latin typeface="+mn-lt"/>
                      </a:endParaRPr>
                    </a:p>
                  </a:txBody>
                  <a:tcPr/>
                </a:tc>
                <a:tc>
                  <a:txBody>
                    <a:bodyPr/>
                    <a:lstStyle/>
                    <a:p>
                      <a:r>
                        <a:rPr lang="en-US" sz="1600" b="1" dirty="0">
                          <a:latin typeface="+mn-lt"/>
                        </a:rPr>
                        <a:t>Number</a:t>
                      </a:r>
                    </a:p>
                  </a:txBody>
                  <a:tcPr/>
                </a:tc>
                <a:tc>
                  <a:txBody>
                    <a:bodyPr/>
                    <a:lstStyle/>
                    <a:p>
                      <a:pPr algn="ctr"/>
                      <a:r>
                        <a:rPr lang="en-US" sz="1600" b="1" dirty="0"/>
                        <a:t>-</a:t>
                      </a:r>
                      <a:endParaRPr lang="en-US" sz="1600" b="1" dirty="0">
                        <a:latin typeface="+mn-lt"/>
                      </a:endParaRPr>
                    </a:p>
                  </a:txBody>
                  <a:tcPr/>
                </a:tc>
                <a:tc>
                  <a:txBody>
                    <a:bodyPr/>
                    <a:lstStyle/>
                    <a:p>
                      <a:pPr algn="ctr"/>
                      <a:r>
                        <a:rPr lang="en-US" sz="1600" b="1" dirty="0"/>
                        <a:t>-</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14410</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109228</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56285</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259395</a:t>
                      </a:r>
                      <a:endParaRPr lang="en-US" sz="1600" b="1" dirty="0">
                        <a:latin typeface="+mn-lt"/>
                      </a:endParaRPr>
                    </a:p>
                  </a:txBody>
                  <a:tcPr/>
                </a:tc>
                <a:extLst>
                  <a:ext uri="{0D108BD9-81ED-4DB2-BD59-A6C34878D82A}">
                    <a16:rowId xmlns:a16="http://schemas.microsoft.com/office/drawing/2014/main" val="10006"/>
                  </a:ext>
                </a:extLst>
              </a:tr>
              <a:tr h="750284">
                <a:tc>
                  <a:txBody>
                    <a:bodyPr/>
                    <a:lstStyle/>
                    <a:p>
                      <a:r>
                        <a:rPr lang="en-US" sz="1600" b="1" dirty="0"/>
                        <a:t>No. of radio licenses issued</a:t>
                      </a:r>
                      <a:endParaRPr lang="en-US" sz="1600" b="1" dirty="0">
                        <a:latin typeface="+mn-lt"/>
                      </a:endParaRPr>
                    </a:p>
                  </a:txBody>
                  <a:tcPr/>
                </a:tc>
                <a:tc>
                  <a:txBody>
                    <a:bodyPr/>
                    <a:lstStyle/>
                    <a:p>
                      <a:endParaRPr lang="en-US" sz="1600" b="1" dirty="0">
                        <a:latin typeface="+mn-lt"/>
                      </a:endParaRPr>
                    </a:p>
                  </a:txBody>
                  <a:tcPr/>
                </a:tc>
                <a:tc>
                  <a:txBody>
                    <a:bodyPr/>
                    <a:lstStyle/>
                    <a:p>
                      <a:pPr algn="ctr"/>
                      <a:r>
                        <a:rPr lang="en-US" sz="1600" b="1" dirty="0"/>
                        <a:t>8848</a:t>
                      </a:r>
                      <a:endParaRPr lang="en-US" sz="1600" b="1" dirty="0">
                        <a:latin typeface="+mn-lt"/>
                      </a:endParaRPr>
                    </a:p>
                  </a:txBody>
                  <a:tcPr/>
                </a:tc>
                <a:tc>
                  <a:txBody>
                    <a:bodyPr/>
                    <a:lstStyle/>
                    <a:p>
                      <a:pPr algn="ctr"/>
                      <a:r>
                        <a:rPr lang="en-US" sz="1600" b="1" dirty="0"/>
                        <a:t>70513</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37713</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293607</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358241</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738215</a:t>
                      </a:r>
                      <a:endParaRPr lang="en-US" sz="1600" b="1" dirty="0">
                        <a:latin typeface="+mn-lt"/>
                      </a:endParaRPr>
                    </a:p>
                  </a:txBody>
                  <a:tcPr/>
                </a:tc>
                <a:extLst>
                  <a:ext uri="{0D108BD9-81ED-4DB2-BD59-A6C34878D82A}">
                    <a16:rowId xmlns:a16="http://schemas.microsoft.com/office/drawing/2014/main" val="10007"/>
                  </a:ext>
                </a:extLst>
              </a:tr>
              <a:tr h="579381">
                <a:tc>
                  <a:txBody>
                    <a:bodyPr/>
                    <a:lstStyle/>
                    <a:p>
                      <a:r>
                        <a:rPr lang="en-US" sz="1600" b="1" dirty="0"/>
                        <a:t>Hospital beds</a:t>
                      </a:r>
                      <a:endParaRPr lang="en-US" sz="1600" b="1" dirty="0">
                        <a:latin typeface="+mn-lt"/>
                      </a:endParaRPr>
                    </a:p>
                  </a:txBody>
                  <a:tcPr/>
                </a:tc>
                <a:tc>
                  <a:txBody>
                    <a:bodyPr/>
                    <a:lstStyle/>
                    <a:p>
                      <a:endParaRPr lang="en-US" sz="1600" b="1" dirty="0">
                        <a:latin typeface="+mn-lt"/>
                      </a:endParaRPr>
                    </a:p>
                  </a:txBody>
                  <a:tcPr/>
                </a:tc>
                <a:tc>
                  <a:txBody>
                    <a:bodyPr/>
                    <a:lstStyle/>
                    <a:p>
                      <a:pPr algn="ctr"/>
                      <a:r>
                        <a:rPr lang="en-US" sz="1600" b="1" dirty="0"/>
                        <a:t>-</a:t>
                      </a:r>
                      <a:endParaRPr lang="en-US" sz="1600" b="1" dirty="0">
                        <a:latin typeface="+mn-lt"/>
                      </a:endParaRPr>
                    </a:p>
                  </a:txBody>
                  <a:tcPr/>
                </a:tc>
                <a:tc>
                  <a:txBody>
                    <a:bodyPr/>
                    <a:lstStyle/>
                    <a:p>
                      <a:pPr algn="ctr"/>
                      <a:r>
                        <a:rPr lang="en-US" sz="1600" b="1" dirty="0"/>
                        <a:t>-</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4973</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22100</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6984 (1966)</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26200 (1966)</a:t>
                      </a:r>
                      <a:endParaRPr lang="en-US" sz="1600" b="1" dirty="0">
                        <a:latin typeface="+mn-lt"/>
                      </a:endParaRPr>
                    </a:p>
                  </a:txBody>
                  <a:tcPr/>
                </a:tc>
                <a:extLst>
                  <a:ext uri="{0D108BD9-81ED-4DB2-BD59-A6C34878D82A}">
                    <a16:rowId xmlns:a16="http://schemas.microsoft.com/office/drawing/2014/main" val="10008"/>
                  </a:ext>
                </a:extLst>
              </a:tr>
              <a:tr h="579381">
                <a:tc>
                  <a:txBody>
                    <a:bodyPr/>
                    <a:lstStyle/>
                    <a:p>
                      <a:r>
                        <a:rPr lang="en-US" sz="1600" b="1" dirty="0"/>
                        <a:t>Doctors</a:t>
                      </a:r>
                      <a:endParaRPr lang="en-US" sz="1600" b="1" dirty="0">
                        <a:latin typeface="+mn-lt"/>
                      </a:endParaRPr>
                    </a:p>
                  </a:txBody>
                  <a:tcPr/>
                </a:tc>
                <a:tc>
                  <a:txBody>
                    <a:bodyPr/>
                    <a:lstStyle/>
                    <a:p>
                      <a:endParaRPr lang="en-US" sz="1600" b="1" dirty="0">
                        <a:latin typeface="+mn-lt"/>
                      </a:endParaRPr>
                    </a:p>
                  </a:txBody>
                  <a:tcPr/>
                </a:tc>
                <a:tc>
                  <a:txBody>
                    <a:bodyPr/>
                    <a:lstStyle/>
                    <a:p>
                      <a:pPr algn="ctr"/>
                      <a:r>
                        <a:rPr lang="en-US" sz="1600" b="1" dirty="0"/>
                        <a:t>-</a:t>
                      </a:r>
                      <a:endParaRPr lang="en-US" sz="1600" b="1" dirty="0">
                        <a:latin typeface="+mn-lt"/>
                      </a:endParaRPr>
                    </a:p>
                  </a:txBody>
                  <a:tcPr/>
                </a:tc>
                <a:tc>
                  <a:txBody>
                    <a:bodyPr/>
                    <a:lstStyle/>
                    <a:p>
                      <a:pPr algn="ctr"/>
                      <a:r>
                        <a:rPr lang="en-US" sz="1600" b="1" dirty="0"/>
                        <a:t>-</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5492</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6132</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88100 (1969)</a:t>
                      </a:r>
                      <a:endParaRPr lang="en-US" sz="1600" b="1" dirty="0">
                        <a:latin typeface="+mn-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131000 (1969)</a:t>
                      </a:r>
                      <a:endParaRPr lang="en-US" sz="1600" b="1" dirty="0">
                        <a:latin typeface="+mn-lt"/>
                      </a:endParaRPr>
                    </a:p>
                  </a:txBody>
                  <a:tcPr/>
                </a:tc>
                <a:extLst>
                  <a:ext uri="{0D108BD9-81ED-4DB2-BD59-A6C34878D82A}">
                    <a16:rowId xmlns:a16="http://schemas.microsoft.com/office/drawing/2014/main" val="10009"/>
                  </a:ext>
                </a:extLst>
              </a:tr>
            </a:tbl>
          </a:graphicData>
        </a:graphic>
      </p:graphicFrame>
      <p:sp>
        <p:nvSpPr>
          <p:cNvPr id="7" name="TextBox 6"/>
          <p:cNvSpPr txBox="1"/>
          <p:nvPr/>
        </p:nvSpPr>
        <p:spPr>
          <a:xfrm>
            <a:off x="138192" y="6477000"/>
            <a:ext cx="8015208" cy="276999"/>
          </a:xfrm>
          <a:prstGeom prst="rect">
            <a:avLst/>
          </a:prstGeom>
          <a:noFill/>
        </p:spPr>
        <p:txBody>
          <a:bodyPr wrap="none" rtlCol="0">
            <a:spAutoFit/>
          </a:bodyPr>
          <a:lstStyle/>
          <a:p>
            <a:pPr algn="l"/>
            <a:r>
              <a:rPr lang="en-US" sz="1200" b="1" dirty="0">
                <a:solidFill>
                  <a:schemeClr val="tx1"/>
                </a:solidFill>
                <a:latin typeface="+mn-lt"/>
              </a:rPr>
              <a:t>Source: </a:t>
            </a:r>
            <a:r>
              <a:rPr lang="en-US" sz="1200" b="1" dirty="0" err="1">
                <a:solidFill>
                  <a:schemeClr val="tx1"/>
                </a:solidFill>
                <a:latin typeface="+mn-lt"/>
              </a:rPr>
              <a:t>Sobhan</a:t>
            </a:r>
            <a:r>
              <a:rPr lang="en-US" sz="1200" b="1" dirty="0">
                <a:solidFill>
                  <a:schemeClr val="tx1"/>
                </a:solidFill>
                <a:latin typeface="+mn-lt"/>
              </a:rPr>
              <a:t>, </a:t>
            </a:r>
            <a:r>
              <a:rPr lang="en-US" sz="1200" b="1" dirty="0" err="1">
                <a:solidFill>
                  <a:schemeClr val="tx1"/>
                </a:solidFill>
                <a:latin typeface="+mn-lt"/>
              </a:rPr>
              <a:t>Rehman</a:t>
            </a:r>
            <a:r>
              <a:rPr lang="en-US" sz="1200" b="1" dirty="0">
                <a:solidFill>
                  <a:schemeClr val="tx1"/>
                </a:solidFill>
                <a:latin typeface="+mn-lt"/>
              </a:rPr>
              <a:t>, </a:t>
            </a:r>
            <a:r>
              <a:rPr lang="en-US" sz="1200" b="1" i="1" dirty="0">
                <a:solidFill>
                  <a:schemeClr val="tx1"/>
                </a:solidFill>
                <a:latin typeface="+mn-lt"/>
              </a:rPr>
              <a:t>From Two Economies to Two Nations: My Journey to Bangladesh </a:t>
            </a:r>
            <a:r>
              <a:rPr lang="en-US" sz="1200" b="1" dirty="0">
                <a:solidFill>
                  <a:schemeClr val="tx1"/>
                </a:solidFill>
                <a:latin typeface="+mn-lt"/>
              </a:rPr>
              <a:t>(Dhaka: Daily Star Books, 2015)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762000"/>
          </a:xfrm>
          <a:prstGeom prst="rect">
            <a:avLst/>
          </a:prstGeom>
          <a:solidFill>
            <a:srgbClr val="C00000"/>
          </a:solidFill>
        </p:spPr>
        <p:txBody>
          <a:bodyPr vert="horz" lIns="91440" tIns="45720" rIns="91440" bIns="45720" rtlCol="0" anchor="ctr">
            <a:noAutofit/>
          </a:bodyPr>
          <a:lstStyle/>
          <a:p>
            <a:pPr lvl="0" algn="ctr">
              <a:spcBef>
                <a:spcPct val="0"/>
              </a:spcBef>
            </a:pPr>
            <a:r>
              <a:rPr lang="en-US" sz="2800" b="1" dirty="0">
                <a:solidFill>
                  <a:schemeClr val="bg1"/>
                </a:solidFill>
              </a:rPr>
              <a:t>DISPARITY: REGIONAL EXPENDITURES, 1950-57 TO 1960-70</a:t>
            </a:r>
            <a:endParaRPr kumimoji="0" lang="en-US" sz="28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7620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9120283"/>
              </p:ext>
            </p:extLst>
          </p:nvPr>
        </p:nvGraphicFramePr>
        <p:xfrm>
          <a:off x="152399" y="1170801"/>
          <a:ext cx="8839201" cy="4820544"/>
        </p:xfrm>
        <a:graphic>
          <a:graphicData uri="http://schemas.openxmlformats.org/drawingml/2006/table">
            <a:tbl>
              <a:tblPr firstRow="1" bandRow="1">
                <a:tableStyleId>{5940675A-B579-460E-94D1-54222C63F5DA}</a:tableStyleId>
              </a:tblPr>
              <a:tblGrid>
                <a:gridCol w="1262743">
                  <a:extLst>
                    <a:ext uri="{9D8B030D-6E8A-4147-A177-3AD203B41FA5}">
                      <a16:colId xmlns:a16="http://schemas.microsoft.com/office/drawing/2014/main" val="20000"/>
                    </a:ext>
                  </a:extLst>
                </a:gridCol>
                <a:gridCol w="1262743">
                  <a:extLst>
                    <a:ext uri="{9D8B030D-6E8A-4147-A177-3AD203B41FA5}">
                      <a16:colId xmlns:a16="http://schemas.microsoft.com/office/drawing/2014/main" val="20001"/>
                    </a:ext>
                  </a:extLst>
                </a:gridCol>
                <a:gridCol w="1360715">
                  <a:extLst>
                    <a:ext uri="{9D8B030D-6E8A-4147-A177-3AD203B41FA5}">
                      <a16:colId xmlns:a16="http://schemas.microsoft.com/office/drawing/2014/main" val="20002"/>
                    </a:ext>
                  </a:extLst>
                </a:gridCol>
                <a:gridCol w="1164771">
                  <a:extLst>
                    <a:ext uri="{9D8B030D-6E8A-4147-A177-3AD203B41FA5}">
                      <a16:colId xmlns:a16="http://schemas.microsoft.com/office/drawing/2014/main" val="20003"/>
                    </a:ext>
                  </a:extLst>
                </a:gridCol>
                <a:gridCol w="1262743">
                  <a:extLst>
                    <a:ext uri="{9D8B030D-6E8A-4147-A177-3AD203B41FA5}">
                      <a16:colId xmlns:a16="http://schemas.microsoft.com/office/drawing/2014/main" val="20004"/>
                    </a:ext>
                  </a:extLst>
                </a:gridCol>
                <a:gridCol w="1262743">
                  <a:extLst>
                    <a:ext uri="{9D8B030D-6E8A-4147-A177-3AD203B41FA5}">
                      <a16:colId xmlns:a16="http://schemas.microsoft.com/office/drawing/2014/main" val="20005"/>
                    </a:ext>
                  </a:extLst>
                </a:gridCol>
                <a:gridCol w="1262743">
                  <a:extLst>
                    <a:ext uri="{9D8B030D-6E8A-4147-A177-3AD203B41FA5}">
                      <a16:colId xmlns:a16="http://schemas.microsoft.com/office/drawing/2014/main" val="20006"/>
                    </a:ext>
                  </a:extLst>
                </a:gridCol>
              </a:tblGrid>
              <a:tr h="429072">
                <a:tc>
                  <a:txBody>
                    <a:bodyPr/>
                    <a:lstStyle/>
                    <a:p>
                      <a:endParaRPr lang="en-US" sz="1600" b="1" dirty="0"/>
                    </a:p>
                  </a:txBody>
                  <a:tcPr/>
                </a:tc>
                <a:tc gridSpan="3">
                  <a:txBody>
                    <a:bodyPr/>
                    <a:lstStyle/>
                    <a:p>
                      <a:pPr algn="ctr"/>
                      <a:r>
                        <a:rPr lang="en-US" sz="1600" b="1" dirty="0"/>
                        <a:t>East Pakistan</a:t>
                      </a:r>
                    </a:p>
                  </a:txBody>
                  <a:tcPr/>
                </a:tc>
                <a:tc hMerge="1">
                  <a:txBody>
                    <a:bodyPr/>
                    <a:lstStyle/>
                    <a:p>
                      <a:endParaRPr lang="en-US"/>
                    </a:p>
                  </a:txBody>
                  <a:tcPr/>
                </a:tc>
                <a:tc hMerge="1">
                  <a:txBody>
                    <a:bodyPr/>
                    <a:lstStyle/>
                    <a:p>
                      <a:endParaRPr lang="en-US" dirty="0"/>
                    </a:p>
                  </a:txBody>
                  <a:tcPr/>
                </a:tc>
                <a:tc gridSpan="3">
                  <a:txBody>
                    <a:bodyPr/>
                    <a:lstStyle/>
                    <a:p>
                      <a:pPr algn="ctr"/>
                      <a:r>
                        <a:rPr lang="en-US" sz="1600" b="1" dirty="0"/>
                        <a:t>West Pakistan</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548690">
                <a:tc>
                  <a:txBody>
                    <a:bodyPr/>
                    <a:lstStyle/>
                    <a:p>
                      <a:endParaRPr lang="en-US" sz="1600" b="1" dirty="0"/>
                    </a:p>
                  </a:txBody>
                  <a:tcPr/>
                </a:tc>
                <a:tc>
                  <a:txBody>
                    <a:bodyPr/>
                    <a:lstStyle/>
                    <a:p>
                      <a:pPr algn="ctr"/>
                      <a:r>
                        <a:rPr lang="en-US" sz="1600" b="1" dirty="0"/>
                        <a:t>Revenue</a:t>
                      </a:r>
                    </a:p>
                  </a:txBody>
                  <a:tcPr/>
                </a:tc>
                <a:tc>
                  <a:txBody>
                    <a:bodyPr/>
                    <a:lstStyle/>
                    <a:p>
                      <a:pPr algn="ctr"/>
                      <a:r>
                        <a:rPr lang="en-US" sz="1600" b="1" dirty="0"/>
                        <a:t>Development</a:t>
                      </a:r>
                    </a:p>
                  </a:txBody>
                  <a:tcPr/>
                </a:tc>
                <a:tc>
                  <a:txBody>
                    <a:bodyPr/>
                    <a:lstStyle/>
                    <a:p>
                      <a:pPr algn="ctr"/>
                      <a:r>
                        <a:rPr lang="en-US" sz="1600" b="1" dirty="0"/>
                        <a:t>Total (public)</a:t>
                      </a:r>
                    </a:p>
                  </a:txBody>
                  <a:tcPr/>
                </a:tc>
                <a:tc>
                  <a:txBody>
                    <a:bodyPr/>
                    <a:lstStyle/>
                    <a:p>
                      <a:pPr algn="ctr"/>
                      <a:r>
                        <a:rPr lang="en-US" sz="1600" b="1" dirty="0"/>
                        <a:t>Revenue</a:t>
                      </a:r>
                    </a:p>
                  </a:txBody>
                  <a:tcPr/>
                </a:tc>
                <a:tc>
                  <a:txBody>
                    <a:bodyPr/>
                    <a:lstStyle/>
                    <a:p>
                      <a:pPr algn="ctr"/>
                      <a:r>
                        <a:rPr lang="en-US" sz="1600" b="1" dirty="0"/>
                        <a:t>Development</a:t>
                      </a:r>
                    </a:p>
                  </a:txBody>
                  <a:tcPr/>
                </a:tc>
                <a:tc>
                  <a:txBody>
                    <a:bodyPr/>
                    <a:lstStyle/>
                    <a:p>
                      <a:pPr algn="ctr"/>
                      <a:r>
                        <a:rPr lang="en-US" sz="1600" b="1" dirty="0"/>
                        <a:t>Total (public)</a:t>
                      </a:r>
                    </a:p>
                  </a:txBody>
                  <a:tcPr/>
                </a:tc>
                <a:extLst>
                  <a:ext uri="{0D108BD9-81ED-4DB2-BD59-A6C34878D82A}">
                    <a16:rowId xmlns:a16="http://schemas.microsoft.com/office/drawing/2014/main" val="10001"/>
                  </a:ext>
                </a:extLst>
              </a:tr>
              <a:tr h="548690">
                <a:tc>
                  <a:txBody>
                    <a:bodyPr/>
                    <a:lstStyle/>
                    <a:p>
                      <a:r>
                        <a:rPr lang="en-US" sz="1600" b="1" dirty="0"/>
                        <a:t>1950/51-1954/55</a:t>
                      </a:r>
                    </a:p>
                  </a:txBody>
                  <a:tcPr/>
                </a:tc>
                <a:tc>
                  <a:txBody>
                    <a:bodyPr/>
                    <a:lstStyle/>
                    <a:p>
                      <a:pPr algn="ctr"/>
                      <a:r>
                        <a:rPr lang="en-US" sz="1600" b="1" dirty="0"/>
                        <a:t>1710</a:t>
                      </a:r>
                    </a:p>
                  </a:txBody>
                  <a:tcPr/>
                </a:tc>
                <a:tc>
                  <a:txBody>
                    <a:bodyPr/>
                    <a:lstStyle/>
                    <a:p>
                      <a:pPr algn="ctr"/>
                      <a:r>
                        <a:rPr lang="en-US" sz="1600" b="1" dirty="0"/>
                        <a:t>1000</a:t>
                      </a:r>
                    </a:p>
                  </a:txBody>
                  <a:tcPr/>
                </a:tc>
                <a:tc>
                  <a:txBody>
                    <a:bodyPr/>
                    <a:lstStyle/>
                    <a:p>
                      <a:pPr algn="ctr"/>
                      <a:r>
                        <a:rPr lang="en-US" sz="1600" b="1" dirty="0"/>
                        <a:t>2410</a:t>
                      </a:r>
                    </a:p>
                  </a:txBody>
                  <a:tcPr/>
                </a:tc>
                <a:tc>
                  <a:txBody>
                    <a:bodyPr/>
                    <a:lstStyle/>
                    <a:p>
                      <a:pPr algn="ctr"/>
                      <a:r>
                        <a:rPr lang="en-US" sz="1600" b="1" dirty="0"/>
                        <a:t>7200</a:t>
                      </a:r>
                    </a:p>
                  </a:txBody>
                  <a:tcPr/>
                </a:tc>
                <a:tc>
                  <a:txBody>
                    <a:bodyPr/>
                    <a:lstStyle/>
                    <a:p>
                      <a:pPr algn="ctr"/>
                      <a:r>
                        <a:rPr lang="en-US" sz="1600" b="1" dirty="0"/>
                        <a:t>2000</a:t>
                      </a:r>
                    </a:p>
                  </a:txBody>
                  <a:tcPr/>
                </a:tc>
                <a:tc>
                  <a:txBody>
                    <a:bodyPr/>
                    <a:lstStyle/>
                    <a:p>
                      <a:pPr algn="ctr"/>
                      <a:r>
                        <a:rPr lang="en-US" sz="1600" b="1" dirty="0"/>
                        <a:t>9200</a:t>
                      </a:r>
                    </a:p>
                  </a:txBody>
                  <a:tcPr/>
                </a:tc>
                <a:extLst>
                  <a:ext uri="{0D108BD9-81ED-4DB2-BD59-A6C34878D82A}">
                    <a16:rowId xmlns:a16="http://schemas.microsoft.com/office/drawing/2014/main" val="10002"/>
                  </a:ext>
                </a:extLst>
              </a:tr>
              <a:tr h="548690">
                <a:tc>
                  <a:txBody>
                    <a:bodyPr/>
                    <a:lstStyle/>
                    <a:p>
                      <a:r>
                        <a:rPr lang="en-US" sz="1600" b="1" dirty="0"/>
                        <a:t>1955/56-1959/60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2540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2700</a:t>
                      </a:r>
                    </a:p>
                  </a:txBody>
                  <a:tcPr/>
                </a:tc>
                <a:tc>
                  <a:txBody>
                    <a:bodyPr/>
                    <a:lstStyle/>
                    <a:p>
                      <a:pPr algn="ctr"/>
                      <a:r>
                        <a:rPr lang="en-US" sz="1600" b="1" dirty="0"/>
                        <a:t>4510</a:t>
                      </a:r>
                    </a:p>
                  </a:txBody>
                  <a:tcPr/>
                </a:tc>
                <a:tc>
                  <a:txBody>
                    <a:bodyPr/>
                    <a:lstStyle/>
                    <a:p>
                      <a:pPr algn="ctr"/>
                      <a:r>
                        <a:rPr lang="en-US" sz="1600" b="1" dirty="0"/>
                        <a:t>8980</a:t>
                      </a:r>
                    </a:p>
                  </a:txBody>
                  <a:tcPr/>
                </a:tc>
                <a:tc>
                  <a:txBody>
                    <a:bodyPr/>
                    <a:lstStyle/>
                    <a:p>
                      <a:pPr algn="ctr"/>
                      <a:r>
                        <a:rPr lang="en-US" sz="1600" b="1" dirty="0"/>
                        <a:t>4640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13620</a:t>
                      </a:r>
                    </a:p>
                    <a:p>
                      <a:pPr algn="ctr"/>
                      <a:endParaRPr lang="en-US" sz="1600" b="1" dirty="0"/>
                    </a:p>
                  </a:txBody>
                  <a:tcPr/>
                </a:tc>
                <a:extLst>
                  <a:ext uri="{0D108BD9-81ED-4DB2-BD59-A6C34878D82A}">
                    <a16:rowId xmlns:a16="http://schemas.microsoft.com/office/drawing/2014/main" val="10003"/>
                  </a:ext>
                </a:extLst>
              </a:tr>
              <a:tr h="548690">
                <a:tc>
                  <a:txBody>
                    <a:bodyPr/>
                    <a:lstStyle/>
                    <a:p>
                      <a:r>
                        <a:rPr lang="en-US" sz="1600" b="1" dirty="0"/>
                        <a:t>1960/61-1964/65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4340</a:t>
                      </a:r>
                    </a:p>
                  </a:txBody>
                  <a:tcPr/>
                </a:tc>
                <a:tc>
                  <a:txBody>
                    <a:bodyPr/>
                    <a:lstStyle/>
                    <a:p>
                      <a:pPr algn="ctr"/>
                      <a:r>
                        <a:rPr lang="en-US" sz="1600" b="1" dirty="0"/>
                        <a:t>9700</a:t>
                      </a:r>
                    </a:p>
                  </a:txBody>
                  <a:tcPr/>
                </a:tc>
                <a:tc>
                  <a:txBody>
                    <a:bodyPr/>
                    <a:lstStyle/>
                    <a:p>
                      <a:pPr algn="ctr"/>
                      <a:r>
                        <a:rPr lang="en-US" sz="1600" b="1" dirty="0"/>
                        <a:t>11040</a:t>
                      </a:r>
                    </a:p>
                  </a:txBody>
                  <a:tcPr/>
                </a:tc>
                <a:tc>
                  <a:txBody>
                    <a:bodyPr/>
                    <a:lstStyle/>
                    <a:p>
                      <a:pPr algn="ctr"/>
                      <a:r>
                        <a:rPr lang="en-US" sz="1600" b="1" dirty="0"/>
                        <a:t>12840</a:t>
                      </a:r>
                    </a:p>
                  </a:txBody>
                  <a:tcPr/>
                </a:tc>
                <a:tc>
                  <a:txBody>
                    <a:bodyPr/>
                    <a:lstStyle/>
                    <a:p>
                      <a:pPr algn="ctr"/>
                      <a:r>
                        <a:rPr lang="en-US" sz="1600" b="1" dirty="0"/>
                        <a:t>13010</a:t>
                      </a:r>
                    </a:p>
                  </a:txBody>
                  <a:tcPr/>
                </a:tc>
                <a:tc>
                  <a:txBody>
                    <a:bodyPr/>
                    <a:lstStyle/>
                    <a:p>
                      <a:pPr algn="ctr"/>
                      <a:r>
                        <a:rPr lang="en-US" sz="1600" b="1" dirty="0"/>
                        <a:t>25850</a:t>
                      </a:r>
                    </a:p>
                  </a:txBody>
                  <a:tcPr/>
                </a:tc>
                <a:extLst>
                  <a:ext uri="{0D108BD9-81ED-4DB2-BD59-A6C34878D82A}">
                    <a16:rowId xmlns:a16="http://schemas.microsoft.com/office/drawing/2014/main" val="10004"/>
                  </a:ext>
                </a:extLst>
              </a:tr>
              <a:tr h="548690">
                <a:tc>
                  <a:txBody>
                    <a:bodyPr/>
                    <a:lstStyle/>
                    <a:p>
                      <a:r>
                        <a:rPr lang="en-US" sz="1600" b="1" dirty="0"/>
                        <a:t>1965/66-1969/70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6480</a:t>
                      </a:r>
                    </a:p>
                  </a:txBody>
                  <a:tcPr/>
                </a:tc>
                <a:tc>
                  <a:txBody>
                    <a:bodyPr/>
                    <a:lstStyle/>
                    <a:p>
                      <a:pPr algn="ctr"/>
                      <a:r>
                        <a:rPr lang="en-US" sz="1600" b="1" dirty="0"/>
                        <a:t>16560</a:t>
                      </a:r>
                    </a:p>
                  </a:txBody>
                  <a:tcPr/>
                </a:tc>
                <a:tc>
                  <a:txBody>
                    <a:bodyPr/>
                    <a:lstStyle/>
                    <a:p>
                      <a:pPr algn="ctr"/>
                      <a:r>
                        <a:rPr lang="en-US" sz="1600" b="1" dirty="0"/>
                        <a:t>17540</a:t>
                      </a:r>
                    </a:p>
                  </a:txBody>
                  <a:tcPr/>
                </a:tc>
                <a:tc>
                  <a:txBody>
                    <a:bodyPr/>
                    <a:lstStyle/>
                    <a:p>
                      <a:pPr algn="ctr"/>
                      <a:r>
                        <a:rPr lang="en-US" sz="1600" b="1" dirty="0"/>
                        <a:t>22230</a:t>
                      </a:r>
                    </a:p>
                  </a:txBody>
                  <a:tcPr/>
                </a:tc>
                <a:tc>
                  <a:txBody>
                    <a:bodyPr/>
                    <a:lstStyle/>
                    <a:p>
                      <a:pPr algn="ctr"/>
                      <a:r>
                        <a:rPr lang="en-US" sz="1600" b="1" dirty="0"/>
                        <a:t>19600</a:t>
                      </a:r>
                    </a:p>
                  </a:txBody>
                  <a:tcPr/>
                </a:tc>
                <a:tc>
                  <a:txBody>
                    <a:bodyPr/>
                    <a:lstStyle/>
                    <a:p>
                      <a:pPr algn="ctr"/>
                      <a:r>
                        <a:rPr lang="en-US" sz="1600" b="1" dirty="0"/>
                        <a:t>41830</a:t>
                      </a:r>
                    </a:p>
                  </a:txBody>
                  <a:tcPr/>
                </a:tc>
                <a:extLst>
                  <a:ext uri="{0D108BD9-81ED-4DB2-BD59-A6C34878D82A}">
                    <a16:rowId xmlns:a16="http://schemas.microsoft.com/office/drawing/2014/main" val="10005"/>
                  </a:ext>
                </a:extLst>
              </a:tr>
              <a:tr h="429072">
                <a:tc>
                  <a:txBody>
                    <a:bodyPr/>
                    <a:lstStyle/>
                    <a:p>
                      <a:r>
                        <a:rPr lang="en-US" sz="1600" b="1" dirty="0"/>
                        <a:t>Total</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15070</a:t>
                      </a:r>
                    </a:p>
                  </a:txBody>
                  <a:tcPr/>
                </a:tc>
                <a:tc>
                  <a:txBody>
                    <a:bodyPr/>
                    <a:lstStyle/>
                    <a:p>
                      <a:pPr algn="ctr"/>
                      <a:r>
                        <a:rPr lang="en-US" sz="1600" b="1" dirty="0"/>
                        <a:t>29960</a:t>
                      </a:r>
                    </a:p>
                  </a:txBody>
                  <a:tcPr/>
                </a:tc>
                <a:tc>
                  <a:txBody>
                    <a:bodyPr/>
                    <a:lstStyle/>
                    <a:p>
                      <a:pPr algn="ctr"/>
                      <a:r>
                        <a:rPr lang="en-US" sz="1600" b="1" dirty="0"/>
                        <a:t>35500</a:t>
                      </a:r>
                    </a:p>
                  </a:txBody>
                  <a:tcPr/>
                </a:tc>
                <a:tc>
                  <a:txBody>
                    <a:bodyPr/>
                    <a:lstStyle/>
                    <a:p>
                      <a:pPr algn="ctr"/>
                      <a:r>
                        <a:rPr lang="en-US" sz="1600" b="1" dirty="0"/>
                        <a:t>51250</a:t>
                      </a:r>
                    </a:p>
                  </a:txBody>
                  <a:tcPr/>
                </a:tc>
                <a:tc>
                  <a:txBody>
                    <a:bodyPr/>
                    <a:lstStyle/>
                    <a:p>
                      <a:pPr algn="ctr"/>
                      <a:r>
                        <a:rPr lang="en-US" sz="1600" b="1" dirty="0"/>
                        <a:t>31630</a:t>
                      </a:r>
                    </a:p>
                  </a:txBody>
                  <a:tcPr/>
                </a:tc>
                <a:tc>
                  <a:txBody>
                    <a:bodyPr/>
                    <a:lstStyle/>
                    <a:p>
                      <a:pPr algn="ctr"/>
                      <a:r>
                        <a:rPr lang="en-US" sz="1600" b="1" dirty="0"/>
                        <a:t>81600</a:t>
                      </a:r>
                    </a:p>
                  </a:txBody>
                  <a:tcPr/>
                </a:tc>
                <a:extLst>
                  <a:ext uri="{0D108BD9-81ED-4DB2-BD59-A6C34878D82A}">
                    <a16:rowId xmlns:a16="http://schemas.microsoft.com/office/drawing/2014/main" val="10006"/>
                  </a:ext>
                </a:extLst>
              </a:tr>
              <a:tr h="1010746">
                <a:tc>
                  <a:txBody>
                    <a:bodyPr/>
                    <a:lstStyle/>
                    <a:p>
                      <a:r>
                        <a:rPr lang="en-US" sz="1600" b="1" dirty="0"/>
                        <a:t>East Pakistan’s share (%) of Total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dirty="0"/>
                        <a:t>23</a:t>
                      </a:r>
                    </a:p>
                  </a:txBody>
                  <a:tcPr/>
                </a:tc>
                <a:tc>
                  <a:txBody>
                    <a:bodyPr/>
                    <a:lstStyle/>
                    <a:p>
                      <a:pPr algn="ctr"/>
                      <a:r>
                        <a:rPr lang="en-US" sz="1600" b="1" dirty="0"/>
                        <a:t>30</a:t>
                      </a:r>
                    </a:p>
                  </a:txBody>
                  <a:tcPr/>
                </a:tc>
                <a:tc>
                  <a:txBody>
                    <a:bodyPr/>
                    <a:lstStyle/>
                    <a:p>
                      <a:pPr algn="ctr"/>
                      <a:r>
                        <a:rPr lang="en-US" sz="1600" b="1" dirty="0"/>
                        <a:t>33</a:t>
                      </a:r>
                    </a:p>
                  </a:txBody>
                  <a:tcPr/>
                </a:tc>
                <a:tc>
                  <a:txBody>
                    <a:bodyPr/>
                    <a:lstStyle/>
                    <a:p>
                      <a:pPr algn="ctr"/>
                      <a:endParaRPr lang="en-US" sz="1600" b="1" dirty="0"/>
                    </a:p>
                  </a:txBody>
                  <a:tcPr/>
                </a:tc>
                <a:tc>
                  <a:txBody>
                    <a:bodyPr/>
                    <a:lstStyle/>
                    <a:p>
                      <a:pPr algn="ctr"/>
                      <a:endParaRPr lang="en-US" sz="1600" b="1" dirty="0"/>
                    </a:p>
                  </a:txBody>
                  <a:tcPr/>
                </a:tc>
                <a:tc>
                  <a:txBody>
                    <a:bodyPr/>
                    <a:lstStyle/>
                    <a:p>
                      <a:pPr algn="ctr"/>
                      <a:endParaRPr lang="en-US" sz="1600" b="1" dirty="0"/>
                    </a:p>
                  </a:txBody>
                  <a:tcPr/>
                </a:tc>
                <a:extLst>
                  <a:ext uri="{0D108BD9-81ED-4DB2-BD59-A6C34878D82A}">
                    <a16:rowId xmlns:a16="http://schemas.microsoft.com/office/drawing/2014/main" val="10007"/>
                  </a:ext>
                </a:extLst>
              </a:tr>
            </a:tbl>
          </a:graphicData>
        </a:graphic>
      </p:graphicFrame>
      <p:sp>
        <p:nvSpPr>
          <p:cNvPr id="7" name="TextBox 6"/>
          <p:cNvSpPr txBox="1"/>
          <p:nvPr/>
        </p:nvSpPr>
        <p:spPr>
          <a:xfrm>
            <a:off x="160816" y="6047601"/>
            <a:ext cx="8018414" cy="276999"/>
          </a:xfrm>
          <a:prstGeom prst="rect">
            <a:avLst/>
          </a:prstGeom>
          <a:noFill/>
        </p:spPr>
        <p:txBody>
          <a:bodyPr wrap="none" rtlCol="0">
            <a:spAutoFit/>
          </a:bodyPr>
          <a:lstStyle/>
          <a:p>
            <a:pPr algn="l"/>
            <a:r>
              <a:rPr lang="en-US" sz="1200" b="1" dirty="0">
                <a:solidFill>
                  <a:schemeClr val="tx1"/>
                </a:solidFill>
                <a:latin typeface="+mn-lt"/>
              </a:rPr>
              <a:t>Source: </a:t>
            </a:r>
            <a:r>
              <a:rPr lang="en-US" sz="1200" b="1" dirty="0" err="1">
                <a:solidFill>
                  <a:schemeClr val="tx1"/>
                </a:solidFill>
                <a:latin typeface="+mn-lt"/>
              </a:rPr>
              <a:t>Sobhan</a:t>
            </a:r>
            <a:r>
              <a:rPr lang="en-US" sz="1200" b="1" dirty="0">
                <a:solidFill>
                  <a:schemeClr val="tx1"/>
                </a:solidFill>
                <a:latin typeface="+mn-lt"/>
              </a:rPr>
              <a:t>, </a:t>
            </a:r>
            <a:r>
              <a:rPr lang="en-US" sz="1200" b="1" dirty="0" err="1">
                <a:solidFill>
                  <a:schemeClr val="tx1"/>
                </a:solidFill>
                <a:latin typeface="+mn-lt"/>
              </a:rPr>
              <a:t>Rehman</a:t>
            </a:r>
            <a:r>
              <a:rPr lang="en-US" sz="1200" b="1" dirty="0">
                <a:solidFill>
                  <a:schemeClr val="tx1"/>
                </a:solidFill>
                <a:latin typeface="+mn-lt"/>
              </a:rPr>
              <a:t>, </a:t>
            </a:r>
            <a:r>
              <a:rPr lang="en-US" sz="1200" b="1" i="1" dirty="0">
                <a:solidFill>
                  <a:schemeClr val="tx1"/>
                </a:solidFill>
                <a:latin typeface="+mn-lt"/>
              </a:rPr>
              <a:t>From Two Economies to Two Nations: My Journey to Bangladesh </a:t>
            </a:r>
            <a:r>
              <a:rPr lang="en-US" sz="1200" b="1" dirty="0">
                <a:solidFill>
                  <a:schemeClr val="tx1"/>
                </a:solidFill>
                <a:latin typeface="+mn-lt"/>
              </a:rPr>
              <a:t>(Dhaka: Daily Star Books, 2015</a:t>
            </a:r>
            <a:r>
              <a:rPr lang="en-US" sz="1200" b="1" dirty="0">
                <a:solidFill>
                  <a:schemeClr val="tx1"/>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990600"/>
          </a:xfrm>
          <a:prstGeom prst="rect">
            <a:avLst/>
          </a:prstGeom>
          <a:solidFill>
            <a:srgbClr val="C00000"/>
          </a:solidFill>
        </p:spPr>
        <p:txBody>
          <a:bodyPr vert="horz" lIns="91440" tIns="45720" rIns="91440" bIns="45720" rtlCol="0" anchor="ctr">
            <a:normAutofit fontScale="47500" lnSpcReduction="20000"/>
          </a:bodyPr>
          <a:lstStyle/>
          <a:p>
            <a:pPr lvl="0" algn="ctr">
              <a:lnSpc>
                <a:spcPct val="120000"/>
              </a:lnSpc>
              <a:spcBef>
                <a:spcPct val="0"/>
              </a:spcBef>
            </a:pPr>
            <a:r>
              <a:rPr lang="en-US" sz="5900" b="1" dirty="0">
                <a:solidFill>
                  <a:schemeClr val="bg1"/>
                </a:solidFill>
              </a:rPr>
              <a:t>DISPARITY: DISTRIBUTION OF AID FLOWS, 1948/49 - 1968/69</a:t>
            </a:r>
            <a:br>
              <a:rPr lang="en-US" sz="6000" b="1" dirty="0"/>
            </a:br>
            <a:r>
              <a:rPr lang="en-US" sz="4400" b="1" dirty="0">
                <a:solidFill>
                  <a:schemeClr val="bg1"/>
                </a:solidFill>
              </a:rPr>
              <a:t>Aid Distribution converted to Rs. at  $ scarcity value (in Rs. billion)</a:t>
            </a:r>
            <a:endParaRPr kumimoji="0" lang="en-US" sz="44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9906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03653910"/>
              </p:ext>
            </p:extLst>
          </p:nvPr>
        </p:nvGraphicFramePr>
        <p:xfrm>
          <a:off x="228600" y="1295400"/>
          <a:ext cx="8732611" cy="4733365"/>
        </p:xfrm>
        <a:graphic>
          <a:graphicData uri="http://schemas.openxmlformats.org/drawingml/2006/table">
            <a:tbl>
              <a:tblPr firstRow="1" bandRow="1">
                <a:tableStyleId>{5940675A-B579-460E-94D1-54222C63F5DA}</a:tableStyleId>
              </a:tblPr>
              <a:tblGrid>
                <a:gridCol w="413032">
                  <a:extLst>
                    <a:ext uri="{9D8B030D-6E8A-4147-A177-3AD203B41FA5}">
                      <a16:colId xmlns:a16="http://schemas.microsoft.com/office/drawing/2014/main" val="20000"/>
                    </a:ext>
                  </a:extLst>
                </a:gridCol>
                <a:gridCol w="2791280">
                  <a:extLst>
                    <a:ext uri="{9D8B030D-6E8A-4147-A177-3AD203B41FA5}">
                      <a16:colId xmlns:a16="http://schemas.microsoft.com/office/drawing/2014/main" val="20001"/>
                    </a:ext>
                  </a:extLst>
                </a:gridCol>
                <a:gridCol w="1934079">
                  <a:extLst>
                    <a:ext uri="{9D8B030D-6E8A-4147-A177-3AD203B41FA5}">
                      <a16:colId xmlns:a16="http://schemas.microsoft.com/office/drawing/2014/main" val="20002"/>
                    </a:ext>
                  </a:extLst>
                </a:gridCol>
                <a:gridCol w="1866806">
                  <a:extLst>
                    <a:ext uri="{9D8B030D-6E8A-4147-A177-3AD203B41FA5}">
                      <a16:colId xmlns:a16="http://schemas.microsoft.com/office/drawing/2014/main" val="20003"/>
                    </a:ext>
                  </a:extLst>
                </a:gridCol>
                <a:gridCol w="1727414">
                  <a:extLst>
                    <a:ext uri="{9D8B030D-6E8A-4147-A177-3AD203B41FA5}">
                      <a16:colId xmlns:a16="http://schemas.microsoft.com/office/drawing/2014/main" val="20004"/>
                    </a:ext>
                  </a:extLst>
                </a:gridCol>
              </a:tblGrid>
              <a:tr h="676195">
                <a:tc gridSpan="2">
                  <a:txBody>
                    <a:bodyPr/>
                    <a:lstStyle/>
                    <a:p>
                      <a:pPr algn="ctr"/>
                      <a:endParaRPr lang="en-US" sz="2200" b="1" dirty="0"/>
                    </a:p>
                  </a:txBody>
                  <a:tcPr/>
                </a:tc>
                <a:tc hMerge="1">
                  <a:txBody>
                    <a:bodyPr/>
                    <a:lstStyle/>
                    <a:p>
                      <a:endParaRPr lang="en-US" dirty="0"/>
                    </a:p>
                  </a:txBody>
                  <a:tcPr/>
                </a:tc>
                <a:tc>
                  <a:txBody>
                    <a:bodyPr/>
                    <a:lstStyle/>
                    <a:p>
                      <a:pPr algn="ctr"/>
                      <a:r>
                        <a:rPr lang="en-US" sz="2200" b="1" dirty="0"/>
                        <a:t>East Pakistan</a:t>
                      </a:r>
                    </a:p>
                  </a:txBody>
                  <a:tcPr/>
                </a:tc>
                <a:tc>
                  <a:txBody>
                    <a:bodyPr/>
                    <a:lstStyle/>
                    <a:p>
                      <a:pPr algn="ctr"/>
                      <a:r>
                        <a:rPr lang="en-US" sz="2200" b="1" dirty="0"/>
                        <a:t>West Pakistan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b="1" dirty="0"/>
                        <a:t>Total</a:t>
                      </a:r>
                    </a:p>
                  </a:txBody>
                  <a:tcPr/>
                </a:tc>
                <a:extLst>
                  <a:ext uri="{0D108BD9-81ED-4DB2-BD59-A6C34878D82A}">
                    <a16:rowId xmlns:a16="http://schemas.microsoft.com/office/drawing/2014/main" val="10000"/>
                  </a:ext>
                </a:extLst>
              </a:tr>
              <a:tr h="676195">
                <a:tc rowSpan="2">
                  <a:txBody>
                    <a:bodyPr/>
                    <a:lstStyle/>
                    <a:p>
                      <a:r>
                        <a:rPr lang="en-US" sz="1600" b="1" dirty="0"/>
                        <a:t>1</a:t>
                      </a:r>
                    </a:p>
                  </a:txBody>
                  <a:tcPr/>
                </a:tc>
                <a:tc>
                  <a:txBody>
                    <a:bodyPr/>
                    <a:lstStyle/>
                    <a:p>
                      <a:r>
                        <a:rPr lang="en-US" sz="2200" b="1" dirty="0"/>
                        <a:t>1948/49 – 1960/61</a:t>
                      </a:r>
                    </a:p>
                  </a:txBody>
                  <a:tcPr/>
                </a:tc>
                <a:tc>
                  <a:txBody>
                    <a:bodyPr/>
                    <a:lstStyle/>
                    <a:p>
                      <a:pPr algn="ctr"/>
                      <a:r>
                        <a:rPr lang="en-US" sz="2200" b="1" dirty="0"/>
                        <a:t>4.84</a:t>
                      </a:r>
                    </a:p>
                  </a:txBody>
                  <a:tcPr/>
                </a:tc>
                <a:tc>
                  <a:txBody>
                    <a:bodyPr/>
                    <a:lstStyle/>
                    <a:p>
                      <a:pPr algn="ctr"/>
                      <a:r>
                        <a:rPr lang="en-US" sz="2200" b="1" dirty="0"/>
                        <a:t>10.77</a:t>
                      </a:r>
                    </a:p>
                  </a:txBody>
                  <a:tcPr/>
                </a:tc>
                <a:tc>
                  <a:txBody>
                    <a:bodyPr/>
                    <a:lstStyle/>
                    <a:p>
                      <a:pPr algn="ctr"/>
                      <a:r>
                        <a:rPr lang="en-US" sz="2200" b="1" dirty="0"/>
                        <a:t>15.61</a:t>
                      </a:r>
                    </a:p>
                  </a:txBody>
                  <a:tcPr/>
                </a:tc>
                <a:extLst>
                  <a:ext uri="{0D108BD9-81ED-4DB2-BD59-A6C34878D82A}">
                    <a16:rowId xmlns:a16="http://schemas.microsoft.com/office/drawing/2014/main" val="10002"/>
                  </a:ext>
                </a:extLst>
              </a:tr>
              <a:tr h="676195">
                <a:tc vMerge="1">
                  <a:txBody>
                    <a:bodyPr/>
                    <a:lstStyle/>
                    <a:p>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a:t>per cent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b="1" dirty="0"/>
                        <a:t>31.0</a:t>
                      </a:r>
                    </a:p>
                  </a:txBody>
                  <a:tcPr/>
                </a:tc>
                <a:tc>
                  <a:txBody>
                    <a:bodyPr/>
                    <a:lstStyle/>
                    <a:p>
                      <a:pPr algn="ctr"/>
                      <a:r>
                        <a:rPr lang="en-US" sz="2200" b="1" dirty="0"/>
                        <a:t>69.0</a:t>
                      </a:r>
                    </a:p>
                  </a:txBody>
                  <a:tcPr/>
                </a:tc>
                <a:tc>
                  <a:txBody>
                    <a:bodyPr/>
                    <a:lstStyle/>
                    <a:p>
                      <a:pPr algn="ctr"/>
                      <a:r>
                        <a:rPr lang="en-US" sz="2200" b="1" dirty="0"/>
                        <a:t>100.0</a:t>
                      </a:r>
                    </a:p>
                  </a:txBody>
                  <a:tcPr/>
                </a:tc>
                <a:extLst>
                  <a:ext uri="{0D108BD9-81ED-4DB2-BD59-A6C34878D82A}">
                    <a16:rowId xmlns:a16="http://schemas.microsoft.com/office/drawing/2014/main" val="10003"/>
                  </a:ext>
                </a:extLst>
              </a:tr>
              <a:tr h="676195">
                <a:tc rowSpan="2">
                  <a:txBody>
                    <a:bodyPr/>
                    <a:lstStyle/>
                    <a:p>
                      <a:r>
                        <a:rPr lang="en-US" sz="1600" b="1"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a:t>1961/62 – 1968/69</a:t>
                      </a:r>
                    </a:p>
                  </a:txBody>
                  <a:tcPr/>
                </a:tc>
                <a:tc>
                  <a:txBody>
                    <a:bodyPr/>
                    <a:lstStyle/>
                    <a:p>
                      <a:pPr algn="ctr"/>
                      <a:r>
                        <a:rPr lang="en-US" sz="2200" b="1" dirty="0"/>
                        <a:t>14.49</a:t>
                      </a:r>
                    </a:p>
                  </a:txBody>
                  <a:tcPr/>
                </a:tc>
                <a:tc>
                  <a:txBody>
                    <a:bodyPr/>
                    <a:lstStyle/>
                    <a:p>
                      <a:pPr algn="ctr"/>
                      <a:r>
                        <a:rPr lang="en-US" sz="2200" b="1" dirty="0"/>
                        <a:t>31.48</a:t>
                      </a:r>
                    </a:p>
                  </a:txBody>
                  <a:tcPr/>
                </a:tc>
                <a:tc>
                  <a:txBody>
                    <a:bodyPr/>
                    <a:lstStyle/>
                    <a:p>
                      <a:pPr algn="ctr"/>
                      <a:r>
                        <a:rPr lang="en-US" sz="2200" b="1" dirty="0"/>
                        <a:t>45.97</a:t>
                      </a:r>
                    </a:p>
                  </a:txBody>
                  <a:tcPr/>
                </a:tc>
                <a:extLst>
                  <a:ext uri="{0D108BD9-81ED-4DB2-BD59-A6C34878D82A}">
                    <a16:rowId xmlns:a16="http://schemas.microsoft.com/office/drawing/2014/main" val="10004"/>
                  </a:ext>
                </a:extLst>
              </a:tr>
              <a:tr h="676195">
                <a:tc vMerge="1">
                  <a:txBody>
                    <a:bodyPr/>
                    <a:lstStyle/>
                    <a:p>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a:t>per cent</a:t>
                      </a:r>
                    </a:p>
                  </a:txBody>
                  <a:tcPr/>
                </a:tc>
                <a:tc>
                  <a:txBody>
                    <a:bodyPr/>
                    <a:lstStyle/>
                    <a:p>
                      <a:pPr algn="ctr"/>
                      <a:r>
                        <a:rPr lang="en-US" sz="2200" b="1" dirty="0"/>
                        <a:t>31.5</a:t>
                      </a:r>
                    </a:p>
                  </a:txBody>
                  <a:tcPr/>
                </a:tc>
                <a:tc>
                  <a:txBody>
                    <a:bodyPr/>
                    <a:lstStyle/>
                    <a:p>
                      <a:pPr algn="ctr"/>
                      <a:r>
                        <a:rPr lang="en-US" sz="2200" b="1" dirty="0"/>
                        <a:t>68.5</a:t>
                      </a:r>
                    </a:p>
                  </a:txBody>
                  <a:tcPr/>
                </a:tc>
                <a:tc>
                  <a:txBody>
                    <a:bodyPr/>
                    <a:lstStyle/>
                    <a:p>
                      <a:pPr algn="ctr"/>
                      <a:r>
                        <a:rPr lang="en-US" sz="2200" b="1" dirty="0"/>
                        <a:t>100.0</a:t>
                      </a:r>
                    </a:p>
                  </a:txBody>
                  <a:tcPr/>
                </a:tc>
                <a:extLst>
                  <a:ext uri="{0D108BD9-81ED-4DB2-BD59-A6C34878D82A}">
                    <a16:rowId xmlns:a16="http://schemas.microsoft.com/office/drawing/2014/main" val="10005"/>
                  </a:ext>
                </a:extLst>
              </a:tr>
              <a:tr h="676195">
                <a:tc rowSpan="2">
                  <a:txBody>
                    <a:bodyPr/>
                    <a:lstStyle/>
                    <a:p>
                      <a:r>
                        <a:rPr lang="en-US" sz="1600" b="1"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a:t>Total</a:t>
                      </a:r>
                    </a:p>
                  </a:txBody>
                  <a:tcPr/>
                </a:tc>
                <a:tc>
                  <a:txBody>
                    <a:bodyPr/>
                    <a:lstStyle/>
                    <a:p>
                      <a:pPr algn="ctr"/>
                      <a:r>
                        <a:rPr lang="en-US" sz="2200" b="1" dirty="0"/>
                        <a:t>19.33</a:t>
                      </a:r>
                    </a:p>
                  </a:txBody>
                  <a:tcPr/>
                </a:tc>
                <a:tc>
                  <a:txBody>
                    <a:bodyPr/>
                    <a:lstStyle/>
                    <a:p>
                      <a:pPr algn="ctr"/>
                      <a:r>
                        <a:rPr lang="en-US" sz="2200" b="1" dirty="0"/>
                        <a:t>42.25</a:t>
                      </a:r>
                    </a:p>
                  </a:txBody>
                  <a:tcPr/>
                </a:tc>
                <a:tc>
                  <a:txBody>
                    <a:bodyPr/>
                    <a:lstStyle/>
                    <a:p>
                      <a:pPr algn="ctr"/>
                      <a:r>
                        <a:rPr lang="en-US" sz="2200" b="1" dirty="0"/>
                        <a:t>61.58</a:t>
                      </a:r>
                    </a:p>
                  </a:txBody>
                  <a:tcPr/>
                </a:tc>
                <a:extLst>
                  <a:ext uri="{0D108BD9-81ED-4DB2-BD59-A6C34878D82A}">
                    <a16:rowId xmlns:a16="http://schemas.microsoft.com/office/drawing/2014/main" val="10006"/>
                  </a:ext>
                </a:extLst>
              </a:tr>
              <a:tr h="676195">
                <a:tc vMerge="1">
                  <a:txBody>
                    <a:bodyPr/>
                    <a:lstStyle/>
                    <a:p>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1" dirty="0"/>
                        <a:t>per cent</a:t>
                      </a:r>
                    </a:p>
                  </a:txBody>
                  <a:tcPr/>
                </a:tc>
                <a:tc>
                  <a:txBody>
                    <a:bodyPr/>
                    <a:lstStyle/>
                    <a:p>
                      <a:pPr algn="ctr"/>
                      <a:r>
                        <a:rPr lang="en-US" sz="2200" b="1" dirty="0"/>
                        <a:t>31.4</a:t>
                      </a:r>
                    </a:p>
                  </a:txBody>
                  <a:tcPr/>
                </a:tc>
                <a:tc>
                  <a:txBody>
                    <a:bodyPr/>
                    <a:lstStyle/>
                    <a:p>
                      <a:pPr algn="ctr"/>
                      <a:r>
                        <a:rPr lang="en-US" sz="2200" b="1" dirty="0"/>
                        <a:t>68.6</a:t>
                      </a:r>
                    </a:p>
                  </a:txBody>
                  <a:tcPr/>
                </a:tc>
                <a:tc>
                  <a:txBody>
                    <a:bodyPr/>
                    <a:lstStyle/>
                    <a:p>
                      <a:pPr algn="ctr"/>
                      <a:r>
                        <a:rPr lang="en-US" sz="2200" b="1" dirty="0"/>
                        <a:t>100.0</a:t>
                      </a:r>
                    </a:p>
                  </a:txBody>
                  <a:tcPr/>
                </a:tc>
                <a:extLst>
                  <a:ext uri="{0D108BD9-81ED-4DB2-BD59-A6C34878D82A}">
                    <a16:rowId xmlns:a16="http://schemas.microsoft.com/office/drawing/2014/main" val="10007"/>
                  </a:ext>
                </a:extLst>
              </a:tr>
            </a:tbl>
          </a:graphicData>
        </a:graphic>
      </p:graphicFrame>
      <p:sp>
        <p:nvSpPr>
          <p:cNvPr id="7" name="TextBox 6"/>
          <p:cNvSpPr txBox="1"/>
          <p:nvPr/>
        </p:nvSpPr>
        <p:spPr>
          <a:xfrm>
            <a:off x="76200" y="6123801"/>
            <a:ext cx="9278566" cy="307777"/>
          </a:xfrm>
          <a:prstGeom prst="rect">
            <a:avLst/>
          </a:prstGeom>
          <a:noFill/>
        </p:spPr>
        <p:txBody>
          <a:bodyPr wrap="none" rtlCol="0">
            <a:spAutoFit/>
          </a:bodyPr>
          <a:lstStyle/>
          <a:p>
            <a:pPr algn="l"/>
            <a:r>
              <a:rPr lang="en-US" sz="1400" b="1" dirty="0">
                <a:solidFill>
                  <a:schemeClr val="tx1"/>
                </a:solidFill>
                <a:latin typeface="+mn-lt"/>
              </a:rPr>
              <a:t>Source: </a:t>
            </a:r>
            <a:r>
              <a:rPr lang="en-US" sz="1400" b="1" dirty="0" err="1">
                <a:solidFill>
                  <a:schemeClr val="tx1"/>
                </a:solidFill>
                <a:latin typeface="+mn-lt"/>
              </a:rPr>
              <a:t>Sobhan</a:t>
            </a:r>
            <a:r>
              <a:rPr lang="en-US" sz="1400" b="1" dirty="0">
                <a:solidFill>
                  <a:schemeClr val="tx1"/>
                </a:solidFill>
                <a:latin typeface="+mn-lt"/>
              </a:rPr>
              <a:t>, </a:t>
            </a:r>
            <a:r>
              <a:rPr lang="en-US" sz="1400" b="1" dirty="0" err="1">
                <a:solidFill>
                  <a:schemeClr val="tx1"/>
                </a:solidFill>
                <a:latin typeface="+mn-lt"/>
              </a:rPr>
              <a:t>Rehman</a:t>
            </a:r>
            <a:r>
              <a:rPr lang="en-US" sz="1400" b="1" dirty="0">
                <a:solidFill>
                  <a:schemeClr val="tx1"/>
                </a:solidFill>
                <a:latin typeface="+mn-lt"/>
              </a:rPr>
              <a:t>, </a:t>
            </a:r>
            <a:r>
              <a:rPr lang="en-US" sz="1400" b="1" i="1" dirty="0">
                <a:solidFill>
                  <a:schemeClr val="tx1"/>
                </a:solidFill>
                <a:latin typeface="+mn-lt"/>
              </a:rPr>
              <a:t>From Two Economies to Two Nations: My Journey to Bangladesh </a:t>
            </a:r>
            <a:r>
              <a:rPr lang="en-US" sz="1400" b="1" dirty="0">
                <a:solidFill>
                  <a:schemeClr val="tx1"/>
                </a:solidFill>
                <a:latin typeface="+mn-lt"/>
              </a:rPr>
              <a:t>(Dhaka: Daily Star Books, 2015</a:t>
            </a:r>
            <a:r>
              <a:rPr lang="en-US" sz="1400" b="1" dirty="0">
                <a:solidFill>
                  <a:schemeClr val="tx1"/>
                </a:solidFil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914400"/>
          </a:xfrm>
          <a:prstGeom prst="rect">
            <a:avLst/>
          </a:prstGeom>
          <a:solidFill>
            <a:srgbClr val="C00000"/>
          </a:solidFill>
        </p:spPr>
        <p:txBody>
          <a:bodyPr vert="horz" lIns="91440" tIns="45720" rIns="91440" bIns="45720" rtlCol="0" anchor="ctr">
            <a:normAutofit/>
          </a:bodyPr>
          <a:lstStyle/>
          <a:p>
            <a:pPr lvl="0" algn="ctr">
              <a:spcBef>
                <a:spcPct val="0"/>
              </a:spcBef>
            </a:pPr>
            <a:r>
              <a:rPr lang="en-US" sz="3000" b="1" dirty="0">
                <a:solidFill>
                  <a:schemeClr val="bg1"/>
                </a:solidFill>
              </a:rPr>
              <a:t>DISPARITY: BALANCE OF PAYMENTS (1948/49-1968/69) </a:t>
            </a:r>
            <a:br>
              <a:rPr lang="en-US" sz="4400" b="1" dirty="0"/>
            </a:br>
            <a:r>
              <a:rPr lang="en-US" sz="2000" b="1" i="1" dirty="0">
                <a:solidFill>
                  <a:schemeClr val="bg1"/>
                </a:solidFill>
              </a:rPr>
              <a:t>(Rs. million)</a:t>
            </a:r>
            <a:endParaRPr kumimoji="0" lang="en-US" sz="44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9144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10662975"/>
              </p:ext>
            </p:extLst>
          </p:nvPr>
        </p:nvGraphicFramePr>
        <p:xfrm>
          <a:off x="113440" y="1371600"/>
          <a:ext cx="8878160" cy="4330033"/>
        </p:xfrm>
        <a:graphic>
          <a:graphicData uri="http://schemas.openxmlformats.org/drawingml/2006/table">
            <a:tbl>
              <a:tblPr firstRow="1" bandRow="1">
                <a:tableStyleId>{5940675A-B579-460E-94D1-54222C63F5DA}</a:tableStyleId>
              </a:tblPr>
              <a:tblGrid>
                <a:gridCol w="1933515">
                  <a:extLst>
                    <a:ext uri="{9D8B030D-6E8A-4147-A177-3AD203B41FA5}">
                      <a16:colId xmlns:a16="http://schemas.microsoft.com/office/drawing/2014/main" val="20000"/>
                    </a:ext>
                  </a:extLst>
                </a:gridCol>
                <a:gridCol w="2505565">
                  <a:extLst>
                    <a:ext uri="{9D8B030D-6E8A-4147-A177-3AD203B41FA5}">
                      <a16:colId xmlns:a16="http://schemas.microsoft.com/office/drawing/2014/main" val="20001"/>
                    </a:ext>
                  </a:extLst>
                </a:gridCol>
                <a:gridCol w="2219540">
                  <a:extLst>
                    <a:ext uri="{9D8B030D-6E8A-4147-A177-3AD203B41FA5}">
                      <a16:colId xmlns:a16="http://schemas.microsoft.com/office/drawing/2014/main" val="20002"/>
                    </a:ext>
                  </a:extLst>
                </a:gridCol>
                <a:gridCol w="2219540">
                  <a:extLst>
                    <a:ext uri="{9D8B030D-6E8A-4147-A177-3AD203B41FA5}">
                      <a16:colId xmlns:a16="http://schemas.microsoft.com/office/drawing/2014/main" val="20003"/>
                    </a:ext>
                  </a:extLst>
                </a:gridCol>
              </a:tblGrid>
              <a:tr h="588253">
                <a:tc>
                  <a:txBody>
                    <a:bodyPr/>
                    <a:lstStyle/>
                    <a:p>
                      <a:endParaRPr lang="en-US" sz="2800" b="1" dirty="0"/>
                    </a:p>
                  </a:txBody>
                  <a:tcPr/>
                </a:tc>
                <a:tc>
                  <a:txBody>
                    <a:bodyPr/>
                    <a:lstStyle/>
                    <a:p>
                      <a:endParaRPr lang="en-US" sz="2800" b="1" dirty="0"/>
                    </a:p>
                  </a:txBody>
                  <a:tcPr/>
                </a:tc>
                <a:tc>
                  <a:txBody>
                    <a:bodyPr/>
                    <a:lstStyle/>
                    <a:p>
                      <a:pPr algn="ctr"/>
                      <a:r>
                        <a:rPr lang="en-US" sz="2000" b="1" dirty="0"/>
                        <a:t>East Pakistan</a:t>
                      </a:r>
                    </a:p>
                  </a:txBody>
                  <a:tcPr/>
                </a:tc>
                <a:tc>
                  <a:txBody>
                    <a:bodyPr/>
                    <a:lstStyle/>
                    <a:p>
                      <a:pPr algn="ctr"/>
                      <a:r>
                        <a:rPr lang="en-US" sz="2000" b="1" dirty="0"/>
                        <a:t>West Pakistan</a:t>
                      </a:r>
                    </a:p>
                  </a:txBody>
                  <a:tcPr/>
                </a:tc>
                <a:extLst>
                  <a:ext uri="{0D108BD9-81ED-4DB2-BD59-A6C34878D82A}">
                    <a16:rowId xmlns:a16="http://schemas.microsoft.com/office/drawing/2014/main" val="10000"/>
                  </a:ext>
                </a:extLst>
              </a:tr>
              <a:tr h="534540">
                <a:tc rowSpan="2">
                  <a:txBody>
                    <a:bodyPr/>
                    <a:lstStyle/>
                    <a:p>
                      <a:r>
                        <a:rPr lang="en-US" sz="1800" b="1" dirty="0"/>
                        <a:t>1948-49 to </a:t>
                      </a:r>
                    </a:p>
                    <a:p>
                      <a:r>
                        <a:rPr lang="en-US" sz="1800" b="1" dirty="0"/>
                        <a:t>1960-61</a:t>
                      </a:r>
                    </a:p>
                  </a:txBody>
                  <a:tcPr/>
                </a:tc>
                <a:tc>
                  <a:txBody>
                    <a:bodyPr/>
                    <a:lstStyle/>
                    <a:p>
                      <a:r>
                        <a:rPr lang="en-US" sz="1800" b="1" dirty="0"/>
                        <a:t>Nominal price</a:t>
                      </a:r>
                    </a:p>
                  </a:txBody>
                  <a:tcPr/>
                </a:tc>
                <a:tc>
                  <a:txBody>
                    <a:bodyPr/>
                    <a:lstStyle/>
                    <a:p>
                      <a:pPr algn="ctr"/>
                      <a:r>
                        <a:rPr lang="en-US" sz="1800" b="1" dirty="0"/>
                        <a:t>+592</a:t>
                      </a:r>
                    </a:p>
                  </a:txBody>
                  <a:tcPr/>
                </a:tc>
                <a:tc>
                  <a:txBody>
                    <a:bodyPr/>
                    <a:lstStyle/>
                    <a:p>
                      <a:pPr algn="ctr"/>
                      <a:r>
                        <a:rPr lang="en-US" sz="1800" b="1" dirty="0"/>
                        <a:t>-8116</a:t>
                      </a:r>
                    </a:p>
                  </a:txBody>
                  <a:tcPr/>
                </a:tc>
                <a:extLst>
                  <a:ext uri="{0D108BD9-81ED-4DB2-BD59-A6C34878D82A}">
                    <a16:rowId xmlns:a16="http://schemas.microsoft.com/office/drawing/2014/main" val="10001"/>
                  </a:ext>
                </a:extLst>
              </a:tr>
              <a:tr h="534540">
                <a:tc vMerge="1">
                  <a:txBody>
                    <a:bodyPr/>
                    <a:lstStyle/>
                    <a:p>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Scarcity price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+5368</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-20989</a:t>
                      </a:r>
                    </a:p>
                  </a:txBody>
                  <a:tcPr/>
                </a:tc>
                <a:extLst>
                  <a:ext uri="{0D108BD9-81ED-4DB2-BD59-A6C34878D82A}">
                    <a16:rowId xmlns:a16="http://schemas.microsoft.com/office/drawing/2014/main" val="10002"/>
                  </a:ext>
                </a:extLst>
              </a:tr>
              <a:tr h="534540">
                <a:tc rowSpan="2">
                  <a:txBody>
                    <a:bodyPr/>
                    <a:lstStyle/>
                    <a:p>
                      <a:r>
                        <a:rPr lang="en-US" sz="1800" b="1" dirty="0"/>
                        <a:t>1961-62 to</a:t>
                      </a:r>
                    </a:p>
                    <a:p>
                      <a:r>
                        <a:rPr lang="en-US" sz="1800" b="1" dirty="0"/>
                        <a:t>1968-69</a:t>
                      </a:r>
                    </a:p>
                  </a:txBody>
                  <a:tcPr/>
                </a:tc>
                <a:tc>
                  <a:txBody>
                    <a:bodyPr/>
                    <a:lstStyle/>
                    <a:p>
                      <a:r>
                        <a:rPr lang="en-US" sz="1800" b="1" dirty="0"/>
                        <a:t>Nominal price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-6526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-18180</a:t>
                      </a:r>
                    </a:p>
                  </a:txBody>
                  <a:tcPr/>
                </a:tc>
                <a:extLst>
                  <a:ext uri="{0D108BD9-81ED-4DB2-BD59-A6C34878D82A}">
                    <a16:rowId xmlns:a16="http://schemas.microsoft.com/office/drawing/2014/main" val="10003"/>
                  </a:ext>
                </a:extLst>
              </a:tr>
              <a:tr h="534540">
                <a:tc vMerge="1">
                  <a:txBody>
                    <a:bodyPr/>
                    <a:lstStyle/>
                    <a:p>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Scarcity price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-9386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-34075</a:t>
                      </a:r>
                    </a:p>
                  </a:txBody>
                  <a:tcPr/>
                </a:tc>
                <a:extLst>
                  <a:ext uri="{0D108BD9-81ED-4DB2-BD59-A6C34878D82A}">
                    <a16:rowId xmlns:a16="http://schemas.microsoft.com/office/drawing/2014/main" val="10004"/>
                  </a:ext>
                </a:extLst>
              </a:tr>
              <a:tr h="534540">
                <a:tc>
                  <a:txBody>
                    <a:bodyPr/>
                    <a:lstStyle/>
                    <a:p>
                      <a:r>
                        <a:rPr lang="en-US" sz="1800" b="1" dirty="0"/>
                        <a:t>Total</a:t>
                      </a:r>
                    </a:p>
                  </a:txBody>
                  <a:tcPr/>
                </a:tc>
                <a:tc>
                  <a:txBody>
                    <a:bodyPr/>
                    <a:lstStyle/>
                    <a:p>
                      <a:endParaRPr lang="en-US" sz="18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-5934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-26296</a:t>
                      </a:r>
                    </a:p>
                  </a:txBody>
                  <a:tcPr/>
                </a:tc>
                <a:extLst>
                  <a:ext uri="{0D108BD9-81ED-4DB2-BD59-A6C34878D82A}">
                    <a16:rowId xmlns:a16="http://schemas.microsoft.com/office/drawing/2014/main" val="10005"/>
                  </a:ext>
                </a:extLst>
              </a:tr>
              <a:tr h="534540">
                <a:tc rowSpan="2">
                  <a:txBody>
                    <a:bodyPr/>
                    <a:lstStyle/>
                    <a:p>
                      <a:r>
                        <a:rPr lang="en-US" sz="1800" b="1" dirty="0"/>
                        <a:t>1948-49 to </a:t>
                      </a:r>
                    </a:p>
                    <a:p>
                      <a:r>
                        <a:rPr lang="en-US" sz="1800" b="1" dirty="0"/>
                        <a:t>1968-69</a:t>
                      </a:r>
                    </a:p>
                  </a:txBody>
                  <a:tcPr/>
                </a:tc>
                <a:tc>
                  <a:txBody>
                    <a:bodyPr/>
                    <a:lstStyle/>
                    <a:p>
                      <a:r>
                        <a:rPr lang="en-US" sz="1800" b="1" dirty="0"/>
                        <a:t>Nominal price</a:t>
                      </a:r>
                    </a:p>
                  </a:txBody>
                  <a:tcPr/>
                </a:tc>
                <a:tc>
                  <a:txBody>
                    <a:bodyPr/>
                    <a:lstStyle/>
                    <a:p>
                      <a:pPr algn="ctr"/>
                      <a:endParaRPr lang="en-US" sz="1800" b="1" dirty="0"/>
                    </a:p>
                  </a:txBody>
                  <a:tcPr/>
                </a:tc>
                <a:tc>
                  <a:txBody>
                    <a:bodyPr/>
                    <a:lstStyle/>
                    <a:p>
                      <a:pPr algn="ctr"/>
                      <a:endParaRPr lang="en-US" sz="1800" b="1" dirty="0"/>
                    </a:p>
                  </a:txBody>
                  <a:tcPr/>
                </a:tc>
                <a:extLst>
                  <a:ext uri="{0D108BD9-81ED-4DB2-BD59-A6C34878D82A}">
                    <a16:rowId xmlns:a16="http://schemas.microsoft.com/office/drawing/2014/main" val="10006"/>
                  </a:ext>
                </a:extLst>
              </a:tr>
              <a:tr h="534540">
                <a:tc vMerge="1">
                  <a:txBody>
                    <a:bodyPr/>
                    <a:lstStyle/>
                    <a:p>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Scarcity price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-4018</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-55064</a:t>
                      </a:r>
                    </a:p>
                  </a:txBody>
                  <a:tcPr/>
                </a:tc>
                <a:extLst>
                  <a:ext uri="{0D108BD9-81ED-4DB2-BD59-A6C34878D82A}">
                    <a16:rowId xmlns:a16="http://schemas.microsoft.com/office/drawing/2014/main" val="10007"/>
                  </a:ext>
                </a:extLst>
              </a:tr>
            </a:tbl>
          </a:graphicData>
        </a:graphic>
      </p:graphicFrame>
      <p:sp>
        <p:nvSpPr>
          <p:cNvPr id="7" name="TextBox 6"/>
          <p:cNvSpPr txBox="1"/>
          <p:nvPr/>
        </p:nvSpPr>
        <p:spPr>
          <a:xfrm>
            <a:off x="76200" y="5791200"/>
            <a:ext cx="9278566" cy="307777"/>
          </a:xfrm>
          <a:prstGeom prst="rect">
            <a:avLst/>
          </a:prstGeom>
          <a:noFill/>
        </p:spPr>
        <p:txBody>
          <a:bodyPr wrap="none" rtlCol="0">
            <a:spAutoFit/>
          </a:bodyPr>
          <a:lstStyle/>
          <a:p>
            <a:pPr algn="l"/>
            <a:r>
              <a:rPr lang="en-US" sz="1400" b="1" dirty="0">
                <a:solidFill>
                  <a:schemeClr val="tx1"/>
                </a:solidFill>
              </a:rPr>
              <a:t>Source: </a:t>
            </a:r>
            <a:r>
              <a:rPr lang="en-US" sz="1400" b="1" dirty="0" err="1">
                <a:solidFill>
                  <a:schemeClr val="tx1"/>
                </a:solidFill>
              </a:rPr>
              <a:t>Sobhan</a:t>
            </a:r>
            <a:r>
              <a:rPr lang="en-US" sz="1400" b="1" dirty="0">
                <a:solidFill>
                  <a:schemeClr val="tx1"/>
                </a:solidFill>
              </a:rPr>
              <a:t>, </a:t>
            </a:r>
            <a:r>
              <a:rPr lang="en-US" sz="1400" b="1" dirty="0" err="1">
                <a:solidFill>
                  <a:schemeClr val="tx1"/>
                </a:solidFill>
              </a:rPr>
              <a:t>Rehman</a:t>
            </a:r>
            <a:r>
              <a:rPr lang="en-US" sz="1400" b="1" dirty="0">
                <a:solidFill>
                  <a:schemeClr val="tx1"/>
                </a:solidFill>
              </a:rPr>
              <a:t>, </a:t>
            </a:r>
            <a:r>
              <a:rPr lang="en-US" sz="1400" b="1" i="1" dirty="0">
                <a:solidFill>
                  <a:schemeClr val="tx1"/>
                </a:solidFill>
              </a:rPr>
              <a:t>From Two Economies to Two Nations: My Journey to Bangladesh </a:t>
            </a:r>
            <a:r>
              <a:rPr lang="en-US" sz="1400" b="1" dirty="0">
                <a:solidFill>
                  <a:schemeClr val="tx1"/>
                </a:solidFill>
              </a:rPr>
              <a:t>(Dhaka: Daily Star Books, 2015)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990600"/>
          </a:xfrm>
          <a:prstGeom prst="rect">
            <a:avLst/>
          </a:prstGeom>
          <a:solidFill>
            <a:srgbClr val="C00000"/>
          </a:solidFill>
        </p:spPr>
        <p:txBody>
          <a:bodyPr vert="horz" lIns="91440" tIns="45720" rIns="91440" bIns="45720" rtlCol="0" anchor="ctr">
            <a:normAutofit fontScale="85000" lnSpcReduction="20000"/>
          </a:bodyPr>
          <a:lstStyle/>
          <a:p>
            <a:pPr lvl="0" algn="ctr">
              <a:spcBef>
                <a:spcPct val="0"/>
              </a:spcBef>
            </a:pPr>
            <a:r>
              <a:rPr lang="en-US" sz="4400" b="1" dirty="0">
                <a:solidFill>
                  <a:schemeClr val="bg1"/>
                </a:solidFill>
              </a:rPr>
              <a:t>DISPARITY: TRANSFER OF RESOURCES </a:t>
            </a:r>
            <a:br>
              <a:rPr lang="en-US" sz="4400" b="1" dirty="0"/>
            </a:br>
            <a:r>
              <a:rPr lang="en-US" sz="4000" b="1" dirty="0">
                <a:solidFill>
                  <a:schemeClr val="bg1"/>
                </a:solidFill>
              </a:rPr>
              <a:t>1948/49 to 1968/69 </a:t>
            </a:r>
            <a:r>
              <a:rPr lang="en-US" sz="2600" b="1" i="1" dirty="0">
                <a:solidFill>
                  <a:schemeClr val="bg1"/>
                </a:solidFill>
              </a:rPr>
              <a:t>(Rs. million)</a:t>
            </a:r>
            <a:endParaRPr kumimoji="0" lang="en-US" sz="44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9906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89149840"/>
              </p:ext>
            </p:extLst>
          </p:nvPr>
        </p:nvGraphicFramePr>
        <p:xfrm>
          <a:off x="152400" y="1371600"/>
          <a:ext cx="8839200" cy="4341875"/>
        </p:xfrm>
        <a:graphic>
          <a:graphicData uri="http://schemas.openxmlformats.org/drawingml/2006/table">
            <a:tbl>
              <a:tblPr firstRow="1" bandRow="1">
                <a:tableStyleId>{5940675A-B579-460E-94D1-54222C63F5DA}</a:tableStyleId>
              </a:tblPr>
              <a:tblGrid>
                <a:gridCol w="467690">
                  <a:extLst>
                    <a:ext uri="{9D8B030D-6E8A-4147-A177-3AD203B41FA5}">
                      <a16:colId xmlns:a16="http://schemas.microsoft.com/office/drawing/2014/main" val="20000"/>
                    </a:ext>
                  </a:extLst>
                </a:gridCol>
                <a:gridCol w="3067990">
                  <a:extLst>
                    <a:ext uri="{9D8B030D-6E8A-4147-A177-3AD203B41FA5}">
                      <a16:colId xmlns:a16="http://schemas.microsoft.com/office/drawing/2014/main" val="20001"/>
                    </a:ext>
                  </a:extLst>
                </a:gridCol>
                <a:gridCol w="1625815">
                  <a:extLst>
                    <a:ext uri="{9D8B030D-6E8A-4147-A177-3AD203B41FA5}">
                      <a16:colId xmlns:a16="http://schemas.microsoft.com/office/drawing/2014/main" val="20002"/>
                    </a:ext>
                  </a:extLst>
                </a:gridCol>
                <a:gridCol w="1909865">
                  <a:extLst>
                    <a:ext uri="{9D8B030D-6E8A-4147-A177-3AD203B41FA5}">
                      <a16:colId xmlns:a16="http://schemas.microsoft.com/office/drawing/2014/main" val="20003"/>
                    </a:ext>
                  </a:extLst>
                </a:gridCol>
                <a:gridCol w="1767840">
                  <a:extLst>
                    <a:ext uri="{9D8B030D-6E8A-4147-A177-3AD203B41FA5}">
                      <a16:colId xmlns:a16="http://schemas.microsoft.com/office/drawing/2014/main" val="20004"/>
                    </a:ext>
                  </a:extLst>
                </a:gridCol>
              </a:tblGrid>
              <a:tr h="687448">
                <a:tc>
                  <a:txBody>
                    <a:bodyPr/>
                    <a:lstStyle/>
                    <a:p>
                      <a:endParaRPr lang="en-US" sz="1800" b="1" dirty="0"/>
                    </a:p>
                  </a:txBody>
                  <a:tcPr/>
                </a:tc>
                <a:tc>
                  <a:txBody>
                    <a:bodyPr/>
                    <a:lstStyle/>
                    <a:p>
                      <a:endParaRPr lang="en-US" sz="1800" b="1" dirty="0"/>
                    </a:p>
                  </a:txBody>
                  <a:tcPr/>
                </a:tc>
                <a:tc>
                  <a:txBody>
                    <a:bodyPr/>
                    <a:lstStyle/>
                    <a:p>
                      <a:pPr algn="ctr"/>
                      <a:r>
                        <a:rPr lang="en-US" sz="1800" b="1" dirty="0"/>
                        <a:t>1948/49- 1960/61</a:t>
                      </a:r>
                    </a:p>
                  </a:txBody>
                  <a:tcPr/>
                </a:tc>
                <a:tc>
                  <a:txBody>
                    <a:bodyPr/>
                    <a:lstStyle/>
                    <a:p>
                      <a:pPr algn="ctr"/>
                      <a:r>
                        <a:rPr lang="en-US" sz="1800" b="1" dirty="0"/>
                        <a:t>1961/62-1968/69</a:t>
                      </a:r>
                    </a:p>
                  </a:txBody>
                  <a:tcPr/>
                </a:tc>
                <a:tc>
                  <a:txBody>
                    <a:bodyPr/>
                    <a:lstStyle/>
                    <a:p>
                      <a:pPr algn="ctr"/>
                      <a:r>
                        <a:rPr lang="en-US" sz="1800" b="1" dirty="0"/>
                        <a:t>1948/49-1968/69</a:t>
                      </a:r>
                    </a:p>
                  </a:txBody>
                  <a:tcPr/>
                </a:tc>
                <a:extLst>
                  <a:ext uri="{0D108BD9-81ED-4DB2-BD59-A6C34878D82A}">
                    <a16:rowId xmlns:a16="http://schemas.microsoft.com/office/drawing/2014/main" val="10000"/>
                  </a:ext>
                </a:extLst>
              </a:tr>
              <a:tr h="673184">
                <a:tc>
                  <a:txBody>
                    <a:bodyPr/>
                    <a:lstStyle/>
                    <a:p>
                      <a:r>
                        <a:rPr lang="en-US" sz="1800" b="1" dirty="0"/>
                        <a:t>1</a:t>
                      </a:r>
                    </a:p>
                  </a:txBody>
                  <a:tcPr/>
                </a:tc>
                <a:tc>
                  <a:txBody>
                    <a:bodyPr/>
                    <a:lstStyle/>
                    <a:p>
                      <a:r>
                        <a:rPr lang="en-US" sz="1800" b="1" dirty="0"/>
                        <a:t>Aid actually utilized in East Pakistan</a:t>
                      </a:r>
                    </a:p>
                  </a:txBody>
                  <a:tcPr/>
                </a:tc>
                <a:tc>
                  <a:txBody>
                    <a:bodyPr/>
                    <a:lstStyle/>
                    <a:p>
                      <a:pPr algn="ctr"/>
                      <a:r>
                        <a:rPr lang="en-US" sz="1800" b="1" dirty="0"/>
                        <a:t>4840</a:t>
                      </a:r>
                    </a:p>
                  </a:txBody>
                  <a:tcPr/>
                </a:tc>
                <a:tc>
                  <a:txBody>
                    <a:bodyPr/>
                    <a:lstStyle/>
                    <a:p>
                      <a:pPr algn="ctr"/>
                      <a:r>
                        <a:rPr lang="en-US" sz="1800" b="1" dirty="0"/>
                        <a:t>14490</a:t>
                      </a:r>
                    </a:p>
                  </a:txBody>
                  <a:tcPr/>
                </a:tc>
                <a:tc>
                  <a:txBody>
                    <a:bodyPr/>
                    <a:lstStyle/>
                    <a:p>
                      <a:pPr algn="ctr"/>
                      <a:r>
                        <a:rPr lang="en-US" sz="1800" b="1" dirty="0"/>
                        <a:t>19330</a:t>
                      </a:r>
                    </a:p>
                  </a:txBody>
                  <a:tcPr/>
                </a:tc>
                <a:extLst>
                  <a:ext uri="{0D108BD9-81ED-4DB2-BD59-A6C34878D82A}">
                    <a16:rowId xmlns:a16="http://schemas.microsoft.com/office/drawing/2014/main" val="10001"/>
                  </a:ext>
                </a:extLst>
              </a:tr>
              <a:tr h="961691">
                <a:tc>
                  <a:txBody>
                    <a:bodyPr/>
                    <a:lstStyle/>
                    <a:p>
                      <a:r>
                        <a:rPr lang="en-US" sz="1800" b="1"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East Pakistan’s due share of aid in proportion to population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8430</a:t>
                      </a:r>
                    </a:p>
                  </a:txBody>
                  <a:tcPr/>
                </a:tc>
                <a:tc>
                  <a:txBody>
                    <a:bodyPr/>
                    <a:lstStyle/>
                    <a:p>
                      <a:pPr algn="ctr"/>
                      <a:r>
                        <a:rPr lang="en-US" sz="1800" b="1" dirty="0"/>
                        <a:t>26710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35140</a:t>
                      </a:r>
                    </a:p>
                  </a:txBody>
                  <a:tcPr/>
                </a:tc>
                <a:extLst>
                  <a:ext uri="{0D108BD9-81ED-4DB2-BD59-A6C34878D82A}">
                    <a16:rowId xmlns:a16="http://schemas.microsoft.com/office/drawing/2014/main" val="10002"/>
                  </a:ext>
                </a:extLst>
              </a:tr>
              <a:tr h="673184">
                <a:tc>
                  <a:txBody>
                    <a:bodyPr/>
                    <a:lstStyle/>
                    <a:p>
                      <a:r>
                        <a:rPr lang="en-US" sz="1800" b="1"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Transfer from East to West on Aid account (2-1)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+3590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+12220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+15810</a:t>
                      </a:r>
                    </a:p>
                  </a:txBody>
                  <a:tcPr/>
                </a:tc>
                <a:extLst>
                  <a:ext uri="{0D108BD9-81ED-4DB2-BD59-A6C34878D82A}">
                    <a16:rowId xmlns:a16="http://schemas.microsoft.com/office/drawing/2014/main" val="10003"/>
                  </a:ext>
                </a:extLst>
              </a:tr>
              <a:tr h="673184">
                <a:tc>
                  <a:txBody>
                    <a:bodyPr/>
                    <a:lstStyle/>
                    <a:p>
                      <a:r>
                        <a:rPr lang="en-US" sz="1800" b="1" dirty="0"/>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East Pakistan’s balance of payments</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+5370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-9390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-4020</a:t>
                      </a:r>
                    </a:p>
                  </a:txBody>
                  <a:tcPr/>
                </a:tc>
                <a:extLst>
                  <a:ext uri="{0D108BD9-81ED-4DB2-BD59-A6C34878D82A}">
                    <a16:rowId xmlns:a16="http://schemas.microsoft.com/office/drawing/2014/main" val="10004"/>
                  </a:ext>
                </a:extLst>
              </a:tr>
              <a:tr h="673184">
                <a:tc>
                  <a:txBody>
                    <a:bodyPr/>
                    <a:lstStyle/>
                    <a:p>
                      <a:r>
                        <a:rPr lang="en-US" sz="1800" b="1" dirty="0"/>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t>Transfer of resources from East to West  (3+4)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+8960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+2830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t>+11790</a:t>
                      </a:r>
                    </a:p>
                  </a:txBody>
                  <a:tcPr/>
                </a:tc>
                <a:extLst>
                  <a:ext uri="{0D108BD9-81ED-4DB2-BD59-A6C34878D82A}">
                    <a16:rowId xmlns:a16="http://schemas.microsoft.com/office/drawing/2014/main" val="10005"/>
                  </a:ext>
                </a:extLst>
              </a:tr>
            </a:tbl>
          </a:graphicData>
        </a:graphic>
      </p:graphicFrame>
      <p:sp>
        <p:nvSpPr>
          <p:cNvPr id="7" name="TextBox 6"/>
          <p:cNvSpPr txBox="1"/>
          <p:nvPr/>
        </p:nvSpPr>
        <p:spPr>
          <a:xfrm>
            <a:off x="17834" y="5788223"/>
            <a:ext cx="9278566" cy="307777"/>
          </a:xfrm>
          <a:prstGeom prst="rect">
            <a:avLst/>
          </a:prstGeom>
          <a:noFill/>
        </p:spPr>
        <p:txBody>
          <a:bodyPr wrap="none" rtlCol="0">
            <a:spAutoFit/>
          </a:bodyPr>
          <a:lstStyle/>
          <a:p>
            <a:pPr algn="l"/>
            <a:r>
              <a:rPr lang="en-US" sz="1400" b="1" dirty="0">
                <a:solidFill>
                  <a:schemeClr val="tx1"/>
                </a:solidFill>
                <a:latin typeface="+mn-lt"/>
              </a:rPr>
              <a:t>Source: </a:t>
            </a:r>
            <a:r>
              <a:rPr lang="en-US" sz="1400" b="1" dirty="0" err="1">
                <a:solidFill>
                  <a:schemeClr val="tx1"/>
                </a:solidFill>
                <a:latin typeface="+mn-lt"/>
              </a:rPr>
              <a:t>Sobhan</a:t>
            </a:r>
            <a:r>
              <a:rPr lang="en-US" sz="1400" b="1" dirty="0">
                <a:solidFill>
                  <a:schemeClr val="tx1"/>
                </a:solidFill>
                <a:latin typeface="+mn-lt"/>
              </a:rPr>
              <a:t>, </a:t>
            </a:r>
            <a:r>
              <a:rPr lang="en-US" sz="1400" b="1" dirty="0" err="1">
                <a:solidFill>
                  <a:schemeClr val="tx1"/>
                </a:solidFill>
                <a:latin typeface="+mn-lt"/>
              </a:rPr>
              <a:t>Rehman</a:t>
            </a:r>
            <a:r>
              <a:rPr lang="en-US" sz="1400" b="1" dirty="0">
                <a:solidFill>
                  <a:schemeClr val="tx1"/>
                </a:solidFill>
                <a:latin typeface="+mn-lt"/>
              </a:rPr>
              <a:t>, </a:t>
            </a:r>
            <a:r>
              <a:rPr lang="en-US" sz="1400" b="1" i="1" dirty="0">
                <a:solidFill>
                  <a:schemeClr val="tx1"/>
                </a:solidFill>
                <a:latin typeface="+mn-lt"/>
              </a:rPr>
              <a:t>From Two Economies to Two Nations: My Journey to Bangladesh </a:t>
            </a:r>
            <a:r>
              <a:rPr lang="en-US" sz="1400" b="1" dirty="0">
                <a:solidFill>
                  <a:schemeClr val="tx1"/>
                </a:solidFill>
                <a:latin typeface="+mn-lt"/>
              </a:rPr>
              <a:t>(Dhaka: Daily Star Books, 2015</a:t>
            </a:r>
            <a:r>
              <a:rPr lang="en-US" sz="1400" dirty="0">
                <a:solidFill>
                  <a:schemeClr val="tx1"/>
                </a:solidFill>
                <a:latin typeface="+mn-lt"/>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562600"/>
          </a:xfrm>
        </p:spPr>
        <p:txBody>
          <a:bodyPr>
            <a:normAutofit lnSpcReduction="10000"/>
          </a:bodyPr>
          <a:lstStyle/>
          <a:p>
            <a:pPr>
              <a:buNone/>
            </a:pPr>
            <a:r>
              <a:rPr lang="en-US" b="1" i="1" dirty="0"/>
              <a:t>Non-Bengalis:</a:t>
            </a:r>
          </a:p>
          <a:p>
            <a:pPr>
              <a:buFont typeface="Wingdings" panose="05000000000000000000" pitchFamily="2" charset="2"/>
              <a:buChar char="Ø"/>
            </a:pPr>
            <a:r>
              <a:rPr lang="en-US" b="1" dirty="0"/>
              <a:t> </a:t>
            </a:r>
            <a:r>
              <a:rPr lang="en-US" sz="3000" b="1" dirty="0"/>
              <a:t>received 62% of all state industrial lending in EP</a:t>
            </a:r>
          </a:p>
          <a:p>
            <a:pPr>
              <a:buFont typeface="Wingdings" panose="05000000000000000000" pitchFamily="2" charset="2"/>
              <a:buChar char="Ø"/>
            </a:pPr>
            <a:r>
              <a:rPr lang="en-US" sz="3000" b="1" dirty="0"/>
              <a:t> received PIDC set up factories (jute mills and Karnaphuli paper mill)</a:t>
            </a:r>
          </a:p>
          <a:p>
            <a:pPr>
              <a:buFont typeface="Wingdings" panose="05000000000000000000" pitchFamily="2" charset="2"/>
              <a:buChar char="Ø"/>
            </a:pPr>
            <a:r>
              <a:rPr lang="en-US" sz="3000" b="1" dirty="0"/>
              <a:t> controlled 47% of industrial assets compared to 23% by Bengalis (the rest by EPIDC)</a:t>
            </a:r>
          </a:p>
          <a:p>
            <a:pPr>
              <a:buFont typeface="Wingdings" panose="05000000000000000000" pitchFamily="2" charset="2"/>
              <a:buChar char="Ø"/>
            </a:pPr>
            <a:r>
              <a:rPr lang="en-US" sz="3000" b="1" dirty="0"/>
              <a:t> controlled 93% of all large imports, most wholesale trade, exports</a:t>
            </a:r>
          </a:p>
          <a:p>
            <a:pPr>
              <a:buFont typeface="Wingdings" panose="05000000000000000000" pitchFamily="2" charset="2"/>
              <a:buChar char="Ø"/>
            </a:pPr>
            <a:r>
              <a:rPr lang="en-US" sz="3000" b="1" dirty="0"/>
              <a:t> 70% of all deposits in Non-Bengali banks  </a:t>
            </a:r>
          </a:p>
          <a:p>
            <a:pPr>
              <a:buFont typeface="Wingdings" panose="05000000000000000000" pitchFamily="2" charset="2"/>
              <a:buChar char="Ø"/>
            </a:pPr>
            <a:r>
              <a:rPr lang="en-US" sz="3000" b="1" dirty="0"/>
              <a:t>owned 2 of the largest 3 shipping companies</a:t>
            </a:r>
          </a:p>
          <a:p>
            <a:pPr>
              <a:buFont typeface="Wingdings" panose="05000000000000000000" pitchFamily="2" charset="2"/>
              <a:buChar char="Ø"/>
            </a:pPr>
            <a:r>
              <a:rPr lang="en-US" sz="3000" b="1" dirty="0"/>
              <a:t> owned 28 tea gardens with 19% of tea output</a:t>
            </a:r>
          </a:p>
          <a:p>
            <a:endParaRPr lang="en-US" dirty="0"/>
          </a:p>
        </p:txBody>
      </p:sp>
      <p:sp>
        <p:nvSpPr>
          <p:cNvPr id="4" name="Title 1"/>
          <p:cNvSpPr txBox="1">
            <a:spLocks/>
          </p:cNvSpPr>
          <p:nvPr/>
        </p:nvSpPr>
        <p:spPr>
          <a:xfrm>
            <a:off x="0" y="0"/>
            <a:ext cx="9144000" cy="838200"/>
          </a:xfrm>
          <a:prstGeom prst="rect">
            <a:avLst/>
          </a:prstGeom>
          <a:solidFill>
            <a:srgbClr val="C00000"/>
          </a:solidFill>
        </p:spPr>
        <p:txBody>
          <a:bodyPr vert="horz" lIns="91440" tIns="45720" rIns="91440" bIns="45720" rtlCol="0" anchor="ctr">
            <a:noAutofit/>
          </a:bodyPr>
          <a:lstStyle/>
          <a:p>
            <a:pPr lvl="0" algn="ctr">
              <a:spcBef>
                <a:spcPct val="0"/>
              </a:spcBef>
            </a:pPr>
            <a:r>
              <a:rPr lang="en-US" sz="2800" b="1" dirty="0">
                <a:solidFill>
                  <a:schemeClr val="bg1"/>
                </a:solidFill>
              </a:rPr>
              <a:t>DOMINANCE OF NON-BENGALIS IN EP PRIVATE SECTOR</a:t>
            </a:r>
            <a:endParaRPr kumimoji="0" lang="en-US" sz="28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8382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763000" cy="5257800"/>
          </a:xfrm>
        </p:spPr>
        <p:txBody>
          <a:bodyPr>
            <a:normAutofit fontScale="85000" lnSpcReduction="10000"/>
          </a:bodyPr>
          <a:lstStyle/>
          <a:p>
            <a:pPr>
              <a:lnSpc>
                <a:spcPct val="100000"/>
              </a:lnSpc>
              <a:buNone/>
            </a:pPr>
            <a:r>
              <a:rPr lang="en-US" sz="3600" b="1" dirty="0"/>
              <a:t>Overvaluation of currency</a:t>
            </a:r>
          </a:p>
          <a:p>
            <a:pPr>
              <a:lnSpc>
                <a:spcPct val="100000"/>
              </a:lnSpc>
              <a:buFont typeface="Wingdings" panose="05000000000000000000" pitchFamily="2" charset="2"/>
              <a:buChar char="Ø"/>
            </a:pPr>
            <a:r>
              <a:rPr lang="en-US" b="1" i="1" dirty="0"/>
              <a:t>Jute growers in EP received 50% less for their export</a:t>
            </a:r>
          </a:p>
          <a:p>
            <a:pPr>
              <a:lnSpc>
                <a:spcPct val="100000"/>
              </a:lnSpc>
              <a:buFont typeface="Wingdings" panose="05000000000000000000" pitchFamily="2" charset="2"/>
              <a:buChar char="Ø"/>
            </a:pPr>
            <a:r>
              <a:rPr lang="en-US" b="1" i="1" dirty="0"/>
              <a:t>Foreign exchange control and import licensing system: Industry owners in WP paid less for machine imports</a:t>
            </a:r>
          </a:p>
          <a:p>
            <a:pPr marL="0" indent="0">
              <a:lnSpc>
                <a:spcPct val="110000"/>
              </a:lnSpc>
              <a:buNone/>
            </a:pPr>
            <a:r>
              <a:rPr lang="en-US" sz="3600" b="1" dirty="0"/>
              <a:t>State promotion of WP industry</a:t>
            </a:r>
          </a:p>
          <a:p>
            <a:pPr>
              <a:lnSpc>
                <a:spcPct val="100000"/>
              </a:lnSpc>
              <a:buFont typeface="Wingdings" panose="05000000000000000000" pitchFamily="2" charset="2"/>
              <a:buChar char="Ø"/>
            </a:pPr>
            <a:r>
              <a:rPr lang="en-US" b="1" i="1" dirty="0"/>
              <a:t>Low interest loans, over invoicing for initial capital</a:t>
            </a:r>
          </a:p>
          <a:p>
            <a:pPr>
              <a:lnSpc>
                <a:spcPct val="100000"/>
              </a:lnSpc>
              <a:buFont typeface="Wingdings" panose="05000000000000000000" pitchFamily="2" charset="2"/>
              <a:buChar char="Ø"/>
            </a:pPr>
            <a:r>
              <a:rPr lang="en-US" b="1" i="1" dirty="0"/>
              <a:t>Monopoly protection of domestic products at high prices</a:t>
            </a:r>
          </a:p>
          <a:p>
            <a:pPr>
              <a:lnSpc>
                <a:spcPct val="100000"/>
              </a:lnSpc>
              <a:buFont typeface="Wingdings" panose="05000000000000000000" pitchFamily="2" charset="2"/>
              <a:buChar char="Ø"/>
            </a:pPr>
            <a:r>
              <a:rPr lang="en-US" b="1" i="1" dirty="0"/>
              <a:t>State established enterprises transferred to private hands            (sugar, fertilizer, cement, machine tools, electrical, petro-chemicals) </a:t>
            </a:r>
          </a:p>
          <a:p>
            <a:pPr marL="0" indent="0">
              <a:lnSpc>
                <a:spcPct val="110000"/>
              </a:lnSpc>
              <a:buNone/>
            </a:pPr>
            <a:r>
              <a:rPr lang="en-US" sz="3600" b="1" dirty="0"/>
              <a:t>Massive US foreign aid to Pakistan</a:t>
            </a:r>
          </a:p>
          <a:p>
            <a:pPr marL="0" indent="0">
              <a:lnSpc>
                <a:spcPct val="100000"/>
              </a:lnSpc>
              <a:buNone/>
            </a:pPr>
            <a:endParaRPr lang="en-US" sz="3600" b="1" i="1" dirty="0"/>
          </a:p>
          <a:p>
            <a:endParaRPr lang="en-US" dirty="0"/>
          </a:p>
        </p:txBody>
      </p:sp>
      <p:sp>
        <p:nvSpPr>
          <p:cNvPr id="4" name="Title 1"/>
          <p:cNvSpPr txBox="1">
            <a:spLocks/>
          </p:cNvSpPr>
          <p:nvPr/>
        </p:nvSpPr>
        <p:spPr>
          <a:xfrm>
            <a:off x="0" y="0"/>
            <a:ext cx="9144000" cy="762000"/>
          </a:xfrm>
          <a:prstGeom prst="rect">
            <a:avLst/>
          </a:prstGeom>
          <a:solidFill>
            <a:srgbClr val="C00000"/>
          </a:solidFill>
        </p:spPr>
        <p:txBody>
          <a:bodyPr vert="horz" lIns="91440" tIns="45720" rIns="91440" bIns="45720" rtlCol="0" anchor="ctr">
            <a:noAutofit/>
          </a:bodyPr>
          <a:lstStyle/>
          <a:p>
            <a:pPr lvl="0" algn="ctr">
              <a:spcBef>
                <a:spcPct val="0"/>
              </a:spcBef>
            </a:pPr>
            <a:r>
              <a:rPr lang="en-US" sz="3200" b="1" dirty="0">
                <a:solidFill>
                  <a:schemeClr val="bg1"/>
                </a:solidFill>
              </a:rPr>
              <a:t>CAPITALIST ECONOMIC PLANNING IN PAKISTAN</a:t>
            </a:r>
            <a:endParaRPr kumimoji="0" lang="en-US" sz="32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7620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763000" cy="5486400"/>
          </a:xfrm>
        </p:spPr>
        <p:txBody>
          <a:bodyPr>
            <a:normAutofit lnSpcReduction="10000"/>
          </a:bodyPr>
          <a:lstStyle/>
          <a:p>
            <a:pPr marL="0" indent="0">
              <a:lnSpc>
                <a:spcPct val="100000"/>
              </a:lnSpc>
              <a:buFont typeface="Wingdings" pitchFamily="2" charset="2"/>
              <a:buChar char="Ø"/>
            </a:pPr>
            <a:r>
              <a:rPr lang="en-US" b="1" dirty="0"/>
              <a:t>From 1960 onwards, Bengali economists proactively and persistently pointed out the structural basis of regional discrimination inherent in Pakistan’s economic policies</a:t>
            </a:r>
          </a:p>
          <a:p>
            <a:pPr marL="0" indent="0">
              <a:lnSpc>
                <a:spcPct val="110000"/>
              </a:lnSpc>
              <a:buFont typeface="Wingdings" pitchFamily="2" charset="2"/>
              <a:buChar char="Ø"/>
            </a:pPr>
            <a:r>
              <a:rPr lang="en-US" b="1" dirty="0"/>
              <a:t>Those who led this critique and active debate that anchored the demand for regional autonomy, include:</a:t>
            </a:r>
          </a:p>
          <a:p>
            <a:pPr lvl="2" indent="-342900">
              <a:buFont typeface="Wingdings" panose="05000000000000000000" pitchFamily="2" charset="2"/>
              <a:buChar char="ü"/>
            </a:pPr>
            <a:r>
              <a:rPr lang="en-US" b="1" i="1" dirty="0"/>
              <a:t>Professor </a:t>
            </a:r>
            <a:r>
              <a:rPr lang="en-US" b="1" i="1" dirty="0" err="1"/>
              <a:t>Akhlaqur</a:t>
            </a:r>
            <a:r>
              <a:rPr lang="en-US" b="1" i="1" dirty="0"/>
              <a:t> Rahman</a:t>
            </a:r>
          </a:p>
          <a:p>
            <a:pPr lvl="2" indent="-342900">
              <a:buFont typeface="Wingdings" panose="05000000000000000000" pitchFamily="2" charset="2"/>
              <a:buChar char="ü"/>
            </a:pPr>
            <a:r>
              <a:rPr lang="en-US" b="1" i="1" dirty="0"/>
              <a:t>Professor Nurul Islam</a:t>
            </a:r>
          </a:p>
          <a:p>
            <a:pPr lvl="2" indent="-342900">
              <a:buFont typeface="Wingdings" panose="05000000000000000000" pitchFamily="2" charset="2"/>
              <a:buChar char="ü"/>
            </a:pPr>
            <a:r>
              <a:rPr lang="en-US" b="1" i="1" dirty="0"/>
              <a:t>Professor Rehman Sobhan</a:t>
            </a:r>
          </a:p>
          <a:p>
            <a:pPr lvl="2" indent="-342900">
              <a:buFont typeface="Wingdings" panose="05000000000000000000" pitchFamily="2" charset="2"/>
              <a:buChar char="ü"/>
            </a:pPr>
            <a:r>
              <a:rPr lang="en-US" b="1" i="1" dirty="0"/>
              <a:t>Professor </a:t>
            </a:r>
            <a:r>
              <a:rPr lang="en-US" b="1" i="1" dirty="0" err="1"/>
              <a:t>Mosharraf</a:t>
            </a:r>
            <a:r>
              <a:rPr lang="en-US" b="1" i="1" dirty="0"/>
              <a:t> Hossain</a:t>
            </a:r>
          </a:p>
          <a:p>
            <a:pPr lvl="2" indent="-342900">
              <a:buFont typeface="Wingdings" panose="05000000000000000000" pitchFamily="2" charset="2"/>
              <a:buChar char="ü"/>
            </a:pPr>
            <a:r>
              <a:rPr lang="en-US" b="1" i="1" dirty="0"/>
              <a:t>Professor </a:t>
            </a:r>
            <a:r>
              <a:rPr lang="en-US" b="1" i="1" dirty="0" err="1"/>
              <a:t>Anisur</a:t>
            </a:r>
            <a:r>
              <a:rPr lang="en-US" b="1" i="1" dirty="0"/>
              <a:t> Rahman</a:t>
            </a:r>
            <a:endParaRPr lang="en-US" dirty="0"/>
          </a:p>
        </p:txBody>
      </p:sp>
      <p:sp>
        <p:nvSpPr>
          <p:cNvPr id="4" name="Title 1"/>
          <p:cNvSpPr txBox="1">
            <a:spLocks/>
          </p:cNvSpPr>
          <p:nvPr/>
        </p:nvSpPr>
        <p:spPr>
          <a:xfrm>
            <a:off x="0" y="0"/>
            <a:ext cx="9144000" cy="838200"/>
          </a:xfrm>
          <a:prstGeom prst="rect">
            <a:avLst/>
          </a:prstGeom>
          <a:solidFill>
            <a:srgbClr val="C00000"/>
          </a:solidFill>
        </p:spPr>
        <p:txBody>
          <a:bodyPr vert="horz" lIns="91440" tIns="45720" rIns="91440" bIns="45720" rtlCol="0" anchor="ctr">
            <a:normAutofit/>
          </a:bodyPr>
          <a:lstStyle/>
          <a:p>
            <a:pPr lvl="0" algn="ctr">
              <a:spcBef>
                <a:spcPct val="0"/>
              </a:spcBef>
            </a:pPr>
            <a:r>
              <a:rPr lang="en-US" sz="4400" b="1" dirty="0">
                <a:solidFill>
                  <a:schemeClr val="bg1"/>
                </a:solidFill>
              </a:rPr>
              <a:t>BENGALI ECONOMISTS FIGHT BACK</a:t>
            </a:r>
            <a:endParaRPr kumimoji="0" lang="en-US" sz="44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8382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686800" cy="5257800"/>
          </a:xfrm>
        </p:spPr>
        <p:txBody>
          <a:bodyPr>
            <a:normAutofit/>
          </a:bodyPr>
          <a:lstStyle/>
          <a:p>
            <a:pPr marL="0" indent="0">
              <a:lnSpc>
                <a:spcPct val="100000"/>
              </a:lnSpc>
              <a:buFont typeface="Wingdings" pitchFamily="2" charset="2"/>
              <a:buChar char="Ø"/>
            </a:pPr>
            <a:r>
              <a:rPr lang="en-US" b="1" dirty="0"/>
              <a:t>Harvard Advisory Group celebrated capitalist development in Pakistan as model against socialism (1968)</a:t>
            </a:r>
          </a:p>
          <a:p>
            <a:pPr marL="0" indent="0">
              <a:lnSpc>
                <a:spcPct val="100000"/>
              </a:lnSpc>
              <a:buFont typeface="Wingdings" pitchFamily="2" charset="2"/>
              <a:buChar char="Ø"/>
            </a:pPr>
            <a:r>
              <a:rPr lang="en-US" b="1" dirty="0"/>
              <a:t>The Decade of Development (1958-68): Impacts</a:t>
            </a:r>
          </a:p>
          <a:p>
            <a:pPr lvl="1">
              <a:buFont typeface="Wingdings" pitchFamily="2" charset="2"/>
              <a:buChar char="ü"/>
            </a:pPr>
            <a:r>
              <a:rPr lang="en-US" b="1" i="1" dirty="0"/>
              <a:t> regional inequality</a:t>
            </a:r>
          </a:p>
          <a:p>
            <a:pPr lvl="1">
              <a:buFont typeface="Wingdings" pitchFamily="2" charset="2"/>
              <a:buChar char="ü"/>
            </a:pPr>
            <a:r>
              <a:rPr lang="en-US" b="1" i="1" dirty="0"/>
              <a:t> income inequality and impoverishment of peasantry &amp; workers</a:t>
            </a:r>
          </a:p>
          <a:p>
            <a:pPr lvl="1">
              <a:buFont typeface="Wingdings" pitchFamily="2" charset="2"/>
              <a:buChar char="ü"/>
            </a:pPr>
            <a:r>
              <a:rPr lang="en-US" b="1" i="1" dirty="0"/>
              <a:t> rise of 22 families (only 1 from EP)</a:t>
            </a:r>
          </a:p>
          <a:p>
            <a:pPr lvl="1">
              <a:buFont typeface="Wingdings" pitchFamily="2" charset="2"/>
              <a:buChar char="ü"/>
            </a:pPr>
            <a:r>
              <a:rPr lang="en-US" b="1" i="1" dirty="0"/>
              <a:t> powerful bureaucracy and army</a:t>
            </a:r>
          </a:p>
          <a:p>
            <a:pPr lvl="1">
              <a:buFont typeface="Wingdings" pitchFamily="2" charset="2"/>
              <a:buChar char="ü"/>
            </a:pPr>
            <a:r>
              <a:rPr lang="en-US" b="1" i="1" dirty="0"/>
              <a:t> affluent urban upper class</a:t>
            </a:r>
          </a:p>
          <a:p>
            <a:endParaRPr lang="en-US" dirty="0"/>
          </a:p>
        </p:txBody>
      </p:sp>
      <p:sp>
        <p:nvSpPr>
          <p:cNvPr id="4" name="Title 1"/>
          <p:cNvSpPr txBox="1">
            <a:spLocks/>
          </p:cNvSpPr>
          <p:nvPr/>
        </p:nvSpPr>
        <p:spPr>
          <a:xfrm>
            <a:off x="0" y="0"/>
            <a:ext cx="9144000" cy="838200"/>
          </a:xfrm>
          <a:prstGeom prst="rect">
            <a:avLst/>
          </a:prstGeom>
          <a:solidFill>
            <a:srgbClr val="C00000"/>
          </a:solidFill>
        </p:spPr>
        <p:txBody>
          <a:bodyPr vert="horz" lIns="91440" tIns="45720" rIns="91440" bIns="45720" rtlCol="0" anchor="ctr">
            <a:noAutofit/>
          </a:bodyPr>
          <a:lstStyle/>
          <a:p>
            <a:pPr lvl="0" algn="ctr">
              <a:spcBef>
                <a:spcPct val="0"/>
              </a:spcBef>
            </a:pPr>
            <a:r>
              <a:rPr lang="en-US" sz="3200" b="1" dirty="0">
                <a:solidFill>
                  <a:schemeClr val="bg1"/>
                </a:solidFill>
              </a:rPr>
              <a:t>CAPITALIST ECONOMIC PLANNING IN PAKISTAN</a:t>
            </a:r>
            <a:endParaRPr kumimoji="0" lang="en-US" sz="32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8382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95400"/>
            <a:ext cx="8763000" cy="5562600"/>
          </a:xfrm>
        </p:spPr>
        <p:txBody>
          <a:bodyPr>
            <a:normAutofit fontScale="70000" lnSpcReduction="20000"/>
          </a:bodyPr>
          <a:lstStyle/>
          <a:p>
            <a:pPr marL="457200" lvl="0" indent="-457200">
              <a:buFont typeface="+mj-lt"/>
              <a:buAutoNum type="arabicPeriod"/>
            </a:pPr>
            <a:r>
              <a:rPr lang="en-US" sz="3400" b="1" dirty="0"/>
              <a:t>Federation of Pakistan based on the Lahore Resolution;  and a parliamentary form of government directly elected on the basis of universal adult franchise.</a:t>
            </a:r>
          </a:p>
          <a:p>
            <a:pPr marL="457200" lvl="0" indent="-457200">
              <a:buFont typeface="+mj-lt"/>
              <a:buAutoNum type="arabicPeriod"/>
            </a:pPr>
            <a:r>
              <a:rPr lang="en-US" sz="3400" b="1" dirty="0"/>
              <a:t>Federal government controls only two subjects - defense and foreign affairs.  All other subjects vested in the federating states.</a:t>
            </a:r>
          </a:p>
          <a:p>
            <a:pPr marL="457200" lvl="0" indent="-457200">
              <a:buFont typeface="+mj-lt"/>
              <a:buAutoNum type="arabicPeriod"/>
            </a:pPr>
            <a:r>
              <a:rPr lang="en-US" sz="3400" b="1" dirty="0"/>
              <a:t>Two separate, but freely convertible currencies for two wings.  If this is not feasible, then one currency for the whole country, but effective constitutional provisions to stop the flight of capital from EP to WP. </a:t>
            </a:r>
          </a:p>
          <a:p>
            <a:pPr marL="457200" indent="-457200">
              <a:buFont typeface="+mj-lt"/>
              <a:buAutoNum type="arabicPeriod"/>
            </a:pPr>
            <a:r>
              <a:rPr lang="en-US" sz="3400" b="1" dirty="0"/>
              <a:t>Power of taxation and revenue collection vested only in the federating units, not the federal center.</a:t>
            </a:r>
          </a:p>
          <a:p>
            <a:pPr marL="457200" indent="-457200">
              <a:buFont typeface="+mj-lt"/>
              <a:buAutoNum type="arabicPeriod"/>
            </a:pPr>
            <a:r>
              <a:rPr lang="en-US" sz="3400" b="1" dirty="0"/>
              <a:t>Two separate accounts for foreign exchange earnings of two wings; each empowered to establish trade links separately with foreign countries.</a:t>
            </a:r>
          </a:p>
          <a:p>
            <a:pPr marL="457200" lvl="0" indent="-457200">
              <a:buFont typeface="+mj-lt"/>
              <a:buAutoNum type="arabicPeriod"/>
            </a:pPr>
            <a:r>
              <a:rPr lang="en-US" sz="3400" b="1" dirty="0"/>
              <a:t>East Pakistan to have a separate military or paramilitary force, and navy headquarters should be in East Pakistan.</a:t>
            </a:r>
          </a:p>
          <a:p>
            <a:pPr lvl="0">
              <a:buFont typeface="Wingdings" panose="05000000000000000000" pitchFamily="2" charset="2"/>
              <a:buChar char="Ø"/>
            </a:pPr>
            <a:endParaRPr lang="en-US" b="1" dirty="0"/>
          </a:p>
          <a:p>
            <a:endParaRPr lang="en-US" dirty="0"/>
          </a:p>
        </p:txBody>
      </p:sp>
      <p:sp>
        <p:nvSpPr>
          <p:cNvPr id="4" name="Title 1"/>
          <p:cNvSpPr txBox="1">
            <a:spLocks/>
          </p:cNvSpPr>
          <p:nvPr/>
        </p:nvSpPr>
        <p:spPr>
          <a:xfrm>
            <a:off x="0" y="0"/>
            <a:ext cx="9144000" cy="990600"/>
          </a:xfrm>
          <a:prstGeom prst="rect">
            <a:avLst/>
          </a:prstGeom>
          <a:solidFill>
            <a:srgbClr val="C00000"/>
          </a:solidFill>
        </p:spPr>
        <p:txBody>
          <a:bodyPr vert="horz" lIns="91440" tIns="45720" rIns="91440" bIns="45720" rtlCol="0" anchor="ctr">
            <a:normAutofit/>
          </a:bodyPr>
          <a:lstStyle/>
          <a:p>
            <a:pPr lvl="0" algn="ctr">
              <a:spcBef>
                <a:spcPct val="0"/>
              </a:spcBef>
            </a:pPr>
            <a:r>
              <a:rPr lang="en-US" sz="4400" b="1" dirty="0">
                <a:solidFill>
                  <a:schemeClr val="bg1"/>
                </a:solidFill>
              </a:rPr>
              <a:t>THE SIX POINT PROGRAM: 1966</a:t>
            </a:r>
            <a:endParaRPr kumimoji="0" lang="en-US" sz="44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9906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0"/>
            <a:ext cx="9144000" cy="914400"/>
          </a:xfrm>
          <a:prstGeom prst="rect">
            <a:avLst/>
          </a:prstGeom>
          <a:solidFill>
            <a:srgbClr val="C00000"/>
          </a:solidFill>
        </p:spPr>
        <p:txBody>
          <a:bodyPr vert="horz" lIns="91440" tIns="45720" rIns="91440" bIns="45720" rtlCol="0" anchor="ctr">
            <a:normAutofit/>
          </a:bodyPr>
          <a:lstStyle/>
          <a:p>
            <a:pPr lvl="0" algn="ctr">
              <a:spcBef>
                <a:spcPct val="0"/>
              </a:spcBef>
            </a:pPr>
            <a:r>
              <a:rPr lang="en-US" sz="4000" b="1" dirty="0">
                <a:solidFill>
                  <a:schemeClr val="bg1"/>
                </a:solidFill>
              </a:rPr>
              <a:t>GOLDEN BENGAL NOW A GRAVEYARD!</a:t>
            </a:r>
            <a:endParaRPr kumimoji="0" lang="en-US" sz="4000" b="1" i="0" u="none" strike="noStrike" kern="1200" cap="none" spc="0" normalizeH="0" baseline="0" noProof="0" dirty="0">
              <a:ln>
                <a:noFill/>
              </a:ln>
              <a:solidFill>
                <a:schemeClr val="bg1"/>
              </a:solidFill>
              <a:effectLst/>
              <a:uLnTx/>
              <a:uFillTx/>
              <a:latin typeface="+mj-lt"/>
              <a:ea typeface="+mj-ea"/>
              <a:cs typeface="+mj-cs"/>
            </a:endParaRPr>
          </a:p>
        </p:txBody>
      </p:sp>
      <p:sp>
        <p:nvSpPr>
          <p:cNvPr id="5" name="Rectangle 4"/>
          <p:cNvSpPr/>
          <p:nvPr/>
        </p:nvSpPr>
        <p:spPr>
          <a:xfrm>
            <a:off x="0" y="914400"/>
            <a:ext cx="9144000" cy="1524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pic>
        <p:nvPicPr>
          <p:cNvPr id="7" name="Content Placeholder 3">
            <a:extLst>
              <a:ext uri="{FF2B5EF4-FFF2-40B4-BE49-F238E27FC236}">
                <a16:creationId xmlns:a16="http://schemas.microsoft.com/office/drawing/2014/main" id="{6356E723-F21A-4CEE-AB31-7113F2134D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1905000" y="304800"/>
            <a:ext cx="5257800" cy="7086600"/>
          </a:xfrm>
        </p:spPr>
      </p:pic>
    </p:spTree>
    <p:extLst>
      <p:ext uri="{BB962C8B-B14F-4D97-AF65-F5344CB8AC3E}">
        <p14:creationId xmlns:p14="http://schemas.microsoft.com/office/powerpoint/2010/main" val="3558023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1447</Words>
  <Application>Microsoft Office PowerPoint</Application>
  <PresentationFormat>On-screen Show (4:3)</PresentationFormat>
  <Paragraphs>384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 LECTURE: 7 CAPITALIST DEVELOPMENT  AND REGIONAL DISPARITY IN PAKISTAN 1947-1970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CAPITALIST DEVELOPMENT  AND REGIONAL DISPARITY IN PAKISTAN 1947-1970</dc:title>
  <dc:creator>El Perezoso</dc:creator>
  <cp:lastModifiedBy>Syed Hashemi</cp:lastModifiedBy>
  <cp:revision>62</cp:revision>
  <dcterms:created xsi:type="dcterms:W3CDTF">2006-08-16T00:00:00Z</dcterms:created>
  <dcterms:modified xsi:type="dcterms:W3CDTF">2020-07-25T03:39:58Z</dcterms:modified>
</cp:coreProperties>
</file>