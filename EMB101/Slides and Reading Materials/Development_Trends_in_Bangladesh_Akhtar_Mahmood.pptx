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85" r:id="rId4"/>
    <p:sldId id="274" r:id="rId5"/>
    <p:sldId id="286" r:id="rId6"/>
    <p:sldId id="287" r:id="rId7"/>
    <p:sldId id="297" r:id="rId8"/>
    <p:sldId id="289" r:id="rId9"/>
    <p:sldId id="301" r:id="rId10"/>
    <p:sldId id="304" r:id="rId11"/>
    <p:sldId id="276" r:id="rId12"/>
    <p:sldId id="302" r:id="rId13"/>
    <p:sldId id="303" r:id="rId14"/>
    <p:sldId id="294" r:id="rId15"/>
    <p:sldId id="292" r:id="rId16"/>
    <p:sldId id="290" r:id="rId17"/>
    <p:sldId id="277" r:id="rId18"/>
    <p:sldId id="295" r:id="rId19"/>
    <p:sldId id="29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A30F1-2BEB-4095-BBD5-D0C9D11ACDFF}" v="211" dt="2020-12-09T19:22:37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12d34d0d6d34f21/Desktop/Data/Bangladesh%20WDI%20data-selected%20for%20Hashemi%20presentation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912d34d0d6d34f21/Desktop/Data/Bangladesh%20WDI%20data-selected%20for%20Hashemi%20presentation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GDP growth rate (annual %): 1961-2019</a:t>
            </a:r>
          </a:p>
        </c:rich>
      </c:tx>
      <c:layout>
        <c:manualLayout>
          <c:xMode val="edge"/>
          <c:yMode val="edge"/>
          <c:x val="0.2111981141246233"/>
          <c:y val="2.66347944291979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260830822073167E-2"/>
          <c:y val="0.13737536228166919"/>
          <c:w val="0.91255738305169698"/>
          <c:h val="0.78471075044190908"/>
        </c:manualLayout>
      </c:layout>
      <c:lineChart>
        <c:grouping val="standard"/>
        <c:varyColors val="0"/>
        <c:ser>
          <c:idx val="0"/>
          <c:order val="0"/>
          <c:tx>
            <c:strRef>
              <c:f>Data!$A$5</c:f>
              <c:strCache>
                <c:ptCount val="1"/>
                <c:pt idx="0">
                  <c:v>GDP growth (annual 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Data!$C$4:$BJ$4</c:f>
              <c:strCache>
                <c:ptCount val="60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  <c:pt idx="12">
                  <c:v>1973</c:v>
                </c:pt>
                <c:pt idx="13">
                  <c:v>1974</c:v>
                </c:pt>
                <c:pt idx="14">
                  <c:v>1975</c:v>
                </c:pt>
                <c:pt idx="15">
                  <c:v>1976</c:v>
                </c:pt>
                <c:pt idx="16">
                  <c:v>1977</c:v>
                </c:pt>
                <c:pt idx="17">
                  <c:v>1978</c:v>
                </c:pt>
                <c:pt idx="18">
                  <c:v>1979</c:v>
                </c:pt>
                <c:pt idx="19">
                  <c:v>1980</c:v>
                </c:pt>
                <c:pt idx="20">
                  <c:v>1981</c:v>
                </c:pt>
                <c:pt idx="21">
                  <c:v>1982</c:v>
                </c:pt>
                <c:pt idx="22">
                  <c:v>1983</c:v>
                </c:pt>
                <c:pt idx="23">
                  <c:v>1984</c:v>
                </c:pt>
                <c:pt idx="24">
                  <c:v>1985</c:v>
                </c:pt>
                <c:pt idx="25">
                  <c:v>1986</c:v>
                </c:pt>
                <c:pt idx="26">
                  <c:v>1987</c:v>
                </c:pt>
                <c:pt idx="27">
                  <c:v>1988</c:v>
                </c:pt>
                <c:pt idx="28">
                  <c:v>1989</c:v>
                </c:pt>
                <c:pt idx="29">
                  <c:v>1990</c:v>
                </c:pt>
                <c:pt idx="30">
                  <c:v>1991</c:v>
                </c:pt>
                <c:pt idx="31">
                  <c:v>1992</c:v>
                </c:pt>
                <c:pt idx="32">
                  <c:v>1993</c:v>
                </c:pt>
                <c:pt idx="33">
                  <c:v>1994</c:v>
                </c:pt>
                <c:pt idx="34">
                  <c:v>1995</c:v>
                </c:pt>
                <c:pt idx="35">
                  <c:v>1996</c:v>
                </c:pt>
                <c:pt idx="36">
                  <c:v>1997</c:v>
                </c:pt>
                <c:pt idx="37">
                  <c:v>1998</c:v>
                </c:pt>
                <c:pt idx="38">
                  <c:v>1999</c:v>
                </c:pt>
                <c:pt idx="39">
                  <c:v>2000</c:v>
                </c:pt>
                <c:pt idx="40">
                  <c:v>2001</c:v>
                </c:pt>
                <c:pt idx="41">
                  <c:v>2002</c:v>
                </c:pt>
                <c:pt idx="42">
                  <c:v>2003</c:v>
                </c:pt>
                <c:pt idx="43">
                  <c:v>2004</c:v>
                </c:pt>
                <c:pt idx="44">
                  <c:v>2005</c:v>
                </c:pt>
                <c:pt idx="45">
                  <c:v>2006</c:v>
                </c:pt>
                <c:pt idx="46">
                  <c:v>2007</c:v>
                </c:pt>
                <c:pt idx="47">
                  <c:v>2008</c:v>
                </c:pt>
                <c:pt idx="48">
                  <c:v>2009</c:v>
                </c:pt>
                <c:pt idx="49">
                  <c:v>2010</c:v>
                </c:pt>
                <c:pt idx="50">
                  <c:v>2011</c:v>
                </c:pt>
                <c:pt idx="51">
                  <c:v>2012</c:v>
                </c:pt>
                <c:pt idx="52">
                  <c:v>2013</c:v>
                </c:pt>
                <c:pt idx="53">
                  <c:v>2014</c:v>
                </c:pt>
                <c:pt idx="54">
                  <c:v>2015</c:v>
                </c:pt>
                <c:pt idx="55">
                  <c:v>2016</c:v>
                </c:pt>
                <c:pt idx="56">
                  <c:v>2017</c:v>
                </c:pt>
                <c:pt idx="57">
                  <c:v>2018</c:v>
                </c:pt>
                <c:pt idx="58">
                  <c:v>2019</c:v>
                </c:pt>
                <c:pt idx="59">
                  <c:v>2020</c:v>
                </c:pt>
              </c:strCache>
            </c:strRef>
          </c:cat>
          <c:val>
            <c:numRef>
              <c:f>Data!$C$5:$BJ$5</c:f>
              <c:numCache>
                <c:formatCode>General</c:formatCode>
                <c:ptCount val="60"/>
                <c:pt idx="0">
                  <c:v>6.0581608254808685</c:v>
                </c:pt>
                <c:pt idx="1">
                  <c:v>5.4530309698718611</c:v>
                </c:pt>
                <c:pt idx="2">
                  <c:v>-0.45589428993871195</c:v>
                </c:pt>
                <c:pt idx="3">
                  <c:v>10.952788546041759</c:v>
                </c:pt>
                <c:pt idx="4">
                  <c:v>1.6062582289157348</c:v>
                </c:pt>
                <c:pt idx="5">
                  <c:v>2.5668120012805247</c:v>
                </c:pt>
                <c:pt idx="6">
                  <c:v>-1.8758639196477418</c:v>
                </c:pt>
                <c:pt idx="7">
                  <c:v>9.4894540154795095</c:v>
                </c:pt>
                <c:pt idx="8">
                  <c:v>1.2208579090968499</c:v>
                </c:pt>
                <c:pt idx="9">
                  <c:v>5.619852292801113</c:v>
                </c:pt>
                <c:pt idx="10">
                  <c:v>-5.4794830272195583</c:v>
                </c:pt>
                <c:pt idx="11">
                  <c:v>-13.973728702043914</c:v>
                </c:pt>
                <c:pt idx="12">
                  <c:v>3.3256801987839424</c:v>
                </c:pt>
                <c:pt idx="13">
                  <c:v>9.5919563004184454</c:v>
                </c:pt>
                <c:pt idx="14">
                  <c:v>-4.0882140918166101</c:v>
                </c:pt>
                <c:pt idx="15">
                  <c:v>5.6613612011966694</c:v>
                </c:pt>
                <c:pt idx="16">
                  <c:v>2.6730560500198379</c:v>
                </c:pt>
                <c:pt idx="17">
                  <c:v>7.0738377326069184</c:v>
                </c:pt>
                <c:pt idx="18">
                  <c:v>4.8016346005566248</c:v>
                </c:pt>
                <c:pt idx="19">
                  <c:v>0.81914186889891027</c:v>
                </c:pt>
                <c:pt idx="20">
                  <c:v>7.2339436949072251</c:v>
                </c:pt>
                <c:pt idx="21">
                  <c:v>2.1343278357707476</c:v>
                </c:pt>
                <c:pt idx="22">
                  <c:v>3.8810463998171514</c:v>
                </c:pt>
                <c:pt idx="23">
                  <c:v>4.8033100152543824</c:v>
                </c:pt>
                <c:pt idx="24">
                  <c:v>3.3420146541541413</c:v>
                </c:pt>
                <c:pt idx="25">
                  <c:v>4.173382559003997</c:v>
                </c:pt>
                <c:pt idx="26">
                  <c:v>3.7724018525270537</c:v>
                </c:pt>
                <c:pt idx="27">
                  <c:v>2.4162568556622261</c:v>
                </c:pt>
                <c:pt idx="28">
                  <c:v>2.836582129079261</c:v>
                </c:pt>
                <c:pt idx="29">
                  <c:v>5.6222581616070215</c:v>
                </c:pt>
                <c:pt idx="30">
                  <c:v>3.4852278153552021</c:v>
                </c:pt>
                <c:pt idx="31">
                  <c:v>5.4426855507212935</c:v>
                </c:pt>
                <c:pt idx="32">
                  <c:v>4.711561724494473</c:v>
                </c:pt>
                <c:pt idx="33">
                  <c:v>3.8901264406564309</c:v>
                </c:pt>
                <c:pt idx="34">
                  <c:v>5.1212778971616189</c:v>
                </c:pt>
                <c:pt idx="35">
                  <c:v>4.5229192176234392</c:v>
                </c:pt>
                <c:pt idx="36">
                  <c:v>4.4898964973563125</c:v>
                </c:pt>
                <c:pt idx="37">
                  <c:v>5.1770268734525615</c:v>
                </c:pt>
                <c:pt idx="38">
                  <c:v>4.6701563682786542</c:v>
                </c:pt>
                <c:pt idx="39">
                  <c:v>5.2932947184604018</c:v>
                </c:pt>
                <c:pt idx="40">
                  <c:v>5.0772877759731188</c:v>
                </c:pt>
                <c:pt idx="41">
                  <c:v>3.8331239400560833</c:v>
                </c:pt>
                <c:pt idx="42">
                  <c:v>4.7395673991644571</c:v>
                </c:pt>
                <c:pt idx="43">
                  <c:v>5.2395329104526951</c:v>
                </c:pt>
                <c:pt idx="44">
                  <c:v>6.535944940523521</c:v>
                </c:pt>
                <c:pt idx="45">
                  <c:v>6.6719049814814753</c:v>
                </c:pt>
                <c:pt idx="46">
                  <c:v>7.0585993565726994</c:v>
                </c:pt>
                <c:pt idx="47">
                  <c:v>6.0137897592330631</c:v>
                </c:pt>
                <c:pt idx="48">
                  <c:v>5.0451247941773829</c:v>
                </c:pt>
                <c:pt idx="49">
                  <c:v>5.5718022739686575</c:v>
                </c:pt>
                <c:pt idx="50">
                  <c:v>6.4643838804751681</c:v>
                </c:pt>
                <c:pt idx="51">
                  <c:v>6.5214350783733295</c:v>
                </c:pt>
                <c:pt idx="52">
                  <c:v>6.0136103653601936</c:v>
                </c:pt>
                <c:pt idx="53">
                  <c:v>6.0610593590395752</c:v>
                </c:pt>
                <c:pt idx="54">
                  <c:v>6.5526398786920339</c:v>
                </c:pt>
                <c:pt idx="55">
                  <c:v>7.1135024597438985</c:v>
                </c:pt>
                <c:pt idx="56">
                  <c:v>7.2841840919511327</c:v>
                </c:pt>
                <c:pt idx="57">
                  <c:v>7.8637088925754171</c:v>
                </c:pt>
                <c:pt idx="58">
                  <c:v>8.1526849467752385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1F-482D-A6EB-2532E7A46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smooth val="0"/>
        <c:axId val="632665400"/>
        <c:axId val="632666680"/>
      </c:lineChart>
      <c:dateAx>
        <c:axId val="6326654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666680"/>
        <c:crosses val="autoZero"/>
        <c:auto val="0"/>
        <c:lblOffset val="100"/>
        <c:baseTimeUnit val="days"/>
      </c:dateAx>
      <c:valAx>
        <c:axId val="632666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growth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665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b="1" dirty="0"/>
              <a:t>Bangladeshis can now expect to live longer</a:t>
            </a:r>
          </a:p>
        </c:rich>
      </c:tx>
      <c:layout>
        <c:manualLayout>
          <c:xMode val="edge"/>
          <c:yMode val="edge"/>
          <c:x val="0.12581653518560512"/>
          <c:y val="3.16465290361057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48381452318461"/>
          <c:y val="0.17171296296296296"/>
          <c:w val="0.84396062992125986"/>
          <c:h val="0.48729841061533974"/>
        </c:manualLayout>
      </c:layout>
      <c:barChart>
        <c:barDir val="col"/>
        <c:grouping val="clustered"/>
        <c:varyColors val="0"/>
        <c:ser>
          <c:idx val="5"/>
          <c:order val="0"/>
          <c:tx>
            <c:strRef>
              <c:f>'[Bangladesh WDI data-selected for Hashemi presentation.xls]Sheet1'!$A$38:$E$38</c:f>
              <c:strCache>
                <c:ptCount val="5"/>
                <c:pt idx="0">
                  <c:v>Life expectancy at birth, female (years)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presentation.xls]Sheet1'!$F$38:$H$38</c:f>
              <c:numCache>
                <c:formatCode>General</c:formatCode>
                <c:ptCount val="3"/>
                <c:pt idx="0">
                  <c:v>65.7</c:v>
                </c:pt>
                <c:pt idx="1">
                  <c:v>72.099999999999994</c:v>
                </c:pt>
                <c:pt idx="2">
                  <c:v>74.3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6-41E9-890B-BB097651BB4B}"/>
            </c:ext>
          </c:extLst>
        </c:ser>
        <c:ser>
          <c:idx val="6"/>
          <c:order val="1"/>
          <c:tx>
            <c:strRef>
              <c:f>'[Bangladesh WDI data-selected for Hashemi presentation.xls]Sheet1'!$A$39:$E$39</c:f>
              <c:strCache>
                <c:ptCount val="5"/>
                <c:pt idx="0">
                  <c:v>Life expectancy at birth, male (years)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presentation.xls]Sheet1'!$F$39:$H$39</c:f>
              <c:numCache>
                <c:formatCode>General</c:formatCode>
                <c:ptCount val="3"/>
                <c:pt idx="0">
                  <c:v>65</c:v>
                </c:pt>
                <c:pt idx="1">
                  <c:v>69.3</c:v>
                </c:pt>
                <c:pt idx="2">
                  <c:v>70.900000000000006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26-41E9-890B-BB097651BB4B}"/>
            </c:ext>
          </c:extLst>
        </c:ser>
        <c:ser>
          <c:idx val="7"/>
          <c:order val="2"/>
          <c:tx>
            <c:strRef>
              <c:f>'[Bangladesh WDI data-selected for Hashemi presentation.xls]Sheet1'!$A$40:$E$40</c:f>
              <c:strCache>
                <c:ptCount val="5"/>
                <c:pt idx="0">
                  <c:v>Life expectancy at birth, total (years)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presentation.xls]Sheet1'!$F$40:$H$40</c:f>
              <c:numCache>
                <c:formatCode>General</c:formatCode>
                <c:ptCount val="3"/>
                <c:pt idx="0">
                  <c:v>65.3</c:v>
                </c:pt>
                <c:pt idx="1">
                  <c:v>70.599999999999994</c:v>
                </c:pt>
                <c:pt idx="2">
                  <c:v>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26-41E9-890B-BB097651BB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5998416"/>
        <c:axId val="696001296"/>
      </c:barChart>
      <c:catAx>
        <c:axId val="695998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001296"/>
        <c:crosses val="autoZero"/>
        <c:auto val="1"/>
        <c:lblAlgn val="ctr"/>
        <c:lblOffset val="100"/>
        <c:noMultiLvlLbl val="0"/>
      </c:catAx>
      <c:valAx>
        <c:axId val="69600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 Life expectancy at birth in years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99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More people now have access to e</a:t>
            </a:r>
            <a:r>
              <a:rPr lang="en-US" sz="1600" b="1" baseline="0" dirty="0"/>
              <a:t>lectricity</a:t>
            </a:r>
            <a:endParaRPr lang="en-US" sz="16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4"/>
          <c:order val="0"/>
          <c:tx>
            <c:strRef>
              <c:f>'[Bangladesh WDI data-selected for Hashemi presentation.xls]Sheet1'!$A$47:$E$47</c:f>
              <c:strCache>
                <c:ptCount val="5"/>
                <c:pt idx="0">
                  <c:v>Access to electricity, rural (% of population)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presentation.xls]Sheet1'!$F$47:$H$47</c:f>
              <c:numCache>
                <c:formatCode>General</c:formatCode>
                <c:ptCount val="3"/>
                <c:pt idx="0">
                  <c:v>16.7</c:v>
                </c:pt>
                <c:pt idx="1">
                  <c:v>45.6</c:v>
                </c:pt>
                <c:pt idx="2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C1-481F-898B-B6F3033080E1}"/>
            </c:ext>
          </c:extLst>
        </c:ser>
        <c:ser>
          <c:idx val="15"/>
          <c:order val="1"/>
          <c:tx>
            <c:strRef>
              <c:f>'[Bangladesh WDI data-selected for Hashemi presentation.xls]Sheet1'!$A$48:$E$48</c:f>
              <c:strCache>
                <c:ptCount val="5"/>
                <c:pt idx="0">
                  <c:v>Access to electricity, urban (% of population)</c:v>
                </c:pt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presentation.xls]Sheet1'!$F$48:$H$48</c:f>
              <c:numCache>
                <c:formatCode>General</c:formatCode>
                <c:ptCount val="3"/>
                <c:pt idx="0">
                  <c:v>81.2</c:v>
                </c:pt>
                <c:pt idx="1">
                  <c:v>90.2</c:v>
                </c:pt>
                <c:pt idx="2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C1-481F-898B-B6F3033080E1}"/>
            </c:ext>
          </c:extLst>
        </c:ser>
        <c:ser>
          <c:idx val="16"/>
          <c:order val="2"/>
          <c:tx>
            <c:strRef>
              <c:f>'[Bangladesh WDI data-selected for Hashemi presentation.xls]Sheet1'!$A$49:$E$49</c:f>
              <c:strCache>
                <c:ptCount val="5"/>
                <c:pt idx="0">
                  <c:v>Access to electricity (% of population)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'[Bangladesh WDI data-selected for Hashemi presentation.xls]Sheet1'!$F$32:$H$32</c:f>
              <c:numCache>
                <c:formatCode>General</c:formatCode>
                <c:ptCount val="3"/>
                <c:pt idx="0">
                  <c:v>2000</c:v>
                </c:pt>
                <c:pt idx="1">
                  <c:v>2011</c:v>
                </c:pt>
                <c:pt idx="2">
                  <c:v>2016</c:v>
                </c:pt>
              </c:numCache>
            </c:numRef>
          </c:cat>
          <c:val>
            <c:numRef>
              <c:f>'[Bangladesh WDI data-selected for Hashemi presentation.xls]Sheet1'!$F$49:$H$49</c:f>
              <c:numCache>
                <c:formatCode>General</c:formatCode>
                <c:ptCount val="3"/>
                <c:pt idx="0">
                  <c:v>32</c:v>
                </c:pt>
                <c:pt idx="1">
                  <c:v>59.6</c:v>
                </c:pt>
                <c:pt idx="2">
                  <c:v>75.900000000000006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C1-481F-898B-B6F3033080E1}"/>
            </c:ext>
          </c:extLst>
        </c:ser>
        <c:dLbls>
          <c:dLblPos val="l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3555600"/>
        <c:axId val="743555920"/>
      </c:lineChart>
      <c:catAx>
        <c:axId val="743555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555920"/>
        <c:crosses val="autoZero"/>
        <c:auto val="1"/>
        <c:lblAlgn val="ctr"/>
        <c:lblOffset val="100"/>
        <c:noMultiLvlLbl val="0"/>
      </c:catAx>
      <c:valAx>
        <c:axId val="74355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% of population with access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55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0.38891</cdr:x>
      <cdr:y>0.14573</cdr:y>
    </cdr:from>
    <cdr:to>
      <cdr:x>0.38891</cdr:x>
      <cdr:y>0.74612</cdr:y>
    </cdr:to>
    <cdr:cxnSp macro="">
      <cdr:nvCxnSpPr>
        <cdr:cNvPr id="4" name="Straight Connector 3">
          <a:extLst xmlns:a="http://schemas.openxmlformats.org/drawingml/2006/main">
            <a:ext uri="{FF2B5EF4-FFF2-40B4-BE49-F238E27FC236}">
              <a16:creationId xmlns:a16="http://schemas.microsoft.com/office/drawing/2014/main" id="{E35BB86F-A86D-4EE9-8D89-C5DEF7695352}"/>
            </a:ext>
          </a:extLst>
        </cdr:cNvPr>
        <cdr:cNvCxnSpPr/>
      </cdr:nvCxnSpPr>
      <cdr:spPr>
        <a:xfrm xmlns:a="http://schemas.openxmlformats.org/drawingml/2006/main" flipV="1">
          <a:off x="2400458" y="710247"/>
          <a:ext cx="0" cy="2926080"/>
        </a:xfrm>
        <a:prstGeom xmlns:a="http://schemas.openxmlformats.org/drawingml/2006/main" prst="line">
          <a:avLst/>
        </a:prstGeom>
        <a:ln xmlns:a="http://schemas.openxmlformats.org/drawingml/2006/main" w="25400">
          <a:solidFill>
            <a:schemeClr val="accent2">
              <a:lumMod val="75000"/>
            </a:schemeClr>
          </a:solidFill>
          <a:prstDash val="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EF15E-4126-4104-9C60-1CA73EF33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A0750-9E3D-44E2-B31D-0907A3112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FB09D-423E-40A4-B1A6-DCB745F5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F636B-2421-443F-86BD-B1CF4E21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4DC2D-DC35-4415-825B-D5D034C8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8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59F9-22CA-455D-B57A-8D85BA4A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F5D82-4862-45A4-91C0-7CE45141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73BCB-ADF3-41B1-AAEC-97415D6E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DB94B-2C3F-4BA9-A66E-AF87D8E2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E52EF-D4F4-4AC2-94C1-626D321E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3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3228-13F8-43AB-AFB2-770AEE20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5DFBF-A497-43C1-920D-6F646D627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BC14-8264-45D7-8D0C-1048FD33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0C7D1-4855-49F3-926F-06513BD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4ABD3-CB34-404D-8E8B-B7091476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6FD8-D8CF-443B-83AD-8E48510A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7EFA-29A2-4D19-99D5-A161F9113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C9E40-961C-4558-B540-00DF8D0DC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5A294-BC4B-4636-883E-3696BB49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B01DE-9A81-4424-B9CA-80EE9F94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C37D4-88FC-4BA3-8514-865CE2B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5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CAAAB-A505-43ED-9B25-0AA874B4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EF3E5-EA62-4AB7-B621-E17ACF2B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5E350-02CA-4AFC-98D4-E0501B244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E9089-B064-4EC5-9AF8-98C3EDC3E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83036-5266-4292-A2CC-FB211B95F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DADA5-F5FB-4129-A937-D3D6F433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6EE3A-E5E7-4627-A554-975CB07B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67782-EFC8-44CF-9B1F-FF668653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1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17A7-7330-4638-AF63-DDA605C5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6B7D9-E14B-4AC1-8020-B8250402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F6FC2-8E86-46CE-98F1-54C01B22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47BD5-10A5-4E0F-BEE2-4973CEB4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4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14686-F474-47CE-A247-F3412A8D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1A16B-0A75-4D66-B638-51FC2784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FFE7E-3F47-474A-88AE-FA990A81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3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C56A-34A5-4054-BA6F-3CE9076F3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F01BA-E86E-40D8-A90E-39AF77DD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689FD-29BE-49DC-8356-61E315EAC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52AAB-1BE9-4F69-9CC7-B7FDA528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CF28E-17A2-4405-A22F-2BBD8511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129FC-E0DC-4F16-9C07-C16F4E9E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14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C0EC-4FB6-4E51-BAAA-72E48BC1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0907B-E45C-4E84-9D81-7D9D4900D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9D4E7-C512-4B08-BB48-AF84B3BB0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66BD2-6646-45B5-B452-7DC9A937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37B27-98A3-4BA4-AEC4-B52621F2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CAE02-00C5-482B-8AC7-2081FB1D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9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79C2-9ACB-4B8F-A3AE-B9AE479B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63FF8-4EE5-4BDF-8583-9C8C6A8A2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C3166-8BC1-4206-BC54-5525B8F2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34CA-1919-4BCC-A8F3-404B64B0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9DDA-DBC2-42C4-B764-F47C4216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6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DCADA-7C91-4996-9B4B-FB47974E8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6A631-B8B2-4331-920A-360C8E9FD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6680-D9B8-4556-BD94-3929E2CA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E2D3-0014-4406-A248-58662D6F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7A78-30E4-4BA8-B2C1-E1266E6C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3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873BC-9C10-462A-A2A3-DCA80C95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AC5DD-0573-4F6A-BBF6-3ACA7CB0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D613-1F52-41AB-B797-973ECE9B9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F71F4-C26D-439A-9AE0-4DD69777E43B}" type="datetimeFigureOut">
              <a:rPr lang="en-US" smtClean="0"/>
              <a:t>12/10/2020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9852-6CEC-41C0-891F-4DA4CA7D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D373-ACFC-4A2D-958B-32E67A7EC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58F88-50C5-43F9-8678-A524AF960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0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2C30-BF3F-41C2-92E8-E122346CF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solidFill>
                  <a:schemeClr val="tx2"/>
                </a:solidFill>
              </a:rPr>
              <a:t>Bangladesh’s Development Journey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DECC7-423A-463B-B42D-B913AE9DA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Syed Akhtar Mahmood</a:t>
            </a:r>
          </a:p>
        </p:txBody>
      </p:sp>
    </p:spTree>
    <p:extLst>
      <p:ext uri="{BB962C8B-B14F-4D97-AF65-F5344CB8AC3E}">
        <p14:creationId xmlns:p14="http://schemas.microsoft.com/office/powerpoint/2010/main" val="366760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4852-2836-46DE-8FDF-92801842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98D88-3C7A-4438-BB0D-402FDCA3B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3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Substantial reduction in poverty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C3D28E4-A8C3-4361-92B1-CA0A71AB7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7828" y="677459"/>
            <a:ext cx="4114799" cy="274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34603D-CD3F-4ACC-821A-CDFC2EC07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828" y="3575453"/>
            <a:ext cx="4114799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8" y="2286000"/>
            <a:ext cx="5269515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2000, one out of two Bangladeshis (49%) </a:t>
            </a:r>
            <a:r>
              <a:rPr lang="en-US" sz="1800" b="1" dirty="0">
                <a:solidFill>
                  <a:prstClr val="black"/>
                </a:solidFill>
                <a:latin typeface="Calibri" panose="020F0502020204030204"/>
              </a:rPr>
              <a:t>were considered poor and about a third was living in extreme poverty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situation was slightly worse in rural areas but somewhat better in urban areas. 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urban Bangladesh, one-third  of the population was poor, and one-fifth was extremely poor</a:t>
            </a:r>
          </a:p>
          <a:p>
            <a:pPr>
              <a:spcBef>
                <a:spcPts val="500"/>
              </a:spcBef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situation has improved significantly since then, with poverty rates steadily falling</a:t>
            </a:r>
          </a:p>
          <a:p>
            <a:pPr lvl="1"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In 2016, about 25% were considered poor compared to almost 50% a decade and a half ago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proportion of people living in extreme poverty fell to about 13%, compared to 35% in 2000 </a:t>
            </a:r>
          </a:p>
          <a:p>
            <a:pPr marL="0" indent="0"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54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An impressive growth record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Two very different patterns</a:t>
            </a:r>
          </a:p>
          <a:p>
            <a:pPr lvl="1"/>
            <a:r>
              <a:rPr lang="en-US" sz="1600" dirty="0"/>
              <a:t>GDP growth rates fluctuated widely in the 1960s and the 1970s</a:t>
            </a:r>
          </a:p>
          <a:p>
            <a:pPr lvl="1"/>
            <a:r>
              <a:rPr lang="en-US" sz="1600" dirty="0"/>
              <a:t>But the pattern changed from the early 1980</a:t>
            </a:r>
            <a:r>
              <a:rPr lang="en-US" sz="1700" dirty="0"/>
              <a:t>s</a:t>
            </a:r>
          </a:p>
          <a:p>
            <a:r>
              <a:rPr lang="en-US" sz="1800" b="1" dirty="0"/>
              <a:t>Since early 1980s, a steady increase in GDP with low year-to-year fluctuations </a:t>
            </a:r>
          </a:p>
          <a:p>
            <a:pPr lvl="1"/>
            <a:r>
              <a:rPr lang="en-US" sz="1600" dirty="0"/>
              <a:t>1980s: fluctuated between 3%-5%</a:t>
            </a:r>
          </a:p>
          <a:p>
            <a:pPr lvl="1"/>
            <a:r>
              <a:rPr lang="en-US" sz="1600" dirty="0"/>
              <a:t>1990s: remained steady around 5%</a:t>
            </a:r>
          </a:p>
          <a:p>
            <a:pPr lvl="1"/>
            <a:r>
              <a:rPr lang="en-US" sz="1600" dirty="0"/>
              <a:t>From 2001 onwards: gradually accelerating to reach 8% in 2019</a:t>
            </a:r>
          </a:p>
          <a:p>
            <a:r>
              <a:rPr lang="en-US" sz="1800" b="1" dirty="0"/>
              <a:t>Very few developing countries have experienced such sustained growth rates over four decades</a:t>
            </a:r>
          </a:p>
        </p:txBody>
      </p:sp>
      <p:graphicFrame>
        <p:nvGraphicFramePr>
          <p:cNvPr id="27" name="Content Placeholder 7">
            <a:extLst>
              <a:ext uri="{FF2B5EF4-FFF2-40B4-BE49-F238E27FC236}">
                <a16:creationId xmlns:a16="http://schemas.microsoft.com/office/drawing/2014/main" id="{DD9E8890-FDEA-404B-8DF4-747B1E5B26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778155"/>
              </p:ext>
            </p:extLst>
          </p:nvPr>
        </p:nvGraphicFramePr>
        <p:xfrm>
          <a:off x="7129490" y="1514006"/>
          <a:ext cx="4626046" cy="4703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654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U</a:t>
            </a:r>
            <a:r>
              <a:rPr lang="en-US"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nderpinned </a:t>
            </a:r>
            <a:r>
              <a:rPr lang="en-US" sz="3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by agricultural growth …</a:t>
            </a:r>
            <a:endParaRPr lang="en-US" sz="31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352AD0-205F-44CF-8414-021D811FEA3B}"/>
              </a:ext>
            </a:extLst>
          </p:cNvPr>
          <p:cNvSpPr txBox="1">
            <a:spLocks/>
          </p:cNvSpPr>
          <p:nvPr/>
        </p:nvSpPr>
        <p:spPr>
          <a:xfrm>
            <a:off x="502068" y="2321868"/>
            <a:ext cx="5391525" cy="403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The Crop Production Index is a good indicator of developments in the agricultural sector</a:t>
            </a:r>
          </a:p>
          <a:p>
            <a:r>
              <a:rPr lang="en-US" sz="1800" b="1" dirty="0"/>
              <a:t>Here too we see two very different growth regimes </a:t>
            </a:r>
          </a:p>
          <a:p>
            <a:pPr lvl="1"/>
            <a:r>
              <a:rPr lang="en-US" sz="1600" u="sng" dirty="0"/>
              <a:t>Early 1960s to late 1990s</a:t>
            </a:r>
            <a:r>
              <a:rPr lang="en-US" sz="1600" dirty="0"/>
              <a:t>: A period of steady but moderate growth in the production index</a:t>
            </a:r>
          </a:p>
          <a:p>
            <a:pPr lvl="1"/>
            <a:r>
              <a:rPr lang="en-US" sz="1600" dirty="0"/>
              <a:t>But this growth lagged population growth, leading to a decline in the per capita index   </a:t>
            </a:r>
          </a:p>
          <a:p>
            <a:pPr lvl="1"/>
            <a:r>
              <a:rPr lang="en-US" sz="1600" u="sng" dirty="0"/>
              <a:t>From late 1990s to now</a:t>
            </a:r>
            <a:r>
              <a:rPr lang="en-US" sz="1600" dirty="0"/>
              <a:t>: A period of accelerating growth, outstripping population growth</a:t>
            </a:r>
          </a:p>
          <a:p>
            <a:pPr lvl="1"/>
            <a:r>
              <a:rPr lang="en-US" sz="1600" dirty="0"/>
              <a:t>Thus, per capita index also increased  </a:t>
            </a:r>
          </a:p>
          <a:p>
            <a:r>
              <a:rPr lang="en-US" sz="1800" b="1" dirty="0"/>
              <a:t>This is true for both rice and vegetable production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CB004CE-B5DF-4B3E-BB21-DEC6341B7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3656" y="3604838"/>
            <a:ext cx="4590686" cy="2749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8EF839-406A-43A5-9CC1-7CAD5C65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366" y="725304"/>
            <a:ext cx="4627265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0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… growth of the garment industry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3529013"/>
            <a:ext cx="5254888" cy="264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438911" y="2311009"/>
            <a:ext cx="572718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The most successful manufacturing and export story of Bangladesh</a:t>
            </a:r>
          </a:p>
          <a:p>
            <a:r>
              <a:rPr lang="en-US" sz="1800" b="1" dirty="0"/>
              <a:t>Significant rise in our export earnings in last three decades has been largely due to garment exports</a:t>
            </a:r>
          </a:p>
          <a:p>
            <a:pPr lvl="1"/>
            <a:r>
              <a:rPr lang="en-US" sz="1600" dirty="0"/>
              <a:t>In the mid-1990s, garments accounted for two-thirds of our export earnings</a:t>
            </a:r>
          </a:p>
          <a:p>
            <a:pPr lvl="1"/>
            <a:r>
              <a:rPr lang="en-US" sz="1600" dirty="0"/>
              <a:t>Now, garments provide more than 80% of export earnings </a:t>
            </a:r>
          </a:p>
          <a:p>
            <a:r>
              <a:rPr lang="en-US" sz="1800" b="1" dirty="0"/>
              <a:t>The composition of garment exports has changed</a:t>
            </a:r>
          </a:p>
          <a:p>
            <a:pPr lvl="1"/>
            <a:r>
              <a:rPr lang="en-US" sz="1600" dirty="0"/>
              <a:t>In mid-1990s, 80% of garment export earnings came from woven garments and 20% from knitwear</a:t>
            </a:r>
          </a:p>
          <a:p>
            <a:pPr lvl="1"/>
            <a:r>
              <a:rPr lang="en-US" sz="1600" dirty="0"/>
              <a:t>Now the shares of these two categories are equal</a:t>
            </a:r>
          </a:p>
          <a:p>
            <a:r>
              <a:rPr lang="en-US" sz="1800" b="1" dirty="0"/>
              <a:t>Nonetheless, only five products account for 75% of garment exports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3" y="2422452"/>
            <a:ext cx="549643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C6E9E-46BD-4912-A0AE-386C9D87D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394" y="3598741"/>
            <a:ext cx="4584589" cy="2755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33B67B-B8D5-47EC-93D4-218587E9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395" y="673369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7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… and remittances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3529013"/>
            <a:ext cx="5254888" cy="264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347762" cy="3931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Changing pattern of remittance inflow over time</a:t>
            </a:r>
          </a:p>
          <a:p>
            <a:pPr lvl="1"/>
            <a:r>
              <a:rPr lang="en-US" sz="1500" dirty="0"/>
              <a:t>Remittances grew at a steady but modest rate from mid-1970s to the end of the 1990s</a:t>
            </a:r>
          </a:p>
          <a:p>
            <a:pPr lvl="1"/>
            <a:r>
              <a:rPr lang="en-US" sz="1500" dirty="0"/>
              <a:t>It then sharply accelerated from the early 2000s</a:t>
            </a:r>
          </a:p>
          <a:p>
            <a:pPr lvl="1"/>
            <a:r>
              <a:rPr lang="en-US" sz="1500" dirty="0"/>
              <a:t>However, remittance growth has recently slowed</a:t>
            </a:r>
          </a:p>
          <a:p>
            <a:pPr lvl="1"/>
            <a:r>
              <a:rPr lang="en-US" sz="1500" dirty="0"/>
              <a:t>Remittances as % of GDP has started declining from 2012 after a sharp rise during the previous decade </a:t>
            </a:r>
          </a:p>
          <a:p>
            <a:r>
              <a:rPr lang="en-US" sz="1800" b="1" dirty="0"/>
              <a:t> Remittances have helped reduce poverty</a:t>
            </a:r>
          </a:p>
          <a:p>
            <a:pPr lvl="1"/>
            <a:r>
              <a:rPr lang="en-US" sz="1500" dirty="0"/>
              <a:t>In 2016, 8% of households had a family member who had migrated abroad in the previous 5 years</a:t>
            </a:r>
          </a:p>
          <a:p>
            <a:pPr lvl="1"/>
            <a:r>
              <a:rPr lang="en-US" sz="1500" dirty="0"/>
              <a:t>Remittances not only help increase welfare of recipient families; their spending also boosts local demand</a:t>
            </a:r>
          </a:p>
          <a:p>
            <a:pPr lvl="1"/>
            <a:r>
              <a:rPr lang="en-US" sz="1500" b="0" i="0" u="sng" strike="noStrike" baseline="0" dirty="0">
                <a:latin typeface="SourceSansPro-Regular"/>
              </a:rPr>
              <a:t>2000-16</a:t>
            </a:r>
            <a:r>
              <a:rPr lang="en-US" sz="1500" dirty="0">
                <a:latin typeface="SourceSansPro-Regular"/>
              </a:rPr>
              <a:t>:</a:t>
            </a:r>
            <a:r>
              <a:rPr lang="en-US" sz="1500" b="0" i="0" u="none" strike="noStrike" baseline="0" dirty="0">
                <a:latin typeface="SourceSansPro-Regular"/>
              </a:rPr>
              <a:t> poverty fell faster in districts which had sent more migrants abroad</a:t>
            </a:r>
          </a:p>
          <a:p>
            <a:pPr lvl="1"/>
            <a:r>
              <a:rPr lang="en-US" sz="1500" b="0" i="0" u="none" strike="noStrike" baseline="0" dirty="0">
                <a:latin typeface="SourceSansPro-Regular"/>
              </a:rPr>
              <a:t>Study indicated that if 0.1% of a district’s population migrated abroad, its poverty would fall by 1.7 percent</a:t>
            </a:r>
            <a:endParaRPr lang="en-US" sz="1500" dirty="0"/>
          </a:p>
          <a:p>
            <a:pPr lvl="1"/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15128E-9CBE-42E3-A686-9C1B5DAA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386" y="3581797"/>
            <a:ext cx="4584589" cy="2755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ED195C-5DB4-43DA-AF2F-F672B06A8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386" y="573356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9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3200" b="1" dirty="0"/>
              <a:t>There has also been impressive progress on social indicators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379395"/>
            <a:ext cx="5400675" cy="410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An example is the drop in the under-5 mortality rate</a:t>
            </a:r>
          </a:p>
          <a:p>
            <a:pPr lvl="1"/>
            <a:r>
              <a:rPr lang="en-US" sz="1600" dirty="0"/>
              <a:t>This was high till the late 1970s</a:t>
            </a:r>
          </a:p>
          <a:p>
            <a:pPr lvl="1"/>
            <a:r>
              <a:rPr lang="en-US" sz="1600" dirty="0"/>
              <a:t>1 out of every 5 baby would die before its 5</a:t>
            </a:r>
            <a:r>
              <a:rPr lang="en-US" sz="1600" baseline="30000" dirty="0"/>
              <a:t>th</a:t>
            </a:r>
            <a:r>
              <a:rPr lang="en-US" sz="1600" dirty="0"/>
              <a:t> birthday</a:t>
            </a:r>
          </a:p>
          <a:p>
            <a:r>
              <a:rPr lang="en-US" sz="1800" b="1" dirty="0"/>
              <a:t>From the 1980s, this rate started declining sharply</a:t>
            </a:r>
          </a:p>
          <a:p>
            <a:pPr lvl="1"/>
            <a:r>
              <a:rPr lang="en-US" sz="1600" dirty="0"/>
              <a:t>It was 31 in 2019</a:t>
            </a:r>
          </a:p>
          <a:p>
            <a:pPr lvl="1"/>
            <a:r>
              <a:rPr lang="en-US" sz="1600" dirty="0"/>
              <a:t>This is below that in Pakistan (67) and India (34) </a:t>
            </a:r>
          </a:p>
          <a:p>
            <a:pPr lvl="1"/>
            <a:r>
              <a:rPr lang="en-US" sz="1600" dirty="0"/>
              <a:t>But we are way behind Sri Lanka where only 7 out of 1000 babies die before reaching age 5</a:t>
            </a:r>
          </a:p>
          <a:p>
            <a:r>
              <a:rPr lang="en-US" sz="1800" b="1" dirty="0"/>
              <a:t>Life expectancy has gone up, especially for women </a:t>
            </a:r>
          </a:p>
          <a:p>
            <a:pPr lvl="1"/>
            <a:r>
              <a:rPr lang="en-US" sz="1600" dirty="0"/>
              <a:t>2000: the figure was only slightly higher for women  </a:t>
            </a:r>
          </a:p>
          <a:p>
            <a:pPr lvl="1"/>
            <a:r>
              <a:rPr lang="en-US" sz="1600" dirty="0"/>
              <a:t>2016: now much higher for women (74.3 vs. 70.9)  </a:t>
            </a:r>
          </a:p>
          <a:p>
            <a:r>
              <a:rPr lang="en-US" sz="1800" b="1" dirty="0"/>
              <a:t>Fertility rate for women has come down</a:t>
            </a:r>
          </a:p>
          <a:p>
            <a:pPr lvl="1"/>
            <a:r>
              <a:rPr lang="en-US" sz="1600" dirty="0"/>
              <a:t>From 5 per woman in 1981 to about 2 in 2019  </a:t>
            </a:r>
          </a:p>
        </p:txBody>
      </p:sp>
      <p:pic>
        <p:nvPicPr>
          <p:cNvPr id="12" name="Content Placeholder 15">
            <a:extLst>
              <a:ext uri="{FF2B5EF4-FFF2-40B4-BE49-F238E27FC236}">
                <a16:creationId xmlns:a16="http://schemas.microsoft.com/office/drawing/2014/main" id="{FEE576BC-E3FB-49AD-AA31-627FCD684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3772" y="738044"/>
            <a:ext cx="3943291" cy="2930612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8C4280E-6CC0-412B-B6A4-78EF708A01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703068"/>
              </p:ext>
            </p:extLst>
          </p:nvPr>
        </p:nvGraphicFramePr>
        <p:xfrm>
          <a:off x="6843772" y="3957637"/>
          <a:ext cx="4021872" cy="2407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1362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Education attainments are increasing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379395"/>
            <a:ext cx="5782594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00" b="1" dirty="0"/>
              <a:t>More children are now attending schools</a:t>
            </a:r>
          </a:p>
          <a:p>
            <a:pPr lvl="1"/>
            <a:r>
              <a:rPr lang="en-US" sz="4600" u="sng" dirty="0"/>
              <a:t>2000-2016</a:t>
            </a:r>
            <a:r>
              <a:rPr lang="en-US" sz="4600" dirty="0"/>
              <a:t>: net school attendance rates rose by 20% points for primary school and 22% points for secondary</a:t>
            </a:r>
          </a:p>
          <a:p>
            <a:pPr lvl="1"/>
            <a:r>
              <a:rPr lang="en-US" sz="4600" dirty="0"/>
              <a:t>The investments in children’s education over many years are now translating into a more educated working-age population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Gender gaps are closing</a:t>
            </a:r>
          </a:p>
          <a:p>
            <a:pPr lvl="1">
              <a:spcBef>
                <a:spcPts val="1000"/>
              </a:spcBef>
            </a:pPr>
            <a:r>
              <a:rPr lang="en-US" sz="4600" dirty="0">
                <a:solidFill>
                  <a:prstClr val="black"/>
                </a:solidFill>
                <a:latin typeface="Calibri" panose="020F0502020204030204"/>
              </a:rPr>
              <a:t>Gender parity was very low in the 1970s,  esp. for secondary enrollment; since then, a steady improvement in gender parity</a:t>
            </a:r>
          </a:p>
          <a:p>
            <a:pPr lvl="1">
              <a:spcBef>
                <a:spcPts val="1000"/>
              </a:spcBef>
            </a:pPr>
            <a:r>
              <a:rPr kumimoji="0" lang="en-US" sz="4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Now, girls are more likely to complete primary and secondary schooling than boys</a:t>
            </a:r>
            <a:r>
              <a:rPr lang="en-US" sz="4600" dirty="0">
                <a:solidFill>
                  <a:prstClr val="black"/>
                </a:solidFill>
                <a:latin typeface="Calibri" panose="020F0502020204030204"/>
              </a:rPr>
              <a:t>   </a:t>
            </a:r>
            <a:endParaRPr kumimoji="0" lang="en-US" sz="4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</a:pPr>
            <a:r>
              <a:rPr kumimoji="0" lang="en-US" sz="4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Adult females are overall less educated than males, but younger generations are reversing this disadvantage.</a:t>
            </a:r>
          </a:p>
          <a:p>
            <a:pPr lvl="1">
              <a:spcBef>
                <a:spcPts val="1000"/>
              </a:spcBef>
            </a:pPr>
            <a:r>
              <a:rPr lang="en-US" sz="4600" dirty="0">
                <a:solidFill>
                  <a:prstClr val="black"/>
                </a:solidFill>
                <a:latin typeface="Calibri" panose="020F0502020204030204"/>
              </a:rPr>
              <a:t>However, they still underperform in </a:t>
            </a:r>
            <a:r>
              <a:rPr kumimoji="0" lang="en-US" sz="4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tertiary schooling </a:t>
            </a:r>
          </a:p>
          <a:p>
            <a:pPr lvl="1"/>
            <a:r>
              <a:rPr kumimoji="0" lang="en-US" sz="4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has been due to expansion in number of schools, targeted stipends programs for girls, and growth of the RMG industry</a:t>
            </a:r>
          </a:p>
          <a:p>
            <a:r>
              <a:rPr lang="en-US" sz="6400" b="1" dirty="0"/>
              <a:t>Female primary school enrollment rates exceed the average in South Asia and lower-middle income countries</a:t>
            </a:r>
          </a:p>
          <a:p>
            <a:r>
              <a:rPr lang="en-US" sz="6400" b="1" dirty="0"/>
              <a:t>School attendance has grown more rapidly among the poor</a:t>
            </a:r>
            <a:endParaRPr kumimoji="0" lang="en-US" sz="6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4DEDD-4E02-4F68-9C3C-618B017EF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13" y="3704222"/>
            <a:ext cx="4584589" cy="27556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8346F5-083C-413A-AB16-54C908E9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913" y="706580"/>
            <a:ext cx="4584589" cy="272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6096002" cy="1243584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3200" b="1" dirty="0"/>
              <a:t>Both public and private spending have helped improve educational attainment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379395"/>
            <a:ext cx="5782594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Bangladeshi household are spending more on education</a:t>
            </a:r>
          </a:p>
          <a:p>
            <a:pPr lvl="1"/>
            <a:r>
              <a:rPr lang="en-US" sz="2100" dirty="0"/>
              <a:t>Increases in private spending on education occurred at a faster rate among poor households</a:t>
            </a:r>
          </a:p>
          <a:p>
            <a:pPr lvl="1"/>
            <a:r>
              <a:rPr lang="en-US" sz="2100" dirty="0"/>
              <a:t>In 2000, the richest 20% of the population spent 22 times more on education than the poorest 20%; in 2016, this had come down to 6 times </a:t>
            </a:r>
          </a:p>
          <a:p>
            <a:r>
              <a:rPr lang="en-US" sz="2900" b="1" dirty="0"/>
              <a:t>Public spending has emphasized investments in the education of poorer children, e.g., through stipend programs and tuition waivers</a:t>
            </a:r>
          </a:p>
          <a:p>
            <a:pPr lvl="1"/>
            <a:r>
              <a:rPr lang="en-US" sz="2100" dirty="0"/>
              <a:t>In primary schools, about 57 percent of total spending on the median child comes from public resources</a:t>
            </a:r>
          </a:p>
          <a:p>
            <a:pPr lvl="1"/>
            <a:r>
              <a:rPr lang="en-US" sz="2100" dirty="0"/>
              <a:t>For the median child among the poorest 20%, this share is about 75%</a:t>
            </a:r>
          </a:p>
          <a:p>
            <a:pPr lvl="1"/>
            <a:r>
              <a:rPr lang="en-US" sz="2100" dirty="0"/>
              <a:t>For secondary schools, on average , 43 percent of spending is public</a:t>
            </a:r>
          </a:p>
          <a:p>
            <a:pPr lvl="1"/>
            <a:r>
              <a:rPr lang="en-US" sz="2100" dirty="0"/>
              <a:t>But for the secondary school students from the poorest 20 percent of households, the share is 60 percent </a:t>
            </a:r>
          </a:p>
          <a:p>
            <a:r>
              <a:rPr lang="en-US" sz="2600" b="1" dirty="0"/>
              <a:t>These developments have helped to reduce the gap in education spending across socioeconomic groups</a:t>
            </a:r>
            <a:endParaRPr kumimoji="0" lang="en-US" sz="6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711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109F-F905-420C-A8BD-06B2B392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behind the headlines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A6861-4F0F-4BD7-BA97-F17EB8AE1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9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The relative importance of agriculture has gone down 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185062"/>
            <a:ext cx="6025193" cy="41020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2000, the sectoral composition and geographical focus of economic activity has changed significantly 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Agriculture’s share of GDP has decreased from 23% to 14%</a:t>
            </a:r>
          </a:p>
          <a:p>
            <a:pPr marL="685800" marR="0" lvl="1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In 2000, 64% were employed in agriculture, now down to 40%</a:t>
            </a: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>
              <a:defRPr/>
            </a:pP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Growth pattern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changed between 2000-05 and 2005-10</a:t>
            </a:r>
          </a:p>
          <a:p>
            <a:pPr lvl="1">
              <a:defRPr/>
            </a:pPr>
            <a:r>
              <a:rPr lang="en-US" sz="15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2000-2005</a:t>
            </a:r>
            <a:r>
              <a:rPr lang="en-US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Low average growth in agriculture, high but jobless growth in industry, and moderate, job-creating growth in services</a:t>
            </a:r>
          </a:p>
          <a:p>
            <a:pPr lvl="1">
              <a:defRPr/>
            </a:pPr>
            <a:r>
              <a:rPr lang="en-US" sz="15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2005-2010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</a:t>
            </a:r>
            <a:r>
              <a:rPr lang="en-US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igh growth in agriculture, high job-creating growth in industry, and very high, but low job creating, growth in services.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tart of Bangladesh’s boom in the creation of manufacturing jobs</a:t>
            </a:r>
          </a:p>
          <a:p>
            <a:pPr lvl="1">
              <a:defRPr/>
            </a:pPr>
            <a:r>
              <a:rPr lang="en-US" sz="16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2010 to 2016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Lower agricultural growth, high growth in manufacturing, and moderate service sector growth</a:t>
            </a:r>
            <a:endParaRPr lang="en-US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had implications for poverty reduction </a:t>
            </a:r>
            <a:endParaRPr lang="en-US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Poverty reduction in 2000-2005 was driven by th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 sector In 2005-2010, by high agricultural growth, in 2010-2016 by rural non-farm growth  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920F4-2851-4AE1-9E44-C5BDFC78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395" y="599964"/>
            <a:ext cx="4584589" cy="3170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3851D9-9757-4A9C-9D56-E3AEBDE24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333" y="4229686"/>
            <a:ext cx="5929884" cy="151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5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Composition of agricultural production has changed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185062"/>
            <a:ext cx="5400675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Boro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has emerged as the most important rice crop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1990/91,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production was 6.3 million metric tons.  This was about three times that of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(2.3 million MT) but less than that of Aman (9.2 million MT)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production has not increased much in the last three decades while Aman has increased by about 50%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production has increased more than three times during this period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have been other changes too in the composition of agricultural production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traditionally important products have gone down in importance while others have emerged as important products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example, sugarcane was an important crop in the 1990s while potato was much less important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roles have now been reversed as sugar production has declined over time while potato output has increased sharply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480F8-023B-4219-A0C0-16A42F1B8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395" y="725304"/>
            <a:ext cx="4584589" cy="2755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A49991-51C2-41F8-A04B-081DB5B70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394" y="3761850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0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kern="1200" dirty="0">
                <a:latin typeface="+mj-lt"/>
                <a:ea typeface="+mj-ea"/>
                <a:cs typeface="+mj-cs"/>
              </a:rPr>
              <a:t>Rural nonfarm activities have expanded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211316"/>
            <a:ext cx="5854732" cy="410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1" dirty="0"/>
              <a:t>Rural non-farm activities now an important source of income for rural people </a:t>
            </a:r>
          </a:p>
          <a:p>
            <a:pPr lvl="1">
              <a:defRPr/>
            </a:pPr>
            <a:r>
              <a:rPr lang="en-US" sz="1600" dirty="0"/>
              <a:t>In 2010, almost half (47%) of all rural households were primarily engaged in agriculture. </a:t>
            </a:r>
          </a:p>
          <a:p>
            <a:pPr lvl="1">
              <a:defRPr/>
            </a:pPr>
            <a:r>
              <a:rPr lang="en-US" sz="1600" dirty="0"/>
              <a:t>By 2016, this proportion had fallen to one-fourth (27%)  </a:t>
            </a:r>
          </a:p>
          <a:p>
            <a:pPr marL="0" indent="0">
              <a:buNone/>
              <a:defRPr/>
            </a:pPr>
            <a:endParaRPr lang="en-US" sz="1800" b="1" dirty="0"/>
          </a:p>
          <a:p>
            <a:pPr>
              <a:defRPr/>
            </a:pPr>
            <a:r>
              <a:rPr lang="en-US" sz="1800" b="1" dirty="0"/>
              <a:t>Thus, it is now a major driver of rural poverty reduction  </a:t>
            </a:r>
          </a:p>
          <a:p>
            <a:pPr lvl="1">
              <a:defRPr/>
            </a:pPr>
            <a:r>
              <a:rPr lang="en-US" sz="1600" u="sng" dirty="0"/>
              <a:t>2005-2010</a:t>
            </a:r>
            <a:r>
              <a:rPr lang="en-US" sz="1600" dirty="0"/>
              <a:t>:  69 percent of rural poverty reduction was among households primarily engaged in agriculture</a:t>
            </a:r>
          </a:p>
          <a:p>
            <a:pPr lvl="1">
              <a:defRPr/>
            </a:pPr>
            <a:r>
              <a:rPr lang="en-US" sz="1600" u="sng" dirty="0"/>
              <a:t>2010-2016</a:t>
            </a:r>
            <a:r>
              <a:rPr lang="en-US" sz="1600" dirty="0"/>
              <a:t>: 59 percent was among households whose primary sector of employment was industry or services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Households with higher shares of non-farm income were less likely to remain in or fall into poverty</a:t>
            </a:r>
          </a:p>
        </p:txBody>
      </p:sp>
    </p:spTree>
    <p:extLst>
      <p:ext uri="{BB962C8B-B14F-4D97-AF65-F5344CB8AC3E}">
        <p14:creationId xmlns:p14="http://schemas.microsoft.com/office/powerpoint/2010/main" val="96852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Road connectivity has  expanded considerably 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074864"/>
            <a:ext cx="5400675" cy="410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448F8-1811-44B2-803A-D3B101FA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13" y="2203350"/>
            <a:ext cx="4584589" cy="275563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5500EB5-AB14-4475-8AF8-FBC3D398B427}"/>
              </a:ext>
            </a:extLst>
          </p:cNvPr>
          <p:cNvSpPr txBox="1">
            <a:spLocks/>
          </p:cNvSpPr>
          <p:nvPr/>
        </p:nvSpPr>
        <p:spPr>
          <a:xfrm>
            <a:off x="438912" y="2337362"/>
            <a:ext cx="5913503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national and regional highway network has expanded at a modest </a:t>
            </a: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rate since independence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national highways link 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Dhaka to the divisional capitals and the capitals of the old districts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The regional highways connect the old district capitals to the new district and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upazilla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towns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These networks together have expanded from 3609 kms to 8613 kms during 1972-2010; i.e., by only 104 kms. each year </a:t>
            </a:r>
          </a:p>
          <a:p>
            <a:pPr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the feeder roads have seen a huge expansion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 link district &amp;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upazilla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towns to villages and smaller towns</a:t>
            </a:r>
          </a:p>
          <a:p>
            <a:pPr lvl="1"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The network had a huge growth spurt during the 1990s; expanding from 3245 kms. to almost 16000 kms in 10 years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has shrunk a bit after 2000 but remains significant</a:t>
            </a:r>
          </a:p>
          <a:p>
            <a:pPr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huge expansion of the feeder roads have substantially increased rural connectivity with the rest of the country  </a:t>
            </a:r>
          </a:p>
        </p:txBody>
      </p:sp>
    </p:spTree>
    <p:extLst>
      <p:ext uri="{BB962C8B-B14F-4D97-AF65-F5344CB8AC3E}">
        <p14:creationId xmlns:p14="http://schemas.microsoft.com/office/powerpoint/2010/main" val="2385630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More people now have access to electricity  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tveloping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276562"/>
            <a:ext cx="5666449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Electricity generation capacity increased at a modest rate between 1995/96 and 2009/10</a:t>
            </a:r>
          </a:p>
          <a:p>
            <a:pPr lvl="1">
              <a:spcBef>
                <a:spcPts val="1000"/>
              </a:spcBef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It increased from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2908 MW to 5271 MW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an average increase of about 170 MW per year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rate accelerated after 2010</a:t>
            </a:r>
          </a:p>
          <a:p>
            <a:pPr lvl="1">
              <a:spcBef>
                <a:spcPts val="1000"/>
              </a:spcBef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About 14000 MW capacity was added during 2010/11 – 2018/19, bringing total installed capacity to almost 19000 MW by end of 2018/19.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an average increase of 1521 MW per year, i.e., almost 9 times higher than in the preceding decade and a half. </a:t>
            </a:r>
          </a:p>
          <a:p>
            <a:pPr>
              <a:spcBef>
                <a:spcPts val="500"/>
              </a:spcBef>
              <a:defRPr/>
            </a:pP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Leading to a significant increase in access to electricity 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Three-fourths of Bangladeshis now have access to electricity, compared to one-third in 2000</a:t>
            </a:r>
          </a:p>
          <a:p>
            <a:pPr lvl="1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increase is particularly significant for rural Bangladeshis – from 17% to 66% over the same period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4C6018B-E329-493A-89FE-9A71F9586E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2697950"/>
              </p:ext>
            </p:extLst>
          </p:nvPr>
        </p:nvGraphicFramePr>
        <p:xfrm>
          <a:off x="6690578" y="3514725"/>
          <a:ext cx="4648769" cy="2934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991D35D-D7A3-4086-9F04-0BC4255E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78" y="494657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88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1746-C927-496C-84C7-39F09F68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scope for complacency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E98F1-1AA9-48B7-9E0F-EBFC621C1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72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Uneven reduction in poverty across Bangladesh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E2213E-5329-4FD9-B144-9BA3EB3BFB38}"/>
              </a:ext>
            </a:extLst>
          </p:cNvPr>
          <p:cNvSpPr txBox="1">
            <a:spLocks/>
          </p:cNvSpPr>
          <p:nvPr/>
        </p:nvSpPr>
        <p:spPr>
          <a:xfrm>
            <a:off x="438912" y="2285292"/>
            <a:ext cx="5854732" cy="410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Wide regional variation in incidence of poverty</a:t>
            </a:r>
          </a:p>
          <a:p>
            <a:pPr lvl="1"/>
            <a:r>
              <a:rPr lang="en-US" sz="1500" dirty="0"/>
              <a:t>Poverty remains high in northern Bangladesh and some parts of western and southern Bangladesh</a:t>
            </a:r>
          </a:p>
          <a:p>
            <a:r>
              <a:rPr lang="en-US" sz="1800" b="1" dirty="0"/>
              <a:t>Also differences in rate of poverty reduction over time</a:t>
            </a:r>
          </a:p>
          <a:p>
            <a:pPr lvl="1"/>
            <a:r>
              <a:rPr lang="en-US" sz="1500" dirty="0"/>
              <a:t>For example, the poverty rate increased in the Rangpur division during 2010-16 although it decreased in the rest of the country </a:t>
            </a:r>
          </a:p>
          <a:p>
            <a:pPr lvl="1"/>
            <a:r>
              <a:rPr lang="en-US" sz="1500" dirty="0"/>
              <a:t>Rangpur was already the poorest division in the country in 2010; it has become even more in 2016 </a:t>
            </a:r>
          </a:p>
          <a:p>
            <a:pPr lvl="1"/>
            <a:r>
              <a:rPr lang="en-US" sz="1500" dirty="0"/>
              <a:t>However, poverty dropped substantially in Barisal. It was second poorest division in 2010; in 2016 it was the fourth poorest.  </a:t>
            </a:r>
          </a:p>
          <a:p>
            <a:r>
              <a:rPr lang="en-US" sz="1800" b="1" dirty="0"/>
              <a:t>Differences between the eastern and western regions of Bangladesh has now widened</a:t>
            </a:r>
          </a:p>
          <a:p>
            <a:pPr lvl="1"/>
            <a:r>
              <a:rPr lang="en-US" sz="1500" dirty="0"/>
              <a:t>This reverses the trend during 2005-2010 when the difference had narrowed</a:t>
            </a:r>
          </a:p>
          <a:p>
            <a:pPr lvl="1"/>
            <a:r>
              <a:rPr lang="en-US" sz="1600" dirty="0"/>
              <a:t>The re-emerging divergence between the East and West has occurred largely in rural, instead of urban areas</a:t>
            </a:r>
            <a:endParaRPr lang="en-US" sz="1500" dirty="0"/>
          </a:p>
          <a:p>
            <a:pPr>
              <a:defRPr/>
            </a:pPr>
            <a:r>
              <a:rPr lang="en-US" sz="1600" dirty="0"/>
              <a:t>The gains in rural areas were not uniform: the rural West recorded slower progress on education and demographic change, contributing to the re-emergent East-West divide.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3571D-3ED3-46D8-8A3D-38C3CD5D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856" y="378524"/>
            <a:ext cx="2438611" cy="336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A68FC3-4AAA-436D-99F7-AAC2C7F7A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313" y="3761850"/>
            <a:ext cx="3962743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4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BA97B-47B9-4223-AA3C-614076D8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90325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/>
              <a:t>Vulnerability remains high; inequality is rising 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69C7E-E708-45F9-8BA0-163B8C2532DA}"/>
              </a:ext>
            </a:extLst>
          </p:cNvPr>
          <p:cNvSpPr txBox="1"/>
          <p:nvPr/>
        </p:nvSpPr>
        <p:spPr>
          <a:xfrm>
            <a:off x="6293644" y="1782981"/>
            <a:ext cx="5254888" cy="439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8A48B8-CF34-4DB2-8E4F-D956493BA2EC}"/>
              </a:ext>
            </a:extLst>
          </p:cNvPr>
          <p:cNvSpPr txBox="1">
            <a:spLocks/>
          </p:cNvSpPr>
          <p:nvPr/>
        </p:nvSpPr>
        <p:spPr>
          <a:xfrm>
            <a:off x="1024129" y="2286000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very different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GDP growth rates fluctuated widely in the 1960s and the 1970s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 pattern changed from the early 1980s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then, there has been a steady increase in GDP with low year-to-year fluctuations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1980s: fluctuated between 3%-5%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1990s: remained steady around 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2001 onwards: gradually accelerating to reach 8% in 2019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few developing countries have experienced such sustained growth rates over four decades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D651B6A-9C2B-420C-8668-8418BCCEF889}"/>
              </a:ext>
            </a:extLst>
          </p:cNvPr>
          <p:cNvSpPr txBox="1">
            <a:spLocks/>
          </p:cNvSpPr>
          <p:nvPr/>
        </p:nvSpPr>
        <p:spPr>
          <a:xfrm>
            <a:off x="568944" y="2422452"/>
            <a:ext cx="508123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B94FFE9-2EB6-403C-9495-258BC6C31D76}"/>
              </a:ext>
            </a:extLst>
          </p:cNvPr>
          <p:cNvSpPr txBox="1">
            <a:spLocks/>
          </p:cNvSpPr>
          <p:nvPr/>
        </p:nvSpPr>
        <p:spPr>
          <a:xfrm>
            <a:off x="455185" y="2311967"/>
            <a:ext cx="5409834" cy="415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Although poverty has gone down, the share of vulnerable people, i.e., those who may become poor again, is high and increasing </a:t>
            </a:r>
          </a:p>
          <a:p>
            <a:pPr lvl="1"/>
            <a:r>
              <a:rPr lang="en-US" sz="1500" dirty="0"/>
              <a:t>In 2000, it was 40%</a:t>
            </a:r>
          </a:p>
          <a:p>
            <a:pPr lvl="1"/>
            <a:r>
              <a:rPr lang="en-US" sz="1500" dirty="0"/>
              <a:t>In 2016, it rose to 50%</a:t>
            </a:r>
            <a:endParaRPr lang="en-US" sz="1600" dirty="0"/>
          </a:p>
          <a:p>
            <a:r>
              <a:rPr lang="en-US" sz="1800" b="1" dirty="0"/>
              <a:t>Consumption growth has slowed and become more unequal</a:t>
            </a:r>
          </a:p>
          <a:p>
            <a:pPr lvl="1"/>
            <a:r>
              <a:rPr lang="en-US" sz="1500" dirty="0"/>
              <a:t>During 2000-05, the average consumption level of Bangladeshis increased by 2.3% each year; during 2010-2016, this rate came down to 1.6%</a:t>
            </a:r>
          </a:p>
          <a:p>
            <a:pPr lvl="1"/>
            <a:r>
              <a:rPr lang="en-US" sz="1500" dirty="0"/>
              <a:t>The average consumption level of the poorest 40% of the population was the same as the national average during 2000-2005</a:t>
            </a:r>
          </a:p>
          <a:p>
            <a:pPr lvl="1"/>
            <a:r>
              <a:rPr lang="en-US" sz="1500" dirty="0"/>
              <a:t>But, during 2010-2016, their consumption growth rate was slower than the national average; 1.2% annually vs. 1.65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AD06A-3335-4E72-9BA2-09E068B6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20" y="1988871"/>
            <a:ext cx="5322269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2801</Words>
  <Application>Microsoft Office PowerPoint</Application>
  <PresentationFormat>Widescreen</PresentationFormat>
  <Paragraphs>239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SourceSansPro-Regular</vt:lpstr>
      <vt:lpstr>Office Theme</vt:lpstr>
      <vt:lpstr>Bangladesh’s Development Journey</vt:lpstr>
      <vt:lpstr>The big picture</vt:lpstr>
      <vt:lpstr>Substantial reduction in poverty </vt:lpstr>
      <vt:lpstr>An impressive growth record </vt:lpstr>
      <vt:lpstr>Underpinned by agricultural growth …</vt:lpstr>
      <vt:lpstr>… growth of the garment industry</vt:lpstr>
      <vt:lpstr>… and remittances </vt:lpstr>
      <vt:lpstr>There has also been impressive progress on social indicators </vt:lpstr>
      <vt:lpstr>Education attainments are increasing </vt:lpstr>
      <vt:lpstr>Both public and private spending have helped improve educational attainment</vt:lpstr>
      <vt:lpstr>Looking behind the headlines</vt:lpstr>
      <vt:lpstr>The relative importance of agriculture has gone down  </vt:lpstr>
      <vt:lpstr>Composition of agricultural production has changed </vt:lpstr>
      <vt:lpstr>Rural nonfarm activities have expanded </vt:lpstr>
      <vt:lpstr>Road connectivity has  expanded considerably  </vt:lpstr>
      <vt:lpstr>More people now have access to electricity   </vt:lpstr>
      <vt:lpstr>No scope for complacency </vt:lpstr>
      <vt:lpstr>Uneven reduction in poverty across Bangladesh </vt:lpstr>
      <vt:lpstr>Vulnerability remains high; inequality is rising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Mahmood</dc:creator>
  <cp:lastModifiedBy>Syed Hashemi</cp:lastModifiedBy>
  <cp:revision>2</cp:revision>
  <dcterms:created xsi:type="dcterms:W3CDTF">2020-12-04T03:20:49Z</dcterms:created>
  <dcterms:modified xsi:type="dcterms:W3CDTF">2020-12-10T02:00:57Z</dcterms:modified>
</cp:coreProperties>
</file>