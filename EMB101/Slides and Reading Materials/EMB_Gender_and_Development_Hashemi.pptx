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69" r:id="rId2"/>
    <p:sldId id="2857" r:id="rId3"/>
    <p:sldId id="2864" r:id="rId4"/>
    <p:sldId id="2865" r:id="rId5"/>
    <p:sldId id="335" r:id="rId6"/>
    <p:sldId id="2867" r:id="rId7"/>
    <p:sldId id="2866" r:id="rId8"/>
    <p:sldId id="2868" r:id="rId9"/>
    <p:sldId id="2870" r:id="rId10"/>
    <p:sldId id="346" r:id="rId11"/>
    <p:sldId id="2863" r:id="rId12"/>
    <p:sldId id="2862" r:id="rId13"/>
    <p:sldId id="2861" r:id="rId14"/>
    <p:sldId id="2836" r:id="rId15"/>
    <p:sldId id="2850" r:id="rId16"/>
    <p:sldId id="285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9" autoAdjust="0"/>
    <p:restoredTop sz="94660"/>
  </p:normalViewPr>
  <p:slideViewPr>
    <p:cSldViewPr snapToGrid="0">
      <p:cViewPr varScale="1">
        <p:scale>
          <a:sx n="63" d="100"/>
          <a:sy n="63" d="100"/>
        </p:scale>
        <p:origin x="764" y="32"/>
      </p:cViewPr>
      <p:guideLst/>
    </p:cSldViewPr>
  </p:slideViewPr>
  <p:notesTextViewPr>
    <p:cViewPr>
      <p:scale>
        <a:sx n="1" d="1"/>
        <a:sy n="1" d="1"/>
      </p:scale>
      <p:origin x="0" y="0"/>
    </p:cViewPr>
  </p:notesTextViewPr>
  <p:sorterViewPr>
    <p:cViewPr varScale="1">
      <p:scale>
        <a:sx n="1" d="1"/>
        <a:sy n="1" d="1"/>
      </p:scale>
      <p:origin x="0" y="-5716"/>
    </p:cViewPr>
  </p:sorterViewPr>
  <p:notesViewPr>
    <p:cSldViewPr snapToGrid="0">
      <p:cViewPr>
        <p:scale>
          <a:sx n="75" d="100"/>
          <a:sy n="75" d="100"/>
        </p:scale>
        <p:origin x="2170" y="-2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NUL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6CE964-375C-41E2-93C3-A8F52954BDB3}" type="datetimeFigureOut">
              <a:rPr lang="en-US" smtClean="0"/>
              <a:t>4/2/2022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E0BEB-A760-4D93-9D0B-50FE51AA27F4}" type="slidenum">
              <a:rPr lang="en-US" smtClean="0"/>
              <a:t>‹#›</a:t>
            </a:fld>
            <a:endParaRPr lang="en-US" dirty="0"/>
          </a:p>
        </p:txBody>
      </p:sp>
    </p:spTree>
    <p:extLst>
      <p:ext uri="{BB962C8B-B14F-4D97-AF65-F5344CB8AC3E}">
        <p14:creationId xmlns:p14="http://schemas.microsoft.com/office/powerpoint/2010/main" val="15697083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Shape 86"/>
          <p:cNvSpPr>
            <a:spLocks noGrp="1" noRot="1" noChangeAspect="1"/>
          </p:cNvSpPr>
          <p:nvPr>
            <p:ph type="sldImg" idx="2"/>
          </p:nvPr>
        </p:nvSpPr>
        <p:spPr>
          <a:xfrm>
            <a:off x="685800" y="1143000"/>
            <a:ext cx="5486400" cy="30861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Shape 87"/>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dirty="0">
              <a:solidFill>
                <a:schemeClr val="dk1"/>
              </a:solidFill>
              <a:latin typeface="Calibri"/>
              <a:ea typeface="Calibri"/>
              <a:cs typeface="Calibri"/>
              <a:sym typeface="Calibri"/>
            </a:endParaRPr>
          </a:p>
        </p:txBody>
      </p:sp>
      <p:sp>
        <p:nvSpPr>
          <p:cNvPr id="88" name="Shape 88"/>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07381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2</a:t>
            </a:fld>
            <a:endParaRPr lang="en-US" dirty="0"/>
          </a:p>
        </p:txBody>
      </p:sp>
    </p:spTree>
    <p:extLst>
      <p:ext uri="{BB962C8B-B14F-4D97-AF65-F5344CB8AC3E}">
        <p14:creationId xmlns:p14="http://schemas.microsoft.com/office/powerpoint/2010/main" val="3452602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3</a:t>
            </a:fld>
            <a:endParaRPr lang="en-US" dirty="0"/>
          </a:p>
        </p:txBody>
      </p:sp>
    </p:spTree>
    <p:extLst>
      <p:ext uri="{BB962C8B-B14F-4D97-AF65-F5344CB8AC3E}">
        <p14:creationId xmlns:p14="http://schemas.microsoft.com/office/powerpoint/2010/main" val="9411497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4</a:t>
            </a:fld>
            <a:endParaRPr lang="en-US" dirty="0"/>
          </a:p>
        </p:txBody>
      </p:sp>
    </p:spTree>
    <p:extLst>
      <p:ext uri="{BB962C8B-B14F-4D97-AF65-F5344CB8AC3E}">
        <p14:creationId xmlns:p14="http://schemas.microsoft.com/office/powerpoint/2010/main" val="814684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34F2CCFB-911F-4B61-90D7-485B0A47B9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882AD248-09C2-4DA4-809E-71491DD92DA0}"/>
              </a:ext>
            </a:extLst>
          </p:cNvPr>
          <p:cNvSpPr>
            <a:spLocks noGrp="1"/>
          </p:cNvSpPr>
          <p:nvPr>
            <p:ph type="body" idx="1"/>
          </p:nvPr>
        </p:nvSpPr>
        <p:spPr bwMode="auto">
          <a:xfrm>
            <a:off x="685800" y="4237038"/>
            <a:ext cx="5607050" cy="4343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b="1"/>
              <a:t>SLIDE CONTENT: </a:t>
            </a:r>
            <a:r>
              <a:rPr lang="en-US" altLang="en-US" i="1"/>
              <a:t>Let’s start this session with a riddle. I’ll read through it and at the end ask you to think of the answer.</a:t>
            </a:r>
          </a:p>
          <a:p>
            <a:pPr>
              <a:spcBef>
                <a:spcPct val="0"/>
              </a:spcBef>
            </a:pPr>
            <a:endParaRPr lang="en-US" altLang="en-US" b="1"/>
          </a:p>
          <a:p>
            <a:pPr>
              <a:spcBef>
                <a:spcPct val="0"/>
              </a:spcBef>
            </a:pPr>
            <a:r>
              <a:rPr lang="en-US" altLang="en-US" b="1"/>
              <a:t>EXERCISE: </a:t>
            </a:r>
            <a:r>
              <a:rPr lang="en-US" altLang="en-US" i="1"/>
              <a:t>Riddle</a:t>
            </a:r>
          </a:p>
          <a:p>
            <a:pPr>
              <a:spcBef>
                <a:spcPct val="0"/>
              </a:spcBef>
            </a:pPr>
            <a:r>
              <a:rPr lang="en-029" altLang="en-US" i="1"/>
              <a:t>Share the following riddle with participants. Note that the riddle will not work in countries where the word for doctor or surgeon is not gender neutral. If there is a different word or word ending for a male and female doctor and you can not find a suitable neutral term that does not indicate gender, skip this exercise.</a:t>
            </a:r>
          </a:p>
          <a:p>
            <a:pPr>
              <a:spcBef>
                <a:spcPct val="0"/>
              </a:spcBef>
            </a:pPr>
            <a:endParaRPr lang="en-029" altLang="en-US" i="1"/>
          </a:p>
          <a:p>
            <a:pPr>
              <a:spcBef>
                <a:spcPct val="0"/>
              </a:spcBef>
            </a:pPr>
            <a:r>
              <a:rPr lang="en-029" altLang="en-US" i="1"/>
              <a:t>A father and his son were travelling in a car when they were involved in a terrible accident. The father was not badly hurt but the son was in critical condition. The father was sent to one hospital while the son was sent to another. When the son arrived, the surgeon looked down at him and said “I can’t operate on this boy. He is my son.”  </a:t>
            </a:r>
            <a:endParaRPr lang="en-US" altLang="en-US" i="1"/>
          </a:p>
          <a:p>
            <a:pPr>
              <a:spcBef>
                <a:spcPct val="0"/>
              </a:spcBef>
            </a:pPr>
            <a:endParaRPr lang="en-029" altLang="en-US" i="1"/>
          </a:p>
          <a:p>
            <a:pPr>
              <a:spcBef>
                <a:spcPct val="0"/>
              </a:spcBef>
            </a:pPr>
            <a:r>
              <a:rPr lang="en-029" altLang="en-US" i="1"/>
              <a:t>Ask the participants what the relationship is between the surgeon and the boy.</a:t>
            </a:r>
            <a:r>
              <a:rPr lang="en-US" altLang="en-US" i="1"/>
              <a:t> Who is the surgeon? Have participants write their answers on a piece of paper before asking for volunteers to share their answers. </a:t>
            </a:r>
            <a:r>
              <a:rPr lang="en-029" altLang="en-US" i="1"/>
              <a:t>After a few people have had a chance to guess, reveal the answer: the surgeon was his MOTHER!</a:t>
            </a:r>
          </a:p>
          <a:p>
            <a:pPr>
              <a:spcBef>
                <a:spcPct val="0"/>
              </a:spcBef>
            </a:pPr>
            <a:endParaRPr lang="en-029" altLang="en-US" i="1"/>
          </a:p>
          <a:p>
            <a:pPr>
              <a:spcBef>
                <a:spcPct val="0"/>
              </a:spcBef>
            </a:pPr>
            <a:r>
              <a:rPr lang="en-029" altLang="en-US" i="1"/>
              <a:t>If no one thought of this answer, ask why that might be. Use this riddle to point out that all of us have perceptions that shape our ideas about what men and women do in our society. In many societies, women are nurses and men are doctors. While this is slowly changing, the perceptions remain.</a:t>
            </a:r>
            <a:endParaRPr lang="en-US" altLang="en-US" i="1"/>
          </a:p>
        </p:txBody>
      </p:sp>
      <p:sp>
        <p:nvSpPr>
          <p:cNvPr id="25604" name="Slide Number Placeholder 3">
            <a:extLst>
              <a:ext uri="{FF2B5EF4-FFF2-40B4-BE49-F238E27FC236}">
                <a16:creationId xmlns:a16="http://schemas.microsoft.com/office/drawing/2014/main" id="{642A623F-B048-4C33-92A1-4CF6DEEB4F3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2A3B85E6-9646-4E7A-A2B3-8CE21F557ABE}" type="slidenum">
              <a:rPr lang="en-US" altLang="en-US"/>
              <a:pPr>
                <a:spcBef>
                  <a:spcPct val="0"/>
                </a:spcBef>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6</a:t>
            </a:fld>
            <a:endParaRPr lang="en-US" dirty="0"/>
          </a:p>
        </p:txBody>
      </p:sp>
    </p:spTree>
    <p:extLst>
      <p:ext uri="{BB962C8B-B14F-4D97-AF65-F5344CB8AC3E}">
        <p14:creationId xmlns:p14="http://schemas.microsoft.com/office/powerpoint/2010/main" val="4294720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7</a:t>
            </a:fld>
            <a:endParaRPr lang="en-US" dirty="0"/>
          </a:p>
        </p:txBody>
      </p:sp>
    </p:spTree>
    <p:extLst>
      <p:ext uri="{BB962C8B-B14F-4D97-AF65-F5344CB8AC3E}">
        <p14:creationId xmlns:p14="http://schemas.microsoft.com/office/powerpoint/2010/main" val="7378434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8</a:t>
            </a:fld>
            <a:endParaRPr lang="en-US" dirty="0"/>
          </a:p>
        </p:txBody>
      </p:sp>
    </p:spTree>
    <p:extLst>
      <p:ext uri="{BB962C8B-B14F-4D97-AF65-F5344CB8AC3E}">
        <p14:creationId xmlns:p14="http://schemas.microsoft.com/office/powerpoint/2010/main" val="25113772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9</a:t>
            </a:fld>
            <a:endParaRPr lang="en-US" dirty="0"/>
          </a:p>
        </p:txBody>
      </p:sp>
    </p:spTree>
    <p:extLst>
      <p:ext uri="{BB962C8B-B14F-4D97-AF65-F5344CB8AC3E}">
        <p14:creationId xmlns:p14="http://schemas.microsoft.com/office/powerpoint/2010/main" val="1204133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B047E3D1-58B9-4338-9E40-DF74C2EAF7F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C0D5C731-269A-4B45-8A89-5648735363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029" altLang="en-US" b="1"/>
              <a:t>SLIDE CONTENT: </a:t>
            </a:r>
            <a:r>
              <a:rPr lang="en-029" altLang="en-US" i="1">
                <a:solidFill>
                  <a:srgbClr val="000000"/>
                </a:solidFill>
              </a:rPr>
              <a:t>Let’s return to the concept of equality. The image on the slide provides a great illustration of the problem with “formal equality”. Remember that the formal equality approach assumes that men and women are the same and thus the goal is to treat them the same, regardless of their biological</a:t>
            </a:r>
            <a:r>
              <a:rPr lang="en-US" altLang="en-US" i="1">
                <a:solidFill>
                  <a:srgbClr val="000000"/>
                </a:solidFill>
              </a:rPr>
              <a:t> and gender differences. In this image, on the “equality side” you see three boys of varying heights who are trying to watch a sports event. They are each standing on a box of the same size, so they are being treated equally but the results are not equal, are they? </a:t>
            </a:r>
          </a:p>
          <a:p>
            <a:pPr eaLnBrk="1" hangingPunct="1">
              <a:spcBef>
                <a:spcPct val="0"/>
              </a:spcBef>
            </a:pPr>
            <a:endParaRPr lang="en-US" altLang="en-US" i="1">
              <a:solidFill>
                <a:srgbClr val="000000"/>
              </a:solidFill>
            </a:endParaRPr>
          </a:p>
          <a:p>
            <a:pPr eaLnBrk="1" hangingPunct="1">
              <a:spcBef>
                <a:spcPct val="0"/>
              </a:spcBef>
            </a:pPr>
            <a:r>
              <a:rPr lang="en-US" altLang="en-US" i="1">
                <a:solidFill>
                  <a:srgbClr val="000000"/>
                </a:solidFill>
              </a:rPr>
              <a:t>Compare that with the “Justice side” in which the boxes have been shifted between them based on their needs so that all three of them can see over the fence. While this image refers to this as “justice”, it could also be called “substantive equality” as it calls for a similar approach. </a:t>
            </a:r>
          </a:p>
          <a:p>
            <a:pPr eaLnBrk="1" hangingPunct="1">
              <a:spcBef>
                <a:spcPct val="0"/>
              </a:spcBef>
            </a:pPr>
            <a:endParaRPr lang="en-US" altLang="en-US" i="1">
              <a:solidFill>
                <a:srgbClr val="000000"/>
              </a:solidFill>
            </a:endParaRPr>
          </a:p>
          <a:p>
            <a:pPr eaLnBrk="1" hangingPunct="1">
              <a:spcBef>
                <a:spcPct val="0"/>
              </a:spcBef>
            </a:pPr>
            <a:r>
              <a:rPr lang="en-US" altLang="en-US" i="1">
                <a:solidFill>
                  <a:srgbClr val="000000"/>
                </a:solidFill>
              </a:rPr>
              <a:t>Remember that substantive equality i</a:t>
            </a:r>
            <a:r>
              <a:rPr lang="en-US" altLang="en-US" i="1">
                <a:solidFill>
                  <a:srgbClr val="000000"/>
                </a:solidFill>
                <a:cs typeface="Tahoma" panose="020B0604030504040204" pitchFamily="34" charset="0"/>
                <a:sym typeface="Tahoma" panose="020B0604030504040204" pitchFamily="34" charset="0"/>
              </a:rPr>
              <a:t>s a corrective approach that recognizes that some people are in an unequal position and need to be treated differently in order to benefit equally</a:t>
            </a:r>
            <a:r>
              <a:rPr lang="en-US" altLang="en-US" i="1">
                <a:solidFill>
                  <a:srgbClr val="000000"/>
                </a:solidFill>
                <a:sym typeface="Tahoma" panose="020B0604030504040204" pitchFamily="34" charset="0"/>
              </a:rPr>
              <a:t>. It a</a:t>
            </a:r>
            <a:r>
              <a:rPr lang="en-US" altLang="en-US" i="1">
                <a:solidFill>
                  <a:srgbClr val="000000"/>
                </a:solidFill>
                <a:cs typeface="Tahoma" panose="020B0604030504040204" pitchFamily="34" charset="0"/>
                <a:sym typeface="Tahoma" panose="020B0604030504040204" pitchFamily="34" charset="0"/>
              </a:rPr>
              <a:t>ffirms that proactive measures may be needed to bring about equality, accelerate social change and help correct historical, systemic and structural imbalances. </a:t>
            </a:r>
          </a:p>
          <a:p>
            <a:pPr eaLnBrk="1" hangingPunct="1">
              <a:spcBef>
                <a:spcPct val="0"/>
              </a:spcBef>
            </a:pPr>
            <a:endParaRPr lang="en-US" altLang="en-US" i="1">
              <a:solidFill>
                <a:srgbClr val="000000"/>
              </a:solidFill>
              <a:cs typeface="Tahoma" panose="020B0604030504040204" pitchFamily="34" charset="0"/>
              <a:sym typeface="Tahoma" panose="020B0604030504040204" pitchFamily="34" charset="0"/>
            </a:endParaRPr>
          </a:p>
          <a:p>
            <a:pPr eaLnBrk="1" hangingPunct="1">
              <a:spcBef>
                <a:spcPct val="0"/>
              </a:spcBef>
            </a:pPr>
            <a:r>
              <a:rPr lang="en-US" altLang="en-US" i="1">
                <a:solidFill>
                  <a:srgbClr val="000000"/>
                </a:solidFill>
                <a:cs typeface="Tahoma" panose="020B0604030504040204" pitchFamily="34" charset="0"/>
                <a:sym typeface="Tahoma" panose="020B0604030504040204" pitchFamily="34" charset="0"/>
              </a:rPr>
              <a:t>Let’s talk briefly about how to compensate for inequities.</a:t>
            </a:r>
            <a:endParaRPr lang="en-029" altLang="en-US" i="1">
              <a:solidFill>
                <a:srgbClr val="000000"/>
              </a:solidFill>
            </a:endParaRPr>
          </a:p>
        </p:txBody>
      </p:sp>
      <p:sp>
        <p:nvSpPr>
          <p:cNvPr id="25604" name="Slide Number Placeholder 3">
            <a:extLst>
              <a:ext uri="{FF2B5EF4-FFF2-40B4-BE49-F238E27FC236}">
                <a16:creationId xmlns:a16="http://schemas.microsoft.com/office/drawing/2014/main" id="{DFB72841-438D-4259-824C-6B47B499A6E1}"/>
              </a:ext>
            </a:extLst>
          </p:cNvPr>
          <p:cNvSpPr>
            <a:spLocks noGrp="1"/>
          </p:cNvSpPr>
          <p:nvPr>
            <p:ph type="sldNum" sz="quarter" idx="5"/>
          </p:nvPr>
        </p:nvSpPr>
        <p:spPr bwMode="auto"/>
        <p:txBody>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fld id="{D98776F2-1BB5-4E24-8731-0B55CAD6D77C}" type="slidenum">
              <a:rPr lang="en-US" altLang="en-US">
                <a:latin typeface="Times New Roman" panose="02020603050405020304" pitchFamily="18" charset="0"/>
              </a:rPr>
              <a:pPr eaLnBrk="1" hangingPunct="1"/>
              <a:t>10</a:t>
            </a:fld>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11</a:t>
            </a:fld>
            <a:endParaRPr lang="en-US" dirty="0"/>
          </a:p>
        </p:txBody>
      </p:sp>
    </p:spTree>
    <p:extLst>
      <p:ext uri="{BB962C8B-B14F-4D97-AF65-F5344CB8AC3E}">
        <p14:creationId xmlns:p14="http://schemas.microsoft.com/office/powerpoint/2010/main" val="3389341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12</a:t>
            </a:fld>
            <a:endParaRPr lang="en-US" dirty="0"/>
          </a:p>
        </p:txBody>
      </p:sp>
    </p:spTree>
    <p:extLst>
      <p:ext uri="{BB962C8B-B14F-4D97-AF65-F5344CB8AC3E}">
        <p14:creationId xmlns:p14="http://schemas.microsoft.com/office/powerpoint/2010/main" val="8646536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13</a:t>
            </a:fld>
            <a:endParaRPr lang="en-US" dirty="0"/>
          </a:p>
        </p:txBody>
      </p:sp>
    </p:spTree>
    <p:extLst>
      <p:ext uri="{BB962C8B-B14F-4D97-AF65-F5344CB8AC3E}">
        <p14:creationId xmlns:p14="http://schemas.microsoft.com/office/powerpoint/2010/main" val="26109149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14</a:t>
            </a:fld>
            <a:endParaRPr lang="en-US" dirty="0"/>
          </a:p>
        </p:txBody>
      </p:sp>
    </p:spTree>
    <p:extLst>
      <p:ext uri="{BB962C8B-B14F-4D97-AF65-F5344CB8AC3E}">
        <p14:creationId xmlns:p14="http://schemas.microsoft.com/office/powerpoint/2010/main" val="1267582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41190"/>
            <a:ext cx="5486400" cy="3600450"/>
          </a:xfrm>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15</a:t>
            </a:fld>
            <a:endParaRPr lang="en-US" dirty="0"/>
          </a:p>
        </p:txBody>
      </p:sp>
    </p:spTree>
    <p:extLst>
      <p:ext uri="{BB962C8B-B14F-4D97-AF65-F5344CB8AC3E}">
        <p14:creationId xmlns:p14="http://schemas.microsoft.com/office/powerpoint/2010/main" val="3498364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8C8E485-42ED-7145-808B-230E6E6B8106}" type="slidenum">
              <a:rPr lang="en-US" smtClean="0"/>
              <a:t>16</a:t>
            </a:fld>
            <a:endParaRPr lang="en-US" dirty="0"/>
          </a:p>
        </p:txBody>
      </p:sp>
    </p:spTree>
    <p:extLst>
      <p:ext uri="{BB962C8B-B14F-4D97-AF65-F5344CB8AC3E}">
        <p14:creationId xmlns:p14="http://schemas.microsoft.com/office/powerpoint/2010/main" val="971240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xml"/><Relationship Id="rId1" Type="http://schemas.openxmlformats.org/officeDocument/2006/relationships/vmlDrawing" Target="../drawings/vmlDrawing1.vml"/><Relationship Id="rId5" Type="http://schemas.openxmlformats.org/officeDocument/2006/relationships/image" Target="NULL"/><Relationship Id="rId4" Type="http://schemas.openxmlformats.org/officeDocument/2006/relationships/oleObject" Target="../embeddings/oleObject1.bin"/></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C7E2D-7EA9-48C5-B6E1-6355C32C0B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91710C-ABAC-475B-83E3-D3525B27D4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C0C935-E97B-4206-A1A3-51C344FFEE64}"/>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5" name="Footer Placeholder 4">
            <a:extLst>
              <a:ext uri="{FF2B5EF4-FFF2-40B4-BE49-F238E27FC236}">
                <a16:creationId xmlns:a16="http://schemas.microsoft.com/office/drawing/2014/main" id="{2304A7BC-868E-4243-AD2B-EDDD1C153EE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418814A-18FB-4087-9D6E-18F5EB473180}"/>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41113297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82143-3D08-44D4-9D33-4E25296586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5CBB24-7B1C-45BB-9107-EA0F92519E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CD4130-5E56-46FD-832C-62A8BD56C3BB}"/>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5" name="Footer Placeholder 4">
            <a:extLst>
              <a:ext uri="{FF2B5EF4-FFF2-40B4-BE49-F238E27FC236}">
                <a16:creationId xmlns:a16="http://schemas.microsoft.com/office/drawing/2014/main" id="{DA958C01-5B4A-4388-8959-01BA67F936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8F6812E-5853-4234-B379-F1B651655518}"/>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2792856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AD93-EB30-4568-9BF9-E23152F935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01C12C-4A35-4A98-B825-105C9B0DFF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B052CD5-A97F-4BB0-911E-C06B75BAC367}"/>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5" name="Footer Placeholder 4">
            <a:extLst>
              <a:ext uri="{FF2B5EF4-FFF2-40B4-BE49-F238E27FC236}">
                <a16:creationId xmlns:a16="http://schemas.microsoft.com/office/drawing/2014/main" id="{62E5BCE6-A141-4E8A-A87A-16640EB828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7520295-69DC-4C55-AD09-BFCD70E014F4}"/>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2681818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A859C-1CF9-4130-B18A-B94B3315A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444CF5-5045-4D55-8F77-4B9FDB7241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6D6C3C4-4857-49AA-A160-888322724B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BA7BFE-3170-46A5-A908-B1131EFC2372}"/>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6" name="Footer Placeholder 5">
            <a:extLst>
              <a:ext uri="{FF2B5EF4-FFF2-40B4-BE49-F238E27FC236}">
                <a16:creationId xmlns:a16="http://schemas.microsoft.com/office/drawing/2014/main" id="{0247B0A4-4479-426A-B100-48F5F7076CF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88B274-89BA-4C80-B960-A3AED95F0C7B}"/>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2620328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D53AA-EAF3-490F-97F4-B6A53EA3743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D8800C-277C-4F1A-A4D6-2FD1F4713C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A3389C-12DE-4FBC-B816-A0D358EBA8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65C7F89-2194-45F7-BB9A-31C8F7AC22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7B4B59-F605-4721-B17C-3F2E9FDD726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B5E278-F4E0-4101-B094-80B42F5AA9AB}"/>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8" name="Footer Placeholder 7">
            <a:extLst>
              <a:ext uri="{FF2B5EF4-FFF2-40B4-BE49-F238E27FC236}">
                <a16:creationId xmlns:a16="http://schemas.microsoft.com/office/drawing/2014/main" id="{209519C9-56D9-4EF2-825D-B1E28B5BBA2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9BC725D-51F7-4E17-AC8A-151F32BD761E}"/>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1695738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7CE2-C684-46BB-A843-07C497596BF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35D3CC-EFDE-4CD5-8825-48F03D901CD7}"/>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4" name="Footer Placeholder 3">
            <a:extLst>
              <a:ext uri="{FF2B5EF4-FFF2-40B4-BE49-F238E27FC236}">
                <a16:creationId xmlns:a16="http://schemas.microsoft.com/office/drawing/2014/main" id="{FBEA6D8F-CC50-4F7B-AD84-A1383A64DF1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2CBFF03-810E-44F5-BA39-80F419333C4A}"/>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3161936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6E73C0-BD9D-4D45-8146-9EB0C74E2274}"/>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3" name="Footer Placeholder 2">
            <a:extLst>
              <a:ext uri="{FF2B5EF4-FFF2-40B4-BE49-F238E27FC236}">
                <a16:creationId xmlns:a16="http://schemas.microsoft.com/office/drawing/2014/main" id="{D9366821-62C9-402C-9363-AA4CB213664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7F3018C-FC27-4004-A960-7189871CB674}"/>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593481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F6EA6-9A2A-45E4-BED9-2EE04B716B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A2DD57-1A34-4E90-B092-C1F73E4482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8D990A2-7DF4-4490-88FA-3C43491E8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83C4DD-E18C-45BA-A366-D90C86666CD6}"/>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6" name="Footer Placeholder 5">
            <a:extLst>
              <a:ext uri="{FF2B5EF4-FFF2-40B4-BE49-F238E27FC236}">
                <a16:creationId xmlns:a16="http://schemas.microsoft.com/office/drawing/2014/main" id="{46C226E4-29A7-40BC-B452-B899DA63C41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E930BF-C670-4338-AD80-A0F5692A9E13}"/>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217387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74E4E-1BE8-4F49-85C2-65CE484590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34781D-4BB1-4D97-89C5-10DF27B456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AE8073B0-C46A-44B0-8DF9-BFDC41F736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417A2D-DEC8-4E3E-B453-1CB4166BF186}"/>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6" name="Footer Placeholder 5">
            <a:extLst>
              <a:ext uri="{FF2B5EF4-FFF2-40B4-BE49-F238E27FC236}">
                <a16:creationId xmlns:a16="http://schemas.microsoft.com/office/drawing/2014/main" id="{51EDC077-1DC5-41EC-A1C8-9A1961CC9A0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3AF5443-7855-4DC7-B142-8ACC0D21587F}"/>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1620535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3298F-B564-47D4-A8C1-9A1CD1DBA7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3CD2-827B-40D6-AF9A-90D8B056A9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79A32A-64C2-4C03-B72F-39AB5FB5F648}"/>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5" name="Footer Placeholder 4">
            <a:extLst>
              <a:ext uri="{FF2B5EF4-FFF2-40B4-BE49-F238E27FC236}">
                <a16:creationId xmlns:a16="http://schemas.microsoft.com/office/drawing/2014/main" id="{99116686-851F-4575-BDC7-687C0538338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CEDB7A6-4A6C-4C35-9986-3AFD6F1BF19E}"/>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39465156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744E2A-9478-45CA-BAB6-4FCEAE4B1A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1E67F4-89B9-488D-AEAE-46C33205D0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104634-BEA3-447E-98F7-1E9BE23AAC17}"/>
              </a:ext>
            </a:extLst>
          </p:cNvPr>
          <p:cNvSpPr>
            <a:spLocks noGrp="1"/>
          </p:cNvSpPr>
          <p:nvPr>
            <p:ph type="dt" sz="half" idx="10"/>
          </p:nvPr>
        </p:nvSpPr>
        <p:spPr/>
        <p:txBody>
          <a:bodyPr/>
          <a:lstStyle/>
          <a:p>
            <a:fld id="{B1B60C23-9AE5-4B7C-B9C4-B4BE42DEE863}" type="datetimeFigureOut">
              <a:rPr lang="en-US" smtClean="0"/>
              <a:t>4/2/2022</a:t>
            </a:fld>
            <a:endParaRPr lang="en-US" dirty="0"/>
          </a:p>
        </p:txBody>
      </p:sp>
      <p:sp>
        <p:nvSpPr>
          <p:cNvPr id="5" name="Footer Placeholder 4">
            <a:extLst>
              <a:ext uri="{FF2B5EF4-FFF2-40B4-BE49-F238E27FC236}">
                <a16:creationId xmlns:a16="http://schemas.microsoft.com/office/drawing/2014/main" id="{4299066E-EAA3-478E-AF8A-1ADDB8AA49F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1D91C4B-E45E-4740-A424-918BCB926232}"/>
              </a:ext>
            </a:extLst>
          </p:cNvPr>
          <p:cNvSpPr>
            <a:spLocks noGrp="1"/>
          </p:cNvSpPr>
          <p:nvPr>
            <p:ph type="sldNum" sz="quarter" idx="12"/>
          </p:nvPr>
        </p:nvSpPr>
        <p:spPr/>
        <p:txBody>
          <a:bodyPr/>
          <a:lstStyle/>
          <a:p>
            <a:fld id="{52C5126A-7A31-44BC-9B1C-E3ECD18BA1A9}" type="slidenum">
              <a:rPr lang="en-US" smtClean="0"/>
              <a:t>‹#›</a:t>
            </a:fld>
            <a:endParaRPr lang="en-US" dirty="0"/>
          </a:p>
        </p:txBody>
      </p:sp>
    </p:spTree>
    <p:extLst>
      <p:ext uri="{BB962C8B-B14F-4D97-AF65-F5344CB8AC3E}">
        <p14:creationId xmlns:p14="http://schemas.microsoft.com/office/powerpoint/2010/main" val="3970369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tandard/Deliverable Cover Page">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2"/>
            </p:custDataLst>
          </p:nvPr>
        </p:nvGraphicFramePr>
        <p:xfrm>
          <a:off x="0" y="1"/>
          <a:ext cx="211667" cy="158751"/>
        </p:xfrm>
        <a:graphic>
          <a:graphicData uri="http://schemas.openxmlformats.org/presentationml/2006/ole">
            <mc:AlternateContent xmlns:mc="http://schemas.openxmlformats.org/markup-compatibility/2006">
              <mc:Choice xmlns:v="urn:schemas-microsoft-com:vml" Requires="v">
                <p:oleObj spid="_x0000_s1027" name="think-cell Slide" r:id="rId4" imgW="360" imgH="360" progId="TCLayout.ActiveDocument.1">
                  <p:embed/>
                </p:oleObj>
              </mc:Choice>
              <mc:Fallback>
                <p:oleObj name="think-cell Slide" r:id="rId4" imgW="360" imgH="360" progId="TCLayout.ActiveDocument.1">
                  <p:embed/>
                  <p:pic>
                    <p:nvPicPr>
                      <p:cNvPr id="6" name="Object 5"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
                        <a:ext cx="211667" cy="158751"/>
                      </a:xfrm>
                      <a:prstGeom prst="rect">
                        <a:avLst/>
                      </a:prstGeom>
                      <a:noFill/>
                      <a:extLst>
                        <a:ext uri="{909E8E84-426E-40dd-AFC4-6F175D3DCCD1}">
                          <a14:hiddenFill xmlns:a14="http://schemas.microsoft.com/office/drawing/2010/main" xmlns="">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426349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565032" y="457200"/>
            <a:ext cx="10363200" cy="1143000"/>
          </a:xfrm>
        </p:spPr>
        <p:txBody>
          <a:bodyPr/>
          <a:lstStyle/>
          <a:p>
            <a:r>
              <a:rPr lang="en-US"/>
              <a:t>Click to edit Master title style</a:t>
            </a:r>
            <a:endParaRPr lang="fr-FR"/>
          </a:p>
        </p:txBody>
      </p:sp>
      <p:sp>
        <p:nvSpPr>
          <p:cNvPr id="3" name="Text Placeholder 2"/>
          <p:cNvSpPr>
            <a:spLocks noGrp="1"/>
          </p:cNvSpPr>
          <p:nvPr>
            <p:ph type="body" sz="half" idx="1"/>
          </p:nvPr>
        </p:nvSpPr>
        <p:spPr>
          <a:xfrm>
            <a:off x="1565031" y="1981200"/>
            <a:ext cx="5087816"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4" name="ClipArt Placeholder 3"/>
          <p:cNvSpPr>
            <a:spLocks noGrp="1"/>
          </p:cNvSpPr>
          <p:nvPr>
            <p:ph type="clipArt" sz="half" idx="2"/>
          </p:nvPr>
        </p:nvSpPr>
        <p:spPr>
          <a:xfrm>
            <a:off x="6840416" y="1981200"/>
            <a:ext cx="5087816" cy="4114800"/>
          </a:xfrm>
        </p:spPr>
        <p:txBody>
          <a:bodyPr rtlCol="0">
            <a:normAutofit/>
          </a:bodyPr>
          <a:lstStyle/>
          <a:p>
            <a:pPr lvl="0"/>
            <a:endParaRPr lang="fr-FR" noProof="0" dirty="0"/>
          </a:p>
        </p:txBody>
      </p:sp>
      <p:sp>
        <p:nvSpPr>
          <p:cNvPr id="5" name="Rectangle 1051">
            <a:extLst>
              <a:ext uri="{FF2B5EF4-FFF2-40B4-BE49-F238E27FC236}">
                <a16:creationId xmlns:a16="http://schemas.microsoft.com/office/drawing/2014/main" id="{F0F2E729-EC62-405C-B387-2B3944791399}"/>
              </a:ext>
            </a:extLst>
          </p:cNvPr>
          <p:cNvSpPr>
            <a:spLocks noGrp="1" noChangeArrowheads="1"/>
          </p:cNvSpPr>
          <p:nvPr>
            <p:ph type="dt" sz="half" idx="10"/>
          </p:nvPr>
        </p:nvSpPr>
        <p:spPr>
          <a:xfrm>
            <a:off x="1564217" y="6265863"/>
            <a:ext cx="2540000" cy="457200"/>
          </a:xfrm>
        </p:spPr>
        <p:txBody>
          <a:bodyPr/>
          <a:lstStyle>
            <a:lvl1pPr fontAlgn="auto">
              <a:spcBef>
                <a:spcPts val="0"/>
              </a:spcBef>
              <a:spcAft>
                <a:spcPts val="0"/>
              </a:spcAft>
              <a:defRPr>
                <a:solidFill>
                  <a:schemeClr val="tx1">
                    <a:tint val="75000"/>
                  </a:schemeClr>
                </a:solidFill>
                <a:latin typeface="+mn-lt"/>
                <a:cs typeface="+mn-cs"/>
              </a:defRPr>
            </a:lvl1pPr>
          </a:lstStyle>
          <a:p>
            <a:pPr>
              <a:defRPr/>
            </a:pPr>
            <a:endParaRPr lang="en-US"/>
          </a:p>
        </p:txBody>
      </p:sp>
      <p:sp>
        <p:nvSpPr>
          <p:cNvPr id="6" name="Rectangle 1052">
            <a:extLst>
              <a:ext uri="{FF2B5EF4-FFF2-40B4-BE49-F238E27FC236}">
                <a16:creationId xmlns:a16="http://schemas.microsoft.com/office/drawing/2014/main" id="{40F166D0-BC8E-4699-8E31-57AF11064770}"/>
              </a:ext>
            </a:extLst>
          </p:cNvPr>
          <p:cNvSpPr>
            <a:spLocks noGrp="1" noChangeArrowheads="1"/>
          </p:cNvSpPr>
          <p:nvPr>
            <p:ph type="ftr" sz="quarter" idx="11"/>
          </p:nvPr>
        </p:nvSpPr>
        <p:spPr/>
        <p:txBody>
          <a:bodyPr/>
          <a:lstStyle>
            <a:lvl1pPr fontAlgn="base">
              <a:spcBef>
                <a:spcPct val="0"/>
              </a:spcBef>
              <a:spcAft>
                <a:spcPct val="0"/>
              </a:spcAft>
              <a:defRPr>
                <a:solidFill>
                  <a:schemeClr val="tx1">
                    <a:tint val="75000"/>
                  </a:schemeClr>
                </a:solidFill>
                <a:latin typeface="Calibri" pitchFamily="34" charset="0"/>
                <a:cs typeface="Arial" charset="0"/>
              </a:defRPr>
            </a:lvl1pPr>
          </a:lstStyle>
          <a:p>
            <a:pPr>
              <a:defRPr/>
            </a:pPr>
            <a:r>
              <a:rPr lang="en-US"/>
              <a:t>National Democratic Institute</a:t>
            </a:r>
          </a:p>
        </p:txBody>
      </p:sp>
      <p:sp>
        <p:nvSpPr>
          <p:cNvPr id="7" name="Rectangle 1053">
            <a:extLst>
              <a:ext uri="{FF2B5EF4-FFF2-40B4-BE49-F238E27FC236}">
                <a16:creationId xmlns:a16="http://schemas.microsoft.com/office/drawing/2014/main" id="{0841A12C-23CB-4AD0-818F-2BE7C8994C61}"/>
              </a:ext>
            </a:extLst>
          </p:cNvPr>
          <p:cNvSpPr>
            <a:spLocks noGrp="1" noChangeArrowheads="1"/>
          </p:cNvSpPr>
          <p:nvPr>
            <p:ph type="sldNum" sz="quarter" idx="12"/>
          </p:nvPr>
        </p:nvSpPr>
        <p:spPr>
          <a:xfrm>
            <a:off x="9347200" y="6248400"/>
            <a:ext cx="2540000" cy="457200"/>
          </a:xfrm>
        </p:spPr>
        <p:txBody>
          <a:bodyPr/>
          <a:lstStyle>
            <a:lvl1pPr>
              <a:defRPr>
                <a:latin typeface="Trebuchet MS" panose="020B0603020202020204" pitchFamily="34" charset="0"/>
              </a:defRPr>
            </a:lvl1pPr>
          </a:lstStyle>
          <a:p>
            <a:fld id="{5A671623-2CB3-416B-8475-5253AF510712}" type="slidenum">
              <a:rPr lang="en-US" altLang="en-US"/>
              <a:pPr/>
              <a:t>‹#›</a:t>
            </a:fld>
            <a:endParaRPr lang="en-US" altLang="en-US"/>
          </a:p>
        </p:txBody>
      </p:sp>
    </p:spTree>
    <p:extLst>
      <p:ext uri="{BB962C8B-B14F-4D97-AF65-F5344CB8AC3E}">
        <p14:creationId xmlns:p14="http://schemas.microsoft.com/office/powerpoint/2010/main" val="1215102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6EF45F-8DBE-4FF8-AEEF-FF6C06FEDE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9F739D-E203-471A-BAE7-BD4DEE8BE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3C73EC-2B32-4E6D-A355-D6D6277829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B60C23-9AE5-4B7C-B9C4-B4BE42DEE863}" type="datetimeFigureOut">
              <a:rPr lang="en-US" smtClean="0"/>
              <a:t>4/2/2022</a:t>
            </a:fld>
            <a:endParaRPr lang="en-US" dirty="0"/>
          </a:p>
        </p:txBody>
      </p:sp>
      <p:sp>
        <p:nvSpPr>
          <p:cNvPr id="5" name="Footer Placeholder 4">
            <a:extLst>
              <a:ext uri="{FF2B5EF4-FFF2-40B4-BE49-F238E27FC236}">
                <a16:creationId xmlns:a16="http://schemas.microsoft.com/office/drawing/2014/main" id="{D99778C8-22B8-4E1C-9656-F1420E37E3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F90B227-DA0A-4DDA-BBEF-8471E20931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C5126A-7A31-44BC-9B1C-E3ECD18BA1A9}" type="slidenum">
              <a:rPr lang="en-US" smtClean="0"/>
              <a:t>‹#›</a:t>
            </a:fld>
            <a:endParaRPr lang="en-US" dirty="0"/>
          </a:p>
        </p:txBody>
      </p:sp>
    </p:spTree>
    <p:extLst>
      <p:ext uri="{BB962C8B-B14F-4D97-AF65-F5344CB8AC3E}">
        <p14:creationId xmlns:p14="http://schemas.microsoft.com/office/powerpoint/2010/main" val="3914038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3.jpeg"/><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4.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1" name="Shape 91"/>
          <p:cNvSpPr/>
          <p:nvPr/>
        </p:nvSpPr>
        <p:spPr>
          <a:xfrm>
            <a:off x="0" y="-100777"/>
            <a:ext cx="12192000" cy="5341753"/>
          </a:xfrm>
          <a:prstGeom prst="rect">
            <a:avLst/>
          </a:prstGeom>
          <a:solidFill>
            <a:srgbClr val="3A7CA5"/>
          </a:solidFill>
          <a:ln>
            <a:noFill/>
          </a:ln>
        </p:spPr>
        <p:txBody>
          <a:bodyPr spcFirstLastPara="1" wrap="square" lIns="91425" tIns="45700" rIns="91425" bIns="45700" anchor="ctr" anchorCtr="0">
            <a:noAutofit/>
          </a:bodyPr>
          <a:lstStyle/>
          <a:p>
            <a:pPr algn="ctr"/>
            <a:endParaRPr sz="3733" dirty="0">
              <a:solidFill>
                <a:schemeClr val="lt1"/>
              </a:solidFill>
              <a:latin typeface="Lato"/>
              <a:ea typeface="Lato"/>
              <a:cs typeface="Lato"/>
              <a:sym typeface="Lato"/>
            </a:endParaRPr>
          </a:p>
        </p:txBody>
      </p:sp>
      <p:sp>
        <p:nvSpPr>
          <p:cNvPr id="93" name="Shape 93"/>
          <p:cNvSpPr txBox="1"/>
          <p:nvPr/>
        </p:nvSpPr>
        <p:spPr>
          <a:xfrm>
            <a:off x="309575" y="801667"/>
            <a:ext cx="9693861" cy="2627334"/>
          </a:xfrm>
          <a:prstGeom prst="rect">
            <a:avLst/>
          </a:prstGeom>
          <a:noFill/>
          <a:ln>
            <a:noFill/>
          </a:ln>
        </p:spPr>
        <p:txBody>
          <a:bodyPr spcFirstLastPara="1" wrap="square" lIns="0" tIns="0" rIns="0" bIns="0" anchor="ctr" anchorCtr="0">
            <a:noAutofit/>
          </a:bodyPr>
          <a:lstStyle/>
          <a:p>
            <a:pPr algn="ctr"/>
            <a:r>
              <a:rPr lang="en-US" sz="4800" b="1" dirty="0">
                <a:solidFill>
                  <a:schemeClr val="bg1"/>
                </a:solidFill>
                <a:latin typeface="Calibri "/>
              </a:rPr>
              <a:t>Gender and Development:</a:t>
            </a:r>
          </a:p>
          <a:p>
            <a:pPr algn="ctr"/>
            <a:r>
              <a:rPr lang="en-US" sz="4800" b="1" dirty="0">
                <a:solidFill>
                  <a:schemeClr val="bg1"/>
                </a:solidFill>
                <a:latin typeface="Calibri "/>
              </a:rPr>
              <a:t>  Concepts and Programming</a:t>
            </a:r>
          </a:p>
        </p:txBody>
      </p:sp>
      <p:sp>
        <p:nvSpPr>
          <p:cNvPr id="94" name="Shape 94"/>
          <p:cNvSpPr/>
          <p:nvPr/>
        </p:nvSpPr>
        <p:spPr>
          <a:xfrm>
            <a:off x="301185" y="3505575"/>
            <a:ext cx="9981905" cy="1354524"/>
          </a:xfrm>
          <a:prstGeom prst="rect">
            <a:avLst/>
          </a:prstGeom>
          <a:noFill/>
          <a:ln>
            <a:noFill/>
          </a:ln>
        </p:spPr>
        <p:txBody>
          <a:bodyPr spcFirstLastPara="1" wrap="square" lIns="91425" tIns="45700" rIns="91425" bIns="45700" anchor="t" anchorCtr="0">
            <a:noAutofit/>
          </a:bodyPr>
          <a:lstStyle/>
          <a:p>
            <a:r>
              <a:rPr lang="en-US" sz="2400" b="1" dirty="0">
                <a:solidFill>
                  <a:schemeClr val="lt1"/>
                </a:solidFill>
                <a:latin typeface="Calibri "/>
                <a:sym typeface="Lato"/>
              </a:rPr>
              <a:t>Syed M Hashemi</a:t>
            </a:r>
          </a:p>
          <a:p>
            <a:r>
              <a:rPr lang="en-US" sz="2400" dirty="0">
                <a:solidFill>
                  <a:schemeClr val="lt1"/>
                </a:solidFill>
                <a:latin typeface="Calibri "/>
                <a:sym typeface="Lato"/>
              </a:rPr>
              <a:t>September 23, 2021</a:t>
            </a:r>
          </a:p>
          <a:p>
            <a:endParaRPr dirty="0">
              <a:latin typeface="Calibri "/>
            </a:endParaRPr>
          </a:p>
        </p:txBody>
      </p:sp>
    </p:spTree>
    <p:extLst>
      <p:ext uri="{BB962C8B-B14F-4D97-AF65-F5344CB8AC3E}">
        <p14:creationId xmlns:p14="http://schemas.microsoft.com/office/powerpoint/2010/main" val="11897034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98574" y="210656"/>
            <a:ext cx="11981810" cy="7217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Sex and Gender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7" y="1055621"/>
            <a:ext cx="11741028" cy="9756517"/>
          </a:xfrm>
          <a:prstGeom prst="rect">
            <a:avLst/>
          </a:prstGeom>
          <a:noFill/>
        </p:spPr>
        <p:txBody>
          <a:bodyPr wrap="square" rtlCol="0">
            <a:spAutoFit/>
          </a:bodyPr>
          <a:lstStyle/>
          <a:p>
            <a:r>
              <a:rPr lang="en-US" sz="2800" b="1" i="1" dirty="0"/>
              <a:t>Sex: </a:t>
            </a:r>
          </a:p>
          <a:p>
            <a:r>
              <a:rPr lang="en-US" sz="2800" b="1" dirty="0"/>
              <a:t>Biological characteristics (including genetics, anatomy and physiology) that generally define humans as female or male </a:t>
            </a:r>
          </a:p>
          <a:p>
            <a:endParaRPr lang="en-US" sz="2800" b="1" i="1" dirty="0"/>
          </a:p>
          <a:p>
            <a:r>
              <a:rPr lang="en-US" sz="2800" b="1" i="1" dirty="0"/>
              <a:t>Gender:</a:t>
            </a:r>
          </a:p>
          <a:p>
            <a:r>
              <a:rPr lang="en-US" sz="2800" b="1" dirty="0"/>
              <a:t>Socially constructed set of roles and responsibilities associated with being girl and boy or women and men; learned behavior</a:t>
            </a:r>
            <a:endParaRPr lang="en-US" sz="2800" b="1" i="1" dirty="0"/>
          </a:p>
          <a:p>
            <a:r>
              <a:rPr lang="en-US" sz="2400" b="1" dirty="0"/>
              <a:t>Example: The expectation of men to be economic providers of the family and for women to be caregivers is a gender norm in many cultural contexts</a:t>
            </a:r>
          </a:p>
          <a:p>
            <a:endParaRPr lang="en-US" sz="2800" dirty="0"/>
          </a:p>
          <a:p>
            <a:r>
              <a:rPr lang="en-US" sz="2400" b="1" i="1" dirty="0"/>
              <a:t>What are some of the gender roles we experience in middle class urban households ?</a:t>
            </a:r>
          </a:p>
          <a:p>
            <a:endParaRPr lang="en-US" sz="3600" b="1" i="1" dirty="0"/>
          </a:p>
          <a:p>
            <a:pPr marL="457200" indent="-457200">
              <a:buFont typeface="Wingdings" panose="05000000000000000000" pitchFamily="2" charset="2"/>
              <a:buChar char="Ø"/>
            </a:pPr>
            <a:endParaRPr lang="en-US" sz="3200" dirty="0"/>
          </a:p>
          <a:p>
            <a:r>
              <a:rPr lang="en-US" sz="3200" i="1" dirty="0"/>
              <a:t> </a:t>
            </a:r>
          </a:p>
          <a:p>
            <a:endParaRPr lang="en-US" sz="3200" i="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476136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139330" y="210656"/>
            <a:ext cx="11941053" cy="7217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Sex versus Gender:  Statements on Men and Women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7" y="1181100"/>
            <a:ext cx="11842480" cy="10520188"/>
          </a:xfrm>
          <a:prstGeom prst="rect">
            <a:avLst/>
          </a:prstGeom>
          <a:noFill/>
        </p:spPr>
        <p:txBody>
          <a:bodyPr wrap="square" rtlCol="0">
            <a:spAutoFit/>
          </a:bodyPr>
          <a:lstStyle/>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1. Women give birth to babies, men don't</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2. Girls are gentle, boys are rough</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3. Women agriculture workers receive less pay than men </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4. Truck drivers in Bangladesh are all men </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5. Women can breastfeed babies, men can bottle-feed babies </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6. Sons receive twice as much inheritance as daughters</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7. Women do 67% of the world's work, yet their earnings for it amount to only 10% of the world's income</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8. There are more women than men in nursing</a:t>
            </a:r>
          </a:p>
          <a:p>
            <a:endParaRPr lang="en-US" sz="2800" b="1" dirty="0"/>
          </a:p>
          <a:p>
            <a:pPr marL="457200" indent="-457200">
              <a:buFont typeface="Wingdings" panose="05000000000000000000" pitchFamily="2" charset="2"/>
              <a:buChar char="Ø"/>
            </a:pPr>
            <a:endParaRPr lang="en-US" sz="2800" dirty="0"/>
          </a:p>
          <a:p>
            <a:endParaRPr lang="en-US" sz="2800" b="1" i="1" dirty="0"/>
          </a:p>
          <a:p>
            <a:endParaRPr lang="en-US" sz="3600" b="1" i="1" dirty="0"/>
          </a:p>
          <a:p>
            <a:pPr marL="457200" indent="-457200">
              <a:buFont typeface="Wingdings" panose="05000000000000000000" pitchFamily="2" charset="2"/>
              <a:buChar char="Ø"/>
            </a:pPr>
            <a:endParaRPr lang="en-US" sz="3200" dirty="0"/>
          </a:p>
          <a:p>
            <a:r>
              <a:rPr lang="en-US" sz="3200" i="1" dirty="0"/>
              <a:t> </a:t>
            </a:r>
          </a:p>
          <a:p>
            <a:endParaRPr lang="en-US" sz="3200" i="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3144253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139330" y="210656"/>
            <a:ext cx="11941053" cy="7217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Sex versus Gender:  Statements on Men and Women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7" y="1055620"/>
            <a:ext cx="11340978" cy="10520188"/>
          </a:xfrm>
          <a:prstGeom prst="rect">
            <a:avLst/>
          </a:prstGeom>
          <a:noFill/>
        </p:spPr>
        <p:txBody>
          <a:bodyPr wrap="square" rtlCol="0">
            <a:spAutoFit/>
          </a:bodyPr>
          <a:lstStyle/>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1. Women give birth to babies, men don't (S) </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2. Girls are gentle, boys are rough (G)</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3. Women agriculture workers receive less pay than men (G) </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4. Truck drivers in Bangladesh are all men (G) </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5. Women can breastfeed babies, men can bottle-feed babies (S) </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6. Sons receive twice as much inheritance as daughters (G)</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7. Women do 67% of the world's work, yet their earnings for it amount to only 10% of the world's income (G) </a:t>
            </a:r>
          </a:p>
          <a:p>
            <a:pPr marL="0" marR="0">
              <a:lnSpc>
                <a:spcPct val="107000"/>
              </a:lnSpc>
              <a:spcBef>
                <a:spcPts val="0"/>
              </a:spcBef>
              <a:spcAft>
                <a:spcPts val="0"/>
              </a:spcAft>
            </a:pPr>
            <a:r>
              <a:rPr lang="en-US" sz="2800" b="1" dirty="0">
                <a:effectLst/>
                <a:ea typeface="Calibri" panose="020F0502020204030204" pitchFamily="34" charset="0"/>
                <a:cs typeface="Times New Roman" panose="02020603050405020304" pitchFamily="18" charset="0"/>
              </a:rPr>
              <a:t>8. There are more women than men in nursing (G) </a:t>
            </a:r>
          </a:p>
          <a:p>
            <a:endParaRPr lang="en-US" sz="2800" b="1" dirty="0"/>
          </a:p>
          <a:p>
            <a:pPr marL="457200" indent="-457200">
              <a:buFont typeface="Wingdings" panose="05000000000000000000" pitchFamily="2" charset="2"/>
              <a:buChar char="Ø"/>
            </a:pPr>
            <a:endParaRPr lang="en-US" sz="2800" dirty="0"/>
          </a:p>
          <a:p>
            <a:endParaRPr lang="en-US" sz="2800" b="1" i="1" dirty="0"/>
          </a:p>
          <a:p>
            <a:endParaRPr lang="en-US" sz="3600" b="1" i="1" dirty="0"/>
          </a:p>
          <a:p>
            <a:pPr marL="457200" indent="-457200">
              <a:buFont typeface="Wingdings" panose="05000000000000000000" pitchFamily="2" charset="2"/>
              <a:buChar char="Ø"/>
            </a:pPr>
            <a:endParaRPr lang="en-US" sz="3200" dirty="0"/>
          </a:p>
          <a:p>
            <a:r>
              <a:rPr lang="en-US" sz="3200" i="1" dirty="0"/>
              <a:t> </a:t>
            </a:r>
          </a:p>
          <a:p>
            <a:endParaRPr lang="en-US" sz="3200" i="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42369924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F9681F4D-0284-4AA0-B3AF-99F413C44FCA}"/>
              </a:ext>
            </a:extLst>
          </p:cNvPr>
          <p:cNvSpPr>
            <a:spLocks noGrp="1" noChangeArrowheads="1"/>
          </p:cNvSpPr>
          <p:nvPr>
            <p:ph type="title"/>
          </p:nvPr>
        </p:nvSpPr>
        <p:spPr>
          <a:xfrm>
            <a:off x="2743200" y="228600"/>
            <a:ext cx="7772400" cy="990600"/>
          </a:xfrm>
        </p:spPr>
        <p:txBody>
          <a:bodyPr rtlCol="0">
            <a:normAutofit/>
          </a:bodyPr>
          <a:lstStyle/>
          <a:p>
            <a:pPr>
              <a:defRPr/>
            </a:pPr>
            <a:r>
              <a:rPr lang="en-US" dirty="0">
                <a:solidFill>
                  <a:srgbClr val="C00000"/>
                </a:solidFill>
                <a:effectLst>
                  <a:outerShdw blurRad="38100" dist="38100" dir="2700000" algn="tl">
                    <a:srgbClr val="000000">
                      <a:alpha val="43137"/>
                    </a:srgbClr>
                  </a:outerShdw>
                </a:effectLst>
              </a:rPr>
              <a:t>EXERCISE: RIDDLE</a:t>
            </a:r>
          </a:p>
        </p:txBody>
      </p:sp>
      <p:sp>
        <p:nvSpPr>
          <p:cNvPr id="24579" name="Rectangle 3">
            <a:extLst>
              <a:ext uri="{FF2B5EF4-FFF2-40B4-BE49-F238E27FC236}">
                <a16:creationId xmlns:a16="http://schemas.microsoft.com/office/drawing/2014/main" id="{6D4A8D3B-C188-4F5F-8B60-229E4E79330E}"/>
              </a:ext>
            </a:extLst>
          </p:cNvPr>
          <p:cNvSpPr>
            <a:spLocks noGrp="1"/>
          </p:cNvSpPr>
          <p:nvPr>
            <p:ph type="body" sz="half" idx="1"/>
          </p:nvPr>
        </p:nvSpPr>
        <p:spPr>
          <a:xfrm>
            <a:off x="2164293" y="1371600"/>
            <a:ext cx="9799107" cy="4114800"/>
          </a:xfrm>
        </p:spPr>
        <p:txBody>
          <a:bodyPr/>
          <a:lstStyle/>
          <a:p>
            <a:pPr eaLnBrk="1" hangingPunct="1"/>
            <a:r>
              <a:rPr lang="en-US" altLang="en-US" dirty="0"/>
              <a:t>A boy and his father are in a car accident. </a:t>
            </a:r>
          </a:p>
          <a:p>
            <a:pPr eaLnBrk="1" hangingPunct="1"/>
            <a:r>
              <a:rPr lang="en-US" altLang="en-US" dirty="0"/>
              <a:t>The father is taken to one hospital.</a:t>
            </a:r>
          </a:p>
          <a:p>
            <a:pPr eaLnBrk="1" hangingPunct="1"/>
            <a:r>
              <a:rPr lang="en-US" altLang="en-US" dirty="0"/>
              <a:t>The boy is taken to another hospital.</a:t>
            </a:r>
          </a:p>
          <a:p>
            <a:pPr eaLnBrk="1" hangingPunct="1"/>
            <a:r>
              <a:rPr lang="en-US" altLang="en-US" dirty="0"/>
              <a:t>The surgeon says, "I can't operate on this boy. He is my son!“</a:t>
            </a:r>
          </a:p>
          <a:p>
            <a:pPr eaLnBrk="1" hangingPunct="1"/>
            <a:r>
              <a:rPr lang="en-US" altLang="en-US" dirty="0"/>
              <a:t>Who is the surgeon?</a:t>
            </a:r>
          </a:p>
        </p:txBody>
      </p:sp>
      <p:pic>
        <p:nvPicPr>
          <p:cNvPr id="5" name="Picture 2">
            <a:extLst>
              <a:ext uri="{FF2B5EF4-FFF2-40B4-BE49-F238E27FC236}">
                <a16:creationId xmlns:a16="http://schemas.microsoft.com/office/drawing/2014/main" id="{2C5E2BD5-B8FD-4CAC-BAEB-5BF946B42C30}"/>
              </a:ext>
            </a:extLst>
          </p:cNvPr>
          <p:cNvPicPr>
            <a:picLocks noChangeAspect="1" noChangeArrowheads="1"/>
          </p:cNvPicPr>
          <p:nvPr/>
        </p:nvPicPr>
        <p:blipFill rotWithShape="1">
          <a:blip r:embed="rId3" cstate="print">
            <a:clrChange>
              <a:clrFrom>
                <a:srgbClr val="D9E8A3"/>
              </a:clrFrom>
              <a:clrTo>
                <a:srgbClr val="D9E8A3">
                  <a:alpha val="0"/>
                </a:srgbClr>
              </a:clrTo>
            </a:clrChange>
            <a:duotone>
              <a:schemeClr val="accent5">
                <a:shade val="45000"/>
                <a:satMod val="135000"/>
              </a:schemeClr>
              <a:prstClr val="white"/>
            </a:duotone>
          </a:blip>
          <a:srcRect r="66504"/>
          <a:stretch/>
        </p:blipFill>
        <p:spPr bwMode="auto">
          <a:xfrm>
            <a:off x="1447800" y="1"/>
            <a:ext cx="670774" cy="6858000"/>
          </a:xfrm>
          <a:prstGeom prst="rect">
            <a:avLst/>
          </a:prstGeom>
          <a:noFill/>
          <a:ln>
            <a:noFill/>
          </a:ln>
          <a:effectLst>
            <a:glow>
              <a:schemeClr val="accent1">
                <a:alpha val="40000"/>
              </a:schemeClr>
            </a:glow>
            <a:outerShdw dist="35921" dir="2700000" algn="ctr" rotWithShape="0">
              <a:schemeClr val="bg2">
                <a:alpha val="0"/>
              </a:schemeClr>
            </a:outerShdw>
          </a:effectLst>
        </p:spPr>
      </p:pic>
      <p:pic>
        <p:nvPicPr>
          <p:cNvPr id="6" name="Picture 2">
            <a:extLst>
              <a:ext uri="{FF2B5EF4-FFF2-40B4-BE49-F238E27FC236}">
                <a16:creationId xmlns:a16="http://schemas.microsoft.com/office/drawing/2014/main" id="{C77AE10C-C289-412A-BEF0-F8239CCD5D80}"/>
              </a:ext>
            </a:extLst>
          </p:cNvPr>
          <p:cNvPicPr>
            <a:picLocks noChangeAspect="1" noChangeArrowheads="1"/>
          </p:cNvPicPr>
          <p:nvPr/>
        </p:nvPicPr>
        <p:blipFill rotWithShape="1">
          <a:blip r:embed="rId3" cstate="print">
            <a:clrChange>
              <a:clrFrom>
                <a:srgbClr val="D9E8A3"/>
              </a:clrFrom>
              <a:clrTo>
                <a:srgbClr val="D9E8A3">
                  <a:alpha val="0"/>
                </a:srgbClr>
              </a:clrTo>
            </a:clrChange>
            <a:duotone>
              <a:schemeClr val="accent5">
                <a:shade val="45000"/>
                <a:satMod val="135000"/>
              </a:schemeClr>
              <a:prstClr val="white"/>
            </a:duotone>
          </a:blip>
          <a:srcRect r="66504"/>
          <a:stretch/>
        </p:blipFill>
        <p:spPr bwMode="auto">
          <a:xfrm>
            <a:off x="2078768" y="0"/>
            <a:ext cx="45719" cy="6858000"/>
          </a:xfrm>
          <a:prstGeom prst="rect">
            <a:avLst/>
          </a:prstGeom>
          <a:noFill/>
          <a:ln>
            <a:noFill/>
          </a:ln>
          <a:effectLst>
            <a:glow>
              <a:schemeClr val="accent1">
                <a:alpha val="40000"/>
              </a:schemeClr>
            </a:glow>
            <a:outerShdw dist="35921" dir="2700000" algn="ctr" rotWithShape="0">
              <a:schemeClr val="bg2">
                <a:alpha val="0"/>
              </a:schemeClr>
            </a:outerShdw>
          </a:effectLst>
        </p:spPr>
      </p:pic>
      <p:pic>
        <p:nvPicPr>
          <p:cNvPr id="7" name="Picture 6" descr="logo_ndi">
            <a:extLst>
              <a:ext uri="{FF2B5EF4-FFF2-40B4-BE49-F238E27FC236}">
                <a16:creationId xmlns:a16="http://schemas.microsoft.com/office/drawing/2014/main" id="{C870005C-1974-42BF-AD47-F733E4CB1B86}"/>
              </a:ext>
            </a:extLst>
          </p:cNvPr>
          <p:cNvPicPr>
            <a:picLocks noChangeAspect="1" noChangeArrowheads="1"/>
          </p:cNvPicPr>
          <p:nvPr/>
        </p:nvPicPr>
        <p:blipFill>
          <a:blip r:embed="rId4" cstate="print">
            <a:clrChange>
              <a:clrFrom>
                <a:srgbClr val="FFFFFF"/>
              </a:clrFrom>
              <a:clrTo>
                <a:srgbClr val="FFFFFF">
                  <a:alpha val="0"/>
                </a:srgbClr>
              </a:clrTo>
            </a:clrChange>
            <a:duotone>
              <a:schemeClr val="accent1">
                <a:shade val="45000"/>
                <a:satMod val="135000"/>
              </a:schemeClr>
              <a:prstClr val="white"/>
            </a:duotone>
          </a:blip>
          <a:srcRect/>
          <a:stretch>
            <a:fillRect/>
          </a:stretch>
        </p:blipFill>
        <p:spPr bwMode="auto">
          <a:xfrm>
            <a:off x="9372600" y="5941325"/>
            <a:ext cx="1143000" cy="811748"/>
          </a:xfrm>
          <a:prstGeom prst="rect">
            <a:avLst/>
          </a:prstGeom>
          <a:noFill/>
          <a:ln>
            <a:noFill/>
          </a:ln>
          <a:effectLst/>
        </p:spPr>
      </p:pic>
      <p:sp>
        <p:nvSpPr>
          <p:cNvPr id="8" name="TextBox 7">
            <a:extLst>
              <a:ext uri="{FF2B5EF4-FFF2-40B4-BE49-F238E27FC236}">
                <a16:creationId xmlns:a16="http://schemas.microsoft.com/office/drawing/2014/main" id="{10108697-133F-4243-AFF2-BB9BA13AD77A}"/>
              </a:ext>
            </a:extLst>
          </p:cNvPr>
          <p:cNvSpPr txBox="1"/>
          <p:nvPr/>
        </p:nvSpPr>
        <p:spPr>
          <a:xfrm>
            <a:off x="8991600" y="0"/>
            <a:ext cx="1676400" cy="3046988"/>
          </a:xfrm>
          <a:prstGeom prst="rect">
            <a:avLst/>
          </a:prstGeom>
          <a:noFill/>
        </p:spPr>
        <p:txBody>
          <a:bodyPr>
            <a:spAutoFit/>
          </a:bodyPr>
          <a:lstStyle/>
          <a:p>
            <a:pPr eaLnBrk="1" hangingPunct="1">
              <a:defRPr/>
            </a:pPr>
            <a:r>
              <a:rPr lang="en-US" sz="9600" dirty="0">
                <a:cs typeface="Arial" charset="0"/>
              </a:rPr>
              <a:t>???</a:t>
            </a:r>
          </a:p>
        </p:txBody>
      </p:sp>
      <p:pic>
        <p:nvPicPr>
          <p:cNvPr id="24584" name="Picture 9" descr="https://encrypted-tbn1.gstatic.com/images?q=tbn:ANd9GcQ5-HNTr2fuBKTxBd56qhJUqEoZmHdHMzB9a9-eHgZMGiF69DgL">
            <a:extLst>
              <a:ext uri="{FF2B5EF4-FFF2-40B4-BE49-F238E27FC236}">
                <a16:creationId xmlns:a16="http://schemas.microsoft.com/office/drawing/2014/main" id="{96CAEA52-7C10-4B75-932E-6C7B7FD8AC0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69226" y="4368800"/>
            <a:ext cx="2174875"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98574" y="210657"/>
            <a:ext cx="11981810" cy="59860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Concepts: Gender Equality and Gender Equity</a:t>
            </a:r>
          </a:p>
          <a:p>
            <a:pPr>
              <a:spcAft>
                <a:spcPts val="450"/>
              </a:spcAft>
            </a:pPr>
            <a:r>
              <a:rPr lang="en-US" sz="3600" b="1" dirty="0">
                <a:solidFill>
                  <a:srgbClr val="3A7CA4"/>
                </a:solidFill>
                <a:latin typeface="+mn-lt"/>
                <a:ea typeface="+mn-ea"/>
                <a:cs typeface="+mn-cs"/>
              </a:rPr>
              <a:t>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19075" y="1162050"/>
            <a:ext cx="11861310" cy="11018401"/>
          </a:xfrm>
          <a:prstGeom prst="rect">
            <a:avLst/>
          </a:prstGeom>
          <a:noFill/>
        </p:spPr>
        <p:txBody>
          <a:bodyPr wrap="square" rtlCol="0">
            <a:spAutoFit/>
          </a:bodyPr>
          <a:lstStyle/>
          <a:p>
            <a:r>
              <a:rPr lang="en-US" sz="2400" b="1" i="1" dirty="0"/>
              <a:t>Gender Equality:</a:t>
            </a:r>
          </a:p>
          <a:p>
            <a:r>
              <a:rPr lang="en-US" sz="2400" b="1" dirty="0"/>
              <a:t>The state or condition that affords women and men equal human rights,  and equal opportunities and resources, to contribute to, and benefit from, all spheres of society (economic, political, social, and cultural)</a:t>
            </a:r>
          </a:p>
          <a:p>
            <a:endParaRPr lang="en-US" sz="2400" b="1" i="1" dirty="0"/>
          </a:p>
          <a:p>
            <a:r>
              <a:rPr lang="en-US" sz="2400" b="1" i="1" dirty="0"/>
              <a:t>Gender Equity:</a:t>
            </a:r>
          </a:p>
          <a:p>
            <a:r>
              <a:rPr lang="en-US" sz="2400" b="1" dirty="0"/>
              <a:t>Justice and fairness in the treatment of women and men in order to eventually achieve gender equality, often requesting differential treatment of women and men (or specific measures) in order to compensate for the historical and social disadvantages that prevent women and men from sharing a level playing field.</a:t>
            </a:r>
            <a:endParaRPr lang="en-US" sz="2400" b="1" i="1" dirty="0"/>
          </a:p>
          <a:p>
            <a:endParaRPr lang="en-US" sz="2200" b="1" dirty="0"/>
          </a:p>
          <a:p>
            <a:r>
              <a:rPr lang="en-US" sz="2400" b="1" i="1" dirty="0">
                <a:effectLst/>
                <a:latin typeface="Calibri" panose="020F0502020204030204" pitchFamily="34" charset="0"/>
                <a:ea typeface="Calibri" panose="020F0502020204030204" pitchFamily="34" charset="0"/>
                <a:cs typeface="Times New Roman" panose="02020603050405020304" pitchFamily="18" charset="0"/>
              </a:rPr>
              <a:t>Achieving greater equality between women and men require changes at many levels, including changes in attitudes and relationships, changes in institutions and legal frameworks, changes in economic institutions, and changes in political decision-making structures</a:t>
            </a:r>
            <a:endParaRPr lang="en-US" sz="2400" i="1"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b="1" i="1" dirty="0"/>
          </a:p>
          <a:p>
            <a:endParaRPr lang="en-US" sz="3600" b="1" i="1" dirty="0"/>
          </a:p>
          <a:p>
            <a:pPr marL="457200" indent="-457200">
              <a:buFont typeface="Wingdings" panose="05000000000000000000" pitchFamily="2" charset="2"/>
              <a:buChar char="Ø"/>
            </a:pPr>
            <a:endParaRPr lang="en-US" sz="3200" dirty="0"/>
          </a:p>
          <a:p>
            <a:r>
              <a:rPr lang="en-US" sz="3200" i="1" dirty="0"/>
              <a:t> </a:t>
            </a:r>
          </a:p>
          <a:p>
            <a:endParaRPr lang="en-US" sz="3200" i="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3041581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139330" y="210656"/>
            <a:ext cx="11941054" cy="89356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3600" b="1" dirty="0">
                <a:solidFill>
                  <a:srgbClr val="3A7CA4"/>
                </a:solidFill>
                <a:latin typeface="+mn-lt"/>
                <a:ea typeface="+mn-ea"/>
                <a:cs typeface="+mn-cs"/>
              </a:rPr>
              <a:t>Patterns of Gender Inequality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7" y="809263"/>
            <a:ext cx="11645778" cy="12166920"/>
          </a:xfrm>
          <a:prstGeom prst="rect">
            <a:avLst/>
          </a:prstGeom>
          <a:noFill/>
        </p:spPr>
        <p:txBody>
          <a:bodyPr wrap="square" rtlCol="0">
            <a:spAutoFit/>
          </a:bodyPr>
          <a:lstStyle/>
          <a:p>
            <a:pPr marL="342900" marR="0" indent="-342900">
              <a:lnSpc>
                <a:spcPct val="107000"/>
              </a:lnSpc>
              <a:spcBef>
                <a:spcPts val="0"/>
              </a:spcBef>
              <a:spcAft>
                <a:spcPts val="0"/>
              </a:spcAft>
              <a:buFont typeface="Wingdings" panose="05000000000000000000" pitchFamily="2" charset="2"/>
              <a:buChar char="Ø"/>
            </a:pPr>
            <a:r>
              <a:rPr lang="en-US" sz="2400" b="1" i="1" dirty="0">
                <a:effectLst/>
                <a:latin typeface="Calibri" panose="020F0502020204030204" pitchFamily="34" charset="0"/>
                <a:ea typeface="Calibri" panose="020F0502020204030204" pitchFamily="34" charset="0"/>
                <a:cs typeface="Times New Roman" panose="02020603050405020304" pitchFamily="18" charset="0"/>
              </a:rPr>
              <a:t>Inequalities in political power and representation: </a:t>
            </a:r>
          </a:p>
          <a:p>
            <a:pPr marR="0">
              <a:lnSpc>
                <a:spcPct val="107000"/>
              </a:lnSpc>
              <a:spcBef>
                <a:spcPts val="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Women are often underrepresented in formal decision-making structures, including governments, community councils, and policy-making institutions. </a:t>
            </a:r>
          </a:p>
          <a:p>
            <a:pPr marL="342900" marR="0" indent="-342900">
              <a:lnSpc>
                <a:spcPct val="107000"/>
              </a:lnSpc>
              <a:spcBef>
                <a:spcPts val="0"/>
              </a:spcBef>
              <a:spcAft>
                <a:spcPts val="0"/>
              </a:spcAft>
              <a:buFont typeface="Wingdings" panose="05000000000000000000" pitchFamily="2" charset="2"/>
              <a:buChar char="Ø"/>
            </a:pPr>
            <a:r>
              <a:rPr lang="en-US" sz="2400" b="1" i="1" dirty="0">
                <a:effectLst/>
                <a:latin typeface="Calibri" panose="020F0502020204030204" pitchFamily="34" charset="0"/>
                <a:ea typeface="Calibri" panose="020F0502020204030204" pitchFamily="34" charset="0"/>
                <a:cs typeface="Times New Roman" panose="02020603050405020304" pitchFamily="18" charset="0"/>
              </a:rPr>
              <a:t>Inequalities in economic participation and opportunities: </a:t>
            </a:r>
          </a:p>
          <a:p>
            <a:pPr marR="0">
              <a:lnSpc>
                <a:spcPct val="107000"/>
              </a:lnSpc>
              <a:spcBef>
                <a:spcPts val="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In most countries, women are receiving lower wages for similar work, are more likely to be in low-paid jobs and unsecured work (part-time, temporary, home-based) and are likely to have less access than men to productive assets such as education, skills, property and credit. </a:t>
            </a:r>
          </a:p>
          <a:p>
            <a:pPr marL="342900" marR="0" indent="-342900">
              <a:spcBef>
                <a:spcPts val="0"/>
              </a:spcBef>
              <a:spcAft>
                <a:spcPts val="0"/>
              </a:spcAft>
              <a:buFont typeface="Wingdings" panose="05000000000000000000" pitchFamily="2" charset="2"/>
              <a:buChar char="Ø"/>
            </a:pPr>
            <a:r>
              <a:rPr lang="en-US" sz="2400" b="1" i="1" dirty="0">
                <a:effectLst/>
                <a:latin typeface="Calibri" panose="020F0502020204030204" pitchFamily="34" charset="0"/>
                <a:ea typeface="Calibri" panose="020F0502020204030204" pitchFamily="34" charset="0"/>
                <a:cs typeface="Times New Roman" panose="02020603050405020304" pitchFamily="18" charset="0"/>
              </a:rPr>
              <a:t>Educational attainment: </a:t>
            </a:r>
          </a:p>
          <a:p>
            <a:pPr marR="0">
              <a:spcBef>
                <a:spcPts val="0"/>
              </a:spcBef>
              <a:spcAft>
                <a:spcPts val="0"/>
              </a:spcAft>
            </a:pPr>
            <a:r>
              <a:rPr lang="en-US" sz="2000" b="1" dirty="0">
                <a:effectLst/>
                <a:latin typeface="Calibri" panose="020F0502020204030204" pitchFamily="34" charset="0"/>
                <a:ea typeface="Calibri" panose="020F0502020204030204" pitchFamily="34" charset="0"/>
                <a:cs typeface="Times New Roman" panose="02020603050405020304" pitchFamily="18" charset="0"/>
              </a:rPr>
              <a:t>In most countries women have lower literacy rate, lower level of enrolment in primary, secondary and tertiary education. </a:t>
            </a:r>
          </a:p>
          <a:p>
            <a:pPr marL="342900" marR="0" indent="-342900">
              <a:spcBef>
                <a:spcPts val="0"/>
              </a:spcBef>
              <a:spcAft>
                <a:spcPts val="0"/>
              </a:spcAft>
              <a:buFont typeface="Wingdings" panose="05000000000000000000" pitchFamily="2" charset="2"/>
              <a:buChar char="Ø"/>
            </a:pPr>
            <a:r>
              <a:rPr lang="en-US" sz="2400" b="1" i="1" dirty="0">
                <a:effectLst/>
                <a:latin typeface="Calibri" panose="020F0502020204030204" pitchFamily="34" charset="0"/>
                <a:ea typeface="Calibri" panose="020F0502020204030204" pitchFamily="34" charset="0"/>
                <a:cs typeface="Times New Roman" panose="02020603050405020304" pitchFamily="18" charset="0"/>
              </a:rPr>
              <a:t>Sexual and domestic violence:</a:t>
            </a:r>
          </a:p>
          <a:p>
            <a:pPr marR="0">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dirty="0">
                <a:effectLst/>
                <a:latin typeface="Calibri" panose="020F0502020204030204" pitchFamily="34" charset="0"/>
                <a:ea typeface="Calibri" panose="020F0502020204030204" pitchFamily="34" charset="0"/>
                <a:cs typeface="Times New Roman" panose="02020603050405020304" pitchFamily="18" charset="0"/>
              </a:rPr>
              <a:t>Women tend to be more often victims of domestic violence,  sexual exploitation through trafficking and sex trade and rape in wars. </a:t>
            </a:r>
          </a:p>
          <a:p>
            <a:pPr marL="342900" marR="0" indent="-342900">
              <a:spcBef>
                <a:spcPts val="0"/>
              </a:spcBef>
              <a:spcAft>
                <a:spcPts val="0"/>
              </a:spcAft>
              <a:buFont typeface="Wingdings" panose="05000000000000000000" pitchFamily="2" charset="2"/>
              <a:buChar char="Ø"/>
            </a:pPr>
            <a:r>
              <a:rPr lang="en-US" sz="2400" b="1" i="1" dirty="0">
                <a:effectLst/>
                <a:latin typeface="Calibri" panose="020F0502020204030204" pitchFamily="34" charset="0"/>
                <a:ea typeface="Calibri" panose="020F0502020204030204" pitchFamily="34" charset="0"/>
                <a:cs typeface="Times New Roman" panose="02020603050405020304" pitchFamily="18" charset="0"/>
              </a:rPr>
              <a:t>Differences in legal status and entitlements:</a:t>
            </a:r>
          </a:p>
          <a:p>
            <a:pPr marR="0">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dirty="0">
                <a:effectLst/>
                <a:latin typeface="Calibri" panose="020F0502020204030204" pitchFamily="34" charset="0"/>
                <a:ea typeface="Calibri" panose="020F0502020204030204" pitchFamily="34" charset="0"/>
                <a:cs typeface="Times New Roman" panose="02020603050405020304" pitchFamily="18" charset="0"/>
              </a:rPr>
              <a:t>Equal rights to personal status, security, land, inheritance, employment opportunities often denied to women by law or practice.</a:t>
            </a:r>
          </a:p>
          <a:p>
            <a:endParaRPr lang="en-US" sz="2800" b="1" dirty="0"/>
          </a:p>
          <a:p>
            <a:pPr marL="457200" indent="-457200">
              <a:buFont typeface="Wingdings" panose="05000000000000000000" pitchFamily="2" charset="2"/>
              <a:buChar char="Ø"/>
            </a:pPr>
            <a:endParaRPr lang="en-US" sz="2800" dirty="0"/>
          </a:p>
          <a:p>
            <a:endParaRPr lang="en-US" sz="2800" b="1" i="1" dirty="0"/>
          </a:p>
          <a:p>
            <a:endParaRPr lang="en-US" sz="3600" b="1" i="1" dirty="0"/>
          </a:p>
          <a:p>
            <a:pPr marL="457200" indent="-457200">
              <a:buFont typeface="Wingdings" panose="05000000000000000000" pitchFamily="2" charset="2"/>
              <a:buChar char="Ø"/>
            </a:pPr>
            <a:endParaRPr lang="en-US" sz="3200" dirty="0"/>
          </a:p>
          <a:p>
            <a:r>
              <a:rPr lang="en-US" sz="3200" i="1" dirty="0"/>
              <a:t> </a:t>
            </a:r>
          </a:p>
          <a:p>
            <a:endParaRPr lang="en-US" sz="3200" i="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28001629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139330" y="210657"/>
            <a:ext cx="11941053" cy="59860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Gender Mainstreaming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7" y="809262"/>
            <a:ext cx="11712453" cy="9418031"/>
          </a:xfrm>
          <a:prstGeom prst="rect">
            <a:avLst/>
          </a:prstGeom>
          <a:noFill/>
        </p:spPr>
        <p:txBody>
          <a:bodyPr wrap="square" rtlCol="0">
            <a:spAutoFit/>
          </a:bodyPr>
          <a:lstStyle/>
          <a:p>
            <a:r>
              <a:rPr lang="en-US" sz="2200" b="1" i="1" dirty="0"/>
              <a:t>Gender Mainstreaming:</a:t>
            </a:r>
          </a:p>
          <a:p>
            <a:r>
              <a:rPr lang="en-US" sz="2200" b="1" dirty="0"/>
              <a:t>The systematic integration of the respective needs, interests and priorities of men and women in all the organization’s policies and activities. This rejects the idea that gender is a separate issue and something to be tacked on as an afterthought.</a:t>
            </a:r>
            <a:endParaRPr lang="en-US" sz="2200" b="1" i="1" dirty="0"/>
          </a:p>
          <a:p>
            <a:endParaRPr lang="en-US" sz="2200" b="1" i="1" dirty="0"/>
          </a:p>
          <a:p>
            <a:r>
              <a:rPr lang="en-US" sz="2200" b="1" i="1" dirty="0"/>
              <a:t>Evolution of Gender Mainstreaming:</a:t>
            </a:r>
          </a:p>
          <a:p>
            <a:pPr eaLnBrk="1" hangingPunct="1"/>
            <a:r>
              <a:rPr lang="en-US" altLang="en-US" sz="2200" b="1" dirty="0"/>
              <a:t>1985: Concept first introduced (Nairobi)</a:t>
            </a:r>
          </a:p>
          <a:p>
            <a:pPr eaLnBrk="1" hangingPunct="1"/>
            <a:r>
              <a:rPr lang="en-US" altLang="en-US" sz="2200" b="1" dirty="0"/>
              <a:t>1995: Further developed at UN Fourth World Conference on Women (Beijing)</a:t>
            </a:r>
          </a:p>
          <a:p>
            <a:pPr eaLnBrk="1" hangingPunct="1"/>
            <a:r>
              <a:rPr lang="en-US" altLang="en-US" sz="2200" b="1" dirty="0">
                <a:solidFill>
                  <a:srgbClr val="003366"/>
                </a:solidFill>
              </a:rPr>
              <a:t>Beijing Platform: “Promote an active and visible policy of mainstreaming a gender perspective”</a:t>
            </a:r>
          </a:p>
          <a:p>
            <a:endParaRPr lang="en-US" sz="2200" i="1" dirty="0"/>
          </a:p>
          <a:p>
            <a:r>
              <a:rPr lang="en-US" sz="2200" b="1" i="1" dirty="0"/>
              <a:t>From WID to GAD</a:t>
            </a:r>
          </a:p>
          <a:p>
            <a:r>
              <a:rPr lang="en-US" sz="2200" b="1" dirty="0"/>
              <a:t>Women in Development (70s $ 80s): Analysis focused on women; Programs exclusively for women</a:t>
            </a:r>
          </a:p>
          <a:p>
            <a:r>
              <a:rPr lang="en-US" sz="2200" b="1" dirty="0"/>
              <a:t>Gender &amp; Development (1990s): Analysis focused on </a:t>
            </a:r>
            <a:r>
              <a:rPr lang="en-US" sz="2200" b="1" kern="1200" dirty="0">
                <a:solidFill>
                  <a:srgbClr val="000000"/>
                </a:solidFill>
                <a:effectLst/>
                <a:latin typeface="Calibri" panose="020F0502020204030204" pitchFamily="34" charset="0"/>
                <a:ea typeface="+mn-ea"/>
                <a:cs typeface="+mn-cs"/>
              </a:rPr>
              <a:t>social, economic, political and cultural forces that determine how men and women participate in, benefit from, and control project resources and activities differently </a:t>
            </a:r>
            <a:endParaRPr lang="en-US" sz="2200" b="1" dirty="0"/>
          </a:p>
          <a:p>
            <a:r>
              <a:rPr lang="en-US" sz="2200" b="1" dirty="0"/>
              <a:t> </a:t>
            </a:r>
            <a:r>
              <a:rPr lang="en-US" sz="2200" b="1" kern="1200" dirty="0">
                <a:solidFill>
                  <a:srgbClr val="000000"/>
                </a:solidFill>
                <a:effectLst/>
                <a:latin typeface="Calibri" panose="020F0502020204030204" pitchFamily="34" charset="0"/>
                <a:ea typeface="+mn-ea"/>
                <a:cs typeface="+mn-cs"/>
              </a:rPr>
              <a:t>The GAD approach promotes a development process that transforms gender relations in order to enable women to participate on an equal basis with men in determining their common future</a:t>
            </a:r>
            <a:endParaRPr lang="en-US" sz="2200" b="1" dirty="0"/>
          </a:p>
          <a:p>
            <a:endParaRPr lang="en-US" sz="3200"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4216002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139330" y="210657"/>
            <a:ext cx="11941053" cy="59860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Gender Mainstreaming: Strategies &amp; Tools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139331" y="1190625"/>
            <a:ext cx="11824070" cy="6577698"/>
          </a:xfrm>
          <a:prstGeom prst="rect">
            <a:avLst/>
          </a:prstGeom>
          <a:noFill/>
        </p:spPr>
        <p:txBody>
          <a:bodyPr wrap="square" rtlCol="0">
            <a:spAutoFit/>
          </a:bodyPr>
          <a:lstStyle/>
          <a:p>
            <a:pPr marL="342900" marR="0" indent="-342900" fontAlgn="base">
              <a:lnSpc>
                <a:spcPct val="107000"/>
              </a:lnSpc>
              <a:spcBef>
                <a:spcPts val="0"/>
              </a:spcBef>
              <a:spcAft>
                <a:spcPts val="0"/>
              </a:spcAft>
              <a:buFont typeface="Wingdings" panose="05000000000000000000" pitchFamily="2" charset="2"/>
              <a:buChar char="Ø"/>
            </a:pPr>
            <a:r>
              <a:rPr lang="en-US" sz="2400" b="1" kern="1200" dirty="0">
                <a:effectLst/>
                <a:ea typeface="+mn-ea"/>
                <a:cs typeface="Calibri" panose="020F0502020204030204" pitchFamily="34" charset="0"/>
              </a:rPr>
              <a:t>Involve women and men in consultations</a:t>
            </a:r>
            <a:endParaRPr lang="en-US" sz="2400" b="1" dirty="0">
              <a:effectLst/>
              <a:ea typeface="Calibri" panose="020F0502020204030204" pitchFamily="34" charset="0"/>
              <a:cs typeface="Times New Roman" panose="02020603050405020304" pitchFamily="18" charset="0"/>
            </a:endParaRPr>
          </a:p>
          <a:p>
            <a:pPr marL="342900" marR="0" indent="-342900" fontAlgn="base">
              <a:lnSpc>
                <a:spcPct val="107000"/>
              </a:lnSpc>
              <a:spcBef>
                <a:spcPts val="0"/>
              </a:spcBef>
              <a:spcAft>
                <a:spcPts val="0"/>
              </a:spcAft>
              <a:buFont typeface="Wingdings" panose="05000000000000000000" pitchFamily="2" charset="2"/>
              <a:buChar char="Ø"/>
            </a:pPr>
            <a:r>
              <a:rPr lang="en-US" sz="2400" b="1" kern="1200" dirty="0">
                <a:effectLst/>
                <a:ea typeface="+mn-ea"/>
                <a:cs typeface="Calibri" panose="020F0502020204030204" pitchFamily="34" charset="0"/>
              </a:rPr>
              <a:t>Include sex-disaggregated data</a:t>
            </a:r>
            <a:endParaRPr lang="en-US" sz="2400" b="1" dirty="0">
              <a:effectLst/>
              <a:ea typeface="Calibri" panose="020F0502020204030204" pitchFamily="34" charset="0"/>
              <a:cs typeface="Times New Roman" panose="02020603050405020304" pitchFamily="18" charset="0"/>
            </a:endParaRPr>
          </a:p>
          <a:p>
            <a:pPr marL="342900" marR="0" indent="-342900" fontAlgn="base">
              <a:lnSpc>
                <a:spcPct val="107000"/>
              </a:lnSpc>
              <a:spcBef>
                <a:spcPts val="0"/>
              </a:spcBef>
              <a:spcAft>
                <a:spcPts val="0"/>
              </a:spcAft>
              <a:buFont typeface="Wingdings" panose="05000000000000000000" pitchFamily="2" charset="2"/>
              <a:buChar char="Ø"/>
            </a:pPr>
            <a:r>
              <a:rPr lang="en-US" sz="2400" b="1" kern="1200" dirty="0">
                <a:effectLst/>
                <a:ea typeface="+mn-ea"/>
                <a:cs typeface="Calibri" panose="020F0502020204030204" pitchFamily="34" charset="0"/>
              </a:rPr>
              <a:t>Formulate gender-sensitive and/or specific objectives, indicators and activities</a:t>
            </a:r>
            <a:endParaRPr lang="en-US" sz="2400" b="1" dirty="0">
              <a:effectLs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Font typeface="Wingdings" panose="05000000000000000000" pitchFamily="2" charset="2"/>
              <a:buChar char="Ø"/>
            </a:pPr>
            <a:r>
              <a:rPr lang="en-US" sz="2400" b="1" dirty="0">
                <a:effectLst/>
                <a:ea typeface="Calibri" panose="020F0502020204030204" pitchFamily="34" charset="0"/>
                <a:cs typeface="Calibri" panose="020F0502020204030204" pitchFamily="34" charset="0"/>
              </a:rPr>
              <a:t>Strive for gender balance in staff/experts</a:t>
            </a:r>
            <a:endParaRPr lang="en-US" sz="2400" b="1" dirty="0">
              <a:effectLs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Font typeface="Wingdings" panose="05000000000000000000" pitchFamily="2" charset="2"/>
              <a:buChar char="Ø"/>
            </a:pPr>
            <a:r>
              <a:rPr lang="en-GB" sz="2400" b="1" dirty="0">
                <a:effectLst/>
                <a:ea typeface="Calibri" panose="020F0502020204030204" pitchFamily="34" charset="0"/>
                <a:cs typeface="Calibri" panose="020F0502020204030204" pitchFamily="34" charset="0"/>
              </a:rPr>
              <a:t>Enable women and men to participate equally and benefit equally</a:t>
            </a:r>
            <a:endParaRPr lang="en-US" sz="2400" b="1" dirty="0">
              <a:effectLs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Font typeface="Wingdings" panose="05000000000000000000" pitchFamily="2" charset="2"/>
              <a:buChar char="Ø"/>
            </a:pPr>
            <a:r>
              <a:rPr lang="en-US" sz="2400" b="1" dirty="0">
                <a:effectLst/>
                <a:ea typeface="Calibri" panose="020F0502020204030204" pitchFamily="34" charset="0"/>
                <a:cs typeface="Calibri" panose="020F0502020204030204" pitchFamily="34" charset="0"/>
              </a:rPr>
              <a:t>Include gender in program design</a:t>
            </a:r>
          </a:p>
          <a:p>
            <a:pPr marL="342900" marR="0" indent="-342900">
              <a:lnSpc>
                <a:spcPct val="107000"/>
              </a:lnSpc>
              <a:spcBef>
                <a:spcPts val="0"/>
              </a:spcBef>
              <a:spcAft>
                <a:spcPts val="0"/>
              </a:spcAft>
              <a:buFont typeface="Wingdings" panose="05000000000000000000" pitchFamily="2" charset="2"/>
              <a:buChar char="Ø"/>
            </a:pPr>
            <a:r>
              <a:rPr lang="en-US" sz="2400" b="1" dirty="0">
                <a:ea typeface="Calibri" panose="020F0502020204030204" pitchFamily="34" charset="0"/>
                <a:cs typeface="Calibri" panose="020F0502020204030204" pitchFamily="34" charset="0"/>
              </a:rPr>
              <a:t>Include gender in </a:t>
            </a:r>
            <a:r>
              <a:rPr lang="en-US" sz="2400" b="1" dirty="0">
                <a:effectLst/>
                <a:ea typeface="Calibri" panose="020F0502020204030204" pitchFamily="34" charset="0"/>
                <a:cs typeface="Calibri" panose="020F0502020204030204" pitchFamily="34" charset="0"/>
              </a:rPr>
              <a:t>evaluations</a:t>
            </a:r>
            <a:endParaRPr lang="en-US" sz="2400" b="1" dirty="0">
              <a:effectLst/>
              <a:ea typeface="Calibri" panose="020F0502020204030204" pitchFamily="34" charset="0"/>
              <a:cs typeface="Times New Roman" panose="02020603050405020304" pitchFamily="18" charset="0"/>
            </a:endParaRPr>
          </a:p>
          <a:p>
            <a:pPr marL="342900" marR="0" indent="-342900">
              <a:lnSpc>
                <a:spcPct val="107000"/>
              </a:lnSpc>
              <a:spcBef>
                <a:spcPts val="0"/>
              </a:spcBef>
              <a:spcAft>
                <a:spcPts val="0"/>
              </a:spcAft>
              <a:buFont typeface="Wingdings" panose="05000000000000000000" pitchFamily="2" charset="2"/>
              <a:buChar char="Ø"/>
            </a:pPr>
            <a:r>
              <a:rPr lang="en-GB" sz="2400" b="1" dirty="0">
                <a:effectLst/>
                <a:ea typeface="Calibri" panose="020F0502020204030204" pitchFamily="34" charset="0"/>
                <a:cs typeface="Calibri" panose="020F0502020204030204" pitchFamily="34" charset="0"/>
              </a:rPr>
              <a:t>Always ask: “</a:t>
            </a:r>
            <a:r>
              <a:rPr lang="en-US" sz="2400" b="1" dirty="0">
                <a:effectLst/>
                <a:ea typeface="Calibri" panose="020F0502020204030204" pitchFamily="34" charset="0"/>
                <a:cs typeface="Calibri" panose="020F0502020204030204" pitchFamily="34" charset="0"/>
              </a:rPr>
              <a:t>How will this affect women and men?”</a:t>
            </a:r>
            <a:endParaRPr lang="en-US" sz="2400" b="1" dirty="0">
              <a:effectLst/>
              <a:ea typeface="Calibri" panose="020F0502020204030204" pitchFamily="34" charset="0"/>
              <a:cs typeface="Times New Roman" panose="02020603050405020304" pitchFamily="18" charset="0"/>
            </a:endParaRPr>
          </a:p>
          <a:p>
            <a:pPr marL="342900" indent="-342900">
              <a:buFont typeface="Wingdings" panose="05000000000000000000" pitchFamily="2" charset="2"/>
              <a:buChar char="Ø"/>
            </a:pPr>
            <a:endParaRPr lang="en-US" sz="2400" b="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1531751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22FB7F4-91DD-45A4-9C61-763697A3E99A}"/>
              </a:ext>
            </a:extLst>
          </p:cNvPr>
          <p:cNvSpPr>
            <a:spLocks noGrp="1"/>
          </p:cNvSpPr>
          <p:nvPr>
            <p:ph type="title"/>
          </p:nvPr>
        </p:nvSpPr>
        <p:spPr>
          <a:xfrm>
            <a:off x="2118573" y="104928"/>
            <a:ext cx="9759101" cy="685647"/>
          </a:xfrm>
        </p:spPr>
        <p:txBody>
          <a:bodyPr rtlCol="0">
            <a:noAutofit/>
          </a:bodyPr>
          <a:lstStyle/>
          <a:p>
            <a:pPr>
              <a:defRPr/>
            </a:pPr>
            <a:r>
              <a:rPr lang="en-US" sz="3600" b="1" cap="all" dirty="0">
                <a:solidFill>
                  <a:srgbClr val="003366"/>
                </a:solidFill>
                <a:effectLst>
                  <a:outerShdw blurRad="38100" dist="38100" dir="2700000" algn="tl">
                    <a:srgbClr val="000000">
                      <a:alpha val="43137"/>
                    </a:srgbClr>
                  </a:outerShdw>
                </a:effectLst>
              </a:rPr>
              <a:t>Compensating for inequities:</a:t>
            </a:r>
            <a:br>
              <a:rPr lang="en-US" sz="3600" b="1" cap="all" dirty="0">
                <a:solidFill>
                  <a:srgbClr val="003366"/>
                </a:solidFill>
                <a:effectLst>
                  <a:outerShdw blurRad="38100" dist="38100" dir="2700000" algn="tl">
                    <a:srgbClr val="000000">
                      <a:alpha val="43137"/>
                    </a:srgbClr>
                  </a:outerShdw>
                </a:effectLst>
              </a:rPr>
            </a:br>
            <a:r>
              <a:rPr lang="en-US" sz="2800" b="1" dirty="0">
                <a:solidFill>
                  <a:srgbClr val="003366"/>
                </a:solidFill>
                <a:effectLst>
                  <a:outerShdw blurRad="38100" dist="38100" dir="2700000" algn="tl">
                    <a:srgbClr val="000000">
                      <a:alpha val="43137"/>
                    </a:srgbClr>
                  </a:outerShdw>
                </a:effectLst>
              </a:rPr>
              <a:t>Need For Affirmative Action</a:t>
            </a:r>
            <a:endParaRPr lang="en-US" sz="2800" b="1" cap="all" dirty="0">
              <a:solidFill>
                <a:srgbClr val="003366"/>
              </a:solidFill>
              <a:effectLst>
                <a:outerShdw blurRad="38100" dist="38100" dir="2700000" algn="tl">
                  <a:srgbClr val="000000">
                    <a:alpha val="43137"/>
                  </a:srgbClr>
                </a:outerShdw>
              </a:effectLst>
            </a:endParaRPr>
          </a:p>
        </p:txBody>
      </p:sp>
      <p:pic>
        <p:nvPicPr>
          <p:cNvPr id="6" name="Picture 2">
            <a:extLst>
              <a:ext uri="{FF2B5EF4-FFF2-40B4-BE49-F238E27FC236}">
                <a16:creationId xmlns:a16="http://schemas.microsoft.com/office/drawing/2014/main" id="{32E52774-FE60-4A41-A470-414A14ABBDEE}"/>
              </a:ext>
            </a:extLst>
          </p:cNvPr>
          <p:cNvPicPr>
            <a:picLocks noChangeAspect="1" noChangeArrowheads="1"/>
          </p:cNvPicPr>
          <p:nvPr/>
        </p:nvPicPr>
        <p:blipFill rotWithShape="1">
          <a:blip r:embed="rId3" cstate="print">
            <a:clrChange>
              <a:clrFrom>
                <a:srgbClr val="D9E8A3"/>
              </a:clrFrom>
              <a:clrTo>
                <a:srgbClr val="D9E8A3">
                  <a:alpha val="0"/>
                </a:srgbClr>
              </a:clrTo>
            </a:clrChange>
            <a:duotone>
              <a:schemeClr val="accent5">
                <a:shade val="45000"/>
                <a:satMod val="135000"/>
              </a:schemeClr>
              <a:prstClr val="white"/>
            </a:duotone>
          </a:blip>
          <a:srcRect r="66504"/>
          <a:stretch/>
        </p:blipFill>
        <p:spPr bwMode="auto">
          <a:xfrm>
            <a:off x="1447800" y="1"/>
            <a:ext cx="670774" cy="6858000"/>
          </a:xfrm>
          <a:prstGeom prst="rect">
            <a:avLst/>
          </a:prstGeom>
          <a:noFill/>
          <a:ln>
            <a:noFill/>
          </a:ln>
          <a:effectLst>
            <a:glow>
              <a:schemeClr val="accent1">
                <a:alpha val="40000"/>
              </a:schemeClr>
            </a:glow>
            <a:outerShdw dist="35921" dir="2700000" algn="ctr" rotWithShape="0">
              <a:schemeClr val="bg2">
                <a:alpha val="0"/>
              </a:schemeClr>
            </a:outerShdw>
          </a:effectLst>
        </p:spPr>
      </p:pic>
      <p:pic>
        <p:nvPicPr>
          <p:cNvPr id="7" name="Picture 2">
            <a:extLst>
              <a:ext uri="{FF2B5EF4-FFF2-40B4-BE49-F238E27FC236}">
                <a16:creationId xmlns:a16="http://schemas.microsoft.com/office/drawing/2014/main" id="{9268D94A-66D8-4290-A62B-F7ADEDEBC38E}"/>
              </a:ext>
            </a:extLst>
          </p:cNvPr>
          <p:cNvPicPr>
            <a:picLocks noChangeAspect="1" noChangeArrowheads="1"/>
          </p:cNvPicPr>
          <p:nvPr/>
        </p:nvPicPr>
        <p:blipFill rotWithShape="1">
          <a:blip r:embed="rId3" cstate="print">
            <a:clrChange>
              <a:clrFrom>
                <a:srgbClr val="D9E8A3"/>
              </a:clrFrom>
              <a:clrTo>
                <a:srgbClr val="D9E8A3">
                  <a:alpha val="0"/>
                </a:srgbClr>
              </a:clrTo>
            </a:clrChange>
            <a:duotone>
              <a:schemeClr val="accent5">
                <a:shade val="45000"/>
                <a:satMod val="135000"/>
              </a:schemeClr>
              <a:prstClr val="white"/>
            </a:duotone>
          </a:blip>
          <a:srcRect r="66504"/>
          <a:stretch/>
        </p:blipFill>
        <p:spPr bwMode="auto">
          <a:xfrm>
            <a:off x="2078768" y="0"/>
            <a:ext cx="45719" cy="6858000"/>
          </a:xfrm>
          <a:prstGeom prst="rect">
            <a:avLst/>
          </a:prstGeom>
          <a:noFill/>
          <a:ln>
            <a:noFill/>
          </a:ln>
          <a:effectLst>
            <a:glow>
              <a:schemeClr val="accent1">
                <a:alpha val="40000"/>
              </a:schemeClr>
            </a:glow>
            <a:outerShdw dist="35921" dir="2700000" algn="ctr" rotWithShape="0">
              <a:schemeClr val="bg2">
                <a:alpha val="0"/>
              </a:schemeClr>
            </a:outerShdw>
          </a:effectLst>
        </p:spPr>
      </p:pic>
      <p:pic>
        <p:nvPicPr>
          <p:cNvPr id="8" name="Picture 7" descr="logo_ndi">
            <a:extLst>
              <a:ext uri="{FF2B5EF4-FFF2-40B4-BE49-F238E27FC236}">
                <a16:creationId xmlns:a16="http://schemas.microsoft.com/office/drawing/2014/main" id="{B3E60A2F-3628-4C82-B094-F1EEC1C68F32}"/>
              </a:ext>
            </a:extLst>
          </p:cNvPr>
          <p:cNvPicPr>
            <a:picLocks noChangeAspect="1" noChangeArrowheads="1"/>
          </p:cNvPicPr>
          <p:nvPr/>
        </p:nvPicPr>
        <p:blipFill>
          <a:blip r:embed="rId4" cstate="print">
            <a:clrChange>
              <a:clrFrom>
                <a:srgbClr val="FFFFFF"/>
              </a:clrFrom>
              <a:clrTo>
                <a:srgbClr val="FFFFFF">
                  <a:alpha val="0"/>
                </a:srgbClr>
              </a:clrTo>
            </a:clrChange>
            <a:duotone>
              <a:schemeClr val="accent1">
                <a:shade val="45000"/>
                <a:satMod val="135000"/>
              </a:schemeClr>
              <a:prstClr val="white"/>
            </a:duotone>
          </a:blip>
          <a:srcRect/>
          <a:stretch>
            <a:fillRect/>
          </a:stretch>
        </p:blipFill>
        <p:spPr bwMode="auto">
          <a:xfrm>
            <a:off x="10696891" y="5286375"/>
            <a:ext cx="1449389" cy="962025"/>
          </a:xfrm>
          <a:prstGeom prst="rect">
            <a:avLst/>
          </a:prstGeom>
          <a:noFill/>
          <a:ln>
            <a:noFill/>
          </a:ln>
          <a:effectLst/>
        </p:spPr>
      </p:pic>
      <p:sp>
        <p:nvSpPr>
          <p:cNvPr id="43014" name="Text Placeholder 1">
            <a:extLst>
              <a:ext uri="{FF2B5EF4-FFF2-40B4-BE49-F238E27FC236}">
                <a16:creationId xmlns:a16="http://schemas.microsoft.com/office/drawing/2014/main" id="{D4780CFE-6653-406B-BAB8-581C5FF13DA7}"/>
              </a:ext>
            </a:extLst>
          </p:cNvPr>
          <p:cNvSpPr>
            <a:spLocks noGrp="1"/>
          </p:cNvSpPr>
          <p:nvPr>
            <p:ph type="body" sz="half" idx="1"/>
          </p:nvPr>
        </p:nvSpPr>
        <p:spPr>
          <a:xfrm>
            <a:off x="2749550" y="1828800"/>
            <a:ext cx="7918450" cy="4419600"/>
          </a:xfrm>
        </p:spPr>
        <p:txBody>
          <a:bodyPr/>
          <a:lstStyle/>
          <a:p>
            <a:pPr marL="342900" lvl="1" indent="-342900"/>
            <a:endParaRPr lang="en-US" altLang="en-US">
              <a:solidFill>
                <a:srgbClr val="003366"/>
              </a:solidFill>
            </a:endParaRPr>
          </a:p>
          <a:p>
            <a:pPr eaLnBrk="1" hangingPunct="1">
              <a:buFont typeface="Arial" panose="020B0604020202020204" pitchFamily="34" charset="0"/>
              <a:buNone/>
            </a:pPr>
            <a:endParaRPr lang="en-US" altLang="en-US">
              <a:solidFill>
                <a:srgbClr val="003366"/>
              </a:solidFill>
            </a:endParaRPr>
          </a:p>
        </p:txBody>
      </p:sp>
      <p:pic>
        <p:nvPicPr>
          <p:cNvPr id="43015" name="Picture 2" descr="C:\Users\Amy\Desktop\NED Modules\Modules\Gender Women Politics\Iris de Caluwe.jpg">
            <a:extLst>
              <a:ext uri="{FF2B5EF4-FFF2-40B4-BE49-F238E27FC236}">
                <a16:creationId xmlns:a16="http://schemas.microsoft.com/office/drawing/2014/main" id="{CE92A4A9-B531-45D4-A06A-1320A6AB85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0" y="895502"/>
            <a:ext cx="8210549" cy="5538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TextBox 9">
            <a:extLst>
              <a:ext uri="{FF2B5EF4-FFF2-40B4-BE49-F238E27FC236}">
                <a16:creationId xmlns:a16="http://schemas.microsoft.com/office/drawing/2014/main" id="{E48269F5-EB88-491F-A382-5A3BCF660BC9}"/>
              </a:ext>
            </a:extLst>
          </p:cNvPr>
          <p:cNvSpPr txBox="1">
            <a:spLocks noChangeArrowheads="1"/>
          </p:cNvSpPr>
          <p:nvPr/>
        </p:nvSpPr>
        <p:spPr bwMode="auto">
          <a:xfrm>
            <a:off x="4114800" y="6172200"/>
            <a:ext cx="1905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r>
              <a:rPr lang="en-US" altLang="en-US" sz="1100"/>
              <a:t>Image: Iris de Caluwe</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139330" y="210656"/>
            <a:ext cx="11941053" cy="7217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Women are not a Homogenous Group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7" y="932441"/>
            <a:ext cx="11721978" cy="10556736"/>
          </a:xfrm>
          <a:prstGeom prst="rect">
            <a:avLst/>
          </a:prstGeom>
          <a:noFill/>
        </p:spPr>
        <p:txBody>
          <a:bodyPr wrap="square" rtlCol="0">
            <a:spAutoFit/>
          </a:bodyPr>
          <a:lstStyle/>
          <a:p>
            <a:pPr lvl="1"/>
            <a:endParaRPr lang="en-US" sz="2000" i="1" dirty="0"/>
          </a:p>
          <a:p>
            <a:r>
              <a:rPr lang="en-US" sz="2800" b="1" i="1" dirty="0"/>
              <a:t>Differences exist due to:</a:t>
            </a:r>
          </a:p>
          <a:p>
            <a:pPr lvl="1"/>
            <a:r>
              <a:rPr lang="en-US" altLang="en-US" sz="2800" b="1" dirty="0"/>
              <a:t>Class</a:t>
            </a:r>
          </a:p>
          <a:p>
            <a:pPr lvl="1"/>
            <a:r>
              <a:rPr lang="en-US" altLang="en-US" sz="2800" b="1" dirty="0"/>
              <a:t>Location</a:t>
            </a:r>
          </a:p>
          <a:p>
            <a:pPr lvl="1"/>
            <a:r>
              <a:rPr lang="en-US" altLang="en-US" sz="2800" b="1" dirty="0"/>
              <a:t>Ethnicity</a:t>
            </a:r>
          </a:p>
          <a:p>
            <a:pPr lvl="1"/>
            <a:r>
              <a:rPr lang="en-US" altLang="en-US" sz="2800" b="1" dirty="0"/>
              <a:t>Religion</a:t>
            </a:r>
          </a:p>
          <a:p>
            <a:pPr lvl="1"/>
            <a:r>
              <a:rPr lang="en-US" altLang="en-US" sz="2800" b="1" dirty="0"/>
              <a:t>Age</a:t>
            </a:r>
          </a:p>
          <a:p>
            <a:pPr lvl="1"/>
            <a:r>
              <a:rPr lang="en-US" altLang="en-US" sz="2800" b="1" dirty="0"/>
              <a:t>Education</a:t>
            </a:r>
          </a:p>
          <a:p>
            <a:pPr lvl="1"/>
            <a:r>
              <a:rPr lang="en-US" altLang="en-US" sz="2800" b="1" dirty="0"/>
              <a:t>Language</a:t>
            </a:r>
          </a:p>
          <a:p>
            <a:pPr lvl="1"/>
            <a:r>
              <a:rPr lang="en-US" altLang="en-US" sz="2800" b="1" dirty="0"/>
              <a:t>Disabilities</a:t>
            </a:r>
          </a:p>
          <a:p>
            <a:endParaRPr lang="en-US" sz="2800" b="1" dirty="0"/>
          </a:p>
          <a:p>
            <a:r>
              <a:rPr lang="en-US" sz="2800" b="1" i="1" dirty="0"/>
              <a:t>Important to distinguish when designing programs</a:t>
            </a:r>
            <a:endParaRPr lang="en-US" sz="2800" i="1" dirty="0"/>
          </a:p>
          <a:p>
            <a:endParaRPr lang="en-US" sz="2800" b="1" i="1" dirty="0"/>
          </a:p>
          <a:p>
            <a:endParaRPr lang="en-US" sz="3600" b="1" i="1" dirty="0"/>
          </a:p>
          <a:p>
            <a:pPr marL="457200" indent="-457200">
              <a:buFont typeface="Wingdings" panose="05000000000000000000" pitchFamily="2" charset="2"/>
              <a:buChar char="Ø"/>
            </a:pPr>
            <a:endParaRPr lang="en-US" sz="3200" dirty="0"/>
          </a:p>
          <a:p>
            <a:r>
              <a:rPr lang="en-US" sz="3200" i="1" dirty="0"/>
              <a:t> </a:t>
            </a:r>
          </a:p>
          <a:p>
            <a:endParaRPr lang="en-US" sz="3200" i="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705656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139330" y="210656"/>
            <a:ext cx="11941053" cy="89356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3600" b="1" dirty="0">
                <a:solidFill>
                  <a:srgbClr val="3A7CA4"/>
                </a:solidFill>
                <a:latin typeface="+mn-lt"/>
                <a:ea typeface="+mn-ea"/>
                <a:cs typeface="+mn-cs"/>
              </a:rPr>
              <a:t>Bangladesh is a Signatory to CEDAW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7" y="932441"/>
            <a:ext cx="11474328" cy="8463855"/>
          </a:xfrm>
          <a:prstGeom prst="rect">
            <a:avLst/>
          </a:prstGeom>
          <a:noFill/>
        </p:spPr>
        <p:txBody>
          <a:bodyPr wrap="square" rtlCol="0">
            <a:spAutoFit/>
          </a:bodyPr>
          <a:lstStyle/>
          <a:p>
            <a:pPr lvl="1"/>
            <a:endParaRPr lang="en-US" sz="2000" i="1" dirty="0"/>
          </a:p>
          <a:p>
            <a:r>
              <a:rPr lang="en-US" altLang="en-US" sz="2400" b="1" dirty="0"/>
              <a:t>The United Nations Convention on the Elimination of all Forms of Discrimination against Women (CEDAW) defines discrimination against women as “any distinction, exclusion or restriction made on the basis of sex which has the effect or purpose of impairing or nullifying the recognition, enjoyment or exercise by women, irrespective of their marital status, on a basis of equality of men and women, of human rights and fundamental freedoms in the political, economic, social, cultural, civil or any other field.” (1979)</a:t>
            </a:r>
            <a:endParaRPr lang="en-US" sz="2400" b="1" dirty="0"/>
          </a:p>
          <a:p>
            <a:pPr marL="457200" indent="-457200">
              <a:buFont typeface="Wingdings" panose="05000000000000000000" pitchFamily="2" charset="2"/>
              <a:buChar char="Ø"/>
            </a:pPr>
            <a:endParaRPr lang="en-US" sz="2800" dirty="0"/>
          </a:p>
          <a:p>
            <a:endParaRPr lang="en-US" sz="2800" b="1" i="1" dirty="0"/>
          </a:p>
          <a:p>
            <a:endParaRPr lang="en-US" sz="3600" b="1" i="1" dirty="0"/>
          </a:p>
          <a:p>
            <a:pPr marL="457200" indent="-457200">
              <a:buFont typeface="Wingdings" panose="05000000000000000000" pitchFamily="2" charset="2"/>
              <a:buChar char="Ø"/>
            </a:pPr>
            <a:endParaRPr lang="en-US" sz="3200" dirty="0"/>
          </a:p>
          <a:p>
            <a:r>
              <a:rPr lang="en-US" sz="3200" i="1" dirty="0"/>
              <a:t> </a:t>
            </a:r>
          </a:p>
          <a:p>
            <a:endParaRPr lang="en-US" sz="3200" i="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1374852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139330" y="210656"/>
            <a:ext cx="11941053" cy="7217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3600" b="1" dirty="0">
                <a:solidFill>
                  <a:srgbClr val="3A7CA4"/>
                </a:solidFill>
                <a:latin typeface="+mn-lt"/>
                <a:ea typeface="+mn-ea"/>
                <a:cs typeface="+mn-cs"/>
              </a:rPr>
              <a:t>Beijing Declaration and Platform for Action: 1995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7" y="809262"/>
            <a:ext cx="11598153" cy="12183853"/>
          </a:xfrm>
          <a:prstGeom prst="rect">
            <a:avLst/>
          </a:prstGeom>
          <a:noFill/>
        </p:spPr>
        <p:txBody>
          <a:bodyPr wrap="square" rtlCol="0">
            <a:spAutoFit/>
          </a:bodyPr>
          <a:lstStyle/>
          <a:p>
            <a:r>
              <a:rPr lang="en-US" sz="2400" b="1" dirty="0"/>
              <a:t>The outcome document of the Fourth World Conference on Women in September 1995, considered as blueprint for improving position of women and advancing women’s rights.</a:t>
            </a:r>
          </a:p>
          <a:p>
            <a:endParaRPr lang="en-US" sz="2400" b="1" dirty="0"/>
          </a:p>
          <a:p>
            <a:r>
              <a:rPr lang="en-US" sz="2400" b="1" i="1" dirty="0"/>
              <a:t>Strategic Objectives</a:t>
            </a:r>
          </a:p>
          <a:p>
            <a:pPr marL="285750" marR="0" indent="-285750">
              <a:lnSpc>
                <a:spcPct val="107000"/>
              </a:lnSpc>
              <a:spcBef>
                <a:spcPts val="0"/>
              </a:spcBef>
              <a:spcAft>
                <a:spcPts val="0"/>
              </a:spcAft>
              <a:buFont typeface="Wingdings" panose="05000000000000000000" pitchFamily="2" charset="2"/>
              <a:buChar char="Ø"/>
            </a:pPr>
            <a:r>
              <a:rPr lang="en-US" sz="2400" b="1" dirty="0">
                <a:effectLst/>
                <a:latin typeface="Calibri" panose="020F0502020204030204" pitchFamily="34" charset="0"/>
                <a:ea typeface="Calibri" panose="020F0502020204030204" pitchFamily="34" charset="0"/>
                <a:cs typeface="Times New Roman" panose="02020603050405020304" pitchFamily="18" charset="0"/>
              </a:rPr>
              <a:t>Women and Poverty: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Revise laws and administrative practices to ensure women’s equal rights and access to economic resources.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0"/>
              </a:spcAft>
              <a:buFont typeface="Wingdings" panose="05000000000000000000" pitchFamily="2" charset="2"/>
              <a:buChar char="Ø"/>
            </a:pPr>
            <a:r>
              <a:rPr lang="en-US" sz="2400" b="1" dirty="0">
                <a:effectLst/>
                <a:latin typeface="Calibri" panose="020F0502020204030204" pitchFamily="34" charset="0"/>
                <a:ea typeface="Calibri" panose="020F0502020204030204" pitchFamily="34" charset="0"/>
                <a:cs typeface="Times New Roman" panose="02020603050405020304" pitchFamily="18" charset="0"/>
              </a:rPr>
              <a:t>Women and the Economy: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107000"/>
              </a:lnSpc>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Promote women’s economic rights and independence, including access to employment and appropriate working conditions and control over economic resources; Strengthen women’s economic capacity and eliminate all forms of employment discrimination.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285750" marR="0" indent="-285750">
              <a:lnSpc>
                <a:spcPct val="107000"/>
              </a:lnSpc>
              <a:spcBef>
                <a:spcPts val="0"/>
              </a:spcBef>
              <a:spcAft>
                <a:spcPts val="0"/>
              </a:spcAft>
              <a:buFont typeface="Wingdings" panose="05000000000000000000" pitchFamily="2" charset="2"/>
              <a:buChar char="Ø"/>
            </a:pPr>
            <a:r>
              <a:rPr lang="en-US" sz="2400" b="1" dirty="0">
                <a:effectLst/>
                <a:latin typeface="Calibri" panose="020F0502020204030204" pitchFamily="34" charset="0"/>
                <a:ea typeface="Calibri" panose="020F0502020204030204" pitchFamily="34" charset="0"/>
                <a:cs typeface="Times New Roman" panose="02020603050405020304" pitchFamily="18" charset="0"/>
              </a:rPr>
              <a:t>Women in Power and Decision-Making: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Take measures to ensure women’s equal access to and full participation in power structures and decision-making.</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2400" b="1" dirty="0">
                <a:effectLst/>
                <a:latin typeface="Calibri" panose="020F0502020204030204" pitchFamily="34" charset="0"/>
                <a:ea typeface="Calibri" panose="020F0502020204030204" pitchFamily="34" charset="0"/>
                <a:cs typeface="Times New Roman" panose="02020603050405020304" pitchFamily="18" charset="0"/>
              </a:rPr>
              <a:t>Integrate gender perspectives in legislation, public policies, programs and projects.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800" dirty="0"/>
          </a:p>
          <a:p>
            <a:endParaRPr lang="en-US" sz="2800" b="1" i="1" dirty="0"/>
          </a:p>
          <a:p>
            <a:endParaRPr lang="en-US" sz="3600" b="1" i="1" dirty="0"/>
          </a:p>
          <a:p>
            <a:pPr marL="457200" indent="-457200">
              <a:buFont typeface="Wingdings" panose="05000000000000000000" pitchFamily="2" charset="2"/>
              <a:buChar char="Ø"/>
            </a:pPr>
            <a:endParaRPr lang="en-US" sz="3200" dirty="0"/>
          </a:p>
          <a:p>
            <a:r>
              <a:rPr lang="en-US" sz="3200" i="1" dirty="0"/>
              <a:t> </a:t>
            </a:r>
          </a:p>
          <a:p>
            <a:endParaRPr lang="en-US" sz="3200" i="1" dirty="0"/>
          </a:p>
          <a:p>
            <a:endParaRPr lang="en-US" sz="3200" i="1" dirty="0"/>
          </a:p>
          <a:p>
            <a:endParaRPr lang="en-US" sz="3200" i="1" dirty="0"/>
          </a:p>
          <a:p>
            <a:endParaRPr lang="en-US" sz="2000" i="1" dirty="0"/>
          </a:p>
          <a:p>
            <a:endParaRPr lang="en-US" sz="2000" i="1" dirty="0"/>
          </a:p>
          <a:p>
            <a:endParaRPr lang="en-US" sz="2000" i="1" dirty="0"/>
          </a:p>
          <a:p>
            <a:endParaRPr lang="en-US" sz="2000" dirty="0"/>
          </a:p>
          <a:p>
            <a:pPr marL="742950" lvl="1" indent="-285750">
              <a:buFont typeface="Arial"/>
              <a:buChar char="•"/>
            </a:pPr>
            <a:endParaRPr lang="en-US" sz="2400" b="1" dirty="0">
              <a:solidFill>
                <a:srgbClr val="3A7CA4"/>
              </a:solidFill>
            </a:endParaRPr>
          </a:p>
          <a:p>
            <a:pPr marL="742950" lvl="1" indent="-285750">
              <a:buFont typeface="Arial"/>
              <a:buChar char="•"/>
            </a:pPr>
            <a:endParaRPr lang="en-US" sz="2400" b="1" dirty="0">
              <a:solidFill>
                <a:srgbClr val="3A7CA4"/>
              </a:solidFill>
            </a:endParaRPr>
          </a:p>
        </p:txBody>
      </p:sp>
    </p:spTree>
    <p:extLst>
      <p:ext uri="{BB962C8B-B14F-4D97-AF65-F5344CB8AC3E}">
        <p14:creationId xmlns:p14="http://schemas.microsoft.com/office/powerpoint/2010/main" val="10526746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7943265"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200026" y="210657"/>
            <a:ext cx="11880358" cy="72178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Conceptualizing Women’s Empowerment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98574" y="932442"/>
            <a:ext cx="11893400" cy="5170646"/>
          </a:xfrm>
          <a:prstGeom prst="rect">
            <a:avLst/>
          </a:prstGeom>
          <a:noFill/>
        </p:spPr>
        <p:txBody>
          <a:bodyPr wrap="square" rtlCol="0">
            <a:spAutoFit/>
          </a:bodyPr>
          <a:lstStyle/>
          <a:p>
            <a:r>
              <a:rPr lang="en-US" sz="2800" b="1" i="1" dirty="0"/>
              <a:t>Women’s Empowerment is more than access to resources, markets and services (Economic Empowerment)</a:t>
            </a:r>
          </a:p>
          <a:p>
            <a:endParaRPr lang="en-US" sz="2800" b="1" i="1" dirty="0"/>
          </a:p>
          <a:p>
            <a:pPr marL="342900" indent="-342900">
              <a:buFont typeface="Wingdings" panose="05000000000000000000" pitchFamily="2" charset="2"/>
              <a:buChar char="Ø"/>
            </a:pPr>
            <a:r>
              <a:rPr lang="en-US" sz="2800" b="1" dirty="0"/>
              <a:t>Empowerment is about building critical consciousness and agency</a:t>
            </a:r>
          </a:p>
          <a:p>
            <a:r>
              <a:rPr lang="en-US" sz="2000" b="1" dirty="0"/>
              <a:t>unless women are liberated from their existing perception of themselves as weak, inferior and limited beings, no amount of external interventions … will enable them to challenge existing power equations in society, the community or the family (</a:t>
            </a:r>
            <a:r>
              <a:rPr lang="en-US" sz="2000" b="1" dirty="0" err="1"/>
              <a:t>Batliwala</a:t>
            </a:r>
            <a:r>
              <a:rPr lang="en-US" sz="2000" b="1" dirty="0"/>
              <a:t>)</a:t>
            </a:r>
          </a:p>
          <a:p>
            <a:pPr marL="457200" indent="-457200">
              <a:buFont typeface="Wingdings" panose="05000000000000000000" pitchFamily="2" charset="2"/>
              <a:buChar char="Ø"/>
            </a:pPr>
            <a:r>
              <a:rPr lang="en-US" sz="2800" b="1" dirty="0"/>
              <a:t>Empowerment is about changing power relations</a:t>
            </a:r>
          </a:p>
          <a:p>
            <a:r>
              <a:rPr lang="en-US" sz="2000" b="1" dirty="0"/>
              <a:t>collective actions exercising women’s agency to transform oppressive power relations to address the structural basis of gender inequality</a:t>
            </a:r>
          </a:p>
          <a:p>
            <a:pPr marL="457200" indent="-457200">
              <a:buFont typeface="Wingdings" panose="05000000000000000000" pitchFamily="2" charset="2"/>
              <a:buChar char="Ø"/>
            </a:pPr>
            <a:r>
              <a:rPr lang="en-US" sz="3200" b="1" dirty="0"/>
              <a:t>Empowerment is about process</a:t>
            </a:r>
          </a:p>
          <a:p>
            <a:r>
              <a:rPr lang="en-US" sz="2000" b="1" dirty="0"/>
              <a:t>The work of external actors is not ‘empowering women’ but clearing some of the obstacles from this path</a:t>
            </a:r>
          </a:p>
          <a:p>
            <a:endParaRPr lang="en-US" sz="2000" b="1" dirty="0"/>
          </a:p>
          <a:p>
            <a:r>
              <a:rPr lang="en-US" b="1" i="1" dirty="0"/>
              <a:t>Source: Andrea Cornwall, Women’s Empowerment: What Works and Why</a:t>
            </a:r>
          </a:p>
        </p:txBody>
      </p:sp>
    </p:spTree>
    <p:extLst>
      <p:ext uri="{BB962C8B-B14F-4D97-AF65-F5344CB8AC3E}">
        <p14:creationId xmlns:p14="http://schemas.microsoft.com/office/powerpoint/2010/main" val="376582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9299711"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250946" y="210656"/>
            <a:ext cx="11829437" cy="7217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Intensifying the Gender Approach  </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0946" y="1200150"/>
            <a:ext cx="11690109" cy="5816977"/>
          </a:xfrm>
          <a:prstGeom prst="rect">
            <a:avLst/>
          </a:prstGeom>
          <a:noFill/>
        </p:spPr>
        <p:txBody>
          <a:bodyPr wrap="square" rtlCol="0">
            <a:spAutoFit/>
          </a:bodyPr>
          <a:lstStyle/>
          <a:p>
            <a:r>
              <a:rPr lang="en-US" sz="3200" b="1" i="1" dirty="0"/>
              <a:t>What can we do to make economic inclusion programs more gender intentional ?</a:t>
            </a:r>
          </a:p>
          <a:p>
            <a:pPr marL="457200" indent="-457200">
              <a:buFont typeface="Wingdings" panose="05000000000000000000" pitchFamily="2" charset="2"/>
              <a:buChar char="Ø"/>
            </a:pPr>
            <a:r>
              <a:rPr lang="en-US" sz="2800" b="1" dirty="0"/>
              <a:t>target, more effectively, vulnerable and invisible women </a:t>
            </a:r>
          </a:p>
          <a:p>
            <a:pPr marL="457200" indent="-457200">
              <a:buFont typeface="Wingdings" panose="05000000000000000000" pitchFamily="2" charset="2"/>
              <a:buChar char="Ø"/>
            </a:pPr>
            <a:r>
              <a:rPr lang="en-US" sz="2800" b="1" dirty="0"/>
              <a:t>create non-traditional businesses and economic opportunities for women</a:t>
            </a:r>
          </a:p>
          <a:p>
            <a:pPr marL="457200" indent="-457200">
              <a:buFont typeface="Wingdings" panose="05000000000000000000" pitchFamily="2" charset="2"/>
              <a:buChar char="Ø"/>
            </a:pPr>
            <a:r>
              <a:rPr lang="en-US" sz="2800" b="1" dirty="0"/>
              <a:t>link to value chains; create producer companies</a:t>
            </a:r>
          </a:p>
          <a:p>
            <a:pPr marL="457200" indent="-457200">
              <a:buFont typeface="Wingdings" panose="05000000000000000000" pitchFamily="2" charset="2"/>
              <a:buChar char="Ø"/>
            </a:pPr>
            <a:r>
              <a:rPr lang="en-US" sz="2800" b="1" dirty="0"/>
              <a:t>provide legal ownership of land and productive assets</a:t>
            </a:r>
          </a:p>
          <a:p>
            <a:pPr marL="457200" indent="-457200">
              <a:buFont typeface="Wingdings" panose="05000000000000000000" pitchFamily="2" charset="2"/>
              <a:buChar char="Ø"/>
            </a:pPr>
            <a:r>
              <a:rPr lang="en-US" sz="2800" b="1" dirty="0"/>
              <a:t>intensify financial inclusion efforts</a:t>
            </a:r>
          </a:p>
          <a:p>
            <a:pPr marL="457200" indent="-457200">
              <a:buFont typeface="Wingdings" panose="05000000000000000000" pitchFamily="2" charset="2"/>
              <a:buChar char="Ø"/>
            </a:pPr>
            <a:r>
              <a:rPr lang="en-US" sz="2800" b="1" dirty="0"/>
              <a:t>ease access to public services</a:t>
            </a:r>
          </a:p>
          <a:p>
            <a:pPr marL="457200" indent="-457200">
              <a:buFont typeface="Wingdings" panose="05000000000000000000" pitchFamily="2" charset="2"/>
              <a:buChar char="Ø"/>
            </a:pPr>
            <a:r>
              <a:rPr lang="en-US" sz="2800" b="1" dirty="0"/>
              <a:t>ensure birth registration and marriage registration</a:t>
            </a:r>
          </a:p>
          <a:p>
            <a:pPr marL="457200" indent="-457200">
              <a:buFont typeface="Wingdings" panose="05000000000000000000" pitchFamily="2" charset="2"/>
              <a:buChar char="Ø"/>
            </a:pPr>
            <a:r>
              <a:rPr lang="en-US" sz="2800" b="1" dirty="0"/>
              <a:t>educate on divorce, dowry, child marriage, inheritance laws</a:t>
            </a:r>
          </a:p>
          <a:p>
            <a:pPr marL="457200" indent="-457200">
              <a:buFont typeface="Wingdings" panose="05000000000000000000" pitchFamily="2" charset="2"/>
              <a:buChar char="Ø"/>
            </a:pPr>
            <a:r>
              <a:rPr lang="en-US" sz="2800" b="1" dirty="0"/>
              <a:t>build awareness of domestic violence, sexual abuse and trafficking </a:t>
            </a:r>
          </a:p>
          <a:p>
            <a:endParaRPr lang="en-US" sz="2800" b="1" dirty="0"/>
          </a:p>
          <a:p>
            <a:pPr marL="457200" indent="-457200">
              <a:buFont typeface="Wingdings" panose="05000000000000000000" pitchFamily="2" charset="2"/>
              <a:buChar char="Ø"/>
            </a:pPr>
            <a:endParaRPr lang="en-US" sz="2800" b="1" dirty="0"/>
          </a:p>
        </p:txBody>
      </p:sp>
    </p:spTree>
    <p:extLst>
      <p:ext uri="{BB962C8B-B14F-4D97-AF65-F5344CB8AC3E}">
        <p14:creationId xmlns:p14="http://schemas.microsoft.com/office/powerpoint/2010/main" val="2590085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E97EDDA6-1FC0-1A40-84E6-77773DB7A92F}"/>
              </a:ext>
            </a:extLst>
          </p:cNvPr>
          <p:cNvSpPr txBox="1">
            <a:spLocks/>
          </p:cNvSpPr>
          <p:nvPr/>
        </p:nvSpPr>
        <p:spPr>
          <a:xfrm>
            <a:off x="1283345" y="87477"/>
            <a:ext cx="9299711" cy="721785"/>
          </a:xfrm>
          <a:prstGeom prst="rect">
            <a:avLst/>
          </a:prstGeom>
        </p:spPr>
        <p:txBody>
          <a:bodyPr vert="horz" lIns="0" tIns="0" rIns="0" bIns="0" rtlCol="0" anchor="ctr">
            <a:noAutofit/>
          </a:bodyPr>
          <a:lstStyle>
            <a:lvl1pPr algn="l" defTabSz="914293" rtl="0" eaLnBrk="1" latinLnBrk="0" hangingPunct="1">
              <a:lnSpc>
                <a:spcPct val="100000"/>
              </a:lnSpc>
              <a:spcBef>
                <a:spcPct val="0"/>
              </a:spcBef>
              <a:buNone/>
              <a:defRPr sz="2300" b="0" i="0" kern="1200" cap="all" baseline="0">
                <a:solidFill>
                  <a:schemeClr val="tx1"/>
                </a:solidFill>
                <a:latin typeface="Avenir LT Std 95 Black"/>
                <a:ea typeface="Gill Sans" charset="0"/>
                <a:cs typeface="Avenir LT Std 95 Black"/>
              </a:defRPr>
            </a:lvl1pPr>
          </a:lstStyle>
          <a:p>
            <a:pPr lvl="0">
              <a:defRPr/>
            </a:pPr>
            <a:endParaRPr lang="en-US" sz="1500" cap="none" dirty="0">
              <a:solidFill>
                <a:srgbClr val="000000"/>
              </a:solidFill>
              <a:latin typeface="Lato Regular" charset="0"/>
              <a:ea typeface="Lato Regular" charset="0"/>
              <a:cs typeface="Lato Regular" charset="0"/>
            </a:endParaRPr>
          </a:p>
        </p:txBody>
      </p:sp>
      <p:sp>
        <p:nvSpPr>
          <p:cNvPr id="20" name="TextBox 19">
            <a:extLst>
              <a:ext uri="{FF2B5EF4-FFF2-40B4-BE49-F238E27FC236}">
                <a16:creationId xmlns:a16="http://schemas.microsoft.com/office/drawing/2014/main" id="{D2EA263A-7038-AF47-972F-982C66B98C8E}"/>
              </a:ext>
            </a:extLst>
          </p:cNvPr>
          <p:cNvSpPr txBox="1"/>
          <p:nvPr/>
        </p:nvSpPr>
        <p:spPr>
          <a:xfrm>
            <a:off x="10850880" y="6549564"/>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BOMA</a:t>
            </a:r>
          </a:p>
        </p:txBody>
      </p:sp>
      <p:sp>
        <p:nvSpPr>
          <p:cNvPr id="27" name="Title 3">
            <a:extLst>
              <a:ext uri="{FF2B5EF4-FFF2-40B4-BE49-F238E27FC236}">
                <a16:creationId xmlns:a16="http://schemas.microsoft.com/office/drawing/2014/main" id="{2C1E0CBE-FAF3-4B98-8723-5B585BB4D02B}"/>
              </a:ext>
            </a:extLst>
          </p:cNvPr>
          <p:cNvSpPr txBox="1">
            <a:spLocks/>
          </p:cNvSpPr>
          <p:nvPr/>
        </p:nvSpPr>
        <p:spPr>
          <a:xfrm>
            <a:off x="98574" y="210657"/>
            <a:ext cx="11981810" cy="598606"/>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450"/>
              </a:spcAft>
            </a:pPr>
            <a:r>
              <a:rPr lang="en-US" sz="4000" b="1" dirty="0">
                <a:solidFill>
                  <a:srgbClr val="3A7CA4"/>
                </a:solidFill>
                <a:latin typeface="+mn-lt"/>
                <a:ea typeface="+mn-ea"/>
                <a:cs typeface="+mn-cs"/>
              </a:rPr>
              <a:t>Setting a Gender Transformational Agenda</a:t>
            </a:r>
          </a:p>
        </p:txBody>
      </p:sp>
      <p:sp>
        <p:nvSpPr>
          <p:cNvPr id="10" name="TextBox 9">
            <a:extLst>
              <a:ext uri="{FF2B5EF4-FFF2-40B4-BE49-F238E27FC236}">
                <a16:creationId xmlns:a16="http://schemas.microsoft.com/office/drawing/2014/main" id="{136A6944-C390-4480-B468-0EF87B98221B}"/>
              </a:ext>
            </a:extLst>
          </p:cNvPr>
          <p:cNvSpPr txBox="1"/>
          <p:nvPr/>
        </p:nvSpPr>
        <p:spPr>
          <a:xfrm>
            <a:off x="98573" y="6534625"/>
            <a:ext cx="2682240" cy="235898"/>
          </a:xfrm>
          <a:prstGeom prst="rect">
            <a:avLst/>
          </a:prstGeom>
          <a:noFill/>
        </p:spPr>
        <p:txBody>
          <a:bodyPr wrap="square" rtlCol="0">
            <a:spAutoFit/>
          </a:bodyPr>
          <a:lstStyle/>
          <a:p>
            <a:r>
              <a:rPr lang="en-US" sz="933" dirty="0">
                <a:solidFill>
                  <a:schemeClr val="bg1"/>
                </a:solidFill>
                <a:latin typeface="Avenir Roman" panose="02000503020000020003" pitchFamily="2" charset="0"/>
              </a:rPr>
              <a:t>Photo Credit: The World Bank</a:t>
            </a:r>
          </a:p>
        </p:txBody>
      </p:sp>
      <p:sp>
        <p:nvSpPr>
          <p:cNvPr id="18" name="TextBox 17">
            <a:extLst>
              <a:ext uri="{FF2B5EF4-FFF2-40B4-BE49-F238E27FC236}">
                <a16:creationId xmlns:a16="http://schemas.microsoft.com/office/drawing/2014/main" id="{AD14200D-F9C3-4A49-8573-97656048F09A}"/>
              </a:ext>
            </a:extLst>
          </p:cNvPr>
          <p:cNvSpPr txBox="1"/>
          <p:nvPr/>
        </p:nvSpPr>
        <p:spPr>
          <a:xfrm>
            <a:off x="257175" y="1104900"/>
            <a:ext cx="11698918" cy="8032968"/>
          </a:xfrm>
          <a:prstGeom prst="rect">
            <a:avLst/>
          </a:prstGeom>
          <a:noFill/>
        </p:spPr>
        <p:txBody>
          <a:bodyPr wrap="square" rtlCol="0">
            <a:spAutoFit/>
          </a:bodyPr>
          <a:lstStyle/>
          <a:p>
            <a:r>
              <a:rPr lang="en-US" sz="2400" b="1" dirty="0"/>
              <a:t>For those intent on going beyond economic empowerment:</a:t>
            </a:r>
          </a:p>
          <a:p>
            <a:pPr marL="457200" indent="-457200">
              <a:buFont typeface="Wingdings" panose="05000000000000000000" pitchFamily="2" charset="2"/>
              <a:buChar char="Ø"/>
            </a:pPr>
            <a:r>
              <a:rPr lang="en-US" sz="2400" b="1" dirty="0"/>
              <a:t>understand the local context of gender subordination and the intersectionality with race, class, ethnicity</a:t>
            </a:r>
          </a:p>
          <a:p>
            <a:pPr marL="457200" indent="-457200">
              <a:buFont typeface="Wingdings" panose="05000000000000000000" pitchFamily="2" charset="2"/>
              <a:buChar char="Ø"/>
            </a:pPr>
            <a:r>
              <a:rPr lang="en-US" sz="2400" b="1" dirty="0"/>
              <a:t>build group solidarity and facilitate consciousness raising through understanding of rights and violations of existing laws</a:t>
            </a:r>
          </a:p>
          <a:p>
            <a:pPr marL="457200" indent="-457200">
              <a:buFont typeface="Wingdings" panose="05000000000000000000" pitchFamily="2" charset="2"/>
              <a:buChar char="Ø"/>
            </a:pPr>
            <a:r>
              <a:rPr lang="en-US" sz="2400" b="1" dirty="0"/>
              <a:t>promote non-traditional high value economic opportunities, especially through increased control of value chains</a:t>
            </a:r>
          </a:p>
          <a:p>
            <a:pPr marL="457200" indent="-457200">
              <a:buFont typeface="Wingdings" panose="05000000000000000000" pitchFamily="2" charset="2"/>
              <a:buChar char="Ø"/>
            </a:pPr>
            <a:r>
              <a:rPr lang="en-US" sz="2400" b="1" dirty="0"/>
              <a:t>assist women in organizing against sexual intimidation and violence</a:t>
            </a:r>
          </a:p>
          <a:p>
            <a:pPr marL="457200" indent="-457200">
              <a:buFont typeface="Wingdings" panose="05000000000000000000" pitchFamily="2" charset="2"/>
              <a:buChar char="Ø"/>
            </a:pPr>
            <a:r>
              <a:rPr lang="en-US" sz="2400" b="1" dirty="0"/>
              <a:t>assist women in understanding local government and running for local office</a:t>
            </a:r>
          </a:p>
          <a:p>
            <a:pPr marL="457200" indent="-457200">
              <a:buFont typeface="Wingdings" panose="05000000000000000000" pitchFamily="2" charset="2"/>
              <a:buChar char="Ø"/>
            </a:pPr>
            <a:r>
              <a:rPr lang="en-US" sz="2400" b="1" dirty="0"/>
              <a:t>leverage with rights groups and other organizations</a:t>
            </a:r>
          </a:p>
          <a:p>
            <a:pPr marL="457200" indent="-457200">
              <a:buFont typeface="Wingdings" panose="05000000000000000000" pitchFamily="2" charset="2"/>
              <a:buChar char="Ø"/>
            </a:pPr>
            <a:endParaRPr lang="en-US" sz="2400" b="1" dirty="0"/>
          </a:p>
          <a:p>
            <a:r>
              <a:rPr lang="en-US" sz="2800" b="1" i="1" dirty="0"/>
              <a:t>Ensure women’s agency: It is for them to understand, articulate, weigh choices, determine course of action and provide leadership</a:t>
            </a:r>
          </a:p>
          <a:p>
            <a:endParaRPr lang="en-US" sz="2800" b="1" i="1" dirty="0"/>
          </a:p>
          <a:p>
            <a:endParaRPr lang="en-US" sz="2800" b="1" dirty="0"/>
          </a:p>
          <a:p>
            <a:endParaRPr lang="en-US" sz="2800" b="1" dirty="0"/>
          </a:p>
          <a:p>
            <a:endParaRPr lang="en-US" sz="2800" b="1" dirty="0"/>
          </a:p>
          <a:p>
            <a:endParaRPr lang="en-US" sz="2800" b="1" dirty="0"/>
          </a:p>
          <a:p>
            <a:endParaRPr lang="en-US" sz="2800" b="1" dirty="0"/>
          </a:p>
          <a:p>
            <a:endParaRPr lang="en-US" sz="2800" b="1" dirty="0"/>
          </a:p>
        </p:txBody>
      </p:sp>
    </p:spTree>
    <p:extLst>
      <p:ext uri="{BB962C8B-B14F-4D97-AF65-F5344CB8AC3E}">
        <p14:creationId xmlns:p14="http://schemas.microsoft.com/office/powerpoint/2010/main" val="22707220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4163</TotalTime>
  <Words>2227</Words>
  <Application>Microsoft Office PowerPoint</Application>
  <PresentationFormat>Widescreen</PresentationFormat>
  <Paragraphs>315</Paragraphs>
  <Slides>16</Slides>
  <Notes>16</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8" baseType="lpstr">
      <vt:lpstr>Arial</vt:lpstr>
      <vt:lpstr>Avenir Roman</vt:lpstr>
      <vt:lpstr>Calibri</vt:lpstr>
      <vt:lpstr>Calibri </vt:lpstr>
      <vt:lpstr>Calibri Light</vt:lpstr>
      <vt:lpstr>Lato</vt:lpstr>
      <vt:lpstr>Lato Regular</vt:lpstr>
      <vt:lpstr>Times New Roman</vt:lpstr>
      <vt:lpstr>Trebuchet MS</vt:lpstr>
      <vt:lpstr>Wingdings</vt:lpstr>
      <vt:lpstr>Office Theme</vt:lpstr>
      <vt:lpstr>think-cell Slide</vt:lpstr>
      <vt:lpstr>PowerPoint Presentation</vt:lpstr>
      <vt:lpstr>PowerPoint Presentation</vt:lpstr>
      <vt:lpstr>PowerPoint Presentation</vt:lpstr>
      <vt:lpstr>PowerPoint Presentation</vt:lpstr>
      <vt:lpstr>EXERCISE: RIDDLE</vt:lpstr>
      <vt:lpstr>PowerPoint Presentation</vt:lpstr>
      <vt:lpstr>PowerPoint Presentation</vt:lpstr>
      <vt:lpstr>PowerPoint Presentation</vt:lpstr>
      <vt:lpstr>PowerPoint Presentation</vt:lpstr>
      <vt:lpstr>Compensating for inequities: Need For Affirmative Action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Syed Hashemi</dc:creator>
  <cp:lastModifiedBy>Syed Hashemi</cp:lastModifiedBy>
  <cp:revision>112</cp:revision>
  <dcterms:created xsi:type="dcterms:W3CDTF">2019-09-20T19:33:04Z</dcterms:created>
  <dcterms:modified xsi:type="dcterms:W3CDTF">2022-04-02T14:39:30Z</dcterms:modified>
</cp:coreProperties>
</file>