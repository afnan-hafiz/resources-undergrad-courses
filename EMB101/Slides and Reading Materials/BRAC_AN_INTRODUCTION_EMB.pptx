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8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2mQV+QAfncd4geOph3f5rxke4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008C"/>
    <a:srgbClr val="F1F1F1"/>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613A26-5E73-4E51-B583-7E87AEE2E9E0}">
  <a:tblStyle styleId="{C3613A26-5E73-4E51-B583-7E87AEE2E9E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9927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3e63a908db_0_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g13e63a908db_0_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3e63a908db_0_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13e63a908db_0_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3e63a908db_0_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13e63a908db_0_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3e63a908db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13e63a908db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3e63a908db_0_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13e63a908db_0_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3e63a908db_0_1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13e63a908db_0_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2"/>
          <p:cNvSpPr>
            <a:spLocks noGrp="1"/>
          </p:cNvSpPr>
          <p:nvPr>
            <p:ph type="pic" idx="2"/>
          </p:nvPr>
        </p:nvSpPr>
        <p:spPr>
          <a:xfrm>
            <a:off x="1792288" y="612775"/>
            <a:ext cx="5486400" cy="4114800"/>
          </a:xfrm>
          <a:prstGeom prst="rect">
            <a:avLst/>
          </a:prstGeom>
          <a:noFill/>
          <a:ln>
            <a:noFill/>
          </a:ln>
        </p:spPr>
      </p:sp>
      <p:sp>
        <p:nvSpPr>
          <p:cNvPr id="68" name="Google Shape;68;p4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457200" y="990600"/>
            <a:ext cx="8305800" cy="3200400"/>
          </a:xfrm>
          <a:prstGeom prst="rect">
            <a:avLst/>
          </a:prstGeom>
          <a:solidFill>
            <a:srgbClr val="C00000"/>
          </a:solidFill>
          <a:ln>
            <a:noFill/>
          </a:ln>
        </p:spPr>
        <p:txBody>
          <a:bodyPr spcFirstLastPara="1" wrap="square" lIns="91425" tIns="45700" rIns="91425" bIns="45700" anchor="ctr" anchorCtr="0">
            <a:normAutofit fontScale="97500"/>
          </a:bodyPr>
          <a:lstStyle/>
          <a:p>
            <a:pPr marL="0" marR="0" lvl="0" indent="0" algn="ctr" rtl="0">
              <a:spcBef>
                <a:spcPts val="0"/>
              </a:spcBef>
              <a:spcAft>
                <a:spcPts val="0"/>
              </a:spcAft>
              <a:buNone/>
            </a:pPr>
            <a:r>
              <a:rPr lang="en-US" sz="5517" b="1" i="0" u="none" strike="noStrike" cap="none" dirty="0">
                <a:solidFill>
                  <a:schemeClr val="lt1"/>
                </a:solidFill>
                <a:latin typeface="Calibri"/>
                <a:ea typeface="Calibri"/>
                <a:cs typeface="Calibri"/>
                <a:sym typeface="Calibri"/>
              </a:rPr>
              <a:t>BRAC: AN INTRODUCTION</a:t>
            </a:r>
            <a:endParaRPr sz="5517" b="0" i="0" u="none" strike="noStrike" cap="none" dirty="0">
              <a:solidFill>
                <a:schemeClr val="lt1"/>
              </a:solidFill>
              <a:latin typeface="Calibri"/>
              <a:ea typeface="Calibri"/>
              <a:cs typeface="Calibri"/>
              <a:sym typeface="Calibri"/>
            </a:endParaRPr>
          </a:p>
        </p:txBody>
      </p:sp>
      <p:sp>
        <p:nvSpPr>
          <p:cNvPr id="89" name="Google Shape;89;p1"/>
          <p:cNvSpPr/>
          <p:nvPr/>
        </p:nvSpPr>
        <p:spPr>
          <a:xfrm>
            <a:off x="457200" y="533400"/>
            <a:ext cx="8305800" cy="362833"/>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C00000"/>
              </a:solidFill>
              <a:latin typeface="Calibri"/>
              <a:ea typeface="Calibri"/>
              <a:cs typeface="Calibri"/>
              <a:sym typeface="Calibri"/>
            </a:endParaRPr>
          </a:p>
        </p:txBody>
      </p:sp>
      <p:sp>
        <p:nvSpPr>
          <p:cNvPr id="90" name="Google Shape;90;p1"/>
          <p:cNvSpPr txBox="1"/>
          <p:nvPr/>
        </p:nvSpPr>
        <p:spPr>
          <a:xfrm>
            <a:off x="4648200" y="5562600"/>
            <a:ext cx="40312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FF0000"/>
                </a:solidFill>
                <a:latin typeface="Calibri"/>
                <a:ea typeface="Calibri"/>
                <a:cs typeface="Calibri"/>
                <a:sym typeface="Calibri"/>
              </a:rPr>
              <a:t>PROFESSOR SYED M HASHEMI</a:t>
            </a:r>
            <a:endParaRPr sz="2400">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FFFFFF"/>
              </a:buClr>
              <a:buSzPct val="100000"/>
              <a:buFont typeface="Calibri"/>
              <a:buNone/>
            </a:pPr>
            <a:r>
              <a:rPr lang="en-US" sz="3000" b="1" i="0" u="none" strike="noStrike" cap="none" dirty="0">
                <a:solidFill>
                  <a:srgbClr val="FFFFFF"/>
                </a:solidFill>
                <a:latin typeface="Calibri"/>
                <a:ea typeface="Calibri"/>
                <a:cs typeface="Calibri"/>
                <a:sym typeface="Calibri"/>
              </a:rPr>
              <a:t>T</a:t>
            </a:r>
            <a:r>
              <a:rPr lang="en-US" sz="3000" b="1" dirty="0">
                <a:solidFill>
                  <a:srgbClr val="FFFFFF"/>
                </a:solidFill>
                <a:latin typeface="Calibri"/>
                <a:ea typeface="Calibri"/>
                <a:cs typeface="Calibri"/>
                <a:sym typeface="Calibri"/>
              </a:rPr>
              <a:t>HE</a:t>
            </a:r>
            <a:r>
              <a:rPr lang="en-US" sz="3000" b="1" i="0" u="none" strike="noStrike" cap="none" dirty="0">
                <a:solidFill>
                  <a:srgbClr val="FFFFFF"/>
                </a:solidFill>
                <a:latin typeface="Calibri"/>
                <a:ea typeface="Calibri"/>
                <a:cs typeface="Calibri"/>
                <a:sym typeface="Calibri"/>
              </a:rPr>
              <a:t> L</a:t>
            </a:r>
            <a:r>
              <a:rPr lang="en-US" sz="3000" b="1" dirty="0">
                <a:solidFill>
                  <a:srgbClr val="FFFFFF"/>
                </a:solidFill>
                <a:latin typeface="Calibri"/>
                <a:ea typeface="Calibri"/>
                <a:cs typeface="Calibri"/>
                <a:sym typeface="Calibri"/>
              </a:rPr>
              <a:t>IBERATION</a:t>
            </a:r>
            <a:r>
              <a:rPr lang="en-US" sz="3000" b="1" i="0" u="none" strike="noStrike" cap="none" dirty="0">
                <a:solidFill>
                  <a:srgbClr val="FFFFFF"/>
                </a:solidFill>
                <a:latin typeface="Calibri"/>
                <a:ea typeface="Calibri"/>
                <a:cs typeface="Calibri"/>
                <a:sym typeface="Calibri"/>
              </a:rPr>
              <a:t> </a:t>
            </a:r>
            <a:r>
              <a:rPr lang="en-US" sz="3000" b="1" dirty="0">
                <a:solidFill>
                  <a:srgbClr val="FFFFFF"/>
                </a:solidFill>
                <a:latin typeface="Calibri"/>
                <a:ea typeface="Calibri"/>
                <a:cs typeface="Calibri"/>
                <a:sym typeface="Calibri"/>
              </a:rPr>
              <a:t>OF </a:t>
            </a:r>
            <a:r>
              <a:rPr lang="en-US" sz="3000" b="1" i="0" u="none" strike="noStrike" cap="none" dirty="0">
                <a:solidFill>
                  <a:srgbClr val="FFFFFF"/>
                </a:solidFill>
                <a:latin typeface="Calibri"/>
                <a:ea typeface="Calibri"/>
                <a:cs typeface="Calibri"/>
                <a:sym typeface="Calibri"/>
              </a:rPr>
              <a:t>B</a:t>
            </a:r>
            <a:r>
              <a:rPr lang="en-US" sz="3000" b="1" dirty="0">
                <a:solidFill>
                  <a:srgbClr val="FFFFFF"/>
                </a:solidFill>
                <a:latin typeface="Calibri"/>
                <a:ea typeface="Calibri"/>
                <a:cs typeface="Calibri"/>
                <a:sym typeface="Calibri"/>
              </a:rPr>
              <a:t>ANGLADESH</a:t>
            </a:r>
            <a:r>
              <a:rPr lang="en-US" sz="3000" b="1" i="0" u="none" strike="noStrike" cap="none" dirty="0">
                <a:solidFill>
                  <a:srgbClr val="FFFFFF"/>
                </a:solidFill>
                <a:latin typeface="Calibri"/>
                <a:ea typeface="Calibri"/>
                <a:cs typeface="Calibri"/>
                <a:sym typeface="Calibri"/>
              </a:rPr>
              <a:t>: D</a:t>
            </a:r>
            <a:r>
              <a:rPr lang="en-US" sz="3000" b="1" dirty="0">
                <a:solidFill>
                  <a:srgbClr val="FFFFFF"/>
                </a:solidFill>
                <a:latin typeface="Calibri"/>
                <a:ea typeface="Calibri"/>
                <a:cs typeface="Calibri"/>
                <a:sym typeface="Calibri"/>
              </a:rPr>
              <a:t>ECEMBER</a:t>
            </a:r>
            <a:r>
              <a:rPr lang="en-US" sz="3000" b="1" i="0" u="none" strike="noStrike" cap="none" dirty="0">
                <a:solidFill>
                  <a:srgbClr val="FFFFFF"/>
                </a:solidFill>
                <a:latin typeface="Calibri"/>
                <a:ea typeface="Calibri"/>
                <a:cs typeface="Calibri"/>
                <a:sym typeface="Calibri"/>
              </a:rPr>
              <a:t> 16, 1971</a:t>
            </a:r>
            <a:endParaRPr sz="3000" dirty="0"/>
          </a:p>
        </p:txBody>
      </p:sp>
      <p:sp>
        <p:nvSpPr>
          <p:cNvPr id="96" name="Google Shape;96;p2"/>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C00000"/>
              </a:solidFill>
              <a:latin typeface="Calibri"/>
              <a:ea typeface="Calibri"/>
              <a:cs typeface="Calibri"/>
              <a:sym typeface="Calibri"/>
            </a:endParaRPr>
          </a:p>
        </p:txBody>
      </p:sp>
      <p:pic>
        <p:nvPicPr>
          <p:cNvPr id="97" name="Google Shape;97;p2"/>
          <p:cNvPicPr preferRelativeResize="0"/>
          <p:nvPr/>
        </p:nvPicPr>
        <p:blipFill rotWithShape="1">
          <a:blip r:embed="rId3">
            <a:alphaModFix/>
          </a:blip>
          <a:srcRect/>
          <a:stretch/>
        </p:blipFill>
        <p:spPr>
          <a:xfrm>
            <a:off x="22372" y="914400"/>
            <a:ext cx="9121628" cy="5943600"/>
          </a:xfrm>
          <a:prstGeom prst="rect">
            <a:avLst/>
          </a:prstGeom>
          <a:ln>
            <a:noFill/>
          </a:ln>
          <a:effectLst>
            <a:softEdge rad="112500"/>
          </a:effectLst>
        </p:spPr>
      </p:pic>
      <p:pic>
        <p:nvPicPr>
          <p:cNvPr id="98" name="Google Shape;98;p2"/>
          <p:cNvPicPr preferRelativeResize="0"/>
          <p:nvPr/>
        </p:nvPicPr>
        <p:blipFill rotWithShape="1">
          <a:blip r:embed="rId4">
            <a:alphaModFix/>
          </a:blip>
          <a:srcRect/>
          <a:stretch/>
        </p:blipFill>
        <p:spPr>
          <a:xfrm>
            <a:off x="5216230" y="3941615"/>
            <a:ext cx="3733800" cy="2739048"/>
          </a:xfrm>
          <a:prstGeom prst="ellipse">
            <a:avLst/>
          </a:prstGeom>
          <a:noFill/>
          <a:ln w="12700" cap="rnd" cmpd="sng">
            <a:solidFill>
              <a:schemeClr val="bg1">
                <a:lumMod val="50000"/>
              </a:schemeClr>
            </a:solidFill>
            <a:prstDash val="solid"/>
            <a:round/>
            <a:headEnd type="none" w="sm" len="sm"/>
            <a:tailEnd type="none" w="sm" len="sm"/>
          </a:ln>
          <a:effectLst>
            <a:outerShdw blurRad="381000" dist="292100" dir="5400000" sx="-80000" sy="-18000" rotWithShape="0">
              <a:srgbClr val="000000">
                <a:alpha val="2196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body" idx="1"/>
          </p:nvPr>
        </p:nvSpPr>
        <p:spPr>
          <a:xfrm>
            <a:off x="152400" y="1143000"/>
            <a:ext cx="8839200" cy="5638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b="1"/>
              <a:t>Bangladesh, devastated during 1971 genocide and war of liberation, was described as a “basket case” by Henry Kissinger </a:t>
            </a:r>
            <a:endParaRPr/>
          </a:p>
          <a:p>
            <a:pPr marL="342900" lvl="0" indent="-342900" algn="l" rtl="0">
              <a:spcBef>
                <a:spcPts val="480"/>
              </a:spcBef>
              <a:spcAft>
                <a:spcPts val="0"/>
              </a:spcAft>
              <a:buClr>
                <a:schemeClr val="dk1"/>
              </a:buClr>
              <a:buSzPts val="2400"/>
              <a:buFont typeface="Noto Sans Symbols"/>
              <a:buChar char="⮚"/>
            </a:pPr>
            <a:r>
              <a:rPr lang="en-US" sz="2400" b="1"/>
              <a:t>GDP of the first two years were negative.</a:t>
            </a:r>
            <a:endParaRPr/>
          </a:p>
          <a:p>
            <a:pPr marL="1143000" lvl="2" indent="-228600" algn="l" rtl="0">
              <a:spcBef>
                <a:spcPts val="480"/>
              </a:spcBef>
              <a:spcAft>
                <a:spcPts val="0"/>
              </a:spcAft>
              <a:buClr>
                <a:schemeClr val="dk1"/>
              </a:buClr>
              <a:buSzPts val="2400"/>
              <a:buFont typeface="Noto Sans Symbols"/>
              <a:buChar char="✔"/>
            </a:pPr>
            <a:r>
              <a:rPr lang="en-US" b="1"/>
              <a:t>-6.83% in 1971</a:t>
            </a:r>
            <a:endParaRPr/>
          </a:p>
          <a:p>
            <a:pPr marL="1143000" lvl="2" indent="-228600" algn="l" rtl="0">
              <a:spcBef>
                <a:spcPts val="480"/>
              </a:spcBef>
              <a:spcAft>
                <a:spcPts val="0"/>
              </a:spcAft>
              <a:buClr>
                <a:schemeClr val="dk1"/>
              </a:buClr>
              <a:buSzPts val="2400"/>
              <a:buFont typeface="Noto Sans Symbols"/>
              <a:buChar char="✔"/>
            </a:pPr>
            <a:r>
              <a:rPr lang="en-US" b="1"/>
              <a:t>-14.74% in 1972</a:t>
            </a:r>
            <a:endParaRPr/>
          </a:p>
          <a:p>
            <a:pPr marL="342900" lvl="0" indent="-342900" algn="l" rtl="0">
              <a:spcBef>
                <a:spcPts val="480"/>
              </a:spcBef>
              <a:spcAft>
                <a:spcPts val="0"/>
              </a:spcAft>
              <a:buClr>
                <a:schemeClr val="dk1"/>
              </a:buClr>
              <a:buSzPts val="2400"/>
              <a:buFont typeface="Noto Sans Symbols"/>
              <a:buChar char="⮚"/>
            </a:pPr>
            <a:r>
              <a:rPr lang="en-US" sz="2400" b="1"/>
              <a:t>Poverty rate  was 70%</a:t>
            </a:r>
            <a:endParaRPr/>
          </a:p>
          <a:p>
            <a:pPr marL="342900" lvl="0" indent="-342900" algn="l" rtl="0">
              <a:spcBef>
                <a:spcPts val="480"/>
              </a:spcBef>
              <a:spcAft>
                <a:spcPts val="0"/>
              </a:spcAft>
              <a:buClr>
                <a:schemeClr val="dk1"/>
              </a:buClr>
              <a:buSzPts val="2400"/>
              <a:buFont typeface="Noto Sans Symbols"/>
              <a:buChar char="⮚"/>
            </a:pPr>
            <a:r>
              <a:rPr lang="en-US" sz="2400" b="1"/>
              <a:t>Economy was dependent on rain-fed agriculture</a:t>
            </a:r>
            <a:endParaRPr/>
          </a:p>
          <a:p>
            <a:pPr marL="342900" lvl="0" indent="-342900" algn="l" rtl="0">
              <a:spcBef>
                <a:spcPts val="480"/>
              </a:spcBef>
              <a:spcAft>
                <a:spcPts val="0"/>
              </a:spcAft>
              <a:buClr>
                <a:schemeClr val="dk1"/>
              </a:buClr>
              <a:buSzPts val="2400"/>
              <a:buFont typeface="Noto Sans Symbols"/>
              <a:buChar char="⮚"/>
            </a:pPr>
            <a:r>
              <a:rPr lang="en-US" sz="2400" b="1"/>
              <a:t>Only 61% (by 1981 census) found work at market wages </a:t>
            </a:r>
            <a:endParaRPr/>
          </a:p>
          <a:p>
            <a:pPr marL="342900" lvl="0" indent="-342900" algn="l" rtl="0">
              <a:spcBef>
                <a:spcPts val="480"/>
              </a:spcBef>
              <a:spcAft>
                <a:spcPts val="0"/>
              </a:spcAft>
              <a:buClr>
                <a:schemeClr val="dk1"/>
              </a:buClr>
              <a:buSzPts val="2400"/>
              <a:buFont typeface="Noto Sans Symbols"/>
              <a:buChar char="⮚"/>
            </a:pPr>
            <a:r>
              <a:rPr lang="en-US" sz="2400" b="1"/>
              <a:t>Per capita income in 1972 (US$) - 129 </a:t>
            </a:r>
            <a:endParaRPr sz="2400" b="1"/>
          </a:p>
        </p:txBody>
      </p:sp>
      <p:sp>
        <p:nvSpPr>
          <p:cNvPr id="104" name="Google Shape;104;p7"/>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i="0" u="none" strike="noStrike" cap="none">
                <a:solidFill>
                  <a:schemeClr val="lt1"/>
                </a:solidFill>
                <a:latin typeface="Calibri"/>
                <a:ea typeface="Calibri"/>
                <a:cs typeface="Calibri"/>
                <a:sym typeface="Calibri"/>
              </a:rPr>
              <a:t>B</a:t>
            </a:r>
            <a:r>
              <a:rPr lang="en-US" sz="4400" b="1">
                <a:solidFill>
                  <a:schemeClr val="lt1"/>
                </a:solidFill>
                <a:latin typeface="Calibri"/>
                <a:ea typeface="Calibri"/>
                <a:cs typeface="Calibri"/>
                <a:sym typeface="Calibri"/>
              </a:rPr>
              <a:t>ANGLADESH AT INDEPENDENCE</a:t>
            </a:r>
            <a:endParaRPr/>
          </a:p>
        </p:txBody>
      </p:sp>
      <p:sp>
        <p:nvSpPr>
          <p:cNvPr id="105" name="Google Shape;105;p7"/>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8"/>
          <p:cNvSpPr txBox="1">
            <a:spLocks noGrp="1"/>
          </p:cNvSpPr>
          <p:nvPr>
            <p:ph type="body" idx="1"/>
          </p:nvPr>
        </p:nvSpPr>
        <p:spPr>
          <a:xfrm>
            <a:off x="76200" y="1219200"/>
            <a:ext cx="8839200" cy="5181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None/>
            </a:pPr>
            <a:r>
              <a:rPr lang="en-US" sz="2400" b="1"/>
              <a:t>Other indicators:</a:t>
            </a:r>
            <a:endParaRPr/>
          </a:p>
          <a:p>
            <a:pPr marL="342900" lvl="0" indent="-342900" algn="l" rtl="0">
              <a:spcBef>
                <a:spcPts val="480"/>
              </a:spcBef>
              <a:spcAft>
                <a:spcPts val="0"/>
              </a:spcAft>
              <a:buClr>
                <a:schemeClr val="dk1"/>
              </a:buClr>
              <a:buSzPts val="2400"/>
              <a:buFont typeface="Noto Sans Symbols"/>
              <a:buChar char="⮚"/>
            </a:pPr>
            <a:r>
              <a:rPr lang="en-US" sz="2400" b="1"/>
              <a:t>Population Growth Rate -2.6%</a:t>
            </a:r>
            <a:endParaRPr/>
          </a:p>
          <a:p>
            <a:pPr marL="342900" lvl="0" indent="-342900" algn="l" rtl="0">
              <a:spcBef>
                <a:spcPts val="480"/>
              </a:spcBef>
              <a:spcAft>
                <a:spcPts val="0"/>
              </a:spcAft>
              <a:buClr>
                <a:schemeClr val="dk1"/>
              </a:buClr>
              <a:buSzPts val="2400"/>
              <a:buFont typeface="Noto Sans Symbols"/>
              <a:buChar char="⮚"/>
            </a:pPr>
            <a:r>
              <a:rPr lang="en-US" sz="2400" b="1"/>
              <a:t>Life Expectancy – 46.5 Years</a:t>
            </a:r>
            <a:endParaRPr/>
          </a:p>
          <a:p>
            <a:pPr marL="342900" lvl="0" indent="-342900" algn="l" rtl="0">
              <a:spcBef>
                <a:spcPts val="480"/>
              </a:spcBef>
              <a:spcAft>
                <a:spcPts val="0"/>
              </a:spcAft>
              <a:buClr>
                <a:schemeClr val="dk1"/>
              </a:buClr>
              <a:buSzPts val="2400"/>
              <a:buFont typeface="Noto Sans Symbols"/>
              <a:buChar char="⮚"/>
            </a:pPr>
            <a:r>
              <a:rPr lang="en-US" sz="2400" b="1"/>
              <a:t>Infant mortality rate beyond the age of 5 – 239 out of 1000</a:t>
            </a:r>
            <a:endParaRPr/>
          </a:p>
          <a:p>
            <a:pPr marL="342900" lvl="0" indent="-342900" algn="l" rtl="0">
              <a:spcBef>
                <a:spcPts val="480"/>
              </a:spcBef>
              <a:spcAft>
                <a:spcPts val="0"/>
              </a:spcAft>
              <a:buClr>
                <a:schemeClr val="dk1"/>
              </a:buClr>
              <a:buSzPts val="2400"/>
              <a:buFont typeface="Noto Sans Symbols"/>
              <a:buChar char="⮚"/>
            </a:pPr>
            <a:r>
              <a:rPr lang="en-US" sz="2400" b="1"/>
              <a:t>Literacy Rate – 24.3% (Female Literacy- 14.8%)</a:t>
            </a:r>
            <a:endParaRPr/>
          </a:p>
          <a:p>
            <a:pPr marL="1314450" lvl="2" indent="-514350" algn="l" rtl="0">
              <a:spcBef>
                <a:spcPts val="480"/>
              </a:spcBef>
              <a:spcAft>
                <a:spcPts val="0"/>
              </a:spcAft>
              <a:buClr>
                <a:schemeClr val="dk1"/>
              </a:buClr>
              <a:buSzPts val="2400"/>
              <a:buFont typeface="Noto Sans Symbols"/>
              <a:buChar char="✔"/>
            </a:pPr>
            <a:r>
              <a:rPr lang="en-US" b="1"/>
              <a:t>Primary Enrollment rate – 60% (Girl enrollment- 41%)</a:t>
            </a:r>
            <a:endParaRPr/>
          </a:p>
          <a:p>
            <a:pPr marL="1314450" lvl="2" indent="-514350" algn="l" rtl="0">
              <a:spcBef>
                <a:spcPts val="480"/>
              </a:spcBef>
              <a:spcAft>
                <a:spcPts val="0"/>
              </a:spcAft>
              <a:buClr>
                <a:schemeClr val="dk1"/>
              </a:buClr>
              <a:buSzPts val="2400"/>
              <a:buFont typeface="Noto Sans Symbols"/>
              <a:buChar char="✔"/>
            </a:pPr>
            <a:r>
              <a:rPr lang="en-US" b="1"/>
              <a:t>Secondary Enrollment – 18.1% (Girl enrollment- 7.9%)</a:t>
            </a:r>
            <a:endParaRPr/>
          </a:p>
          <a:p>
            <a:pPr marL="342900" lvl="0" indent="-342900" algn="l" rtl="0">
              <a:spcBef>
                <a:spcPts val="480"/>
              </a:spcBef>
              <a:spcAft>
                <a:spcPts val="0"/>
              </a:spcAft>
              <a:buClr>
                <a:schemeClr val="dk1"/>
              </a:buClr>
              <a:buSzPts val="2400"/>
              <a:buFont typeface="Noto Sans Symbols"/>
              <a:buChar char="⮚"/>
            </a:pPr>
            <a:r>
              <a:rPr lang="en-US" sz="2400" b="1"/>
              <a:t>Rural and urban were isolated worlds, where urban areas consisted of 7.7% of the population</a:t>
            </a:r>
            <a:endParaRPr b="1"/>
          </a:p>
          <a:p>
            <a:pPr marL="342900" lvl="0" indent="-342900" algn="l" rtl="0">
              <a:spcBef>
                <a:spcPts val="480"/>
              </a:spcBef>
              <a:spcAft>
                <a:spcPts val="0"/>
              </a:spcAft>
              <a:buClr>
                <a:schemeClr val="dk1"/>
              </a:buClr>
              <a:buSzPts val="2400"/>
              <a:buFont typeface="Noto Sans Symbols"/>
              <a:buChar char="⮚"/>
            </a:pPr>
            <a:r>
              <a:rPr lang="en-US" sz="2400" b="1"/>
              <a:t>Population living in rural areas- 92.099%</a:t>
            </a:r>
            <a:endParaRPr sz="2400" b="1"/>
          </a:p>
        </p:txBody>
      </p:sp>
      <p:sp>
        <p:nvSpPr>
          <p:cNvPr id="111" name="Google Shape;111;p8"/>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Font typeface="Arial"/>
              <a:buNone/>
            </a:pPr>
            <a:r>
              <a:rPr lang="en-US" sz="4400" b="1">
                <a:solidFill>
                  <a:schemeClr val="lt1"/>
                </a:solidFill>
                <a:latin typeface="Calibri"/>
                <a:ea typeface="Calibri"/>
                <a:cs typeface="Calibri"/>
                <a:sym typeface="Calibri"/>
              </a:rPr>
              <a:t>BANGLADESH AT INDEPENDENCE</a:t>
            </a:r>
            <a:endParaRPr/>
          </a:p>
        </p:txBody>
      </p:sp>
      <p:sp>
        <p:nvSpPr>
          <p:cNvPr id="112" name="Google Shape;112;p8"/>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9"/>
          <p:cNvSpPr txBox="1">
            <a:spLocks noGrp="1"/>
          </p:cNvSpPr>
          <p:nvPr>
            <p:ph type="body" idx="1"/>
          </p:nvPr>
        </p:nvSpPr>
        <p:spPr>
          <a:xfrm>
            <a:off x="152400" y="914400"/>
            <a:ext cx="8839200" cy="5791200"/>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lnSpc>
                <a:spcPct val="107000"/>
              </a:lnSpc>
              <a:spcBef>
                <a:spcPts val="0"/>
              </a:spcBef>
              <a:spcAft>
                <a:spcPts val="0"/>
              </a:spcAft>
              <a:buClr>
                <a:schemeClr val="dk1"/>
              </a:buClr>
              <a:buSzPct val="100000"/>
              <a:buNone/>
            </a:pPr>
            <a:r>
              <a:rPr lang="en-US" sz="2600" b="1"/>
              <a:t>Fazle Hasan Abed returns to Bangladesh January 1972</a:t>
            </a:r>
            <a:endParaRPr/>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r>
              <a:rPr lang="en-US" sz="2600" b="1" i="1"/>
              <a:t>creates BRAC: January 1972</a:t>
            </a:r>
            <a:endParaRPr/>
          </a:p>
          <a:p>
            <a:pPr marL="342900" marR="0" lvl="0" indent="-342900" algn="l" rtl="0">
              <a:lnSpc>
                <a:spcPct val="107000"/>
              </a:lnSpc>
              <a:spcBef>
                <a:spcPts val="0"/>
              </a:spcBef>
              <a:spcAft>
                <a:spcPts val="0"/>
              </a:spcAft>
              <a:buClr>
                <a:schemeClr val="dk1"/>
              </a:buClr>
              <a:buSzPct val="100000"/>
              <a:buFont typeface="Noto Sans Symbols"/>
              <a:buChar char="⮚"/>
            </a:pPr>
            <a:r>
              <a:rPr lang="en-US" sz="2600" b="1" i="1"/>
              <a:t>conduct relief and rehabilitation in Sulla</a:t>
            </a: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r>
              <a:rPr lang="en-US" sz="2600" b="1" i="1"/>
              <a:t>starts long term Sulla (community) development: October 1972</a:t>
            </a:r>
            <a:endParaRPr/>
          </a:p>
          <a:p>
            <a:pPr marL="342900" marR="0" lvl="0" indent="-342900" algn="l" rtl="0">
              <a:lnSpc>
                <a:spcPct val="107000"/>
              </a:lnSpc>
              <a:spcBef>
                <a:spcPts val="0"/>
              </a:spcBef>
              <a:spcAft>
                <a:spcPts val="0"/>
              </a:spcAft>
              <a:buClr>
                <a:schemeClr val="dk1"/>
              </a:buClr>
              <a:buSzPct val="100000"/>
              <a:buFont typeface="Noto Sans Symbols"/>
              <a:buChar char="⮚"/>
            </a:pPr>
            <a:r>
              <a:rPr lang="en-US" sz="2600" b="1" i="1"/>
              <a:t>build community centers (gonokendros)</a:t>
            </a:r>
            <a:endParaRPr/>
          </a:p>
          <a:p>
            <a:pPr marL="342900" marR="0" lvl="0" indent="-342900" algn="l" rtl="0">
              <a:lnSpc>
                <a:spcPct val="107000"/>
              </a:lnSpc>
              <a:spcBef>
                <a:spcPts val="0"/>
              </a:spcBef>
              <a:spcAft>
                <a:spcPts val="0"/>
              </a:spcAft>
              <a:buClr>
                <a:schemeClr val="dk1"/>
              </a:buClr>
              <a:buSzPct val="100000"/>
              <a:buFont typeface="Noto Sans Symbols"/>
              <a:buChar char="⮚"/>
            </a:pPr>
            <a:r>
              <a:rPr lang="en-US" sz="2600" b="1" i="1"/>
              <a:t>provide adult literacy &amp; occupational skills development programs</a:t>
            </a:r>
            <a:endParaRPr/>
          </a:p>
          <a:p>
            <a:pPr marL="342900" marR="0" lvl="0" indent="-342900" algn="l" rtl="0">
              <a:lnSpc>
                <a:spcPct val="107000"/>
              </a:lnSpc>
              <a:spcBef>
                <a:spcPts val="0"/>
              </a:spcBef>
              <a:spcAft>
                <a:spcPts val="0"/>
              </a:spcAft>
              <a:buClr>
                <a:schemeClr val="dk1"/>
              </a:buClr>
              <a:buSzPct val="100000"/>
              <a:buFont typeface="Noto Sans Symbols"/>
              <a:buChar char="⮚"/>
            </a:pPr>
            <a:r>
              <a:rPr lang="en-US" sz="2600" b="1" i="1"/>
              <a:t>form cooperative societies </a:t>
            </a:r>
            <a:endParaRPr/>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r>
              <a:rPr lang="en-US" sz="2600" b="1" i="1"/>
              <a:t>Abed had previous experience in disaster relief creating HELP and providing relief in 1970 cyclone devastated Manpura</a:t>
            </a: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endParaRPr sz="2600" b="1" i="1"/>
          </a:p>
          <a:p>
            <a:pPr marL="0" marR="0" lvl="0" indent="0" algn="l" rtl="0">
              <a:lnSpc>
                <a:spcPct val="107000"/>
              </a:lnSpc>
              <a:spcBef>
                <a:spcPts val="0"/>
              </a:spcBef>
              <a:spcAft>
                <a:spcPts val="0"/>
              </a:spcAft>
              <a:buClr>
                <a:schemeClr val="dk1"/>
              </a:buClr>
              <a:buSzPct val="100000"/>
              <a:buNone/>
            </a:pPr>
            <a:endParaRPr sz="2600" b="1"/>
          </a:p>
        </p:txBody>
      </p:sp>
      <p:sp>
        <p:nvSpPr>
          <p:cNvPr id="118" name="Google Shape;118;p9"/>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a:solidFill>
                  <a:schemeClr val="lt1"/>
                </a:solidFill>
                <a:latin typeface="Calibri"/>
                <a:ea typeface="Calibri"/>
                <a:cs typeface="Calibri"/>
                <a:sym typeface="Calibri"/>
              </a:rPr>
              <a:t>TREMENDOUS NATIONAL ENERGY IN REBUILDING</a:t>
            </a:r>
            <a:r>
              <a:rPr lang="en-US" sz="2600" b="1" i="0" u="none" strike="noStrike" cap="none">
                <a:solidFill>
                  <a:schemeClr val="lt1"/>
                </a:solidFill>
                <a:latin typeface="Calibri"/>
                <a:ea typeface="Calibri"/>
                <a:cs typeface="Calibri"/>
                <a:sym typeface="Calibri"/>
              </a:rPr>
              <a:t> B</a:t>
            </a:r>
            <a:r>
              <a:rPr lang="en-US" sz="2600" b="1">
                <a:solidFill>
                  <a:schemeClr val="lt1"/>
                </a:solidFill>
                <a:latin typeface="Calibri"/>
                <a:ea typeface="Calibri"/>
                <a:cs typeface="Calibri"/>
                <a:sym typeface="Calibri"/>
              </a:rPr>
              <a:t>ANGLADESH</a:t>
            </a:r>
            <a:endParaRPr sz="975"/>
          </a:p>
        </p:txBody>
      </p:sp>
      <p:sp>
        <p:nvSpPr>
          <p:cNvPr id="119" name="Google Shape;119;p9"/>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123"/>
        <p:cNvGrpSpPr/>
        <p:nvPr/>
      </p:nvGrpSpPr>
      <p:grpSpPr>
        <a:xfrm>
          <a:off x="0" y="0"/>
          <a:ext cx="0" cy="0"/>
          <a:chOff x="0" y="0"/>
          <a:chExt cx="0" cy="0"/>
        </a:xfrm>
      </p:grpSpPr>
      <p:sp>
        <p:nvSpPr>
          <p:cNvPr id="125" name="Google Shape;125;p10"/>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a:solidFill>
                  <a:schemeClr val="lt1"/>
                </a:solidFill>
                <a:latin typeface="Calibri"/>
                <a:ea typeface="Calibri"/>
                <a:cs typeface="Calibri"/>
                <a:sym typeface="Calibri"/>
              </a:rPr>
              <a:t>FOUNDER OF BRAC</a:t>
            </a:r>
            <a:endParaRPr sz="4000" b="1" i="0" u="none" strike="noStrike" cap="none">
              <a:solidFill>
                <a:schemeClr val="lt1"/>
              </a:solidFill>
              <a:latin typeface="Calibri"/>
              <a:ea typeface="Calibri"/>
              <a:cs typeface="Calibri"/>
              <a:sym typeface="Calibri"/>
            </a:endParaRPr>
          </a:p>
        </p:txBody>
      </p:sp>
      <p:sp>
        <p:nvSpPr>
          <p:cNvPr id="126" name="Google Shape;126;p10"/>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20166" r="16180"/>
          <a:stretch/>
        </p:blipFill>
        <p:spPr>
          <a:xfrm>
            <a:off x="2189014" y="1011380"/>
            <a:ext cx="4959927" cy="5611090"/>
          </a:xfrm>
          <a:prstGeom prst="rect">
            <a:avLst/>
          </a:prstGeom>
          <a:ln>
            <a:noFill/>
          </a:ln>
          <a:effectLst>
            <a:softEdge rad="112500"/>
          </a:effectLst>
        </p:spPr>
      </p:pic>
      <p:sp>
        <p:nvSpPr>
          <p:cNvPr id="4" name="TextBox 3"/>
          <p:cNvSpPr txBox="1"/>
          <p:nvPr/>
        </p:nvSpPr>
        <p:spPr>
          <a:xfrm>
            <a:off x="3103409" y="6457890"/>
            <a:ext cx="3422074" cy="400110"/>
          </a:xfrm>
          <a:prstGeom prst="rect">
            <a:avLst/>
          </a:prstGeom>
          <a:noFill/>
        </p:spPr>
        <p:txBody>
          <a:bodyPr wrap="square" rtlCol="0">
            <a:spAutoFit/>
          </a:bodyPr>
          <a:lstStyle/>
          <a:p>
            <a:r>
              <a:rPr lang="en-US" sz="2000" b="1" i="1" dirty="0">
                <a:solidFill>
                  <a:schemeClr val="tx2">
                    <a:lumMod val="1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SIR FAZLE HASAN ABED KCMG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0"/>
          <p:cNvSpPr txBox="1">
            <a:spLocks noGrp="1"/>
          </p:cNvSpPr>
          <p:nvPr>
            <p:ph type="body" idx="1"/>
          </p:nvPr>
        </p:nvSpPr>
        <p:spPr>
          <a:xfrm>
            <a:off x="152400" y="914400"/>
            <a:ext cx="8839200" cy="5791200"/>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rgbClr val="FF0000"/>
              </a:buClr>
              <a:buSzPts val="2800"/>
              <a:buNone/>
            </a:pPr>
            <a:r>
              <a:rPr lang="en-US" sz="2800" b="1">
                <a:solidFill>
                  <a:srgbClr val="FF0000"/>
                </a:solidFill>
              </a:rPr>
              <a:t>Please add picture of Sir Fazle Hasan Abed</a:t>
            </a:r>
            <a:endParaRPr sz="2600" b="1">
              <a:solidFill>
                <a:srgbClr val="FF0000"/>
              </a:solidFill>
            </a:endParaRPr>
          </a:p>
        </p:txBody>
      </p:sp>
      <p:sp>
        <p:nvSpPr>
          <p:cNvPr id="125" name="Google Shape;125;p10"/>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a:solidFill>
                  <a:schemeClr val="lt1"/>
                </a:solidFill>
                <a:latin typeface="Calibri"/>
                <a:ea typeface="Calibri"/>
                <a:cs typeface="Calibri"/>
                <a:sym typeface="Calibri"/>
              </a:rPr>
              <a:t>FOUNDER OF BRAC</a:t>
            </a:r>
            <a:endParaRPr sz="4000" b="1" i="0" u="none" strike="noStrike" cap="none">
              <a:solidFill>
                <a:schemeClr val="lt1"/>
              </a:solidFill>
              <a:latin typeface="Calibri"/>
              <a:ea typeface="Calibri"/>
              <a:cs typeface="Calibri"/>
              <a:sym typeface="Calibri"/>
            </a:endParaRPr>
          </a:p>
        </p:txBody>
      </p:sp>
      <p:sp>
        <p:nvSpPr>
          <p:cNvPr id="126" name="Google Shape;126;p10"/>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127" name="Google Shape;127;p10"/>
          <p:cNvPicPr preferRelativeResize="0"/>
          <p:nvPr/>
        </p:nvPicPr>
        <p:blipFill>
          <a:blip r:embed="rId3">
            <a:alphaModFix/>
          </a:blip>
          <a:stretch>
            <a:fillRect/>
          </a:stretch>
        </p:blipFill>
        <p:spPr>
          <a:xfrm>
            <a:off x="152400" y="1066800"/>
            <a:ext cx="8839200" cy="5638800"/>
          </a:xfrm>
          <a:prstGeom prst="rect">
            <a:avLst/>
          </a:prstGeom>
          <a:noFill/>
          <a:ln>
            <a:noFill/>
          </a:ln>
        </p:spPr>
      </p:pic>
    </p:spTree>
    <p:extLst>
      <p:ext uri="{BB962C8B-B14F-4D97-AF65-F5344CB8AC3E}">
        <p14:creationId xmlns:p14="http://schemas.microsoft.com/office/powerpoint/2010/main" val="373431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1"/>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a:solidFill>
                  <a:schemeClr val="lt1"/>
                </a:solidFill>
                <a:latin typeface="Calibri"/>
                <a:ea typeface="Calibri"/>
                <a:cs typeface="Calibri"/>
                <a:sym typeface="Calibri"/>
              </a:rPr>
              <a:t>LESSON FROM SULLA</a:t>
            </a:r>
            <a:endParaRPr sz="4000" b="1" i="0" u="none" strike="noStrike" cap="none">
              <a:solidFill>
                <a:schemeClr val="lt1"/>
              </a:solidFill>
              <a:latin typeface="Calibri"/>
              <a:ea typeface="Calibri"/>
              <a:cs typeface="Calibri"/>
              <a:sym typeface="Calibri"/>
            </a:endParaRPr>
          </a:p>
        </p:txBody>
      </p:sp>
      <p:sp>
        <p:nvSpPr>
          <p:cNvPr id="133" name="Google Shape;133;p11"/>
          <p:cNvSpPr/>
          <p:nvPr/>
        </p:nvSpPr>
        <p:spPr>
          <a:xfrm>
            <a:off x="0" y="762000"/>
            <a:ext cx="9144000" cy="1635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
        <p:nvSpPr>
          <p:cNvPr id="134" name="Google Shape;134;p11"/>
          <p:cNvSpPr txBox="1"/>
          <p:nvPr/>
        </p:nvSpPr>
        <p:spPr>
          <a:xfrm>
            <a:off x="198300" y="1024575"/>
            <a:ext cx="8874000" cy="790170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Need for self-reflection and transparency</a:t>
            </a:r>
            <a:endParaRPr/>
          </a:p>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Build staff competency </a:t>
            </a:r>
            <a:endParaRPr/>
          </a:p>
          <a:p>
            <a:pPr marL="0" marR="0" lvl="0" indent="0" algn="l" rtl="0">
              <a:lnSpc>
                <a:spcPct val="107000"/>
              </a:lnSpc>
              <a:spcBef>
                <a:spcPts val="0"/>
              </a:spcBef>
              <a:spcAft>
                <a:spcPts val="0"/>
              </a:spcAft>
              <a:buNone/>
            </a:pPr>
            <a:r>
              <a:rPr lang="en-US" sz="2800" b="1">
                <a:solidFill>
                  <a:schemeClr val="dk1"/>
                </a:solidFill>
                <a:latin typeface="Calibri"/>
                <a:ea typeface="Calibri"/>
                <a:cs typeface="Calibri"/>
                <a:sym typeface="Calibri"/>
              </a:rPr>
              <a:t>	management</a:t>
            </a:r>
            <a:endParaRPr/>
          </a:p>
          <a:p>
            <a:pPr marL="0" marR="0" lvl="0" indent="0" algn="l" rtl="0">
              <a:lnSpc>
                <a:spcPct val="107000"/>
              </a:lnSpc>
              <a:spcBef>
                <a:spcPts val="0"/>
              </a:spcBef>
              <a:spcAft>
                <a:spcPts val="0"/>
              </a:spcAft>
              <a:buNone/>
            </a:pPr>
            <a:r>
              <a:rPr lang="en-US" sz="2800" b="1">
                <a:solidFill>
                  <a:schemeClr val="dk1"/>
                </a:solidFill>
                <a:latin typeface="Calibri"/>
                <a:ea typeface="Calibri"/>
                <a:cs typeface="Calibri"/>
                <a:sym typeface="Calibri"/>
              </a:rPr>
              <a:t>	adult education</a:t>
            </a:r>
            <a:endParaRPr/>
          </a:p>
          <a:p>
            <a:pPr marL="0" marR="0" lvl="0" indent="0" algn="l" rtl="0">
              <a:lnSpc>
                <a:spcPct val="107000"/>
              </a:lnSpc>
              <a:spcBef>
                <a:spcPts val="0"/>
              </a:spcBef>
              <a:spcAft>
                <a:spcPts val="0"/>
              </a:spcAft>
              <a:buNone/>
            </a:pPr>
            <a:r>
              <a:rPr lang="en-US" sz="2800" b="1">
                <a:solidFill>
                  <a:schemeClr val="dk1"/>
                </a:solidFill>
                <a:latin typeface="Calibri"/>
                <a:ea typeface="Calibri"/>
                <a:cs typeface="Calibri"/>
                <a:sym typeface="Calibri"/>
              </a:rPr>
              <a:t>	health paramedics</a:t>
            </a:r>
            <a:endParaRPr/>
          </a:p>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Focus on savings </a:t>
            </a:r>
            <a:endParaRPr sz="2800" b="1">
              <a:solidFill>
                <a:schemeClr val="dk1"/>
              </a:solidFill>
              <a:latin typeface="Calibri"/>
              <a:ea typeface="Calibri"/>
              <a:cs typeface="Calibri"/>
              <a:sym typeface="Calibri"/>
            </a:endParaRPr>
          </a:p>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Develop income generating activities </a:t>
            </a:r>
            <a:endParaRPr/>
          </a:p>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Target women</a:t>
            </a:r>
            <a:endParaRPr/>
          </a:p>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Move from handouts to cost-recovery</a:t>
            </a:r>
            <a:endParaRPr sz="2800" b="1">
              <a:solidFill>
                <a:schemeClr val="dk1"/>
              </a:solidFill>
              <a:latin typeface="Calibri"/>
              <a:ea typeface="Calibri"/>
              <a:cs typeface="Calibri"/>
              <a:sym typeface="Calibri"/>
            </a:endParaRPr>
          </a:p>
          <a:p>
            <a:pPr marL="457200" marR="0" lvl="0" indent="-457200" algn="l" rtl="0">
              <a:lnSpc>
                <a:spcPct val="107000"/>
              </a:lnSpc>
              <a:spcBef>
                <a:spcPts val="0"/>
              </a:spcBef>
              <a:spcAft>
                <a:spcPts val="0"/>
              </a:spcAft>
              <a:buClr>
                <a:schemeClr val="dk1"/>
              </a:buClr>
              <a:buSzPts val="2800"/>
              <a:buFont typeface="Noto Sans Symbols"/>
              <a:buChar char="⮚"/>
            </a:pPr>
            <a:r>
              <a:rPr lang="en-US" sz="2800" b="1">
                <a:solidFill>
                  <a:schemeClr val="dk1"/>
                </a:solidFill>
                <a:latin typeface="Calibri"/>
                <a:ea typeface="Calibri"/>
                <a:cs typeface="Calibri"/>
                <a:sym typeface="Calibri"/>
              </a:rPr>
              <a:t>Reduce donor dependence through internal resource mobilization</a:t>
            </a:r>
            <a:endParaRPr/>
          </a:p>
          <a:p>
            <a:pPr marL="0" marR="0" lvl="0" indent="0" algn="l" rtl="0">
              <a:lnSpc>
                <a:spcPct val="107000"/>
              </a:lnSpc>
              <a:spcBef>
                <a:spcPts val="0"/>
              </a:spcBef>
              <a:spcAft>
                <a:spcPts val="0"/>
              </a:spcAft>
              <a:buNone/>
            </a:pPr>
            <a:r>
              <a:rPr lang="en-US" sz="2800" b="1" i="1">
                <a:solidFill>
                  <a:schemeClr val="dk1"/>
                </a:solidFill>
                <a:latin typeface="Calibri"/>
                <a:ea typeface="Calibri"/>
                <a:cs typeface="Calibri"/>
                <a:sym typeface="Calibri"/>
              </a:rPr>
              <a:t>long term sustainability critical for development</a:t>
            </a:r>
            <a:endParaRPr/>
          </a:p>
          <a:p>
            <a:pPr marL="0" marR="0" lvl="0" indent="0" algn="l" rtl="0">
              <a:lnSpc>
                <a:spcPct val="107000"/>
              </a:lnSpc>
              <a:spcBef>
                <a:spcPts val="0"/>
              </a:spcBef>
              <a:spcAft>
                <a:spcPts val="0"/>
              </a:spcAft>
              <a:buClr>
                <a:schemeClr val="dk1"/>
              </a:buClr>
              <a:buSzPts val="2800"/>
              <a:buFont typeface="Calibri"/>
              <a:buNone/>
            </a:pPr>
            <a:endParaRPr sz="2800" b="1" i="1">
              <a:solidFill>
                <a:schemeClr val="dk1"/>
              </a:solidFill>
              <a:latin typeface="Calibri"/>
              <a:ea typeface="Calibri"/>
              <a:cs typeface="Calibri"/>
              <a:sym typeface="Calibri"/>
            </a:endParaRPr>
          </a:p>
          <a:p>
            <a:pPr marL="0" marR="0" lvl="0" indent="0" algn="l" rtl="0">
              <a:lnSpc>
                <a:spcPct val="107000"/>
              </a:lnSpc>
              <a:spcBef>
                <a:spcPts val="0"/>
              </a:spcBef>
              <a:spcAft>
                <a:spcPts val="0"/>
              </a:spcAft>
              <a:buClr>
                <a:schemeClr val="dk1"/>
              </a:buClr>
              <a:buSzPts val="2800"/>
              <a:buFont typeface="Calibri"/>
              <a:buNone/>
            </a:pPr>
            <a:endParaRPr sz="2800" b="1" i="1">
              <a:solidFill>
                <a:schemeClr val="dk1"/>
              </a:solidFill>
              <a:latin typeface="Calibri"/>
              <a:ea typeface="Calibri"/>
              <a:cs typeface="Calibri"/>
              <a:sym typeface="Calibri"/>
            </a:endParaRPr>
          </a:p>
          <a:p>
            <a:pPr marL="0" marR="0" lvl="0" indent="0" algn="l" rtl="0">
              <a:lnSpc>
                <a:spcPct val="107000"/>
              </a:lnSpc>
              <a:spcBef>
                <a:spcPts val="0"/>
              </a:spcBef>
              <a:spcAft>
                <a:spcPts val="0"/>
              </a:spcAft>
              <a:buClr>
                <a:schemeClr val="dk1"/>
              </a:buClr>
              <a:buSzPts val="2800"/>
              <a:buFont typeface="Calibri"/>
              <a:buNone/>
            </a:pPr>
            <a:endParaRPr sz="2800" b="1" i="1">
              <a:solidFill>
                <a:schemeClr val="dk1"/>
              </a:solidFill>
              <a:latin typeface="Calibri"/>
              <a:ea typeface="Calibri"/>
              <a:cs typeface="Calibri"/>
              <a:sym typeface="Calibri"/>
            </a:endParaRPr>
          </a:p>
          <a:p>
            <a:pPr marL="0" marR="0" lvl="0" indent="0" algn="l" rtl="0">
              <a:lnSpc>
                <a:spcPct val="107000"/>
              </a:lnSpc>
              <a:spcBef>
                <a:spcPts val="0"/>
              </a:spcBef>
              <a:spcAft>
                <a:spcPts val="0"/>
              </a:spcAft>
              <a:buClr>
                <a:schemeClr val="dk1"/>
              </a:buClr>
              <a:buSzPts val="2800"/>
              <a:buFont typeface="Calibri"/>
              <a:buNone/>
            </a:pPr>
            <a:endParaRPr sz="2800" b="1" i="1">
              <a:solidFill>
                <a:schemeClr val="dk1"/>
              </a:solidFill>
              <a:latin typeface="Calibri"/>
              <a:ea typeface="Calibri"/>
              <a:cs typeface="Calibri"/>
              <a:sym typeface="Calibri"/>
            </a:endParaRPr>
          </a:p>
          <a:p>
            <a:pPr marL="0" marR="0" lvl="0" indent="0" algn="l" rtl="0">
              <a:lnSpc>
                <a:spcPct val="107000"/>
              </a:lnSpc>
              <a:spcBef>
                <a:spcPts val="0"/>
              </a:spcBef>
              <a:spcAft>
                <a:spcPts val="0"/>
              </a:spcAft>
              <a:buClr>
                <a:schemeClr val="dk1"/>
              </a:buClr>
              <a:buSzPts val="2800"/>
              <a:buFont typeface="Calibri"/>
              <a:buNone/>
            </a:pPr>
            <a:endParaRPr sz="2800" b="1" i="1">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2"/>
          <p:cNvSpPr txBox="1">
            <a:spLocks noGrp="1"/>
          </p:cNvSpPr>
          <p:nvPr>
            <p:ph type="body" idx="1"/>
          </p:nvPr>
        </p:nvSpPr>
        <p:spPr>
          <a:xfrm>
            <a:off x="152400" y="1041100"/>
            <a:ext cx="8839200" cy="5664600"/>
          </a:xfrm>
          <a:prstGeom prst="rect">
            <a:avLst/>
          </a:prstGeom>
          <a:noFill/>
          <a:ln>
            <a:noFill/>
          </a:ln>
        </p:spPr>
        <p:txBody>
          <a:bodyPr spcFirstLastPara="1" wrap="square" lIns="91425" tIns="45700" rIns="91425" bIns="45700" anchor="t" anchorCtr="0">
            <a:normAutofit fontScale="77500" lnSpcReduction="20000"/>
          </a:bodyPr>
          <a:lstStyle/>
          <a:p>
            <a:pPr marL="0" marR="0" lvl="0" indent="0" algn="l" rtl="0">
              <a:lnSpc>
                <a:spcPct val="107000"/>
              </a:lnSpc>
              <a:spcBef>
                <a:spcPts val="0"/>
              </a:spcBef>
              <a:spcAft>
                <a:spcPts val="0"/>
              </a:spcAft>
              <a:buClr>
                <a:schemeClr val="dk1"/>
              </a:buClr>
              <a:buSzPct val="73383"/>
              <a:buNone/>
            </a:pPr>
            <a:r>
              <a:rPr lang="en-US" sz="3543" b="1"/>
              <a:t>Jamalpur: June 1975 </a:t>
            </a:r>
            <a:endParaRPr sz="4143"/>
          </a:p>
          <a:p>
            <a:pPr marL="0" marR="0" lvl="0" indent="0" algn="l" rtl="0">
              <a:lnSpc>
                <a:spcPct val="107000"/>
              </a:lnSpc>
              <a:spcBef>
                <a:spcPts val="0"/>
              </a:spcBef>
              <a:spcAft>
                <a:spcPts val="0"/>
              </a:spcAft>
              <a:buClr>
                <a:schemeClr val="dk1"/>
              </a:buClr>
              <a:buSzPct val="71791"/>
              <a:buNone/>
            </a:pPr>
            <a:r>
              <a:rPr lang="en-US" sz="3343" b="1"/>
              <a:t>exclusively for a small number of FFW recipient women</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literacy training</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health hygiene and family planning</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joint savings</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cooperative economic activities in poultry and horticulture</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self confidence and self esteem </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staffing from local 8</a:t>
            </a:r>
            <a:r>
              <a:rPr lang="en-US" sz="3343" b="1" baseline="30000"/>
              <a:t>th</a:t>
            </a:r>
            <a:r>
              <a:rPr lang="en-US" sz="3343" b="1"/>
              <a:t> grade educated women</a:t>
            </a:r>
            <a:endParaRPr sz="4143"/>
          </a:p>
          <a:p>
            <a:pPr marL="0" marR="0" lvl="0" indent="0" algn="l" rtl="0">
              <a:lnSpc>
                <a:spcPct val="107000"/>
              </a:lnSpc>
              <a:spcBef>
                <a:spcPts val="0"/>
              </a:spcBef>
              <a:spcAft>
                <a:spcPts val="0"/>
              </a:spcAft>
              <a:buClr>
                <a:schemeClr val="dk1"/>
              </a:buClr>
              <a:buSzPct val="73383"/>
              <a:buNone/>
            </a:pPr>
            <a:endParaRPr sz="3543" b="1"/>
          </a:p>
          <a:p>
            <a:pPr marL="0" marR="0" lvl="0" indent="0" algn="l" rtl="0">
              <a:lnSpc>
                <a:spcPct val="107000"/>
              </a:lnSpc>
              <a:spcBef>
                <a:spcPts val="0"/>
              </a:spcBef>
              <a:spcAft>
                <a:spcPts val="0"/>
              </a:spcAft>
              <a:buClr>
                <a:schemeClr val="dk1"/>
              </a:buClr>
              <a:buSzPct val="73383"/>
              <a:buNone/>
            </a:pPr>
            <a:r>
              <a:rPr lang="en-US" sz="3543" b="1"/>
              <a:t>Manikganj: end 1975</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functional education centers</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health workers and paramedics </a:t>
            </a:r>
            <a:endParaRPr sz="4143"/>
          </a:p>
          <a:p>
            <a:pPr marL="342900" marR="0" lvl="0" indent="-366448" algn="l" rtl="0">
              <a:lnSpc>
                <a:spcPct val="107000"/>
              </a:lnSpc>
              <a:spcBef>
                <a:spcPts val="0"/>
              </a:spcBef>
              <a:spcAft>
                <a:spcPts val="0"/>
              </a:spcAft>
              <a:buClr>
                <a:schemeClr val="dk1"/>
              </a:buClr>
              <a:buSzPct val="100000"/>
              <a:buFont typeface="Calibri"/>
              <a:buChar char="-"/>
            </a:pPr>
            <a:r>
              <a:rPr lang="en-US" sz="3343" b="1"/>
              <a:t>cooperatives with savings and loan services</a:t>
            </a:r>
            <a:endParaRPr sz="4143"/>
          </a:p>
          <a:p>
            <a:pPr marL="0" marR="0" lvl="0" indent="0" algn="l" rtl="0">
              <a:lnSpc>
                <a:spcPct val="107000"/>
              </a:lnSpc>
              <a:spcBef>
                <a:spcPts val="0"/>
              </a:spcBef>
              <a:spcAft>
                <a:spcPts val="0"/>
              </a:spcAft>
              <a:buClr>
                <a:schemeClr val="dk1"/>
              </a:buClr>
              <a:buSzPct val="100000"/>
              <a:buNone/>
            </a:pPr>
            <a:endParaRPr sz="2600" b="1"/>
          </a:p>
          <a:p>
            <a:pPr marL="0" marR="0" lvl="0" indent="0" algn="l" rtl="0">
              <a:lnSpc>
                <a:spcPct val="107000"/>
              </a:lnSpc>
              <a:spcBef>
                <a:spcPts val="0"/>
              </a:spcBef>
              <a:spcAft>
                <a:spcPts val="0"/>
              </a:spcAft>
              <a:buClr>
                <a:schemeClr val="dk1"/>
              </a:buClr>
              <a:buSzPct val="100000"/>
              <a:buNone/>
            </a:pPr>
            <a:endParaRPr sz="2600" b="1"/>
          </a:p>
          <a:p>
            <a:pPr marL="0" marR="0" lvl="0" indent="0" algn="l" rtl="0">
              <a:lnSpc>
                <a:spcPct val="107000"/>
              </a:lnSpc>
              <a:spcBef>
                <a:spcPts val="0"/>
              </a:spcBef>
              <a:spcAft>
                <a:spcPts val="0"/>
              </a:spcAft>
              <a:buClr>
                <a:schemeClr val="dk1"/>
              </a:buClr>
              <a:buSzPct val="100000"/>
              <a:buNone/>
            </a:pPr>
            <a:r>
              <a:rPr lang="en-US" sz="1800" b="1" i="1"/>
              <a:t>Source: Ian Smillie</a:t>
            </a:r>
            <a:endParaRPr sz="1800" b="1" i="1"/>
          </a:p>
          <a:p>
            <a:pPr marL="342900" marR="0" lvl="0" indent="-190182" algn="l" rtl="0">
              <a:lnSpc>
                <a:spcPct val="107000"/>
              </a:lnSpc>
              <a:spcBef>
                <a:spcPts val="0"/>
              </a:spcBef>
              <a:spcAft>
                <a:spcPts val="0"/>
              </a:spcAft>
              <a:buClr>
                <a:schemeClr val="dk1"/>
              </a:buClr>
              <a:buSzPct val="100000"/>
              <a:buFont typeface="Calibri"/>
              <a:buNone/>
            </a:pPr>
            <a:endParaRPr sz="2600" b="1"/>
          </a:p>
        </p:txBody>
      </p:sp>
      <p:sp>
        <p:nvSpPr>
          <p:cNvPr id="140" name="Google Shape;140;p12"/>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300" b="1" i="0" u="none" strike="noStrike" cap="none">
                <a:solidFill>
                  <a:schemeClr val="lt1"/>
                </a:solidFill>
                <a:latin typeface="Calibri"/>
                <a:ea typeface="Calibri"/>
                <a:cs typeface="Calibri"/>
                <a:sym typeface="Calibri"/>
              </a:rPr>
              <a:t>BRAC E</a:t>
            </a:r>
            <a:r>
              <a:rPr lang="en-US" sz="3300" b="1">
                <a:solidFill>
                  <a:schemeClr val="lt1"/>
                </a:solidFill>
                <a:latin typeface="Calibri"/>
                <a:ea typeface="Calibri"/>
                <a:cs typeface="Calibri"/>
                <a:sym typeface="Calibri"/>
              </a:rPr>
              <a:t>XPANSION TO JAMALPUR AND MANIKGANJ</a:t>
            </a:r>
            <a:endParaRPr sz="3300" b="1" i="0" u="none" strike="noStrike" cap="none">
              <a:solidFill>
                <a:schemeClr val="lt1"/>
              </a:solidFill>
              <a:latin typeface="Calibri"/>
              <a:ea typeface="Calibri"/>
              <a:cs typeface="Calibri"/>
              <a:sym typeface="Calibri"/>
            </a:endParaRPr>
          </a:p>
        </p:txBody>
      </p:sp>
      <p:sp>
        <p:nvSpPr>
          <p:cNvPr id="141" name="Google Shape;141;p12"/>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3"/>
          <p:cNvSpPr txBox="1">
            <a:spLocks noGrp="1"/>
          </p:cNvSpPr>
          <p:nvPr>
            <p:ph type="body" idx="1"/>
          </p:nvPr>
        </p:nvSpPr>
        <p:spPr>
          <a:xfrm>
            <a:off x="152400" y="914400"/>
            <a:ext cx="8839200" cy="615840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chemeClr val="dk1"/>
              </a:buClr>
              <a:buSzPct val="100000"/>
              <a:buNone/>
            </a:pPr>
            <a:r>
              <a:rPr lang="en-US" sz="9600" b="1"/>
              <a:t>BRAC’s immersion in post-independence rural Bangladesh and first hand understanding of poverty and the poor led to major critical insights</a:t>
            </a:r>
            <a:endParaRPr/>
          </a:p>
          <a:p>
            <a:pPr marL="0" marR="0" lvl="0" indent="0" algn="l" rtl="0">
              <a:lnSpc>
                <a:spcPct val="100000"/>
              </a:lnSpc>
              <a:spcBef>
                <a:spcPts val="0"/>
              </a:spcBef>
              <a:spcAft>
                <a:spcPts val="0"/>
              </a:spcAft>
              <a:buClr>
                <a:schemeClr val="dk1"/>
              </a:buClr>
              <a:buSzPct val="100000"/>
              <a:buNone/>
            </a:pPr>
            <a:endParaRPr sz="9600" b="1"/>
          </a:p>
          <a:p>
            <a:pPr marL="0" marR="0" lvl="0" indent="0" algn="l" rtl="0">
              <a:lnSpc>
                <a:spcPct val="100000"/>
              </a:lnSpc>
              <a:spcBef>
                <a:spcPts val="0"/>
              </a:spcBef>
              <a:spcAft>
                <a:spcPts val="0"/>
              </a:spcAft>
              <a:buClr>
                <a:schemeClr val="dk1"/>
              </a:buClr>
              <a:buSzPct val="100000"/>
              <a:buNone/>
            </a:pPr>
            <a:r>
              <a:rPr lang="en-US" sz="9600" b="1"/>
              <a:t>Poverty was not a mere economic phenomenon, nor was it a “natural” condition; poverty was created, strengthened and reproduced through unequal structures of power</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unequal landownership and resources</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dominant kinship and factions</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linkages to political and bureaucratic elites</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control of capital markets (moneylending, usury, dadan)</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control of product markets (payment of low prices to producers)</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control of labor markets (low wages, advance sale of labor, </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extra economic coercion</a:t>
            </a:r>
            <a:endParaRPr/>
          </a:p>
          <a:p>
            <a:pPr marL="342900" marR="0" lvl="0" indent="-342900" algn="l" rtl="0">
              <a:lnSpc>
                <a:spcPct val="107000"/>
              </a:lnSpc>
              <a:spcBef>
                <a:spcPts val="0"/>
              </a:spcBef>
              <a:spcAft>
                <a:spcPts val="0"/>
              </a:spcAft>
              <a:buClr>
                <a:schemeClr val="dk1"/>
              </a:buClr>
              <a:buSzPct val="100000"/>
              <a:buFont typeface="Calibri"/>
              <a:buChar char="-"/>
            </a:pPr>
            <a:r>
              <a:rPr lang="en-US" sz="9600" b="1"/>
              <a:t>patriarchal structures</a:t>
            </a:r>
            <a:endParaRPr/>
          </a:p>
          <a:p>
            <a:pPr marL="342900" marR="0" lvl="0" indent="-190500" algn="l" rtl="0">
              <a:lnSpc>
                <a:spcPct val="107000"/>
              </a:lnSpc>
              <a:spcBef>
                <a:spcPts val="0"/>
              </a:spcBef>
              <a:spcAft>
                <a:spcPts val="0"/>
              </a:spcAft>
              <a:buClr>
                <a:schemeClr val="dk1"/>
              </a:buClr>
              <a:buSzPct val="100000"/>
              <a:buFont typeface="Calibri"/>
              <a:buNone/>
            </a:pPr>
            <a:endParaRPr sz="9600" b="1"/>
          </a:p>
          <a:p>
            <a:pPr marL="0" marR="0" lvl="0" indent="0" algn="l" rtl="0">
              <a:lnSpc>
                <a:spcPct val="107000"/>
              </a:lnSpc>
              <a:spcBef>
                <a:spcPts val="0"/>
              </a:spcBef>
              <a:spcAft>
                <a:spcPts val="0"/>
              </a:spcAft>
              <a:buClr>
                <a:schemeClr val="dk1"/>
              </a:buClr>
              <a:buSzPct val="100000"/>
              <a:buNone/>
            </a:pPr>
            <a:r>
              <a:rPr lang="en-US" sz="9600" b="1" i="1"/>
              <a:t>BRAC recognized that creating economic opportunities need to go hand in hand with poor people organizing to confront such inequities</a:t>
            </a:r>
            <a:endParaRPr/>
          </a:p>
          <a:p>
            <a:pPr marL="0" marR="0" lvl="0" indent="0" algn="l" rtl="0">
              <a:lnSpc>
                <a:spcPct val="107000"/>
              </a:lnSpc>
              <a:spcBef>
                <a:spcPts val="0"/>
              </a:spcBef>
              <a:spcAft>
                <a:spcPts val="0"/>
              </a:spcAft>
              <a:buClr>
                <a:schemeClr val="dk1"/>
              </a:buClr>
              <a:buSzPct val="100000"/>
              <a:buNone/>
            </a:pPr>
            <a:endParaRPr sz="9600" b="1" i="1"/>
          </a:p>
          <a:p>
            <a:pPr marL="0" marR="0" lvl="0" indent="0" algn="l" rtl="0">
              <a:lnSpc>
                <a:spcPct val="107000"/>
              </a:lnSpc>
              <a:spcBef>
                <a:spcPts val="0"/>
              </a:spcBef>
              <a:spcAft>
                <a:spcPts val="0"/>
              </a:spcAft>
              <a:buClr>
                <a:schemeClr val="dk1"/>
              </a:buClr>
              <a:buSzPct val="100000"/>
              <a:buNone/>
            </a:pPr>
            <a:endParaRPr sz="9600" b="1"/>
          </a:p>
          <a:p>
            <a:pPr marL="342900" marR="0" lvl="0" indent="-190500" algn="l" rtl="0">
              <a:lnSpc>
                <a:spcPct val="107000"/>
              </a:lnSpc>
              <a:spcBef>
                <a:spcPts val="0"/>
              </a:spcBef>
              <a:spcAft>
                <a:spcPts val="0"/>
              </a:spcAft>
              <a:buClr>
                <a:schemeClr val="dk1"/>
              </a:buClr>
              <a:buSzPct val="100000"/>
              <a:buFont typeface="Calibri"/>
              <a:buNone/>
            </a:pPr>
            <a:endParaRPr sz="9600" b="1"/>
          </a:p>
          <a:p>
            <a:pPr marL="342900" marR="0" lvl="0" indent="-190500" algn="l" rtl="0">
              <a:lnSpc>
                <a:spcPct val="107000"/>
              </a:lnSpc>
              <a:spcBef>
                <a:spcPts val="0"/>
              </a:spcBef>
              <a:spcAft>
                <a:spcPts val="0"/>
              </a:spcAft>
              <a:buClr>
                <a:schemeClr val="dk1"/>
              </a:buClr>
              <a:buSzPct val="100000"/>
              <a:buFont typeface="Calibri"/>
              <a:buNone/>
            </a:pPr>
            <a:endParaRPr sz="9600" b="1"/>
          </a:p>
          <a:p>
            <a:pPr marL="342900" marR="0" lvl="0" indent="-190500" algn="l" rtl="0">
              <a:lnSpc>
                <a:spcPct val="107000"/>
              </a:lnSpc>
              <a:spcBef>
                <a:spcPts val="0"/>
              </a:spcBef>
              <a:spcAft>
                <a:spcPts val="0"/>
              </a:spcAft>
              <a:buClr>
                <a:schemeClr val="dk1"/>
              </a:buClr>
              <a:buSzPct val="100000"/>
              <a:buFont typeface="Calibri"/>
              <a:buNone/>
            </a:pPr>
            <a:endParaRPr sz="9600" b="1"/>
          </a:p>
          <a:p>
            <a:pPr marL="0" marR="0" lvl="0" indent="0" algn="l" rtl="0">
              <a:lnSpc>
                <a:spcPct val="107000"/>
              </a:lnSpc>
              <a:spcBef>
                <a:spcPts val="0"/>
              </a:spcBef>
              <a:spcAft>
                <a:spcPts val="0"/>
              </a:spcAft>
              <a:buClr>
                <a:schemeClr val="dk1"/>
              </a:buClr>
              <a:buSzPct val="100000"/>
              <a:buNone/>
            </a:pPr>
            <a:r>
              <a:rPr lang="en-US" sz="9600" b="1"/>
              <a:t> </a:t>
            </a:r>
            <a:endParaRPr sz="9600" b="1"/>
          </a:p>
          <a:p>
            <a:pPr marL="0" marR="0" lvl="0" indent="0" algn="l" rtl="0">
              <a:lnSpc>
                <a:spcPct val="107000"/>
              </a:lnSpc>
              <a:spcBef>
                <a:spcPts val="0"/>
              </a:spcBef>
              <a:spcAft>
                <a:spcPts val="0"/>
              </a:spcAft>
              <a:buClr>
                <a:schemeClr val="dk1"/>
              </a:buClr>
              <a:buSzPct val="100000"/>
              <a:buNone/>
            </a:pPr>
            <a:endParaRPr sz="2600" b="1"/>
          </a:p>
        </p:txBody>
      </p:sp>
      <p:sp>
        <p:nvSpPr>
          <p:cNvPr id="147" name="Google Shape;147;p13"/>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fontScale="85000" lnSpcReduction="10000"/>
          </a:bodyPr>
          <a:lstStyle/>
          <a:p>
            <a:pPr marL="0" marR="0" lvl="0" indent="0" algn="ctr" rtl="0">
              <a:spcBef>
                <a:spcPts val="0"/>
              </a:spcBef>
              <a:spcAft>
                <a:spcPts val="0"/>
              </a:spcAft>
              <a:buNone/>
            </a:pPr>
            <a:r>
              <a:rPr lang="en-US" sz="4258" b="1" i="0" u="none" strike="noStrike" cap="none">
                <a:solidFill>
                  <a:schemeClr val="lt1"/>
                </a:solidFill>
                <a:latin typeface="Calibri"/>
                <a:ea typeface="Calibri"/>
                <a:cs typeface="Calibri"/>
                <a:sym typeface="Calibri"/>
              </a:rPr>
              <a:t>BRAC’</a:t>
            </a:r>
            <a:r>
              <a:rPr lang="en-US" sz="4258" b="1">
                <a:solidFill>
                  <a:schemeClr val="lt1"/>
                </a:solidFill>
                <a:latin typeface="Calibri"/>
                <a:ea typeface="Calibri"/>
                <a:cs typeface="Calibri"/>
                <a:sym typeface="Calibri"/>
              </a:rPr>
              <a:t>S</a:t>
            </a:r>
            <a:r>
              <a:rPr lang="en-US" sz="4258" b="1" i="0" u="none" strike="noStrike" cap="none">
                <a:solidFill>
                  <a:schemeClr val="lt1"/>
                </a:solidFill>
                <a:latin typeface="Calibri"/>
                <a:ea typeface="Calibri"/>
                <a:cs typeface="Calibri"/>
                <a:sym typeface="Calibri"/>
              </a:rPr>
              <a:t> U</a:t>
            </a:r>
            <a:r>
              <a:rPr lang="en-US" sz="4258" b="1">
                <a:solidFill>
                  <a:schemeClr val="lt1"/>
                </a:solidFill>
                <a:latin typeface="Calibri"/>
                <a:ea typeface="Calibri"/>
                <a:cs typeface="Calibri"/>
                <a:sym typeface="Calibri"/>
              </a:rPr>
              <a:t>NDERSTANDING OF </a:t>
            </a:r>
            <a:r>
              <a:rPr lang="en-US" sz="4258" b="1" i="0" u="none" strike="noStrike" cap="none">
                <a:solidFill>
                  <a:schemeClr val="lt1"/>
                </a:solidFill>
                <a:latin typeface="Calibri"/>
                <a:ea typeface="Calibri"/>
                <a:cs typeface="Calibri"/>
                <a:sym typeface="Calibri"/>
              </a:rPr>
              <a:t>P</a:t>
            </a:r>
            <a:r>
              <a:rPr lang="en-US" sz="4258" b="1">
                <a:solidFill>
                  <a:schemeClr val="lt1"/>
                </a:solidFill>
                <a:latin typeface="Calibri"/>
                <a:ea typeface="Calibri"/>
                <a:cs typeface="Calibri"/>
                <a:sym typeface="Calibri"/>
              </a:rPr>
              <a:t>OWER</a:t>
            </a:r>
            <a:r>
              <a:rPr lang="en-US" sz="4258" b="1" i="0" u="none" strike="noStrike" cap="none">
                <a:solidFill>
                  <a:schemeClr val="lt1"/>
                </a:solidFill>
                <a:latin typeface="Calibri"/>
                <a:ea typeface="Calibri"/>
                <a:cs typeface="Calibri"/>
                <a:sym typeface="Calibri"/>
              </a:rPr>
              <a:t> S</a:t>
            </a:r>
            <a:r>
              <a:rPr lang="en-US" sz="4258" b="1">
                <a:solidFill>
                  <a:schemeClr val="lt1"/>
                </a:solidFill>
                <a:latin typeface="Calibri"/>
                <a:ea typeface="Calibri"/>
                <a:cs typeface="Calibri"/>
                <a:sym typeface="Calibri"/>
              </a:rPr>
              <a:t>TRUCTURES</a:t>
            </a:r>
            <a:endParaRPr sz="1658"/>
          </a:p>
        </p:txBody>
      </p:sp>
      <p:sp>
        <p:nvSpPr>
          <p:cNvPr id="148" name="Google Shape;148;p13"/>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7"/>
          <p:cNvSpPr txBox="1">
            <a:spLocks noGrp="1"/>
          </p:cNvSpPr>
          <p:nvPr>
            <p:ph type="body" idx="1"/>
          </p:nvPr>
        </p:nvSpPr>
        <p:spPr>
          <a:xfrm>
            <a:off x="152400" y="914400"/>
            <a:ext cx="8839200" cy="5791200"/>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2800"/>
              <a:buNone/>
            </a:pPr>
            <a:endParaRPr sz="2800" b="1"/>
          </a:p>
          <a:p>
            <a:pPr marL="0" marR="0" lvl="0" indent="0" algn="l" rtl="0">
              <a:lnSpc>
                <a:spcPct val="150000"/>
              </a:lnSpc>
              <a:spcBef>
                <a:spcPts val="0"/>
              </a:spcBef>
              <a:spcAft>
                <a:spcPts val="0"/>
              </a:spcAft>
              <a:buClr>
                <a:schemeClr val="dk1"/>
              </a:buClr>
              <a:buSzPts val="2800"/>
              <a:buNone/>
            </a:pPr>
            <a:r>
              <a:rPr lang="en-US" sz="2800" b="1"/>
              <a:t>RCTP: A Phased Development-Credit Program</a:t>
            </a:r>
            <a:endParaRPr/>
          </a:p>
          <a:p>
            <a:pPr marL="342900" marR="0" lvl="0" indent="-342900" algn="l" rtl="0">
              <a:lnSpc>
                <a:spcPct val="115000"/>
              </a:lnSpc>
              <a:spcBef>
                <a:spcPts val="0"/>
              </a:spcBef>
              <a:spcAft>
                <a:spcPts val="0"/>
              </a:spcAft>
              <a:buClr>
                <a:schemeClr val="dk1"/>
              </a:buClr>
              <a:buSzPts val="2400"/>
              <a:buFont typeface="Noto Sans Symbols"/>
              <a:buChar char="⮚"/>
            </a:pPr>
            <a:r>
              <a:rPr lang="en-US" sz="2400" b="1" i="1"/>
              <a:t>baseline surveys of villages to assess economic contexts</a:t>
            </a:r>
            <a:endParaRPr/>
          </a:p>
          <a:p>
            <a:pPr marL="342900" marR="0" lvl="0" indent="-342900" algn="l" rtl="0">
              <a:lnSpc>
                <a:spcPct val="115000"/>
              </a:lnSpc>
              <a:spcBef>
                <a:spcPts val="0"/>
              </a:spcBef>
              <a:spcAft>
                <a:spcPts val="0"/>
              </a:spcAft>
              <a:buClr>
                <a:schemeClr val="dk1"/>
              </a:buClr>
              <a:buSzPts val="2400"/>
              <a:buFont typeface="Noto Sans Symbols"/>
              <a:buChar char="⮚"/>
            </a:pPr>
            <a:r>
              <a:rPr lang="en-US" sz="2400" b="1" i="1"/>
              <a:t>selection of clients and projects for credit</a:t>
            </a:r>
            <a:endParaRPr/>
          </a:p>
          <a:p>
            <a:pPr marL="342900" marR="0" lvl="0" indent="-342900" algn="l" rtl="0">
              <a:lnSpc>
                <a:spcPct val="115000"/>
              </a:lnSpc>
              <a:spcBef>
                <a:spcPts val="0"/>
              </a:spcBef>
              <a:spcAft>
                <a:spcPts val="0"/>
              </a:spcAft>
              <a:buClr>
                <a:schemeClr val="dk1"/>
              </a:buClr>
              <a:buSzPts val="2400"/>
              <a:buFont typeface="Noto Sans Symbols"/>
              <a:buChar char="⮚"/>
            </a:pPr>
            <a:r>
              <a:rPr lang="en-US" sz="2400" b="1" i="1"/>
              <a:t>members from poor economic groups organize into “samities</a:t>
            </a:r>
            <a:r>
              <a:rPr lang="en-US" sz="2400" b="1" i="1">
                <a:latin typeface="Times New Roman"/>
                <a:ea typeface="Times New Roman"/>
                <a:cs typeface="Times New Roman"/>
                <a:sym typeface="Times New Roman"/>
              </a:rPr>
              <a:t>”</a:t>
            </a:r>
            <a:endParaRPr/>
          </a:p>
          <a:p>
            <a:pPr marL="342900" marR="0" lvl="0" indent="-342900" algn="l" rtl="0">
              <a:lnSpc>
                <a:spcPct val="115000"/>
              </a:lnSpc>
              <a:spcBef>
                <a:spcPts val="0"/>
              </a:spcBef>
              <a:spcAft>
                <a:spcPts val="0"/>
              </a:spcAft>
              <a:buClr>
                <a:schemeClr val="dk1"/>
              </a:buClr>
              <a:buSzPts val="2400"/>
              <a:buFont typeface="Noto Sans Symbols"/>
              <a:buChar char="⮚"/>
            </a:pPr>
            <a:r>
              <a:rPr lang="en-US" sz="2400" b="1" i="1"/>
              <a:t>members train in functional education (conscientization)</a:t>
            </a:r>
            <a:endParaRPr/>
          </a:p>
          <a:p>
            <a:pPr marL="342900" marR="0" lvl="0" indent="-342900" algn="l" rtl="0">
              <a:lnSpc>
                <a:spcPct val="115000"/>
              </a:lnSpc>
              <a:spcBef>
                <a:spcPts val="0"/>
              </a:spcBef>
              <a:spcAft>
                <a:spcPts val="0"/>
              </a:spcAft>
              <a:buClr>
                <a:schemeClr val="dk1"/>
              </a:buClr>
              <a:buSzPts val="2400"/>
              <a:buFont typeface="Noto Sans Symbols"/>
              <a:buChar char="⮚"/>
            </a:pPr>
            <a:r>
              <a:rPr lang="en-US" sz="2400" b="1" i="1"/>
              <a:t>members engage in savings programs</a:t>
            </a:r>
            <a:endParaRPr/>
          </a:p>
          <a:p>
            <a:pPr marL="342900" marR="0" lvl="0" indent="-342900" algn="l" rtl="0">
              <a:lnSpc>
                <a:spcPct val="115000"/>
              </a:lnSpc>
              <a:spcBef>
                <a:spcPts val="0"/>
              </a:spcBef>
              <a:spcAft>
                <a:spcPts val="0"/>
              </a:spcAft>
              <a:buClr>
                <a:schemeClr val="dk1"/>
              </a:buClr>
              <a:buSzPts val="2400"/>
              <a:buFont typeface="Noto Sans Symbols"/>
              <a:buChar char="⮚"/>
            </a:pPr>
            <a:r>
              <a:rPr lang="en-US" sz="2400" b="1" i="1"/>
              <a:t>members start group economic activities</a:t>
            </a:r>
            <a:endParaRPr/>
          </a:p>
          <a:p>
            <a:pPr marL="0" marR="0" lvl="0" indent="0" algn="l" rtl="0">
              <a:lnSpc>
                <a:spcPct val="107000"/>
              </a:lnSpc>
              <a:spcBef>
                <a:spcPts val="0"/>
              </a:spcBef>
              <a:spcAft>
                <a:spcPts val="0"/>
              </a:spcAft>
              <a:buClr>
                <a:schemeClr val="dk1"/>
              </a:buClr>
              <a:buSzPts val="2400"/>
              <a:buNone/>
            </a:pPr>
            <a:endParaRPr sz="2400" b="1"/>
          </a:p>
          <a:p>
            <a:pPr marL="0" marR="0" lvl="0" indent="0" algn="l" rtl="0">
              <a:lnSpc>
                <a:spcPct val="107000"/>
              </a:lnSpc>
              <a:spcBef>
                <a:spcPts val="0"/>
              </a:spcBef>
              <a:spcAft>
                <a:spcPts val="0"/>
              </a:spcAft>
              <a:buClr>
                <a:schemeClr val="dk1"/>
              </a:buClr>
              <a:buSzPts val="2400"/>
              <a:buNone/>
            </a:pPr>
            <a:endParaRPr sz="2400" b="1"/>
          </a:p>
          <a:p>
            <a:pPr marL="0" marR="0" lvl="0" indent="0" algn="l" rtl="0">
              <a:lnSpc>
                <a:spcPct val="107000"/>
              </a:lnSpc>
              <a:spcBef>
                <a:spcPts val="0"/>
              </a:spcBef>
              <a:spcAft>
                <a:spcPts val="0"/>
              </a:spcAft>
              <a:buClr>
                <a:schemeClr val="dk1"/>
              </a:buClr>
              <a:buSzPts val="2800"/>
              <a:buNone/>
            </a:pPr>
            <a:r>
              <a:rPr lang="en-US" sz="2800" b="1"/>
              <a:t>1986: RCTP phased into the Rural Development Program</a:t>
            </a:r>
            <a:endParaRPr/>
          </a:p>
          <a:p>
            <a:pPr marL="0" marR="0" lvl="0" indent="0" algn="l" rtl="0">
              <a:lnSpc>
                <a:spcPct val="107000"/>
              </a:lnSpc>
              <a:spcBef>
                <a:spcPts val="0"/>
              </a:spcBef>
              <a:spcAft>
                <a:spcPts val="0"/>
              </a:spcAft>
              <a:buClr>
                <a:schemeClr val="dk1"/>
              </a:buClr>
              <a:buSzPts val="2400"/>
              <a:buNone/>
            </a:pPr>
            <a:endParaRPr sz="2400" b="1"/>
          </a:p>
          <a:p>
            <a:pPr marL="0" marR="0" lvl="0" indent="0" algn="l" rtl="0">
              <a:lnSpc>
                <a:spcPct val="107000"/>
              </a:lnSpc>
              <a:spcBef>
                <a:spcPts val="0"/>
              </a:spcBef>
              <a:spcAft>
                <a:spcPts val="0"/>
              </a:spcAft>
              <a:buClr>
                <a:schemeClr val="dk1"/>
              </a:buClr>
              <a:buSzPts val="2600"/>
              <a:buNone/>
            </a:pPr>
            <a:endParaRPr sz="2600" b="1"/>
          </a:p>
        </p:txBody>
      </p:sp>
      <p:sp>
        <p:nvSpPr>
          <p:cNvPr id="154" name="Google Shape;154;p17"/>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a:solidFill>
                  <a:schemeClr val="lt1"/>
                </a:solidFill>
                <a:latin typeface="Calibri"/>
                <a:ea typeface="Calibri"/>
                <a:cs typeface="Calibri"/>
                <a:sym typeface="Calibri"/>
              </a:rPr>
              <a:t>RURAL CREDIT AND TRAINING PROGRAM</a:t>
            </a:r>
            <a:endParaRPr/>
          </a:p>
        </p:txBody>
      </p:sp>
      <p:sp>
        <p:nvSpPr>
          <p:cNvPr id="155" name="Google Shape;155;p17"/>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9"/>
          <p:cNvSpPr txBox="1">
            <a:spLocks noGrp="1"/>
          </p:cNvSpPr>
          <p:nvPr>
            <p:ph type="body" idx="1"/>
          </p:nvPr>
        </p:nvSpPr>
        <p:spPr>
          <a:xfrm>
            <a:off x="152400" y="914400"/>
            <a:ext cx="8839200" cy="57912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333333"/>
              </a:buClr>
              <a:buSzPts val="2400"/>
              <a:buNone/>
            </a:pPr>
            <a:r>
              <a:rPr lang="en-US" sz="3500" b="1" dirty="0"/>
              <a:t>BRAC Value Chains </a:t>
            </a:r>
            <a:endParaRPr sz="3500" b="1" dirty="0"/>
          </a:p>
          <a:p>
            <a:pPr marL="0" lvl="0" indent="0" algn="ctr" rtl="0">
              <a:spcBef>
                <a:spcPts val="0"/>
              </a:spcBef>
              <a:spcAft>
                <a:spcPts val="0"/>
              </a:spcAft>
              <a:buClr>
                <a:srgbClr val="333333"/>
              </a:buClr>
              <a:buSzPts val="2400"/>
              <a:buNone/>
            </a:pPr>
            <a:endParaRPr sz="2800" b="1" dirty="0">
              <a:solidFill>
                <a:srgbClr val="333333"/>
              </a:solidFill>
            </a:endParaRPr>
          </a:p>
          <a:p>
            <a:pPr marL="571500" marR="0" lvl="0" indent="0" algn="l" rtl="0">
              <a:lnSpc>
                <a:spcPct val="107000"/>
              </a:lnSpc>
              <a:spcBef>
                <a:spcPts val="0"/>
              </a:spcBef>
              <a:spcAft>
                <a:spcPts val="0"/>
              </a:spcAft>
              <a:buNone/>
            </a:pPr>
            <a:endParaRPr sz="3000" b="1" dirty="0">
              <a:solidFill>
                <a:srgbClr val="FF0000"/>
              </a:solidFill>
            </a:endParaRPr>
          </a:p>
        </p:txBody>
      </p:sp>
      <p:sp>
        <p:nvSpPr>
          <p:cNvPr id="161" name="Google Shape;161;p19"/>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a:solidFill>
                  <a:schemeClr val="lt1"/>
                </a:solidFill>
                <a:latin typeface="Calibri"/>
                <a:ea typeface="Calibri"/>
                <a:cs typeface="Calibri"/>
                <a:sym typeface="Calibri"/>
              </a:rPr>
              <a:t>INTERVENING IN THE MARKET</a:t>
            </a:r>
            <a:endParaRPr sz="4400">
              <a:latin typeface="Calibri"/>
              <a:ea typeface="Calibri"/>
              <a:cs typeface="Calibri"/>
              <a:sym typeface="Calibri"/>
            </a:endParaRPr>
          </a:p>
        </p:txBody>
      </p:sp>
      <p:sp>
        <p:nvSpPr>
          <p:cNvPr id="162" name="Google Shape;162;p19"/>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grpSp>
        <p:nvGrpSpPr>
          <p:cNvPr id="163" name="Google Shape;163;p19"/>
          <p:cNvGrpSpPr/>
          <p:nvPr/>
        </p:nvGrpSpPr>
        <p:grpSpPr>
          <a:xfrm>
            <a:off x="4472841" y="3754392"/>
            <a:ext cx="2488253" cy="2544800"/>
            <a:chOff x="4303290" y="2158374"/>
            <a:chExt cx="1854000" cy="1854000"/>
          </a:xfrm>
        </p:grpSpPr>
        <p:sp>
          <p:nvSpPr>
            <p:cNvPr id="164" name="Google Shape;164;p19"/>
            <p:cNvSpPr/>
            <p:nvPr/>
          </p:nvSpPr>
          <p:spPr>
            <a:xfrm>
              <a:off x="4303290" y="2158374"/>
              <a:ext cx="1854000" cy="1854000"/>
            </a:xfrm>
            <a:prstGeom prst="ellipse">
              <a:avLst/>
            </a:prstGeom>
            <a:solidFill>
              <a:srgbClr val="B02C20"/>
            </a:solidFill>
            <a:ln w="28575" cap="flat" cmpd="sng">
              <a:solidFill>
                <a:srgbClr val="EDA29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9"/>
            <p:cNvSpPr txBox="1"/>
            <p:nvPr/>
          </p:nvSpPr>
          <p:spPr>
            <a:xfrm>
              <a:off x="4814827" y="2851087"/>
              <a:ext cx="1075200" cy="52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600" b="1" dirty="0">
                  <a:solidFill>
                    <a:srgbClr val="FFFFFF"/>
                  </a:solidFill>
                  <a:latin typeface="Calibri"/>
                  <a:ea typeface="Calibri"/>
                  <a:cs typeface="Calibri"/>
                  <a:sym typeface="Calibri"/>
                </a:rPr>
                <a:t>DAIRY</a:t>
              </a:r>
              <a:endParaRPr sz="2600" b="1" dirty="0">
                <a:solidFill>
                  <a:srgbClr val="FFFFFF"/>
                </a:solidFill>
                <a:latin typeface="Calibri"/>
                <a:ea typeface="Calibri"/>
                <a:cs typeface="Calibri"/>
                <a:sym typeface="Calibri"/>
              </a:endParaRPr>
            </a:p>
          </p:txBody>
        </p:sp>
      </p:grpSp>
      <p:grpSp>
        <p:nvGrpSpPr>
          <p:cNvPr id="166" name="Google Shape;166;p19"/>
          <p:cNvGrpSpPr/>
          <p:nvPr/>
        </p:nvGrpSpPr>
        <p:grpSpPr>
          <a:xfrm>
            <a:off x="2236856" y="3754401"/>
            <a:ext cx="2488253" cy="2544800"/>
            <a:chOff x="2986712" y="2158374"/>
            <a:chExt cx="1854000" cy="1854000"/>
          </a:xfrm>
        </p:grpSpPr>
        <p:sp>
          <p:nvSpPr>
            <p:cNvPr id="167" name="Google Shape;167;p19"/>
            <p:cNvSpPr/>
            <p:nvPr/>
          </p:nvSpPr>
          <p:spPr>
            <a:xfrm>
              <a:off x="2986712" y="2158374"/>
              <a:ext cx="1854000" cy="1854000"/>
            </a:xfrm>
            <a:prstGeom prst="ellipse">
              <a:avLst/>
            </a:prstGeom>
            <a:solidFill>
              <a:srgbClr val="D83829"/>
            </a:solidFill>
            <a:ln w="28575" cap="flat" cmpd="sng">
              <a:solidFill>
                <a:srgbClr val="EDA29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9"/>
            <p:cNvSpPr txBox="1"/>
            <p:nvPr/>
          </p:nvSpPr>
          <p:spPr>
            <a:xfrm>
              <a:off x="3318880" y="2900892"/>
              <a:ext cx="1220313" cy="471589"/>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600" b="1" dirty="0">
                  <a:solidFill>
                    <a:srgbClr val="FFFFFF"/>
                  </a:solidFill>
                  <a:latin typeface="Calibri"/>
                  <a:ea typeface="Calibri"/>
                  <a:cs typeface="Calibri"/>
                  <a:sym typeface="Calibri"/>
                </a:rPr>
                <a:t>POULTRY</a:t>
              </a:r>
              <a:endParaRPr sz="2600" b="1" dirty="0">
                <a:solidFill>
                  <a:srgbClr val="FFFFFF"/>
                </a:solidFill>
                <a:latin typeface="Calibri"/>
                <a:ea typeface="Calibri"/>
                <a:cs typeface="Calibri"/>
                <a:sym typeface="Calibri"/>
              </a:endParaRPr>
            </a:p>
          </p:txBody>
        </p:sp>
      </p:grpSp>
      <p:grpSp>
        <p:nvGrpSpPr>
          <p:cNvPr id="169" name="Google Shape;169;p19"/>
          <p:cNvGrpSpPr/>
          <p:nvPr/>
        </p:nvGrpSpPr>
        <p:grpSpPr>
          <a:xfrm>
            <a:off x="3274762" y="2011068"/>
            <a:ext cx="2594488" cy="2472309"/>
            <a:chOff x="3656844" y="1131139"/>
            <a:chExt cx="1854000" cy="1854000"/>
          </a:xfrm>
        </p:grpSpPr>
        <p:sp>
          <p:nvSpPr>
            <p:cNvPr id="170" name="Google Shape;170;p19"/>
            <p:cNvSpPr/>
            <p:nvPr/>
          </p:nvSpPr>
          <p:spPr>
            <a:xfrm>
              <a:off x="3656844" y="1131139"/>
              <a:ext cx="1854000" cy="1854000"/>
            </a:xfrm>
            <a:prstGeom prst="ellipse">
              <a:avLst/>
            </a:prstGeom>
            <a:solidFill>
              <a:srgbClr val="802017"/>
            </a:solidFill>
            <a:ln w="28575" cap="flat" cmpd="sng">
              <a:solidFill>
                <a:srgbClr val="EDA29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9"/>
            <p:cNvSpPr txBox="1"/>
            <p:nvPr/>
          </p:nvSpPr>
          <p:spPr>
            <a:xfrm>
              <a:off x="3874491" y="1735354"/>
              <a:ext cx="1494600" cy="649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600" b="1">
                  <a:solidFill>
                    <a:srgbClr val="FFFFFF"/>
                  </a:solidFill>
                  <a:latin typeface="Calibri"/>
                  <a:ea typeface="Calibri"/>
                  <a:cs typeface="Calibri"/>
                  <a:sym typeface="Calibri"/>
                </a:rPr>
                <a:t>SERICULTURE</a:t>
              </a:r>
              <a:endParaRPr sz="2600" b="1">
                <a:solidFill>
                  <a:srgbClr val="FFFFFF"/>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4"/>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Calibri"/>
                <a:ea typeface="Calibri"/>
                <a:cs typeface="Calibri"/>
                <a:sym typeface="Calibri"/>
              </a:rPr>
              <a:t>CRITICAL INSIGHT INTO EARLY BRAC</a:t>
            </a:r>
            <a:endParaRPr sz="3600" b="1" i="0" u="none" strike="noStrike" cap="none">
              <a:solidFill>
                <a:schemeClr val="lt1"/>
              </a:solidFill>
              <a:latin typeface="Calibri"/>
              <a:ea typeface="Calibri"/>
              <a:cs typeface="Calibri"/>
              <a:sym typeface="Calibri"/>
            </a:endParaRPr>
          </a:p>
        </p:txBody>
      </p:sp>
      <p:sp>
        <p:nvSpPr>
          <p:cNvPr id="177" name="Google Shape;177;p24"/>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
        <p:nvSpPr>
          <p:cNvPr id="178" name="Google Shape;178;p24"/>
          <p:cNvSpPr txBox="1">
            <a:spLocks noGrp="1"/>
          </p:cNvSpPr>
          <p:nvPr>
            <p:ph type="body" idx="1"/>
          </p:nvPr>
        </p:nvSpPr>
        <p:spPr>
          <a:xfrm>
            <a:off x="76200" y="1143000"/>
            <a:ext cx="4419600" cy="472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800"/>
              <a:buNone/>
            </a:pPr>
            <a:r>
              <a:rPr lang="en-US" sz="2800" b="1" i="1"/>
              <a:t>Documents BRAC’s early efforts to understand patriarchy and the conditions of poor, rural women and determine strategies to increase their material and social resources.</a:t>
            </a:r>
            <a:endParaRPr/>
          </a:p>
        </p:txBody>
      </p:sp>
      <p:pic>
        <p:nvPicPr>
          <p:cNvPr id="179" name="Google Shape;179;p24" descr="41tSws17DJL._BO1,204,203,200_.jpg"/>
          <p:cNvPicPr preferRelativeResize="0"/>
          <p:nvPr/>
        </p:nvPicPr>
        <p:blipFill rotWithShape="1">
          <a:blip r:embed="rId3">
            <a:alphaModFix/>
          </a:blip>
          <a:srcRect/>
          <a:stretch/>
        </p:blipFill>
        <p:spPr>
          <a:xfrm>
            <a:off x="4572000" y="914400"/>
            <a:ext cx="4495800" cy="5943600"/>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5"/>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Font typeface="Arial"/>
              <a:buNone/>
            </a:pPr>
            <a:r>
              <a:rPr lang="en-US" sz="3600" b="1">
                <a:solidFill>
                  <a:schemeClr val="lt1"/>
                </a:solidFill>
                <a:latin typeface="Calibri"/>
                <a:ea typeface="Calibri"/>
                <a:cs typeface="Calibri"/>
                <a:sym typeface="Calibri"/>
              </a:rPr>
              <a:t>CRITICAL INSIGHT INTO EARLY BRAC</a:t>
            </a:r>
            <a:endParaRPr sz="3600" b="1" i="0" u="none" strike="noStrike" cap="none">
              <a:solidFill>
                <a:schemeClr val="lt1"/>
              </a:solidFill>
              <a:latin typeface="Calibri"/>
              <a:ea typeface="Calibri"/>
              <a:cs typeface="Calibri"/>
              <a:sym typeface="Calibri"/>
            </a:endParaRPr>
          </a:p>
        </p:txBody>
      </p:sp>
      <p:sp>
        <p:nvSpPr>
          <p:cNvPr id="185" name="Google Shape;185;p25"/>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186" name="Google Shape;186;p25" descr="51x7VJVCTrL._SX322_BO1,204,203,200_.jpg"/>
          <p:cNvPicPr preferRelativeResize="0"/>
          <p:nvPr/>
        </p:nvPicPr>
        <p:blipFill rotWithShape="1">
          <a:blip r:embed="rId3">
            <a:alphaModFix/>
          </a:blip>
          <a:srcRect/>
          <a:stretch/>
        </p:blipFill>
        <p:spPr>
          <a:xfrm>
            <a:off x="4648200" y="914400"/>
            <a:ext cx="4495800" cy="5943600"/>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
        <p:nvSpPr>
          <p:cNvPr id="187" name="Google Shape;187;p25"/>
          <p:cNvSpPr txBox="1">
            <a:spLocks noGrp="1"/>
          </p:cNvSpPr>
          <p:nvPr>
            <p:ph type="body" idx="1"/>
          </p:nvPr>
        </p:nvSpPr>
        <p:spPr>
          <a:xfrm>
            <a:off x="76200" y="1143000"/>
            <a:ext cx="4419600" cy="472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800"/>
              <a:buNone/>
            </a:pPr>
            <a:r>
              <a:rPr lang="en-US" sz="2800" b="1" i="1"/>
              <a:t>Describes and analyzes BRAC’s early history, strategies, programs, management systems, and resource base.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6"/>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n-US" sz="3150" b="1">
                <a:solidFill>
                  <a:schemeClr val="lt1"/>
                </a:solidFill>
                <a:latin typeface="Calibri"/>
                <a:ea typeface="Calibri"/>
                <a:cs typeface="Calibri"/>
                <a:sym typeface="Calibri"/>
              </a:rPr>
              <a:t>FREEDOM FROM WANT: THE REMARKABLE SUCCESS </a:t>
            </a:r>
            <a:endParaRPr sz="3150" b="1">
              <a:solidFill>
                <a:schemeClr val="lt1"/>
              </a:solidFill>
              <a:latin typeface="Calibri"/>
              <a:ea typeface="Calibri"/>
              <a:cs typeface="Calibri"/>
              <a:sym typeface="Calibri"/>
            </a:endParaRPr>
          </a:p>
          <a:p>
            <a:pPr marL="0" marR="0" lvl="0" indent="0" algn="ctr" rtl="0">
              <a:lnSpc>
                <a:spcPct val="80000"/>
              </a:lnSpc>
              <a:spcBef>
                <a:spcPts val="0"/>
              </a:spcBef>
              <a:spcAft>
                <a:spcPts val="0"/>
              </a:spcAft>
              <a:buNone/>
            </a:pPr>
            <a:r>
              <a:rPr lang="en-US" sz="3150" b="1">
                <a:solidFill>
                  <a:schemeClr val="lt1"/>
                </a:solidFill>
                <a:latin typeface="Calibri"/>
                <a:ea typeface="Calibri"/>
                <a:cs typeface="Calibri"/>
                <a:sym typeface="Calibri"/>
              </a:rPr>
              <a:t>STORY OF BRAC</a:t>
            </a:r>
            <a:endParaRPr sz="3150" b="1" i="0" u="none" strike="noStrike" cap="none">
              <a:solidFill>
                <a:schemeClr val="lt1"/>
              </a:solidFill>
              <a:latin typeface="Calibri"/>
              <a:ea typeface="Calibri"/>
              <a:cs typeface="Calibri"/>
              <a:sym typeface="Calibri"/>
            </a:endParaRPr>
          </a:p>
        </p:txBody>
      </p:sp>
      <p:sp>
        <p:nvSpPr>
          <p:cNvPr id="193" name="Google Shape;193;p26"/>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194" name="Google Shape;194;p26" descr="51A7bZ9VXQL._SX329_BO1,204,203,200_.jpg"/>
          <p:cNvPicPr preferRelativeResize="0"/>
          <p:nvPr/>
        </p:nvPicPr>
        <p:blipFill rotWithShape="1">
          <a:blip r:embed="rId3">
            <a:alphaModFix/>
          </a:blip>
          <a:srcRect/>
          <a:stretch/>
        </p:blipFill>
        <p:spPr>
          <a:xfrm>
            <a:off x="4800600" y="914400"/>
            <a:ext cx="4343400" cy="5973527"/>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
        <p:nvSpPr>
          <p:cNvPr id="195" name="Google Shape;195;p26"/>
          <p:cNvSpPr txBox="1">
            <a:spLocks noGrp="1"/>
          </p:cNvSpPr>
          <p:nvPr>
            <p:ph type="body" idx="1"/>
          </p:nvPr>
        </p:nvSpPr>
        <p:spPr>
          <a:xfrm>
            <a:off x="76200" y="1143000"/>
            <a:ext cx="4419600" cy="472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800"/>
              <a:buNone/>
            </a:pPr>
            <a:r>
              <a:rPr lang="en-US" sz="2800" b="1" i="1"/>
              <a:t>Presents a clear, insightful understanding of the historical evolution of BRAC, from its early days at Sulla to the world’s largest learning institution dedicated to ending poverty and improving the conditions of the poor and the powerless.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13e63a908db_0_67"/>
          <p:cNvSpPr txBox="1">
            <a:spLocks noGrp="1"/>
          </p:cNvSpPr>
          <p:nvPr>
            <p:ph type="body" idx="1"/>
          </p:nvPr>
        </p:nvSpPr>
        <p:spPr>
          <a:xfrm>
            <a:off x="152400" y="914400"/>
            <a:ext cx="8839200" cy="5791200"/>
          </a:xfrm>
          <a:prstGeom prst="rect">
            <a:avLst/>
          </a:prstGeom>
          <a:noFill/>
          <a:ln>
            <a:noFill/>
          </a:ln>
        </p:spPr>
        <p:txBody>
          <a:bodyPr spcFirstLastPara="1" wrap="square" lIns="91425" tIns="45700" rIns="91425" bIns="45700" anchor="t" anchorCtr="0">
            <a:normAutofit/>
          </a:bodyPr>
          <a:lstStyle/>
          <a:p>
            <a:pPr marL="457200" marR="0" lvl="0" indent="-400050" algn="l" rtl="0">
              <a:lnSpc>
                <a:spcPct val="150000"/>
              </a:lnSpc>
              <a:spcBef>
                <a:spcPts val="0"/>
              </a:spcBef>
              <a:spcAft>
                <a:spcPts val="0"/>
              </a:spcAft>
              <a:buSzPts val="2700"/>
              <a:buFont typeface="Calibri"/>
              <a:buAutoNum type="arabicPeriod"/>
            </a:pPr>
            <a:r>
              <a:rPr lang="en-US" sz="2700" b="1"/>
              <a:t>Eliminating extreme poverty</a:t>
            </a:r>
            <a:endParaRPr sz="2700" b="1"/>
          </a:p>
          <a:p>
            <a:pPr marL="457200" marR="0" lvl="0" indent="-400050" algn="l" rtl="0">
              <a:lnSpc>
                <a:spcPct val="150000"/>
              </a:lnSpc>
              <a:spcBef>
                <a:spcPts val="0"/>
              </a:spcBef>
              <a:spcAft>
                <a:spcPts val="0"/>
              </a:spcAft>
              <a:buSzPts val="2700"/>
              <a:buFont typeface="Calibri"/>
              <a:buAutoNum type="arabicPeriod"/>
            </a:pPr>
            <a:r>
              <a:rPr lang="en-US" sz="2700" b="1"/>
              <a:t>Expanding financial choices</a:t>
            </a:r>
            <a:endParaRPr sz="2700" b="1"/>
          </a:p>
          <a:p>
            <a:pPr marL="457200" marR="0" lvl="0" indent="-400050" algn="l" rtl="0">
              <a:lnSpc>
                <a:spcPct val="150000"/>
              </a:lnSpc>
              <a:spcBef>
                <a:spcPts val="0"/>
              </a:spcBef>
              <a:spcAft>
                <a:spcPts val="0"/>
              </a:spcAft>
              <a:buSzPts val="2700"/>
              <a:buFont typeface="Calibri"/>
              <a:buAutoNum type="arabicPeriod"/>
            </a:pPr>
            <a:r>
              <a:rPr lang="en-US" sz="2700" b="1"/>
              <a:t>Employable skills for decent work</a:t>
            </a:r>
            <a:endParaRPr sz="2700" b="1"/>
          </a:p>
          <a:p>
            <a:pPr marL="457200" marR="0" lvl="0" indent="-400050" algn="l" rtl="0">
              <a:lnSpc>
                <a:spcPct val="150000"/>
              </a:lnSpc>
              <a:spcBef>
                <a:spcPts val="0"/>
              </a:spcBef>
              <a:spcAft>
                <a:spcPts val="0"/>
              </a:spcAft>
              <a:buSzPts val="2700"/>
              <a:buFont typeface="Calibri"/>
              <a:buAutoNum type="arabicPeriod"/>
            </a:pPr>
            <a:r>
              <a:rPr lang="en-US" sz="2700" b="1"/>
              <a:t>Climate change and emergencies</a:t>
            </a:r>
            <a:endParaRPr sz="2700" b="1"/>
          </a:p>
          <a:p>
            <a:pPr marL="457200" marR="0" lvl="0" indent="-400050" algn="l" rtl="0">
              <a:lnSpc>
                <a:spcPct val="150000"/>
              </a:lnSpc>
              <a:spcBef>
                <a:spcPts val="0"/>
              </a:spcBef>
              <a:spcAft>
                <a:spcPts val="0"/>
              </a:spcAft>
              <a:buSzPts val="2700"/>
              <a:buFont typeface="Calibri"/>
              <a:buAutoNum type="arabicPeriod"/>
            </a:pPr>
            <a:r>
              <a:rPr lang="en-US" sz="2700" b="1"/>
              <a:t>Gender equality</a:t>
            </a:r>
            <a:endParaRPr sz="2700" b="1"/>
          </a:p>
          <a:p>
            <a:pPr marL="457200" marR="0" lvl="0" indent="-400050" algn="l" rtl="0">
              <a:lnSpc>
                <a:spcPct val="150000"/>
              </a:lnSpc>
              <a:spcBef>
                <a:spcPts val="0"/>
              </a:spcBef>
              <a:spcAft>
                <a:spcPts val="0"/>
              </a:spcAft>
              <a:buSzPts val="2700"/>
              <a:buFont typeface="Calibri"/>
              <a:buAutoNum type="arabicPeriod"/>
            </a:pPr>
            <a:r>
              <a:rPr lang="en-US" sz="2700" b="1"/>
              <a:t>Universal access to healthcare</a:t>
            </a:r>
            <a:endParaRPr sz="2700" b="1"/>
          </a:p>
          <a:p>
            <a:pPr marL="457200" marR="0" lvl="0" indent="-400050" algn="l" rtl="0">
              <a:lnSpc>
                <a:spcPct val="150000"/>
              </a:lnSpc>
              <a:spcBef>
                <a:spcPts val="0"/>
              </a:spcBef>
              <a:spcAft>
                <a:spcPts val="0"/>
              </a:spcAft>
              <a:buSzPts val="2700"/>
              <a:buFont typeface="Calibri"/>
              <a:buAutoNum type="arabicPeriod"/>
            </a:pPr>
            <a:r>
              <a:rPr lang="en-US" sz="2700" b="1"/>
              <a:t>Pro-poor urban development</a:t>
            </a:r>
            <a:endParaRPr sz="2700" b="1"/>
          </a:p>
          <a:p>
            <a:pPr marL="457200" marR="0" lvl="0" indent="-400050" algn="l" rtl="0">
              <a:lnSpc>
                <a:spcPct val="150000"/>
              </a:lnSpc>
              <a:spcBef>
                <a:spcPts val="0"/>
              </a:spcBef>
              <a:spcAft>
                <a:spcPts val="0"/>
              </a:spcAft>
              <a:buSzPts val="2700"/>
              <a:buFont typeface="Calibri"/>
              <a:buAutoNum type="arabicPeriod"/>
            </a:pPr>
            <a:r>
              <a:rPr lang="en-US" sz="2700" b="1"/>
              <a:t>Investing in the next generation</a:t>
            </a:r>
            <a:endParaRPr sz="2700" b="1"/>
          </a:p>
          <a:p>
            <a:pPr marL="0" marR="0" lvl="0" indent="0" algn="ctr" rtl="0">
              <a:lnSpc>
                <a:spcPct val="107000"/>
              </a:lnSpc>
              <a:spcBef>
                <a:spcPts val="0"/>
              </a:spcBef>
              <a:spcAft>
                <a:spcPts val="0"/>
              </a:spcAft>
              <a:buClr>
                <a:schemeClr val="dk1"/>
              </a:buClr>
              <a:buSzPts val="2800"/>
              <a:buNone/>
            </a:pPr>
            <a:endParaRPr sz="2600" b="1"/>
          </a:p>
        </p:txBody>
      </p:sp>
      <p:sp>
        <p:nvSpPr>
          <p:cNvPr id="201" name="Google Shape;201;g13e63a908db_0_67"/>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a:solidFill>
                  <a:schemeClr val="lt1"/>
                </a:solidFill>
                <a:latin typeface="Calibri"/>
                <a:ea typeface="Calibri"/>
                <a:cs typeface="Calibri"/>
                <a:sym typeface="Calibri"/>
              </a:rPr>
              <a:t>SOCIAL DEVELOPMENT </a:t>
            </a:r>
            <a:endParaRPr sz="4400" b="1" i="0" u="none" strike="noStrike" cap="none">
              <a:solidFill>
                <a:schemeClr val="lt1"/>
              </a:solidFill>
              <a:latin typeface="Calibri"/>
              <a:ea typeface="Calibri"/>
              <a:cs typeface="Calibri"/>
              <a:sym typeface="Calibri"/>
            </a:endParaRPr>
          </a:p>
        </p:txBody>
      </p:sp>
      <p:sp>
        <p:nvSpPr>
          <p:cNvPr id="202" name="Google Shape;202;g13e63a908db_0_67"/>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13e63a908db_0_73"/>
          <p:cNvSpPr txBox="1">
            <a:spLocks noGrp="1"/>
          </p:cNvSpPr>
          <p:nvPr>
            <p:ph type="body" idx="1"/>
          </p:nvPr>
        </p:nvSpPr>
        <p:spPr>
          <a:xfrm>
            <a:off x="229850" y="914400"/>
            <a:ext cx="8084100" cy="5943600"/>
          </a:xfrm>
          <a:prstGeom prst="rect">
            <a:avLst/>
          </a:prstGeom>
          <a:noFill/>
          <a:ln>
            <a:noFill/>
          </a:ln>
        </p:spPr>
        <p:txBody>
          <a:bodyPr spcFirstLastPara="1" wrap="square" lIns="91425" tIns="45700" rIns="91425" bIns="45700" anchor="t" anchorCtr="0">
            <a:normAutofit fontScale="62500" lnSpcReduction="20000"/>
          </a:bodyPr>
          <a:lstStyle/>
          <a:p>
            <a:pPr marL="457200" marR="0" lvl="0" indent="-376222" algn="l" rtl="0">
              <a:lnSpc>
                <a:spcPct val="150000"/>
              </a:lnSpc>
              <a:spcBef>
                <a:spcPts val="0"/>
              </a:spcBef>
              <a:spcAft>
                <a:spcPts val="0"/>
              </a:spcAft>
              <a:buSzPct val="100000"/>
              <a:buFont typeface="Calibri"/>
              <a:buAutoNum type="arabicPeriod"/>
            </a:pPr>
            <a:r>
              <a:rPr lang="en-US" sz="3719" b="1"/>
              <a:t>Aarong</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Dairy</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Seed and Agro</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Artificial Insemination</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Nursery</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Sericulture</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Fisheries</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Recycled Handmade Paper</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Cold Storage</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Salt</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Printing Pack</a:t>
            </a:r>
            <a:endParaRPr sz="3719" b="1"/>
          </a:p>
          <a:p>
            <a:pPr marL="457200" marR="0" lvl="0" indent="-376222" algn="l" rtl="0">
              <a:lnSpc>
                <a:spcPct val="150000"/>
              </a:lnSpc>
              <a:spcBef>
                <a:spcPts val="0"/>
              </a:spcBef>
              <a:spcAft>
                <a:spcPts val="0"/>
              </a:spcAft>
              <a:buSzPct val="100000"/>
              <a:buFont typeface="Calibri"/>
              <a:buAutoNum type="arabicPeriod"/>
            </a:pPr>
            <a:r>
              <a:rPr lang="en-US" sz="3719" b="1"/>
              <a:t>BRAC Sanitary Napkin and Delivery Kit</a:t>
            </a:r>
            <a:endParaRPr sz="3719" b="1"/>
          </a:p>
          <a:p>
            <a:pPr marL="0" marR="0" lvl="0" indent="0" algn="ctr" rtl="0">
              <a:lnSpc>
                <a:spcPct val="150000"/>
              </a:lnSpc>
              <a:spcBef>
                <a:spcPts val="0"/>
              </a:spcBef>
              <a:spcAft>
                <a:spcPts val="0"/>
              </a:spcAft>
              <a:buClr>
                <a:schemeClr val="dk1"/>
              </a:buClr>
              <a:buSzPct val="107692"/>
              <a:buNone/>
            </a:pPr>
            <a:endParaRPr sz="2600" b="1"/>
          </a:p>
        </p:txBody>
      </p:sp>
      <p:sp>
        <p:nvSpPr>
          <p:cNvPr id="208" name="Google Shape;208;g13e63a908db_0_73"/>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a:solidFill>
                  <a:schemeClr val="lt1"/>
                </a:solidFill>
                <a:latin typeface="Calibri"/>
                <a:ea typeface="Calibri"/>
                <a:cs typeface="Calibri"/>
                <a:sym typeface="Calibri"/>
              </a:rPr>
              <a:t>SOCIAL ENTERPRISES</a:t>
            </a:r>
            <a:endParaRPr sz="4400" b="1" i="0" u="none" strike="noStrike" cap="none">
              <a:solidFill>
                <a:schemeClr val="lt1"/>
              </a:solidFill>
              <a:latin typeface="Calibri"/>
              <a:ea typeface="Calibri"/>
              <a:cs typeface="Calibri"/>
              <a:sym typeface="Calibri"/>
            </a:endParaRPr>
          </a:p>
        </p:txBody>
      </p:sp>
      <p:sp>
        <p:nvSpPr>
          <p:cNvPr id="209" name="Google Shape;209;g13e63a908db_0_73"/>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13e63a908db_0_79"/>
          <p:cNvSpPr txBox="1">
            <a:spLocks noGrp="1"/>
          </p:cNvSpPr>
          <p:nvPr>
            <p:ph type="body" idx="1"/>
          </p:nvPr>
        </p:nvSpPr>
        <p:spPr>
          <a:xfrm>
            <a:off x="152400" y="914400"/>
            <a:ext cx="8839200" cy="5943600"/>
          </a:xfrm>
          <a:prstGeom prst="rect">
            <a:avLst/>
          </a:prstGeom>
          <a:noFill/>
          <a:ln>
            <a:noFill/>
          </a:ln>
        </p:spPr>
        <p:txBody>
          <a:bodyPr spcFirstLastPara="1" wrap="square" lIns="91425" tIns="45700" rIns="91425" bIns="45700" anchor="t" anchorCtr="0">
            <a:noAutofit/>
          </a:bodyPr>
          <a:lstStyle/>
          <a:p>
            <a:pPr marL="578168" marR="0" lvl="0" indent="-514350" algn="l" rtl="0">
              <a:lnSpc>
                <a:spcPct val="200000"/>
              </a:lnSpc>
              <a:spcBef>
                <a:spcPts val="0"/>
              </a:spcBef>
              <a:spcAft>
                <a:spcPts val="0"/>
              </a:spcAft>
              <a:buSzPts val="2595"/>
              <a:buFont typeface="+mj-lt"/>
              <a:buAutoNum type="arabicPeriod"/>
            </a:pPr>
            <a:r>
              <a:rPr lang="en-US" sz="2595" b="1" dirty="0"/>
              <a:t>BRAC Bank</a:t>
            </a:r>
            <a:endParaRPr sz="2595" b="1" dirty="0"/>
          </a:p>
          <a:p>
            <a:pPr marL="578168" marR="0" lvl="0" indent="-514350" algn="l" rtl="0">
              <a:lnSpc>
                <a:spcPct val="200000"/>
              </a:lnSpc>
              <a:spcBef>
                <a:spcPts val="0"/>
              </a:spcBef>
              <a:spcAft>
                <a:spcPts val="0"/>
              </a:spcAft>
              <a:buSzPts val="2595"/>
              <a:buFont typeface="+mj-lt"/>
              <a:buAutoNum type="arabicPeriod"/>
            </a:pPr>
            <a:r>
              <a:rPr lang="en-US" sz="2595" b="1" dirty="0" err="1"/>
              <a:t>BRACNet</a:t>
            </a:r>
            <a:endParaRPr sz="2595" b="1" dirty="0"/>
          </a:p>
          <a:p>
            <a:pPr marL="578168" marR="0" lvl="0" indent="-514350" algn="l" rtl="0">
              <a:lnSpc>
                <a:spcPct val="200000"/>
              </a:lnSpc>
              <a:spcBef>
                <a:spcPts val="0"/>
              </a:spcBef>
              <a:spcAft>
                <a:spcPts val="0"/>
              </a:spcAft>
              <a:buSzPts val="2595"/>
              <a:buFont typeface="+mj-lt"/>
              <a:buAutoNum type="arabicPeriod"/>
            </a:pPr>
            <a:r>
              <a:rPr lang="en-US" sz="2595" b="1" dirty="0"/>
              <a:t>IPDC Finance Limited</a:t>
            </a:r>
            <a:endParaRPr sz="2595" b="1" dirty="0"/>
          </a:p>
          <a:p>
            <a:pPr marL="578168" marR="0" lvl="0" indent="-514350" algn="l" rtl="0">
              <a:lnSpc>
                <a:spcPct val="200000"/>
              </a:lnSpc>
              <a:spcBef>
                <a:spcPts val="0"/>
              </a:spcBef>
              <a:spcAft>
                <a:spcPts val="0"/>
              </a:spcAft>
              <a:buSzPts val="2595"/>
              <a:buFont typeface="+mj-lt"/>
              <a:buAutoNum type="arabicPeriod"/>
            </a:pPr>
            <a:r>
              <a:rPr lang="en-US" sz="2595" b="1" dirty="0"/>
              <a:t>Delta BRAC Housing (DBH) Finance Corporation Limited</a:t>
            </a:r>
            <a:endParaRPr sz="2595" b="1" dirty="0"/>
          </a:p>
          <a:p>
            <a:pPr marL="578168" marR="0" lvl="0" indent="-514350" algn="l" rtl="0">
              <a:lnSpc>
                <a:spcPct val="200000"/>
              </a:lnSpc>
              <a:spcBef>
                <a:spcPts val="0"/>
              </a:spcBef>
              <a:spcAft>
                <a:spcPts val="0"/>
              </a:spcAft>
              <a:buSzPts val="2595"/>
              <a:buFont typeface="+mj-lt"/>
              <a:buAutoNum type="arabicPeriod"/>
            </a:pPr>
            <a:r>
              <a:rPr lang="en-US" sz="2595" b="1" dirty="0"/>
              <a:t>Guardian Life Insurance</a:t>
            </a:r>
            <a:endParaRPr sz="2595" b="1" dirty="0"/>
          </a:p>
          <a:p>
            <a:pPr marL="578168" marR="0" lvl="0" indent="-514350" algn="l" rtl="0">
              <a:lnSpc>
                <a:spcPct val="200000"/>
              </a:lnSpc>
              <a:spcBef>
                <a:spcPts val="0"/>
              </a:spcBef>
              <a:spcAft>
                <a:spcPts val="0"/>
              </a:spcAft>
              <a:buSzPts val="2595"/>
              <a:buFont typeface="+mj-lt"/>
              <a:buAutoNum type="arabicPeriod"/>
            </a:pPr>
            <a:r>
              <a:rPr lang="en-US" sz="2595" b="1" dirty="0"/>
              <a:t>BRAC IT Services</a:t>
            </a:r>
            <a:endParaRPr sz="2595" b="1" dirty="0"/>
          </a:p>
          <a:p>
            <a:pPr marL="578168" marR="0" lvl="0" indent="-514350" algn="l" rtl="0">
              <a:lnSpc>
                <a:spcPct val="200000"/>
              </a:lnSpc>
              <a:spcBef>
                <a:spcPts val="0"/>
              </a:spcBef>
              <a:spcAft>
                <a:spcPts val="0"/>
              </a:spcAft>
              <a:buSzPts val="2595"/>
              <a:buFont typeface="+mj-lt"/>
              <a:buAutoNum type="arabicPeriod"/>
            </a:pPr>
            <a:r>
              <a:rPr lang="en-US" sz="2595" b="1" dirty="0"/>
              <a:t>BRAC Tea Estates</a:t>
            </a:r>
            <a:endParaRPr sz="2595" b="1" dirty="0"/>
          </a:p>
          <a:p>
            <a:pPr marL="0" marR="0" lvl="0" indent="0" algn="ctr" rtl="0">
              <a:lnSpc>
                <a:spcPct val="97000"/>
              </a:lnSpc>
              <a:spcBef>
                <a:spcPts val="0"/>
              </a:spcBef>
              <a:spcAft>
                <a:spcPts val="0"/>
              </a:spcAft>
              <a:buClr>
                <a:schemeClr val="dk1"/>
              </a:buClr>
              <a:buSzPts val="2380"/>
              <a:buNone/>
            </a:pPr>
            <a:endParaRPr sz="2210" b="1" dirty="0"/>
          </a:p>
        </p:txBody>
      </p:sp>
      <p:sp>
        <p:nvSpPr>
          <p:cNvPr id="215" name="Google Shape;215;g13e63a908db_0_79"/>
          <p:cNvSpPr txBox="1"/>
          <p:nvPr/>
        </p:nvSpPr>
        <p:spPr>
          <a:xfrm>
            <a:off x="0" y="15410"/>
            <a:ext cx="9144000" cy="898989"/>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
              <a:buFont typeface="Arial"/>
              <a:buNone/>
            </a:pPr>
            <a:r>
              <a:rPr lang="en-US" sz="3400" b="1" dirty="0">
                <a:solidFill>
                  <a:schemeClr val="lt1"/>
                </a:solidFill>
                <a:latin typeface="Calibri"/>
                <a:ea typeface="Calibri"/>
                <a:cs typeface="Calibri"/>
                <a:sym typeface="Calibri"/>
              </a:rPr>
              <a:t>INVESTMENTS: INVESTING FOR SOCIAL IMPACT</a:t>
            </a:r>
            <a:endParaRPr sz="3400" b="1" dirty="0">
              <a:solidFill>
                <a:schemeClr val="lt1"/>
              </a:solidFill>
              <a:latin typeface="Calibri"/>
              <a:ea typeface="Calibri"/>
              <a:cs typeface="Calibri"/>
              <a:sym typeface="Calibri"/>
            </a:endParaRPr>
          </a:p>
          <a:p>
            <a:pPr marL="0" marR="0" lvl="0" indent="0" algn="ctr" rtl="0">
              <a:spcBef>
                <a:spcPts val="0"/>
              </a:spcBef>
              <a:spcAft>
                <a:spcPts val="0"/>
              </a:spcAft>
              <a:buNone/>
            </a:pPr>
            <a:endParaRPr sz="1600" b="1" dirty="0">
              <a:solidFill>
                <a:schemeClr val="lt1"/>
              </a:solidFill>
              <a:latin typeface="Calibri"/>
              <a:ea typeface="Calibri"/>
              <a:cs typeface="Calibri"/>
              <a:sym typeface="Calibri"/>
            </a:endParaRPr>
          </a:p>
        </p:txBody>
      </p:sp>
      <p:sp>
        <p:nvSpPr>
          <p:cNvPr id="216" name="Google Shape;216;g13e63a908db_0_79"/>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13e63a908db_0_85"/>
          <p:cNvSpPr txBox="1"/>
          <p:nvPr/>
        </p:nvSpPr>
        <p:spPr>
          <a:xfrm>
            <a:off x="0" y="-13855"/>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dirty="0">
                <a:solidFill>
                  <a:schemeClr val="lt1"/>
                </a:solidFill>
                <a:latin typeface="Calibri"/>
                <a:ea typeface="Calibri"/>
                <a:cs typeface="Calibri"/>
                <a:sym typeface="Calibri"/>
              </a:rPr>
              <a:t>BRAC UNIVERSITY</a:t>
            </a:r>
            <a:endParaRPr sz="4000" b="1" i="0" u="none" strike="noStrike" cap="none" dirty="0">
              <a:solidFill>
                <a:schemeClr val="lt1"/>
              </a:solidFill>
              <a:latin typeface="Calibri"/>
              <a:ea typeface="Calibri"/>
              <a:cs typeface="Calibri"/>
              <a:sym typeface="Calibri"/>
            </a:endParaRPr>
          </a:p>
        </p:txBody>
      </p:sp>
      <p:sp>
        <p:nvSpPr>
          <p:cNvPr id="229" name="Google Shape;229;g13e63a908db_0_85"/>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230" name="Google Shape;230;g13e63a908db_0_85"/>
          <p:cNvPicPr preferRelativeResize="0"/>
          <p:nvPr/>
        </p:nvPicPr>
        <p:blipFill>
          <a:blip r:embed="rId3">
            <a:alphaModFix/>
          </a:blip>
          <a:stretch>
            <a:fillRect/>
          </a:stretch>
        </p:blipFill>
        <p:spPr>
          <a:xfrm>
            <a:off x="152399" y="1080655"/>
            <a:ext cx="8866910" cy="5638799"/>
          </a:xfrm>
          <a:prstGeom prst="rect">
            <a:avLst/>
          </a:prstGeom>
          <a:ln>
            <a:noFill/>
          </a:ln>
          <a:effectLst>
            <a:softEdge rad="11250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13e63a908db_0_91"/>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a:solidFill>
                  <a:schemeClr val="lt1"/>
                </a:solidFill>
                <a:latin typeface="Calibri"/>
                <a:ea typeface="Calibri"/>
                <a:cs typeface="Calibri"/>
                <a:sym typeface="Calibri"/>
              </a:rPr>
              <a:t>SOCIAL DEVELOPMENT</a:t>
            </a:r>
            <a:endParaRPr sz="4000" b="1" i="0" u="none" strike="noStrike" cap="none">
              <a:solidFill>
                <a:schemeClr val="lt1"/>
              </a:solidFill>
              <a:latin typeface="Calibri"/>
              <a:ea typeface="Calibri"/>
              <a:cs typeface="Calibri"/>
              <a:sym typeface="Calibri"/>
            </a:endParaRPr>
          </a:p>
        </p:txBody>
      </p:sp>
      <p:sp>
        <p:nvSpPr>
          <p:cNvPr id="236" name="Google Shape;236;g13e63a908db_0_91"/>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237" name="Google Shape;237;g13e63a908db_0_91"/>
          <p:cNvPicPr preferRelativeResize="0"/>
          <p:nvPr/>
        </p:nvPicPr>
        <p:blipFill>
          <a:blip r:embed="rId3">
            <a:alphaModFix/>
          </a:blip>
          <a:stretch>
            <a:fillRect/>
          </a:stretch>
        </p:blipFill>
        <p:spPr>
          <a:xfrm>
            <a:off x="228605" y="1062055"/>
            <a:ext cx="3623279" cy="2590025"/>
          </a:xfrm>
          <a:prstGeom prst="rect">
            <a:avLst/>
          </a:prstGeom>
          <a:noFill/>
          <a:ln w="38100">
            <a:solidFill>
              <a:srgbClr val="EC008C"/>
            </a:solidFill>
          </a:ln>
        </p:spPr>
      </p:pic>
      <p:sp>
        <p:nvSpPr>
          <p:cNvPr id="238" name="Google Shape;238;g13e63a908db_0_91"/>
          <p:cNvSpPr txBox="1"/>
          <p:nvPr/>
        </p:nvSpPr>
        <p:spPr>
          <a:xfrm>
            <a:off x="-3866925" y="-231350"/>
            <a:ext cx="733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239" name="Google Shape;239;g13e63a908db_0_91"/>
          <p:cNvPicPr preferRelativeResize="0"/>
          <p:nvPr/>
        </p:nvPicPr>
        <p:blipFill>
          <a:blip r:embed="rId4">
            <a:alphaModFix/>
          </a:blip>
          <a:stretch>
            <a:fillRect/>
          </a:stretch>
        </p:blipFill>
        <p:spPr>
          <a:xfrm>
            <a:off x="5294875" y="1062050"/>
            <a:ext cx="3631525" cy="2590031"/>
          </a:xfrm>
          <a:prstGeom prst="rect">
            <a:avLst/>
          </a:prstGeom>
          <a:noFill/>
          <a:ln w="28575">
            <a:solidFill>
              <a:srgbClr val="EC008C"/>
            </a:solidFill>
          </a:ln>
        </p:spPr>
      </p:pic>
      <p:pic>
        <p:nvPicPr>
          <p:cNvPr id="240" name="Google Shape;240;g13e63a908db_0_91"/>
          <p:cNvPicPr preferRelativeResize="0"/>
          <p:nvPr/>
        </p:nvPicPr>
        <p:blipFill>
          <a:blip r:embed="rId5">
            <a:alphaModFix/>
          </a:blip>
          <a:stretch>
            <a:fillRect/>
          </a:stretch>
        </p:blipFill>
        <p:spPr>
          <a:xfrm>
            <a:off x="228600" y="4079500"/>
            <a:ext cx="3631527" cy="2633550"/>
          </a:xfrm>
          <a:prstGeom prst="rect">
            <a:avLst/>
          </a:prstGeom>
          <a:noFill/>
          <a:ln w="28575">
            <a:solidFill>
              <a:srgbClr val="EC008C"/>
            </a:solidFill>
          </a:ln>
        </p:spPr>
      </p:pic>
      <p:pic>
        <p:nvPicPr>
          <p:cNvPr id="241" name="Google Shape;241;g13e63a908db_0_91"/>
          <p:cNvPicPr preferRelativeResize="0"/>
          <p:nvPr/>
        </p:nvPicPr>
        <p:blipFill>
          <a:blip r:embed="rId6">
            <a:alphaModFix/>
          </a:blip>
          <a:stretch>
            <a:fillRect/>
          </a:stretch>
        </p:blipFill>
        <p:spPr>
          <a:xfrm>
            <a:off x="5245265" y="4065231"/>
            <a:ext cx="3717925" cy="2633550"/>
          </a:xfrm>
          <a:prstGeom prst="rect">
            <a:avLst/>
          </a:prstGeom>
          <a:noFill/>
          <a:ln w="28575">
            <a:solidFill>
              <a:srgbClr val="EC008C"/>
            </a:solid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13e63a908db_0_141"/>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000" b="1">
                <a:solidFill>
                  <a:schemeClr val="lt1"/>
                </a:solidFill>
                <a:latin typeface="Calibri"/>
                <a:ea typeface="Calibri"/>
                <a:cs typeface="Calibri"/>
                <a:sym typeface="Calibri"/>
              </a:rPr>
              <a:t>SOCIAL DEVELOPMENT</a:t>
            </a:r>
            <a:endParaRPr sz="4000" b="1" i="0" u="none" strike="noStrike" cap="none">
              <a:solidFill>
                <a:schemeClr val="lt1"/>
              </a:solidFill>
              <a:latin typeface="Calibri"/>
              <a:ea typeface="Calibri"/>
              <a:cs typeface="Calibri"/>
              <a:sym typeface="Calibri"/>
            </a:endParaRPr>
          </a:p>
        </p:txBody>
      </p:sp>
      <p:sp>
        <p:nvSpPr>
          <p:cNvPr id="247" name="Google Shape;247;g13e63a908db_0_141"/>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pic>
        <p:nvPicPr>
          <p:cNvPr id="248" name="Google Shape;248;g13e63a908db_0_141"/>
          <p:cNvPicPr preferRelativeResize="0"/>
          <p:nvPr/>
        </p:nvPicPr>
        <p:blipFill>
          <a:blip r:embed="rId3">
            <a:alphaModFix/>
          </a:blip>
          <a:stretch>
            <a:fillRect/>
          </a:stretch>
        </p:blipFill>
        <p:spPr>
          <a:xfrm>
            <a:off x="162285" y="980700"/>
            <a:ext cx="3729175" cy="2783075"/>
          </a:xfrm>
          <a:prstGeom prst="rect">
            <a:avLst/>
          </a:prstGeom>
          <a:noFill/>
          <a:ln w="28575">
            <a:solidFill>
              <a:srgbClr val="EC008C"/>
            </a:solidFill>
          </a:ln>
        </p:spPr>
      </p:pic>
      <p:pic>
        <p:nvPicPr>
          <p:cNvPr id="249" name="Google Shape;249;g13e63a908db_0_141"/>
          <p:cNvPicPr preferRelativeResize="0"/>
          <p:nvPr/>
        </p:nvPicPr>
        <p:blipFill>
          <a:blip r:embed="rId4">
            <a:alphaModFix/>
          </a:blip>
          <a:stretch>
            <a:fillRect/>
          </a:stretch>
        </p:blipFill>
        <p:spPr>
          <a:xfrm>
            <a:off x="5326490" y="1025175"/>
            <a:ext cx="3662425" cy="2738600"/>
          </a:xfrm>
          <a:prstGeom prst="rect">
            <a:avLst/>
          </a:prstGeom>
          <a:noFill/>
          <a:ln w="28575">
            <a:solidFill>
              <a:srgbClr val="EC008C"/>
            </a:solidFill>
          </a:ln>
        </p:spPr>
      </p:pic>
      <p:pic>
        <p:nvPicPr>
          <p:cNvPr id="250" name="Google Shape;250;g13e63a908db_0_141"/>
          <p:cNvPicPr preferRelativeResize="0"/>
          <p:nvPr/>
        </p:nvPicPr>
        <p:blipFill>
          <a:blip r:embed="rId5">
            <a:alphaModFix/>
          </a:blip>
          <a:stretch>
            <a:fillRect/>
          </a:stretch>
        </p:blipFill>
        <p:spPr>
          <a:xfrm>
            <a:off x="162285" y="3916176"/>
            <a:ext cx="3729175" cy="2720152"/>
          </a:xfrm>
          <a:prstGeom prst="rect">
            <a:avLst/>
          </a:prstGeom>
          <a:noFill/>
          <a:ln w="28575">
            <a:solidFill>
              <a:srgbClr val="EC008C"/>
            </a:solidFill>
          </a:ln>
        </p:spPr>
      </p:pic>
      <p:pic>
        <p:nvPicPr>
          <p:cNvPr id="251" name="Google Shape;251;g13e63a908db_0_141"/>
          <p:cNvPicPr preferRelativeResize="0"/>
          <p:nvPr/>
        </p:nvPicPr>
        <p:blipFill>
          <a:blip r:embed="rId6">
            <a:alphaModFix/>
          </a:blip>
          <a:stretch>
            <a:fillRect/>
          </a:stretch>
        </p:blipFill>
        <p:spPr>
          <a:xfrm>
            <a:off x="5340345" y="3915745"/>
            <a:ext cx="3662425" cy="2706728"/>
          </a:xfrm>
          <a:prstGeom prst="rect">
            <a:avLst/>
          </a:prstGeom>
          <a:noFill/>
          <a:ln w="28575">
            <a:solidFill>
              <a:srgbClr val="EC008C"/>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7"/>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i="0" u="none" strike="noStrike" cap="none">
                <a:solidFill>
                  <a:schemeClr val="lt1"/>
                </a:solidFill>
                <a:latin typeface="Calibri"/>
                <a:ea typeface="Calibri"/>
                <a:cs typeface="Calibri"/>
                <a:sym typeface="Calibri"/>
              </a:rPr>
              <a:t>BRAC Timeline</a:t>
            </a:r>
            <a:endParaRPr/>
          </a:p>
        </p:txBody>
      </p:sp>
      <p:sp>
        <p:nvSpPr>
          <p:cNvPr id="277" name="Google Shape;277;p27"/>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graphicFrame>
        <p:nvGraphicFramePr>
          <p:cNvPr id="278" name="Google Shape;278;p27"/>
          <p:cNvGraphicFramePr/>
          <p:nvPr/>
        </p:nvGraphicFramePr>
        <p:xfrm>
          <a:off x="228600" y="1143001"/>
          <a:ext cx="8686800" cy="5486400"/>
        </p:xfrm>
        <a:graphic>
          <a:graphicData uri="http://schemas.openxmlformats.org/drawingml/2006/table">
            <a:tbl>
              <a:tblPr firstRow="1" bandRow="1">
                <a:noFill/>
                <a:tableStyleId>{C3613A26-5E73-4E51-B583-7E87AEE2E9E0}</a:tableStyleId>
              </a:tblPr>
              <a:tblGrid>
                <a:gridCol w="14478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1972</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The Creation of BRAC</a:t>
                      </a:r>
                      <a:endParaRPr sz="14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Relief and reconstruction in a new country</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1973</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Rebuilding Lives</a:t>
                      </a:r>
                      <a:endParaRPr sz="14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Long term rural community development</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1974</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First in Microfinance</a:t>
                      </a:r>
                      <a:endParaRPr sz="14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Providing access to finance to the poor</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3928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1975</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First NGO in Bangladesh to start a research and evaluation division</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1977</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Village Organizations</a:t>
                      </a:r>
                      <a:endParaRPr sz="14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Organizing the poor based on solidarity and mutual support</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57482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1977</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Retail Enterprises</a:t>
                      </a:r>
                      <a:endParaRPr sz="14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Aarong set up to market handicrafts of poor rural artisans</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1977</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Shasthyo Shebika</a:t>
                      </a:r>
                      <a:endParaRPr sz="14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Voluntary health workers</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6"/>
                  </a:ext>
                </a:extLst>
              </a:tr>
              <a:tr h="40557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1979</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Oral Rehydration Therapy Program Teaching Bangladesh to prepare ORS</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7"/>
                  </a:ext>
                </a:extLst>
              </a:tr>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1980s</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Income Generating Enterprises cold storage, printing press, iodized salt factory, tissue culture laboratory, bull station to improve cattle breeds</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8"/>
                  </a:ext>
                </a:extLst>
              </a:tr>
              <a:tr h="5876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1983</a:t>
                      </a:r>
                      <a:endParaRPr sz="16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Poultry and Livestock Activities Developing model for the poor to be involved in the poultry and livestock sector</a:t>
                      </a:r>
                      <a:endParaRPr sz="14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8"/>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i="0" u="none" strike="noStrike" cap="none">
                <a:solidFill>
                  <a:schemeClr val="lt1"/>
                </a:solidFill>
                <a:latin typeface="Calibri"/>
                <a:ea typeface="Calibri"/>
                <a:cs typeface="Calibri"/>
                <a:sym typeface="Calibri"/>
              </a:rPr>
              <a:t>BRAC Timeline</a:t>
            </a:r>
            <a:endParaRPr/>
          </a:p>
        </p:txBody>
      </p:sp>
      <p:sp>
        <p:nvSpPr>
          <p:cNvPr id="284" name="Google Shape;284;p28"/>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graphicFrame>
        <p:nvGraphicFramePr>
          <p:cNvPr id="285" name="Google Shape;285;p28"/>
          <p:cNvGraphicFramePr/>
          <p:nvPr/>
        </p:nvGraphicFramePr>
        <p:xfrm>
          <a:off x="228600" y="1143000"/>
          <a:ext cx="8686800" cy="5486400"/>
        </p:xfrm>
        <a:graphic>
          <a:graphicData uri="http://schemas.openxmlformats.org/drawingml/2006/table">
            <a:tbl>
              <a:tblPr firstRow="1" bandRow="1">
                <a:noFill/>
                <a:tableStyleId>{C3613A26-5E73-4E51-B583-7E87AEE2E9E0}</a:tableStyleId>
              </a:tblPr>
              <a:tblGrid>
                <a:gridCol w="14478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76155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1983</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Poultry and Livestock Activities Developing model for the poor to be involved in the poultry and livestock sector</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44752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1985</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Non Formal Primary Education BRAC schools for the poorest children</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48327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1986</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Speaking out on Human Rights Empowerment through legal education </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6525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1991</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Mother and Child</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Extending reproductive health care to pregnant women</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60305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1994</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Tackling Tuberculosis</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83 million people covered in program with government</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4368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1995</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Shushasthyas – Health Centers Comprehensive health provision for the poor </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r h="42307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1998</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Resolving Conflict- Legal Services Legal Aid clinics for people in communities</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6"/>
                  </a:ext>
                </a:extLst>
              </a:tr>
              <a:tr h="42307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1998</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Fair Price for Milk Dairy plant for milk processing and marketing</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7"/>
                  </a:ext>
                </a:extLst>
              </a:tr>
              <a:tr h="60305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1998</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Adibashis </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Expanding inclusive development programs to the Hill Tracts</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8"/>
                  </a:ext>
                </a:extLst>
              </a:tr>
              <a:tr h="6525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2001</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BRAC Bank</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Support to small and medium enterprises</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9"/>
          <p:cNvSpPr txBox="1"/>
          <p:nvPr/>
        </p:nvSpPr>
        <p:spPr>
          <a:xfrm>
            <a:off x="0" y="0"/>
            <a:ext cx="9144000" cy="762000"/>
          </a:xfrm>
          <a:prstGeom prst="rect">
            <a:avLst/>
          </a:prstGeom>
          <a:solidFill>
            <a:srgbClr val="C00000"/>
          </a:solid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i="0" u="none" strike="noStrike" cap="none">
                <a:solidFill>
                  <a:schemeClr val="lt1"/>
                </a:solidFill>
                <a:latin typeface="Calibri"/>
                <a:ea typeface="Calibri"/>
                <a:cs typeface="Calibri"/>
                <a:sym typeface="Calibri"/>
              </a:rPr>
              <a:t>BRAC Timeline</a:t>
            </a:r>
            <a:endParaRPr/>
          </a:p>
        </p:txBody>
      </p:sp>
      <p:sp>
        <p:nvSpPr>
          <p:cNvPr id="291" name="Google Shape;291;p29"/>
          <p:cNvSpPr/>
          <p:nvPr/>
        </p:nvSpPr>
        <p:spPr>
          <a:xfrm>
            <a:off x="0" y="762000"/>
            <a:ext cx="9144000" cy="152400"/>
          </a:xfrm>
          <a:prstGeom prst="rect">
            <a:avLst/>
          </a:prstGeom>
          <a:solidFill>
            <a:srgbClr val="36609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00000"/>
              </a:solidFill>
              <a:latin typeface="Calibri"/>
              <a:ea typeface="Calibri"/>
              <a:cs typeface="Calibri"/>
              <a:sym typeface="Calibri"/>
            </a:endParaRPr>
          </a:p>
        </p:txBody>
      </p:sp>
      <p:graphicFrame>
        <p:nvGraphicFramePr>
          <p:cNvPr id="292" name="Google Shape;292;p29"/>
          <p:cNvGraphicFramePr/>
          <p:nvPr>
            <p:extLst>
              <p:ext uri="{D42A27DB-BD31-4B8C-83A1-F6EECF244321}">
                <p14:modId xmlns:p14="http://schemas.microsoft.com/office/powerpoint/2010/main" val="641778211"/>
              </p:ext>
            </p:extLst>
          </p:nvPr>
        </p:nvGraphicFramePr>
        <p:xfrm>
          <a:off x="228600" y="1127252"/>
          <a:ext cx="8686800" cy="3775879"/>
        </p:xfrm>
        <a:graphic>
          <a:graphicData uri="http://schemas.openxmlformats.org/drawingml/2006/table">
            <a:tbl>
              <a:tblPr firstRow="1" bandRow="1">
                <a:noFill/>
                <a:tableStyleId>{C3613A26-5E73-4E51-B583-7E87AEE2E9E0}</a:tableStyleId>
              </a:tblPr>
              <a:tblGrid>
                <a:gridCol w="17526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810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2001</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BRAC University</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44752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2002</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Targeting to the Ultra Poor</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Graduating the poorest out of ultra-poverty</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483275">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2002</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BRAC in Afghanistan </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Rebuilding after the devastation</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65250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2003</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Empowering Adolescent Girls program for training, social development and access to finance</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60305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2005</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Meeting the MDGs</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Working on health and hygiene</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630150">
                <a:tc>
                  <a:txBody>
                    <a:bodyPr/>
                    <a:lstStyle/>
                    <a:p>
                      <a:pPr marL="0" marR="0" lvl="0" indent="0" algn="ctr" rtl="0">
                        <a:lnSpc>
                          <a:spcPct val="115000"/>
                        </a:lnSpc>
                        <a:spcBef>
                          <a:spcPts val="0"/>
                        </a:spcBef>
                        <a:spcAft>
                          <a:spcPts val="0"/>
                        </a:spcAft>
                        <a:buNone/>
                      </a:pPr>
                      <a:r>
                        <a:rPr lang="en-US" sz="1800" b="1" u="none" strike="noStrike" cap="none">
                          <a:latin typeface="Times New Roman"/>
                          <a:ea typeface="Times New Roman"/>
                          <a:cs typeface="Times New Roman"/>
                          <a:sym typeface="Times New Roman"/>
                        </a:rPr>
                        <a:t>2006</a:t>
                      </a:r>
                      <a:endParaRPr sz="1800" b="1" u="none" strike="noStrike" cap="none">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Global Expansion to Africa</a:t>
                      </a:r>
                      <a:endParaRPr sz="1600" b="1" u="none" strike="noStrike" cap="none">
                        <a:latin typeface="Calibri"/>
                        <a:ea typeface="Calibri"/>
                        <a:cs typeface="Calibri"/>
                        <a:sym typeface="Calibri"/>
                      </a:endParaRPr>
                    </a:p>
                    <a:p>
                      <a:pPr marL="0" marR="0" lvl="0" indent="0" algn="l" rtl="0">
                        <a:lnSpc>
                          <a:spcPct val="115000"/>
                        </a:lnSpc>
                        <a:spcBef>
                          <a:spcPts val="0"/>
                        </a:spcBef>
                        <a:spcAft>
                          <a:spcPts val="0"/>
                        </a:spcAft>
                        <a:buNone/>
                      </a:pPr>
                      <a:r>
                        <a:rPr lang="en-US" sz="1600" b="1" u="none" strike="noStrike" cap="none">
                          <a:latin typeface="Times New Roman"/>
                          <a:ea typeface="Times New Roman"/>
                          <a:cs typeface="Times New Roman"/>
                          <a:sym typeface="Times New Roman"/>
                        </a:rPr>
                        <a:t>Program in Tanzania, Uganda, Southern Sudan, Sierra Leone and Liberia</a:t>
                      </a:r>
                      <a:endParaRPr sz="1600" b="1"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r h="423075">
                <a:tc gridSpan="2">
                  <a:txBody>
                    <a:bodyPr/>
                    <a:lstStyle/>
                    <a:p>
                      <a:pPr marL="0" marR="0" lvl="0" indent="0" algn="ctr" rtl="0">
                        <a:lnSpc>
                          <a:spcPct val="115000"/>
                        </a:lnSpc>
                        <a:spcBef>
                          <a:spcPts val="0"/>
                        </a:spcBef>
                        <a:spcAft>
                          <a:spcPts val="0"/>
                        </a:spcAft>
                        <a:buNone/>
                      </a:pPr>
                      <a:endParaRPr sz="1800" b="1" u="none" strike="noStrike" cap="none" dirty="0">
                        <a:latin typeface="Calibri"/>
                        <a:ea typeface="Calibri"/>
                        <a:cs typeface="Calibri"/>
                        <a:sym typeface="Calibri"/>
                      </a:endParaRPr>
                    </a:p>
                  </a:txBody>
                  <a:tcPr marL="68575" marR="68575" marT="0" marB="0">
                    <a:lnL w="12700" cmpd="sng">
                      <a:noFill/>
                      <a:prstDash val="solid"/>
                    </a:lnL>
                    <a:lnR w="12700" cmpd="sng">
                      <a:noFill/>
                      <a:prstDash val="solid"/>
                    </a:lnR>
                    <a:lnB w="12700" cmpd="sng">
                      <a:noFill/>
                      <a:prstDash val="solid"/>
                    </a:lnB>
                  </a:tcPr>
                </a:tc>
                <a:tc hMerge="1">
                  <a:txBody>
                    <a:bodyPr/>
                    <a:lstStyle/>
                    <a:p>
                      <a:pPr marL="0" marR="0" lvl="0" indent="0" algn="l" rtl="0">
                        <a:lnSpc>
                          <a:spcPct val="115000"/>
                        </a:lnSpc>
                        <a:spcBef>
                          <a:spcPts val="0"/>
                        </a:spcBef>
                        <a:spcAft>
                          <a:spcPts val="0"/>
                        </a:spcAft>
                        <a:buNone/>
                      </a:pPr>
                      <a:endParaRPr sz="1600" b="1"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1106</Words>
  <Application>Microsoft Office PowerPoint</Application>
  <PresentationFormat>On-screen Show (4:3)</PresentationFormat>
  <Paragraphs>221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 Perezoso</dc:creator>
  <cp:lastModifiedBy>Syed Hashemi</cp:lastModifiedBy>
  <cp:revision>4</cp:revision>
  <dcterms:created xsi:type="dcterms:W3CDTF">2006-08-16T00:00:00Z</dcterms:created>
  <dcterms:modified xsi:type="dcterms:W3CDTF">2022-07-27T02:53:40Z</dcterms:modified>
</cp:coreProperties>
</file>