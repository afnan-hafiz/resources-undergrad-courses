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iDKa5ahMptuYRGe6EtDIdPhjSK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64be98e3a0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264be98e3a0_0_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64be98e3a0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264be98e3a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g264be98e3a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685800" y="2130429"/>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2"/>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2"/>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2"/>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3"/>
          <p:cNvSpPr txBox="1"/>
          <p:nvPr>
            <p:ph idx="1" type="body"/>
          </p:nvPr>
        </p:nvSpPr>
        <p:spPr>
          <a:xfrm>
            <a:off x="457200" y="1600204"/>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3"/>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3"/>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3"/>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24"/>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4"/>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5"/>
          <p:cNvSpPr txBox="1"/>
          <p:nvPr>
            <p:ph type="title"/>
          </p:nvPr>
        </p:nvSpPr>
        <p:spPr>
          <a:xfrm>
            <a:off x="722313" y="4406904"/>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5"/>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5"/>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 type="body"/>
          </p:nvPr>
        </p:nvSpPr>
        <p:spPr>
          <a:xfrm>
            <a:off x="457200" y="1600204"/>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6"/>
          <p:cNvSpPr txBox="1"/>
          <p:nvPr>
            <p:ph idx="2" type="body"/>
          </p:nvPr>
        </p:nvSpPr>
        <p:spPr>
          <a:xfrm>
            <a:off x="4648200" y="1600204"/>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6"/>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7"/>
          <p:cNvSpPr txBox="1"/>
          <p:nvPr>
            <p:ph idx="3" type="body"/>
          </p:nvPr>
        </p:nvSpPr>
        <p:spPr>
          <a:xfrm>
            <a:off x="4645027"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7"/>
          <p:cNvSpPr txBox="1"/>
          <p:nvPr>
            <p:ph idx="4" type="body"/>
          </p:nvPr>
        </p:nvSpPr>
        <p:spPr>
          <a:xfrm>
            <a:off x="4645027"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7"/>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7"/>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8"/>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457202"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 type="body"/>
          </p:nvPr>
        </p:nvSpPr>
        <p:spPr>
          <a:xfrm>
            <a:off x="3575050" y="273054"/>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9"/>
          <p:cNvSpPr txBox="1"/>
          <p:nvPr>
            <p:ph idx="2" type="body"/>
          </p:nvPr>
        </p:nvSpPr>
        <p:spPr>
          <a:xfrm>
            <a:off x="457202" y="1435103"/>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9"/>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9"/>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p:nvPr>
            <p:ph idx="2" type="pic"/>
          </p:nvPr>
        </p:nvSpPr>
        <p:spPr>
          <a:xfrm>
            <a:off x="1792288" y="612775"/>
            <a:ext cx="5486400" cy="4114800"/>
          </a:xfrm>
          <a:prstGeom prst="rect">
            <a:avLst/>
          </a:prstGeom>
          <a:noFill/>
          <a:ln>
            <a:noFill/>
          </a:ln>
        </p:spPr>
      </p:sp>
      <p:sp>
        <p:nvSpPr>
          <p:cNvPr id="68" name="Google Shape;68;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0"/>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rot="5400000">
            <a:off x="2309019" y="-251615"/>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1"/>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4732338" y="2171705"/>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2"/>
          <p:cNvSpPr txBox="1"/>
          <p:nvPr>
            <p:ph idx="1" type="body"/>
          </p:nvPr>
        </p:nvSpPr>
        <p:spPr>
          <a:xfrm rot="5400000">
            <a:off x="541338" y="190504"/>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2"/>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1"/>
          <p:cNvSpPr txBox="1"/>
          <p:nvPr>
            <p:ph idx="1" type="body"/>
          </p:nvPr>
        </p:nvSpPr>
        <p:spPr>
          <a:xfrm>
            <a:off x="457200" y="1600204"/>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23.png"/><Relationship Id="rId7" Type="http://schemas.openxmlformats.org/officeDocument/2006/relationships/image" Target="../media/image1.png"/><Relationship Id="rId8"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21.png"/><Relationship Id="rId5"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timetoast.com/timelines/time-line-a-brief-history-of-the-bangla-language-movement-2671e6a4-e08f-4710-aa7d-6348ac63dd3c"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457200" y="990600"/>
            <a:ext cx="8305800" cy="3200400"/>
          </a:xfrm>
          <a:prstGeom prst="rect">
            <a:avLst/>
          </a:prstGeom>
          <a:solidFill>
            <a:srgbClr val="C00000"/>
          </a:solid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lt1"/>
              </a:buClr>
              <a:buSzPct val="100000"/>
              <a:buFont typeface="Calibri"/>
              <a:buNone/>
            </a:pPr>
            <a:br>
              <a:rPr b="1" lang="en-US" sz="4000">
                <a:solidFill>
                  <a:schemeClr val="lt1"/>
                </a:solidFill>
              </a:rPr>
            </a:br>
            <a:r>
              <a:rPr b="1" lang="en-US" sz="4000">
                <a:solidFill>
                  <a:schemeClr val="lt1"/>
                </a:solidFill>
              </a:rPr>
              <a:t>LECTURE: 6</a:t>
            </a:r>
            <a:br>
              <a:rPr b="1" lang="en-US" sz="4000">
                <a:solidFill>
                  <a:schemeClr val="lt1"/>
                </a:solidFill>
              </a:rPr>
            </a:br>
            <a:br>
              <a:rPr b="1" lang="en-US" sz="4000">
                <a:solidFill>
                  <a:schemeClr val="lt1"/>
                </a:solidFill>
              </a:rPr>
            </a:br>
            <a:r>
              <a:rPr b="1" lang="en-US" sz="4000">
                <a:solidFill>
                  <a:schemeClr val="lt1"/>
                </a:solidFill>
              </a:rPr>
              <a:t>Colonial Attacks on Language and Culture</a:t>
            </a:r>
            <a:br>
              <a:rPr b="1" lang="en-US" sz="3200">
                <a:solidFill>
                  <a:schemeClr val="lt1"/>
                </a:solidFill>
              </a:rPr>
            </a:br>
            <a:br>
              <a:rPr b="1" lang="en-US" sz="3200">
                <a:solidFill>
                  <a:schemeClr val="lt1"/>
                </a:solidFill>
              </a:rPr>
            </a:br>
            <a:endParaRPr sz="3600">
              <a:solidFill>
                <a:schemeClr val="lt1"/>
              </a:solidFill>
            </a:endParaRPr>
          </a:p>
        </p:txBody>
      </p:sp>
      <p:sp>
        <p:nvSpPr>
          <p:cNvPr id="89" name="Google Shape;89;p1"/>
          <p:cNvSpPr/>
          <p:nvPr/>
        </p:nvSpPr>
        <p:spPr>
          <a:xfrm>
            <a:off x="457200" y="533403"/>
            <a:ext cx="8305800" cy="362833"/>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idx="1" type="body"/>
          </p:nvPr>
        </p:nvSpPr>
        <p:spPr>
          <a:xfrm>
            <a:off x="152400" y="1371600"/>
            <a:ext cx="8915400" cy="47244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ctr">
              <a:lnSpc>
                <a:spcPct val="115000"/>
              </a:lnSpc>
              <a:spcBef>
                <a:spcPts val="0"/>
              </a:spcBef>
              <a:spcAft>
                <a:spcPts val="0"/>
              </a:spcAft>
              <a:buClr>
                <a:schemeClr val="dk1"/>
              </a:buClr>
              <a:buSzPct val="100000"/>
              <a:buNone/>
            </a:pPr>
            <a:r>
              <a:rPr b="1" lang="en-US" sz="2800"/>
              <a:t>Colonial Attacks on Language and Culture</a:t>
            </a:r>
            <a:endParaRPr/>
          </a:p>
          <a:p>
            <a:pPr indent="0" lvl="0" marL="0" rtl="0" algn="ctr">
              <a:lnSpc>
                <a:spcPct val="115000"/>
              </a:lnSpc>
              <a:spcBef>
                <a:spcPts val="0"/>
              </a:spcBef>
              <a:spcAft>
                <a:spcPts val="0"/>
              </a:spcAft>
              <a:buClr>
                <a:schemeClr val="dk1"/>
              </a:buClr>
              <a:buSzPct val="100000"/>
              <a:buNone/>
            </a:pPr>
            <a:r>
              <a:t/>
            </a:r>
            <a:endParaRPr b="1" i="1" sz="2800"/>
          </a:p>
          <a:p>
            <a:pPr indent="0" lvl="0" marL="0" rtl="0" algn="l">
              <a:lnSpc>
                <a:spcPct val="115000"/>
              </a:lnSpc>
              <a:spcBef>
                <a:spcPts val="0"/>
              </a:spcBef>
              <a:spcAft>
                <a:spcPts val="0"/>
              </a:spcAft>
              <a:buClr>
                <a:schemeClr val="dk1"/>
              </a:buClr>
              <a:buSzPct val="100000"/>
              <a:buNone/>
            </a:pPr>
            <a:r>
              <a:rPr b="1" i="1" lang="en-US" sz="2800"/>
              <a:t>Learning Objectives: </a:t>
            </a:r>
            <a:endParaRPr/>
          </a:p>
          <a:p>
            <a:pPr indent="0" lvl="0" marL="0" rtl="0" algn="l">
              <a:lnSpc>
                <a:spcPct val="115000"/>
              </a:lnSpc>
              <a:spcBef>
                <a:spcPts val="0"/>
              </a:spcBef>
              <a:spcAft>
                <a:spcPts val="0"/>
              </a:spcAft>
              <a:buClr>
                <a:schemeClr val="dk1"/>
              </a:buClr>
              <a:buSzPct val="100000"/>
              <a:buNone/>
            </a:pPr>
            <a:r>
              <a:t/>
            </a:r>
            <a:endParaRPr b="1" i="1" sz="2800"/>
          </a:p>
          <a:p>
            <a:pPr indent="-342891" lvl="0" marL="342891" rtl="0" algn="l">
              <a:lnSpc>
                <a:spcPct val="115000"/>
              </a:lnSpc>
              <a:spcBef>
                <a:spcPts val="0"/>
              </a:spcBef>
              <a:spcAft>
                <a:spcPts val="0"/>
              </a:spcAft>
              <a:buClr>
                <a:schemeClr val="dk1"/>
              </a:buClr>
              <a:buSzPct val="100000"/>
              <a:buFont typeface="Noto Sans Symbols"/>
              <a:buChar char="⮚"/>
            </a:pPr>
            <a:r>
              <a:rPr b="1" lang="en-US" sz="2800"/>
              <a:t>Understand nationalism and its theoretical framework. </a:t>
            </a:r>
            <a:endParaRPr/>
          </a:p>
          <a:p>
            <a:pPr indent="-342891" lvl="0" marL="342891" rtl="0" algn="l">
              <a:lnSpc>
                <a:spcPct val="115000"/>
              </a:lnSpc>
              <a:spcBef>
                <a:spcPts val="0"/>
              </a:spcBef>
              <a:spcAft>
                <a:spcPts val="0"/>
              </a:spcAft>
              <a:buClr>
                <a:schemeClr val="dk1"/>
              </a:buClr>
              <a:buSzPct val="100000"/>
              <a:buFont typeface="Noto Sans Symbols"/>
              <a:buChar char="⮚"/>
            </a:pPr>
            <a:r>
              <a:rPr b="1" lang="en-US" sz="2800"/>
              <a:t>Know how Bengali nationalism emerged among the people of East Pakistan. </a:t>
            </a:r>
            <a:endParaRPr/>
          </a:p>
          <a:p>
            <a:pPr indent="-342891" lvl="0" marL="342891" rtl="0" algn="l">
              <a:lnSpc>
                <a:spcPct val="115000"/>
              </a:lnSpc>
              <a:spcBef>
                <a:spcPts val="0"/>
              </a:spcBef>
              <a:spcAft>
                <a:spcPts val="0"/>
              </a:spcAft>
              <a:buClr>
                <a:schemeClr val="dk1"/>
              </a:buClr>
              <a:buSzPct val="100000"/>
              <a:buFont typeface="Noto Sans Symbols"/>
              <a:buChar char="⮚"/>
            </a:pPr>
            <a:r>
              <a:rPr b="1" lang="en-US" sz="2800"/>
              <a:t>Explain repressive treatment of West Pakistan over Bengali language. </a:t>
            </a:r>
            <a:endParaRPr/>
          </a:p>
          <a:p>
            <a:pPr indent="-342891" lvl="0" marL="342891" rtl="0" algn="l">
              <a:lnSpc>
                <a:spcPct val="115000"/>
              </a:lnSpc>
              <a:spcBef>
                <a:spcPts val="0"/>
              </a:spcBef>
              <a:spcAft>
                <a:spcPts val="0"/>
              </a:spcAft>
              <a:buClr>
                <a:schemeClr val="dk1"/>
              </a:buClr>
              <a:buSzPct val="100000"/>
              <a:buFont typeface="Noto Sans Symbols"/>
              <a:buChar char="⮚"/>
            </a:pPr>
            <a:r>
              <a:rPr b="1" lang="en-US" sz="2800"/>
              <a:t>Get how cultural frontier played pivotal role in creating a political platform for Bengalis. </a:t>
            </a:r>
            <a:endParaRPr/>
          </a:p>
          <a:p>
            <a:pPr indent="-342891" lvl="0" marL="342891" rtl="0" algn="l">
              <a:lnSpc>
                <a:spcPct val="115000"/>
              </a:lnSpc>
              <a:spcBef>
                <a:spcPts val="0"/>
              </a:spcBef>
              <a:spcAft>
                <a:spcPts val="0"/>
              </a:spcAft>
              <a:buClr>
                <a:schemeClr val="dk1"/>
              </a:buClr>
              <a:buSzPct val="100000"/>
              <a:buFont typeface="Noto Sans Symbols"/>
              <a:buChar char="⮚"/>
            </a:pPr>
            <a:r>
              <a:rPr b="1" lang="en-US" sz="2800"/>
              <a:t>Identify how Language Movement united the people of East Pakistan against the misrule of Muslim League. </a:t>
            </a:r>
            <a:endParaRPr/>
          </a:p>
          <a:p>
            <a:pPr indent="-170169" lvl="0" marL="342891" rtl="0" algn="l">
              <a:lnSpc>
                <a:spcPct val="100000"/>
              </a:lnSpc>
              <a:spcBef>
                <a:spcPts val="544"/>
              </a:spcBef>
              <a:spcAft>
                <a:spcPts val="0"/>
              </a:spcAft>
              <a:buClr>
                <a:schemeClr val="dk1"/>
              </a:buClr>
              <a:buSzPct val="100000"/>
              <a:buNone/>
            </a:pPr>
            <a:r>
              <a:t/>
            </a:r>
            <a:endParaRPr/>
          </a:p>
        </p:txBody>
      </p:sp>
      <p:sp>
        <p:nvSpPr>
          <p:cNvPr id="96" name="Google Shape;96;p2"/>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Calibri"/>
                <a:ea typeface="Calibri"/>
                <a:cs typeface="Calibri"/>
                <a:sym typeface="Calibri"/>
              </a:rPr>
              <a:t>OUTLINE:  LECTURE 6</a:t>
            </a:r>
            <a:endParaRPr b="1" i="0" sz="4000" u="none" cap="none" strike="noStrike">
              <a:solidFill>
                <a:schemeClr val="lt1"/>
              </a:solidFill>
              <a:latin typeface="Calibri"/>
              <a:ea typeface="Calibri"/>
              <a:cs typeface="Calibri"/>
              <a:sym typeface="Calibri"/>
            </a:endParaRPr>
          </a:p>
        </p:txBody>
      </p:sp>
      <p:sp>
        <p:nvSpPr>
          <p:cNvPr id="97" name="Google Shape;97;p2"/>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98" name="Google Shape;98;p2"/>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5" name="Google Shape;105;p3"/>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lang="en-US" sz="3600">
                <a:solidFill>
                  <a:schemeClr val="lt1"/>
                </a:solidFill>
                <a:latin typeface="Calibri"/>
                <a:ea typeface="Calibri"/>
                <a:cs typeface="Calibri"/>
                <a:sym typeface="Calibri"/>
              </a:rPr>
              <a:t>BENGALI </a:t>
            </a:r>
            <a:r>
              <a:rPr b="1" i="0" lang="en-US" sz="3600" u="none" cap="none" strike="noStrike">
                <a:solidFill>
                  <a:schemeClr val="lt1"/>
                </a:solidFill>
                <a:latin typeface="Calibri"/>
                <a:ea typeface="Calibri"/>
                <a:cs typeface="Calibri"/>
                <a:sym typeface="Calibri"/>
              </a:rPr>
              <a:t>NATIONALISM</a:t>
            </a:r>
            <a:endParaRPr b="1" i="0" sz="3600" u="none" cap="none" strike="noStrike">
              <a:solidFill>
                <a:schemeClr val="lt1"/>
              </a:solidFill>
              <a:latin typeface="Calibri"/>
              <a:ea typeface="Calibri"/>
              <a:cs typeface="Calibri"/>
              <a:sym typeface="Calibri"/>
            </a:endParaRPr>
          </a:p>
        </p:txBody>
      </p:sp>
      <p:sp>
        <p:nvSpPr>
          <p:cNvPr id="106" name="Google Shape;106;p3"/>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107" name="Google Shape;107;p3"/>
          <p:cNvSpPr/>
          <p:nvPr/>
        </p:nvSpPr>
        <p:spPr>
          <a:xfrm>
            <a:off x="457200" y="1295400"/>
            <a:ext cx="8229600" cy="18620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Emergence of Bengali Nationalism:</a:t>
            </a:r>
            <a:endParaRPr b="0" i="0" sz="2400" u="none" cap="none" strike="noStrike">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The question on Identity and Language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What started as part of the Pakistani nationalist project ended up as the beginning of a new wave, Bengali nationalism.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DISSIMILARITIES BETWEEN TWO WINGS</a:t>
            </a:r>
            <a:endParaRPr b="1" i="0" sz="3600" u="none" cap="none" strike="noStrike">
              <a:solidFill>
                <a:schemeClr val="lt1"/>
              </a:solidFill>
              <a:latin typeface="Calibri"/>
              <a:ea typeface="Calibri"/>
              <a:cs typeface="Calibri"/>
              <a:sym typeface="Calibri"/>
            </a:endParaRPr>
          </a:p>
        </p:txBody>
      </p:sp>
      <p:sp>
        <p:nvSpPr>
          <p:cNvPr id="113" name="Google Shape;113;p4"/>
          <p:cNvSpPr/>
          <p:nvPr/>
        </p:nvSpPr>
        <p:spPr>
          <a:xfrm>
            <a:off x="-1016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114" name="Google Shape;114;p4"/>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5" name="Google Shape;115;p4"/>
          <p:cNvSpPr/>
          <p:nvPr/>
        </p:nvSpPr>
        <p:spPr>
          <a:xfrm>
            <a:off x="381000" y="1321550"/>
            <a:ext cx="3313800" cy="4926900"/>
          </a:xfrm>
          <a:prstGeom prst="rect">
            <a:avLst/>
          </a:prstGeom>
          <a:noFill/>
          <a:ln>
            <a:noFill/>
          </a:ln>
        </p:spPr>
        <p:txBody>
          <a:bodyPr anchorCtr="0" anchor="t" bIns="45700" lIns="91425" spcFirstLastPara="1" rIns="91425" wrap="square" tIns="45700">
            <a:spAutoFit/>
          </a:bodyPr>
          <a:lstStyle/>
          <a:p>
            <a:pPr indent="-609600" lvl="0" marL="609600" marR="0" rtl="0" algn="l">
              <a:lnSpc>
                <a:spcPct val="8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Factors of difference </a:t>
            </a:r>
            <a:endParaRPr b="0" i="0" sz="1400" u="none" cap="none" strike="noStrike">
              <a:solidFill>
                <a:srgbClr val="000000"/>
              </a:solidFill>
              <a:latin typeface="Arial"/>
              <a:ea typeface="Arial"/>
              <a:cs typeface="Arial"/>
              <a:sym typeface="Arial"/>
            </a:endParaRPr>
          </a:p>
          <a:p>
            <a:pPr indent="-609600" lvl="0" marL="609600" marR="0" rtl="0" algn="l">
              <a:lnSpc>
                <a:spcPct val="80000"/>
              </a:lnSpc>
              <a:spcBef>
                <a:spcPts val="0"/>
              </a:spcBef>
              <a:spcAft>
                <a:spcPts val="0"/>
              </a:spcAft>
              <a:buClr>
                <a:srgbClr val="000000"/>
              </a:buClr>
              <a:buSzPts val="2800"/>
              <a:buFont typeface="Arial"/>
              <a:buNone/>
            </a:pPr>
            <a:r>
              <a:t/>
            </a:r>
            <a:endParaRPr b="1" i="0" sz="2800" u="none" cap="none" strike="noStrike">
              <a:solidFill>
                <a:schemeClr val="dk1"/>
              </a:solidFill>
              <a:latin typeface="Calibri"/>
              <a:ea typeface="Calibri"/>
              <a:cs typeface="Calibri"/>
              <a:sym typeface="Calibri"/>
            </a:endParaRPr>
          </a:p>
          <a:p>
            <a:pPr indent="-609600" lvl="0" marL="609600" marR="0" rtl="0" algn="l">
              <a:lnSpc>
                <a:spcPct val="80000"/>
              </a:lnSpc>
              <a:spcBef>
                <a:spcPts val="0"/>
              </a:spcBef>
              <a:spcAft>
                <a:spcPts val="0"/>
              </a:spcAft>
              <a:buClr>
                <a:schemeClr val="dk1"/>
              </a:buClr>
              <a:buSzPts val="2800"/>
              <a:buFont typeface="Noto Sans Symbols"/>
              <a:buChar char="⮚"/>
            </a:pPr>
            <a:r>
              <a:rPr b="1" i="0" lang="en-US" sz="2800" u="none" cap="none" strike="noStrike">
                <a:solidFill>
                  <a:schemeClr val="dk1"/>
                </a:solidFill>
                <a:latin typeface="Calibri"/>
                <a:ea typeface="Calibri"/>
                <a:cs typeface="Calibri"/>
                <a:sym typeface="Calibri"/>
              </a:rPr>
              <a:t>Ethnic build-up</a:t>
            </a:r>
            <a:endParaRPr b="0" i="0" sz="1400" u="none" cap="none" strike="noStrike">
              <a:solidFill>
                <a:srgbClr val="000000"/>
              </a:solidFill>
              <a:latin typeface="Arial"/>
              <a:ea typeface="Arial"/>
              <a:cs typeface="Arial"/>
              <a:sym typeface="Arial"/>
            </a:endParaRPr>
          </a:p>
          <a:p>
            <a:pPr indent="-609600" lvl="0" marL="609600" marR="0" rtl="0" algn="l">
              <a:lnSpc>
                <a:spcPct val="80000"/>
              </a:lnSpc>
              <a:spcBef>
                <a:spcPts val="0"/>
              </a:spcBef>
              <a:spcAft>
                <a:spcPts val="0"/>
              </a:spcAft>
              <a:buClr>
                <a:srgbClr val="000000"/>
              </a:buClr>
              <a:buSzPts val="2800"/>
              <a:buFont typeface="Arial"/>
              <a:buNone/>
            </a:pPr>
            <a:r>
              <a:t/>
            </a:r>
            <a:endParaRPr b="1" i="0" sz="2800" u="none" cap="none" strike="noStrike">
              <a:solidFill>
                <a:schemeClr val="dk1"/>
              </a:solidFill>
              <a:latin typeface="Calibri"/>
              <a:ea typeface="Calibri"/>
              <a:cs typeface="Calibri"/>
              <a:sym typeface="Calibri"/>
            </a:endParaRPr>
          </a:p>
          <a:p>
            <a:pPr indent="-609600" lvl="0" marL="609600" marR="0" rtl="0" algn="l">
              <a:lnSpc>
                <a:spcPct val="80000"/>
              </a:lnSpc>
              <a:spcBef>
                <a:spcPts val="0"/>
              </a:spcBef>
              <a:spcAft>
                <a:spcPts val="0"/>
              </a:spcAft>
              <a:buClr>
                <a:schemeClr val="dk1"/>
              </a:buClr>
              <a:buSzPts val="2800"/>
              <a:buFont typeface="Noto Sans Symbols"/>
              <a:buChar char="⮚"/>
            </a:pPr>
            <a:r>
              <a:rPr b="1" i="0" lang="en-US" sz="2800" u="none" cap="none" strike="noStrike">
                <a:solidFill>
                  <a:schemeClr val="dk1"/>
                </a:solidFill>
                <a:latin typeface="Calibri"/>
                <a:ea typeface="Calibri"/>
                <a:cs typeface="Calibri"/>
                <a:sym typeface="Calibri"/>
              </a:rPr>
              <a:t>Language</a:t>
            </a:r>
            <a:endParaRPr b="0" i="0" sz="1400" u="none" cap="none" strike="noStrike">
              <a:solidFill>
                <a:srgbClr val="000000"/>
              </a:solidFill>
              <a:latin typeface="Arial"/>
              <a:ea typeface="Arial"/>
              <a:cs typeface="Arial"/>
              <a:sym typeface="Arial"/>
            </a:endParaRPr>
          </a:p>
          <a:p>
            <a:pPr indent="-609600" lvl="0" marL="609600" marR="0" rtl="0" algn="l">
              <a:lnSpc>
                <a:spcPct val="80000"/>
              </a:lnSpc>
              <a:spcBef>
                <a:spcPts val="0"/>
              </a:spcBef>
              <a:spcAft>
                <a:spcPts val="0"/>
              </a:spcAft>
              <a:buClr>
                <a:srgbClr val="000000"/>
              </a:buClr>
              <a:buSzPts val="2800"/>
              <a:buFont typeface="Arial"/>
              <a:buNone/>
            </a:pPr>
            <a:r>
              <a:t/>
            </a:r>
            <a:endParaRPr b="1" i="0" sz="2800" u="none" cap="none" strike="noStrike">
              <a:solidFill>
                <a:schemeClr val="dk1"/>
              </a:solidFill>
              <a:latin typeface="Calibri"/>
              <a:ea typeface="Calibri"/>
              <a:cs typeface="Calibri"/>
              <a:sym typeface="Calibri"/>
            </a:endParaRPr>
          </a:p>
          <a:p>
            <a:pPr indent="-609600" lvl="0" marL="609600" marR="0" rtl="0" algn="l">
              <a:lnSpc>
                <a:spcPct val="80000"/>
              </a:lnSpc>
              <a:spcBef>
                <a:spcPts val="0"/>
              </a:spcBef>
              <a:spcAft>
                <a:spcPts val="0"/>
              </a:spcAft>
              <a:buClr>
                <a:schemeClr val="dk1"/>
              </a:buClr>
              <a:buSzPts val="2800"/>
              <a:buFont typeface="Noto Sans Symbols"/>
              <a:buChar char="⮚"/>
            </a:pPr>
            <a:r>
              <a:rPr b="1" i="0" lang="en-US" sz="2800" u="none" cap="none" strike="noStrike">
                <a:solidFill>
                  <a:schemeClr val="dk1"/>
                </a:solidFill>
                <a:latin typeface="Calibri"/>
                <a:ea typeface="Calibri"/>
                <a:cs typeface="Calibri"/>
                <a:sym typeface="Calibri"/>
              </a:rPr>
              <a:t>Tradition</a:t>
            </a:r>
            <a:endParaRPr b="0" i="0" sz="1400" u="none" cap="none" strike="noStrike">
              <a:solidFill>
                <a:srgbClr val="000000"/>
              </a:solidFill>
              <a:latin typeface="Arial"/>
              <a:ea typeface="Arial"/>
              <a:cs typeface="Arial"/>
              <a:sym typeface="Arial"/>
            </a:endParaRPr>
          </a:p>
          <a:p>
            <a:pPr indent="-609600" lvl="0" marL="609600" marR="0" rtl="0" algn="l">
              <a:lnSpc>
                <a:spcPct val="80000"/>
              </a:lnSpc>
              <a:spcBef>
                <a:spcPts val="0"/>
              </a:spcBef>
              <a:spcAft>
                <a:spcPts val="0"/>
              </a:spcAft>
              <a:buClr>
                <a:srgbClr val="000000"/>
              </a:buClr>
              <a:buSzPts val="2800"/>
              <a:buFont typeface="Arial"/>
              <a:buNone/>
            </a:pPr>
            <a:r>
              <a:t/>
            </a:r>
            <a:endParaRPr b="1" i="0" sz="2800" u="none" cap="none" strike="noStrike">
              <a:solidFill>
                <a:schemeClr val="dk1"/>
              </a:solidFill>
              <a:latin typeface="Calibri"/>
              <a:ea typeface="Calibri"/>
              <a:cs typeface="Calibri"/>
              <a:sym typeface="Calibri"/>
            </a:endParaRPr>
          </a:p>
          <a:p>
            <a:pPr indent="-609600" lvl="0" marL="609600" marR="0" rtl="0" algn="l">
              <a:lnSpc>
                <a:spcPct val="80000"/>
              </a:lnSpc>
              <a:spcBef>
                <a:spcPts val="0"/>
              </a:spcBef>
              <a:spcAft>
                <a:spcPts val="0"/>
              </a:spcAft>
              <a:buClr>
                <a:schemeClr val="dk1"/>
              </a:buClr>
              <a:buSzPts val="2800"/>
              <a:buFont typeface="Noto Sans Symbols"/>
              <a:buChar char="⮚"/>
            </a:pPr>
            <a:r>
              <a:rPr b="1" i="0" lang="en-US" sz="2800" u="none" cap="none" strike="noStrike">
                <a:solidFill>
                  <a:schemeClr val="dk1"/>
                </a:solidFill>
                <a:latin typeface="Calibri"/>
                <a:ea typeface="Calibri"/>
                <a:cs typeface="Calibri"/>
                <a:sym typeface="Calibri"/>
              </a:rPr>
              <a:t>Culture</a:t>
            </a:r>
            <a:endParaRPr b="0" i="0" sz="1400" u="none" cap="none" strike="noStrike">
              <a:solidFill>
                <a:srgbClr val="000000"/>
              </a:solidFill>
              <a:latin typeface="Arial"/>
              <a:ea typeface="Arial"/>
              <a:cs typeface="Arial"/>
              <a:sym typeface="Arial"/>
            </a:endParaRPr>
          </a:p>
          <a:p>
            <a:pPr indent="-609600" lvl="0" marL="609600" marR="0" rtl="0" algn="l">
              <a:lnSpc>
                <a:spcPct val="80000"/>
              </a:lnSpc>
              <a:spcBef>
                <a:spcPts val="0"/>
              </a:spcBef>
              <a:spcAft>
                <a:spcPts val="0"/>
              </a:spcAft>
              <a:buClr>
                <a:srgbClr val="000000"/>
              </a:buClr>
              <a:buSzPts val="2800"/>
              <a:buFont typeface="Arial"/>
              <a:buNone/>
            </a:pPr>
            <a:r>
              <a:t/>
            </a:r>
            <a:endParaRPr b="1" i="0" sz="2800" u="none" cap="none" strike="noStrike">
              <a:solidFill>
                <a:schemeClr val="dk1"/>
              </a:solidFill>
              <a:latin typeface="Calibri"/>
              <a:ea typeface="Calibri"/>
              <a:cs typeface="Calibri"/>
              <a:sym typeface="Calibri"/>
            </a:endParaRPr>
          </a:p>
          <a:p>
            <a:pPr indent="-609600" lvl="0" marL="609600" marR="0" rtl="0" algn="l">
              <a:lnSpc>
                <a:spcPct val="80000"/>
              </a:lnSpc>
              <a:spcBef>
                <a:spcPts val="0"/>
              </a:spcBef>
              <a:spcAft>
                <a:spcPts val="0"/>
              </a:spcAft>
              <a:buClr>
                <a:schemeClr val="dk1"/>
              </a:buClr>
              <a:buSzPts val="2800"/>
              <a:buFont typeface="Noto Sans Symbols"/>
              <a:buChar char="⮚"/>
            </a:pPr>
            <a:r>
              <a:rPr b="1" i="0" lang="en-US" sz="2800" u="none" cap="none" strike="noStrike">
                <a:solidFill>
                  <a:schemeClr val="dk1"/>
                </a:solidFill>
                <a:latin typeface="Calibri"/>
                <a:ea typeface="Calibri"/>
                <a:cs typeface="Calibri"/>
                <a:sym typeface="Calibri"/>
              </a:rPr>
              <a:t>Social behavior pattern</a:t>
            </a:r>
            <a:endParaRPr b="0" i="0" sz="1400" u="none" cap="none" strike="noStrike">
              <a:solidFill>
                <a:srgbClr val="000000"/>
              </a:solidFill>
              <a:latin typeface="Arial"/>
              <a:ea typeface="Arial"/>
              <a:cs typeface="Arial"/>
              <a:sym typeface="Arial"/>
            </a:endParaRPr>
          </a:p>
          <a:p>
            <a:pPr indent="-609600" lvl="0" marL="609600" marR="0" rtl="0" algn="l">
              <a:lnSpc>
                <a:spcPct val="80000"/>
              </a:lnSpc>
              <a:spcBef>
                <a:spcPts val="0"/>
              </a:spcBef>
              <a:spcAft>
                <a:spcPts val="0"/>
              </a:spcAft>
              <a:buClr>
                <a:srgbClr val="000000"/>
              </a:buClr>
              <a:buSzPts val="2800"/>
              <a:buFont typeface="Arial"/>
              <a:buNone/>
            </a:pPr>
            <a:r>
              <a:t/>
            </a:r>
            <a:endParaRPr b="1" i="0" sz="2800" u="none" cap="none" strike="noStrike">
              <a:solidFill>
                <a:schemeClr val="dk1"/>
              </a:solidFill>
              <a:latin typeface="Calibri"/>
              <a:ea typeface="Calibri"/>
              <a:cs typeface="Calibri"/>
              <a:sym typeface="Calibri"/>
            </a:endParaRPr>
          </a:p>
          <a:p>
            <a:pPr indent="-609600" lvl="0" marL="609600" marR="0" rtl="0" algn="l">
              <a:lnSpc>
                <a:spcPct val="80000"/>
              </a:lnSpc>
              <a:spcBef>
                <a:spcPts val="0"/>
              </a:spcBef>
              <a:spcAft>
                <a:spcPts val="0"/>
              </a:spcAft>
              <a:buClr>
                <a:schemeClr val="dk1"/>
              </a:buClr>
              <a:buSzPts val="2800"/>
              <a:buFont typeface="Noto Sans Symbols"/>
              <a:buChar char="⮚"/>
            </a:pPr>
            <a:r>
              <a:rPr b="1" i="0" lang="en-US" sz="2800" u="none" cap="none" strike="noStrike">
                <a:solidFill>
                  <a:schemeClr val="dk1"/>
                </a:solidFill>
                <a:latin typeface="Calibri"/>
                <a:ea typeface="Calibri"/>
                <a:cs typeface="Calibri"/>
                <a:sym typeface="Calibri"/>
              </a:rPr>
              <a:t>Economic activity</a:t>
            </a:r>
            <a:endParaRPr b="0" i="0" sz="1400" u="none" cap="none" strike="noStrike">
              <a:solidFill>
                <a:srgbClr val="000000"/>
              </a:solidFill>
              <a:latin typeface="Arial"/>
              <a:ea typeface="Arial"/>
              <a:cs typeface="Arial"/>
              <a:sym typeface="Arial"/>
            </a:endParaRPr>
          </a:p>
        </p:txBody>
      </p:sp>
      <p:pic>
        <p:nvPicPr>
          <p:cNvPr id="116" name="Google Shape;116;p4"/>
          <p:cNvPicPr preferRelativeResize="0"/>
          <p:nvPr/>
        </p:nvPicPr>
        <p:blipFill rotWithShape="1">
          <a:blip r:embed="rId3">
            <a:alphaModFix/>
          </a:blip>
          <a:srcRect b="0" l="0" r="0" t="0"/>
          <a:stretch/>
        </p:blipFill>
        <p:spPr>
          <a:xfrm>
            <a:off x="4038600" y="1321524"/>
            <a:ext cx="4800600" cy="5275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nvSpPr>
        <p:spPr>
          <a:xfrm>
            <a:off x="0" y="0"/>
            <a:ext cx="9144000" cy="8382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51"/>
              <a:buFont typeface="Arial"/>
              <a:buNone/>
            </a:pPr>
            <a:r>
              <a:rPr b="1" lang="en-US" sz="2851">
                <a:solidFill>
                  <a:schemeClr val="lt1"/>
                </a:solidFill>
                <a:latin typeface="Calibri"/>
                <a:ea typeface="Calibri"/>
                <a:cs typeface="Calibri"/>
                <a:sym typeface="Calibri"/>
              </a:rPr>
              <a:t>ETHNIC COMPOSITION OF LANGUAGE IN</a:t>
            </a:r>
            <a:r>
              <a:rPr b="1" i="0" lang="en-US" sz="2851" u="none" cap="none" strike="noStrike">
                <a:solidFill>
                  <a:schemeClr val="lt1"/>
                </a:solidFill>
                <a:latin typeface="Calibri"/>
                <a:ea typeface="Calibri"/>
                <a:cs typeface="Calibri"/>
                <a:sym typeface="Calibri"/>
              </a:rPr>
              <a:t> PAKISTAN  </a:t>
            </a:r>
            <a:endParaRPr b="0" i="0" sz="1400" u="none" cap="none" strike="noStrike">
              <a:solidFill>
                <a:srgbClr val="000000"/>
              </a:solidFill>
              <a:latin typeface="Arial"/>
              <a:ea typeface="Arial"/>
              <a:cs typeface="Arial"/>
              <a:sym typeface="Arial"/>
            </a:endParaRPr>
          </a:p>
        </p:txBody>
      </p:sp>
      <p:sp>
        <p:nvSpPr>
          <p:cNvPr id="123" name="Google Shape;123;p5"/>
          <p:cNvSpPr/>
          <p:nvPr/>
        </p:nvSpPr>
        <p:spPr>
          <a:xfrm>
            <a:off x="0" y="8382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124" name="Google Shape;124;p5"/>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5" name="Google Shape;125;p5"/>
          <p:cNvSpPr/>
          <p:nvPr/>
        </p:nvSpPr>
        <p:spPr>
          <a:xfrm>
            <a:off x="533400" y="3669268"/>
            <a:ext cx="347191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Ethnic composition in East Pakistan</a:t>
            </a:r>
            <a:endParaRPr b="0" i="0" sz="1400" u="none" cap="none" strike="noStrike">
              <a:solidFill>
                <a:srgbClr val="000000"/>
              </a:solidFill>
              <a:latin typeface="Arial"/>
              <a:ea typeface="Arial"/>
              <a:cs typeface="Arial"/>
              <a:sym typeface="Arial"/>
            </a:endParaRPr>
          </a:p>
        </p:txBody>
      </p:sp>
      <p:pic>
        <p:nvPicPr>
          <p:cNvPr id="126" name="Google Shape;126;p5"/>
          <p:cNvPicPr preferRelativeResize="0"/>
          <p:nvPr/>
        </p:nvPicPr>
        <p:blipFill rotWithShape="1">
          <a:blip r:embed="rId3">
            <a:alphaModFix/>
          </a:blip>
          <a:srcRect b="0" l="0" r="0" t="8582"/>
          <a:stretch/>
        </p:blipFill>
        <p:spPr>
          <a:xfrm>
            <a:off x="533400" y="1137063"/>
            <a:ext cx="3696377" cy="2291937"/>
          </a:xfrm>
          <a:prstGeom prst="rect">
            <a:avLst/>
          </a:prstGeom>
          <a:noFill/>
          <a:ln>
            <a:noFill/>
          </a:ln>
        </p:spPr>
      </p:pic>
      <p:pic>
        <p:nvPicPr>
          <p:cNvPr id="127" name="Google Shape;127;p5"/>
          <p:cNvPicPr preferRelativeResize="0"/>
          <p:nvPr/>
        </p:nvPicPr>
        <p:blipFill rotWithShape="1">
          <a:blip r:embed="rId4">
            <a:alphaModFix/>
          </a:blip>
          <a:srcRect b="0" l="0" r="0" t="0"/>
          <a:stretch/>
        </p:blipFill>
        <p:spPr>
          <a:xfrm>
            <a:off x="4914225" y="1186063"/>
            <a:ext cx="3908552" cy="2248411"/>
          </a:xfrm>
          <a:prstGeom prst="rect">
            <a:avLst/>
          </a:prstGeom>
          <a:noFill/>
          <a:ln>
            <a:noFill/>
          </a:ln>
        </p:spPr>
      </p:pic>
      <p:sp>
        <p:nvSpPr>
          <p:cNvPr id="128" name="Google Shape;128;p5"/>
          <p:cNvSpPr/>
          <p:nvPr/>
        </p:nvSpPr>
        <p:spPr>
          <a:xfrm>
            <a:off x="5138690" y="3669268"/>
            <a:ext cx="35650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Ethnic composition in West Pakistan</a:t>
            </a:r>
            <a:endParaRPr b="0" i="0" sz="1400" u="none" cap="none" strike="noStrike">
              <a:solidFill>
                <a:srgbClr val="000000"/>
              </a:solidFill>
              <a:latin typeface="Arial"/>
              <a:ea typeface="Arial"/>
              <a:cs typeface="Arial"/>
              <a:sym typeface="Arial"/>
            </a:endParaRPr>
          </a:p>
        </p:txBody>
      </p:sp>
      <p:pic>
        <p:nvPicPr>
          <p:cNvPr id="129" name="Google Shape;129;p5"/>
          <p:cNvPicPr preferRelativeResize="0"/>
          <p:nvPr/>
        </p:nvPicPr>
        <p:blipFill rotWithShape="1">
          <a:blip r:embed="rId5">
            <a:alphaModFix/>
          </a:blip>
          <a:srcRect b="0" l="0" r="0" t="0"/>
          <a:stretch/>
        </p:blipFill>
        <p:spPr>
          <a:xfrm>
            <a:off x="654866" y="4171335"/>
            <a:ext cx="8170369" cy="253047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URDU AS A STATE LANGUAGE</a:t>
            </a:r>
            <a:endParaRPr b="0" i="0" sz="1400" u="none" cap="none" strike="noStrike">
              <a:solidFill>
                <a:srgbClr val="000000"/>
              </a:solidFill>
              <a:latin typeface="Arial"/>
              <a:ea typeface="Arial"/>
              <a:cs typeface="Arial"/>
              <a:sym typeface="Arial"/>
            </a:endParaRPr>
          </a:p>
        </p:txBody>
      </p:sp>
      <p:sp>
        <p:nvSpPr>
          <p:cNvPr id="136" name="Google Shape;136;p6"/>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137" name="Google Shape;137;p6"/>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38" name="Google Shape;138;p6"/>
          <p:cNvPicPr preferRelativeResize="0"/>
          <p:nvPr/>
        </p:nvPicPr>
        <p:blipFill rotWithShape="1">
          <a:blip r:embed="rId3">
            <a:alphaModFix/>
          </a:blip>
          <a:srcRect b="0" l="0" r="0" t="0"/>
          <a:stretch/>
        </p:blipFill>
        <p:spPr>
          <a:xfrm>
            <a:off x="156293" y="1066800"/>
            <a:ext cx="6427838" cy="5289554"/>
          </a:xfrm>
          <a:prstGeom prst="rect">
            <a:avLst/>
          </a:prstGeom>
          <a:noFill/>
          <a:ln>
            <a:noFill/>
          </a:ln>
        </p:spPr>
      </p:pic>
      <p:sp>
        <p:nvSpPr>
          <p:cNvPr id="139" name="Google Shape;139;p6"/>
          <p:cNvSpPr/>
          <p:nvPr/>
        </p:nvSpPr>
        <p:spPr>
          <a:xfrm>
            <a:off x="6553200" y="1250108"/>
            <a:ext cx="2362200" cy="4770537"/>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Calibri"/>
                <a:ea typeface="Calibri"/>
                <a:cs typeface="Calibri"/>
                <a:sym typeface="Calibri"/>
              </a:rPr>
              <a:t>URDU was the language of the ‘Ashraf’ class</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Calibri"/>
                <a:ea typeface="Calibri"/>
                <a:cs typeface="Calibri"/>
                <a:sym typeface="Calibri"/>
              </a:rPr>
              <a:t>Urdu was spoken by 3% of the population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Calibri"/>
                <a:ea typeface="Calibri"/>
                <a:cs typeface="Calibri"/>
                <a:sym typeface="Calibri"/>
              </a:rPr>
              <a:t>Bangla was spoken by more than 50% of the population of Pakistan</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Calibri"/>
                <a:ea typeface="Calibri"/>
                <a:cs typeface="Calibri"/>
                <a:sym typeface="Calibri"/>
              </a:rPr>
              <a:t>Bangla was rich in literature </a:t>
            </a:r>
            <a:endParaRPr b="0" i="0" sz="1400" u="none" cap="none" strike="noStrike">
              <a:solidFill>
                <a:srgbClr val="000000"/>
              </a:solidFill>
              <a:latin typeface="Arial"/>
              <a:ea typeface="Arial"/>
              <a:cs typeface="Arial"/>
              <a:sym typeface="Arial"/>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ph idx="1" type="body"/>
          </p:nvPr>
        </p:nvSpPr>
        <p:spPr>
          <a:xfrm>
            <a:off x="228600" y="1371600"/>
            <a:ext cx="8763000" cy="5181600"/>
          </a:xfrm>
          <a:prstGeom prst="rect">
            <a:avLst/>
          </a:prstGeom>
          <a:noFill/>
          <a:ln>
            <a:noFill/>
          </a:ln>
        </p:spPr>
        <p:txBody>
          <a:bodyPr anchorCtr="0" anchor="t" bIns="45700" lIns="91425" spcFirstLastPara="1" rIns="91425" wrap="square" tIns="45700">
            <a:normAutofit fontScale="92500" lnSpcReduction="10000"/>
          </a:bodyPr>
          <a:lstStyle/>
          <a:p>
            <a:pPr indent="-329556" lvl="0" marL="342891" rtl="0" algn="l">
              <a:lnSpc>
                <a:spcPct val="100000"/>
              </a:lnSpc>
              <a:spcBef>
                <a:spcPts val="0"/>
              </a:spcBef>
              <a:spcAft>
                <a:spcPts val="0"/>
              </a:spcAft>
              <a:buClr>
                <a:schemeClr val="dk1"/>
              </a:buClr>
              <a:buSzPct val="100000"/>
              <a:buFont typeface="Noto Sans Symbols"/>
              <a:buChar char="⮚"/>
            </a:pPr>
            <a:r>
              <a:rPr b="1" lang="en-US" sz="2800"/>
              <a:t> Issue of language was raised immediately after the creation of Pakistan</a:t>
            </a:r>
            <a:endParaRPr/>
          </a:p>
          <a:p>
            <a:pPr indent="-329556" lvl="0" marL="342891" rtl="0" algn="l">
              <a:lnSpc>
                <a:spcPct val="100000"/>
              </a:lnSpc>
              <a:spcBef>
                <a:spcPts val="1760"/>
              </a:spcBef>
              <a:spcAft>
                <a:spcPts val="0"/>
              </a:spcAft>
              <a:buClr>
                <a:schemeClr val="dk1"/>
              </a:buClr>
              <a:buSzPct val="100000"/>
              <a:buFont typeface="Noto Sans Symbols"/>
              <a:buChar char="⮚"/>
            </a:pPr>
            <a:r>
              <a:rPr b="1" lang="en-US" sz="2800"/>
              <a:t> Attempt from West Pakistani leaders to create a </a:t>
            </a:r>
            <a:r>
              <a:rPr b="1" i="1" lang="en-US" sz="2800"/>
              <a:t>lingua franca </a:t>
            </a:r>
            <a:r>
              <a:rPr b="1" lang="en-US" sz="2800"/>
              <a:t>(a common language) as the state language</a:t>
            </a:r>
            <a:endParaRPr/>
          </a:p>
          <a:p>
            <a:pPr indent="-329556" lvl="0" marL="342891" rtl="0" algn="l">
              <a:lnSpc>
                <a:spcPct val="100000"/>
              </a:lnSpc>
              <a:spcBef>
                <a:spcPts val="1760"/>
              </a:spcBef>
              <a:spcAft>
                <a:spcPts val="0"/>
              </a:spcAft>
              <a:buClr>
                <a:schemeClr val="dk1"/>
              </a:buClr>
              <a:buSzPct val="100000"/>
              <a:buFont typeface="Noto Sans Symbols"/>
              <a:buChar char="⮚"/>
            </a:pPr>
            <a:r>
              <a:rPr b="1" lang="en-US" sz="2800"/>
              <a:t>Prof. Ziauddin Ahmed proposed Urdu as the state language of Pakistan</a:t>
            </a:r>
            <a:endParaRPr/>
          </a:p>
          <a:p>
            <a:pPr indent="-329556" lvl="0" marL="342891" rtl="0" algn="l">
              <a:lnSpc>
                <a:spcPct val="100000"/>
              </a:lnSpc>
              <a:spcBef>
                <a:spcPts val="1760"/>
              </a:spcBef>
              <a:spcAft>
                <a:spcPts val="0"/>
              </a:spcAft>
              <a:buClr>
                <a:schemeClr val="dk1"/>
              </a:buClr>
              <a:buSzPct val="100000"/>
              <a:buFont typeface="Noto Sans Symbols"/>
              <a:buChar char="⮚"/>
            </a:pPr>
            <a:r>
              <a:rPr b="1" lang="en-US" sz="2800"/>
              <a:t>Language was considered as political tool to solidify unity between East and West Pakistan</a:t>
            </a:r>
            <a:endParaRPr b="1" sz="2800"/>
          </a:p>
          <a:p>
            <a:pPr indent="-329556" lvl="0" marL="342891" rtl="0" algn="l">
              <a:lnSpc>
                <a:spcPct val="100000"/>
              </a:lnSpc>
              <a:spcBef>
                <a:spcPts val="1760"/>
              </a:spcBef>
              <a:spcAft>
                <a:spcPts val="0"/>
              </a:spcAft>
              <a:buClr>
                <a:schemeClr val="dk1"/>
              </a:buClr>
              <a:buSzPct val="100000"/>
              <a:buFont typeface="Noto Sans Symbols"/>
              <a:buChar char="⮚"/>
            </a:pPr>
            <a:r>
              <a:rPr b="1" lang="en-US" sz="2800"/>
              <a:t>Number of youth organizations were formed in East Pakistan (Gono Azadi League, Democratic Youth League, TAMADDUN MAJLISH, East Pakistan Youth League)</a:t>
            </a:r>
            <a:endParaRPr b="1" sz="2800"/>
          </a:p>
          <a:p>
            <a:pPr indent="0" lvl="0" marL="0" rtl="0" algn="l">
              <a:lnSpc>
                <a:spcPct val="100000"/>
              </a:lnSpc>
              <a:spcBef>
                <a:spcPts val="640"/>
              </a:spcBef>
              <a:spcAft>
                <a:spcPts val="0"/>
              </a:spcAft>
              <a:buClr>
                <a:schemeClr val="dk1"/>
              </a:buClr>
              <a:buSzPct val="100000"/>
              <a:buNone/>
            </a:pPr>
            <a:r>
              <a:t/>
            </a:r>
            <a:endParaRPr/>
          </a:p>
        </p:txBody>
      </p:sp>
      <p:sp>
        <p:nvSpPr>
          <p:cNvPr id="145" name="Google Shape;145;p7"/>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INITIAL STAGE OF LANGUAGE MOVEMENT</a:t>
            </a:r>
            <a:endParaRPr b="1" i="0" sz="3600" u="none" cap="none" strike="noStrike">
              <a:solidFill>
                <a:schemeClr val="lt1"/>
              </a:solidFill>
              <a:latin typeface="Calibri"/>
              <a:ea typeface="Calibri"/>
              <a:cs typeface="Calibri"/>
              <a:sym typeface="Calibri"/>
            </a:endParaRPr>
          </a:p>
        </p:txBody>
      </p:sp>
      <p:sp>
        <p:nvSpPr>
          <p:cNvPr id="146" name="Google Shape;146;p7"/>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147" name="Google Shape;147;p7"/>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1" lang="en-US" sz="3600" u="none" cap="none" strike="noStrike">
                <a:solidFill>
                  <a:schemeClr val="lt1"/>
                </a:solidFill>
                <a:latin typeface="Calibri"/>
                <a:ea typeface="Calibri"/>
                <a:cs typeface="Calibri"/>
                <a:sym typeface="Calibri"/>
              </a:rPr>
              <a:t>TAMADDUN MAJLISH </a:t>
            </a:r>
            <a:endParaRPr b="1" i="1" sz="3600" u="none" cap="none" strike="noStrike">
              <a:solidFill>
                <a:schemeClr val="lt1"/>
              </a:solidFill>
              <a:latin typeface="Calibri"/>
              <a:ea typeface="Calibri"/>
              <a:cs typeface="Calibri"/>
              <a:sym typeface="Calibri"/>
            </a:endParaRPr>
          </a:p>
        </p:txBody>
      </p:sp>
      <p:sp>
        <p:nvSpPr>
          <p:cNvPr id="153" name="Google Shape;153;p9"/>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154" name="Google Shape;154;p9"/>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55" name="Google Shape;155;p9"/>
          <p:cNvPicPr preferRelativeResize="0"/>
          <p:nvPr/>
        </p:nvPicPr>
        <p:blipFill rotWithShape="1">
          <a:blip r:embed="rId3">
            <a:alphaModFix/>
          </a:blip>
          <a:srcRect b="0" l="0" r="0" t="0"/>
          <a:stretch/>
        </p:blipFill>
        <p:spPr>
          <a:xfrm>
            <a:off x="304800" y="1183800"/>
            <a:ext cx="3877399" cy="5324525"/>
          </a:xfrm>
          <a:prstGeom prst="rect">
            <a:avLst/>
          </a:prstGeom>
          <a:noFill/>
          <a:ln>
            <a:noFill/>
          </a:ln>
        </p:spPr>
      </p:pic>
      <p:sp>
        <p:nvSpPr>
          <p:cNvPr id="156" name="Google Shape;156;p9"/>
          <p:cNvSpPr/>
          <p:nvPr/>
        </p:nvSpPr>
        <p:spPr>
          <a:xfrm>
            <a:off x="4343400" y="1183801"/>
            <a:ext cx="4572000" cy="532453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200"/>
              <a:buFont typeface="Noto Sans Symbols"/>
              <a:buChar char="⮚"/>
            </a:pPr>
            <a:r>
              <a:rPr b="0" i="1" lang="en-US" sz="2200" u="none" cap="none" strike="noStrike">
                <a:solidFill>
                  <a:schemeClr val="dk1"/>
                </a:solidFill>
                <a:latin typeface="Calibri"/>
                <a:ea typeface="Calibri"/>
                <a:cs typeface="Calibri"/>
                <a:sym typeface="Calibri"/>
              </a:rPr>
              <a:t>Tamaddun Majlish </a:t>
            </a:r>
            <a:r>
              <a:rPr b="0" i="0" lang="en-US" sz="2200" u="none" cap="none" strike="noStrike">
                <a:solidFill>
                  <a:schemeClr val="dk1"/>
                </a:solidFill>
                <a:latin typeface="Calibri"/>
                <a:ea typeface="Calibri"/>
                <a:cs typeface="Calibri"/>
                <a:sym typeface="Calibri"/>
              </a:rPr>
              <a:t>played the pioneering role to protest against the attempt of making Urdu as the only state language of Pakistan.</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200"/>
              <a:buFont typeface="Noto Sans Symbols"/>
              <a:buChar char="⮚"/>
            </a:pPr>
            <a:r>
              <a:rPr b="0" i="1" lang="en-US" sz="2200" u="none" cap="none" strike="noStrike">
                <a:solidFill>
                  <a:schemeClr val="dk1"/>
                </a:solidFill>
                <a:latin typeface="Calibri"/>
                <a:ea typeface="Calibri"/>
                <a:cs typeface="Calibri"/>
                <a:sym typeface="Calibri"/>
              </a:rPr>
              <a:t>Tamaddun Majlish </a:t>
            </a:r>
            <a:r>
              <a:rPr b="0" i="0" lang="en-US" sz="2200" u="none" cap="none" strike="noStrike">
                <a:solidFill>
                  <a:schemeClr val="dk1"/>
                </a:solidFill>
                <a:latin typeface="Calibri"/>
                <a:ea typeface="Calibri"/>
                <a:cs typeface="Calibri"/>
                <a:sym typeface="Calibri"/>
              </a:rPr>
              <a:t>issued a pamphlet on 15 September 1947 titled </a:t>
            </a:r>
            <a:r>
              <a:rPr b="0" i="1" lang="en-US" sz="2200" u="none" cap="none" strike="noStrike">
                <a:solidFill>
                  <a:schemeClr val="dk1"/>
                </a:solidFill>
                <a:latin typeface="Calibri"/>
                <a:ea typeface="Calibri"/>
                <a:cs typeface="Calibri"/>
                <a:sym typeface="Calibri"/>
              </a:rPr>
              <a:t>Pakistaner Rashtra Bhasha: Bangla na Urdu</a:t>
            </a:r>
            <a:r>
              <a:rPr b="0" i="0" lang="en-US" sz="2200" u="none" cap="none" strike="noStrike">
                <a:solidFill>
                  <a:schemeClr val="dk1"/>
                </a:solidFill>
                <a:latin typeface="Calibri"/>
                <a:ea typeface="Calibri"/>
                <a:cs typeface="Calibri"/>
                <a:sym typeface="Calibri"/>
              </a:rPr>
              <a:t> (Pakistan's State Language: Bangla or Urdu) edited by Professor Abul Quasem.</a:t>
            </a:r>
            <a:endParaRPr b="0" i="0" sz="2200" u="none" cap="none" strike="noStrik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400"/>
              <a:buFont typeface="Noto Sans Symbols"/>
              <a:buChar char="⮚"/>
            </a:pPr>
            <a:r>
              <a:rPr b="0" i="1" lang="en-US" sz="2400" u="none" cap="none" strike="noStrike">
                <a:solidFill>
                  <a:schemeClr val="dk1"/>
                </a:solidFill>
                <a:latin typeface="Calibri"/>
                <a:ea typeface="Calibri"/>
                <a:cs typeface="Calibri"/>
                <a:sym typeface="Calibri"/>
              </a:rPr>
              <a:t>Tamaddun Majlish </a:t>
            </a:r>
            <a:r>
              <a:rPr b="0" i="0" lang="en-US" sz="2400" u="none" cap="none" strike="noStrike">
                <a:solidFill>
                  <a:schemeClr val="dk1"/>
                </a:solidFill>
                <a:latin typeface="Calibri"/>
                <a:ea typeface="Calibri"/>
                <a:cs typeface="Calibri"/>
                <a:sym typeface="Calibri"/>
              </a:rPr>
              <a:t>took initatives to form the first </a:t>
            </a:r>
            <a:r>
              <a:rPr b="0" i="1" lang="en-US" sz="2400" u="none" cap="none" strike="noStrike">
                <a:solidFill>
                  <a:schemeClr val="dk1"/>
                </a:solidFill>
                <a:latin typeface="Calibri"/>
                <a:ea typeface="Calibri"/>
                <a:cs typeface="Calibri"/>
                <a:sym typeface="Calibri"/>
              </a:rPr>
              <a:t>Rastrabhasa Sangram Parisad </a:t>
            </a:r>
            <a:r>
              <a:rPr b="0" i="0" lang="en-US" sz="2400" u="none" cap="none" strike="noStrike">
                <a:solidFill>
                  <a:schemeClr val="dk1"/>
                </a:solidFill>
                <a:latin typeface="Calibri"/>
                <a:ea typeface="Calibri"/>
                <a:cs typeface="Calibri"/>
                <a:sym typeface="Calibri"/>
              </a:rPr>
              <a:t>(State Language Committee of Action) on 1 October 1947.</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62" name="Google Shape;162;p10"/>
          <p:cNvPicPr preferRelativeResize="0"/>
          <p:nvPr/>
        </p:nvPicPr>
        <p:blipFill rotWithShape="1">
          <a:blip r:embed="rId3">
            <a:alphaModFix/>
          </a:blip>
          <a:srcRect b="0" l="0" r="0" t="0"/>
          <a:stretch/>
        </p:blipFill>
        <p:spPr>
          <a:xfrm>
            <a:off x="3335074" y="1064775"/>
            <a:ext cx="2397275" cy="2018224"/>
          </a:xfrm>
          <a:prstGeom prst="rect">
            <a:avLst/>
          </a:prstGeom>
          <a:noFill/>
          <a:ln>
            <a:noFill/>
          </a:ln>
        </p:spPr>
      </p:pic>
      <p:sp>
        <p:nvSpPr>
          <p:cNvPr id="163" name="Google Shape;163;p10"/>
          <p:cNvSpPr/>
          <p:nvPr/>
        </p:nvSpPr>
        <p:spPr>
          <a:xfrm>
            <a:off x="3761599" y="3019050"/>
            <a:ext cx="21336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Kaji Motahar Hossain</a:t>
            </a:r>
            <a:endParaRPr b="1" i="0" sz="1400" u="none" cap="none" strike="noStrike">
              <a:solidFill>
                <a:srgbClr val="000000"/>
              </a:solidFill>
              <a:latin typeface="Arial"/>
              <a:ea typeface="Arial"/>
              <a:cs typeface="Arial"/>
              <a:sym typeface="Arial"/>
            </a:endParaRPr>
          </a:p>
        </p:txBody>
      </p:sp>
      <p:pic>
        <p:nvPicPr>
          <p:cNvPr id="164" name="Google Shape;164;p10"/>
          <p:cNvPicPr preferRelativeResize="0"/>
          <p:nvPr/>
        </p:nvPicPr>
        <p:blipFill rotWithShape="1">
          <a:blip r:embed="rId4">
            <a:alphaModFix/>
          </a:blip>
          <a:srcRect b="0" l="0" r="0" t="0"/>
          <a:stretch/>
        </p:blipFill>
        <p:spPr>
          <a:xfrm>
            <a:off x="3335075" y="3479200"/>
            <a:ext cx="2397275" cy="2190125"/>
          </a:xfrm>
          <a:prstGeom prst="rect">
            <a:avLst/>
          </a:prstGeom>
          <a:noFill/>
          <a:ln>
            <a:noFill/>
          </a:ln>
        </p:spPr>
      </p:pic>
      <p:sp>
        <p:nvSpPr>
          <p:cNvPr id="165" name="Google Shape;165;p10"/>
          <p:cNvSpPr/>
          <p:nvPr/>
        </p:nvSpPr>
        <p:spPr>
          <a:xfrm>
            <a:off x="3335075" y="5650325"/>
            <a:ext cx="2578200" cy="36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Abul Mansur Ahmad</a:t>
            </a:r>
            <a:endParaRPr b="1" i="0" sz="1400" u="none" cap="none" strike="noStrike">
              <a:solidFill>
                <a:srgbClr val="000000"/>
              </a:solidFill>
              <a:latin typeface="Arial"/>
              <a:ea typeface="Arial"/>
              <a:cs typeface="Arial"/>
              <a:sym typeface="Arial"/>
            </a:endParaRPr>
          </a:p>
        </p:txBody>
      </p:sp>
      <p:pic>
        <p:nvPicPr>
          <p:cNvPr id="166" name="Google Shape;166;p10"/>
          <p:cNvPicPr preferRelativeResize="0"/>
          <p:nvPr/>
        </p:nvPicPr>
        <p:blipFill rotWithShape="1">
          <a:blip r:embed="rId5">
            <a:alphaModFix/>
          </a:blip>
          <a:srcRect b="0" l="0" r="0" t="0"/>
          <a:stretch/>
        </p:blipFill>
        <p:spPr>
          <a:xfrm>
            <a:off x="6159750" y="3479200"/>
            <a:ext cx="2397275" cy="2190125"/>
          </a:xfrm>
          <a:prstGeom prst="rect">
            <a:avLst/>
          </a:prstGeom>
          <a:noFill/>
          <a:ln>
            <a:noFill/>
          </a:ln>
        </p:spPr>
      </p:pic>
      <p:sp>
        <p:nvSpPr>
          <p:cNvPr id="167" name="Google Shape;167;p10"/>
          <p:cNvSpPr/>
          <p:nvPr/>
        </p:nvSpPr>
        <p:spPr>
          <a:xfrm>
            <a:off x="6159700" y="5691500"/>
            <a:ext cx="23973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Principal Abul Kashem</a:t>
            </a:r>
            <a:endParaRPr b="1" i="0" sz="1350" u="none" cap="none" strike="noStrike">
              <a:solidFill>
                <a:schemeClr val="dk1"/>
              </a:solidFill>
              <a:latin typeface="Calibri"/>
              <a:ea typeface="Calibri"/>
              <a:cs typeface="Calibri"/>
              <a:sym typeface="Calibri"/>
            </a:endParaRPr>
          </a:p>
        </p:txBody>
      </p:sp>
      <p:pic>
        <p:nvPicPr>
          <p:cNvPr id="168" name="Google Shape;168;p10"/>
          <p:cNvPicPr preferRelativeResize="0"/>
          <p:nvPr/>
        </p:nvPicPr>
        <p:blipFill rotWithShape="1">
          <a:blip r:embed="rId6">
            <a:alphaModFix/>
          </a:blip>
          <a:srcRect b="0" l="0" r="0" t="0"/>
          <a:stretch/>
        </p:blipFill>
        <p:spPr>
          <a:xfrm>
            <a:off x="6159750" y="1057375"/>
            <a:ext cx="2397275" cy="1992425"/>
          </a:xfrm>
          <a:prstGeom prst="rect">
            <a:avLst/>
          </a:prstGeom>
          <a:noFill/>
          <a:ln>
            <a:noFill/>
          </a:ln>
        </p:spPr>
      </p:pic>
      <p:sp>
        <p:nvSpPr>
          <p:cNvPr id="169" name="Google Shape;169;p10"/>
          <p:cNvSpPr/>
          <p:nvPr/>
        </p:nvSpPr>
        <p:spPr>
          <a:xfrm>
            <a:off x="6126400" y="3057200"/>
            <a:ext cx="21963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Dr. Muhammad Shahidullah</a:t>
            </a:r>
            <a:endParaRPr b="1" i="0" sz="1350" u="none" cap="none" strike="noStrike">
              <a:solidFill>
                <a:schemeClr val="dk1"/>
              </a:solidFill>
              <a:latin typeface="Calibri"/>
              <a:ea typeface="Calibri"/>
              <a:cs typeface="Calibri"/>
              <a:sym typeface="Calibri"/>
            </a:endParaRPr>
          </a:p>
        </p:txBody>
      </p:sp>
      <p:sp>
        <p:nvSpPr>
          <p:cNvPr id="170" name="Google Shape;170;p10"/>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1" lang="en-US" sz="3600" u="none" cap="none" strike="noStrike">
                <a:solidFill>
                  <a:schemeClr val="lt1"/>
                </a:solidFill>
                <a:latin typeface="Calibri"/>
                <a:ea typeface="Calibri"/>
                <a:cs typeface="Calibri"/>
                <a:sym typeface="Calibri"/>
              </a:rPr>
              <a:t>TAMADDUN MAJLISH </a:t>
            </a:r>
            <a:endParaRPr b="1" i="1" sz="3600" u="none" cap="none" strike="noStrike">
              <a:solidFill>
                <a:schemeClr val="lt1"/>
              </a:solidFill>
              <a:latin typeface="Calibri"/>
              <a:ea typeface="Calibri"/>
              <a:cs typeface="Calibri"/>
              <a:sym typeface="Calibri"/>
            </a:endParaRPr>
          </a:p>
        </p:txBody>
      </p:sp>
      <p:sp>
        <p:nvSpPr>
          <p:cNvPr id="171" name="Google Shape;171;p10"/>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pic>
        <p:nvPicPr>
          <p:cNvPr id="172" name="Google Shape;172;p10"/>
          <p:cNvPicPr preferRelativeResize="0"/>
          <p:nvPr/>
        </p:nvPicPr>
        <p:blipFill rotWithShape="1">
          <a:blip r:embed="rId7">
            <a:alphaModFix/>
          </a:blip>
          <a:srcRect b="0" l="0" r="0" t="0"/>
          <a:stretch/>
        </p:blipFill>
        <p:spPr>
          <a:xfrm>
            <a:off x="1074605" y="974625"/>
            <a:ext cx="1828800" cy="2095500"/>
          </a:xfrm>
          <a:prstGeom prst="rect">
            <a:avLst/>
          </a:prstGeom>
          <a:noFill/>
          <a:ln>
            <a:noFill/>
          </a:ln>
        </p:spPr>
      </p:pic>
      <p:sp>
        <p:nvSpPr>
          <p:cNvPr id="173" name="Google Shape;173;p10"/>
          <p:cNvSpPr/>
          <p:nvPr/>
        </p:nvSpPr>
        <p:spPr>
          <a:xfrm>
            <a:off x="990600" y="3015180"/>
            <a:ext cx="208146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Dewan Mohammad Azraf </a:t>
            </a:r>
            <a:endParaRPr b="1" i="0" sz="1400" u="none" cap="none" strike="noStrike">
              <a:solidFill>
                <a:srgbClr val="000000"/>
              </a:solidFill>
              <a:latin typeface="Arial"/>
              <a:ea typeface="Arial"/>
              <a:cs typeface="Arial"/>
              <a:sym typeface="Arial"/>
            </a:endParaRPr>
          </a:p>
        </p:txBody>
      </p:sp>
      <p:pic>
        <p:nvPicPr>
          <p:cNvPr id="174" name="Google Shape;174;p10"/>
          <p:cNvPicPr preferRelativeResize="0"/>
          <p:nvPr/>
        </p:nvPicPr>
        <p:blipFill rotWithShape="1">
          <a:blip r:embed="rId8">
            <a:alphaModFix/>
          </a:blip>
          <a:srcRect b="0" l="0" r="0" t="0"/>
          <a:stretch/>
        </p:blipFill>
        <p:spPr>
          <a:xfrm>
            <a:off x="1078825" y="3537150"/>
            <a:ext cx="1828800" cy="2132175"/>
          </a:xfrm>
          <a:prstGeom prst="rect">
            <a:avLst/>
          </a:prstGeom>
          <a:noFill/>
          <a:ln>
            <a:noFill/>
          </a:ln>
        </p:spPr>
      </p:pic>
      <p:sp>
        <p:nvSpPr>
          <p:cNvPr id="175" name="Google Shape;175;p10"/>
          <p:cNvSpPr/>
          <p:nvPr/>
        </p:nvSpPr>
        <p:spPr>
          <a:xfrm>
            <a:off x="1160428" y="5660053"/>
            <a:ext cx="1684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5F6368"/>
                </a:solidFill>
                <a:latin typeface="Calibri"/>
                <a:ea typeface="Calibri"/>
                <a:cs typeface="Calibri"/>
                <a:sym typeface="Calibri"/>
              </a:rPr>
              <a:t>Kazi Golam Mahbub</a:t>
            </a:r>
            <a:endParaRPr b="1" i="0" sz="1400" u="none" cap="none" strike="noStrike">
              <a:solidFill>
                <a:schemeClr val="dk1"/>
              </a:solidFill>
              <a:latin typeface="Calibri"/>
              <a:ea typeface="Calibri"/>
              <a:cs typeface="Calibri"/>
              <a:sym typeface="Calibri"/>
            </a:endParaRPr>
          </a:p>
        </p:txBody>
      </p:sp>
      <p:sp>
        <p:nvSpPr>
          <p:cNvPr id="176" name="Google Shape;176;p10"/>
          <p:cNvSpPr/>
          <p:nvPr/>
        </p:nvSpPr>
        <p:spPr>
          <a:xfrm>
            <a:off x="1828800" y="6173238"/>
            <a:ext cx="6174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Some leaders and activists of </a:t>
            </a:r>
            <a:r>
              <a:rPr b="0" i="1" lang="en-US" sz="2400" u="none" cap="none" strike="noStrike">
                <a:solidFill>
                  <a:schemeClr val="dk1"/>
                </a:solidFill>
                <a:latin typeface="Calibri"/>
                <a:ea typeface="Calibri"/>
                <a:cs typeface="Calibri"/>
                <a:sym typeface="Calibri"/>
              </a:rPr>
              <a:t>Tamaddun Majlish</a:t>
            </a:r>
            <a:endParaRPr b="0" i="1" sz="2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2"/>
          <p:cNvSpPr txBox="1"/>
          <p:nvPr>
            <p:ph idx="12" type="sldNum"/>
          </p:nvPr>
        </p:nvSpPr>
        <p:spPr>
          <a:xfrm>
            <a:off x="6553200" y="6356354"/>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2" name="Google Shape;182;p12"/>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On Lingua Franca</a:t>
            </a:r>
            <a:endParaRPr b="1" i="0" sz="3600" u="none" cap="none" strike="noStrike">
              <a:solidFill>
                <a:schemeClr val="lt1"/>
              </a:solidFill>
              <a:latin typeface="Calibri"/>
              <a:ea typeface="Calibri"/>
              <a:cs typeface="Calibri"/>
              <a:sym typeface="Calibri"/>
            </a:endParaRPr>
          </a:p>
        </p:txBody>
      </p:sp>
      <p:sp>
        <p:nvSpPr>
          <p:cNvPr id="183" name="Google Shape;183;p12"/>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pic>
        <p:nvPicPr>
          <p:cNvPr id="184" name="Google Shape;184;p12"/>
          <p:cNvPicPr preferRelativeResize="0"/>
          <p:nvPr/>
        </p:nvPicPr>
        <p:blipFill rotWithShape="1">
          <a:blip r:embed="rId3">
            <a:alphaModFix/>
          </a:blip>
          <a:srcRect b="0" l="0" r="0" t="0"/>
          <a:stretch/>
        </p:blipFill>
        <p:spPr>
          <a:xfrm>
            <a:off x="639100" y="1371600"/>
            <a:ext cx="3401775" cy="3060300"/>
          </a:xfrm>
          <a:prstGeom prst="rect">
            <a:avLst/>
          </a:prstGeom>
          <a:noFill/>
          <a:ln>
            <a:noFill/>
          </a:ln>
        </p:spPr>
      </p:pic>
      <p:sp>
        <p:nvSpPr>
          <p:cNvPr id="185" name="Google Shape;185;p12"/>
          <p:cNvSpPr/>
          <p:nvPr/>
        </p:nvSpPr>
        <p:spPr>
          <a:xfrm>
            <a:off x="4343400" y="1524000"/>
            <a:ext cx="4572000" cy="2123618"/>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None/>
            </a:pPr>
            <a:r>
              <a:rPr b="0" i="0" lang="en-US" sz="2200" u="none" cap="none" strike="noStrike">
                <a:solidFill>
                  <a:schemeClr val="dk1"/>
                </a:solidFill>
                <a:latin typeface="Calibri"/>
                <a:ea typeface="Calibri"/>
                <a:cs typeface="Calibri"/>
                <a:sym typeface="Calibri"/>
              </a:rPr>
              <a:t>In the Pakistan Constituent Assembly  in 1948, </a:t>
            </a:r>
            <a:r>
              <a:rPr b="0" i="1" lang="en-US" sz="2200" u="none" cap="none" strike="noStrike">
                <a:solidFill>
                  <a:schemeClr val="dk1"/>
                </a:solidFill>
                <a:latin typeface="Calibri"/>
                <a:ea typeface="Calibri"/>
                <a:cs typeface="Calibri"/>
                <a:sym typeface="Calibri"/>
              </a:rPr>
              <a:t>Dhirendranath</a:t>
            </a:r>
            <a:r>
              <a:rPr b="0" i="0" lang="en-US" sz="2200" u="none" cap="none" strike="noStrike">
                <a:solidFill>
                  <a:schemeClr val="dk1"/>
                </a:solidFill>
                <a:latin typeface="Calibri"/>
                <a:ea typeface="Calibri"/>
                <a:cs typeface="Calibri"/>
                <a:sym typeface="Calibri"/>
              </a:rPr>
              <a:t> </a:t>
            </a:r>
            <a:r>
              <a:rPr b="0" i="1" lang="en-US" sz="2200" u="none" cap="none" strike="noStrike">
                <a:solidFill>
                  <a:schemeClr val="dk1"/>
                </a:solidFill>
                <a:latin typeface="Calibri"/>
                <a:ea typeface="Calibri"/>
                <a:cs typeface="Calibri"/>
                <a:sym typeface="Calibri"/>
              </a:rPr>
              <a:t>Datta</a:t>
            </a:r>
            <a:r>
              <a:rPr b="0" i="0" lang="en-US" sz="2200" u="none" cap="none" strike="noStrike">
                <a:solidFill>
                  <a:schemeClr val="dk1"/>
                </a:solidFill>
                <a:latin typeface="Calibri"/>
                <a:ea typeface="Calibri"/>
                <a:cs typeface="Calibri"/>
                <a:sym typeface="Calibri"/>
              </a:rPr>
              <a:t> demanded the use of Bangla along with English and Urdu for conducting Assembly proceedings. </a:t>
            </a:r>
            <a:endParaRPr b="0" i="0" sz="1400" u="none" cap="none" strike="noStrike">
              <a:solidFill>
                <a:srgbClr val="000000"/>
              </a:solidFill>
              <a:latin typeface="Arial"/>
              <a:ea typeface="Arial"/>
              <a:cs typeface="Arial"/>
              <a:sym typeface="Arial"/>
            </a:endParaRPr>
          </a:p>
        </p:txBody>
      </p:sp>
      <p:pic>
        <p:nvPicPr>
          <p:cNvPr id="186" name="Google Shape;186;p12"/>
          <p:cNvPicPr preferRelativeResize="0"/>
          <p:nvPr/>
        </p:nvPicPr>
        <p:blipFill rotWithShape="1">
          <a:blip r:embed="rId4">
            <a:alphaModFix/>
          </a:blip>
          <a:srcRect b="0" l="0" r="0" t="0"/>
          <a:stretch/>
        </p:blipFill>
        <p:spPr>
          <a:xfrm>
            <a:off x="4887461" y="4299600"/>
            <a:ext cx="3737889" cy="2437750"/>
          </a:xfrm>
          <a:prstGeom prst="rect">
            <a:avLst/>
          </a:prstGeom>
          <a:noFill/>
          <a:ln>
            <a:noFill/>
          </a:ln>
        </p:spPr>
      </p:pic>
      <p:sp>
        <p:nvSpPr>
          <p:cNvPr id="187" name="Google Shape;187;p12"/>
          <p:cNvSpPr txBox="1"/>
          <p:nvPr/>
        </p:nvSpPr>
        <p:spPr>
          <a:xfrm>
            <a:off x="639100" y="4702275"/>
            <a:ext cx="3738000" cy="186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chemeClr val="dk1"/>
                </a:solidFill>
                <a:latin typeface="Calibri"/>
                <a:ea typeface="Calibri"/>
                <a:cs typeface="Calibri"/>
                <a:sym typeface="Calibri"/>
              </a:rPr>
              <a:t>Syed Mujtaba Ali</a:t>
            </a:r>
            <a:r>
              <a:rPr b="0" i="0" lang="en-US" sz="2100" u="none" cap="none" strike="noStrike">
                <a:solidFill>
                  <a:schemeClr val="dk1"/>
                </a:solidFill>
                <a:latin typeface="Calibri"/>
                <a:ea typeface="Calibri"/>
                <a:cs typeface="Calibri"/>
                <a:sym typeface="Calibri"/>
              </a:rPr>
              <a:t> wrote “Purba Pakistan er Rastrobhasha” in 1949 where he predicted Bengali will never accept Urdu and it will eventually lead to separation.</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1"/>
          <p:cNvSpPr txBox="1"/>
          <p:nvPr>
            <p:ph idx="12" type="sldNum"/>
          </p:nvPr>
        </p:nvSpPr>
        <p:spPr>
          <a:xfrm>
            <a:off x="6553200" y="6356354"/>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93" name="Google Shape;193;p11"/>
          <p:cNvPicPr preferRelativeResize="0"/>
          <p:nvPr/>
        </p:nvPicPr>
        <p:blipFill rotWithShape="1">
          <a:blip r:embed="rId3">
            <a:alphaModFix/>
          </a:blip>
          <a:srcRect b="11527" l="15908" r="12748" t="0"/>
          <a:stretch/>
        </p:blipFill>
        <p:spPr>
          <a:xfrm>
            <a:off x="4573191" y="1640072"/>
            <a:ext cx="4433777" cy="3084328"/>
          </a:xfrm>
          <a:prstGeom prst="rect">
            <a:avLst/>
          </a:prstGeom>
          <a:noFill/>
          <a:ln>
            <a:noFill/>
          </a:ln>
        </p:spPr>
      </p:pic>
      <p:sp>
        <p:nvSpPr>
          <p:cNvPr id="194" name="Google Shape;194;p11"/>
          <p:cNvSpPr/>
          <p:nvPr/>
        </p:nvSpPr>
        <p:spPr>
          <a:xfrm>
            <a:off x="115375" y="1640075"/>
            <a:ext cx="4197900" cy="52179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Calibri"/>
                <a:ea typeface="Calibri"/>
                <a:cs typeface="Calibri"/>
                <a:sym typeface="Calibri"/>
              </a:rPr>
              <a:t>State Language Committee of  Action (SLCA) was formed consisting to representatives from the organizations below: </a:t>
            </a:r>
            <a:r>
              <a:rPr b="1" i="0" lang="en-US" sz="1800" u="none" cap="none" strike="noStrike">
                <a:solidFill>
                  <a:schemeClr val="dk1"/>
                </a:solidFill>
                <a:latin typeface="Calibri"/>
                <a:ea typeface="Calibri"/>
                <a:cs typeface="Calibri"/>
                <a:sym typeface="Calibri"/>
              </a:rPr>
              <a:t>Gono Azadi League, Democratic Youth League, Tamaddun Majlis, Salimullah Muslim Hall, Fazlul Haque Muslim Hall, Other Dhaka University Halls and East Pakistan Muslim Students League</a:t>
            </a:r>
            <a:endParaRPr b="0" i="0" sz="22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Calibri"/>
                <a:ea typeface="Calibri"/>
                <a:cs typeface="Calibri"/>
                <a:sym typeface="Calibri"/>
              </a:rPr>
              <a:t>SLCA along with other organizations later evolved to </a:t>
            </a:r>
            <a:r>
              <a:rPr b="1" i="0" lang="en-US" sz="2200" u="none" cap="none" strike="noStrike">
                <a:solidFill>
                  <a:schemeClr val="dk1"/>
                </a:solidFill>
                <a:latin typeface="Calibri"/>
                <a:ea typeface="Calibri"/>
                <a:cs typeface="Calibri"/>
                <a:sym typeface="Calibri"/>
              </a:rPr>
              <a:t>All Party State Language Committee</a:t>
            </a:r>
            <a:r>
              <a:rPr b="0" i="0" lang="en-US" sz="2200" u="none" cap="none" strike="noStrike">
                <a:solidFill>
                  <a:schemeClr val="dk1"/>
                </a:solidFill>
                <a:latin typeface="Calibri"/>
                <a:ea typeface="Calibri"/>
                <a:cs typeface="Calibri"/>
                <a:sym typeface="Calibri"/>
              </a:rPr>
              <a:t> </a:t>
            </a:r>
            <a:r>
              <a:rPr b="1" i="0" lang="en-US" sz="2200" u="none" cap="none" strike="noStrike">
                <a:solidFill>
                  <a:schemeClr val="dk1"/>
                </a:solidFill>
                <a:latin typeface="Calibri"/>
                <a:ea typeface="Calibri"/>
                <a:cs typeface="Calibri"/>
                <a:sym typeface="Calibri"/>
              </a:rPr>
              <a:t>(</a:t>
            </a:r>
            <a:r>
              <a:rPr b="1" i="0" lang="en-US" sz="22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0"/>
                  </a:ext>
                </a:extLst>
              </a:rPr>
              <a:t>1948</a:t>
            </a:r>
            <a:r>
              <a:rPr b="1" i="0" lang="en-US" sz="2200" u="none" cap="none" strike="noStrike">
                <a:solidFill>
                  <a:schemeClr val="dk1"/>
                </a:solidFill>
                <a:latin typeface="Calibri"/>
                <a:ea typeface="Calibri"/>
                <a:cs typeface="Calibri"/>
                <a:sym typeface="Calibri"/>
              </a:rPr>
              <a:t>)</a:t>
            </a:r>
            <a:endParaRPr b="1" i="0" sz="22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Calibri"/>
                <a:ea typeface="Calibri"/>
                <a:cs typeface="Calibri"/>
                <a:sym typeface="Calibri"/>
              </a:rPr>
              <a:t>Number of strikes were held from february till early March</a:t>
            </a:r>
            <a:endParaRPr b="1"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195" name="Google Shape;195;p11"/>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STUDENTS IN MOVEMENT</a:t>
            </a:r>
            <a:endParaRPr b="1" i="0" sz="3600" u="none" cap="none" strike="noStrike">
              <a:solidFill>
                <a:schemeClr val="lt1"/>
              </a:solidFill>
              <a:latin typeface="Calibri"/>
              <a:ea typeface="Calibri"/>
              <a:cs typeface="Calibri"/>
              <a:sym typeface="Calibri"/>
            </a:endParaRPr>
          </a:p>
        </p:txBody>
      </p:sp>
      <p:sp>
        <p:nvSpPr>
          <p:cNvPr id="196" name="Google Shape;196;p11"/>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197" name="Google Shape;197;p11"/>
          <p:cNvSpPr/>
          <p:nvPr/>
        </p:nvSpPr>
        <p:spPr>
          <a:xfrm>
            <a:off x="4561153" y="4826679"/>
            <a:ext cx="4458000" cy="2031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Sheikh Mujib taking his fellow compatriot Shawkat Ali to the hospital, who was injured by a police attack in front of the secretariat during a demonstration demanding Bangla as one of the State languages of Pakistan, on March 11, 1948. Later on Arrested. </a:t>
            </a:r>
            <a:endParaRPr b="0" i="0" sz="18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Photo: 100 Years of Mujib Photo Archive</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264be98e3a0_0_18"/>
          <p:cNvSpPr txBox="1"/>
          <p:nvPr>
            <p:ph idx="12" type="sldNum"/>
          </p:nvPr>
        </p:nvSpPr>
        <p:spPr>
          <a:xfrm>
            <a:off x="6553200" y="6356354"/>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3" name="Google Shape;203;g264be98e3a0_0_18"/>
          <p:cNvSpPr/>
          <p:nvPr/>
        </p:nvSpPr>
        <p:spPr>
          <a:xfrm>
            <a:off x="115500" y="2002475"/>
            <a:ext cx="5842200" cy="4460700"/>
          </a:xfrm>
          <a:prstGeom prst="rect">
            <a:avLst/>
          </a:prstGeom>
          <a:noFill/>
          <a:ln>
            <a:noFill/>
          </a:ln>
        </p:spPr>
        <p:txBody>
          <a:bodyPr anchorCtr="0" anchor="t" bIns="45700" lIns="91425" spcFirstLastPara="1" rIns="91425" wrap="square" tIns="45700">
            <a:noAutofit/>
          </a:bodyPr>
          <a:lstStyle/>
          <a:p>
            <a:pPr indent="-368300" lvl="0" marL="457200" marR="0" rtl="0" algn="l">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Calibri"/>
                <a:ea typeface="Calibri"/>
                <a:cs typeface="Calibri"/>
                <a:sym typeface="Calibri"/>
              </a:rPr>
              <a:t>Bengali Newspapers were banned</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A conferences took place between the SLCA and Khwaja Nazimuddin regarding negotiation over state language and Nazimuddin accepted 8 points by the SLCA</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Some of Youth Representatives were released from jail</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Jinnah Arrived in Dhaha 19th March 1948</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Jinnah Declared Urdu as the only language and Nazim Uddin’s deal was void </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Students protested immediately after Jinnah’s speech </a:t>
            </a:r>
            <a:endParaRPr b="0" i="0" sz="2200" u="none" cap="none" strike="noStrike">
              <a:solidFill>
                <a:schemeClr val="dk1"/>
              </a:solidFill>
              <a:latin typeface="Calibri"/>
              <a:ea typeface="Calibri"/>
              <a:cs typeface="Calibri"/>
              <a:sym typeface="Calibri"/>
            </a:endParaRPr>
          </a:p>
        </p:txBody>
      </p:sp>
      <p:sp>
        <p:nvSpPr>
          <p:cNvPr id="204" name="Google Shape;204;g264be98e3a0_0_18"/>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STUDENTS IN MOVEMENT</a:t>
            </a:r>
            <a:endParaRPr b="1" i="0" sz="3600" u="none" cap="none" strike="noStrike">
              <a:solidFill>
                <a:schemeClr val="lt1"/>
              </a:solidFill>
              <a:latin typeface="Calibri"/>
              <a:ea typeface="Calibri"/>
              <a:cs typeface="Calibri"/>
              <a:sym typeface="Calibri"/>
            </a:endParaRPr>
          </a:p>
        </p:txBody>
      </p:sp>
      <p:sp>
        <p:nvSpPr>
          <p:cNvPr id="205" name="Google Shape;205;g264be98e3a0_0_18"/>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pic>
        <p:nvPicPr>
          <p:cNvPr id="206" name="Google Shape;206;g264be98e3a0_0_18"/>
          <p:cNvPicPr preferRelativeResize="0"/>
          <p:nvPr/>
        </p:nvPicPr>
        <p:blipFill>
          <a:blip r:embed="rId3">
            <a:alphaModFix/>
          </a:blip>
          <a:stretch>
            <a:fillRect/>
          </a:stretch>
        </p:blipFill>
        <p:spPr>
          <a:xfrm>
            <a:off x="5957572" y="1074225"/>
            <a:ext cx="2928550" cy="2196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3"/>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13" name="Google Shape;213;p13"/>
          <p:cNvSpPr/>
          <p:nvPr/>
        </p:nvSpPr>
        <p:spPr>
          <a:xfrm>
            <a:off x="304799" y="4876800"/>
            <a:ext cx="80439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From the left Sheikh Mujib, Maulana Abdul Hamid khan Bhashani, Huseyn Shaheed Suhrawardy (1949)</a:t>
            </a:r>
            <a:endParaRPr b="0" i="0" sz="1400" u="none" cap="none" strike="noStrike">
              <a:solidFill>
                <a:srgbClr val="000000"/>
              </a:solidFill>
              <a:latin typeface="Arial"/>
              <a:ea typeface="Arial"/>
              <a:cs typeface="Arial"/>
              <a:sym typeface="Arial"/>
            </a:endParaRPr>
          </a:p>
        </p:txBody>
      </p:sp>
      <p:sp>
        <p:nvSpPr>
          <p:cNvPr id="214" name="Google Shape;214;p13"/>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EAST PAKISTAN AWAMI MUSLIM LEAGUE</a:t>
            </a:r>
            <a:endParaRPr b="1" i="0" sz="3600" u="none" cap="none" strike="noStrike">
              <a:solidFill>
                <a:schemeClr val="lt1"/>
              </a:solidFill>
              <a:latin typeface="Calibri"/>
              <a:ea typeface="Calibri"/>
              <a:cs typeface="Calibri"/>
              <a:sym typeface="Calibri"/>
            </a:endParaRPr>
          </a:p>
        </p:txBody>
      </p:sp>
      <p:sp>
        <p:nvSpPr>
          <p:cNvPr id="215" name="Google Shape;215;p13"/>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216" name="Google Shape;216;p13"/>
          <p:cNvSpPr/>
          <p:nvPr/>
        </p:nvSpPr>
        <p:spPr>
          <a:xfrm>
            <a:off x="457200" y="5172721"/>
            <a:ext cx="8229600" cy="1814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The Awami Muslim League was founded in Rose Garden of KM Das Lane, Dhaka on 23 June 1949</a:t>
            </a:r>
            <a:endParaRPr b="0" i="0" sz="20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Maulana Abdul Hamid khan Bhashani was the president of the Awami League </a:t>
            </a:r>
            <a:endParaRPr b="0" i="0" sz="2000" u="none" cap="none" strike="noStrike">
              <a:solidFill>
                <a:schemeClr val="dk1"/>
              </a:solidFill>
              <a:latin typeface="Calibri"/>
              <a:ea typeface="Calibri"/>
              <a:cs typeface="Calibri"/>
              <a:sym typeface="Calibri"/>
            </a:endParaRPr>
          </a:p>
        </p:txBody>
      </p:sp>
      <p:pic>
        <p:nvPicPr>
          <p:cNvPr id="217" name="Google Shape;217;p13"/>
          <p:cNvPicPr preferRelativeResize="0"/>
          <p:nvPr/>
        </p:nvPicPr>
        <p:blipFill rotWithShape="1">
          <a:blip r:embed="rId3">
            <a:alphaModFix/>
          </a:blip>
          <a:srcRect b="0" l="0" r="0" t="0"/>
          <a:stretch/>
        </p:blipFill>
        <p:spPr>
          <a:xfrm>
            <a:off x="301150" y="1159025"/>
            <a:ext cx="8541699" cy="36166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4"/>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BRAC University</a:t>
            </a:r>
            <a:endParaRPr/>
          </a:p>
        </p:txBody>
      </p:sp>
      <p:sp>
        <p:nvSpPr>
          <p:cNvPr id="223" name="Google Shape;223;p14"/>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Emergence of Bangladesh</a:t>
            </a:r>
            <a:endParaRPr/>
          </a:p>
        </p:txBody>
      </p:sp>
      <p:sp>
        <p:nvSpPr>
          <p:cNvPr id="224" name="Google Shape;224;p14"/>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25" name="Google Shape;225;p14"/>
          <p:cNvPicPr preferRelativeResize="0"/>
          <p:nvPr/>
        </p:nvPicPr>
        <p:blipFill rotWithShape="1">
          <a:blip r:embed="rId3">
            <a:alphaModFix/>
          </a:blip>
          <a:srcRect b="0" l="0" r="0" t="0"/>
          <a:stretch/>
        </p:blipFill>
        <p:spPr>
          <a:xfrm>
            <a:off x="376800" y="1514475"/>
            <a:ext cx="3880326" cy="3225175"/>
          </a:xfrm>
          <a:prstGeom prst="rect">
            <a:avLst/>
          </a:prstGeom>
          <a:noFill/>
          <a:ln>
            <a:noFill/>
          </a:ln>
        </p:spPr>
      </p:pic>
      <p:pic>
        <p:nvPicPr>
          <p:cNvPr id="226" name="Google Shape;226;p14"/>
          <p:cNvPicPr preferRelativeResize="0"/>
          <p:nvPr/>
        </p:nvPicPr>
        <p:blipFill rotWithShape="1">
          <a:blip r:embed="rId4">
            <a:alphaModFix/>
          </a:blip>
          <a:srcRect b="0" l="0" r="0" t="0"/>
          <a:stretch/>
        </p:blipFill>
        <p:spPr>
          <a:xfrm>
            <a:off x="4811550" y="1510675"/>
            <a:ext cx="4180050" cy="3225175"/>
          </a:xfrm>
          <a:prstGeom prst="rect">
            <a:avLst/>
          </a:prstGeom>
          <a:noFill/>
          <a:ln>
            <a:noFill/>
          </a:ln>
        </p:spPr>
      </p:pic>
      <p:sp>
        <p:nvSpPr>
          <p:cNvPr id="227" name="Google Shape;227;p14"/>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21 FEBRUARY, 1952</a:t>
            </a:r>
            <a:endParaRPr b="1" i="0" sz="3600" u="none" cap="none" strike="noStrike">
              <a:solidFill>
                <a:schemeClr val="lt1"/>
              </a:solidFill>
              <a:latin typeface="Calibri"/>
              <a:ea typeface="Calibri"/>
              <a:cs typeface="Calibri"/>
              <a:sym typeface="Calibri"/>
            </a:endParaRPr>
          </a:p>
        </p:txBody>
      </p:sp>
      <p:sp>
        <p:nvSpPr>
          <p:cNvPr id="228" name="Google Shape;228;p14"/>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229" name="Google Shape;229;p14"/>
          <p:cNvSpPr/>
          <p:nvPr/>
        </p:nvSpPr>
        <p:spPr>
          <a:xfrm>
            <a:off x="376800" y="4739650"/>
            <a:ext cx="8614800" cy="65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historic gathering of students in front of Dhaka Medical College entrance and Language Martyrs</a:t>
            </a:r>
            <a:endParaRPr b="0" i="0" sz="1400" u="none" cap="none" strike="noStrike">
              <a:solidFill>
                <a:srgbClr val="000000"/>
              </a:solidFill>
              <a:latin typeface="Arial"/>
              <a:ea typeface="Arial"/>
              <a:cs typeface="Arial"/>
              <a:sym typeface="Arial"/>
            </a:endParaRPr>
          </a:p>
        </p:txBody>
      </p:sp>
      <p:sp>
        <p:nvSpPr>
          <p:cNvPr id="230" name="Google Shape;230;p14"/>
          <p:cNvSpPr txBox="1"/>
          <p:nvPr/>
        </p:nvSpPr>
        <p:spPr>
          <a:xfrm>
            <a:off x="440775" y="5328525"/>
            <a:ext cx="8363700" cy="1151700"/>
          </a:xfrm>
          <a:prstGeom prst="rect">
            <a:avLst/>
          </a:prstGeom>
          <a:noFill/>
          <a:ln>
            <a:noFill/>
          </a:ln>
        </p:spPr>
        <p:txBody>
          <a:bodyPr anchorCtr="0" anchor="t" bIns="91425" lIns="91425" spcFirstLastPara="1" rIns="91425" wrap="square" tIns="91425">
            <a:noAutofit/>
          </a:bodyPr>
          <a:lstStyle/>
          <a:p>
            <a:pPr indent="-349250" lvl="0" marL="457200" marR="0" rtl="0" algn="l">
              <a:lnSpc>
                <a:spcPct val="100000"/>
              </a:lnSpc>
              <a:spcBef>
                <a:spcPts val="0"/>
              </a:spcBef>
              <a:spcAft>
                <a:spcPts val="0"/>
              </a:spcAft>
              <a:buClr>
                <a:schemeClr val="dk1"/>
              </a:buClr>
              <a:buSzPts val="1900"/>
              <a:buFont typeface="Calibri"/>
              <a:buChar char="➢"/>
            </a:pPr>
            <a:r>
              <a:rPr b="0" i="0" lang="en-US" sz="1900" u="none" cap="none" strike="noStrike">
                <a:solidFill>
                  <a:schemeClr val="dk1"/>
                </a:solidFill>
                <a:latin typeface="Calibri"/>
                <a:ea typeface="Calibri"/>
                <a:cs typeface="Calibri"/>
                <a:sym typeface="Calibri"/>
              </a:rPr>
              <a:t>The Dhaka University State Language Committee of Action took the initiative to violate the 144 CrPc. Oli Ahad, Abdul Matin, Shamsul Alam, Dr Golam Mawla voted to violate the 144 CrPc.</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5"/>
          <p:cNvSpPr txBox="1"/>
          <p:nvPr>
            <p:ph idx="10" type="dt"/>
          </p:nvPr>
        </p:nvSpPr>
        <p:spPr>
          <a:xfrm>
            <a:off x="457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BRAC University</a:t>
            </a:r>
            <a:endParaRPr/>
          </a:p>
        </p:txBody>
      </p:sp>
      <p:sp>
        <p:nvSpPr>
          <p:cNvPr id="236" name="Google Shape;236;p15"/>
          <p:cNvSpPr txBox="1"/>
          <p:nvPr>
            <p:ph idx="11" type="ftr"/>
          </p:nvPr>
        </p:nvSpPr>
        <p:spPr>
          <a:xfrm>
            <a:off x="3124200" y="6356354"/>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Emergence of Bangladesh</a:t>
            </a:r>
            <a:endParaRPr/>
          </a:p>
        </p:txBody>
      </p:sp>
      <p:sp>
        <p:nvSpPr>
          <p:cNvPr id="237" name="Google Shape;237;p15"/>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38" name="Google Shape;238;p15"/>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Arial"/>
              <a:buNone/>
            </a:pPr>
            <a:r>
              <a:rPr b="1" i="0" lang="en-US" sz="3600" u="none" cap="none" strike="noStrike">
                <a:solidFill>
                  <a:schemeClr val="lt1"/>
                </a:solidFill>
                <a:latin typeface="Calibri"/>
                <a:ea typeface="Calibri"/>
                <a:cs typeface="Calibri"/>
                <a:sym typeface="Calibri"/>
              </a:rPr>
              <a:t>21 FEBRUARY, 1952</a:t>
            </a:r>
            <a:endParaRPr b="1" i="0" sz="3600" u="none" cap="none" strike="noStrike">
              <a:solidFill>
                <a:schemeClr val="lt1"/>
              </a:solidFill>
              <a:latin typeface="Calibri"/>
              <a:ea typeface="Calibri"/>
              <a:cs typeface="Calibri"/>
              <a:sym typeface="Calibri"/>
            </a:endParaRPr>
          </a:p>
        </p:txBody>
      </p:sp>
      <p:sp>
        <p:nvSpPr>
          <p:cNvPr id="239" name="Google Shape;239;p15"/>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240" name="Google Shape;240;p15"/>
          <p:cNvSpPr txBox="1"/>
          <p:nvPr/>
        </p:nvSpPr>
        <p:spPr>
          <a:xfrm>
            <a:off x="235450" y="1141625"/>
            <a:ext cx="8603700" cy="20415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Police Fired at the protestors where a student and an unknown boy on the roadside died immediately. Later on till 22nd february total number of confirmed martyrs were 8. </a:t>
            </a:r>
            <a:endParaRPr b="0" i="0" sz="2400" u="none" cap="none" strike="noStrike">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Police removed the bodies on the night of 21st to the Azimpur graveyard secretly. </a:t>
            </a:r>
            <a:endParaRPr b="0" i="0" sz="2400" u="none" cap="none" strike="noStrike">
              <a:solidFill>
                <a:schemeClr val="dk1"/>
              </a:solidFill>
              <a:latin typeface="Calibri"/>
              <a:ea typeface="Calibri"/>
              <a:cs typeface="Calibri"/>
              <a:sym typeface="Calibri"/>
            </a:endParaRPr>
          </a:p>
        </p:txBody>
      </p:sp>
      <p:pic>
        <p:nvPicPr>
          <p:cNvPr id="241" name="Google Shape;241;p15"/>
          <p:cNvPicPr preferRelativeResize="0"/>
          <p:nvPr/>
        </p:nvPicPr>
        <p:blipFill rotWithShape="1">
          <a:blip r:embed="rId3">
            <a:alphaModFix/>
          </a:blip>
          <a:srcRect b="0" l="0" r="0" t="0"/>
          <a:stretch/>
        </p:blipFill>
        <p:spPr>
          <a:xfrm>
            <a:off x="733493" y="3334150"/>
            <a:ext cx="1302513" cy="2326565"/>
          </a:xfrm>
          <a:prstGeom prst="rect">
            <a:avLst/>
          </a:prstGeom>
          <a:noFill/>
          <a:ln>
            <a:noFill/>
          </a:ln>
        </p:spPr>
      </p:pic>
      <p:pic>
        <p:nvPicPr>
          <p:cNvPr id="242" name="Google Shape;242;p15"/>
          <p:cNvPicPr preferRelativeResize="0"/>
          <p:nvPr/>
        </p:nvPicPr>
        <p:blipFill rotWithShape="1">
          <a:blip r:embed="rId4">
            <a:alphaModFix/>
          </a:blip>
          <a:srcRect b="0" l="0" r="0" t="0"/>
          <a:stretch/>
        </p:blipFill>
        <p:spPr>
          <a:xfrm>
            <a:off x="2230378" y="3334150"/>
            <a:ext cx="1392253" cy="2326565"/>
          </a:xfrm>
          <a:prstGeom prst="rect">
            <a:avLst/>
          </a:prstGeom>
          <a:noFill/>
          <a:ln>
            <a:noFill/>
          </a:ln>
        </p:spPr>
      </p:pic>
      <p:sp>
        <p:nvSpPr>
          <p:cNvPr id="243" name="Google Shape;243;p15"/>
          <p:cNvSpPr txBox="1"/>
          <p:nvPr/>
        </p:nvSpPr>
        <p:spPr>
          <a:xfrm>
            <a:off x="705626" y="5663709"/>
            <a:ext cx="1512600" cy="44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Calibri"/>
                <a:ea typeface="Calibri"/>
                <a:cs typeface="Calibri"/>
                <a:sym typeface="Calibri"/>
              </a:rPr>
              <a:t>Abdul Awal </a:t>
            </a:r>
            <a:endParaRPr b="1" i="0" sz="1500" u="none" cap="none" strike="noStrike">
              <a:solidFill>
                <a:schemeClr val="dk1"/>
              </a:solidFill>
              <a:latin typeface="Calibri"/>
              <a:ea typeface="Calibri"/>
              <a:cs typeface="Calibri"/>
              <a:sym typeface="Calibri"/>
            </a:endParaRPr>
          </a:p>
        </p:txBody>
      </p:sp>
      <p:sp>
        <p:nvSpPr>
          <p:cNvPr id="244" name="Google Shape;244;p15"/>
          <p:cNvSpPr txBox="1"/>
          <p:nvPr/>
        </p:nvSpPr>
        <p:spPr>
          <a:xfrm>
            <a:off x="2067684" y="5664823"/>
            <a:ext cx="1912200" cy="44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Calibri"/>
                <a:ea typeface="Calibri"/>
                <a:cs typeface="Calibri"/>
                <a:sym typeface="Calibri"/>
              </a:rPr>
              <a:t>Mohammad Ohiullah</a:t>
            </a:r>
            <a:endParaRPr b="1" i="0" sz="1500" u="none" cap="none" strike="noStrike">
              <a:solidFill>
                <a:schemeClr val="dk1"/>
              </a:solidFill>
              <a:latin typeface="Calibri"/>
              <a:ea typeface="Calibri"/>
              <a:cs typeface="Calibri"/>
              <a:sym typeface="Calibri"/>
            </a:endParaRPr>
          </a:p>
        </p:txBody>
      </p:sp>
      <p:pic>
        <p:nvPicPr>
          <p:cNvPr id="245" name="Google Shape;245;p15"/>
          <p:cNvPicPr preferRelativeResize="0"/>
          <p:nvPr/>
        </p:nvPicPr>
        <p:blipFill rotWithShape="1">
          <a:blip r:embed="rId5">
            <a:alphaModFix/>
          </a:blip>
          <a:srcRect b="14129" l="0" r="0" t="12775"/>
          <a:stretch/>
        </p:blipFill>
        <p:spPr>
          <a:xfrm>
            <a:off x="4177775" y="3261700"/>
            <a:ext cx="4509026" cy="2670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6"/>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51" name="Google Shape;251;p16"/>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STUDENTS IN MOVEMENT</a:t>
            </a:r>
            <a:endParaRPr b="1" i="0" sz="3600" u="none" cap="none" strike="noStrike">
              <a:solidFill>
                <a:schemeClr val="lt1"/>
              </a:solidFill>
              <a:latin typeface="Calibri"/>
              <a:ea typeface="Calibri"/>
              <a:cs typeface="Calibri"/>
              <a:sym typeface="Calibri"/>
            </a:endParaRPr>
          </a:p>
        </p:txBody>
      </p:sp>
      <p:sp>
        <p:nvSpPr>
          <p:cNvPr id="252" name="Google Shape;252;p16"/>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253" name="Google Shape;253;p16"/>
          <p:cNvSpPr txBox="1"/>
          <p:nvPr/>
        </p:nvSpPr>
        <p:spPr>
          <a:xfrm>
            <a:off x="1524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A NATIONWIDE MOVEMENT</a:t>
            </a:r>
            <a:endParaRPr b="1" i="0" sz="3600" u="none" cap="none" strike="noStrike">
              <a:solidFill>
                <a:schemeClr val="lt1"/>
              </a:solidFill>
              <a:latin typeface="Calibri"/>
              <a:ea typeface="Calibri"/>
              <a:cs typeface="Calibri"/>
              <a:sym typeface="Calibri"/>
            </a:endParaRPr>
          </a:p>
        </p:txBody>
      </p:sp>
      <p:pic>
        <p:nvPicPr>
          <p:cNvPr id="254" name="Google Shape;254;p16"/>
          <p:cNvPicPr preferRelativeResize="0"/>
          <p:nvPr/>
        </p:nvPicPr>
        <p:blipFill rotWithShape="1">
          <a:blip r:embed="rId3">
            <a:alphaModFix/>
          </a:blip>
          <a:srcRect b="0" l="0" r="0" t="0"/>
          <a:stretch/>
        </p:blipFill>
        <p:spPr>
          <a:xfrm>
            <a:off x="4572000" y="4219125"/>
            <a:ext cx="4267201" cy="2113375"/>
          </a:xfrm>
          <a:prstGeom prst="rect">
            <a:avLst/>
          </a:prstGeom>
          <a:noFill/>
          <a:ln>
            <a:noFill/>
          </a:ln>
        </p:spPr>
      </p:pic>
      <p:sp>
        <p:nvSpPr>
          <p:cNvPr id="255" name="Google Shape;255;p16"/>
          <p:cNvSpPr/>
          <p:nvPr/>
        </p:nvSpPr>
        <p:spPr>
          <a:xfrm>
            <a:off x="152400" y="6518425"/>
            <a:ext cx="88491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Students of Dhaka Fine Arts Institute brings out a rally on 21 February 1953</a:t>
            </a:r>
            <a:endParaRPr b="1" i="0" sz="1400" u="none" cap="none" strike="noStrike">
              <a:solidFill>
                <a:srgbClr val="000000"/>
              </a:solidFill>
              <a:latin typeface="Arial"/>
              <a:ea typeface="Arial"/>
              <a:cs typeface="Arial"/>
              <a:sym typeface="Arial"/>
            </a:endParaRPr>
          </a:p>
        </p:txBody>
      </p:sp>
      <p:pic>
        <p:nvPicPr>
          <p:cNvPr id="256" name="Google Shape;256;p16"/>
          <p:cNvPicPr preferRelativeResize="0"/>
          <p:nvPr/>
        </p:nvPicPr>
        <p:blipFill rotWithShape="1">
          <a:blip r:embed="rId4">
            <a:alphaModFix/>
          </a:blip>
          <a:srcRect b="0" l="0" r="0" t="0"/>
          <a:stretch/>
        </p:blipFill>
        <p:spPr>
          <a:xfrm>
            <a:off x="152400" y="4242975"/>
            <a:ext cx="4175950" cy="2113375"/>
          </a:xfrm>
          <a:prstGeom prst="rect">
            <a:avLst/>
          </a:prstGeom>
          <a:noFill/>
          <a:ln>
            <a:noFill/>
          </a:ln>
        </p:spPr>
      </p:pic>
      <p:pic>
        <p:nvPicPr>
          <p:cNvPr id="257" name="Google Shape;257;p16"/>
          <p:cNvPicPr preferRelativeResize="0"/>
          <p:nvPr/>
        </p:nvPicPr>
        <p:blipFill rotWithShape="1">
          <a:blip r:embed="rId5">
            <a:alphaModFix/>
          </a:blip>
          <a:srcRect b="0" l="0" r="0" t="0"/>
          <a:stretch/>
        </p:blipFill>
        <p:spPr>
          <a:xfrm>
            <a:off x="152400" y="1073175"/>
            <a:ext cx="4042351" cy="2595850"/>
          </a:xfrm>
          <a:prstGeom prst="rect">
            <a:avLst/>
          </a:prstGeom>
          <a:noFill/>
          <a:ln>
            <a:noFill/>
          </a:ln>
        </p:spPr>
      </p:pic>
      <p:sp>
        <p:nvSpPr>
          <p:cNvPr id="258" name="Google Shape;258;p16"/>
          <p:cNvSpPr/>
          <p:nvPr/>
        </p:nvSpPr>
        <p:spPr>
          <a:xfrm>
            <a:off x="152400" y="3691614"/>
            <a:ext cx="42672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22 February rally after janaza at Dhaka Medical College</a:t>
            </a:r>
            <a:endParaRPr b="1" i="0" sz="1400" u="none" cap="none" strike="noStrike">
              <a:solidFill>
                <a:srgbClr val="000000"/>
              </a:solidFill>
              <a:latin typeface="Arial"/>
              <a:ea typeface="Arial"/>
              <a:cs typeface="Arial"/>
              <a:sym typeface="Arial"/>
            </a:endParaRPr>
          </a:p>
        </p:txBody>
      </p:sp>
      <p:sp>
        <p:nvSpPr>
          <p:cNvPr id="259" name="Google Shape;259;p16"/>
          <p:cNvSpPr/>
          <p:nvPr/>
        </p:nvSpPr>
        <p:spPr>
          <a:xfrm>
            <a:off x="4419600" y="1073225"/>
            <a:ext cx="4572000" cy="25959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333333"/>
              </a:buClr>
              <a:buSzPts val="2400"/>
              <a:buFont typeface="Noto Sans Symbols"/>
              <a:buChar char="⮚"/>
            </a:pPr>
            <a:r>
              <a:rPr b="0" i="0" lang="en-US" sz="2400" u="none" cap="none" strike="noStrike">
                <a:solidFill>
                  <a:srgbClr val="333333"/>
                </a:solidFill>
                <a:latin typeface="Calibri"/>
                <a:ea typeface="Calibri"/>
                <a:cs typeface="Calibri"/>
                <a:sym typeface="Calibri"/>
              </a:rPr>
              <a:t>The reaction to the police killings in students’ procession was immediate.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333333"/>
              </a:buClr>
              <a:buSzPts val="2400"/>
              <a:buFont typeface="Noto Sans Symbols"/>
              <a:buChar char="⮚"/>
            </a:pPr>
            <a:r>
              <a:rPr b="0" i="0" lang="en-US" sz="2400" u="none" cap="none" strike="noStrike">
                <a:solidFill>
                  <a:srgbClr val="333333"/>
                </a:solidFill>
                <a:latin typeface="Calibri"/>
                <a:ea typeface="Calibri"/>
                <a:cs typeface="Calibri"/>
                <a:sym typeface="Calibri"/>
              </a:rPr>
              <a:t>All over the country, schools and colleges held protest meetings, rallies and processions. on 22-23rd February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7"/>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66" name="Google Shape;266;p17"/>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ATTACK ON CULTURE CONTINUES</a:t>
            </a:r>
            <a:endParaRPr b="1" i="0" sz="3600" u="none" cap="none" strike="noStrike">
              <a:solidFill>
                <a:schemeClr val="lt1"/>
              </a:solidFill>
              <a:latin typeface="Calibri"/>
              <a:ea typeface="Calibri"/>
              <a:cs typeface="Calibri"/>
              <a:sym typeface="Calibri"/>
            </a:endParaRPr>
          </a:p>
        </p:txBody>
      </p:sp>
      <p:sp>
        <p:nvSpPr>
          <p:cNvPr id="267" name="Google Shape;267;p17"/>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268" name="Google Shape;268;p17"/>
          <p:cNvSpPr/>
          <p:nvPr/>
        </p:nvSpPr>
        <p:spPr>
          <a:xfrm>
            <a:off x="457200" y="1295400"/>
            <a:ext cx="7974330" cy="4832092"/>
          </a:xfrm>
          <a:prstGeom prst="rect">
            <a:avLst/>
          </a:prstGeom>
          <a:noFill/>
          <a:ln>
            <a:noFill/>
          </a:ln>
        </p:spPr>
        <p:txBody>
          <a:bodyPr anchorCtr="0" anchor="t" bIns="45700" lIns="91425" spcFirstLastPara="1" rIns="91425" wrap="square" tIns="45700">
            <a:spAutoFit/>
          </a:bodyPr>
          <a:lstStyle/>
          <a:p>
            <a:pPr indent="-266700" lvl="0" marL="285750" marR="0" rtl="0" algn="l">
              <a:lnSpc>
                <a:spcPct val="100000"/>
              </a:lnSpc>
              <a:spcBef>
                <a:spcPts val="0"/>
              </a:spcBef>
              <a:spcAft>
                <a:spcPts val="0"/>
              </a:spcAft>
              <a:buClr>
                <a:schemeClr val="dk1"/>
              </a:buClr>
              <a:buSzPts val="2500"/>
              <a:buFont typeface="Noto Sans Symbols"/>
              <a:buChar char="⮚"/>
            </a:pPr>
            <a:r>
              <a:rPr b="0" i="0" lang="en-US" sz="2500" u="none" cap="none" strike="noStrike">
                <a:solidFill>
                  <a:schemeClr val="dk1"/>
                </a:solidFill>
                <a:latin typeface="Calibri"/>
                <a:ea typeface="Calibri"/>
                <a:cs typeface="Calibri"/>
                <a:sym typeface="Calibri"/>
              </a:rPr>
              <a:t>Demand for status of state language for Bangla continues</a:t>
            </a:r>
            <a:endParaRPr b="0" i="0" sz="1100" u="none" cap="none" strike="noStrike">
              <a:solidFill>
                <a:srgbClr val="000000"/>
              </a:solidFill>
              <a:latin typeface="Arial"/>
              <a:ea typeface="Arial"/>
              <a:cs typeface="Arial"/>
              <a:sym typeface="Arial"/>
            </a:endParaRPr>
          </a:p>
          <a:p>
            <a:pPr indent="-266700" lvl="0" marL="285750" marR="0" rtl="0" algn="l">
              <a:lnSpc>
                <a:spcPct val="100000"/>
              </a:lnSpc>
              <a:spcBef>
                <a:spcPts val="0"/>
              </a:spcBef>
              <a:spcAft>
                <a:spcPts val="0"/>
              </a:spcAft>
              <a:buClr>
                <a:schemeClr val="dk1"/>
              </a:buClr>
              <a:buSzPts val="2500"/>
              <a:buFont typeface="Noto Sans Symbols"/>
              <a:buChar char="⮚"/>
            </a:pPr>
            <a:r>
              <a:rPr b="0" i="0" lang="en-US" sz="2500" u="none" cap="none" strike="noStrike">
                <a:solidFill>
                  <a:schemeClr val="dk1"/>
                </a:solidFill>
                <a:latin typeface="Calibri"/>
                <a:ea typeface="Calibri"/>
                <a:cs typeface="Calibri"/>
                <a:sym typeface="Calibri"/>
              </a:rPr>
              <a:t>Though Bangla was considered as a state language in 1956 constitution the assault on Bengali culture continued. </a:t>
            </a:r>
            <a:endParaRPr b="0" i="0" sz="1100" u="none" cap="none" strike="noStrike">
              <a:solidFill>
                <a:srgbClr val="000000"/>
              </a:solidFill>
              <a:latin typeface="Arial"/>
              <a:ea typeface="Arial"/>
              <a:cs typeface="Arial"/>
              <a:sym typeface="Arial"/>
            </a:endParaRPr>
          </a:p>
          <a:p>
            <a:pPr indent="-266700" lvl="0" marL="285750" marR="0" rtl="0" algn="l">
              <a:lnSpc>
                <a:spcPct val="100000"/>
              </a:lnSpc>
              <a:spcBef>
                <a:spcPts val="0"/>
              </a:spcBef>
              <a:spcAft>
                <a:spcPts val="0"/>
              </a:spcAft>
              <a:buClr>
                <a:schemeClr val="dk1"/>
              </a:buClr>
              <a:buSzPts val="2500"/>
              <a:buFont typeface="Noto Sans Symbols"/>
              <a:buChar char="⮚"/>
            </a:pPr>
            <a:r>
              <a:rPr b="0" i="0" lang="en-US" sz="2500" u="none" cap="none" strike="noStrike">
                <a:solidFill>
                  <a:schemeClr val="dk1"/>
                </a:solidFill>
                <a:latin typeface="Calibri"/>
                <a:ea typeface="Calibri"/>
                <a:cs typeface="Calibri"/>
                <a:sym typeface="Calibri"/>
              </a:rPr>
              <a:t>During Ayub era the idea of writing Bangla in Roman script was propagated.</a:t>
            </a:r>
            <a:endParaRPr b="0" i="0" sz="1100" u="none" cap="none" strike="noStrike">
              <a:solidFill>
                <a:srgbClr val="000000"/>
              </a:solidFill>
              <a:latin typeface="Arial"/>
              <a:ea typeface="Arial"/>
              <a:cs typeface="Arial"/>
              <a:sym typeface="Arial"/>
            </a:endParaRPr>
          </a:p>
          <a:p>
            <a:pPr indent="-266700" lvl="0" marL="285750" marR="0" rtl="0" algn="l">
              <a:lnSpc>
                <a:spcPct val="100000"/>
              </a:lnSpc>
              <a:spcBef>
                <a:spcPts val="0"/>
              </a:spcBef>
              <a:spcAft>
                <a:spcPts val="0"/>
              </a:spcAft>
              <a:buClr>
                <a:schemeClr val="dk1"/>
              </a:buClr>
              <a:buSzPts val="2500"/>
              <a:buFont typeface="Noto Sans Symbols"/>
              <a:buChar char="⮚"/>
            </a:pPr>
            <a:r>
              <a:rPr b="0" i="0" lang="en-US" sz="2500" u="none" cap="none" strike="noStrike">
                <a:solidFill>
                  <a:schemeClr val="dk1"/>
                </a:solidFill>
                <a:latin typeface="Calibri"/>
                <a:ea typeface="Calibri"/>
                <a:cs typeface="Calibri"/>
                <a:sym typeface="Calibri"/>
              </a:rPr>
              <a:t>Considering the poems and songs of RabindranathTagore as against values of Pakistan state government stopped broadcasting those in Radio Pakistan in 1967.</a:t>
            </a:r>
            <a:endParaRPr b="0" i="0" sz="2500" u="none" cap="none" strike="noStrike">
              <a:solidFill>
                <a:schemeClr val="dk1"/>
              </a:solidFill>
              <a:latin typeface="Calibri"/>
              <a:ea typeface="Calibri"/>
              <a:cs typeface="Calibri"/>
              <a:sym typeface="Calibri"/>
            </a:endParaRPr>
          </a:p>
          <a:p>
            <a:pPr indent="-387350" lvl="0" marL="457200" marR="0" rtl="0" algn="l">
              <a:lnSpc>
                <a:spcPct val="100000"/>
              </a:lnSpc>
              <a:spcBef>
                <a:spcPts val="0"/>
              </a:spcBef>
              <a:spcAft>
                <a:spcPts val="0"/>
              </a:spcAft>
              <a:buClr>
                <a:schemeClr val="dk1"/>
              </a:buClr>
              <a:buSzPts val="2500"/>
              <a:buFont typeface="Calibri"/>
              <a:buChar char="⮚"/>
            </a:pPr>
            <a:r>
              <a:rPr b="0" i="0" lang="en-US" sz="2500" u="none" cap="none" strike="noStrike">
                <a:solidFill>
                  <a:schemeClr val="dk1"/>
                </a:solidFill>
                <a:latin typeface="Calibri"/>
                <a:ea typeface="Calibri"/>
                <a:cs typeface="Calibri"/>
                <a:sym typeface="Calibri"/>
              </a:rPr>
              <a:t>Bangla New Year Celebration, </a:t>
            </a:r>
            <a:r>
              <a:rPr b="0" i="1" lang="en-US" sz="2500" u="none" cap="none" strike="noStrike">
                <a:solidFill>
                  <a:schemeClr val="dk1"/>
                </a:solidFill>
                <a:latin typeface="Calibri"/>
                <a:ea typeface="Calibri"/>
                <a:cs typeface="Calibri"/>
                <a:sym typeface="Calibri"/>
              </a:rPr>
              <a:t>Pahela Baishak </a:t>
            </a:r>
            <a:r>
              <a:rPr b="0" i="0" lang="en-US" sz="2500" u="none" cap="none" strike="noStrike">
                <a:solidFill>
                  <a:schemeClr val="dk1"/>
                </a:solidFill>
                <a:latin typeface="Calibri"/>
                <a:ea typeface="Calibri"/>
                <a:cs typeface="Calibri"/>
                <a:sym typeface="Calibri"/>
              </a:rPr>
              <a:t>was considered as a festival of the minorities, the Hindu community.</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264be98e3a0_0_0"/>
          <p:cNvSpPr txBox="1"/>
          <p:nvPr>
            <p:ph idx="12" type="sldNum"/>
          </p:nvPr>
        </p:nvSpPr>
        <p:spPr>
          <a:xfrm>
            <a:off x="6553200" y="6356354"/>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5" name="Google Shape;275;g264be98e3a0_0_0"/>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Pictures 1948-1956</a:t>
            </a:r>
            <a:endParaRPr b="1" i="0" sz="3600" u="none" cap="none" strike="noStrike">
              <a:solidFill>
                <a:schemeClr val="lt1"/>
              </a:solidFill>
              <a:latin typeface="Calibri"/>
              <a:ea typeface="Calibri"/>
              <a:cs typeface="Calibri"/>
              <a:sym typeface="Calibri"/>
            </a:endParaRPr>
          </a:p>
        </p:txBody>
      </p:sp>
      <p:sp>
        <p:nvSpPr>
          <p:cNvPr id="276" name="Google Shape;276;g264be98e3a0_0_0"/>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pic>
        <p:nvPicPr>
          <p:cNvPr id="277" name="Google Shape;277;g264be98e3a0_0_0"/>
          <p:cNvPicPr preferRelativeResize="0"/>
          <p:nvPr/>
        </p:nvPicPr>
        <p:blipFill rotWithShape="1">
          <a:blip r:embed="rId3">
            <a:alphaModFix/>
          </a:blip>
          <a:srcRect b="0" l="0" r="0" t="0"/>
          <a:stretch/>
        </p:blipFill>
        <p:spPr>
          <a:xfrm>
            <a:off x="4341475" y="1285350"/>
            <a:ext cx="4408300" cy="3733301"/>
          </a:xfrm>
          <a:prstGeom prst="rect">
            <a:avLst/>
          </a:prstGeom>
          <a:noFill/>
          <a:ln>
            <a:noFill/>
          </a:ln>
        </p:spPr>
      </p:pic>
      <p:pic>
        <p:nvPicPr>
          <p:cNvPr id="278" name="Google Shape;278;g264be98e3a0_0_0"/>
          <p:cNvPicPr preferRelativeResize="0"/>
          <p:nvPr/>
        </p:nvPicPr>
        <p:blipFill rotWithShape="1">
          <a:blip r:embed="rId4">
            <a:alphaModFix/>
          </a:blip>
          <a:srcRect b="0" l="0" r="0" t="0"/>
          <a:stretch/>
        </p:blipFill>
        <p:spPr>
          <a:xfrm>
            <a:off x="276500" y="1343100"/>
            <a:ext cx="3969950" cy="3617650"/>
          </a:xfrm>
          <a:prstGeom prst="rect">
            <a:avLst/>
          </a:prstGeom>
          <a:noFill/>
          <a:ln>
            <a:noFill/>
          </a:ln>
        </p:spPr>
      </p:pic>
      <p:sp>
        <p:nvSpPr>
          <p:cNvPr id="279" name="Google Shape;279;g264be98e3a0_0_0"/>
          <p:cNvSpPr txBox="1"/>
          <p:nvPr/>
        </p:nvSpPr>
        <p:spPr>
          <a:xfrm>
            <a:off x="276500" y="5138700"/>
            <a:ext cx="390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545454"/>
                </a:solidFill>
                <a:highlight>
                  <a:srgbClr val="FFFFFF"/>
                </a:highlight>
                <a:latin typeface="Arial"/>
                <a:ea typeface="Arial"/>
                <a:cs typeface="Arial"/>
                <a:sym typeface="Arial"/>
              </a:rPr>
              <a:t>১৯৫৬ সালে সেই সময়ের আবু হোসেন সরকারের বিরুদ্ধে ভূখা মিছিল, সামনের সারিতে বাম দিক থেকে তাজউদ্দিন আহমদ, মাঝখানে কালো চশমা পরিহিত অলি আহাদ, ইয়ার মোহাম্মদ খান, জহিরুদ্দিন আহমদ, আতাউর রহমান খান, মহিউদ্দিন আহমদ ও মন্টু খান </a:t>
            </a:r>
            <a:endParaRPr b="0" i="0" sz="1400" u="none" cap="none" strike="noStrike">
              <a:solidFill>
                <a:srgbClr val="000000"/>
              </a:solidFill>
              <a:latin typeface="Arial"/>
              <a:ea typeface="Arial"/>
              <a:cs typeface="Arial"/>
              <a:sym typeface="Arial"/>
            </a:endParaRPr>
          </a:p>
        </p:txBody>
      </p:sp>
      <p:sp>
        <p:nvSpPr>
          <p:cNvPr id="280" name="Google Shape;280;g264be98e3a0_0_0"/>
          <p:cNvSpPr txBox="1"/>
          <p:nvPr/>
        </p:nvSpPr>
        <p:spPr>
          <a:xfrm>
            <a:off x="4424150" y="5172025"/>
            <a:ext cx="390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545454"/>
                </a:solidFill>
                <a:highlight>
                  <a:srgbClr val="FFFFFF"/>
                </a:highlight>
                <a:latin typeface="Arial"/>
                <a:ea typeface="Arial"/>
                <a:cs typeface="Arial"/>
                <a:sym typeface="Arial"/>
              </a:rPr>
              <a:t>১৯৫৫ সালে ফুলবাড়ীয়া রেল স্টেশনে মাওলানা আব্দুল হামিদ খাঁন ভাসানী, অলি আহাদ, শেখ মুজিবুর রহমান</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0"/>
          <p:cNvSpPr txBox="1"/>
          <p:nvPr>
            <p:ph idx="12" type="sldNum"/>
          </p:nvPr>
        </p:nvSpPr>
        <p:spPr>
          <a:xfrm>
            <a:off x="6553200" y="6356354"/>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87" name="Google Shape;287;p20"/>
          <p:cNvSpPr txBox="1"/>
          <p:nvPr/>
        </p:nvSpPr>
        <p:spPr>
          <a:xfrm>
            <a:off x="0" y="0"/>
            <a:ext cx="9144000" cy="7620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Suggested Readings</a:t>
            </a:r>
            <a:endParaRPr b="0" i="0" sz="1400" u="none" cap="none" strike="noStrike">
              <a:solidFill>
                <a:srgbClr val="000000"/>
              </a:solidFill>
              <a:latin typeface="Arial"/>
              <a:ea typeface="Arial"/>
              <a:cs typeface="Arial"/>
              <a:sym typeface="Arial"/>
            </a:endParaRPr>
          </a:p>
        </p:txBody>
      </p:sp>
      <p:sp>
        <p:nvSpPr>
          <p:cNvPr id="288" name="Google Shape;288;p20"/>
          <p:cNvSpPr/>
          <p:nvPr/>
        </p:nvSpPr>
        <p:spPr>
          <a:xfrm>
            <a:off x="0" y="762000"/>
            <a:ext cx="9144000" cy="152400"/>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Calibri"/>
              <a:ea typeface="Calibri"/>
              <a:cs typeface="Calibri"/>
              <a:sym typeface="Calibri"/>
            </a:endParaRPr>
          </a:p>
        </p:txBody>
      </p:sp>
      <p:sp>
        <p:nvSpPr>
          <p:cNvPr id="289" name="Google Shape;289;p20"/>
          <p:cNvSpPr txBox="1"/>
          <p:nvPr/>
        </p:nvSpPr>
        <p:spPr>
          <a:xfrm>
            <a:off x="276500" y="1374350"/>
            <a:ext cx="8350200" cy="491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The Emergence of Bangladesh </a:t>
            </a:r>
            <a:endParaRPr b="1"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Volume I</a:t>
            </a:r>
            <a:endParaRPr b="1"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(1947-1958)</a:t>
            </a:r>
            <a:endParaRPr b="1"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by </a:t>
            </a:r>
            <a:r>
              <a:rPr b="1" i="0" lang="en-US" sz="2800" u="none" cap="none" strike="noStrike">
                <a:solidFill>
                  <a:schemeClr val="dk1"/>
                </a:solidFill>
                <a:latin typeface="Calibri"/>
                <a:ea typeface="Calibri"/>
                <a:cs typeface="Calibri"/>
                <a:sym typeface="Calibri"/>
              </a:rPr>
              <a:t>Badruddin Umar</a:t>
            </a:r>
            <a:endParaRPr b="1"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Chapter: </a:t>
            </a:r>
            <a:r>
              <a:rPr b="1" i="0" lang="en-US" sz="2800" u="none" cap="none" strike="noStrike">
                <a:solidFill>
                  <a:schemeClr val="dk1"/>
                </a:solidFill>
                <a:latin typeface="Calibri"/>
                <a:ea typeface="Calibri"/>
                <a:cs typeface="Calibri"/>
                <a:sym typeface="Calibri"/>
              </a:rPr>
              <a:t>5,20,21</a:t>
            </a:r>
            <a:endParaRPr b="1"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Calibri"/>
                <a:ea typeface="Calibri"/>
                <a:cs typeface="Calibri"/>
                <a:sym typeface="Calibri"/>
              </a:rPr>
              <a:t>Link to Timelines:</a:t>
            </a:r>
            <a:endParaRPr b="1"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sng" cap="none" strike="noStrike">
                <a:solidFill>
                  <a:schemeClr val="hlink"/>
                </a:solidFill>
                <a:latin typeface="Calibri"/>
                <a:ea typeface="Calibri"/>
                <a:cs typeface="Calibri"/>
                <a:sym typeface="Calibri"/>
                <a:hlinkClick r:id="rId3"/>
              </a:rPr>
              <a:t>https://www.timetoast.com/timelines/time-line-a-brief-history-of-the-bangla-language-movement-2671e6a4-e08f-4710-aa7d-6348ac63dd3c</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El Perezoso</dc:creator>
</cp:coreProperties>
</file>