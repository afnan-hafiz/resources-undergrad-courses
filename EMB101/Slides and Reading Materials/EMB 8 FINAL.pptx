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0" r:id="rId7"/>
    <p:sldId id="281" r:id="rId8"/>
    <p:sldId id="262" r:id="rId9"/>
    <p:sldId id="263" r:id="rId10"/>
    <p:sldId id="264" r:id="rId11"/>
    <p:sldId id="265" r:id="rId12"/>
    <p:sldId id="266" r:id="rId13"/>
    <p:sldId id="268" r:id="rId14"/>
    <p:sldId id="272" r:id="rId15"/>
    <p:sldId id="284" r:id="rId16"/>
    <p:sldId id="269" r:id="rId17"/>
    <p:sldId id="271" r:id="rId18"/>
    <p:sldId id="285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1370" y="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8305800" cy="2819400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chemeClr val="bg1"/>
                </a:solidFill>
                <a:cs typeface="BrowalliaUPC" pitchFamily="34" charset="-34"/>
              </a:rPr>
            </a:br>
            <a:r>
              <a:rPr lang="en-US" sz="3600" b="1" dirty="0">
                <a:solidFill>
                  <a:schemeClr val="bg1"/>
                </a:solidFill>
                <a:cs typeface="BrowalliaUPC" pitchFamily="34" charset="-34"/>
              </a:rPr>
              <a:t>LECTURE: 8 </a:t>
            </a:r>
            <a:br>
              <a:rPr lang="en-US" sz="3600" b="1" dirty="0">
                <a:solidFill>
                  <a:schemeClr val="bg1"/>
                </a:solidFill>
                <a:cs typeface="BrowalliaUPC" pitchFamily="34" charset="-34"/>
              </a:rPr>
            </a:br>
            <a:r>
              <a:rPr lang="en-US" sz="3600" b="1" dirty="0">
                <a:solidFill>
                  <a:schemeClr val="bg1"/>
                </a:solidFill>
                <a:cs typeface="BrowalliaUPC" pitchFamily="34" charset="-34"/>
              </a:rPr>
              <a:t>DICTATORSHIP AND STRUGGLES FOR DEMOCRACY (1947-1971) </a:t>
            </a:r>
            <a:br>
              <a:rPr lang="en-US" sz="3200" b="1" dirty="0">
                <a:solidFill>
                  <a:schemeClr val="bg1"/>
                </a:solidFill>
                <a:cs typeface="BrowalliaUPC" pitchFamily="34" charset="-34"/>
              </a:rPr>
            </a:br>
            <a:br>
              <a:rPr lang="en-US" sz="3200" b="1" dirty="0">
                <a:solidFill>
                  <a:schemeClr val="bg1"/>
                </a:solidFill>
                <a:cs typeface="BrowalliaUPC" pitchFamily="34" charset="-34"/>
              </a:rPr>
            </a:br>
            <a:endParaRPr lang="en-US" sz="3600" dirty="0">
              <a:solidFill>
                <a:schemeClr val="bg1"/>
              </a:solidFill>
              <a:cs typeface="BrowalliaUPC" pitchFamily="34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533400"/>
            <a:ext cx="8305800" cy="36283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5562600"/>
            <a:ext cx="4031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PROFESSOR SYED M HASHEMI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2800" b="1" dirty="0"/>
              <a:t>Dictatorship and Struggles for Democracy</a:t>
            </a:r>
          </a:p>
          <a:p>
            <a:pPr>
              <a:buNone/>
            </a:pPr>
            <a:r>
              <a:rPr lang="en-US" sz="2000" b="1" i="1" dirty="0"/>
              <a:t> </a:t>
            </a:r>
          </a:p>
          <a:p>
            <a:pPr>
              <a:buNone/>
            </a:pPr>
            <a:r>
              <a:rPr lang="en-US" sz="2400" b="1" i="1" dirty="0"/>
              <a:t>Learning Objectives: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Recognize that the government of Pakistan from 1947 onwards would always refuse to accommodate the interests of </a:t>
            </a:r>
            <a:r>
              <a:rPr lang="en-US" sz="2400" b="1" dirty="0" err="1"/>
              <a:t>Bengalees</a:t>
            </a:r>
            <a:endParaRPr lang="en-US" sz="2400" b="1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Realize that when civilian governments could not maintain the political and economic domination over the majority </a:t>
            </a:r>
            <a:r>
              <a:rPr lang="en-US" sz="2400" b="1" dirty="0" err="1"/>
              <a:t>Bengalees</a:t>
            </a:r>
            <a:r>
              <a:rPr lang="en-US" sz="2400" b="1" dirty="0"/>
              <a:t>, they would opt for military dictatorships for control by force and violence rather than provide for democratic rights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Explain how </a:t>
            </a:r>
            <a:r>
              <a:rPr lang="en-US" sz="2400" b="1" dirty="0" err="1"/>
              <a:t>Bengalee</a:t>
            </a:r>
            <a:r>
              <a:rPr lang="en-US" sz="2400" b="1" dirty="0"/>
              <a:t> nationalism emerged over the years (1948-1971) from successive people’s struggles against the dictatorship and repression of Pakistan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Analyze how democracy and political and economic aspirations of the majority </a:t>
            </a:r>
            <a:r>
              <a:rPr lang="en-US" sz="2400" b="1" dirty="0" err="1"/>
              <a:t>Bengalees</a:t>
            </a:r>
            <a:r>
              <a:rPr lang="en-US" sz="2400" b="1" dirty="0"/>
              <a:t> could never be allowed within the Pakistan state structure</a:t>
            </a: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OUTLINE:  LECTURE 8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+mj-lt"/>
              </a:rPr>
              <a:t>MAP OF PAKISTAN IN 1947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Map of Pakistan in 1947 - Map of Pakistan 1947 (Southern Asia - Asia)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914400"/>
            <a:ext cx="7620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150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Founded on religious nationalism and fear of domination of Hindu Raj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Two wings with distinctly different languages, ethnicity, history, culture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Two wings separated by a thousand miles of Indian territory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Disparity in the civil bureaucracy: of the 133 Muslim officers of the Indian Civil Service only 1 was Bengali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Disparity in the military: Bengalis constituted less than 3 % of the army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Most wealthy Muslim traders from India settled in WP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Agrarian structure: strong feudal lords in WP, peasant economy in EP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b="1" i="1" dirty="0"/>
              <a:t>military, bureaucracy, big business, feudal lords, based in WP, constituted the ruling elite in Pakistan 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CHALLENGES FOR PAKISTAN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MUHAMMAD ALI JINNAH: 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ATTEMPT AT AN ALL PAKISTAN IDEOLOGY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 descr="Muhammad Ali Jinnah - Wikipedia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05000"/>
            <a:ext cx="3505200" cy="358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114800" y="2971800"/>
            <a:ext cx="48768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“Urdu and Urdu alone will be the national language of Pakistan”  </a:t>
            </a:r>
          </a:p>
          <a:p>
            <a:endParaRPr lang="en-US" b="1" dirty="0"/>
          </a:p>
          <a:p>
            <a:r>
              <a:rPr lang="en-US" b="1" dirty="0"/>
              <a:t>-Muhammad Ali Jinnah in Dhaka, March 24, 1948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THE LANGUAGE MOVEMENT: 1948-1952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4F7946-C63D-42AA-A4B5-A99CF740C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" y="1143000"/>
            <a:ext cx="8915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THE LANGUAGE MOVEMENT: 1948-1952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Content Placeholder 7" descr="A group of people on a newspaper&#10;&#10;Description automatically generated">
            <a:extLst>
              <a:ext uri="{FF2B5EF4-FFF2-40B4-BE49-F238E27FC236}">
                <a16:creationId xmlns:a16="http://schemas.microsoft.com/office/drawing/2014/main" id="{D3F0BAB2-82B3-4694-BC0B-8BAF3C9F4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0"/>
            <a:ext cx="8534400" cy="4983163"/>
          </a:xfrm>
        </p:spPr>
      </p:pic>
    </p:spTree>
    <p:extLst>
      <p:ext uri="{BB962C8B-B14F-4D97-AF65-F5344CB8AC3E}">
        <p14:creationId xmlns:p14="http://schemas.microsoft.com/office/powerpoint/2010/main" val="287107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6388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First election in East Pakistan: universal adult franchise</a:t>
            </a:r>
          </a:p>
          <a:p>
            <a:pPr marL="0" indent="0">
              <a:buFont typeface="Wingdings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United Front contested against the Muslim League on 21-point demand 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recognition of Bengali as one of the state languages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introduce free and universal primary education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abolish zamindari system and distribute land to peasants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economic and social rights of industrial workers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nationalization of the jute industry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protect country from flood and famine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army HQ in WP, navy HQ in EP, ordnance factory in EP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Landslide victory of United Front: 228 seats out of 309, Muslim League won only 7 seats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PROVINCIAL ELECTION OF 1954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LEADERS OF THE UNITED FRONT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 descr="A. K. Fazlul Huq - Wikiwand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0200"/>
            <a:ext cx="2274570" cy="19166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bdul Hamid Khan Bhashani - Wikipedia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487269"/>
            <a:ext cx="2667000" cy="2057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 descr="All in One: Huseyn Shaheed Suhrawardy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1544419"/>
            <a:ext cx="2438400" cy="2000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 rot="10800000" flipV="1">
            <a:off x="838200" y="3620869"/>
            <a:ext cx="167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 K </a:t>
            </a:r>
            <a:r>
              <a:rPr lang="en-US" b="1" dirty="0" err="1"/>
              <a:t>Fazlul</a:t>
            </a:r>
            <a:r>
              <a:rPr lang="en-US" b="1" dirty="0"/>
              <a:t> </a:t>
            </a:r>
            <a:r>
              <a:rPr lang="en-US" b="1" dirty="0" err="1"/>
              <a:t>Huq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6572081" y="3601819"/>
            <a:ext cx="18208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/>
              <a:t>Huseyn</a:t>
            </a:r>
            <a:r>
              <a:rPr lang="en-US" b="1" dirty="0"/>
              <a:t> </a:t>
            </a:r>
            <a:r>
              <a:rPr lang="en-US" b="1" dirty="0" err="1"/>
              <a:t>Shaheed</a:t>
            </a:r>
            <a:r>
              <a:rPr lang="en-US" b="1" dirty="0"/>
              <a:t> </a:t>
            </a:r>
          </a:p>
          <a:p>
            <a:pPr algn="ctr"/>
            <a:r>
              <a:rPr lang="en-US" b="1" dirty="0" err="1"/>
              <a:t>Suhrawardy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3252555" y="3620869"/>
            <a:ext cx="23823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/>
              <a:t>Maulana</a:t>
            </a:r>
            <a:r>
              <a:rPr lang="en-US" b="1" dirty="0"/>
              <a:t> Abdul </a:t>
            </a:r>
            <a:r>
              <a:rPr lang="en-US" b="1" dirty="0" err="1"/>
              <a:t>Hamid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Khan </a:t>
            </a:r>
            <a:r>
              <a:rPr lang="en-US" b="1" dirty="0" err="1"/>
              <a:t>Bhasani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04800" y="4648200"/>
            <a:ext cx="86010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 err="1"/>
              <a:t>Jukto</a:t>
            </a:r>
            <a:r>
              <a:rPr lang="en-US" sz="2800" b="1" dirty="0"/>
              <a:t> Front government dismissed by Governor-General </a:t>
            </a:r>
            <a:r>
              <a:rPr lang="en-US" sz="2800" b="1" dirty="0" err="1"/>
              <a:t>Ghulam</a:t>
            </a:r>
            <a:r>
              <a:rPr lang="en-US" sz="2800" b="1" dirty="0"/>
              <a:t> Muhammad in a few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9067800" cy="5486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b="1" dirty="0"/>
              <a:t>1953: Governor General Ghulam Muhammad dismisses Prime Minister Khawaja Nazimuddin for failure to control EP autonomy demands and imposes direct rule over EP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October 1954: Ghulam Muhammad dissolves First Constituent Assembly 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July 1955: Second Constituent Assemble convened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August 1955: Chaudhry Muhammad Ali becomes PM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September 1955: General </a:t>
            </a:r>
            <a:r>
              <a:rPr lang="en-US" sz="2200" b="1" dirty="0" err="1"/>
              <a:t>Iskander</a:t>
            </a:r>
            <a:r>
              <a:rPr lang="en-US" sz="2200" b="1" dirty="0"/>
              <a:t> Mirza becomes Governor General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March 1956: Constitution for Islamic Republic of Pakistan adopted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September 1956: Suhrawardy becomes PM of Pakistan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October 1957: Suhrawardy removed as PM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October 7, 1958: </a:t>
            </a:r>
            <a:r>
              <a:rPr lang="en-US" sz="2200" b="1" dirty="0" err="1"/>
              <a:t>Iskander</a:t>
            </a:r>
            <a:r>
              <a:rPr lang="en-US" sz="2200" b="1" dirty="0"/>
              <a:t> Mirza imposes Martial Law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October 27, 1958: General Ayub Khan removes </a:t>
            </a:r>
            <a:r>
              <a:rPr lang="en-US" sz="2200" b="1" dirty="0" err="1"/>
              <a:t>Iskander</a:t>
            </a:r>
            <a:r>
              <a:rPr lang="en-US" sz="2200" b="1" dirty="0"/>
              <a:t> Mirza</a:t>
            </a:r>
          </a:p>
          <a:p>
            <a:pPr>
              <a:buFont typeface="Wingdings" pitchFamily="2" charset="2"/>
              <a:buChar char="Ø"/>
            </a:pPr>
            <a:r>
              <a:rPr lang="en-US" sz="2200" b="1" dirty="0"/>
              <a:t>March 1962: Ayub Khan introduces </a:t>
            </a:r>
            <a:r>
              <a:rPr lang="en-US" sz="2200" b="1"/>
              <a:t>new constitution</a:t>
            </a:r>
            <a:endParaRPr lang="en-US" sz="2200" b="1" dirty="0"/>
          </a:p>
          <a:p>
            <a:pPr>
              <a:buFont typeface="Wingdings" pitchFamily="2" charset="2"/>
              <a:buChar char="Ø"/>
            </a:pPr>
            <a:endParaRPr lang="en-US" sz="22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CONSTITUTIONAL COUPS IN PAKISTAN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562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Second Constituent Assembly drafted and ratified the first constitution of Pakistan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Islamic republic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Parliamentary form of government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National parliament of 300 members, equally representing East and West Pakistan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Bengali recognized as one of the state languages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West Pakistan was integrated into one unit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CONSTITUTION OF 1956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MILITARY DICTATORSHIP: OCTOBER 1958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952E307-E187-4F76-A33E-E568878E3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3581400" cy="42414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572000" y="2971800"/>
            <a:ext cx="4191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Field Marshal (self proclaimed) Mohammad </a:t>
            </a:r>
            <a:r>
              <a:rPr lang="en-US" sz="2800" b="1" dirty="0" err="1"/>
              <a:t>Ayub</a:t>
            </a:r>
            <a:r>
              <a:rPr lang="en-US" sz="2800" b="1" dirty="0"/>
              <a:t> Khan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10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cs typeface="Calibri" panose="020F0502020204030204" pitchFamily="34" charset="0"/>
              </a:rPr>
              <a:t>1958: Martial Law, preemptive action to stop 1959 parliamentary elections and having majority Bengalis form government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cs typeface="Calibri" panose="020F0502020204030204" pitchFamily="34" charset="0"/>
              </a:rPr>
              <a:t>1958 to 1962: Ayub ruled through Punjabi-dominated military and  a pliant civil bureaucracy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cs typeface="Calibri" panose="020F0502020204030204" pitchFamily="34" charset="0"/>
              </a:rPr>
              <a:t>1962:  New Constitution with elections under “Basic Democracy”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cs typeface="Calibri" panose="020F0502020204030204" pitchFamily="34" charset="0"/>
              </a:rPr>
              <a:t>Basic Democracy: Indirect elections; President and Parliament elected through an Electoral College of 80,000 Basic Democrats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i="1" dirty="0">
                <a:cs typeface="Calibri" panose="020F0502020204030204" pitchFamily="34" charset="0"/>
              </a:rPr>
              <a:t>Patronage to Basic Democrats ensured Ayub Khan victory in elections in 1964-65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THE AYUB ERA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562600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1962:  S. M. Sharif Education Commission publishes its report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Urdu should be made the language of the people of Pakistan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English should be made compulsory from fourth grade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No free primary education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Education not to be subsidized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Strong student movement against Sharif Commission Report September 17, 1962: 3 killed in police firing</a:t>
            </a:r>
            <a:endParaRPr lang="en-US" b="1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1962: MOVEMENT AGAINST AYUB’S EDUCATION POLICY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oup of people standing next to a sign&#10;&#10;Description automatically generated">
            <a:extLst>
              <a:ext uri="{FF2B5EF4-FFF2-40B4-BE49-F238E27FC236}">
                <a16:creationId xmlns:a16="http://schemas.microsoft.com/office/drawing/2014/main" id="{37F51248-C15E-4E89-8094-2171A2FC6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43013"/>
            <a:ext cx="8001000" cy="52339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</a:rPr>
              <a:t>1962: MOVEMENT AGAINST AYUB’S EDUCATION POLICY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988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15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cs typeface="Times New Roman" panose="02020603050405020304" pitchFamily="18" charset="0"/>
              </a:rPr>
              <a:t>1965: disastrous war with India over Kashmir; East Pakistan left defenseless 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cs typeface="Times New Roman" panose="02020603050405020304" pitchFamily="18" charset="0"/>
              </a:rPr>
              <a:t>Dissatisfaction with continued disparity intensifies Bengali opposition to Pakistan government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cs typeface="Times New Roman" panose="02020603050405020304" pitchFamily="18" charset="0"/>
              </a:rPr>
              <a:t>1966: Six Point Demand by Sheikh Mujibur Rahman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cs typeface="Times New Roman" panose="02020603050405020304" pitchFamily="18" charset="0"/>
              </a:rPr>
              <a:t>The intellectual basis of Six Points was the idea of </a:t>
            </a:r>
            <a:r>
              <a:rPr lang="en-US" sz="2800" b="1" i="1" dirty="0">
                <a:cs typeface="Times New Roman" panose="02020603050405020304" pitchFamily="18" charset="0"/>
              </a:rPr>
              <a:t>two economies</a:t>
            </a:r>
            <a:r>
              <a:rPr lang="en-US" sz="2800" b="1" dirty="0">
                <a:cs typeface="Times New Roman" panose="02020603050405020304" pitchFamily="18" charset="0"/>
              </a:rPr>
              <a:t> propounded by Bengali economists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cs typeface="Times New Roman" panose="02020603050405020304" pitchFamily="18" charset="0"/>
              </a:rPr>
              <a:t>1966-1969: Popular protests and mobilization across the country met with severe repression and arrests 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cs typeface="Times New Roman" panose="02020603050405020304" pitchFamily="18" charset="0"/>
              </a:rPr>
              <a:t>1968: Pakistan government frames Agartala Conspiracy Case against Mujib and others with charges of treason</a:t>
            </a:r>
          </a:p>
          <a:p>
            <a:pPr marL="0" indent="0">
              <a:buNone/>
            </a:pPr>
            <a:endParaRPr lang="en-US" sz="2800" b="1" dirty="0"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THE AYUB ERA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10200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b="1" dirty="0">
                <a:cs typeface="Times New Roman" panose="02020603050405020304" pitchFamily="18" charset="0"/>
              </a:rPr>
              <a:t>The Six Point demands were: 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Creating provision in the constitution for a Federation of Pakistan in its true sense based on the Lahore resolution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The federal government will deal with only two subjects: Defense and Foreign Affairs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Introduction of two separate, but freely convertible currencies for East and West Pakistan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Vesting the power of taxation and revenue collection with the federating units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Maintaining two separate accounts for the foreign exchange earnings of the two wings and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Times New Roman" panose="02020603050405020304" pitchFamily="18" charset="0"/>
              </a:rPr>
              <a:t>Creation of a separate militia or paramilitary force for East Pakistan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cs typeface="Times New Roman" panose="02020603050405020304" pitchFamily="18" charset="0"/>
              </a:rPr>
              <a:t>THE AYUB ERA: 6 POINT DEMAND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holding a sign&#10;&#10;Description automatically generated">
            <a:extLst>
              <a:ext uri="{FF2B5EF4-FFF2-40B4-BE49-F238E27FC236}">
                <a16:creationId xmlns:a16="http://schemas.microsoft.com/office/drawing/2014/main" id="{09B6DA58-72A3-44C8-BD00-FFAF352B3E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622" y="3048000"/>
            <a:ext cx="5158891" cy="3516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cs typeface="Times New Roman" panose="02020603050405020304" pitchFamily="18" charset="0"/>
              </a:rPr>
              <a:t>THE AYUB ERA: 6 POINT DEMAND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895518-4A4D-4443-B0DE-926ED9B406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9" y="1143000"/>
            <a:ext cx="4177914" cy="2819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427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STATE VS. SHEIKH MUJIBUR RAHMAN AND OTHERS</a:t>
            </a:r>
            <a:endParaRPr kumimoji="0" lang="en-US" sz="4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143000"/>
            <a:ext cx="5105400" cy="571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1968-69: THE STREET FIGHTING YEARS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990600"/>
            <a:ext cx="6805648" cy="5867400"/>
          </a:xfrm>
          <a:prstGeom prst="rect">
            <a:avLst/>
          </a:prstGeom>
        </p:spPr>
      </p:pic>
      <p:pic>
        <p:nvPicPr>
          <p:cNvPr id="6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2971800" cy="37387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MARCH 25, 1969: MARTIAL LAW AGAIN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52" y="1295400"/>
            <a:ext cx="4020448" cy="51363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029200" y="2895600"/>
            <a:ext cx="365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General</a:t>
            </a:r>
          </a:p>
          <a:p>
            <a:pPr algn="ctr"/>
            <a:r>
              <a:rPr lang="en-US" sz="2800" b="1" dirty="0" err="1"/>
              <a:t>Agha</a:t>
            </a:r>
            <a:r>
              <a:rPr lang="en-US" sz="2800" b="1" dirty="0"/>
              <a:t> Muhammad </a:t>
            </a:r>
            <a:r>
              <a:rPr lang="en-US" sz="2800" b="1" dirty="0" err="1"/>
              <a:t>Yahya</a:t>
            </a:r>
            <a:r>
              <a:rPr lang="en-US" sz="2800" b="1" dirty="0"/>
              <a:t> Khan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067800" cy="5486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600" b="1" dirty="0">
                <a:cs typeface="Times New Roman" panose="02020603050405020304" pitchFamily="18" charset="0"/>
              </a:rPr>
              <a:t>1970 national elections: first ever in undivided Pakistan on the basis of universal adult franchise</a:t>
            </a:r>
          </a:p>
          <a:p>
            <a:pPr>
              <a:buFont typeface="Wingdings" pitchFamily="2" charset="2"/>
              <a:buChar char="Ø"/>
            </a:pPr>
            <a:r>
              <a:rPr lang="en-US" sz="2600" b="1" dirty="0">
                <a:cs typeface="Times New Roman" panose="02020603050405020304" pitchFamily="18" charset="0"/>
              </a:rPr>
              <a:t>Awami League wins 160 out of 162 seats in EP; majority party in 300 seat national assembly with right to form government</a:t>
            </a:r>
          </a:p>
          <a:p>
            <a:pPr>
              <a:buFont typeface="Wingdings" pitchFamily="2" charset="2"/>
              <a:buChar char="Ø"/>
            </a:pPr>
            <a:r>
              <a:rPr lang="en-US" sz="2600" b="1" dirty="0">
                <a:cs typeface="Times New Roman" panose="02020603050405020304" pitchFamily="18" charset="0"/>
              </a:rPr>
              <a:t>November 1970: cyclone hits coastal EP killing 500,000; Pakistan government fails to intervene in relief efforts</a:t>
            </a:r>
          </a:p>
          <a:p>
            <a:pPr>
              <a:buFont typeface="Wingdings" pitchFamily="2" charset="2"/>
              <a:buChar char="Ø"/>
            </a:pPr>
            <a:r>
              <a:rPr lang="en-US" sz="2600" b="1" dirty="0" err="1">
                <a:cs typeface="Times New Roman" panose="02020603050405020304" pitchFamily="18" charset="0"/>
              </a:rPr>
              <a:t>Bengalees</a:t>
            </a:r>
            <a:r>
              <a:rPr lang="en-US" sz="2600" b="1" dirty="0">
                <a:cs typeface="Times New Roman" panose="02020603050405020304" pitchFamily="18" charset="0"/>
              </a:rPr>
              <a:t> realize even more the exploitative nature of the Pakistan state and their indifference to the interests of EP</a:t>
            </a:r>
          </a:p>
          <a:p>
            <a:pPr>
              <a:buFont typeface="Wingdings" pitchFamily="2" charset="2"/>
              <a:buChar char="Ø"/>
            </a:pPr>
            <a:r>
              <a:rPr lang="en-US" sz="2600" b="1" dirty="0">
                <a:cs typeface="Times New Roman" panose="02020603050405020304" pitchFamily="18" charset="0"/>
              </a:rPr>
              <a:t>March 1: Yahya postpones convening of National Assembly</a:t>
            </a:r>
          </a:p>
          <a:p>
            <a:pPr marL="0" indent="0">
              <a:buNone/>
            </a:pPr>
            <a:endParaRPr lang="en-US" sz="26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Pakistan loses legitimacy in EP; spontaneous demonstrations all over the country; 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THE YAHYA INTERREGNUM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62000"/>
            <a:ext cx="91440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1057</Words>
  <Application>Microsoft Office PowerPoint</Application>
  <PresentationFormat>On-screen Show (4:3)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 LECTURE: 8  DICTATORSHIP AND STRUGGLES FOR DEMOCRACY (1947-1971)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Dictatorship and Struggles for Democracy (1947-1971)</dc:title>
  <dc:creator>El Perezoso</dc:creator>
  <cp:lastModifiedBy>Syed Hashemi</cp:lastModifiedBy>
  <cp:revision>119</cp:revision>
  <dcterms:created xsi:type="dcterms:W3CDTF">2006-08-16T00:00:00Z</dcterms:created>
  <dcterms:modified xsi:type="dcterms:W3CDTF">2020-07-25T13:30:55Z</dcterms:modified>
</cp:coreProperties>
</file>