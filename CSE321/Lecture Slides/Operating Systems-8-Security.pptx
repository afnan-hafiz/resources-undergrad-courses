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Economica"/>
      <p:regular r:id="rId24"/>
      <p:bold r:id="rId25"/>
      <p:italic r:id="rId26"/>
      <p:boldItalic r:id="rId27"/>
    </p:embeddedFont>
    <p:embeddedFont>
      <p:font typeface="Spectral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SidiPXeFXDtKQ3rF+pMak0HLE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Economic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italic.fntdata"/><Relationship Id="rId25" Type="http://schemas.openxmlformats.org/officeDocument/2006/relationships/font" Target="fonts/Economica-bold.fntdata"/><Relationship Id="rId28" Type="http://schemas.openxmlformats.org/officeDocument/2006/relationships/font" Target="fonts/Spectral-regular.fntdata"/><Relationship Id="rId27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ectral-boldItalic.fntdata"/><Relationship Id="rId30" Type="http://schemas.openxmlformats.org/officeDocument/2006/relationships/font" Target="fonts/Spectral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ee3d7a58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2ee3d7a5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ee3d7a585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2ee3d7a58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ee3d7a585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2ee3d7a58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ee3d7a585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2ee3d7a5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ee3d7a585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2ee3d7a58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e3d7a585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2ee3d7a58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ee3d7a585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2ee3d7a58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ee3d7a58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2ee3d7a58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ee3d7a585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2ee3d7a58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ee3d7a585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2ee3d7a58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ee3d7a585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2ee3d7a58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ee3d7a585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2ee3d7a58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ee3d7a585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2ee3d7a58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ee3d7a585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2ee3d7a58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ee3d7a58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2ee3d7a58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ee3d7a585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2ee3d7a58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ee3d7a585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2ee3d7a58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3658683" y="10089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1"/>
          <p:cNvSpPr/>
          <p:nvPr/>
        </p:nvSpPr>
        <p:spPr>
          <a:xfrm rot="10800000">
            <a:off x="7091169" y="43556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1"/>
          <p:cNvSpPr txBox="1"/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7821429" y="6238816"/>
            <a:ext cx="2753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1600200" y="6236208"/>
            <a:ext cx="590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2"/>
          <p:cNvSpPr/>
          <p:nvPr>
            <p:ph idx="12" type="sldNum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5490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rmAutofit/>
          </a:bodyPr>
          <a:lstStyle>
            <a:lvl1pPr indent="0" lvl="0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/>
          <p:nvPr/>
        </p:nvSpPr>
        <p:spPr>
          <a:xfrm flipH="1">
            <a:off x="10127953" y="6136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3"/>
          <p:cNvSpPr/>
          <p:nvPr/>
        </p:nvSpPr>
        <p:spPr>
          <a:xfrm flipH="1" rot="10800000">
            <a:off x="621900" y="47444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" name="Google Shape;24;p33"/>
          <p:cNvSpPr txBox="1"/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4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35"/>
          <p:cNvSpPr txBox="1"/>
          <p:nvPr>
            <p:ph idx="2" type="body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1" name="Google Shape;41;p37"/>
          <p:cNvSpPr txBox="1"/>
          <p:nvPr>
            <p:ph idx="1" type="body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p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8"/>
          <p:cNvSpPr txBox="1"/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p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9"/>
          <p:cNvSpPr txBox="1"/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1" name="Google Shape;51;p39"/>
          <p:cNvSpPr txBox="1"/>
          <p:nvPr>
            <p:ph idx="1" type="subTitle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3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idx="1" type="body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1"/>
          <p:cNvSpPr txBox="1"/>
          <p:nvPr>
            <p:ph hasCustomPrompt="1" type="title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2410500" y="2404200"/>
            <a:ext cx="7371000" cy="204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sz="3300"/>
              <a:t>OPERATING SYSTEMS</a:t>
            </a:r>
            <a:endParaRPr sz="3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b="1" lang="en-US" sz="5300">
                <a:solidFill>
                  <a:srgbClr val="38761D"/>
                </a:solidFill>
              </a:rPr>
              <a:t>Security</a:t>
            </a:r>
            <a:endParaRPr b="1" sz="53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ee3d7a585_0_7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The Security Problem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4" name="Google Shape;74;g32ee3d7a585_0_7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System secure if resources used and accessed as intended under all circumstances.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Unachievable.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Intruders (crackers) attempt to breach security.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Threat is potential security violation.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Attack is attempt to breach security.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Attack can be accidental or malicious.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Easier to protect against accidental than malicious misuse.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ee3d7a585_0_31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Security Violation Categories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0" name="Google Shape;80;g32ee3d7a585_0_31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Breach of confidentiality: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Unauthorized reading of data.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Breach of integrity: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Unauthorized modification of data.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Breach of availability: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Unauthorized destruction of data.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Theft of service: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Unauthorized use of resources.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Denial of service (DOS):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Prevention of legitimate use.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ee3d7a585_0_39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Security Violation Methods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6" name="Google Shape;86;g32ee3d7a585_0_39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Masquerading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(breach authentication)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Pretending to be an authorized user to escalate privileges.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Replay attack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As is or with message modification.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Man-in-the-middle attack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Intruder sits in data flow, masquerading as sender to receiver and vice versa.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Session hijacking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Intercept an already-established session to bypass authentication.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Privilege escalation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Common attack type with access beyond what a user or resource is supposed to have.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ee3d7a585_0_50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Security Measure Levels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2" name="Google Shape;92;g32ee3d7a585_0_50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Impossible to have absolute security, but make cost to perpetrator sufficiently high to deter most intruders.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Security must occur at four levels to be effective: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Physical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 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Data centers, servers, connected terminals.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Application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 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Malicious apps can cause security problems.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Operating System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Protection mechanisms, debugging.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Network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Intercepted communications, interruption, DOS.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Security is as weak as the weakest link in the chain.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Humans a risk too via phishing and social-engineering attacks.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ee3d7a585_0_57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8" name="Google Shape;98;g32ee3d7a585_0_57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Many variations, many names.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Trojan Horse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72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Code segment that misuses its environment.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Exploits mechanisms for allowing programs written by users to be executed by other users.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Spyware, pop-up browser windows, covert channels.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Up to 80% of spam delivered by spyware-infected systems.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Trap Door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72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Specific user identifier or password that circumvents normal security procedures.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Could be included in a compiler.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ee3d7a585_0_71"/>
          <p:cNvSpPr txBox="1"/>
          <p:nvPr>
            <p:ph type="title"/>
          </p:nvPr>
        </p:nvSpPr>
        <p:spPr>
          <a:xfrm>
            <a:off x="2231136" y="9746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04" name="Google Shape;104;g32ee3d7a585_0_71"/>
          <p:cNvSpPr txBox="1"/>
          <p:nvPr>
            <p:ph idx="1" type="body"/>
          </p:nvPr>
        </p:nvSpPr>
        <p:spPr>
          <a:xfrm>
            <a:off x="2231100" y="1441875"/>
            <a:ext cx="8823300" cy="5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Malware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- Software designed to exploit, disable, or damage computer.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Trojan Horse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– Program that acts in a clandestine manner.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Spyware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– Program frequently installed with legitimate software to display ads, capture user data.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Ransomware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– locks up data via encryption, demanding payment to unlock it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Others include trap doors, logic bombs.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All try to violate the Principle of Least Privilege.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Goal frequently is to leave behind </a:t>
            </a: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Remote Access Tool (RAT)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for repeated access.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  <p:pic>
        <p:nvPicPr>
          <p:cNvPr id="105" name="Google Shape;105;g32ee3d7a585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125" y="3288800"/>
            <a:ext cx="8743676" cy="19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ee3d7a585_0_80"/>
          <p:cNvSpPr txBox="1"/>
          <p:nvPr>
            <p:ph type="title"/>
          </p:nvPr>
        </p:nvSpPr>
        <p:spPr>
          <a:xfrm>
            <a:off x="2231111" y="7754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11" name="Google Shape;111;g32ee3d7a585_0_80"/>
          <p:cNvSpPr txBox="1"/>
          <p:nvPr>
            <p:ph idx="1" type="body"/>
          </p:nvPr>
        </p:nvSpPr>
        <p:spPr>
          <a:xfrm>
            <a:off x="2231100" y="1471775"/>
            <a:ext cx="7729800" cy="52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 Program with </a:t>
            </a: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Buffer-overflow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Condition: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Code review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can help – programmers review each other’s code, looking for logic flows, programming flaws.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  <p:pic>
        <p:nvPicPr>
          <p:cNvPr id="112" name="Google Shape;112;g32ee3d7a585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1800" y="1771127"/>
            <a:ext cx="4440599" cy="380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ee3d7a585_0_88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18" name="Google Shape;118;g32ee3d7a585_0_88"/>
          <p:cNvSpPr txBox="1"/>
          <p:nvPr>
            <p:ph idx="1" type="body"/>
          </p:nvPr>
        </p:nvSpPr>
        <p:spPr>
          <a:xfrm>
            <a:off x="2231125" y="2638050"/>
            <a:ext cx="78864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Code-injection attack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occurs when system code is not malicious but has bugs allowing executable code to be added or modified.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Results from poor or insecure programming paradigms, commonly in low level languages like C or C++ which allow for direct memory access through pointers.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Goal is a buffer overflow in which code is placed in a buffer and execution caused by the attack.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Can be run by </a:t>
            </a: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script kiddies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– use tools written but exploit identifiers.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ee3d7a585_0_95"/>
          <p:cNvSpPr txBox="1"/>
          <p:nvPr>
            <p:ph type="title"/>
          </p:nvPr>
        </p:nvSpPr>
        <p:spPr>
          <a:xfrm>
            <a:off x="2231111" y="1174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24" name="Google Shape;124;g32ee3d7a585_0_95"/>
          <p:cNvSpPr txBox="1"/>
          <p:nvPr>
            <p:ph idx="1" type="body"/>
          </p:nvPr>
        </p:nvSpPr>
        <p:spPr>
          <a:xfrm>
            <a:off x="2231100" y="1451850"/>
            <a:ext cx="7886400" cy="53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Outcomes from </a:t>
            </a: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code injection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Frequently use trampoline to code execution to exploit buffer overflow: 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  <p:pic>
        <p:nvPicPr>
          <p:cNvPr id="125" name="Google Shape;125;g32ee3d7a585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100" y="1789197"/>
            <a:ext cx="6693400" cy="23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2ee3d7a585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4650" y="4528375"/>
            <a:ext cx="1926311" cy="219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ee3d7a585_0_105"/>
          <p:cNvSpPr txBox="1"/>
          <p:nvPr>
            <p:ph type="title"/>
          </p:nvPr>
        </p:nvSpPr>
        <p:spPr>
          <a:xfrm>
            <a:off x="2231111" y="12736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32" name="Google Shape;132;g32ee3d7a585_0_105"/>
          <p:cNvSpPr txBox="1"/>
          <p:nvPr>
            <p:ph idx="1" type="body"/>
          </p:nvPr>
        </p:nvSpPr>
        <p:spPr>
          <a:xfrm>
            <a:off x="2231100" y="1581450"/>
            <a:ext cx="78864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Viruses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72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Code fragment embedded in legitimate program.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Self-replicating, designed to infect other computers.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Very specific to CPU architecture, operating system, applications.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Usually borne via email or as a macro.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Visual Basic Macro to reformat hard drive.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  <p:pic>
        <p:nvPicPr>
          <p:cNvPr id="133" name="Google Shape;133;g32ee3d7a585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988" y="3081475"/>
            <a:ext cx="6978015" cy="18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ee3d7a585_0_110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39" name="Google Shape;139;g32ee3d7a585_0_110"/>
          <p:cNvSpPr txBox="1"/>
          <p:nvPr>
            <p:ph idx="1" type="body"/>
          </p:nvPr>
        </p:nvSpPr>
        <p:spPr>
          <a:xfrm>
            <a:off x="2231100" y="1651225"/>
            <a:ext cx="78864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Virus dropper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inserts virus onto the system.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Many categories of viruses, literally many thousands of viruses: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File / parasitic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Boot / memory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Macro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Source code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Polymorphic to avoid having a virus signature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Encrypted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Stealth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Tunneling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Multipartite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Armored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ee3d7a585_0_119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45" name="Google Shape;145;g32ee3d7a585_0_119"/>
          <p:cNvSpPr txBox="1"/>
          <p:nvPr>
            <p:ph idx="1" type="body"/>
          </p:nvPr>
        </p:nvSpPr>
        <p:spPr>
          <a:xfrm>
            <a:off x="2231100" y="1651225"/>
            <a:ext cx="78864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7200">
                <a:latin typeface="Spectral"/>
                <a:ea typeface="Spectral"/>
                <a:cs typeface="Spectral"/>
                <a:sym typeface="Spectral"/>
              </a:rPr>
              <a:t>A Boot-sector Computer Virus</a:t>
            </a:r>
            <a:endParaRPr b="1"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  <p:pic>
        <p:nvPicPr>
          <p:cNvPr id="146" name="Google Shape;146;g32ee3d7a585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5550" y="1926700"/>
            <a:ext cx="4900899" cy="4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ee3d7a585_0_126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Program Threats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2" name="Google Shape;152;g32ee3d7a585_0_126"/>
          <p:cNvSpPr txBox="1"/>
          <p:nvPr>
            <p:ph idx="1" type="body"/>
          </p:nvPr>
        </p:nvSpPr>
        <p:spPr>
          <a:xfrm>
            <a:off x="2231100" y="1651225"/>
            <a:ext cx="78864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Worms</a:t>
            </a: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 – use spawn mechanism; standalone program.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Internet worm</a:t>
            </a:r>
            <a:r>
              <a:rPr lang="en-US" sz="72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72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Exploited UNIX networking features (remote access) and bugs in finger and sendmail programs.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Exploited trust-relationship mechanism used by rsh to access friendly systems without use of password.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Grappling hook program uploaded main worm program.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99 lines of C code 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Hooked system then uploaded main code, tried to attack connected systems.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Also tried to break into other users accounts on local system via password guessing.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If target system already infected, abort, except for every 7th time.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ee3d7a585_0_64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Four-layered Model of Security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158" name="Google Shape;158;g32ee3d7a585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59771"/>
            <a:ext cx="12191999" cy="243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ee3d7a585_0_132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8761D"/>
                </a:solidFill>
              </a:rPr>
              <a:t>Implementing Security Defences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64" name="Google Shape;164;g32ee3d7a585_0_132"/>
          <p:cNvSpPr txBox="1"/>
          <p:nvPr>
            <p:ph idx="1" type="body"/>
          </p:nvPr>
        </p:nvSpPr>
        <p:spPr>
          <a:xfrm>
            <a:off x="2231100" y="1651225"/>
            <a:ext cx="78864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Defence in depth is most common security theory – multiple layers of security.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Security policy describes what is being secured.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Vulnerability assessment compares real state of system / network compared to security policy.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Intrusion detection endeavors to detect attempted or successful intrusions.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Signature-based detection spots known bad patterns.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Anomaly detection spots differences from normal behavior.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Can detect zero-day attacks.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False-positives and false-negatives a problem.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Virus protection: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Searching all programs or programs at execution for known virus patterns.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Or run in sandbox so can’t damage system.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Auditing, accounting, and logging of all or specific system or network activities.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Practice safe computing – avoid sources of infection, download from only “good” sites, etc.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ee3d7a585_0_139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5714"/>
              <a:buNone/>
            </a:pPr>
            <a:r>
              <a:rPr lang="en-US">
                <a:solidFill>
                  <a:srgbClr val="38761D"/>
                </a:solidFill>
              </a:rPr>
              <a:t>Firewall to Protect Systems</a:t>
            </a:r>
            <a:br>
              <a:rPr lang="en-US">
                <a:solidFill>
                  <a:srgbClr val="38761D"/>
                </a:solidFill>
              </a:rPr>
            </a:br>
            <a:r>
              <a:rPr lang="en-US">
                <a:solidFill>
                  <a:srgbClr val="38761D"/>
                </a:solidFill>
              </a:rPr>
              <a:t>and Networks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70" name="Google Shape;170;g32ee3d7a585_0_139"/>
          <p:cNvSpPr txBox="1"/>
          <p:nvPr>
            <p:ph idx="1" type="body"/>
          </p:nvPr>
        </p:nvSpPr>
        <p:spPr>
          <a:xfrm>
            <a:off x="2231100" y="1651225"/>
            <a:ext cx="78864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 network firewall is placed between trusted and untrusted hosts.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The firewall limits network access between these two security domains.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Can be tunneled or spoofed.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Tunneling allows disallowed protocol to travel within allowed protocol (i.e., telnet inside of HTTP).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Firewall rules typically based on hostname or IP address which can be spoofed.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Personal firewall is software layer on given host.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Can monitor / limit traffic to and from the host.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Application proxy firewall understands application protocol and can control them (i.e., SMTP).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00">
                <a:latin typeface="Spectral"/>
                <a:ea typeface="Spectral"/>
                <a:cs typeface="Spectral"/>
                <a:sym typeface="Spectral"/>
              </a:rPr>
              <a:t>System-call firewall monitors all important system calls and apply rules to them (i.e., this program can execute that system call).</a:t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72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3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ee3d7a585_0_146"/>
          <p:cNvSpPr txBox="1"/>
          <p:nvPr>
            <p:ph type="title"/>
          </p:nvPr>
        </p:nvSpPr>
        <p:spPr>
          <a:xfrm>
            <a:off x="2231111" y="177217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5714"/>
              <a:buNone/>
            </a:pPr>
            <a:r>
              <a:rPr lang="en-US">
                <a:solidFill>
                  <a:srgbClr val="38761D"/>
                </a:solidFill>
              </a:rPr>
              <a:t>Network Security Through</a:t>
            </a:r>
            <a:br>
              <a:rPr lang="en-US">
                <a:solidFill>
                  <a:srgbClr val="38761D"/>
                </a:solidFill>
              </a:rPr>
            </a:br>
            <a:r>
              <a:rPr lang="en-US">
                <a:solidFill>
                  <a:srgbClr val="38761D"/>
                </a:solidFill>
              </a:rPr>
              <a:t>Domain Separation Via Firewall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176" name="Google Shape;176;g32ee3d7a585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975" y="1538167"/>
            <a:ext cx="8499810" cy="5187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Faisal Bin Ashraf</dc:creator>
</cp:coreProperties>
</file>