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9144000" cx="13716000"/>
  <p:notesSz cx="6997700" cy="9283700"/>
  <p:embeddedFontLst>
    <p:embeddedFont>
      <p:font typeface="Economica"/>
      <p:regular r:id="rId34"/>
      <p:bold r:id="rId35"/>
      <p:italic r:id="rId36"/>
      <p:boldItalic r:id="rId37"/>
    </p:embeddedFont>
    <p:embeddedFont>
      <p:font typeface="Spectral"/>
      <p:regular r:id="rId38"/>
      <p:bold r:id="rId39"/>
      <p:italic r:id="rId40"/>
      <p:boldItalic r:id="rId41"/>
    </p:embeddedFont>
    <p:embeddedFont>
      <p:font typeface="Helvetica Neue"/>
      <p:regular r:id="rId42"/>
      <p:bold r:id="rId43"/>
      <p:italic r:id="rId44"/>
      <p:boldItalic r:id="rId45"/>
    </p:embeddedFont>
    <p:embeddedFont>
      <p:font typeface="Cambria Math"/>
      <p:regular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17">
          <p15:clr>
            <a:srgbClr val="A4A3A4"/>
          </p15:clr>
        </p15:guide>
        <p15:guide id="2" pos="197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jILu5+s0P7OWFUkHhqWVqfRw02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0DBFE1-07CF-471F-BEF1-6666BD2BC075}">
  <a:tblStyle styleId="{A30DBFE1-07CF-471F-BEF1-6666BD2BC07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17" orient="horz"/>
        <p:guide pos="19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ectral-italic.fntdata"/><Relationship Id="rId42" Type="http://schemas.openxmlformats.org/officeDocument/2006/relationships/font" Target="fonts/HelveticaNeue-regular.fntdata"/><Relationship Id="rId41" Type="http://schemas.openxmlformats.org/officeDocument/2006/relationships/font" Target="fonts/Spectral-boldItalic.fntdata"/><Relationship Id="rId44" Type="http://schemas.openxmlformats.org/officeDocument/2006/relationships/font" Target="fonts/HelveticaNeue-italic.fntdata"/><Relationship Id="rId43" Type="http://schemas.openxmlformats.org/officeDocument/2006/relationships/font" Target="fonts/HelveticaNeue-bold.fntdata"/><Relationship Id="rId46" Type="http://schemas.openxmlformats.org/officeDocument/2006/relationships/font" Target="fonts/CambriaMath-regular.fntdata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Economica-bold.fntdata"/><Relationship Id="rId34" Type="http://schemas.openxmlformats.org/officeDocument/2006/relationships/font" Target="fonts/Economica-regular.fntdata"/><Relationship Id="rId37" Type="http://schemas.openxmlformats.org/officeDocument/2006/relationships/font" Target="fonts/Economica-boldItalic.fntdata"/><Relationship Id="rId36" Type="http://schemas.openxmlformats.org/officeDocument/2006/relationships/font" Target="fonts/Economica-italic.fntdata"/><Relationship Id="rId39" Type="http://schemas.openxmlformats.org/officeDocument/2006/relationships/font" Target="fonts/Spectral-bold.fntdata"/><Relationship Id="rId38" Type="http://schemas.openxmlformats.org/officeDocument/2006/relationships/font" Target="fonts/Spectral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customschemas.google.com/relationships/presentationmetadata" Target="metadata"/><Relationship Id="rId5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05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7163" y="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053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0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22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24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2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25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25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26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2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27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2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Partitions ready queue into several queues.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28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/>
          <p:nvPr>
            <p:ph idx="12" type="sldNum"/>
          </p:nvPr>
        </p:nvSpPr>
        <p:spPr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29:notes"/>
          <p:cNvSpPr/>
          <p:nvPr>
            <p:ph idx="2" type="sldImg"/>
          </p:nvPr>
        </p:nvSpPr>
        <p:spPr>
          <a:xfrm>
            <a:off x="890588" y="696913"/>
            <a:ext cx="521970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2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2f63de4166_0_27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g32f63de4166_0_27:notes"/>
          <p:cNvSpPr/>
          <p:nvPr>
            <p:ph idx="2" type="sldImg"/>
          </p:nvPr>
        </p:nvSpPr>
        <p:spPr>
          <a:xfrm>
            <a:off x="890588" y="696913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32f63de4166_0_27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3058e9aee4_0_255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g33058e9aee4_0_255:notes"/>
          <p:cNvSpPr/>
          <p:nvPr>
            <p:ph idx="2" type="sldImg"/>
          </p:nvPr>
        </p:nvSpPr>
        <p:spPr>
          <a:xfrm>
            <a:off x="890588" y="696913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3058e9aee4_0_255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3058e9aee4_0_520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g33058e9aee4_0_520:notes"/>
          <p:cNvSpPr/>
          <p:nvPr>
            <p:ph idx="2" type="sldImg"/>
          </p:nvPr>
        </p:nvSpPr>
        <p:spPr>
          <a:xfrm>
            <a:off x="890588" y="696913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g33058e9aee4_0_520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1ffe22e3d_1_0:notes"/>
          <p:cNvSpPr txBox="1"/>
          <p:nvPr>
            <p:ph idx="12" type="sldNum"/>
          </p:nvPr>
        </p:nvSpPr>
        <p:spPr>
          <a:xfrm>
            <a:off x="3967163" y="8820150"/>
            <a:ext cx="3030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00" spcFirstLastPara="1" rIns="93000" wrap="square" tIns="46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9" name="Google Shape;669;g331ffe22e3d_1_0:notes"/>
          <p:cNvSpPr/>
          <p:nvPr>
            <p:ph idx="2" type="sldImg"/>
          </p:nvPr>
        </p:nvSpPr>
        <p:spPr>
          <a:xfrm>
            <a:off x="890588" y="696913"/>
            <a:ext cx="52197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g331ffe22e3d_1_0:notes"/>
          <p:cNvSpPr txBox="1"/>
          <p:nvPr>
            <p:ph idx="1" type="body"/>
          </p:nvPr>
        </p:nvSpPr>
        <p:spPr>
          <a:xfrm>
            <a:off x="931863" y="4410075"/>
            <a:ext cx="5133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00" lIns="93000" spcFirstLastPara="1" rIns="93000" wrap="square" tIns="4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/>
          <p:nvPr/>
        </p:nvSpPr>
        <p:spPr>
          <a:xfrm>
            <a:off x="4116019" y="1345244"/>
            <a:ext cx="1622438" cy="199993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p31"/>
          <p:cNvSpPr/>
          <p:nvPr/>
        </p:nvSpPr>
        <p:spPr>
          <a:xfrm rot="10800000">
            <a:off x="7977525" y="5807486"/>
            <a:ext cx="1622438" cy="199993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" name="Google Shape;16;p31"/>
          <p:cNvSpPr txBox="1"/>
          <p:nvPr>
            <p:ph type="ctrTitle"/>
          </p:nvPr>
        </p:nvSpPr>
        <p:spPr>
          <a:xfrm>
            <a:off x="4567050" y="2567565"/>
            <a:ext cx="45819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4567050" y="5540587"/>
            <a:ext cx="4581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Economica"/>
              <a:buNone/>
              <a:defRPr sz="33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type="title"/>
          </p:nvPr>
        </p:nvSpPr>
        <p:spPr>
          <a:xfrm>
            <a:off x="685800" y="369888"/>
            <a:ext cx="123444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" type="body"/>
          </p:nvPr>
        </p:nvSpPr>
        <p:spPr>
          <a:xfrm>
            <a:off x="1209675" y="1644650"/>
            <a:ext cx="123444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>
            <a:lvl1pPr indent="-331470" lvl="0" marL="4572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440"/>
              <a:buChar char="○"/>
              <a:defRPr/>
            </a:lvl2pPr>
            <a:lvl3pPr indent="-314325" lvl="2" marL="13716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3"/>
          <p:cNvSpPr txBox="1"/>
          <p:nvPr>
            <p:ph type="title"/>
          </p:nvPr>
        </p:nvSpPr>
        <p:spPr>
          <a:xfrm>
            <a:off x="467550" y="561644"/>
            <a:ext cx="12780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/>
          <p:nvPr/>
        </p:nvSpPr>
        <p:spPr>
          <a:xfrm flipH="1">
            <a:off x="11393906" y="818178"/>
            <a:ext cx="1622438" cy="199993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" name="Google Shape;27;p34"/>
          <p:cNvSpPr/>
          <p:nvPr/>
        </p:nvSpPr>
        <p:spPr>
          <a:xfrm flipH="1" rot="10800000">
            <a:off x="699638" y="6325886"/>
            <a:ext cx="1622438" cy="199993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8" name="Google Shape;28;p34"/>
          <p:cNvSpPr txBox="1"/>
          <p:nvPr>
            <p:ph type="title"/>
          </p:nvPr>
        </p:nvSpPr>
        <p:spPr>
          <a:xfrm>
            <a:off x="1160550" y="3211467"/>
            <a:ext cx="11394900" cy="27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/>
          <p:nvPr/>
        </p:nvSpPr>
        <p:spPr>
          <a:xfrm>
            <a:off x="0" y="8970133"/>
            <a:ext cx="13716000" cy="17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5600" lIns="145600" spcFirstLastPara="1" rIns="145600" wrap="square" tIns="14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5"/>
          <p:cNvSpPr txBox="1"/>
          <p:nvPr>
            <p:ph type="title"/>
          </p:nvPr>
        </p:nvSpPr>
        <p:spPr>
          <a:xfrm>
            <a:off x="467550" y="561644"/>
            <a:ext cx="12780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467550" y="2178178"/>
            <a:ext cx="12780900" cy="59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467550" y="561644"/>
            <a:ext cx="12780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467550" y="2178178"/>
            <a:ext cx="5999700" cy="59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8" name="Google Shape;38;p36"/>
          <p:cNvSpPr txBox="1"/>
          <p:nvPr>
            <p:ph idx="2" type="body"/>
          </p:nvPr>
        </p:nvSpPr>
        <p:spPr>
          <a:xfrm>
            <a:off x="7248600" y="2178178"/>
            <a:ext cx="5999700" cy="59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67550" y="987733"/>
            <a:ext cx="4212000" cy="13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67550" y="2487822"/>
            <a:ext cx="4212000" cy="49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/>
          <p:nvPr/>
        </p:nvSpPr>
        <p:spPr>
          <a:xfrm>
            <a:off x="0" y="8970133"/>
            <a:ext cx="13716000" cy="17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5600" lIns="145600" spcFirstLastPara="1" rIns="145600" wrap="square" tIns="14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8"/>
          <p:cNvSpPr txBox="1"/>
          <p:nvPr>
            <p:ph type="title"/>
          </p:nvPr>
        </p:nvSpPr>
        <p:spPr>
          <a:xfrm>
            <a:off x="735375" y="800267"/>
            <a:ext cx="8818200" cy="72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/>
          <p:nvPr/>
        </p:nvSpPr>
        <p:spPr>
          <a:xfrm>
            <a:off x="6858000" y="-44"/>
            <a:ext cx="6858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5600" lIns="145600" spcFirstLastPara="1" rIns="145600" wrap="square" tIns="14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9"/>
          <p:cNvCxnSpPr/>
          <p:nvPr/>
        </p:nvCxnSpPr>
        <p:spPr>
          <a:xfrm>
            <a:off x="7544513" y="7992000"/>
            <a:ext cx="70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9"/>
          <p:cNvSpPr txBox="1"/>
          <p:nvPr>
            <p:ph type="title"/>
          </p:nvPr>
        </p:nvSpPr>
        <p:spPr>
          <a:xfrm>
            <a:off x="398250" y="1652044"/>
            <a:ext cx="60678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7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" name="Google Shape;52;p39"/>
          <p:cNvSpPr txBox="1"/>
          <p:nvPr>
            <p:ph idx="1" type="subTitle"/>
          </p:nvPr>
        </p:nvSpPr>
        <p:spPr>
          <a:xfrm>
            <a:off x="398250" y="4922668"/>
            <a:ext cx="6067800" cy="27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2" type="body"/>
          </p:nvPr>
        </p:nvSpPr>
        <p:spPr>
          <a:xfrm>
            <a:off x="7409250" y="1287467"/>
            <a:ext cx="5755500" cy="6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39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479250" y="7500311"/>
            <a:ext cx="89982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Economica"/>
              <a:buNone/>
              <a:defRPr sz="38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/>
          <p:nvPr/>
        </p:nvSpPr>
        <p:spPr>
          <a:xfrm>
            <a:off x="0" y="8970133"/>
            <a:ext cx="13716000" cy="17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5600" lIns="145600" spcFirstLastPara="1" rIns="145600" wrap="square" tIns="14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1"/>
          <p:cNvSpPr txBox="1"/>
          <p:nvPr>
            <p:ph hasCustomPrompt="1" type="title"/>
          </p:nvPr>
        </p:nvSpPr>
        <p:spPr>
          <a:xfrm>
            <a:off x="467550" y="1701556"/>
            <a:ext cx="127809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0"/>
              <a:buNone/>
              <a:defRPr sz="25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41"/>
          <p:cNvSpPr txBox="1"/>
          <p:nvPr>
            <p:ph idx="1" type="body"/>
          </p:nvPr>
        </p:nvSpPr>
        <p:spPr>
          <a:xfrm>
            <a:off x="467550" y="5621333"/>
            <a:ext cx="12780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indent="-412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467550" y="561644"/>
            <a:ext cx="12780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600" lIns="145600" spcFirstLastPara="1" rIns="145600" wrap="square" tIns="1456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Economica"/>
              <a:buNone/>
              <a:defRPr b="0" i="0" sz="67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467550" y="2178178"/>
            <a:ext cx="12780900" cy="59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600" lIns="145600" spcFirstLastPara="1" rIns="145600" wrap="square" tIns="145600">
            <a:normAutofit/>
          </a:bodyPr>
          <a:lstStyle>
            <a:lvl1pPr indent="-412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●"/>
              <a:defRPr b="0" i="0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○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■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●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○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■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●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○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■"/>
              <a:defRPr b="0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12708687" y="8290163"/>
            <a:ext cx="822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600" lIns="145600" spcFirstLastPara="1" rIns="145600" wrap="square" tIns="1456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4567050" y="3783596"/>
            <a:ext cx="45819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CPU Scheduling</a:t>
            </a:r>
            <a:endParaRPr b="1" sz="4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685800" y="577232"/>
            <a:ext cx="123444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Basic Concepts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1262063" y="1700213"/>
            <a:ext cx="11028362" cy="5782938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-48133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Maximum CPU utilization obtained with multiprogramming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32893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133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Continuous Cycle :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18147" lvl="1" marL="10604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one process has to wait (I/O)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18147" lvl="1" marL="10604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Operating system takes the CPU away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18147" lvl="1" marL="10604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Give CPU to another process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18147" lvl="1" marL="10604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This pattern continues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32893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133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CPU–I/O Burst Cycle : Process execution consists of a 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cycle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of CPU execution and I/O wait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78" name="Google Shape;78;p2"/>
          <p:cNvGrpSpPr/>
          <p:nvPr/>
        </p:nvGrpSpPr>
        <p:grpSpPr>
          <a:xfrm>
            <a:off x="11062784" y="1813887"/>
            <a:ext cx="2239518" cy="4557480"/>
            <a:chOff x="11075310" y="1776309"/>
            <a:chExt cx="2239518" cy="4557480"/>
          </a:xfrm>
        </p:grpSpPr>
        <p:sp>
          <p:nvSpPr>
            <p:cNvPr id="79" name="Google Shape;79;p2"/>
            <p:cNvSpPr/>
            <p:nvPr/>
          </p:nvSpPr>
          <p:spPr>
            <a:xfrm>
              <a:off x="11075310" y="1776309"/>
              <a:ext cx="1760415" cy="1416888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" name="Google Shape;80;p2"/>
            <p:cNvGrpSpPr/>
            <p:nvPr/>
          </p:nvGrpSpPr>
          <p:grpSpPr>
            <a:xfrm>
              <a:off x="11122408" y="1910507"/>
              <a:ext cx="2192420" cy="4423282"/>
              <a:chOff x="11261031" y="1860403"/>
              <a:chExt cx="2192420" cy="4423282"/>
            </a:xfrm>
          </p:grpSpPr>
          <p:sp>
            <p:nvSpPr>
              <p:cNvPr id="81" name="Google Shape;81;p2"/>
              <p:cNvSpPr/>
              <p:nvPr/>
            </p:nvSpPr>
            <p:spPr>
              <a:xfrm>
                <a:off x="11395322" y="5006031"/>
                <a:ext cx="1374797" cy="1277654"/>
              </a:xfrm>
              <a:prstGeom prst="frame">
                <a:avLst>
                  <a:gd fmla="val 12500" name="adj1"/>
                </a:avLst>
              </a:prstGeom>
              <a:gradFill>
                <a:gsLst>
                  <a:gs pos="0">
                    <a:srgbClr val="BDD5E1"/>
                  </a:gs>
                  <a:gs pos="35000">
                    <a:srgbClr val="D2E1E7"/>
                  </a:gs>
                  <a:gs pos="100000">
                    <a:srgbClr val="ECF3F6"/>
                  </a:gs>
                </a:gsLst>
                <a:lin ang="16200000" scaled="0"/>
              </a:gradFill>
              <a:ln cap="flat" cmpd="sng" w="9525">
                <a:solidFill>
                  <a:srgbClr val="748C98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Processor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788187" y="2565956"/>
                <a:ext cx="475989" cy="501041"/>
              </a:xfrm>
              <a:prstGeom prst="donut">
                <a:avLst>
                  <a:gd fmla="val 25000" name="adj"/>
                </a:avLst>
              </a:prstGeom>
              <a:solidFill>
                <a:schemeClr val="accent3"/>
              </a:solidFill>
              <a:ln cap="flat" cmpd="sng" w="25400">
                <a:solidFill>
                  <a:srgbClr val="3F886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1951659" y="1860403"/>
                <a:ext cx="475989" cy="501041"/>
              </a:xfrm>
              <a:prstGeom prst="donut">
                <a:avLst>
                  <a:gd fmla="val 25000" name="adj"/>
                </a:avLst>
              </a:prstGeom>
              <a:solidFill>
                <a:schemeClr val="accent4"/>
              </a:solidFill>
              <a:ln cap="flat" cmpd="sng" w="25400">
                <a:solidFill>
                  <a:srgbClr val="5769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2345745" y="2434649"/>
                <a:ext cx="475989" cy="501041"/>
              </a:xfrm>
              <a:prstGeom prst="donut">
                <a:avLst>
                  <a:gd fmla="val 25000" name="adj"/>
                </a:avLst>
              </a:prstGeom>
              <a:solidFill>
                <a:schemeClr val="accent6"/>
              </a:solidFill>
              <a:ln cap="flat" cmpd="sng" w="25400">
                <a:solidFill>
                  <a:srgbClr val="A0A83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1338447" y="1999802"/>
                <a:ext cx="475989" cy="501041"/>
              </a:xfrm>
              <a:prstGeom prst="donut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25400">
                <a:solidFill>
                  <a:srgbClr val="432E2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1974566" y="4034657"/>
                <a:ext cx="288175" cy="675973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lt1"/>
              </a:solidFill>
              <a:ln cap="flat" cmpd="sng" w="254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"/>
              <p:cNvSpPr txBox="1"/>
              <p:nvPr/>
            </p:nvSpPr>
            <p:spPr>
              <a:xfrm>
                <a:off x="12197979" y="4100981"/>
                <a:ext cx="12554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Schedule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"/>
              <p:cNvSpPr txBox="1"/>
              <p:nvPr/>
            </p:nvSpPr>
            <p:spPr>
              <a:xfrm>
                <a:off x="11261031" y="3113431"/>
                <a:ext cx="1873895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Processes in Ready Queue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1257300" y="369905"/>
            <a:ext cx="117729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1186100" y="1629250"/>
            <a:ext cx="11514000" cy="6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Autofit/>
          </a:bodyPr>
          <a:lstStyle/>
          <a:p>
            <a:pPr indent="-478402" lvl="0" marL="48983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Selects from among the processes in ready queue, and allocates the CPU to one of them</a:t>
            </a:r>
            <a:endParaRPr b="1" sz="1800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FIFO queue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Priority queue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Tree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Unordered linked-list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78402" lvl="0" marL="48983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CPU scheduling decisions may take place when a process:</a:t>
            </a:r>
            <a:endParaRPr b="1" sz="1800">
              <a:latin typeface="Spectral"/>
              <a:ea typeface="Spectral"/>
              <a:cs typeface="Spectral"/>
              <a:sym typeface="Spectral"/>
            </a:endParaRPr>
          </a:p>
          <a:p>
            <a:pPr indent="-489833" lvl="1" marL="114294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800">
                <a:solidFill>
                  <a:srgbClr val="CC6600"/>
                </a:solidFill>
                <a:latin typeface="Spectral"/>
                <a:ea typeface="Spectral"/>
                <a:cs typeface="Spectral"/>
                <a:sym typeface="Spectral"/>
              </a:rPr>
              <a:t>1.	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Switches from running to waiting state (I/O request)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89833" lvl="1" marL="114294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800">
                <a:solidFill>
                  <a:srgbClr val="CC6600"/>
                </a:solidFill>
                <a:latin typeface="Spectral"/>
                <a:ea typeface="Spectral"/>
                <a:cs typeface="Spectral"/>
                <a:sym typeface="Spectral"/>
              </a:rPr>
              <a:t>2.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	Switches from running to ready state (e.g. when interrupt occurs)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89833" lvl="1" marL="114294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rPr lang="en-US" sz="1800">
                <a:solidFill>
                  <a:srgbClr val="CC6600"/>
                </a:solidFill>
                <a:latin typeface="Spectral"/>
                <a:ea typeface="Spectral"/>
                <a:cs typeface="Spectral"/>
                <a:sym typeface="Spectral"/>
              </a:rPr>
              <a:t>3.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	Switches from waiting to ready (e.g. at completion of I/O)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92373" lvl="1" marL="114294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AutoNum type="arabicPeriod" startAt="4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Terminates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78402" lvl="0" marL="48983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Scheduling under 1 and 4 is </a:t>
            </a:r>
            <a:r>
              <a:rPr b="1" i="1" lang="en-US" sz="1800" u="sng">
                <a:latin typeface="Spectral"/>
                <a:ea typeface="Spectral"/>
                <a:cs typeface="Spectral"/>
                <a:sym typeface="Spectral"/>
              </a:rPr>
              <a:t>nonpreemptive</a:t>
            </a:r>
            <a:endParaRPr b="1" i="1" sz="1800" u="sng">
              <a:latin typeface="Spectral"/>
              <a:ea typeface="Spectral"/>
              <a:cs typeface="Spectral"/>
              <a:sym typeface="Spectral"/>
            </a:endParaRPr>
          </a:p>
          <a:p>
            <a:pPr indent="-478402" lvl="0" marL="489833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All other scheduling is </a:t>
            </a:r>
            <a:r>
              <a:rPr b="1" i="1" lang="en-US" sz="1800" u="sng">
                <a:latin typeface="Spectral"/>
                <a:ea typeface="Spectral"/>
                <a:cs typeface="Spectral"/>
                <a:sym typeface="Spectral"/>
              </a:rPr>
              <a:t>preemptive</a:t>
            </a:r>
            <a:endParaRPr i="1" sz="1800" u="sng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Consider access to shared data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Consider preemption while in kernel mode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10734" lvl="1" marL="1061304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Consider interrupts occurring during crucial OS activities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485900" y="369905"/>
            <a:ext cx="11544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1075350" y="1603113"/>
            <a:ext cx="11457000" cy="6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Autofit/>
          </a:bodyPr>
          <a:lstStyle/>
          <a:p>
            <a:pPr indent="-46609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CPU utilization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– keep the CPU as busy as possible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517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660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Throughput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 – # of processes that complete their execution per time unit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517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660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Turnaround time </a:t>
            </a:r>
            <a:br>
              <a:rPr b="1" lang="en-US" sz="1800">
                <a:latin typeface="Spectral"/>
                <a:ea typeface="Spectral"/>
                <a:cs typeface="Spectral"/>
                <a:sym typeface="Spectral"/>
              </a:rPr>
            </a:b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– amount of time to execute a particular process</a:t>
            </a:r>
            <a:br>
              <a:rPr lang="en-US" sz="1800">
                <a:latin typeface="Spectral"/>
                <a:ea typeface="Spectral"/>
                <a:cs typeface="Spectral"/>
                <a:sym typeface="Spectral"/>
              </a:rPr>
            </a:b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-- the interval from the time of submission of a process to the time of the completion.</a:t>
            </a:r>
            <a:br>
              <a:rPr lang="en-US" sz="1800">
                <a:latin typeface="Spectral"/>
                <a:ea typeface="Spectral"/>
                <a:cs typeface="Spectral"/>
                <a:sym typeface="Spectral"/>
              </a:rPr>
            </a:b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-- sum of the periods spent waiting to get into memory, waiting in the ready queue, executing on the                            CPU, doing I/O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517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660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Waiting time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– amount of time a process has been waiting in the ready queue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517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466090" lvl="0" marL="48895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Spectral"/>
                <a:ea typeface="Spectral"/>
                <a:cs typeface="Spectral"/>
                <a:sym typeface="Spectral"/>
              </a:rPr>
              <a:t>Response time </a:t>
            </a:r>
            <a:r>
              <a:rPr lang="en-US" sz="1800">
                <a:latin typeface="Spectral"/>
                <a:ea typeface="Spectral"/>
                <a:cs typeface="Spectral"/>
                <a:sym typeface="Spectral"/>
              </a:rPr>
              <a:t>– amount of time it takes from when a request was submitted until the first response is produced, not output  (for time-sharing environment)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723900" y="369908"/>
            <a:ext cx="115443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6000"/>
              <a:t>Scheduling Algorithm Optimization Criteria</a:t>
            </a:r>
            <a:endParaRPr sz="6000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723900" y="2049088"/>
            <a:ext cx="11026800" cy="5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-48895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20"/>
              <a:buFont typeface="Spectral"/>
              <a:buChar char="●"/>
            </a:pPr>
            <a:r>
              <a:rPr lang="en-US" sz="2800">
                <a:latin typeface="Spectral"/>
                <a:ea typeface="Spectral"/>
                <a:cs typeface="Spectral"/>
                <a:sym typeface="Spectral"/>
              </a:rPr>
              <a:t>Max CPU utilization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520"/>
              <a:buFont typeface="Spectral"/>
              <a:buChar char="●"/>
            </a:pPr>
            <a:r>
              <a:rPr lang="en-US" sz="2800">
                <a:latin typeface="Spectral"/>
                <a:ea typeface="Spectral"/>
                <a:cs typeface="Spectral"/>
                <a:sym typeface="Spectral"/>
              </a:rPr>
              <a:t>Max throughput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520"/>
              <a:buFont typeface="Spectral"/>
              <a:buChar char="●"/>
            </a:pPr>
            <a:r>
              <a:rPr lang="en-US" sz="2800">
                <a:latin typeface="Spectral"/>
                <a:ea typeface="Spectral"/>
                <a:cs typeface="Spectral"/>
                <a:sym typeface="Spectral"/>
              </a:rPr>
              <a:t>Min turnaround time 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520"/>
              <a:buFont typeface="Spectral"/>
              <a:buChar char="●"/>
            </a:pPr>
            <a:r>
              <a:rPr lang="en-US" sz="2800">
                <a:latin typeface="Spectral"/>
                <a:ea typeface="Spectral"/>
                <a:cs typeface="Spectral"/>
                <a:sym typeface="Spectral"/>
              </a:rPr>
              <a:t>Min waiting time 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980"/>
              </a:spcBef>
              <a:spcAft>
                <a:spcPts val="0"/>
              </a:spcAft>
              <a:buSzPts val="2520"/>
              <a:buFont typeface="Spectral"/>
              <a:buChar char="●"/>
            </a:pPr>
            <a:r>
              <a:rPr lang="en-US" sz="2800">
                <a:latin typeface="Spectral"/>
                <a:ea typeface="Spectral"/>
                <a:cs typeface="Spectral"/>
                <a:sym typeface="Spectral"/>
              </a:rPr>
              <a:t>Min response time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ctrTitle"/>
          </p:nvPr>
        </p:nvSpPr>
        <p:spPr>
          <a:xfrm>
            <a:off x="3289350" y="2985075"/>
            <a:ext cx="71373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CPU Scheduling Algorithms -</a:t>
            </a:r>
            <a:endParaRPr b="1" sz="4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First Come First Serve (FCFS)</a:t>
            </a:r>
            <a:endParaRPr b="1" sz="4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919575" y="498000"/>
            <a:ext cx="12006300" cy="9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6000"/>
              <a:t>First-Come, First-Served (FCFS) Scheduling</a:t>
            </a:r>
            <a:endParaRPr sz="6000"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919575" y="3827750"/>
            <a:ext cx="5556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Font typeface="Arial"/>
              <a:buNone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The Gantt Chart for the schedule is: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23" name="Google Shape;123;p7"/>
          <p:cNvGraphicFramePr/>
          <p:nvPr/>
        </p:nvGraphicFramePr>
        <p:xfrm>
          <a:off x="919575" y="161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2153600"/>
                <a:gridCol w="2153600"/>
                <a:gridCol w="2153600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Process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Arrival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Burst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1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2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3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4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7"/>
          <p:cNvSpPr/>
          <p:nvPr/>
        </p:nvSpPr>
        <p:spPr>
          <a:xfrm>
            <a:off x="1088500" y="4349750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783300" y="4349750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478100" y="4349750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172900" y="4349750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baseline="-2500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7"/>
          <p:cNvSpPr txBox="1"/>
          <p:nvPr/>
        </p:nvSpPr>
        <p:spPr>
          <a:xfrm flipH="1">
            <a:off x="919565" y="50522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 flipH="1">
            <a:off x="1689490" y="50522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/>
        </p:nvSpPr>
        <p:spPr>
          <a:xfrm flipH="1">
            <a:off x="2169311" y="5052275"/>
            <a:ext cx="5961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/>
        </p:nvSpPr>
        <p:spPr>
          <a:xfrm flipH="1">
            <a:off x="2867732" y="5052275"/>
            <a:ext cx="5193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 flipH="1">
            <a:off x="3558105" y="5052275"/>
            <a:ext cx="5193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7"/>
          <p:cNvCxnSpPr/>
          <p:nvPr/>
        </p:nvCxnSpPr>
        <p:spPr>
          <a:xfrm>
            <a:off x="7740450" y="1556425"/>
            <a:ext cx="55500" cy="668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7"/>
          <p:cNvSpPr txBox="1"/>
          <p:nvPr/>
        </p:nvSpPr>
        <p:spPr>
          <a:xfrm flipH="1">
            <a:off x="8342015" y="204080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 flipH="1">
            <a:off x="8318990" y="536750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/>
        </p:nvSpPr>
        <p:spPr>
          <a:xfrm flipH="1">
            <a:off x="8176961" y="6321200"/>
            <a:ext cx="5961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 txBox="1"/>
          <p:nvPr/>
        </p:nvSpPr>
        <p:spPr>
          <a:xfrm flipH="1">
            <a:off x="8271307" y="7207050"/>
            <a:ext cx="5193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 flipH="1">
            <a:off x="8215355" y="8228600"/>
            <a:ext cx="5193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238375" y="1427700"/>
            <a:ext cx="2696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Ready Queue</a:t>
            </a:r>
            <a:endParaRPr b="0" i="0" sz="29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870175" y="2040800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(8)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868600" y="531962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563400" y="531962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847150" y="6209488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790600" y="7099350"/>
            <a:ext cx="13896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baseline="-2500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847150" y="8120900"/>
            <a:ext cx="13896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baseline="-25000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7"/>
          <p:cNvSpPr txBox="1"/>
          <p:nvPr/>
        </p:nvSpPr>
        <p:spPr>
          <a:xfrm flipH="1">
            <a:off x="8342015" y="28060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 flipH="1">
            <a:off x="8342015" y="3573143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 flipH="1">
            <a:off x="8342015" y="43383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868600" y="278657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868600" y="355227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563400" y="355227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868600" y="426682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9563400" y="426682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258200" y="4266825"/>
            <a:ext cx="694800" cy="58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ctrTitle"/>
          </p:nvPr>
        </p:nvSpPr>
        <p:spPr>
          <a:xfrm>
            <a:off x="3289350" y="2985075"/>
            <a:ext cx="71373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CPU Scheduling Algorithms -</a:t>
            </a:r>
            <a:endParaRPr b="1" sz="4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Shortest Job First (SJF)</a:t>
            </a:r>
            <a:endParaRPr b="1" sz="4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685800" y="369909"/>
            <a:ext cx="123444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685800" y="1970375"/>
            <a:ext cx="123444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-48895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Associate with each process the length of its next CPU burst.  Use these lengths to schedule the process with the shortest time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91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Two schemes: 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28307" lvl="1" marL="1060450" rtl="0" algn="l">
              <a:lnSpc>
                <a:spcPct val="115000"/>
              </a:lnSpc>
              <a:spcBef>
                <a:spcPts val="910"/>
              </a:spcBef>
              <a:spcAft>
                <a:spcPts val="0"/>
              </a:spcAft>
              <a:buSzPts val="2400"/>
              <a:buChar char="○"/>
            </a:pPr>
            <a:r>
              <a:rPr b="1" lang="en-US" sz="2400">
                <a:latin typeface="Spectral"/>
                <a:ea typeface="Spectral"/>
                <a:cs typeface="Spectral"/>
                <a:sym typeface="Spectral"/>
              </a:rPr>
              <a:t>Non-preemptive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– once CPU given to the process it cannot be preempted until completes its CPU burst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28307" lvl="1" marL="1060450" rtl="0" algn="l">
              <a:lnSpc>
                <a:spcPct val="115000"/>
              </a:lnSpc>
              <a:spcBef>
                <a:spcPts val="910"/>
              </a:spcBef>
              <a:spcAft>
                <a:spcPts val="0"/>
              </a:spcAft>
              <a:buSzPts val="2400"/>
              <a:buChar char="○"/>
            </a:pPr>
            <a:r>
              <a:rPr b="1" lang="en-US" sz="2400">
                <a:latin typeface="Spectral"/>
                <a:ea typeface="Spectral"/>
                <a:cs typeface="Spectral"/>
                <a:sym typeface="Spectral"/>
              </a:rPr>
              <a:t>preemptive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– if a new process arrives with CPU burst length less than remaining time of current executing process, preempt.  This scheme is known as the </a:t>
            </a:r>
            <a:br>
              <a:rPr lang="en-US" sz="2400">
                <a:latin typeface="Spectral"/>
                <a:ea typeface="Spectral"/>
                <a:cs typeface="Spectral"/>
                <a:sym typeface="Spectral"/>
              </a:rPr>
            </a:b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Shortest-Remaining-Time-First (SRTF)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91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 u="sng">
                <a:latin typeface="Spectral"/>
                <a:ea typeface="Spectral"/>
                <a:cs typeface="Spectral"/>
                <a:sym typeface="Spectral"/>
              </a:rPr>
              <a:t>SJF is optimal 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– gives minimum average waiting time for a given set of processes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896700" y="369900"/>
            <a:ext cx="121335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6000"/>
              <a:t>Example of Shortest-remaining-time-first</a:t>
            </a:r>
            <a:endParaRPr sz="6000"/>
          </a:p>
        </p:txBody>
      </p:sp>
      <p:sp>
        <p:nvSpPr>
          <p:cNvPr id="173" name="Google Shape;173;p15"/>
          <p:cNvSpPr/>
          <p:nvPr/>
        </p:nvSpPr>
        <p:spPr>
          <a:xfrm>
            <a:off x="1235763" y="4473675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2013968" y="4473675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2792167" y="4462613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baseline="-2500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3570366" y="4462613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4348566" y="4473675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 flipH="1">
            <a:off x="1074265" y="527550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 flipH="1">
            <a:off x="1889713" y="527550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 flipH="1">
            <a:off x="2603734" y="5297613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 flipH="1">
            <a:off x="3317714" y="5275525"/>
            <a:ext cx="4824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 flipH="1">
            <a:off x="4061939" y="5297625"/>
            <a:ext cx="4824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 flipH="1">
            <a:off x="4806164" y="5297625"/>
            <a:ext cx="4824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15"/>
          <p:cNvGraphicFramePr/>
          <p:nvPr/>
        </p:nvGraphicFramePr>
        <p:xfrm>
          <a:off x="1074275" y="154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615200"/>
                <a:gridCol w="1615200"/>
                <a:gridCol w="1615200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Process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Arrival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Burst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1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2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3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4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5"/>
          <p:cNvSpPr txBox="1"/>
          <p:nvPr/>
        </p:nvSpPr>
        <p:spPr>
          <a:xfrm>
            <a:off x="1074275" y="3831425"/>
            <a:ext cx="2333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Gantt Chart:</a:t>
            </a:r>
            <a:endParaRPr b="0" i="0" sz="2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6" name="Google Shape;186;p15"/>
          <p:cNvCxnSpPr/>
          <p:nvPr/>
        </p:nvCxnSpPr>
        <p:spPr>
          <a:xfrm>
            <a:off x="6698200" y="1625900"/>
            <a:ext cx="55500" cy="700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5"/>
          <p:cNvSpPr txBox="1"/>
          <p:nvPr/>
        </p:nvSpPr>
        <p:spPr>
          <a:xfrm flipH="1">
            <a:off x="7341190" y="22733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 flipH="1">
            <a:off x="7341188" y="313032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 flipH="1">
            <a:off x="7426422" y="5916163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 flipH="1">
            <a:off x="7341202" y="6979375"/>
            <a:ext cx="4824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 flipH="1">
            <a:off x="7341202" y="8098100"/>
            <a:ext cx="4824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 flipH="1">
            <a:off x="9952102" y="8098100"/>
            <a:ext cx="4824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7256000" y="1529088"/>
            <a:ext cx="2696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Ready Queue</a:t>
            </a:r>
            <a:endParaRPr b="0" i="0" sz="29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7877903" y="2188625"/>
            <a:ext cx="9780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(8)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7893018" y="305575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7978225" y="585295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8756429" y="586110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7978229" y="6836338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7963120" y="7898350"/>
            <a:ext cx="14037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baseline="-2500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10589145" y="7934900"/>
            <a:ext cx="14037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flipH="1">
            <a:off x="7341188" y="405525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7893018" y="3980675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8643216" y="398065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 flipH="1">
            <a:off x="7313200" y="499137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7865031" y="491680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8625779" y="491680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9403979" y="491680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 flipH="1">
            <a:off x="9247965" y="22733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9784674" y="2188625"/>
            <a:ext cx="11931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 flipH="1">
            <a:off x="9247963" y="315922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9799793" y="3084650"/>
            <a:ext cx="778200" cy="69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2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ctrTitle"/>
          </p:nvPr>
        </p:nvSpPr>
        <p:spPr>
          <a:xfrm>
            <a:off x="3289350" y="2985075"/>
            <a:ext cx="71373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CPU Scheduling Algorithms -</a:t>
            </a:r>
            <a:endParaRPr b="1" sz="4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Priority Scheduling</a:t>
            </a:r>
            <a:endParaRPr b="1" sz="4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932100" y="369900"/>
            <a:ext cx="12098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932100" y="1644650"/>
            <a:ext cx="118488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 fontScale="92500" lnSpcReduction="20000"/>
          </a:bodyPr>
          <a:lstStyle/>
          <a:p>
            <a:pPr indent="-473587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 priority number (integer) is associated with each process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26085" lvl="0" marL="488950" rtl="0" algn="l">
              <a:lnSpc>
                <a:spcPct val="115000"/>
              </a:lnSpc>
              <a:spcBef>
                <a:spcPts val="385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1100">
              <a:latin typeface="Spectral"/>
              <a:ea typeface="Spectral"/>
              <a:cs typeface="Spectral"/>
              <a:sym typeface="Spectral"/>
            </a:endParaRPr>
          </a:p>
          <a:p>
            <a:pPr indent="-473587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The CPU is allocated to the process with the highest priority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0390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(smallest integer ≡ highest priority)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Preemptive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Nonpreemptive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52107" lvl="1" marL="1060450" rtl="0" algn="l">
              <a:lnSpc>
                <a:spcPct val="115000"/>
              </a:lnSpc>
              <a:spcBef>
                <a:spcPts val="385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100">
              <a:latin typeface="Spectral"/>
              <a:ea typeface="Spectral"/>
              <a:cs typeface="Spectral"/>
              <a:sym typeface="Spectral"/>
            </a:endParaRPr>
          </a:p>
          <a:p>
            <a:pPr indent="-473587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SJF is priority scheduling where priority is the inverse of predicted next CPU burst time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73587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Priority can be defined either internally or externally. 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Factors for internal priority assignment: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2578" lvl="2" marL="1550988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1363"/>
              <a:buFont typeface="Spectral"/>
              <a:buChar char="■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Time limit, memory requirements, the number or open files etc.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Factors for external priority assignment: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2578" lvl="2" marL="1550988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1363"/>
              <a:buFont typeface="Spectral"/>
              <a:buChar char="■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Importance of the process, the type and amount of funds being paid for computer use, department sponsoring works etc.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26085" lvl="0" marL="488950" rtl="0" algn="l">
              <a:lnSpc>
                <a:spcPct val="115000"/>
              </a:lnSpc>
              <a:spcBef>
                <a:spcPts val="385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11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Arial"/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>
            <p:ph type="title"/>
          </p:nvPr>
        </p:nvSpPr>
        <p:spPr>
          <a:xfrm>
            <a:off x="920300" y="369900"/>
            <a:ext cx="121098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6000"/>
              <a:t>Example of Priority Scheduling (Preemptive)</a:t>
            </a:r>
            <a:endParaRPr sz="6000"/>
          </a:p>
        </p:txBody>
      </p:sp>
      <p:sp>
        <p:nvSpPr>
          <p:cNvPr id="231" name="Google Shape;231;p18"/>
          <p:cNvSpPr txBox="1"/>
          <p:nvPr>
            <p:ph idx="1" type="body"/>
          </p:nvPr>
        </p:nvSpPr>
        <p:spPr>
          <a:xfrm>
            <a:off x="534175" y="4251700"/>
            <a:ext cx="6400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Priority scheduling Gantt Chart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297950" y="6846475"/>
            <a:ext cx="81513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-488950" lvl="0" marL="488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Open Sans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Problem ≡ </a:t>
            </a:r>
            <a:r>
              <a:rPr b="1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Starvation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– low priority processes may never execute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8940" lvl="0" marL="488950" marR="0" rtl="0" algn="l">
              <a:lnSpc>
                <a:spcPct val="115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Open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marR="0" rtl="0" algn="l">
              <a:lnSpc>
                <a:spcPct val="115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Open Sans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Solution ≡ </a:t>
            </a:r>
            <a:r>
              <a:rPr b="1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Aging </a:t>
            </a: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– as time progresses increase the priority of the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8940" lvl="0" marL="488950" marR="0" rtl="0" algn="l">
              <a:lnSpc>
                <a:spcPct val="115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Open Sans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233" name="Google Shape;233;p18"/>
          <p:cNvGraphicFramePr/>
          <p:nvPr/>
        </p:nvGraphicFramePr>
        <p:xfrm>
          <a:off x="920300" y="172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615200"/>
                <a:gridCol w="1615200"/>
                <a:gridCol w="1615200"/>
                <a:gridCol w="1615200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Process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Arrival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Burst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Priority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1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2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3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4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18"/>
          <p:cNvSpPr/>
          <p:nvPr/>
        </p:nvSpPr>
        <p:spPr>
          <a:xfrm>
            <a:off x="1695400" y="539190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2390200" y="539190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3085000" y="539260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3779800" y="539190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4474600" y="539260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 flipH="1">
            <a:off x="1580490" y="59842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 flipH="1">
            <a:off x="2219265" y="59842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 flipH="1">
            <a:off x="2971365" y="59842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 flipH="1">
            <a:off x="3481831" y="5984225"/>
            <a:ext cx="5049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 flipH="1">
            <a:off x="4185181" y="5984225"/>
            <a:ext cx="5049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 flipH="1">
            <a:off x="4888531" y="5984225"/>
            <a:ext cx="5049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18"/>
          <p:cNvCxnSpPr/>
          <p:nvPr/>
        </p:nvCxnSpPr>
        <p:spPr>
          <a:xfrm>
            <a:off x="8449175" y="1625900"/>
            <a:ext cx="41700" cy="711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8"/>
          <p:cNvSpPr txBox="1"/>
          <p:nvPr/>
        </p:nvSpPr>
        <p:spPr>
          <a:xfrm>
            <a:off x="8879550" y="1521888"/>
            <a:ext cx="2696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Ready Queue</a:t>
            </a:r>
            <a:endParaRPr b="0" i="0" sz="29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 flipH="1">
            <a:off x="8806290" y="222405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 flipH="1">
            <a:off x="8806290" y="307175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 flipH="1">
            <a:off x="8806290" y="57774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 flipH="1">
            <a:off x="8709856" y="6507825"/>
            <a:ext cx="5049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 flipH="1">
            <a:off x="8709856" y="7472875"/>
            <a:ext cx="5049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 flipH="1">
            <a:off x="8709856" y="8437925"/>
            <a:ext cx="5049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9214750" y="222405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(8)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9214750" y="299195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9214750" y="559195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9909550" y="5592650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9214750" y="6418225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9214750" y="7393075"/>
            <a:ext cx="11442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9214750" y="8358125"/>
            <a:ext cx="12495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 flipH="1">
            <a:off x="8806290" y="3983243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9214750" y="3903438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 flipH="1">
            <a:off x="8806290" y="4846868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9214750" y="4767063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9893963" y="4748038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10573175" y="4748038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9909550" y="3903438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 flipH="1">
            <a:off x="10261165" y="222405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10669625" y="2224050"/>
            <a:ext cx="999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 flipH="1">
            <a:off x="10261165" y="3063742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10669625" y="2983938"/>
            <a:ext cx="6948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(7)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type="ctrTitle"/>
          </p:nvPr>
        </p:nvSpPr>
        <p:spPr>
          <a:xfrm>
            <a:off x="3289350" y="2985075"/>
            <a:ext cx="71373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CPU Scheduling Algorithms -</a:t>
            </a:r>
            <a:endParaRPr b="1" sz="4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b="1" lang="en-US" sz="4800">
                <a:solidFill>
                  <a:srgbClr val="38761D"/>
                </a:solidFill>
              </a:rPr>
              <a:t>Round Robin (RR)</a:t>
            </a:r>
            <a:endParaRPr b="1" sz="4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 txBox="1"/>
          <p:nvPr>
            <p:ph type="title"/>
          </p:nvPr>
        </p:nvSpPr>
        <p:spPr>
          <a:xfrm>
            <a:off x="685800" y="369904"/>
            <a:ext cx="123444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283" name="Google Shape;283;p21"/>
          <p:cNvSpPr txBox="1"/>
          <p:nvPr>
            <p:ph idx="1" type="body"/>
          </p:nvPr>
        </p:nvSpPr>
        <p:spPr>
          <a:xfrm>
            <a:off x="924225" y="1484563"/>
            <a:ext cx="11553900" cy="5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-48895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Each process gets a small unit of CPU time (</a:t>
            </a:r>
            <a:r>
              <a:rPr b="1" lang="en-US" sz="2400">
                <a:latin typeface="Spectral"/>
                <a:ea typeface="Spectral"/>
                <a:cs typeface="Spectral"/>
                <a:sym typeface="Spectral"/>
              </a:rPr>
              <a:t>time quantum 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q), usually 10-100 milliseconds.  After this time has elapsed, the process is preempted and added to the end of the ready queue.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If there are 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n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processes in the ready queue and the time quantum is 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, then each process gets 1/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n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of the CPU time in chunks of at most 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time units at once.  No process waits more than (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n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-1)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q 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time units.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Timer interrupts every quantum to schedule next process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Performance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 large ⇒ FIFO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q 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small ⇒ </a:t>
            </a:r>
            <a:r>
              <a:rPr i="1" lang="en-US" sz="2400">
                <a:latin typeface="Spectral"/>
                <a:ea typeface="Spectral"/>
                <a:cs typeface="Spectral"/>
                <a:sym typeface="Spectral"/>
              </a:rPr>
              <a:t>q </a:t>
            </a: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must be large with respect to context switch, otherwise overhead is too high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>
            <p:ph type="title"/>
          </p:nvPr>
        </p:nvSpPr>
        <p:spPr>
          <a:xfrm>
            <a:off x="911450" y="414750"/>
            <a:ext cx="120825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RR with Time Quantum = 4</a:t>
            </a:r>
            <a:endParaRPr/>
          </a:p>
        </p:txBody>
      </p:sp>
      <p:sp>
        <p:nvSpPr>
          <p:cNvPr id="290" name="Google Shape;290;p22"/>
          <p:cNvSpPr txBox="1"/>
          <p:nvPr>
            <p:ph idx="1" type="body"/>
          </p:nvPr>
        </p:nvSpPr>
        <p:spPr>
          <a:xfrm>
            <a:off x="1241425" y="4003117"/>
            <a:ext cx="56175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/>
          </a:bodyPr>
          <a:lstStyle/>
          <a:p>
            <a:pPr indent="-488950" lvl="0" marL="488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6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The Gantt chart is: 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291" name="Google Shape;291;p22"/>
          <p:cNvGraphicFramePr/>
          <p:nvPr/>
        </p:nvGraphicFramePr>
        <p:xfrm>
          <a:off x="3202125" y="189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615200"/>
                <a:gridCol w="1615200"/>
                <a:gridCol w="1615200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Process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Arrival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Burst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1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2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3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</a:t>
                      </a:r>
                      <a:r>
                        <a:rPr b="1" baseline="-25000" lang="en-US" sz="1400" u="none" cap="none" strike="noStrike"/>
                        <a:t>4</a:t>
                      </a:r>
                      <a:endParaRPr b="1" baseline="-25000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22"/>
          <p:cNvSpPr/>
          <p:nvPr/>
        </p:nvSpPr>
        <p:spPr>
          <a:xfrm>
            <a:off x="17926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25012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32098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39184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46270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3356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60442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752875" y="5030600"/>
            <a:ext cx="708600" cy="5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 flipH="1">
            <a:off x="1691665" y="56229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 flipH="1">
            <a:off x="2302640" y="56229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 flipH="1">
            <a:off x="2971365" y="562293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 flipH="1">
            <a:off x="3640105" y="56229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 flipH="1">
            <a:off x="4353530" y="56229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 flipH="1">
            <a:off x="5066955" y="56229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 flipH="1">
            <a:off x="5780380" y="56229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 flipH="1">
            <a:off x="6493805" y="56229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 flipH="1">
            <a:off x="7167180" y="56229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9266575" y="1540350"/>
            <a:ext cx="173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Ready Queue:</a:t>
            </a:r>
            <a:endParaRPr b="0" i="0" sz="18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0" name="Google Shape;310;p22"/>
          <p:cNvCxnSpPr/>
          <p:nvPr/>
        </p:nvCxnSpPr>
        <p:spPr>
          <a:xfrm>
            <a:off x="8602025" y="1723175"/>
            <a:ext cx="0" cy="637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2"/>
          <p:cNvSpPr txBox="1"/>
          <p:nvPr/>
        </p:nvSpPr>
        <p:spPr>
          <a:xfrm flipH="1">
            <a:off x="8954565" y="222405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 flipH="1">
            <a:off x="8954565" y="4860455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 flipH="1">
            <a:off x="8954565" y="5579480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 flipH="1">
            <a:off x="8890080" y="6298500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 flipH="1">
            <a:off x="8890080" y="684002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 flipH="1">
            <a:off x="8890080" y="7393800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 flipH="1">
            <a:off x="8878680" y="7947563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 flipH="1">
            <a:off x="8890080" y="8629275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 flipH="1">
            <a:off x="10449042" y="8594650"/>
            <a:ext cx="4638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9463175" y="2218400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(8)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474488" y="484286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10026994" y="484286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579600" y="484286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9573069" y="5547350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b="1" lang="en-US" sz="1300"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10125675" y="5547350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9582525" y="617036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10135013" y="617036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9582488" y="6782088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10135044" y="6782088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(1)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9573069" y="738816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(1)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9619113" y="7991413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(1)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9474558" y="8594650"/>
            <a:ext cx="9744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11033555" y="8594650"/>
            <a:ext cx="13344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1" baseline="-2500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 flipH="1">
            <a:off x="8954565" y="2902118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 flipH="1">
            <a:off x="8954565" y="3497643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 flipH="1">
            <a:off x="8954565" y="4158568"/>
            <a:ext cx="312000" cy="368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9474494" y="2855525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9474494" y="3445888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10027000" y="3445888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9474506" y="4138400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(4)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10027013" y="4138400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(9)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10579519" y="4138400"/>
            <a:ext cx="552600" cy="46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baseline="-2500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(5)</a:t>
            </a:r>
            <a:endParaRPr b="1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 txBox="1"/>
          <p:nvPr>
            <p:ph type="title"/>
          </p:nvPr>
        </p:nvSpPr>
        <p:spPr>
          <a:xfrm>
            <a:off x="920300" y="514350"/>
            <a:ext cx="123624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6000"/>
              <a:t>Time Quantum and Context Switch Time</a:t>
            </a:r>
            <a:endParaRPr sz="6000"/>
          </a:p>
        </p:txBody>
      </p:sp>
      <p:pic>
        <p:nvPicPr>
          <p:cNvPr id="349" name="Google Shape;3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9600" y="2476500"/>
            <a:ext cx="105981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"/>
          <p:cNvSpPr txBox="1"/>
          <p:nvPr>
            <p:ph type="title"/>
          </p:nvPr>
        </p:nvSpPr>
        <p:spPr>
          <a:xfrm>
            <a:off x="769950" y="636605"/>
            <a:ext cx="128031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 sz="6000"/>
              <a:t>Turnaround Time Varies With  The Time Quantum</a:t>
            </a:r>
            <a:endParaRPr sz="6000"/>
          </a:p>
        </p:txBody>
      </p:sp>
      <p:pic>
        <p:nvPicPr>
          <p:cNvPr id="356" name="Google Shape;3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7375" y="1839913"/>
            <a:ext cx="7507288" cy="549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8905875" y="4992688"/>
            <a:ext cx="34702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80% of CPU bursts should be shorter than quantum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 txBox="1"/>
          <p:nvPr>
            <p:ph type="ctrTitle"/>
          </p:nvPr>
        </p:nvSpPr>
        <p:spPr>
          <a:xfrm>
            <a:off x="3206750" y="3348900"/>
            <a:ext cx="7137300" cy="24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48146"/>
              <a:buNone/>
            </a:pPr>
            <a:r>
              <a:rPr lang="en-US" sz="3000"/>
              <a:t>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092"/>
              <a:buNone/>
            </a:pPr>
            <a:r>
              <a:rPr b="1" lang="en-US" sz="4800">
                <a:solidFill>
                  <a:srgbClr val="38761D"/>
                </a:solidFill>
              </a:rPr>
              <a:t>CPU Scheduling - </a:t>
            </a:r>
            <a:endParaRPr b="1" sz="4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092"/>
              <a:buNone/>
            </a:pPr>
            <a:r>
              <a:rPr b="1" lang="en-US" sz="4800">
                <a:solidFill>
                  <a:srgbClr val="38761D"/>
                </a:solidFill>
              </a:rPr>
              <a:t>Multilevel Queue, </a:t>
            </a:r>
            <a:endParaRPr b="1" sz="4800">
              <a:solidFill>
                <a:srgbClr val="38761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5092"/>
              <a:buNone/>
            </a:pPr>
            <a:r>
              <a:rPr b="1" lang="en-US" sz="4800">
                <a:solidFill>
                  <a:srgbClr val="38761D"/>
                </a:solidFill>
              </a:rPr>
              <a:t>Multilevel Feedback Queue</a:t>
            </a:r>
            <a:endParaRPr b="1" sz="4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 txBox="1"/>
          <p:nvPr>
            <p:ph type="title"/>
          </p:nvPr>
        </p:nvSpPr>
        <p:spPr>
          <a:xfrm>
            <a:off x="905975" y="473830"/>
            <a:ext cx="11569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370" name="Google Shape;370;p26"/>
          <p:cNvSpPr txBox="1"/>
          <p:nvPr>
            <p:ph idx="1" type="body"/>
          </p:nvPr>
        </p:nvSpPr>
        <p:spPr>
          <a:xfrm>
            <a:off x="905975" y="1525325"/>
            <a:ext cx="11615700" cy="6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 fontScale="85000" lnSpcReduction="20000"/>
          </a:bodyPr>
          <a:lstStyle/>
          <a:p>
            <a:pPr indent="-473519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Another class of scheduling algorithm needs- in which processes are classified into different groups, e.g.: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foreground (interactive) processes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background (batch) processes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73519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They have different response time requirements-so different scheduling needs.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73519" lvl="1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ct val="73636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Foreground processes may have priority over background processes.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73519" lvl="1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ct val="73636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 multilevel queue-scheduling algorithm partitions the ready queue into several separate queues-we can see it in the figure of next slide:-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1" marL="652462" rtl="0" algn="l">
              <a:lnSpc>
                <a:spcPct val="115000"/>
              </a:lnSpc>
              <a:spcBef>
                <a:spcPts val="385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100">
              <a:latin typeface="Spectral"/>
              <a:ea typeface="Spectral"/>
              <a:cs typeface="Spectral"/>
              <a:sym typeface="Spectral"/>
            </a:endParaRPr>
          </a:p>
          <a:p>
            <a:pPr indent="-473519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Each queue has its own scheduling algorithm: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Foreground queue scheduled by – RR algorithm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Background queue scheduled by – FCFS algorithm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52107" lvl="1" marL="1060450" rtl="0" algn="l">
              <a:lnSpc>
                <a:spcPct val="115000"/>
              </a:lnSpc>
              <a:spcBef>
                <a:spcPts val="385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1100">
              <a:latin typeface="Spectral"/>
              <a:ea typeface="Spectral"/>
              <a:cs typeface="Spectral"/>
              <a:sym typeface="Spectral"/>
            </a:endParaRPr>
          </a:p>
          <a:p>
            <a:pPr indent="-473519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Scheduling must be done between the queues: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Fixed priority preemptive scheduling; (i.e., serve all from foreground then from background).  Possibility of starvation.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94271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Time slice – each queue gets a certain amount of CPU time which it can schedule amongst its processes; i.e., foreground queue can be given 80% of the CPU time for RR-scheduling among its processes, while 20% to background in FCFS manner. 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"/>
          <p:cNvSpPr txBox="1"/>
          <p:nvPr>
            <p:ph type="title"/>
          </p:nvPr>
        </p:nvSpPr>
        <p:spPr>
          <a:xfrm>
            <a:off x="892225" y="346306"/>
            <a:ext cx="113934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Multilevel Queue Scheduling</a:t>
            </a:r>
            <a:endParaRPr/>
          </a:p>
        </p:txBody>
      </p:sp>
      <p:pic>
        <p:nvPicPr>
          <p:cNvPr descr="5" id="377" name="Google Shape;3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013" y="1566863"/>
            <a:ext cx="10691812" cy="62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/>
          <p:nvPr>
            <p:ph type="title"/>
          </p:nvPr>
        </p:nvSpPr>
        <p:spPr>
          <a:xfrm>
            <a:off x="685800" y="369906"/>
            <a:ext cx="12344400" cy="11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</a:pPr>
            <a:r>
              <a:rPr lang="en-US"/>
              <a:t>Multilevel Feedback Queue scheduling</a:t>
            </a:r>
            <a:endParaRPr/>
          </a:p>
        </p:txBody>
      </p:sp>
      <p:sp>
        <p:nvSpPr>
          <p:cNvPr id="383" name="Google Shape;383;p28"/>
          <p:cNvSpPr txBox="1"/>
          <p:nvPr>
            <p:ph idx="1" type="body"/>
          </p:nvPr>
        </p:nvSpPr>
        <p:spPr>
          <a:xfrm>
            <a:off x="891125" y="1927800"/>
            <a:ext cx="12344400" cy="6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Multilevel Feedback Queue scheduling, allows a process to move between queues.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If a process uses too much CPU time, it will be moved to a lower priority queue.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Similarly, a process that waits too long in a lower-priority queue may me moved to a higher-priority queue. 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88950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●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Multilevel-feedback-queue scheduler defined by the following parameters: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number of queues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scheduling algorithms for each queue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method used to determine when to upgrade a process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method used to determine when to demote a process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-4689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2400"/>
              <a:buFont typeface="Spectral"/>
              <a:buChar char="○"/>
            </a:pPr>
            <a:r>
              <a:rPr lang="en-US" sz="2400">
                <a:latin typeface="Spectral"/>
                <a:ea typeface="Spectral"/>
                <a:cs typeface="Spectral"/>
                <a:sym typeface="Spectral"/>
              </a:rPr>
              <a:t>method used to determine which queue a process will enter when that process needs service</a:t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sz="24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" id="389" name="Google Shape;3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7975" y="2464226"/>
            <a:ext cx="5849475" cy="31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 txBox="1"/>
          <p:nvPr>
            <p:ph type="title"/>
          </p:nvPr>
        </p:nvSpPr>
        <p:spPr>
          <a:xfrm>
            <a:off x="962025" y="589925"/>
            <a:ext cx="116586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391" name="Google Shape;391;p29"/>
          <p:cNvSpPr txBox="1"/>
          <p:nvPr>
            <p:ph idx="1" type="body"/>
          </p:nvPr>
        </p:nvSpPr>
        <p:spPr>
          <a:xfrm>
            <a:off x="962025" y="2057600"/>
            <a:ext cx="7615500" cy="60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5300" lIns="130600" spcFirstLastPara="1" rIns="130600" wrap="square" tIns="65300">
            <a:normAutofit fontScale="92500" lnSpcReduction="10000"/>
          </a:bodyPr>
          <a:lstStyle/>
          <a:p>
            <a:pPr indent="-481302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Three queues: (can see the figure in next slide)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01129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lang="en-US">
                <a:latin typeface="Spectral"/>
                <a:ea typeface="Spectral"/>
                <a:cs typeface="Spectral"/>
                <a:sym typeface="Spectral"/>
              </a:rPr>
              <a:t>0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 – RR with time quantum 8 milliseconds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01129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lang="en-US">
                <a:latin typeface="Spectral"/>
                <a:ea typeface="Spectral"/>
                <a:cs typeface="Spectral"/>
                <a:sym typeface="Spectral"/>
              </a:rPr>
              <a:t>1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 – RR time quantum 16 milliseconds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01129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lang="en-US">
                <a:latin typeface="Spectral"/>
                <a:ea typeface="Spectral"/>
                <a:cs typeface="Spectral"/>
                <a:sym typeface="Spectral"/>
              </a:rPr>
              <a:t>2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 – FCFS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6547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81302" lvl="0" marL="4889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55861"/>
              <a:buFont typeface="Spectral"/>
              <a:buChar char="●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Scheduling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01129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 new job enters queue </a:t>
            </a: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i="1" lang="en-US">
                <a:latin typeface="Spectral"/>
                <a:ea typeface="Spectral"/>
                <a:cs typeface="Spectral"/>
                <a:sym typeface="Spectral"/>
              </a:rPr>
              <a:t>0</a:t>
            </a: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which is served</a:t>
            </a: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for RR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9006" lvl="2" marL="1550988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1363"/>
              <a:buFont typeface="Spectral"/>
              <a:buChar char="■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When it gains CPU, job receives 8 milliseconds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9006" lvl="2" marL="1550988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1363"/>
              <a:buFont typeface="Spectral"/>
              <a:buChar char="■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If it does not finish in 8 milliseconds, job is moved to queue </a:t>
            </a: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lang="en-US">
                <a:latin typeface="Spectral"/>
                <a:ea typeface="Spectral"/>
                <a:cs typeface="Spectral"/>
                <a:sym typeface="Spectral"/>
              </a:rPr>
              <a:t>1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401129" lvl="1" marL="1060450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5454"/>
              <a:buFont typeface="Spectral"/>
              <a:buChar char="○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At </a:t>
            </a: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lang="en-US">
                <a:latin typeface="Spectral"/>
                <a:ea typeface="Spectral"/>
                <a:cs typeface="Spectral"/>
                <a:sym typeface="Spectral"/>
              </a:rPr>
              <a:t>1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 job is again served RR and receives 16 additional milliseconds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9006" lvl="2" marL="1550988" rtl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SzPct val="61363"/>
              <a:buFont typeface="Spectral"/>
              <a:buChar char="■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If it still does not complete, it is preempted and moved to queue </a:t>
            </a:r>
            <a:r>
              <a:rPr i="1" lang="en-US">
                <a:latin typeface="Spectral"/>
                <a:ea typeface="Spectral"/>
                <a:cs typeface="Spectral"/>
                <a:sym typeface="Spectral"/>
              </a:rPr>
              <a:t>Q</a:t>
            </a:r>
            <a:r>
              <a:rPr baseline="-25000" lang="en-US">
                <a:latin typeface="Spectral"/>
                <a:ea typeface="Spectral"/>
                <a:cs typeface="Spectral"/>
                <a:sym typeface="Spectral"/>
              </a:rPr>
              <a:t>2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f63de4166_0_27"/>
          <p:cNvSpPr txBox="1"/>
          <p:nvPr>
            <p:ph type="title"/>
          </p:nvPr>
        </p:nvSpPr>
        <p:spPr>
          <a:xfrm>
            <a:off x="685800" y="369905"/>
            <a:ext cx="12344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Multilevel Feedback Queue</a:t>
            </a:r>
            <a:endParaRPr/>
          </a:p>
        </p:txBody>
      </p:sp>
      <p:graphicFrame>
        <p:nvGraphicFramePr>
          <p:cNvPr id="398" name="Google Shape;398;g32f63de4166_0_27"/>
          <p:cNvGraphicFramePr/>
          <p:nvPr/>
        </p:nvGraphicFramePr>
        <p:xfrm>
          <a:off x="5557700" y="143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300300"/>
                <a:gridCol w="1300300"/>
              </a:tblGrid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Processes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Burst Time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g32f63de4166_0_27"/>
          <p:cNvSpPr txBox="1"/>
          <p:nvPr/>
        </p:nvSpPr>
        <p:spPr>
          <a:xfrm>
            <a:off x="79750" y="3256225"/>
            <a:ext cx="40977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Queue 0 (Priority 0): Round-robin (quantum=2)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0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1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4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0" name="Google Shape;400;g32f63de4166_0_27"/>
          <p:cNvSpPr/>
          <p:nvPr/>
        </p:nvSpPr>
        <p:spPr>
          <a:xfrm>
            <a:off x="685800" y="39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(12)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g32f63de4166_0_27"/>
          <p:cNvSpPr/>
          <p:nvPr/>
        </p:nvSpPr>
        <p:spPr>
          <a:xfrm>
            <a:off x="1536300" y="39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(8)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g32f63de4166_0_27"/>
          <p:cNvSpPr/>
          <p:nvPr/>
        </p:nvSpPr>
        <p:spPr>
          <a:xfrm>
            <a:off x="2386800" y="39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(18)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g32f63de4166_0_27"/>
          <p:cNvSpPr/>
          <p:nvPr/>
        </p:nvSpPr>
        <p:spPr>
          <a:xfrm>
            <a:off x="685800" y="45515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(8)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g32f63de4166_0_27"/>
          <p:cNvSpPr/>
          <p:nvPr/>
        </p:nvSpPr>
        <p:spPr>
          <a:xfrm>
            <a:off x="1536300" y="45515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(18)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g32f63de4166_0_27"/>
          <p:cNvSpPr/>
          <p:nvPr/>
        </p:nvSpPr>
        <p:spPr>
          <a:xfrm>
            <a:off x="685800" y="51159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(18)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g32f63de4166_0_27"/>
          <p:cNvSpPr txBox="1"/>
          <p:nvPr/>
        </p:nvSpPr>
        <p:spPr>
          <a:xfrm>
            <a:off x="4418700" y="3075600"/>
            <a:ext cx="3880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Queue 1 (Priority 1): Round-robin (quantum=4)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6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7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8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9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10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  <a:extLst>
                <a:ext uri="http://customooxmlschemas.google.com/">
                  <go:slidesCustomData xmlns:go="http://customooxmlschemas.google.com/" textRoundtripDataId="11"/>
                </a:ext>
              </a:extLs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7" name="Google Shape;407;g32f63de4166_0_27"/>
          <p:cNvSpPr/>
          <p:nvPr/>
        </p:nvSpPr>
        <p:spPr>
          <a:xfrm>
            <a:off x="4777525" y="39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(10)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g32f63de4166_0_27"/>
          <p:cNvSpPr/>
          <p:nvPr/>
        </p:nvSpPr>
        <p:spPr>
          <a:xfrm>
            <a:off x="4777525" y="45515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(10)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g32f63de4166_0_27"/>
          <p:cNvSpPr/>
          <p:nvPr/>
        </p:nvSpPr>
        <p:spPr>
          <a:xfrm>
            <a:off x="5628025" y="45515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(6)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g32f63de4166_0_27"/>
          <p:cNvSpPr/>
          <p:nvPr/>
        </p:nvSpPr>
        <p:spPr>
          <a:xfrm>
            <a:off x="4777525" y="51159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(6)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g32f63de4166_0_27"/>
          <p:cNvSpPr/>
          <p:nvPr/>
        </p:nvSpPr>
        <p:spPr>
          <a:xfrm>
            <a:off x="5628025" y="51159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(16)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2" name="Google Shape;412;g32f63de4166_0_27"/>
          <p:cNvSpPr txBox="1"/>
          <p:nvPr/>
        </p:nvSpPr>
        <p:spPr>
          <a:xfrm>
            <a:off x="8652250" y="3016100"/>
            <a:ext cx="40977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Queue 2 (Priority 2): Round-robin (quantum=8)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3" name="Google Shape;413;g32f63de4166_0_27"/>
          <p:cNvSpPr/>
          <p:nvPr/>
        </p:nvSpPr>
        <p:spPr>
          <a:xfrm>
            <a:off x="4777525" y="56803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(16)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g32f63de4166_0_27"/>
          <p:cNvSpPr/>
          <p:nvPr/>
        </p:nvSpPr>
        <p:spPr>
          <a:xfrm>
            <a:off x="9289275" y="40865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(6)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g32f63de4166_0_27"/>
          <p:cNvSpPr/>
          <p:nvPr/>
        </p:nvSpPr>
        <p:spPr>
          <a:xfrm>
            <a:off x="9289275" y="46509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(6)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g32f63de4166_0_27"/>
          <p:cNvSpPr/>
          <p:nvPr/>
        </p:nvSpPr>
        <p:spPr>
          <a:xfrm>
            <a:off x="10139775" y="46509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(2)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g32f63de4166_0_27"/>
          <p:cNvSpPr/>
          <p:nvPr/>
        </p:nvSpPr>
        <p:spPr>
          <a:xfrm>
            <a:off x="9289275" y="52153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(2)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g32f63de4166_0_27"/>
          <p:cNvSpPr/>
          <p:nvPr/>
        </p:nvSpPr>
        <p:spPr>
          <a:xfrm>
            <a:off x="10139775" y="52153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(12)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g32f63de4166_0_27"/>
          <p:cNvSpPr/>
          <p:nvPr/>
        </p:nvSpPr>
        <p:spPr>
          <a:xfrm>
            <a:off x="9289275" y="57797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(12)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0" name="Google Shape;420;g32f63de4166_0_27"/>
          <p:cNvSpPr/>
          <p:nvPr/>
        </p:nvSpPr>
        <p:spPr>
          <a:xfrm>
            <a:off x="9289275" y="6344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(4)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g32f63de4166_0_27"/>
          <p:cNvSpPr txBox="1"/>
          <p:nvPr/>
        </p:nvSpPr>
        <p:spPr>
          <a:xfrm>
            <a:off x="365550" y="7954025"/>
            <a:ext cx="129849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Gantt Chart:</a:t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CPU:</a:t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2" name="Google Shape;422;g32f63de4166_0_27"/>
          <p:cNvSpPr/>
          <p:nvPr/>
        </p:nvSpPr>
        <p:spPr>
          <a:xfrm>
            <a:off x="143000" y="41199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g32f63de4166_0_27"/>
          <p:cNvSpPr/>
          <p:nvPr/>
        </p:nvSpPr>
        <p:spPr>
          <a:xfrm>
            <a:off x="143000" y="46843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g32f63de4166_0_27"/>
          <p:cNvSpPr/>
          <p:nvPr/>
        </p:nvSpPr>
        <p:spPr>
          <a:xfrm>
            <a:off x="143000" y="52487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g32f63de4166_0_27"/>
          <p:cNvSpPr/>
          <p:nvPr/>
        </p:nvSpPr>
        <p:spPr>
          <a:xfrm>
            <a:off x="4239550" y="36882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g32f63de4166_0_27"/>
          <p:cNvSpPr/>
          <p:nvPr/>
        </p:nvSpPr>
        <p:spPr>
          <a:xfrm>
            <a:off x="4777525" y="3684088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g32f63de4166_0_27"/>
          <p:cNvSpPr/>
          <p:nvPr/>
        </p:nvSpPr>
        <p:spPr>
          <a:xfrm>
            <a:off x="8761900" y="36882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8" name="Google Shape;428;g32f63de4166_0_27"/>
          <p:cNvSpPr/>
          <p:nvPr/>
        </p:nvSpPr>
        <p:spPr>
          <a:xfrm>
            <a:off x="9248200" y="3688200"/>
            <a:ext cx="14541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g32f63de4166_0_27"/>
          <p:cNvSpPr/>
          <p:nvPr/>
        </p:nvSpPr>
        <p:spPr>
          <a:xfrm>
            <a:off x="4239550" y="41199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g32f63de4166_0_27"/>
          <p:cNvSpPr/>
          <p:nvPr/>
        </p:nvSpPr>
        <p:spPr>
          <a:xfrm>
            <a:off x="4239550" y="46843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1" name="Google Shape;431;g32f63de4166_0_27"/>
          <p:cNvSpPr/>
          <p:nvPr/>
        </p:nvSpPr>
        <p:spPr>
          <a:xfrm>
            <a:off x="4239550" y="52214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2" name="Google Shape;432;g32f63de4166_0_27"/>
          <p:cNvSpPr/>
          <p:nvPr/>
        </p:nvSpPr>
        <p:spPr>
          <a:xfrm>
            <a:off x="4239550" y="582113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g32f63de4166_0_27"/>
          <p:cNvSpPr/>
          <p:nvPr/>
        </p:nvSpPr>
        <p:spPr>
          <a:xfrm>
            <a:off x="8761900" y="42193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4" name="Google Shape;434;g32f63de4166_0_27"/>
          <p:cNvSpPr/>
          <p:nvPr/>
        </p:nvSpPr>
        <p:spPr>
          <a:xfrm>
            <a:off x="8761900" y="47503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5" name="Google Shape;435;g32f63de4166_0_27"/>
          <p:cNvSpPr/>
          <p:nvPr/>
        </p:nvSpPr>
        <p:spPr>
          <a:xfrm>
            <a:off x="8761900" y="53481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g32f63de4166_0_27"/>
          <p:cNvSpPr/>
          <p:nvPr/>
        </p:nvSpPr>
        <p:spPr>
          <a:xfrm>
            <a:off x="8761900" y="58792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g32f63de4166_0_27"/>
          <p:cNvSpPr/>
          <p:nvPr/>
        </p:nvSpPr>
        <p:spPr>
          <a:xfrm>
            <a:off x="8761900" y="64769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g32f63de4166_0_27"/>
          <p:cNvSpPr/>
          <p:nvPr/>
        </p:nvSpPr>
        <p:spPr>
          <a:xfrm>
            <a:off x="685800" y="5713425"/>
            <a:ext cx="850500" cy="46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9" name="Google Shape;439;g32f63de4166_0_27"/>
          <p:cNvSpPr/>
          <p:nvPr/>
        </p:nvSpPr>
        <p:spPr>
          <a:xfrm>
            <a:off x="143000" y="58461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0" name="Google Shape;440;g32f63de4166_0_27"/>
          <p:cNvSpPr/>
          <p:nvPr/>
        </p:nvSpPr>
        <p:spPr>
          <a:xfrm>
            <a:off x="4778388" y="6281838"/>
            <a:ext cx="850500" cy="46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" name="Google Shape;441;g32f63de4166_0_27"/>
          <p:cNvSpPr/>
          <p:nvPr/>
        </p:nvSpPr>
        <p:spPr>
          <a:xfrm>
            <a:off x="4240413" y="64226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g32f63de4166_0_27"/>
          <p:cNvSpPr/>
          <p:nvPr/>
        </p:nvSpPr>
        <p:spPr>
          <a:xfrm>
            <a:off x="9289275" y="6866888"/>
            <a:ext cx="850500" cy="46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g32f63de4166_0_27"/>
          <p:cNvSpPr/>
          <p:nvPr/>
        </p:nvSpPr>
        <p:spPr>
          <a:xfrm>
            <a:off x="8761900" y="69996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4" name="Google Shape;444;g32f63de4166_0_27"/>
          <p:cNvSpPr/>
          <p:nvPr/>
        </p:nvSpPr>
        <p:spPr>
          <a:xfrm>
            <a:off x="1718400" y="892173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5" name="Google Shape;445;g32f63de4166_0_27"/>
          <p:cNvSpPr/>
          <p:nvPr/>
        </p:nvSpPr>
        <p:spPr>
          <a:xfrm>
            <a:off x="25689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6" name="Google Shape;446;g32f63de4166_0_27"/>
          <p:cNvSpPr/>
          <p:nvPr/>
        </p:nvSpPr>
        <p:spPr>
          <a:xfrm>
            <a:off x="34194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g32f63de4166_0_27"/>
          <p:cNvSpPr/>
          <p:nvPr/>
        </p:nvSpPr>
        <p:spPr>
          <a:xfrm>
            <a:off x="59709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g32f63de4166_0_27"/>
          <p:cNvSpPr/>
          <p:nvPr/>
        </p:nvSpPr>
        <p:spPr>
          <a:xfrm>
            <a:off x="51204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g32f63de4166_0_27"/>
          <p:cNvSpPr/>
          <p:nvPr/>
        </p:nvSpPr>
        <p:spPr>
          <a:xfrm>
            <a:off x="42699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0" name="Google Shape;450;g32f63de4166_0_27"/>
          <p:cNvSpPr/>
          <p:nvPr/>
        </p:nvSpPr>
        <p:spPr>
          <a:xfrm>
            <a:off x="76719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g32f63de4166_0_27"/>
          <p:cNvSpPr/>
          <p:nvPr/>
        </p:nvSpPr>
        <p:spPr>
          <a:xfrm>
            <a:off x="6821400" y="89217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g32f63de4166_0_27"/>
          <p:cNvSpPr/>
          <p:nvPr/>
        </p:nvSpPr>
        <p:spPr>
          <a:xfrm>
            <a:off x="10223400" y="88900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3" name="Google Shape;453;g32f63de4166_0_27"/>
          <p:cNvSpPr/>
          <p:nvPr/>
        </p:nvSpPr>
        <p:spPr>
          <a:xfrm>
            <a:off x="8522400" y="88900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g32f63de4166_0_27"/>
          <p:cNvSpPr/>
          <p:nvPr/>
        </p:nvSpPr>
        <p:spPr>
          <a:xfrm>
            <a:off x="9372900" y="88900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5" name="Google Shape;455;g32f63de4166_0_27"/>
          <p:cNvSpPr/>
          <p:nvPr/>
        </p:nvSpPr>
        <p:spPr>
          <a:xfrm>
            <a:off x="19615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6" name="Google Shape;456;g32f63de4166_0_27"/>
          <p:cNvSpPr/>
          <p:nvPr/>
        </p:nvSpPr>
        <p:spPr>
          <a:xfrm>
            <a:off x="28120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7" name="Google Shape;457;g32f63de4166_0_27"/>
          <p:cNvSpPr/>
          <p:nvPr/>
        </p:nvSpPr>
        <p:spPr>
          <a:xfrm>
            <a:off x="36625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8" name="Google Shape;458;g32f63de4166_0_27"/>
          <p:cNvSpPr/>
          <p:nvPr/>
        </p:nvSpPr>
        <p:spPr>
          <a:xfrm>
            <a:off x="45130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g32f63de4166_0_27"/>
          <p:cNvSpPr/>
          <p:nvPr/>
        </p:nvSpPr>
        <p:spPr>
          <a:xfrm>
            <a:off x="53635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g32f63de4166_0_27"/>
          <p:cNvSpPr/>
          <p:nvPr/>
        </p:nvSpPr>
        <p:spPr>
          <a:xfrm>
            <a:off x="62140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g32f63de4166_0_27"/>
          <p:cNvSpPr/>
          <p:nvPr/>
        </p:nvSpPr>
        <p:spPr>
          <a:xfrm>
            <a:off x="70645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g32f63de4166_0_27"/>
          <p:cNvSpPr/>
          <p:nvPr/>
        </p:nvSpPr>
        <p:spPr>
          <a:xfrm>
            <a:off x="79150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g32f63de4166_0_27"/>
          <p:cNvSpPr/>
          <p:nvPr/>
        </p:nvSpPr>
        <p:spPr>
          <a:xfrm>
            <a:off x="8765550" y="842202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g32f63de4166_0_27"/>
          <p:cNvSpPr/>
          <p:nvPr/>
        </p:nvSpPr>
        <p:spPr>
          <a:xfrm>
            <a:off x="9616050" y="84220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g32f63de4166_0_27"/>
          <p:cNvSpPr txBox="1"/>
          <p:nvPr/>
        </p:nvSpPr>
        <p:spPr>
          <a:xfrm>
            <a:off x="718800" y="1506100"/>
            <a:ext cx="33360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 1:</a:t>
            </a:r>
            <a:endParaRPr b="0" i="0" sz="2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3058e9aee4_0_255"/>
          <p:cNvSpPr txBox="1"/>
          <p:nvPr>
            <p:ph type="title"/>
          </p:nvPr>
        </p:nvSpPr>
        <p:spPr>
          <a:xfrm>
            <a:off x="685800" y="369905"/>
            <a:ext cx="12344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Multilevel Feedback Queue</a:t>
            </a:r>
            <a:endParaRPr/>
          </a:p>
        </p:txBody>
      </p:sp>
      <p:graphicFrame>
        <p:nvGraphicFramePr>
          <p:cNvPr id="472" name="Google Shape;472;g33058e9aee4_0_255"/>
          <p:cNvGraphicFramePr/>
          <p:nvPr/>
        </p:nvGraphicFramePr>
        <p:xfrm>
          <a:off x="5557700" y="143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300300"/>
                <a:gridCol w="1300300"/>
              </a:tblGrid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Processes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Burst Time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3" name="Google Shape;473;g33058e9aee4_0_255"/>
          <p:cNvSpPr txBox="1"/>
          <p:nvPr/>
        </p:nvSpPr>
        <p:spPr>
          <a:xfrm>
            <a:off x="365550" y="3209250"/>
            <a:ext cx="12984900" cy="13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Gantt Chart:</a:t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CPU:</a:t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74" name="Google Shape;474;g33058e9aee4_0_255"/>
          <p:cNvSpPr txBox="1"/>
          <p:nvPr/>
        </p:nvSpPr>
        <p:spPr>
          <a:xfrm>
            <a:off x="718800" y="1506100"/>
            <a:ext cx="33360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 1:</a:t>
            </a:r>
            <a:endParaRPr b="0" i="0" sz="2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5" name="Google Shape;475;g33058e9aee4_0_255"/>
          <p:cNvSpPr/>
          <p:nvPr/>
        </p:nvSpPr>
        <p:spPr>
          <a:xfrm>
            <a:off x="2362350" y="41869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6" name="Google Shape;476;g33058e9aee4_0_255"/>
          <p:cNvSpPr/>
          <p:nvPr/>
        </p:nvSpPr>
        <p:spPr>
          <a:xfrm>
            <a:off x="32128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7" name="Google Shape;477;g33058e9aee4_0_255"/>
          <p:cNvSpPr/>
          <p:nvPr/>
        </p:nvSpPr>
        <p:spPr>
          <a:xfrm>
            <a:off x="40633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8" name="Google Shape;478;g33058e9aee4_0_255"/>
          <p:cNvSpPr/>
          <p:nvPr/>
        </p:nvSpPr>
        <p:spPr>
          <a:xfrm>
            <a:off x="66148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9" name="Google Shape;479;g33058e9aee4_0_255"/>
          <p:cNvSpPr/>
          <p:nvPr/>
        </p:nvSpPr>
        <p:spPr>
          <a:xfrm>
            <a:off x="57643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0" name="Google Shape;480;g33058e9aee4_0_255"/>
          <p:cNvSpPr/>
          <p:nvPr/>
        </p:nvSpPr>
        <p:spPr>
          <a:xfrm>
            <a:off x="49138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1" name="Google Shape;481;g33058e9aee4_0_255"/>
          <p:cNvSpPr/>
          <p:nvPr/>
        </p:nvSpPr>
        <p:spPr>
          <a:xfrm>
            <a:off x="83158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2" name="Google Shape;482;g33058e9aee4_0_255"/>
          <p:cNvSpPr/>
          <p:nvPr/>
        </p:nvSpPr>
        <p:spPr>
          <a:xfrm>
            <a:off x="7465350" y="41869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g33058e9aee4_0_255"/>
          <p:cNvSpPr/>
          <p:nvPr/>
        </p:nvSpPr>
        <p:spPr>
          <a:xfrm>
            <a:off x="10867350" y="41551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g33058e9aee4_0_255"/>
          <p:cNvSpPr/>
          <p:nvPr/>
        </p:nvSpPr>
        <p:spPr>
          <a:xfrm>
            <a:off x="9166350" y="41551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g33058e9aee4_0_255"/>
          <p:cNvSpPr/>
          <p:nvPr/>
        </p:nvSpPr>
        <p:spPr>
          <a:xfrm>
            <a:off x="10016850" y="41551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g33058e9aee4_0_255"/>
          <p:cNvSpPr/>
          <p:nvPr/>
        </p:nvSpPr>
        <p:spPr>
          <a:xfrm>
            <a:off x="26055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g33058e9aee4_0_255"/>
          <p:cNvSpPr/>
          <p:nvPr/>
        </p:nvSpPr>
        <p:spPr>
          <a:xfrm>
            <a:off x="34560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g33058e9aee4_0_255"/>
          <p:cNvSpPr/>
          <p:nvPr/>
        </p:nvSpPr>
        <p:spPr>
          <a:xfrm>
            <a:off x="43065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g33058e9aee4_0_255"/>
          <p:cNvSpPr/>
          <p:nvPr/>
        </p:nvSpPr>
        <p:spPr>
          <a:xfrm>
            <a:off x="51570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g33058e9aee4_0_255"/>
          <p:cNvSpPr/>
          <p:nvPr/>
        </p:nvSpPr>
        <p:spPr>
          <a:xfrm>
            <a:off x="60075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g33058e9aee4_0_255"/>
          <p:cNvSpPr/>
          <p:nvPr/>
        </p:nvSpPr>
        <p:spPr>
          <a:xfrm>
            <a:off x="68580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2" name="Google Shape;492;g33058e9aee4_0_255"/>
          <p:cNvSpPr/>
          <p:nvPr/>
        </p:nvSpPr>
        <p:spPr>
          <a:xfrm>
            <a:off x="77085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3" name="Google Shape;493;g33058e9aee4_0_255"/>
          <p:cNvSpPr/>
          <p:nvPr/>
        </p:nvSpPr>
        <p:spPr>
          <a:xfrm>
            <a:off x="85590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4" name="Google Shape;494;g33058e9aee4_0_255"/>
          <p:cNvSpPr/>
          <p:nvPr/>
        </p:nvSpPr>
        <p:spPr>
          <a:xfrm>
            <a:off x="9409500" y="3687200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5" name="Google Shape;495;g33058e9aee4_0_255"/>
          <p:cNvSpPr/>
          <p:nvPr/>
        </p:nvSpPr>
        <p:spPr>
          <a:xfrm>
            <a:off x="10260000" y="3687175"/>
            <a:ext cx="850500" cy="465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6" name="Google Shape;496;g33058e9aee4_0_255"/>
          <p:cNvSpPr txBox="1"/>
          <p:nvPr/>
        </p:nvSpPr>
        <p:spPr>
          <a:xfrm>
            <a:off x="665550" y="4638575"/>
            <a:ext cx="39729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Waiting Time: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P1=(0-0)+(6-2)+(18-10)=12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P2=(2-0)+(10-4)+(24-14)=18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P3=(4-0)+(14-6)+(26-18)+(34-34)=20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Avg=(12+18+20)/3=16.67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7" name="Google Shape;497;g33058e9aee4_0_255"/>
          <p:cNvSpPr txBox="1"/>
          <p:nvPr/>
        </p:nvSpPr>
        <p:spPr>
          <a:xfrm>
            <a:off x="5389950" y="4638575"/>
            <a:ext cx="37071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Response Time: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P1=(0-0)=0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P2=(2-0)=2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P3=(4-0)=4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Avg=(0+2+4)/3=2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g33058e9aee4_0_255"/>
          <p:cNvSpPr txBox="1"/>
          <p:nvPr/>
        </p:nvSpPr>
        <p:spPr>
          <a:xfrm>
            <a:off x="9848525" y="4532250"/>
            <a:ext cx="37071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Turnaround Time: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P1=(24-0)=24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P2=(26-0)=26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P3=(38-0)=38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Avg=(24+26+38)/3=29.33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058e9aee4_0_520"/>
          <p:cNvSpPr txBox="1"/>
          <p:nvPr>
            <p:ph type="title"/>
          </p:nvPr>
        </p:nvSpPr>
        <p:spPr>
          <a:xfrm>
            <a:off x="685800" y="170330"/>
            <a:ext cx="12344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505" name="Google Shape;505;g33058e9aee4_0_520"/>
          <p:cNvSpPr txBox="1"/>
          <p:nvPr/>
        </p:nvSpPr>
        <p:spPr>
          <a:xfrm>
            <a:off x="18125" y="7954025"/>
            <a:ext cx="137160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Gantt Chart: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CPU: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506" name="Google Shape;506;g33058e9aee4_0_520"/>
          <p:cNvGraphicFramePr/>
          <p:nvPr/>
        </p:nvGraphicFramePr>
        <p:xfrm>
          <a:off x="3532075" y="12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298750"/>
                <a:gridCol w="1331450"/>
                <a:gridCol w="1527650"/>
                <a:gridCol w="4819150"/>
              </a:tblGrid>
              <a:tr h="3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Processes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Burst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Arrival Time 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I/O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6</a:t>
                      </a:r>
                      <a:r>
                        <a:rPr lang="en-US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[2s I/O operation after total 4s of CPU allocation &amp; 4s I/O operation after total 9s of CPU allocation]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r>
                        <a:rPr lang="en-US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[1s I/O operation after total 5s of CPU allocation]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N/A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7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r>
                        <a:rPr lang="en-US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[5s I/O operation after total 4s of CPU allocation]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7" name="Google Shape;507;g33058e9aee4_0_520"/>
          <p:cNvSpPr/>
          <p:nvPr/>
        </p:nvSpPr>
        <p:spPr>
          <a:xfrm>
            <a:off x="18125" y="4205225"/>
            <a:ext cx="33159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Queue 0 (Priority 0): Round-robin (quantum=2)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g33058e9aee4_0_520"/>
          <p:cNvSpPr/>
          <p:nvPr/>
        </p:nvSpPr>
        <p:spPr>
          <a:xfrm>
            <a:off x="3818825" y="4205225"/>
            <a:ext cx="42618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Queue 1 (Priority 1): Round-robin (quantum=4)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g33058e9aee4_0_520"/>
          <p:cNvSpPr/>
          <p:nvPr/>
        </p:nvSpPr>
        <p:spPr>
          <a:xfrm>
            <a:off x="8289725" y="4205225"/>
            <a:ext cx="19272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Queue 2 (Priority 2): Round-robin (quantum=8)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g33058e9aee4_0_520"/>
          <p:cNvSpPr/>
          <p:nvPr/>
        </p:nvSpPr>
        <p:spPr>
          <a:xfrm>
            <a:off x="10333650" y="4205225"/>
            <a:ext cx="33159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Queue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g33058e9aee4_0_520"/>
          <p:cNvSpPr/>
          <p:nvPr/>
        </p:nvSpPr>
        <p:spPr>
          <a:xfrm>
            <a:off x="18125" y="46451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g33058e9aee4_0_520"/>
          <p:cNvSpPr/>
          <p:nvPr/>
        </p:nvSpPr>
        <p:spPr>
          <a:xfrm>
            <a:off x="3818825" y="47072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g33058e9aee4_0_520"/>
          <p:cNvSpPr/>
          <p:nvPr/>
        </p:nvSpPr>
        <p:spPr>
          <a:xfrm>
            <a:off x="4356800" y="4703100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g33058e9aee4_0_520"/>
          <p:cNvSpPr/>
          <p:nvPr/>
        </p:nvSpPr>
        <p:spPr>
          <a:xfrm>
            <a:off x="8158275" y="47072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5" name="Google Shape;515;g33058e9aee4_0_520"/>
          <p:cNvSpPr/>
          <p:nvPr/>
        </p:nvSpPr>
        <p:spPr>
          <a:xfrm>
            <a:off x="8696250" y="4703088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g33058e9aee4_0_520"/>
          <p:cNvSpPr/>
          <p:nvPr/>
        </p:nvSpPr>
        <p:spPr>
          <a:xfrm>
            <a:off x="10333638" y="47093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g33058e9aee4_0_520"/>
          <p:cNvSpPr/>
          <p:nvPr/>
        </p:nvSpPr>
        <p:spPr>
          <a:xfrm>
            <a:off x="10871625" y="4705175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8" name="Google Shape;518;g33058e9aee4_0_520"/>
          <p:cNvSpPr/>
          <p:nvPr/>
        </p:nvSpPr>
        <p:spPr>
          <a:xfrm>
            <a:off x="504425" y="46051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(12)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9" name="Google Shape;519;g33058e9aee4_0_520"/>
          <p:cNvSpPr/>
          <p:nvPr/>
        </p:nvSpPr>
        <p:spPr>
          <a:xfrm>
            <a:off x="18125" y="50586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" name="Google Shape;520;g33058e9aee4_0_520"/>
          <p:cNvSpPr/>
          <p:nvPr/>
        </p:nvSpPr>
        <p:spPr>
          <a:xfrm>
            <a:off x="18125" y="54803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1" name="Google Shape;521;g33058e9aee4_0_520"/>
          <p:cNvSpPr/>
          <p:nvPr/>
        </p:nvSpPr>
        <p:spPr>
          <a:xfrm>
            <a:off x="18125" y="59103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2" name="Google Shape;522;g33058e9aee4_0_520"/>
          <p:cNvSpPr/>
          <p:nvPr/>
        </p:nvSpPr>
        <p:spPr>
          <a:xfrm>
            <a:off x="18125" y="70884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g33058e9aee4_0_520"/>
          <p:cNvSpPr/>
          <p:nvPr/>
        </p:nvSpPr>
        <p:spPr>
          <a:xfrm>
            <a:off x="18125" y="63458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4" name="Google Shape;524;g33058e9aee4_0_520"/>
          <p:cNvSpPr/>
          <p:nvPr/>
        </p:nvSpPr>
        <p:spPr>
          <a:xfrm>
            <a:off x="18125" y="67172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g33058e9aee4_0_520"/>
          <p:cNvSpPr/>
          <p:nvPr/>
        </p:nvSpPr>
        <p:spPr>
          <a:xfrm>
            <a:off x="18125" y="75212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g33058e9aee4_0_520"/>
          <p:cNvSpPr/>
          <p:nvPr/>
        </p:nvSpPr>
        <p:spPr>
          <a:xfrm>
            <a:off x="504425" y="50427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(8)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g33058e9aee4_0_520"/>
          <p:cNvSpPr/>
          <p:nvPr/>
        </p:nvSpPr>
        <p:spPr>
          <a:xfrm>
            <a:off x="504425" y="5480388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g33058e9aee4_0_520"/>
          <p:cNvSpPr/>
          <p:nvPr/>
        </p:nvSpPr>
        <p:spPr>
          <a:xfrm>
            <a:off x="504425" y="58468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(18)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9" name="Google Shape;529;g33058e9aee4_0_520"/>
          <p:cNvSpPr/>
          <p:nvPr/>
        </p:nvSpPr>
        <p:spPr>
          <a:xfrm>
            <a:off x="504425" y="6348313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0" name="Google Shape;530;g33058e9aee4_0_520"/>
          <p:cNvSpPr/>
          <p:nvPr/>
        </p:nvSpPr>
        <p:spPr>
          <a:xfrm>
            <a:off x="504425" y="665088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(8)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" name="Google Shape;531;g33058e9aee4_0_520"/>
          <p:cNvSpPr/>
          <p:nvPr/>
        </p:nvSpPr>
        <p:spPr>
          <a:xfrm>
            <a:off x="1246100" y="6403388"/>
            <a:ext cx="747600" cy="57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Promoted 1 level after I/O Operation</a:t>
            </a:r>
            <a:endParaRPr b="1" i="0" sz="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g33058e9aee4_0_520"/>
          <p:cNvSpPr/>
          <p:nvPr/>
        </p:nvSpPr>
        <p:spPr>
          <a:xfrm>
            <a:off x="504425" y="7086063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3" name="Google Shape;533;g33058e9aee4_0_520"/>
          <p:cNvSpPr/>
          <p:nvPr/>
        </p:nvSpPr>
        <p:spPr>
          <a:xfrm>
            <a:off x="504425" y="74637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(3)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4" name="Google Shape;534;g33058e9aee4_0_520"/>
          <p:cNvSpPr/>
          <p:nvPr/>
        </p:nvSpPr>
        <p:spPr>
          <a:xfrm>
            <a:off x="1246100" y="7216238"/>
            <a:ext cx="747600" cy="57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Promoted 1 level after I/O Operation</a:t>
            </a:r>
            <a:endParaRPr b="1" i="0" sz="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g33058e9aee4_0_520"/>
          <p:cNvSpPr/>
          <p:nvPr/>
        </p:nvSpPr>
        <p:spPr>
          <a:xfrm>
            <a:off x="1962363" y="46886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6" name="Google Shape;536;g33058e9aee4_0_520"/>
          <p:cNvSpPr/>
          <p:nvPr/>
        </p:nvSpPr>
        <p:spPr>
          <a:xfrm>
            <a:off x="1962363" y="51021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g33058e9aee4_0_520"/>
          <p:cNvSpPr/>
          <p:nvPr/>
        </p:nvSpPr>
        <p:spPr>
          <a:xfrm>
            <a:off x="1962363" y="55238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g33058e9aee4_0_520"/>
          <p:cNvSpPr/>
          <p:nvPr/>
        </p:nvSpPr>
        <p:spPr>
          <a:xfrm>
            <a:off x="1962363" y="59538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g33058e9aee4_0_520"/>
          <p:cNvSpPr/>
          <p:nvPr/>
        </p:nvSpPr>
        <p:spPr>
          <a:xfrm>
            <a:off x="1962363" y="71319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g33058e9aee4_0_520"/>
          <p:cNvSpPr/>
          <p:nvPr/>
        </p:nvSpPr>
        <p:spPr>
          <a:xfrm>
            <a:off x="1962363" y="63893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g33058e9aee4_0_520"/>
          <p:cNvSpPr/>
          <p:nvPr/>
        </p:nvSpPr>
        <p:spPr>
          <a:xfrm>
            <a:off x="1962363" y="67606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g33058e9aee4_0_520"/>
          <p:cNvSpPr/>
          <p:nvPr/>
        </p:nvSpPr>
        <p:spPr>
          <a:xfrm>
            <a:off x="2351225" y="4695250"/>
            <a:ext cx="982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3" name="Google Shape;543;g33058e9aee4_0_520"/>
          <p:cNvSpPr/>
          <p:nvPr/>
        </p:nvSpPr>
        <p:spPr>
          <a:xfrm>
            <a:off x="2351225" y="50432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(7)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g33058e9aee4_0_520"/>
          <p:cNvSpPr/>
          <p:nvPr/>
        </p:nvSpPr>
        <p:spPr>
          <a:xfrm>
            <a:off x="2351225" y="5527975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g33058e9aee4_0_520"/>
          <p:cNvSpPr/>
          <p:nvPr/>
        </p:nvSpPr>
        <p:spPr>
          <a:xfrm>
            <a:off x="2382725" y="58400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(3)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6" name="Google Shape;546;g33058e9aee4_0_520"/>
          <p:cNvSpPr/>
          <p:nvPr/>
        </p:nvSpPr>
        <p:spPr>
          <a:xfrm>
            <a:off x="3071225" y="5679888"/>
            <a:ext cx="747600" cy="57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Promoted 1 level after I/O Operation</a:t>
            </a:r>
            <a:endParaRPr b="1" i="0" sz="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g33058e9aee4_0_520"/>
          <p:cNvSpPr/>
          <p:nvPr/>
        </p:nvSpPr>
        <p:spPr>
          <a:xfrm>
            <a:off x="2351225" y="6389425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8" name="Google Shape;548;g33058e9aee4_0_520"/>
          <p:cNvSpPr/>
          <p:nvPr/>
        </p:nvSpPr>
        <p:spPr>
          <a:xfrm>
            <a:off x="2351225" y="66726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(3)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9" name="Google Shape;549;g33058e9aee4_0_520"/>
          <p:cNvSpPr/>
          <p:nvPr/>
        </p:nvSpPr>
        <p:spPr>
          <a:xfrm>
            <a:off x="3071225" y="6550938"/>
            <a:ext cx="747600" cy="57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Promoted 1 level after I/O Operation</a:t>
            </a:r>
            <a:endParaRPr b="1" i="0" sz="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g33058e9aee4_0_520"/>
          <p:cNvSpPr/>
          <p:nvPr/>
        </p:nvSpPr>
        <p:spPr>
          <a:xfrm>
            <a:off x="2321675" y="7088475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1" name="Google Shape;551;g33058e9aee4_0_520"/>
          <p:cNvSpPr/>
          <p:nvPr/>
        </p:nvSpPr>
        <p:spPr>
          <a:xfrm>
            <a:off x="3818825" y="50500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g33058e9aee4_0_520"/>
          <p:cNvSpPr/>
          <p:nvPr/>
        </p:nvSpPr>
        <p:spPr>
          <a:xfrm>
            <a:off x="3818825" y="54717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g33058e9aee4_0_520"/>
          <p:cNvSpPr/>
          <p:nvPr/>
        </p:nvSpPr>
        <p:spPr>
          <a:xfrm>
            <a:off x="3818825" y="59017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g33058e9aee4_0_520"/>
          <p:cNvSpPr/>
          <p:nvPr/>
        </p:nvSpPr>
        <p:spPr>
          <a:xfrm>
            <a:off x="3818825" y="70798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5" name="Google Shape;555;g33058e9aee4_0_520"/>
          <p:cNvSpPr/>
          <p:nvPr/>
        </p:nvSpPr>
        <p:spPr>
          <a:xfrm>
            <a:off x="3818825" y="63372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6" name="Google Shape;556;g33058e9aee4_0_520"/>
          <p:cNvSpPr/>
          <p:nvPr/>
        </p:nvSpPr>
        <p:spPr>
          <a:xfrm>
            <a:off x="3818825" y="67086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7" name="Google Shape;557;g33058e9aee4_0_520"/>
          <p:cNvSpPr/>
          <p:nvPr/>
        </p:nvSpPr>
        <p:spPr>
          <a:xfrm>
            <a:off x="3818825" y="75126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8" name="Google Shape;558;g33058e9aee4_0_520"/>
          <p:cNvSpPr/>
          <p:nvPr/>
        </p:nvSpPr>
        <p:spPr>
          <a:xfrm>
            <a:off x="4305125" y="50211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(10)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g33058e9aee4_0_520"/>
          <p:cNvSpPr/>
          <p:nvPr/>
        </p:nvSpPr>
        <p:spPr>
          <a:xfrm>
            <a:off x="4305125" y="54095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(10)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g33058e9aee4_0_520"/>
          <p:cNvSpPr/>
          <p:nvPr/>
        </p:nvSpPr>
        <p:spPr>
          <a:xfrm>
            <a:off x="4993625" y="54095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1" name="Google Shape;561;g33058e9aee4_0_520"/>
          <p:cNvSpPr/>
          <p:nvPr/>
        </p:nvSpPr>
        <p:spPr>
          <a:xfrm>
            <a:off x="4305125" y="5844025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g33058e9aee4_0_520"/>
          <p:cNvSpPr/>
          <p:nvPr/>
        </p:nvSpPr>
        <p:spPr>
          <a:xfrm>
            <a:off x="4993625" y="5844025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g33058e9aee4_0_520"/>
          <p:cNvSpPr/>
          <p:nvPr/>
        </p:nvSpPr>
        <p:spPr>
          <a:xfrm>
            <a:off x="4305125" y="627631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g33058e9aee4_0_520"/>
          <p:cNvSpPr/>
          <p:nvPr/>
        </p:nvSpPr>
        <p:spPr>
          <a:xfrm>
            <a:off x="4305125" y="6678100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g33058e9aee4_0_520"/>
          <p:cNvSpPr/>
          <p:nvPr/>
        </p:nvSpPr>
        <p:spPr>
          <a:xfrm>
            <a:off x="4993625" y="667811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g33058e9aee4_0_520"/>
          <p:cNvSpPr/>
          <p:nvPr/>
        </p:nvSpPr>
        <p:spPr>
          <a:xfrm>
            <a:off x="4305125" y="70886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7" name="Google Shape;567;g33058e9aee4_0_520"/>
          <p:cNvSpPr/>
          <p:nvPr/>
        </p:nvSpPr>
        <p:spPr>
          <a:xfrm>
            <a:off x="4993625" y="7088650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g33058e9aee4_0_520"/>
          <p:cNvSpPr/>
          <p:nvPr/>
        </p:nvSpPr>
        <p:spPr>
          <a:xfrm>
            <a:off x="5682125" y="70886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(1)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g33058e9aee4_0_520"/>
          <p:cNvSpPr/>
          <p:nvPr/>
        </p:nvSpPr>
        <p:spPr>
          <a:xfrm>
            <a:off x="4305125" y="7499150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(6)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g33058e9aee4_0_520"/>
          <p:cNvSpPr/>
          <p:nvPr/>
        </p:nvSpPr>
        <p:spPr>
          <a:xfrm>
            <a:off x="4993625" y="74991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(1)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g33058e9aee4_0_520"/>
          <p:cNvSpPr/>
          <p:nvPr/>
        </p:nvSpPr>
        <p:spPr>
          <a:xfrm>
            <a:off x="6443538" y="46790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2" name="Google Shape;572;g33058e9aee4_0_520"/>
          <p:cNvSpPr/>
          <p:nvPr/>
        </p:nvSpPr>
        <p:spPr>
          <a:xfrm>
            <a:off x="6443538" y="51007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g33058e9aee4_0_520"/>
          <p:cNvSpPr/>
          <p:nvPr/>
        </p:nvSpPr>
        <p:spPr>
          <a:xfrm>
            <a:off x="6443538" y="55307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4" name="Google Shape;574;g33058e9aee4_0_520"/>
          <p:cNvSpPr/>
          <p:nvPr/>
        </p:nvSpPr>
        <p:spPr>
          <a:xfrm>
            <a:off x="6443538" y="67088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5" name="Google Shape;575;g33058e9aee4_0_520"/>
          <p:cNvSpPr/>
          <p:nvPr/>
        </p:nvSpPr>
        <p:spPr>
          <a:xfrm>
            <a:off x="6443538" y="596628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29: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6" name="Google Shape;576;g33058e9aee4_0_520"/>
          <p:cNvSpPr/>
          <p:nvPr/>
        </p:nvSpPr>
        <p:spPr>
          <a:xfrm>
            <a:off x="6443538" y="63376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29: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g33058e9aee4_0_520"/>
          <p:cNvSpPr/>
          <p:nvPr/>
        </p:nvSpPr>
        <p:spPr>
          <a:xfrm>
            <a:off x="6443538" y="71416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8" name="Google Shape;578;g33058e9aee4_0_520"/>
          <p:cNvSpPr/>
          <p:nvPr/>
        </p:nvSpPr>
        <p:spPr>
          <a:xfrm>
            <a:off x="6931025" y="463678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(1)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9" name="Google Shape;579;g33058e9aee4_0_520"/>
          <p:cNvSpPr/>
          <p:nvPr/>
        </p:nvSpPr>
        <p:spPr>
          <a:xfrm>
            <a:off x="6931025" y="50416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(5)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g33058e9aee4_0_520"/>
          <p:cNvSpPr/>
          <p:nvPr/>
        </p:nvSpPr>
        <p:spPr>
          <a:xfrm>
            <a:off x="6856925" y="5533538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1" name="Google Shape;581;g33058e9aee4_0_520"/>
          <p:cNvSpPr/>
          <p:nvPr/>
        </p:nvSpPr>
        <p:spPr>
          <a:xfrm>
            <a:off x="6931025" y="58440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(1)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2" name="Google Shape;582;g33058e9aee4_0_520"/>
          <p:cNvSpPr/>
          <p:nvPr/>
        </p:nvSpPr>
        <p:spPr>
          <a:xfrm>
            <a:off x="6901475" y="6337600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3" name="Google Shape;583;g33058e9aee4_0_520"/>
          <p:cNvSpPr/>
          <p:nvPr/>
        </p:nvSpPr>
        <p:spPr>
          <a:xfrm>
            <a:off x="6931025" y="664641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(1)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g33058e9aee4_0_520"/>
          <p:cNvSpPr/>
          <p:nvPr/>
        </p:nvSpPr>
        <p:spPr>
          <a:xfrm>
            <a:off x="6901475" y="7145813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g33058e9aee4_0_520"/>
          <p:cNvSpPr/>
          <p:nvPr/>
        </p:nvSpPr>
        <p:spPr>
          <a:xfrm>
            <a:off x="8158263" y="50500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g33058e9aee4_0_520"/>
          <p:cNvSpPr/>
          <p:nvPr/>
        </p:nvSpPr>
        <p:spPr>
          <a:xfrm>
            <a:off x="8158263" y="54799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g33058e9aee4_0_520"/>
          <p:cNvSpPr/>
          <p:nvPr/>
        </p:nvSpPr>
        <p:spPr>
          <a:xfrm>
            <a:off x="8158263" y="591551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8" name="Google Shape;588;g33058e9aee4_0_520"/>
          <p:cNvSpPr/>
          <p:nvPr/>
        </p:nvSpPr>
        <p:spPr>
          <a:xfrm>
            <a:off x="8158263" y="628682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41: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9" name="Google Shape;589;g33058e9aee4_0_520"/>
          <p:cNvSpPr/>
          <p:nvPr/>
        </p:nvSpPr>
        <p:spPr>
          <a:xfrm>
            <a:off x="8696250" y="4983725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(12)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0" name="Google Shape;590;g33058e9aee4_0_520"/>
          <p:cNvSpPr/>
          <p:nvPr/>
        </p:nvSpPr>
        <p:spPr>
          <a:xfrm>
            <a:off x="8696250" y="5479938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1" name="Google Shape;591;g33058e9aee4_0_520"/>
          <p:cNvSpPr/>
          <p:nvPr/>
        </p:nvSpPr>
        <p:spPr>
          <a:xfrm>
            <a:off x="8696250" y="584403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(4)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2" name="Google Shape;592;g33058e9aee4_0_520"/>
          <p:cNvSpPr/>
          <p:nvPr/>
        </p:nvSpPr>
        <p:spPr>
          <a:xfrm>
            <a:off x="8696250" y="6256788"/>
            <a:ext cx="13368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g33058e9aee4_0_520"/>
          <p:cNvSpPr/>
          <p:nvPr/>
        </p:nvSpPr>
        <p:spPr>
          <a:xfrm>
            <a:off x="10333663" y="50541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4" name="Google Shape;594;g33058e9aee4_0_520"/>
          <p:cNvSpPr/>
          <p:nvPr/>
        </p:nvSpPr>
        <p:spPr>
          <a:xfrm>
            <a:off x="10333663" y="548410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5" name="Google Shape;595;g33058e9aee4_0_520"/>
          <p:cNvSpPr/>
          <p:nvPr/>
        </p:nvSpPr>
        <p:spPr>
          <a:xfrm>
            <a:off x="10333663" y="5919663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g33058e9aee4_0_520"/>
          <p:cNvSpPr/>
          <p:nvPr/>
        </p:nvSpPr>
        <p:spPr>
          <a:xfrm>
            <a:off x="10333663" y="62909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g33058e9aee4_0_520"/>
          <p:cNvSpPr/>
          <p:nvPr/>
        </p:nvSpPr>
        <p:spPr>
          <a:xfrm>
            <a:off x="10901175" y="498371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(I/O: 2)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g33058e9aee4_0_520"/>
          <p:cNvSpPr/>
          <p:nvPr/>
        </p:nvSpPr>
        <p:spPr>
          <a:xfrm>
            <a:off x="10871625" y="5471800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9" name="Google Shape;599;g33058e9aee4_0_520"/>
          <p:cNvSpPr/>
          <p:nvPr/>
        </p:nvSpPr>
        <p:spPr>
          <a:xfrm>
            <a:off x="10901175" y="582726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(I/O: 1)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g33058e9aee4_0_520"/>
          <p:cNvSpPr/>
          <p:nvPr/>
        </p:nvSpPr>
        <p:spPr>
          <a:xfrm>
            <a:off x="10871625" y="6315350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1" name="Google Shape;601;g33058e9aee4_0_520"/>
          <p:cNvSpPr/>
          <p:nvPr/>
        </p:nvSpPr>
        <p:spPr>
          <a:xfrm>
            <a:off x="12012763" y="470933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2" name="Google Shape;602;g33058e9aee4_0_520"/>
          <p:cNvSpPr/>
          <p:nvPr/>
        </p:nvSpPr>
        <p:spPr>
          <a:xfrm>
            <a:off x="12012763" y="5139275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3" name="Google Shape;603;g33058e9aee4_0_520"/>
          <p:cNvSpPr/>
          <p:nvPr/>
        </p:nvSpPr>
        <p:spPr>
          <a:xfrm>
            <a:off x="12012763" y="5574838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4" name="Google Shape;604;g33058e9aee4_0_520"/>
          <p:cNvSpPr/>
          <p:nvPr/>
        </p:nvSpPr>
        <p:spPr>
          <a:xfrm>
            <a:off x="12012763" y="5946150"/>
            <a:ext cx="4863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5" name="Google Shape;605;g33058e9aee4_0_520"/>
          <p:cNvSpPr/>
          <p:nvPr/>
        </p:nvSpPr>
        <p:spPr>
          <a:xfrm>
            <a:off x="12457800" y="4685588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(I/O: 4)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6" name="Google Shape;606;g33058e9aee4_0_520"/>
          <p:cNvSpPr/>
          <p:nvPr/>
        </p:nvSpPr>
        <p:spPr>
          <a:xfrm>
            <a:off x="12428250" y="5142100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7" name="Google Shape;607;g33058e9aee4_0_520"/>
          <p:cNvSpPr/>
          <p:nvPr/>
        </p:nvSpPr>
        <p:spPr>
          <a:xfrm>
            <a:off x="12457800" y="5477813"/>
            <a:ext cx="6885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(I/O: 5)</a:t>
            </a:r>
            <a:endParaRPr b="1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g33058e9aee4_0_520"/>
          <p:cNvSpPr/>
          <p:nvPr/>
        </p:nvSpPr>
        <p:spPr>
          <a:xfrm>
            <a:off x="12509075" y="5966300"/>
            <a:ext cx="7476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g33058e9aee4_0_520"/>
          <p:cNvSpPr/>
          <p:nvPr/>
        </p:nvSpPr>
        <p:spPr>
          <a:xfrm>
            <a:off x="10245425" y="6633263"/>
            <a:ext cx="33159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Operations Gantt Chart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0" name="Google Shape;610;g33058e9aee4_0_520"/>
          <p:cNvSpPr/>
          <p:nvPr/>
        </p:nvSpPr>
        <p:spPr>
          <a:xfrm>
            <a:off x="10059050" y="70683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g33058e9aee4_0_520"/>
          <p:cNvSpPr/>
          <p:nvPr/>
        </p:nvSpPr>
        <p:spPr>
          <a:xfrm>
            <a:off x="11028275" y="70683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g33058e9aee4_0_520"/>
          <p:cNvSpPr/>
          <p:nvPr/>
        </p:nvSpPr>
        <p:spPr>
          <a:xfrm>
            <a:off x="10545350" y="7068375"/>
            <a:ext cx="486300" cy="3321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IDLE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g33058e9aee4_0_520"/>
          <p:cNvSpPr/>
          <p:nvPr/>
        </p:nvSpPr>
        <p:spPr>
          <a:xfrm>
            <a:off x="11516400" y="7068375"/>
            <a:ext cx="486300" cy="3321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IDLE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g33058e9aee4_0_520"/>
          <p:cNvSpPr/>
          <p:nvPr/>
        </p:nvSpPr>
        <p:spPr>
          <a:xfrm>
            <a:off x="12480425" y="7068375"/>
            <a:ext cx="486300" cy="3321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IDLE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g33058e9aee4_0_520"/>
          <p:cNvSpPr/>
          <p:nvPr/>
        </p:nvSpPr>
        <p:spPr>
          <a:xfrm>
            <a:off x="11997500" y="70683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g33058e9aee4_0_520"/>
          <p:cNvSpPr/>
          <p:nvPr/>
        </p:nvSpPr>
        <p:spPr>
          <a:xfrm>
            <a:off x="12968550" y="70683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7" name="Google Shape;617;g33058e9aee4_0_520"/>
          <p:cNvSpPr/>
          <p:nvPr/>
        </p:nvSpPr>
        <p:spPr>
          <a:xfrm>
            <a:off x="9905225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8" name="Google Shape;618;g33058e9aee4_0_520"/>
          <p:cNvSpPr/>
          <p:nvPr/>
        </p:nvSpPr>
        <p:spPr>
          <a:xfrm>
            <a:off x="10406700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g33058e9aee4_0_520"/>
          <p:cNvSpPr/>
          <p:nvPr/>
        </p:nvSpPr>
        <p:spPr>
          <a:xfrm>
            <a:off x="10908175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0" name="Google Shape;620;g33058e9aee4_0_520"/>
          <p:cNvSpPr/>
          <p:nvPr/>
        </p:nvSpPr>
        <p:spPr>
          <a:xfrm>
            <a:off x="11409650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g33058e9aee4_0_520"/>
          <p:cNvSpPr/>
          <p:nvPr/>
        </p:nvSpPr>
        <p:spPr>
          <a:xfrm>
            <a:off x="11911125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" name="Google Shape;622;g33058e9aee4_0_520"/>
          <p:cNvSpPr/>
          <p:nvPr/>
        </p:nvSpPr>
        <p:spPr>
          <a:xfrm>
            <a:off x="12412600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g33058e9aee4_0_520"/>
          <p:cNvSpPr/>
          <p:nvPr/>
        </p:nvSpPr>
        <p:spPr>
          <a:xfrm>
            <a:off x="12835650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4" name="Google Shape;624;g33058e9aee4_0_520"/>
          <p:cNvSpPr/>
          <p:nvPr/>
        </p:nvSpPr>
        <p:spPr>
          <a:xfrm>
            <a:off x="13258700" y="74767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g33058e9aee4_0_520"/>
          <p:cNvSpPr/>
          <p:nvPr/>
        </p:nvSpPr>
        <p:spPr>
          <a:xfrm>
            <a:off x="765275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6" name="Google Shape;626;g33058e9aee4_0_520"/>
          <p:cNvSpPr/>
          <p:nvPr/>
        </p:nvSpPr>
        <p:spPr>
          <a:xfrm>
            <a:off x="1734500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g33058e9aee4_0_520"/>
          <p:cNvSpPr/>
          <p:nvPr/>
        </p:nvSpPr>
        <p:spPr>
          <a:xfrm>
            <a:off x="1251575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g33058e9aee4_0_520"/>
          <p:cNvSpPr/>
          <p:nvPr/>
        </p:nvSpPr>
        <p:spPr>
          <a:xfrm>
            <a:off x="2222625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9" name="Google Shape;629;g33058e9aee4_0_520"/>
          <p:cNvSpPr/>
          <p:nvPr/>
        </p:nvSpPr>
        <p:spPr>
          <a:xfrm>
            <a:off x="3186650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0" name="Google Shape;630;g33058e9aee4_0_520"/>
          <p:cNvSpPr/>
          <p:nvPr/>
        </p:nvSpPr>
        <p:spPr>
          <a:xfrm>
            <a:off x="2703725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1" name="Google Shape;631;g33058e9aee4_0_520"/>
          <p:cNvSpPr/>
          <p:nvPr/>
        </p:nvSpPr>
        <p:spPr>
          <a:xfrm>
            <a:off x="3674775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2" name="Google Shape;632;g33058e9aee4_0_520"/>
          <p:cNvSpPr/>
          <p:nvPr/>
        </p:nvSpPr>
        <p:spPr>
          <a:xfrm>
            <a:off x="611450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3" name="Google Shape;633;g33058e9aee4_0_520"/>
          <p:cNvSpPr/>
          <p:nvPr/>
        </p:nvSpPr>
        <p:spPr>
          <a:xfrm>
            <a:off x="111292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4" name="Google Shape;634;g33058e9aee4_0_520"/>
          <p:cNvSpPr/>
          <p:nvPr/>
        </p:nvSpPr>
        <p:spPr>
          <a:xfrm>
            <a:off x="1614400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" name="Google Shape;635;g33058e9aee4_0_520"/>
          <p:cNvSpPr/>
          <p:nvPr/>
        </p:nvSpPr>
        <p:spPr>
          <a:xfrm>
            <a:off x="211587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6" name="Google Shape;636;g33058e9aee4_0_520"/>
          <p:cNvSpPr/>
          <p:nvPr/>
        </p:nvSpPr>
        <p:spPr>
          <a:xfrm>
            <a:off x="2617350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7" name="Google Shape;637;g33058e9aee4_0_520"/>
          <p:cNvSpPr/>
          <p:nvPr/>
        </p:nvSpPr>
        <p:spPr>
          <a:xfrm>
            <a:off x="311882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8" name="Google Shape;638;g33058e9aee4_0_520"/>
          <p:cNvSpPr/>
          <p:nvPr/>
        </p:nvSpPr>
        <p:spPr>
          <a:xfrm>
            <a:off x="354187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9" name="Google Shape;639;g33058e9aee4_0_520"/>
          <p:cNvSpPr/>
          <p:nvPr/>
        </p:nvSpPr>
        <p:spPr>
          <a:xfrm>
            <a:off x="396492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0" name="Google Shape;640;g33058e9aee4_0_520"/>
          <p:cNvSpPr/>
          <p:nvPr/>
        </p:nvSpPr>
        <p:spPr>
          <a:xfrm>
            <a:off x="4150675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g33058e9aee4_0_520"/>
          <p:cNvSpPr/>
          <p:nvPr/>
        </p:nvSpPr>
        <p:spPr>
          <a:xfrm>
            <a:off x="5123275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g33058e9aee4_0_520"/>
          <p:cNvSpPr/>
          <p:nvPr/>
        </p:nvSpPr>
        <p:spPr>
          <a:xfrm>
            <a:off x="4636975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3" name="Google Shape;643;g33058e9aee4_0_520"/>
          <p:cNvSpPr/>
          <p:nvPr/>
        </p:nvSpPr>
        <p:spPr>
          <a:xfrm>
            <a:off x="5608025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4" name="Google Shape;644;g33058e9aee4_0_520"/>
          <p:cNvSpPr/>
          <p:nvPr/>
        </p:nvSpPr>
        <p:spPr>
          <a:xfrm>
            <a:off x="6572050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5" name="Google Shape;645;g33058e9aee4_0_520"/>
          <p:cNvSpPr/>
          <p:nvPr/>
        </p:nvSpPr>
        <p:spPr>
          <a:xfrm>
            <a:off x="6089125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6" name="Google Shape;646;g33058e9aee4_0_520"/>
          <p:cNvSpPr/>
          <p:nvPr/>
        </p:nvSpPr>
        <p:spPr>
          <a:xfrm>
            <a:off x="7060175" y="842230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" name="Google Shape;647;g33058e9aee4_0_520"/>
          <p:cNvSpPr/>
          <p:nvPr/>
        </p:nvSpPr>
        <p:spPr>
          <a:xfrm>
            <a:off x="4498325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" name="Google Shape;648;g33058e9aee4_0_520"/>
          <p:cNvSpPr/>
          <p:nvPr/>
        </p:nvSpPr>
        <p:spPr>
          <a:xfrm>
            <a:off x="4999800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9" name="Google Shape;649;g33058e9aee4_0_520"/>
          <p:cNvSpPr/>
          <p:nvPr/>
        </p:nvSpPr>
        <p:spPr>
          <a:xfrm>
            <a:off x="5501275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g33058e9aee4_0_520"/>
          <p:cNvSpPr/>
          <p:nvPr/>
        </p:nvSpPr>
        <p:spPr>
          <a:xfrm>
            <a:off x="6002750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g33058e9aee4_0_520"/>
          <p:cNvSpPr/>
          <p:nvPr/>
        </p:nvSpPr>
        <p:spPr>
          <a:xfrm>
            <a:off x="6504225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g33058e9aee4_0_520"/>
          <p:cNvSpPr/>
          <p:nvPr/>
        </p:nvSpPr>
        <p:spPr>
          <a:xfrm>
            <a:off x="6927275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29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3" name="Google Shape;653;g33058e9aee4_0_520"/>
          <p:cNvSpPr/>
          <p:nvPr/>
        </p:nvSpPr>
        <p:spPr>
          <a:xfrm>
            <a:off x="7350325" y="883070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4" name="Google Shape;654;g33058e9aee4_0_520"/>
          <p:cNvSpPr/>
          <p:nvPr/>
        </p:nvSpPr>
        <p:spPr>
          <a:xfrm>
            <a:off x="7548300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5" name="Google Shape;655;g33058e9aee4_0_520"/>
          <p:cNvSpPr/>
          <p:nvPr/>
        </p:nvSpPr>
        <p:spPr>
          <a:xfrm>
            <a:off x="8517525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g33058e9aee4_0_520"/>
          <p:cNvSpPr/>
          <p:nvPr/>
        </p:nvSpPr>
        <p:spPr>
          <a:xfrm>
            <a:off x="8034600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g33058e9aee4_0_520"/>
          <p:cNvSpPr/>
          <p:nvPr/>
        </p:nvSpPr>
        <p:spPr>
          <a:xfrm>
            <a:off x="9005650" y="843197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g33058e9aee4_0_520"/>
          <p:cNvSpPr/>
          <p:nvPr/>
        </p:nvSpPr>
        <p:spPr>
          <a:xfrm>
            <a:off x="7895950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g33058e9aee4_0_520"/>
          <p:cNvSpPr/>
          <p:nvPr/>
        </p:nvSpPr>
        <p:spPr>
          <a:xfrm>
            <a:off x="839742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g33058e9aee4_0_520"/>
          <p:cNvSpPr/>
          <p:nvPr/>
        </p:nvSpPr>
        <p:spPr>
          <a:xfrm>
            <a:off x="8898900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41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g33058e9aee4_0_520"/>
          <p:cNvSpPr/>
          <p:nvPr/>
        </p:nvSpPr>
        <p:spPr>
          <a:xfrm>
            <a:off x="9400375" y="884037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45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2" name="Google Shape;662;g33058e9aee4_0_520"/>
          <p:cNvSpPr/>
          <p:nvPr/>
        </p:nvSpPr>
        <p:spPr>
          <a:xfrm>
            <a:off x="2544288" y="8204275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g33058e9aee4_0_520"/>
          <p:cNvSpPr/>
          <p:nvPr/>
        </p:nvSpPr>
        <p:spPr>
          <a:xfrm>
            <a:off x="3045763" y="8204275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g33058e9aee4_0_520"/>
          <p:cNvSpPr/>
          <p:nvPr/>
        </p:nvSpPr>
        <p:spPr>
          <a:xfrm>
            <a:off x="4926738" y="8146500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g33058e9aee4_0_520"/>
          <p:cNvSpPr/>
          <p:nvPr/>
        </p:nvSpPr>
        <p:spPr>
          <a:xfrm>
            <a:off x="6431163" y="8146500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g33058e9aee4_0_520"/>
          <p:cNvSpPr txBox="1"/>
          <p:nvPr/>
        </p:nvSpPr>
        <p:spPr>
          <a:xfrm>
            <a:off x="765275" y="1400750"/>
            <a:ext cx="21042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 2:</a:t>
            </a:r>
            <a:endParaRPr b="0" i="0" sz="2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31ffe22e3d_1_0"/>
          <p:cNvSpPr txBox="1"/>
          <p:nvPr>
            <p:ph type="title"/>
          </p:nvPr>
        </p:nvSpPr>
        <p:spPr>
          <a:xfrm>
            <a:off x="685800" y="170330"/>
            <a:ext cx="123444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5300" lIns="130600" spcFirstLastPara="1" rIns="130600" wrap="square" tIns="653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673" name="Google Shape;673;g331ffe22e3d_1_0"/>
          <p:cNvSpPr txBox="1"/>
          <p:nvPr/>
        </p:nvSpPr>
        <p:spPr>
          <a:xfrm>
            <a:off x="0" y="4202525"/>
            <a:ext cx="99051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Gantt Chart: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CPU:</a:t>
            </a:r>
            <a:endParaRPr b="0"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674" name="Google Shape;674;g331ffe22e3d_1_0"/>
          <p:cNvGraphicFramePr/>
          <p:nvPr/>
        </p:nvGraphicFramePr>
        <p:xfrm>
          <a:off x="3532075" y="12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{A30DBFE1-07CF-471F-BEF1-6666BD2BC075}</a:tableStyleId>
              </a:tblPr>
              <a:tblGrid>
                <a:gridCol w="1298750"/>
                <a:gridCol w="1331450"/>
                <a:gridCol w="1527650"/>
                <a:gridCol w="4819150"/>
              </a:tblGrid>
              <a:tr h="3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Processes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Burst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Arrival Time 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I/O Time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6</a:t>
                      </a:r>
                      <a:r>
                        <a:rPr lang="en-US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[2s I/O operation after total 4s of CPU allocation &amp; 4s I/O operation after total 9s of CPU allocation]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r>
                        <a:rPr lang="en-US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[1s I/O operation after total 5s of CPU allocation]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18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N/A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7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r>
                        <a:rPr lang="en-US" sz="1400" u="none" cap="none" strike="noStrike"/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[5s I/O operation after total 4s of CPU allocation]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5" name="Google Shape;675;g331ffe22e3d_1_0"/>
          <p:cNvSpPr/>
          <p:nvPr/>
        </p:nvSpPr>
        <p:spPr>
          <a:xfrm>
            <a:off x="10283000" y="4202513"/>
            <a:ext cx="33159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I/O Operations Gantt Chart</a:t>
            </a:r>
            <a:endParaRPr b="0"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6" name="Google Shape;676;g331ffe22e3d_1_0"/>
          <p:cNvSpPr/>
          <p:nvPr/>
        </p:nvSpPr>
        <p:spPr>
          <a:xfrm>
            <a:off x="10130025" y="46371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7" name="Google Shape;677;g331ffe22e3d_1_0"/>
          <p:cNvSpPr/>
          <p:nvPr/>
        </p:nvSpPr>
        <p:spPr>
          <a:xfrm>
            <a:off x="11099250" y="46371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8" name="Google Shape;678;g331ffe22e3d_1_0"/>
          <p:cNvSpPr/>
          <p:nvPr/>
        </p:nvSpPr>
        <p:spPr>
          <a:xfrm>
            <a:off x="10616325" y="4637150"/>
            <a:ext cx="486300" cy="3321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IDLE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g331ffe22e3d_1_0"/>
          <p:cNvSpPr/>
          <p:nvPr/>
        </p:nvSpPr>
        <p:spPr>
          <a:xfrm>
            <a:off x="11587375" y="4637150"/>
            <a:ext cx="486300" cy="3321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IDLE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0" name="Google Shape;680;g331ffe22e3d_1_0"/>
          <p:cNvSpPr/>
          <p:nvPr/>
        </p:nvSpPr>
        <p:spPr>
          <a:xfrm>
            <a:off x="12551400" y="4637150"/>
            <a:ext cx="486300" cy="3321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IDLE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1" name="Google Shape;681;g331ffe22e3d_1_0"/>
          <p:cNvSpPr/>
          <p:nvPr/>
        </p:nvSpPr>
        <p:spPr>
          <a:xfrm>
            <a:off x="12068475" y="46371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g331ffe22e3d_1_0"/>
          <p:cNvSpPr/>
          <p:nvPr/>
        </p:nvSpPr>
        <p:spPr>
          <a:xfrm>
            <a:off x="13039525" y="46371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g331ffe22e3d_1_0"/>
          <p:cNvSpPr/>
          <p:nvPr/>
        </p:nvSpPr>
        <p:spPr>
          <a:xfrm>
            <a:off x="9976200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g331ffe22e3d_1_0"/>
          <p:cNvSpPr/>
          <p:nvPr/>
        </p:nvSpPr>
        <p:spPr>
          <a:xfrm>
            <a:off x="10477675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g331ffe22e3d_1_0"/>
          <p:cNvSpPr/>
          <p:nvPr/>
        </p:nvSpPr>
        <p:spPr>
          <a:xfrm>
            <a:off x="10979150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" name="Google Shape;686;g331ffe22e3d_1_0"/>
          <p:cNvSpPr/>
          <p:nvPr/>
        </p:nvSpPr>
        <p:spPr>
          <a:xfrm>
            <a:off x="11480625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g331ffe22e3d_1_0"/>
          <p:cNvSpPr/>
          <p:nvPr/>
        </p:nvSpPr>
        <p:spPr>
          <a:xfrm>
            <a:off x="11982100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8" name="Google Shape;688;g331ffe22e3d_1_0"/>
          <p:cNvSpPr/>
          <p:nvPr/>
        </p:nvSpPr>
        <p:spPr>
          <a:xfrm>
            <a:off x="12483575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9" name="Google Shape;689;g331ffe22e3d_1_0"/>
          <p:cNvSpPr/>
          <p:nvPr/>
        </p:nvSpPr>
        <p:spPr>
          <a:xfrm>
            <a:off x="12906625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0" name="Google Shape;690;g331ffe22e3d_1_0"/>
          <p:cNvSpPr/>
          <p:nvPr/>
        </p:nvSpPr>
        <p:spPr>
          <a:xfrm>
            <a:off x="13329675" y="50455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1" name="Google Shape;691;g331ffe22e3d_1_0"/>
          <p:cNvSpPr/>
          <p:nvPr/>
        </p:nvSpPr>
        <p:spPr>
          <a:xfrm>
            <a:off x="839625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2" name="Google Shape;692;g331ffe22e3d_1_0"/>
          <p:cNvSpPr/>
          <p:nvPr/>
        </p:nvSpPr>
        <p:spPr>
          <a:xfrm>
            <a:off x="1808850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3" name="Google Shape;693;g331ffe22e3d_1_0"/>
          <p:cNvSpPr/>
          <p:nvPr/>
        </p:nvSpPr>
        <p:spPr>
          <a:xfrm>
            <a:off x="1325925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4" name="Google Shape;694;g331ffe22e3d_1_0"/>
          <p:cNvSpPr/>
          <p:nvPr/>
        </p:nvSpPr>
        <p:spPr>
          <a:xfrm>
            <a:off x="2296975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5" name="Google Shape;695;g331ffe22e3d_1_0"/>
          <p:cNvSpPr/>
          <p:nvPr/>
        </p:nvSpPr>
        <p:spPr>
          <a:xfrm>
            <a:off x="3261000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6" name="Google Shape;696;g331ffe22e3d_1_0"/>
          <p:cNvSpPr/>
          <p:nvPr/>
        </p:nvSpPr>
        <p:spPr>
          <a:xfrm>
            <a:off x="2778075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7" name="Google Shape;697;g331ffe22e3d_1_0"/>
          <p:cNvSpPr/>
          <p:nvPr/>
        </p:nvSpPr>
        <p:spPr>
          <a:xfrm>
            <a:off x="3749125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8" name="Google Shape;698;g331ffe22e3d_1_0"/>
          <p:cNvSpPr/>
          <p:nvPr/>
        </p:nvSpPr>
        <p:spPr>
          <a:xfrm>
            <a:off x="685800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g331ffe22e3d_1_0"/>
          <p:cNvSpPr/>
          <p:nvPr/>
        </p:nvSpPr>
        <p:spPr>
          <a:xfrm>
            <a:off x="118727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0" name="Google Shape;700;g331ffe22e3d_1_0"/>
          <p:cNvSpPr/>
          <p:nvPr/>
        </p:nvSpPr>
        <p:spPr>
          <a:xfrm>
            <a:off x="1688750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g331ffe22e3d_1_0"/>
          <p:cNvSpPr/>
          <p:nvPr/>
        </p:nvSpPr>
        <p:spPr>
          <a:xfrm>
            <a:off x="219022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2" name="Google Shape;702;g331ffe22e3d_1_0"/>
          <p:cNvSpPr/>
          <p:nvPr/>
        </p:nvSpPr>
        <p:spPr>
          <a:xfrm>
            <a:off x="2691700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3" name="Google Shape;703;g331ffe22e3d_1_0"/>
          <p:cNvSpPr/>
          <p:nvPr/>
        </p:nvSpPr>
        <p:spPr>
          <a:xfrm>
            <a:off x="319317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g331ffe22e3d_1_0"/>
          <p:cNvSpPr/>
          <p:nvPr/>
        </p:nvSpPr>
        <p:spPr>
          <a:xfrm>
            <a:off x="361622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g331ffe22e3d_1_0"/>
          <p:cNvSpPr/>
          <p:nvPr/>
        </p:nvSpPr>
        <p:spPr>
          <a:xfrm>
            <a:off x="403927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g331ffe22e3d_1_0"/>
          <p:cNvSpPr/>
          <p:nvPr/>
        </p:nvSpPr>
        <p:spPr>
          <a:xfrm>
            <a:off x="4225025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g331ffe22e3d_1_0"/>
          <p:cNvSpPr/>
          <p:nvPr/>
        </p:nvSpPr>
        <p:spPr>
          <a:xfrm>
            <a:off x="5197625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g331ffe22e3d_1_0"/>
          <p:cNvSpPr/>
          <p:nvPr/>
        </p:nvSpPr>
        <p:spPr>
          <a:xfrm>
            <a:off x="4711325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" name="Google Shape;709;g331ffe22e3d_1_0"/>
          <p:cNvSpPr/>
          <p:nvPr/>
        </p:nvSpPr>
        <p:spPr>
          <a:xfrm>
            <a:off x="5682375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P2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" name="Google Shape;710;g331ffe22e3d_1_0"/>
          <p:cNvSpPr/>
          <p:nvPr/>
        </p:nvSpPr>
        <p:spPr>
          <a:xfrm>
            <a:off x="6646400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1" name="Google Shape;711;g331ffe22e3d_1_0"/>
          <p:cNvSpPr/>
          <p:nvPr/>
        </p:nvSpPr>
        <p:spPr>
          <a:xfrm>
            <a:off x="6163475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g331ffe22e3d_1_0"/>
          <p:cNvSpPr/>
          <p:nvPr/>
        </p:nvSpPr>
        <p:spPr>
          <a:xfrm>
            <a:off x="7134525" y="4775050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P1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g331ffe22e3d_1_0"/>
          <p:cNvSpPr/>
          <p:nvPr/>
        </p:nvSpPr>
        <p:spPr>
          <a:xfrm>
            <a:off x="4572675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4" name="Google Shape;714;g331ffe22e3d_1_0"/>
          <p:cNvSpPr/>
          <p:nvPr/>
        </p:nvSpPr>
        <p:spPr>
          <a:xfrm>
            <a:off x="5074150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" name="Google Shape;715;g331ffe22e3d_1_0"/>
          <p:cNvSpPr/>
          <p:nvPr/>
        </p:nvSpPr>
        <p:spPr>
          <a:xfrm>
            <a:off x="5575625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6" name="Google Shape;716;g331ffe22e3d_1_0"/>
          <p:cNvSpPr/>
          <p:nvPr/>
        </p:nvSpPr>
        <p:spPr>
          <a:xfrm>
            <a:off x="6077100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7" name="Google Shape;717;g331ffe22e3d_1_0"/>
          <p:cNvSpPr/>
          <p:nvPr/>
        </p:nvSpPr>
        <p:spPr>
          <a:xfrm>
            <a:off x="6578575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8" name="Google Shape;718;g331ffe22e3d_1_0"/>
          <p:cNvSpPr/>
          <p:nvPr/>
        </p:nvSpPr>
        <p:spPr>
          <a:xfrm>
            <a:off x="7001625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29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9" name="Google Shape;719;g331ffe22e3d_1_0"/>
          <p:cNvSpPr/>
          <p:nvPr/>
        </p:nvSpPr>
        <p:spPr>
          <a:xfrm>
            <a:off x="7424675" y="5183450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0" name="Google Shape;720;g331ffe22e3d_1_0"/>
          <p:cNvSpPr/>
          <p:nvPr/>
        </p:nvSpPr>
        <p:spPr>
          <a:xfrm>
            <a:off x="7622650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1" name="Google Shape;721;g331ffe22e3d_1_0"/>
          <p:cNvSpPr/>
          <p:nvPr/>
        </p:nvSpPr>
        <p:spPr>
          <a:xfrm>
            <a:off x="8591875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g331ffe22e3d_1_0"/>
          <p:cNvSpPr/>
          <p:nvPr/>
        </p:nvSpPr>
        <p:spPr>
          <a:xfrm>
            <a:off x="8108950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P4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g331ffe22e3d_1_0"/>
          <p:cNvSpPr/>
          <p:nvPr/>
        </p:nvSpPr>
        <p:spPr>
          <a:xfrm>
            <a:off x="9080000" y="4784725"/>
            <a:ext cx="486300" cy="332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P3 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4" name="Google Shape;724;g331ffe22e3d_1_0"/>
          <p:cNvSpPr/>
          <p:nvPr/>
        </p:nvSpPr>
        <p:spPr>
          <a:xfrm>
            <a:off x="7970300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5" name="Google Shape;725;g331ffe22e3d_1_0"/>
          <p:cNvSpPr/>
          <p:nvPr/>
        </p:nvSpPr>
        <p:spPr>
          <a:xfrm>
            <a:off x="847177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g331ffe22e3d_1_0"/>
          <p:cNvSpPr/>
          <p:nvPr/>
        </p:nvSpPr>
        <p:spPr>
          <a:xfrm>
            <a:off x="8973250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41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7" name="Google Shape;727;g331ffe22e3d_1_0"/>
          <p:cNvSpPr/>
          <p:nvPr/>
        </p:nvSpPr>
        <p:spPr>
          <a:xfrm>
            <a:off x="9474725" y="5193125"/>
            <a:ext cx="340200" cy="1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45</a:t>
            </a:r>
            <a:endParaRPr b="0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8" name="Google Shape;728;g331ffe22e3d_1_0"/>
          <p:cNvSpPr/>
          <p:nvPr/>
        </p:nvSpPr>
        <p:spPr>
          <a:xfrm>
            <a:off x="2618638" y="4557025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9" name="Google Shape;729;g331ffe22e3d_1_0"/>
          <p:cNvSpPr/>
          <p:nvPr/>
        </p:nvSpPr>
        <p:spPr>
          <a:xfrm>
            <a:off x="3120113" y="4557025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0" name="Google Shape;730;g331ffe22e3d_1_0"/>
          <p:cNvSpPr/>
          <p:nvPr/>
        </p:nvSpPr>
        <p:spPr>
          <a:xfrm>
            <a:off x="5001088" y="4499250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1" name="Google Shape;731;g331ffe22e3d_1_0"/>
          <p:cNvSpPr/>
          <p:nvPr/>
        </p:nvSpPr>
        <p:spPr>
          <a:xfrm>
            <a:off x="6505513" y="4499250"/>
            <a:ext cx="486300" cy="1995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I/O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g331ffe22e3d_1_0"/>
          <p:cNvSpPr txBox="1"/>
          <p:nvPr/>
        </p:nvSpPr>
        <p:spPr>
          <a:xfrm>
            <a:off x="765275" y="1400750"/>
            <a:ext cx="21042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 2:</a:t>
            </a:r>
            <a:endParaRPr b="0" i="0" sz="2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3" name="Google Shape;733;g331ffe22e3d_1_0"/>
          <p:cNvSpPr txBox="1"/>
          <p:nvPr/>
        </p:nvSpPr>
        <p:spPr>
          <a:xfrm>
            <a:off x="444526" y="5575250"/>
            <a:ext cx="43863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Waiting Time: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P1=(0-0)+(6-2)+(11-10)+(19-13)+(27-26)+(29-29)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=12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P2=(2-1)+(8-4)+(13-12)+(24-15)=15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P3=(4-4)+(15-6)+(30-19)+(41-38)=23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P4=(22-20)+(25-24)+(38-32)+(40-40)=9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Avg=(12+15+23+9)/4=14.75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4" name="Google Shape;734;g331ffe22e3d_1_0"/>
          <p:cNvSpPr txBox="1"/>
          <p:nvPr/>
        </p:nvSpPr>
        <p:spPr>
          <a:xfrm>
            <a:off x="5168913" y="5575250"/>
            <a:ext cx="37071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Response Time: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P1=(0-0)=0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P2=(2-1)=1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P3=(4-4)=0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P4=(22-20)=2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Avg=(0+1+0+2)/4=0.75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5" name="Google Shape;735;g331ffe22e3d_1_0"/>
          <p:cNvSpPr txBox="1"/>
          <p:nvPr/>
        </p:nvSpPr>
        <p:spPr>
          <a:xfrm>
            <a:off x="9627488" y="5468925"/>
            <a:ext cx="37071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Turnaround Time: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P1=(30-0)=30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P2=(25-1)=24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P3=(45-4)=41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P4=(41-20)=21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Avg=(30+24+41+21)/4=29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