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y="5143500" cx="9144000"/>
  <p:notesSz cx="6858000" cy="9144000"/>
  <p:embeddedFontLst>
    <p:embeddedFont>
      <p:font typeface="Economica"/>
      <p:regular r:id="rId45"/>
      <p:bold r:id="rId46"/>
      <p:italic r:id="rId47"/>
      <p:boldItalic r:id="rId48"/>
    </p:embeddedFont>
    <p:embeddedFont>
      <p:font typeface="Nunito"/>
      <p:regular r:id="rId49"/>
      <p:bold r:id="rId50"/>
      <p:italic r:id="rId51"/>
      <p:boldItalic r:id="rId52"/>
    </p:embeddedFont>
    <p:embeddedFont>
      <p:font typeface="Spectral"/>
      <p:regular r:id="rId53"/>
      <p:bold r:id="rId54"/>
      <p:italic r:id="rId55"/>
      <p:boldItalic r:id="rId56"/>
    </p:embeddedFont>
    <p:embeddedFont>
      <p:font typeface="Spectral Medium"/>
      <p:regular r:id="rId57"/>
      <p:bold r:id="rId58"/>
      <p:italic r:id="rId59"/>
      <p:boldItalic r:id="rId60"/>
    </p:embeddedFont>
    <p:embeddedFont>
      <p:font typeface="Cambria Math"/>
      <p:regular r:id="rId61"/>
    </p:embeddedFont>
    <p:embeddedFont>
      <p:font typeface="Open Sans"/>
      <p:regular r:id="rId62"/>
      <p:bold r:id="rId63"/>
      <p:italic r:id="rId64"/>
      <p:boldItalic r:id="rId6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66" roundtripDataSignature="AMtx7mgNypmiM6mtYzMOl00NN0yd8+Rx5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ABB81D5-187E-4447-BA3D-32485A7B1CFD}">
  <a:tblStyle styleId="{9ABB81D5-187E-4447-BA3D-32485A7B1CF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font" Target="fonts/Economica-bold.fntdata"/><Relationship Id="rId45" Type="http://schemas.openxmlformats.org/officeDocument/2006/relationships/font" Target="fonts/Economica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Economica-boldItalic.fntdata"/><Relationship Id="rId47" Type="http://schemas.openxmlformats.org/officeDocument/2006/relationships/font" Target="fonts/Economica-italic.fntdata"/><Relationship Id="rId49" Type="http://schemas.openxmlformats.org/officeDocument/2006/relationships/font" Target="fonts/Nunito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font" Target="fonts/OpenSans-regular.fntdata"/><Relationship Id="rId61" Type="http://schemas.openxmlformats.org/officeDocument/2006/relationships/font" Target="fonts/CambriaMath-regular.fntdata"/><Relationship Id="rId20" Type="http://schemas.openxmlformats.org/officeDocument/2006/relationships/slide" Target="slides/slide14.xml"/><Relationship Id="rId64" Type="http://schemas.openxmlformats.org/officeDocument/2006/relationships/font" Target="fonts/OpenSans-italic.fntdata"/><Relationship Id="rId63" Type="http://schemas.openxmlformats.org/officeDocument/2006/relationships/font" Target="fonts/OpenSans-bold.fntdata"/><Relationship Id="rId22" Type="http://schemas.openxmlformats.org/officeDocument/2006/relationships/slide" Target="slides/slide16.xml"/><Relationship Id="rId66" Type="http://customschemas.google.com/relationships/presentationmetadata" Target="metadata"/><Relationship Id="rId21" Type="http://schemas.openxmlformats.org/officeDocument/2006/relationships/slide" Target="slides/slide15.xml"/><Relationship Id="rId65" Type="http://schemas.openxmlformats.org/officeDocument/2006/relationships/font" Target="fonts/OpenSans-boldItalic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schemas.openxmlformats.org/officeDocument/2006/relationships/font" Target="fonts/SpectralMedium-boldItalic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Nunito-italic.fntdata"/><Relationship Id="rId50" Type="http://schemas.openxmlformats.org/officeDocument/2006/relationships/font" Target="fonts/Nunito-bold.fntdata"/><Relationship Id="rId53" Type="http://schemas.openxmlformats.org/officeDocument/2006/relationships/font" Target="fonts/Spectral-regular.fntdata"/><Relationship Id="rId52" Type="http://schemas.openxmlformats.org/officeDocument/2006/relationships/font" Target="fonts/Nunito-boldItalic.fntdata"/><Relationship Id="rId11" Type="http://schemas.openxmlformats.org/officeDocument/2006/relationships/slide" Target="slides/slide5.xml"/><Relationship Id="rId55" Type="http://schemas.openxmlformats.org/officeDocument/2006/relationships/font" Target="fonts/Spectral-italic.fntdata"/><Relationship Id="rId10" Type="http://schemas.openxmlformats.org/officeDocument/2006/relationships/slide" Target="slides/slide4.xml"/><Relationship Id="rId54" Type="http://schemas.openxmlformats.org/officeDocument/2006/relationships/font" Target="fonts/Spectral-bold.fntdata"/><Relationship Id="rId13" Type="http://schemas.openxmlformats.org/officeDocument/2006/relationships/slide" Target="slides/slide7.xml"/><Relationship Id="rId57" Type="http://schemas.openxmlformats.org/officeDocument/2006/relationships/font" Target="fonts/SpectralMedium-regular.fntdata"/><Relationship Id="rId12" Type="http://schemas.openxmlformats.org/officeDocument/2006/relationships/slide" Target="slides/slide6.xml"/><Relationship Id="rId56" Type="http://schemas.openxmlformats.org/officeDocument/2006/relationships/font" Target="fonts/Spectral-boldItalic.fntdata"/><Relationship Id="rId15" Type="http://schemas.openxmlformats.org/officeDocument/2006/relationships/slide" Target="slides/slide9.xml"/><Relationship Id="rId59" Type="http://schemas.openxmlformats.org/officeDocument/2006/relationships/font" Target="fonts/SpectralMedium-italic.fntdata"/><Relationship Id="rId14" Type="http://schemas.openxmlformats.org/officeDocument/2006/relationships/slide" Target="slides/slide8.xml"/><Relationship Id="rId58" Type="http://schemas.openxmlformats.org/officeDocument/2006/relationships/font" Target="fonts/SpectralMedium-bold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A question that arises in discussing operating systems involves what to call all the CPU activities.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A batch system executes jobs, whereas a time-shared system has user programs, or tasks.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A single-user system, a user may be able to run several programs at one time: a word processor, aWeb browser, and an e-mail package.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Even if a device or system does not support multitasking, the operating system may need to support its own internal programmed activities.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In many respects, all these activities are similar, so we call all of them processes.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Although we personally prefer the term process, much of operating-system theory and terminology was developed during a time when the major activity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of operating systems was job processing.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30e5c5688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g330e5c5688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30e5c5688a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g330e5c5688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30e5c5688a_0_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g330e5c5688a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30e5c5688a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g330e5c5688a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2b02a4f0a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g32b02a4f0a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30e5c5688a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g330e5c5688a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2b02a4f0a3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g32b02a4f0a3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2b02a4f0a3_0_1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g32b02a4f0a3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2b02a4f0a3_0_14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g32b02a4f0a3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30e5c5688a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g330e5c5688a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" name="Google Shape;287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6" name="Google Shape;296;p2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1" name="Google Shape;301;p2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7" name="Google Shape;307;p2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85ee8f0eb0_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3" name="Google Shape;313;g385ee8f0eb0_2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85ee8f0eb0_2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8" name="Google Shape;318;g385ee8f0eb0_2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3" name="Google Shape;323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9" name="Google Shape;329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5" name="Google Shape;335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2" name="Google Shape;342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0" name="Google Shape;350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6" name="Google Shape;366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3" name="Google Shape;393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0" name="Google Shape;420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5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35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35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35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6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3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8" name="Google Shape;18;p36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7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22" name="Google Shape;22;p37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23" name="Google Shape;23;p37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4" name="Google Shape;24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38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38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40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41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2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" name="Google Shape;43;p42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42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42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42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3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44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44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3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0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3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9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"/>
          <p:cNvSpPr txBox="1"/>
          <p:nvPr>
            <p:ph type="ctrTitle"/>
          </p:nvPr>
        </p:nvSpPr>
        <p:spPr>
          <a:xfrm>
            <a:off x="2196600" y="1916700"/>
            <a:ext cx="4750800" cy="1310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 sz="3000"/>
              <a:t>Operating Systems</a:t>
            </a:r>
            <a:endParaRPr sz="30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b="1" lang="en">
                <a:solidFill>
                  <a:srgbClr val="38761D"/>
                </a:solidFill>
              </a:rPr>
              <a:t>Process</a:t>
            </a:r>
            <a:endParaRPr b="1">
              <a:solidFill>
                <a:srgbClr val="38761D"/>
              </a:solidFill>
            </a:endParaRPr>
          </a:p>
        </p:txBody>
      </p:sp>
      <p:sp>
        <p:nvSpPr>
          <p:cNvPr id="63" name="Google Shape;63;p1"/>
          <p:cNvSpPr txBox="1"/>
          <p:nvPr/>
        </p:nvSpPr>
        <p:spPr>
          <a:xfrm>
            <a:off x="8281425" y="4595850"/>
            <a:ext cx="555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FBA</a:t>
            </a:r>
            <a:endParaRPr b="0" i="0" sz="13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Process Concept</a:t>
            </a:r>
            <a:endParaRPr/>
          </a:p>
        </p:txBody>
      </p:sp>
      <p:sp>
        <p:nvSpPr>
          <p:cNvPr id="69" name="Google Shape;69;p2"/>
          <p:cNvSpPr txBox="1"/>
          <p:nvPr/>
        </p:nvSpPr>
        <p:spPr>
          <a:xfrm>
            <a:off x="1406125" y="1375150"/>
            <a:ext cx="4262700" cy="4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What to call the activities of CPU ?</a:t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grpSp>
        <p:nvGrpSpPr>
          <p:cNvPr id="70" name="Google Shape;70;p2"/>
          <p:cNvGrpSpPr/>
          <p:nvPr/>
        </p:nvGrpSpPr>
        <p:grpSpPr>
          <a:xfrm>
            <a:off x="2701052" y="1804874"/>
            <a:ext cx="4021205" cy="1295943"/>
            <a:chOff x="1776175" y="2380025"/>
            <a:chExt cx="4388525" cy="1462525"/>
          </a:xfrm>
        </p:grpSpPr>
        <p:sp>
          <p:nvSpPr>
            <p:cNvPr id="71" name="Google Shape;71;p2"/>
            <p:cNvSpPr/>
            <p:nvPr/>
          </p:nvSpPr>
          <p:spPr>
            <a:xfrm>
              <a:off x="1783575" y="2605925"/>
              <a:ext cx="1317300" cy="547500"/>
            </a:xfrm>
            <a:prstGeom prst="bevel">
              <a:avLst>
                <a:gd fmla="val 12500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Jobs</a:t>
              </a:r>
              <a:endParaRPr b="0" i="0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4160400" y="2380025"/>
              <a:ext cx="2004300" cy="999300"/>
            </a:xfrm>
            <a:prstGeom prst="bevel">
              <a:avLst>
                <a:gd fmla="val 12500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User Programs </a:t>
              </a:r>
              <a:endParaRPr b="0" i="0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or </a:t>
              </a:r>
              <a:endParaRPr b="0" i="0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Tasks</a:t>
              </a:r>
              <a:endParaRPr b="0" i="0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73" name="Google Shape;73;p2"/>
            <p:cNvSpPr txBox="1"/>
            <p:nvPr/>
          </p:nvSpPr>
          <p:spPr>
            <a:xfrm>
              <a:off x="1776175" y="3143125"/>
              <a:ext cx="1376400" cy="49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Batch System</a:t>
              </a:r>
              <a:endParaRPr b="0" i="0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74" name="Google Shape;74;p2"/>
            <p:cNvSpPr txBox="1"/>
            <p:nvPr/>
          </p:nvSpPr>
          <p:spPr>
            <a:xfrm>
              <a:off x="4474350" y="3345150"/>
              <a:ext cx="1376400" cy="49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Time Sharing System</a:t>
              </a:r>
              <a:endParaRPr b="0" i="0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</p:grpSp>
      <p:sp>
        <p:nvSpPr>
          <p:cNvPr id="75" name="Google Shape;75;p2"/>
          <p:cNvSpPr txBox="1"/>
          <p:nvPr/>
        </p:nvSpPr>
        <p:spPr>
          <a:xfrm>
            <a:off x="2262950" y="3437625"/>
            <a:ext cx="4262700" cy="4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These activities are called “</a:t>
            </a:r>
            <a:r>
              <a:rPr b="1" i="0" lang="en" sz="1400" u="none" cap="none" strike="noStrike">
                <a:solidFill>
                  <a:srgbClr val="FF0000"/>
                </a:solidFill>
                <a:latin typeface="Spectral"/>
                <a:ea typeface="Spectral"/>
                <a:cs typeface="Spectral"/>
                <a:sym typeface="Spectral"/>
              </a:rPr>
              <a:t>Processes</a:t>
            </a:r>
            <a:r>
              <a:rPr b="0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”   </a:t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76" name="Google Shape;76;p2"/>
          <p:cNvSpPr txBox="1"/>
          <p:nvPr/>
        </p:nvSpPr>
        <p:spPr>
          <a:xfrm>
            <a:off x="1173450" y="4096850"/>
            <a:ext cx="6228300" cy="4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unito"/>
              <a:buChar char="★"/>
            </a:pPr>
            <a:r>
              <a:rPr b="0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The terms </a:t>
            </a:r>
            <a:r>
              <a:rPr b="1" i="1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“job”</a:t>
            </a:r>
            <a:r>
              <a:rPr b="1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 </a:t>
            </a:r>
            <a:r>
              <a:rPr b="0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and </a:t>
            </a:r>
            <a:r>
              <a:rPr b="1" i="1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“process”</a:t>
            </a:r>
            <a:r>
              <a:rPr b="0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 are used almost interchangeably.</a:t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86950" y="1344475"/>
            <a:ext cx="2293400" cy="3076975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3"/>
          <p:cNvSpPr txBox="1"/>
          <p:nvPr>
            <p:ph type="title"/>
          </p:nvPr>
        </p:nvSpPr>
        <p:spPr>
          <a:xfrm>
            <a:off x="311700" y="3550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Process</a:t>
            </a:r>
            <a:endParaRPr/>
          </a:p>
        </p:txBody>
      </p:sp>
      <p:sp>
        <p:nvSpPr>
          <p:cNvPr id="83" name="Google Shape;83;p3"/>
          <p:cNvSpPr txBox="1"/>
          <p:nvPr>
            <p:ph idx="1" type="body"/>
          </p:nvPr>
        </p:nvSpPr>
        <p:spPr>
          <a:xfrm>
            <a:off x="311700" y="1232975"/>
            <a:ext cx="5197800" cy="4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b="1" i="1" lang="en" sz="1400">
                <a:latin typeface="Spectral"/>
                <a:ea typeface="Spectral"/>
                <a:cs typeface="Spectral"/>
                <a:sym typeface="Spectral"/>
              </a:rPr>
              <a:t>A process is a program that is in execution.</a:t>
            </a:r>
            <a:endParaRPr b="1" i="1" sz="1400"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84" name="Google Shape;84;p3"/>
          <p:cNvSpPr txBox="1"/>
          <p:nvPr/>
        </p:nvSpPr>
        <p:spPr>
          <a:xfrm>
            <a:off x="311700" y="1698425"/>
            <a:ext cx="5357400" cy="6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But, it is more than the program codes. Program code is known as “text section” of a process. </a:t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85" name="Google Shape;85;p3"/>
          <p:cNvSpPr txBox="1"/>
          <p:nvPr/>
        </p:nvSpPr>
        <p:spPr>
          <a:xfrm>
            <a:off x="311700" y="2323325"/>
            <a:ext cx="5357400" cy="23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Besides code of the program, it contains - </a:t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unito"/>
              <a:buChar char="●"/>
            </a:pPr>
            <a:r>
              <a:rPr b="1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Program Counter and Registers:</a:t>
            </a:r>
            <a:r>
              <a:rPr b="0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  stores current activity of the process</a:t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unito"/>
              <a:buChar char="●"/>
            </a:pPr>
            <a:r>
              <a:rPr b="1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Stack: </a:t>
            </a:r>
            <a:r>
              <a:rPr b="0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Temporary data (function parameter, local variables, return addresses etc.)</a:t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unito"/>
              <a:buChar char="●"/>
            </a:pPr>
            <a:r>
              <a:rPr b="1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Data Section: </a:t>
            </a:r>
            <a:r>
              <a:rPr b="0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Global Variables</a:t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unito"/>
              <a:buChar char="●"/>
            </a:pPr>
            <a:r>
              <a:rPr b="1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Heap: </a:t>
            </a:r>
            <a:r>
              <a:rPr b="0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dynamically allocated memory during runtime</a:t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Program Vs Process</a:t>
            </a:r>
            <a:endParaRPr/>
          </a:p>
        </p:txBody>
      </p:sp>
      <p:sp>
        <p:nvSpPr>
          <p:cNvPr id="91" name="Google Shape;91;p4"/>
          <p:cNvSpPr txBox="1"/>
          <p:nvPr>
            <p:ph idx="1" type="body"/>
          </p:nvPr>
        </p:nvSpPr>
        <p:spPr>
          <a:xfrm>
            <a:off x="311700" y="114722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-29293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Spectral"/>
              <a:buChar char="➔"/>
            </a:pPr>
            <a:r>
              <a:rPr lang="en" sz="4049">
                <a:latin typeface="Spectral"/>
                <a:ea typeface="Spectral"/>
                <a:cs typeface="Spectral"/>
                <a:sym typeface="Spectral"/>
              </a:rPr>
              <a:t>Program is </a:t>
            </a:r>
            <a:r>
              <a:rPr lang="en" sz="4049">
                <a:solidFill>
                  <a:srgbClr val="FF0000"/>
                </a:solidFill>
                <a:latin typeface="Spectral"/>
                <a:ea typeface="Spectral"/>
                <a:cs typeface="Spectral"/>
                <a:sym typeface="Spectral"/>
              </a:rPr>
              <a:t>passive entity</a:t>
            </a:r>
            <a:r>
              <a:rPr lang="en" sz="4049">
                <a:latin typeface="Spectral"/>
                <a:ea typeface="Spectral"/>
                <a:cs typeface="Spectral"/>
                <a:sym typeface="Spectral"/>
              </a:rPr>
              <a:t> stored on disk (executable file); process is active </a:t>
            </a:r>
            <a:endParaRPr sz="4049">
              <a:latin typeface="Spectral"/>
              <a:ea typeface="Spectral"/>
              <a:cs typeface="Spectral"/>
              <a:sym typeface="Spectral"/>
            </a:endParaRPr>
          </a:p>
          <a:p>
            <a:pPr indent="-292932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Spectral"/>
              <a:buChar char="◆"/>
            </a:pPr>
            <a:r>
              <a:rPr lang="en" sz="4049">
                <a:latin typeface="Spectral"/>
                <a:ea typeface="Spectral"/>
                <a:cs typeface="Spectral"/>
                <a:sym typeface="Spectral"/>
              </a:rPr>
              <a:t>Program becomes process when an executable file is loaded into memory</a:t>
            </a:r>
            <a:endParaRPr sz="4049">
              <a:latin typeface="Spectral"/>
              <a:ea typeface="Spectral"/>
              <a:cs typeface="Spectral"/>
              <a:sym typeface="Spectral"/>
            </a:endParaRPr>
          </a:p>
          <a:p>
            <a:pPr indent="-29293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Spectral"/>
              <a:buChar char="➔"/>
            </a:pPr>
            <a:r>
              <a:rPr lang="en" sz="4049">
                <a:latin typeface="Spectral"/>
                <a:ea typeface="Spectral"/>
                <a:cs typeface="Spectral"/>
                <a:sym typeface="Spectral"/>
              </a:rPr>
              <a:t>Execution of program started via GUI mouse clicks, command line entry of its name, etc.</a:t>
            </a:r>
            <a:endParaRPr sz="4049">
              <a:latin typeface="Spectral"/>
              <a:ea typeface="Spectral"/>
              <a:cs typeface="Spectral"/>
              <a:sym typeface="Spectral"/>
            </a:endParaRPr>
          </a:p>
          <a:p>
            <a:pPr indent="-29293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Spectral"/>
              <a:buChar char="➔"/>
            </a:pPr>
            <a:r>
              <a:rPr lang="en" sz="4049">
                <a:latin typeface="Spectral"/>
                <a:ea typeface="Spectral"/>
                <a:cs typeface="Spectral"/>
                <a:sym typeface="Spectral"/>
              </a:rPr>
              <a:t>One program can be several processes</a:t>
            </a:r>
            <a:endParaRPr sz="4049">
              <a:latin typeface="Spectral"/>
              <a:ea typeface="Spectral"/>
              <a:cs typeface="Spectral"/>
              <a:sym typeface="Spectral"/>
            </a:endParaRPr>
          </a:p>
          <a:p>
            <a:pPr indent="-292932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Spectral"/>
              <a:buChar char="◆"/>
            </a:pPr>
            <a:r>
              <a:rPr lang="en" sz="4049">
                <a:latin typeface="Spectral"/>
                <a:ea typeface="Spectral"/>
                <a:cs typeface="Spectral"/>
                <a:sym typeface="Spectral"/>
              </a:rPr>
              <a:t>Consider multiple users executing the same program</a:t>
            </a:r>
            <a:endParaRPr sz="4049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latin typeface="Spectral"/>
              <a:ea typeface="Spectral"/>
              <a:cs typeface="Spectral"/>
              <a:sym typeface="Spectral"/>
            </a:endParaRPr>
          </a:p>
        </p:txBody>
      </p:sp>
      <p:grpSp>
        <p:nvGrpSpPr>
          <p:cNvPr id="92" name="Google Shape;92;p4"/>
          <p:cNvGrpSpPr/>
          <p:nvPr/>
        </p:nvGrpSpPr>
        <p:grpSpPr>
          <a:xfrm>
            <a:off x="1873100" y="2827525"/>
            <a:ext cx="1311444" cy="1408525"/>
            <a:chOff x="1720700" y="2827525"/>
            <a:chExt cx="1311444" cy="1408525"/>
          </a:xfrm>
        </p:grpSpPr>
        <p:sp>
          <p:nvSpPr>
            <p:cNvPr id="93" name="Google Shape;93;p4"/>
            <p:cNvSpPr/>
            <p:nvPr/>
          </p:nvSpPr>
          <p:spPr>
            <a:xfrm>
              <a:off x="1720700" y="2827525"/>
              <a:ext cx="1311444" cy="999324"/>
            </a:xfrm>
            <a:prstGeom prst="flowChartDocument">
              <a:avLst/>
            </a:prstGeom>
            <a:solidFill>
              <a:srgbClr val="CFE2F3"/>
            </a:solidFill>
            <a:ln cap="flat" cmpd="sng" w="9525">
              <a:solidFill>
                <a:srgbClr val="CFE2F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a=10</a:t>
              </a:r>
              <a:endParaRPr b="0" i="0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b=5</a:t>
              </a:r>
              <a:endParaRPr b="0" i="0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print(a+b)</a:t>
              </a:r>
              <a:endParaRPr b="0" i="0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94" name="Google Shape;94;p4"/>
            <p:cNvSpPr txBox="1"/>
            <p:nvPr/>
          </p:nvSpPr>
          <p:spPr>
            <a:xfrm>
              <a:off x="1790375" y="3826850"/>
              <a:ext cx="1172100" cy="40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 cap="none" strike="noStrik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program1.exe</a:t>
              </a:r>
              <a:endParaRPr b="0" i="0" sz="12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</p:grpSp>
      <p:grpSp>
        <p:nvGrpSpPr>
          <p:cNvPr id="95" name="Google Shape;95;p4"/>
          <p:cNvGrpSpPr/>
          <p:nvPr/>
        </p:nvGrpSpPr>
        <p:grpSpPr>
          <a:xfrm>
            <a:off x="3627425" y="2650300"/>
            <a:ext cx="1200000" cy="698100"/>
            <a:chOff x="3627425" y="2650300"/>
            <a:chExt cx="1200000" cy="698100"/>
          </a:xfrm>
        </p:grpSpPr>
        <p:cxnSp>
          <p:nvCxnSpPr>
            <p:cNvPr id="96" name="Google Shape;96;p4"/>
            <p:cNvCxnSpPr/>
            <p:nvPr/>
          </p:nvCxnSpPr>
          <p:spPr>
            <a:xfrm>
              <a:off x="3627425" y="3339100"/>
              <a:ext cx="1200000" cy="9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97" name="Google Shape;97;p4"/>
            <p:cNvSpPr txBox="1"/>
            <p:nvPr/>
          </p:nvSpPr>
          <p:spPr>
            <a:xfrm>
              <a:off x="3712575" y="2650300"/>
              <a:ext cx="993900" cy="62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 cap="none" strike="noStrik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Program </a:t>
              </a:r>
              <a:endParaRPr b="0" i="0" sz="12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 cap="none" strike="noStrik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Loaded into </a:t>
              </a:r>
              <a:endParaRPr b="0" i="0" sz="12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 cap="none" strike="noStrik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memory</a:t>
              </a:r>
              <a:endParaRPr b="0" i="0" sz="12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</p:grpSp>
      <p:grpSp>
        <p:nvGrpSpPr>
          <p:cNvPr id="98" name="Google Shape;98;p4"/>
          <p:cNvGrpSpPr/>
          <p:nvPr/>
        </p:nvGrpSpPr>
        <p:grpSpPr>
          <a:xfrm>
            <a:off x="4796475" y="2407200"/>
            <a:ext cx="3554350" cy="2619000"/>
            <a:chOff x="4796475" y="2407200"/>
            <a:chExt cx="3554350" cy="2619000"/>
          </a:xfrm>
        </p:grpSpPr>
        <p:sp>
          <p:nvSpPr>
            <p:cNvPr id="99" name="Google Shape;99;p4"/>
            <p:cNvSpPr/>
            <p:nvPr/>
          </p:nvSpPr>
          <p:spPr>
            <a:xfrm>
              <a:off x="5363500" y="2407200"/>
              <a:ext cx="1369200" cy="2343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4"/>
            <p:cNvSpPr/>
            <p:nvPr/>
          </p:nvSpPr>
          <p:spPr>
            <a:xfrm>
              <a:off x="5467600" y="3341450"/>
              <a:ext cx="1172100" cy="4092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1100" u="none" cap="none" strike="noStrik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Value of a is 10</a:t>
              </a:r>
              <a:endParaRPr b="0" i="0" sz="11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101" name="Google Shape;101;p4"/>
            <p:cNvSpPr/>
            <p:nvPr/>
          </p:nvSpPr>
          <p:spPr>
            <a:xfrm>
              <a:off x="5467600" y="3867450"/>
              <a:ext cx="1172100" cy="8370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4"/>
            <p:cNvSpPr/>
            <p:nvPr/>
          </p:nvSpPr>
          <p:spPr>
            <a:xfrm>
              <a:off x="5467600" y="3922375"/>
              <a:ext cx="1172100" cy="2421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print(a+b)</a:t>
              </a:r>
              <a:endParaRPr b="0" i="0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103" name="Google Shape;103;p4"/>
            <p:cNvSpPr/>
            <p:nvPr/>
          </p:nvSpPr>
          <p:spPr>
            <a:xfrm>
              <a:off x="5467600" y="4164475"/>
              <a:ext cx="1172100" cy="2421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b=5</a:t>
              </a:r>
              <a:endParaRPr b="0" i="0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104" name="Google Shape;104;p4"/>
            <p:cNvSpPr/>
            <p:nvPr/>
          </p:nvSpPr>
          <p:spPr>
            <a:xfrm>
              <a:off x="5467600" y="4406725"/>
              <a:ext cx="1172100" cy="2421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a=10</a:t>
              </a:r>
              <a:endParaRPr b="0" i="0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105" name="Google Shape;105;p4"/>
            <p:cNvSpPr txBox="1"/>
            <p:nvPr/>
          </p:nvSpPr>
          <p:spPr>
            <a:xfrm>
              <a:off x="7132500" y="4169450"/>
              <a:ext cx="948600" cy="30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1100" u="none" cap="none" strike="noStrik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Text section</a:t>
              </a:r>
              <a:endParaRPr b="0" i="0" sz="11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106" name="Google Shape;106;p4"/>
            <p:cNvSpPr txBox="1"/>
            <p:nvPr/>
          </p:nvSpPr>
          <p:spPr>
            <a:xfrm>
              <a:off x="7248325" y="3448400"/>
              <a:ext cx="1102500" cy="30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1100" u="none" cap="none" strike="noStrik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Data section</a:t>
              </a:r>
              <a:endParaRPr b="0" i="0" sz="11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107" name="Google Shape;107;p4"/>
            <p:cNvSpPr/>
            <p:nvPr/>
          </p:nvSpPr>
          <p:spPr>
            <a:xfrm>
              <a:off x="5467600" y="2489950"/>
              <a:ext cx="1172100" cy="4092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" sz="1000" u="none" cap="none" strike="noStrik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next address to execute</a:t>
              </a:r>
              <a:endParaRPr b="0" i="0" sz="10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108" name="Google Shape;108;p4"/>
            <p:cNvSpPr txBox="1"/>
            <p:nvPr/>
          </p:nvSpPr>
          <p:spPr>
            <a:xfrm>
              <a:off x="7248325" y="2440600"/>
              <a:ext cx="1102500" cy="50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1100" u="none" cap="none" strike="noStrik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Program counter</a:t>
              </a:r>
              <a:endParaRPr b="0" i="0" sz="11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109" name="Google Shape;109;p4"/>
            <p:cNvSpPr txBox="1"/>
            <p:nvPr/>
          </p:nvSpPr>
          <p:spPr>
            <a:xfrm>
              <a:off x="5910450" y="2792450"/>
              <a:ext cx="502200" cy="62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…</a:t>
              </a:r>
              <a:endParaRPr b="0" i="0" sz="14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...</a:t>
              </a:r>
              <a:endParaRPr b="0" i="0" sz="14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  <p:cxnSp>
          <p:nvCxnSpPr>
            <p:cNvPr id="110" name="Google Shape;110;p4"/>
            <p:cNvCxnSpPr>
              <a:stCxn id="105" idx="1"/>
            </p:cNvCxnSpPr>
            <p:nvPr/>
          </p:nvCxnSpPr>
          <p:spPr>
            <a:xfrm flipH="1">
              <a:off x="6621000" y="4320650"/>
              <a:ext cx="511500" cy="46800"/>
            </a:xfrm>
            <a:prstGeom prst="straightConnector1">
              <a:avLst/>
            </a:prstGeom>
            <a:noFill/>
            <a:ln cap="flat" cmpd="sng" w="19050">
              <a:solidFill>
                <a:srgbClr val="CC4125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11" name="Google Shape;111;p4"/>
            <p:cNvCxnSpPr>
              <a:stCxn id="106" idx="1"/>
              <a:endCxn id="99" idx="3"/>
            </p:cNvCxnSpPr>
            <p:nvPr/>
          </p:nvCxnSpPr>
          <p:spPr>
            <a:xfrm rot="10800000">
              <a:off x="6732625" y="3579200"/>
              <a:ext cx="515700" cy="20400"/>
            </a:xfrm>
            <a:prstGeom prst="straightConnector1">
              <a:avLst/>
            </a:prstGeom>
            <a:noFill/>
            <a:ln cap="flat" cmpd="sng" w="19050">
              <a:solidFill>
                <a:srgbClr val="CC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12" name="Google Shape;112;p4"/>
            <p:cNvCxnSpPr>
              <a:stCxn id="108" idx="1"/>
            </p:cNvCxnSpPr>
            <p:nvPr/>
          </p:nvCxnSpPr>
          <p:spPr>
            <a:xfrm flipH="1">
              <a:off x="6667525" y="2694550"/>
              <a:ext cx="580800" cy="900"/>
            </a:xfrm>
            <a:prstGeom prst="straightConnector1">
              <a:avLst/>
            </a:prstGeom>
            <a:noFill/>
            <a:ln cap="flat" cmpd="sng" w="19050">
              <a:solidFill>
                <a:srgbClr val="CC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13" name="Google Shape;113;p4"/>
            <p:cNvSpPr txBox="1"/>
            <p:nvPr/>
          </p:nvSpPr>
          <p:spPr>
            <a:xfrm>
              <a:off x="4796475" y="4671000"/>
              <a:ext cx="2590500" cy="35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 cap="none" strike="noStrik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Corresponding process in memory</a:t>
              </a:r>
              <a:endParaRPr b="0" i="0" sz="12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Same program, Different Process</a:t>
            </a:r>
            <a:endParaRPr/>
          </a:p>
        </p:txBody>
      </p:sp>
      <p:grpSp>
        <p:nvGrpSpPr>
          <p:cNvPr id="119" name="Google Shape;119;p5"/>
          <p:cNvGrpSpPr/>
          <p:nvPr/>
        </p:nvGrpSpPr>
        <p:grpSpPr>
          <a:xfrm>
            <a:off x="1153200" y="2837822"/>
            <a:ext cx="1292700" cy="1107553"/>
            <a:chOff x="1153200" y="2483322"/>
            <a:chExt cx="1292700" cy="1107553"/>
          </a:xfrm>
        </p:grpSpPr>
        <p:sp>
          <p:nvSpPr>
            <p:cNvPr id="120" name="Google Shape;120;p5"/>
            <p:cNvSpPr/>
            <p:nvPr/>
          </p:nvSpPr>
          <p:spPr>
            <a:xfrm>
              <a:off x="1247967" y="2483322"/>
              <a:ext cx="1103166" cy="709020"/>
            </a:xfrm>
            <a:prstGeom prst="flowChartDocument">
              <a:avLst/>
            </a:prstGeom>
            <a:solidFill>
              <a:srgbClr val="CFE2F3"/>
            </a:solidFill>
            <a:ln cap="flat" cmpd="sng" w="9525">
              <a:solidFill>
                <a:srgbClr val="CFE2F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Code 1</a:t>
              </a:r>
              <a:endParaRPr b="0" i="0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121" name="Google Shape;121;p5"/>
            <p:cNvSpPr txBox="1"/>
            <p:nvPr/>
          </p:nvSpPr>
          <p:spPr>
            <a:xfrm>
              <a:off x="1153200" y="3295375"/>
              <a:ext cx="1292700" cy="29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1100" u="none" cap="none" strike="noStrik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Browser program</a:t>
              </a:r>
              <a:endParaRPr b="0" i="0" sz="11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</p:grpSp>
      <p:grpSp>
        <p:nvGrpSpPr>
          <p:cNvPr id="122" name="Google Shape;122;p5"/>
          <p:cNvGrpSpPr/>
          <p:nvPr/>
        </p:nvGrpSpPr>
        <p:grpSpPr>
          <a:xfrm>
            <a:off x="2351133" y="1906725"/>
            <a:ext cx="2931967" cy="2866175"/>
            <a:chOff x="2351133" y="1906725"/>
            <a:chExt cx="2931967" cy="2866175"/>
          </a:xfrm>
        </p:grpSpPr>
        <p:sp>
          <p:nvSpPr>
            <p:cNvPr id="123" name="Google Shape;123;p5"/>
            <p:cNvSpPr/>
            <p:nvPr/>
          </p:nvSpPr>
          <p:spPr>
            <a:xfrm>
              <a:off x="3394900" y="1906725"/>
              <a:ext cx="1348800" cy="483600"/>
            </a:xfrm>
            <a:prstGeom prst="rect">
              <a:avLst/>
            </a:prstGeom>
            <a:solidFill>
              <a:srgbClr val="D0E0E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Process 1</a:t>
              </a:r>
              <a:endParaRPr b="0" i="0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124" name="Google Shape;124;p5"/>
            <p:cNvSpPr/>
            <p:nvPr/>
          </p:nvSpPr>
          <p:spPr>
            <a:xfrm>
              <a:off x="3394900" y="2926050"/>
              <a:ext cx="1348800" cy="483600"/>
            </a:xfrm>
            <a:prstGeom prst="rect">
              <a:avLst/>
            </a:prstGeom>
            <a:solidFill>
              <a:srgbClr val="D0E0E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Process 2</a:t>
              </a:r>
              <a:endParaRPr b="0" i="0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125" name="Google Shape;125;p5"/>
            <p:cNvSpPr/>
            <p:nvPr/>
          </p:nvSpPr>
          <p:spPr>
            <a:xfrm>
              <a:off x="3394900" y="3945375"/>
              <a:ext cx="1348800" cy="483600"/>
            </a:xfrm>
            <a:prstGeom prst="rect">
              <a:avLst/>
            </a:prstGeom>
            <a:solidFill>
              <a:srgbClr val="D0E0E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Process 3</a:t>
              </a:r>
              <a:endParaRPr b="0" i="0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cxnSp>
          <p:nvCxnSpPr>
            <p:cNvPr id="126" name="Google Shape;126;p5"/>
            <p:cNvCxnSpPr>
              <a:stCxn id="120" idx="3"/>
              <a:endCxn id="123" idx="1"/>
            </p:cNvCxnSpPr>
            <p:nvPr/>
          </p:nvCxnSpPr>
          <p:spPr>
            <a:xfrm flipH="1" rot="10800000">
              <a:off x="2351133" y="2148632"/>
              <a:ext cx="1043700" cy="1043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27" name="Google Shape;127;p5"/>
            <p:cNvCxnSpPr>
              <a:stCxn id="120" idx="3"/>
              <a:endCxn id="124" idx="1"/>
            </p:cNvCxnSpPr>
            <p:nvPr/>
          </p:nvCxnSpPr>
          <p:spPr>
            <a:xfrm flipH="1" rot="10800000">
              <a:off x="2351133" y="3167732"/>
              <a:ext cx="1043700" cy="24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28" name="Google Shape;128;p5"/>
            <p:cNvCxnSpPr>
              <a:stCxn id="120" idx="3"/>
              <a:endCxn id="125" idx="1"/>
            </p:cNvCxnSpPr>
            <p:nvPr/>
          </p:nvCxnSpPr>
          <p:spPr>
            <a:xfrm>
              <a:off x="2351133" y="3192332"/>
              <a:ext cx="1043700" cy="994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29" name="Google Shape;129;p5"/>
            <p:cNvSpPr txBox="1"/>
            <p:nvPr/>
          </p:nvSpPr>
          <p:spPr>
            <a:xfrm>
              <a:off x="3394900" y="2424000"/>
              <a:ext cx="1683300" cy="29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1100" u="none" cap="none" strike="noStrik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Browser ( first window)</a:t>
              </a:r>
              <a:endParaRPr b="0" i="0" sz="11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130" name="Google Shape;130;p5"/>
            <p:cNvSpPr txBox="1"/>
            <p:nvPr/>
          </p:nvSpPr>
          <p:spPr>
            <a:xfrm>
              <a:off x="3394900" y="3421100"/>
              <a:ext cx="1888200" cy="29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1100" u="none" cap="none" strike="noStrik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Browser ( second window)</a:t>
              </a:r>
              <a:endParaRPr b="0" i="0" sz="11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131" name="Google Shape;131;p5"/>
            <p:cNvSpPr txBox="1"/>
            <p:nvPr/>
          </p:nvSpPr>
          <p:spPr>
            <a:xfrm>
              <a:off x="3394825" y="4477400"/>
              <a:ext cx="1728000" cy="29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1100" u="none" cap="none" strike="noStrik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Browser ( third window)</a:t>
              </a:r>
              <a:endParaRPr b="0" i="0" sz="11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</p:grpSp>
      <p:sp>
        <p:nvSpPr>
          <p:cNvPr id="132" name="Google Shape;132;p5"/>
          <p:cNvSpPr txBox="1"/>
          <p:nvPr/>
        </p:nvSpPr>
        <p:spPr>
          <a:xfrm>
            <a:off x="5906150" y="2745625"/>
            <a:ext cx="2492700" cy="14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Spectral"/>
              <a:buChar char="●"/>
            </a:pPr>
            <a:r>
              <a:rPr b="0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Program code is same</a:t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Spectral"/>
              <a:buChar char="●"/>
            </a:pPr>
            <a:r>
              <a:rPr b="0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Data, Heap, Stacks contains different information</a:t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3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3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3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3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3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"/>
          <p:cNvSpPr txBox="1"/>
          <p:nvPr>
            <p:ph type="title"/>
          </p:nvPr>
        </p:nvSpPr>
        <p:spPr>
          <a:xfrm>
            <a:off x="408050" y="539400"/>
            <a:ext cx="7030500" cy="7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States of a Process</a:t>
            </a:r>
            <a:endParaRPr/>
          </a:p>
        </p:txBody>
      </p:sp>
      <p:sp>
        <p:nvSpPr>
          <p:cNvPr id="138" name="Google Shape;138;p6"/>
          <p:cNvSpPr txBox="1"/>
          <p:nvPr>
            <p:ph idx="1" type="body"/>
          </p:nvPr>
        </p:nvSpPr>
        <p:spPr>
          <a:xfrm>
            <a:off x="408050" y="1373663"/>
            <a:ext cx="70305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3826"/>
              <a:buNone/>
            </a:pPr>
            <a:r>
              <a:rPr lang="en">
                <a:latin typeface="Spectral"/>
                <a:ea typeface="Spectral"/>
                <a:cs typeface="Spectral"/>
                <a:sym typeface="Spectral"/>
              </a:rPr>
              <a:t>A process state defines the current activity of that process.</a:t>
            </a:r>
            <a:r>
              <a:rPr lang="en" sz="1400">
                <a:latin typeface="Spectral"/>
                <a:ea typeface="Spectral"/>
                <a:cs typeface="Spectral"/>
                <a:sym typeface="Spectral"/>
              </a:rPr>
              <a:t> </a:t>
            </a:r>
            <a:endParaRPr sz="1400"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39" name="Google Shape;139;p6"/>
          <p:cNvSpPr txBox="1"/>
          <p:nvPr/>
        </p:nvSpPr>
        <p:spPr>
          <a:xfrm>
            <a:off x="408050" y="1906750"/>
            <a:ext cx="5357400" cy="261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The states a process can be: </a:t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unito"/>
              <a:buChar char="❏"/>
            </a:pPr>
            <a:r>
              <a:rPr b="1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New</a:t>
            </a:r>
            <a:r>
              <a:rPr b="0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: Process is being created</a:t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unito"/>
              <a:buChar char="❏"/>
            </a:pPr>
            <a:r>
              <a:rPr b="1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Running</a:t>
            </a:r>
            <a:r>
              <a:rPr b="0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: Instructions are being executed</a:t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unito"/>
              <a:buChar char="❏"/>
            </a:pPr>
            <a:r>
              <a:rPr b="1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Waiting</a:t>
            </a:r>
            <a:r>
              <a:rPr b="0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: Process is waiting for some event to occur</a:t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unito"/>
              <a:buChar char="❏"/>
            </a:pPr>
            <a:r>
              <a:rPr b="1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Ready</a:t>
            </a:r>
            <a:r>
              <a:rPr b="0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: Waiting to be assigned to a processor</a:t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unito"/>
              <a:buChar char="❏"/>
            </a:pPr>
            <a:r>
              <a:rPr b="1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Terminated</a:t>
            </a:r>
            <a:r>
              <a:rPr b="0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: Process has finished execution</a:t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Process State Diagram</a:t>
            </a:r>
            <a:endParaRPr/>
          </a:p>
        </p:txBody>
      </p:sp>
      <p:pic>
        <p:nvPicPr>
          <p:cNvPr id="145" name="Google Shape;14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41075" y="1518075"/>
            <a:ext cx="7003548" cy="285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Representation of Processes in OS</a:t>
            </a:r>
            <a:endParaRPr/>
          </a:p>
        </p:txBody>
      </p:sp>
      <p:sp>
        <p:nvSpPr>
          <p:cNvPr id="151" name="Google Shape;151;p8"/>
          <p:cNvSpPr txBox="1"/>
          <p:nvPr>
            <p:ph idx="1" type="body"/>
          </p:nvPr>
        </p:nvSpPr>
        <p:spPr>
          <a:xfrm>
            <a:off x="311700" y="1299475"/>
            <a:ext cx="7377600" cy="12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 sz="1430">
                <a:latin typeface="Spectral"/>
                <a:ea typeface="Spectral"/>
                <a:cs typeface="Spectral"/>
                <a:sym typeface="Spectral"/>
              </a:rPr>
              <a:t>Each process is represented in the operating system by a </a:t>
            </a:r>
            <a:r>
              <a:rPr b="1" i="1" lang="en" sz="1430">
                <a:latin typeface="Spectral"/>
                <a:ea typeface="Spectral"/>
                <a:cs typeface="Spectral"/>
                <a:sym typeface="Spectral"/>
              </a:rPr>
              <a:t>Process Control Block (PCB) or Task Control Block</a:t>
            </a:r>
            <a:endParaRPr b="1" i="1" sz="143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rPr lang="en" sz="1430">
                <a:latin typeface="Spectral"/>
                <a:ea typeface="Spectral"/>
                <a:cs typeface="Spectral"/>
                <a:sym typeface="Spectral"/>
              </a:rPr>
              <a:t>PCB is a data structure to store information of Processes such as - </a:t>
            </a:r>
            <a:endParaRPr sz="1430">
              <a:latin typeface="Spectral"/>
              <a:ea typeface="Spectral"/>
              <a:cs typeface="Spectral"/>
              <a:sym typeface="Spectral"/>
            </a:endParaRPr>
          </a:p>
        </p:txBody>
      </p:sp>
      <p:pic>
        <p:nvPicPr>
          <p:cNvPr id="152" name="Google Shape;15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73325" y="2065650"/>
            <a:ext cx="2003175" cy="2859175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8"/>
          <p:cNvSpPr txBox="1"/>
          <p:nvPr/>
        </p:nvSpPr>
        <p:spPr>
          <a:xfrm>
            <a:off x="395950" y="2205425"/>
            <a:ext cx="5472600" cy="27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pectral"/>
              <a:buChar char="●"/>
            </a:pPr>
            <a:r>
              <a:rPr b="1" i="0" lang="en" sz="1300" u="none" cap="none" strike="noStrik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Process state</a:t>
            </a:r>
            <a:r>
              <a:rPr b="0" i="0" lang="en" sz="1300" u="none" cap="none" strike="noStrik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 – running, waiting, etc.</a:t>
            </a:r>
            <a:endParaRPr b="0" i="0" sz="13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pectral"/>
              <a:buChar char="●"/>
            </a:pPr>
            <a:r>
              <a:rPr b="1" i="0" lang="en" sz="1300" u="none" cap="none" strike="noStrik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Program counter</a:t>
            </a:r>
            <a:r>
              <a:rPr b="0" i="0" lang="en" sz="1300" u="none" cap="none" strike="noStrik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 – location of instruction to next execute</a:t>
            </a:r>
            <a:endParaRPr b="0" i="0" sz="13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pectral"/>
              <a:buChar char="●"/>
            </a:pPr>
            <a:r>
              <a:rPr b="1" i="0" lang="en" sz="1300" u="none" cap="none" strike="noStrik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CPU registers</a:t>
            </a:r>
            <a:r>
              <a:rPr b="0" i="0" lang="en" sz="1300" u="none" cap="none" strike="noStrik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 – contents of all process-centric registers</a:t>
            </a:r>
            <a:endParaRPr b="0" i="0" sz="13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pectral"/>
              <a:buChar char="●"/>
            </a:pPr>
            <a:r>
              <a:rPr b="1" i="0" lang="en" sz="1300" u="none" cap="none" strike="noStrik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CPU scheduling information</a:t>
            </a:r>
            <a:r>
              <a:rPr b="0" i="0" lang="en" sz="1300" u="none" cap="none" strike="noStrik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- priorities, scheduling queue pointers</a:t>
            </a:r>
            <a:endParaRPr b="0" i="0" sz="13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pectral"/>
              <a:buChar char="●"/>
            </a:pPr>
            <a:r>
              <a:rPr b="1" i="0" lang="en" sz="1300" u="none" cap="none" strike="noStrik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Memory-management information</a:t>
            </a:r>
            <a:r>
              <a:rPr b="0" i="0" lang="en" sz="1300" u="none" cap="none" strike="noStrik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 – memory allocated to the process</a:t>
            </a:r>
            <a:endParaRPr b="0" i="0" sz="13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pectral"/>
              <a:buChar char="●"/>
            </a:pPr>
            <a:r>
              <a:rPr b="1" i="0" lang="en" sz="1300" u="none" cap="none" strike="noStrik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Accounting information</a:t>
            </a:r>
            <a:r>
              <a:rPr b="0" i="0" lang="en" sz="1300" u="none" cap="none" strike="noStrik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 – CPU used, clock time elapsed since start, time limits</a:t>
            </a:r>
            <a:endParaRPr b="0" i="0" sz="13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pectral"/>
              <a:buChar char="●"/>
            </a:pPr>
            <a:r>
              <a:rPr b="1" i="0" lang="en" sz="1300" u="none" cap="none" strike="noStrik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I/O status information</a:t>
            </a:r>
            <a:r>
              <a:rPr b="0" i="0" lang="en" sz="1300" u="none" cap="none" strike="noStrik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 – I/O devices allocated to process, list of open files</a:t>
            </a:r>
            <a:endParaRPr b="0" i="0" sz="13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30e5c5688a_0_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Threads</a:t>
            </a:r>
            <a:endParaRPr/>
          </a:p>
        </p:txBody>
      </p:sp>
      <p:sp>
        <p:nvSpPr>
          <p:cNvPr id="159" name="Google Shape;159;g330e5c5688a_0_0"/>
          <p:cNvSpPr txBox="1"/>
          <p:nvPr/>
        </p:nvSpPr>
        <p:spPr>
          <a:xfrm>
            <a:off x="311700" y="1174350"/>
            <a:ext cx="5472600" cy="27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pectral"/>
              <a:buChar char="➔"/>
            </a:pPr>
            <a:r>
              <a:rPr b="0" i="0" lang="en" sz="1300" u="none" cap="none" strike="noStrik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So far, process has a single thread of execution</a:t>
            </a:r>
            <a:endParaRPr b="0" i="0" sz="13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pectral"/>
              <a:buChar char="➔"/>
            </a:pPr>
            <a:r>
              <a:rPr b="0" i="0" lang="en" sz="1300" u="none" cap="none" strike="noStrik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Consider having multiple program counters per process</a:t>
            </a:r>
            <a:endParaRPr b="0" i="0" sz="13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111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pectral"/>
              <a:buChar char="◆"/>
            </a:pPr>
            <a:r>
              <a:rPr b="0" i="0" lang="en" sz="1300" u="none" cap="none" strike="noStrik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Multiple locations can execute at once</a:t>
            </a:r>
            <a:endParaRPr b="0" i="0" sz="13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111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pectral"/>
              <a:buChar char="●"/>
            </a:pPr>
            <a:r>
              <a:rPr b="0" i="0" lang="en" sz="1300" u="none" cap="none" strike="noStrik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Multiple threads of control -&gt; threads</a:t>
            </a:r>
            <a:endParaRPr b="0" i="0" sz="13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pectral"/>
              <a:buChar char="➔"/>
            </a:pPr>
            <a:r>
              <a:rPr b="0" i="0" lang="en" sz="1300" u="none" cap="none" strike="noStrik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Must then have storage for thread details, multiple program counters in PCB</a:t>
            </a:r>
            <a:endParaRPr b="0" i="0" sz="13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pectral"/>
              <a:buChar char="➔"/>
            </a:pPr>
            <a:r>
              <a:rPr b="0" i="0" lang="en" sz="1300" u="none" cap="none" strike="noStrik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Explore the details later</a:t>
            </a:r>
            <a:endParaRPr b="0" i="0" sz="13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1" i="0" sz="13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30e5c5688a_0_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Process Representation in Linux</a:t>
            </a:r>
            <a:endParaRPr/>
          </a:p>
        </p:txBody>
      </p:sp>
      <p:sp>
        <p:nvSpPr>
          <p:cNvPr id="165" name="Google Shape;165;g330e5c5688a_0_7"/>
          <p:cNvSpPr txBox="1"/>
          <p:nvPr/>
        </p:nvSpPr>
        <p:spPr>
          <a:xfrm>
            <a:off x="311700" y="1174350"/>
            <a:ext cx="8577300" cy="33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Represented by the C structure </a:t>
            </a:r>
            <a:r>
              <a:rPr b="0" i="0" lang="en" sz="13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task_struct</a:t>
            </a:r>
            <a:endParaRPr b="0" i="0" sz="13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pid t_pid;   				/* process identifier */</a:t>
            </a:r>
            <a:endParaRPr b="0" i="0" sz="12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long state;   				/* state of the process */</a:t>
            </a:r>
            <a:endParaRPr b="0" i="0" sz="12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unsigned int time_slice   	/* scheduling information */</a:t>
            </a:r>
            <a:endParaRPr b="0" i="0" sz="12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struct task_struct *parent;	/* this process’s parent */</a:t>
            </a:r>
            <a:endParaRPr b="0" i="0" sz="12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struct list_head children; 	/* this process’s children */</a:t>
            </a:r>
            <a:endParaRPr b="0" i="0" sz="12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struct files_struct *files;	/* list of open files */</a:t>
            </a:r>
            <a:endParaRPr b="0" i="0" sz="12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struct mm_struct *mm;   		/* address space of this process */</a:t>
            </a:r>
            <a:endParaRPr b="0" i="0" sz="12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1" i="0" sz="13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pic>
        <p:nvPicPr>
          <p:cNvPr id="166" name="Google Shape;166;g330e5c5688a_0_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61625" y="3790425"/>
            <a:ext cx="3430425" cy="1183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6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6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6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6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6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6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6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6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6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65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9"/>
          <p:cNvSpPr txBox="1"/>
          <p:nvPr>
            <p:ph type="ctrTitle"/>
          </p:nvPr>
        </p:nvSpPr>
        <p:spPr>
          <a:xfrm>
            <a:off x="2196600" y="1916700"/>
            <a:ext cx="4750800" cy="1310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 sz="3000"/>
              <a:t>Operating Systems</a:t>
            </a:r>
            <a:endParaRPr sz="30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b="1" lang="en">
                <a:solidFill>
                  <a:srgbClr val="38761D"/>
                </a:solidFill>
              </a:rPr>
              <a:t>Process Scheduling</a:t>
            </a:r>
            <a:endParaRPr b="1">
              <a:solidFill>
                <a:srgbClr val="38761D"/>
              </a:solidFill>
            </a:endParaRPr>
          </a:p>
        </p:txBody>
      </p:sp>
      <p:sp>
        <p:nvSpPr>
          <p:cNvPr id="172" name="Google Shape;172;p9"/>
          <p:cNvSpPr txBox="1"/>
          <p:nvPr/>
        </p:nvSpPr>
        <p:spPr>
          <a:xfrm>
            <a:off x="8281425" y="4595850"/>
            <a:ext cx="555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FBA</a:t>
            </a:r>
            <a:endParaRPr b="0" i="0" sz="13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Process Scheduling</a:t>
            </a:r>
            <a:endParaRPr/>
          </a:p>
        </p:txBody>
      </p:sp>
      <p:sp>
        <p:nvSpPr>
          <p:cNvPr id="178" name="Google Shape;178;p10"/>
          <p:cNvSpPr txBox="1"/>
          <p:nvPr/>
        </p:nvSpPr>
        <p:spPr>
          <a:xfrm>
            <a:off x="311700" y="1108300"/>
            <a:ext cx="6398700" cy="14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Spectral"/>
              <a:buChar char="➔"/>
            </a:pPr>
            <a:r>
              <a:rPr b="1" i="0" lang="en" sz="12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Process scheduler</a:t>
            </a:r>
            <a:r>
              <a:rPr b="0" i="0" lang="en" sz="12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 selects among available processes for next execution on CPU core</a:t>
            </a:r>
            <a:endParaRPr b="0" i="0" sz="12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Spectral"/>
              <a:buChar char="➔"/>
            </a:pPr>
            <a:r>
              <a:rPr b="1" i="0" lang="en" sz="12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Goal</a:t>
            </a:r>
            <a:r>
              <a:rPr b="0" i="0" lang="en" sz="12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 -- Maximize CPU use, quickly switch processes onto CPU core</a:t>
            </a:r>
            <a:endParaRPr b="0" i="0" sz="12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Spectral"/>
              <a:buChar char="➔"/>
            </a:pPr>
            <a:r>
              <a:rPr b="0" i="0" lang="en" sz="12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Maintains scheduling queues of processes</a:t>
            </a:r>
            <a:endParaRPr b="0" i="0" sz="12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Spectral"/>
              <a:buChar char="◆"/>
            </a:pPr>
            <a:r>
              <a:rPr b="1" i="0" lang="en" sz="12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Ready queue</a:t>
            </a:r>
            <a:r>
              <a:rPr b="0" i="0" lang="en" sz="12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 – set of all processes residing in main memory, ready and waiting to execute</a:t>
            </a:r>
            <a:endParaRPr b="0" i="0" sz="12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Spectral"/>
              <a:buChar char="◆"/>
            </a:pPr>
            <a:r>
              <a:rPr b="1" i="0" lang="en" sz="12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Wait queues</a:t>
            </a:r>
            <a:r>
              <a:rPr b="0" i="0" lang="en" sz="12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 – set of processes waiting for an event (i.e., I/O)</a:t>
            </a:r>
            <a:endParaRPr b="0" i="0" sz="12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Spectral"/>
              <a:buChar char="◆"/>
            </a:pPr>
            <a:r>
              <a:rPr b="0" i="0" lang="en" sz="12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Processes migrate among the various queues</a:t>
            </a:r>
            <a:endParaRPr b="0" i="0" sz="12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pic>
        <p:nvPicPr>
          <p:cNvPr id="179" name="Google Shape;179;p10"/>
          <p:cNvPicPr preferRelativeResize="0"/>
          <p:nvPr/>
        </p:nvPicPr>
        <p:blipFill rotWithShape="1">
          <a:blip r:embed="rId3">
            <a:alphaModFix/>
          </a:blip>
          <a:srcRect b="-1750" l="0" r="-1760" t="0"/>
          <a:stretch/>
        </p:blipFill>
        <p:spPr>
          <a:xfrm>
            <a:off x="1577350" y="2646550"/>
            <a:ext cx="5218326" cy="2269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Representation of Process Scheduling</a:t>
            </a:r>
            <a:endParaRPr/>
          </a:p>
        </p:txBody>
      </p:sp>
      <p:pic>
        <p:nvPicPr>
          <p:cNvPr id="185" name="Google Shape;18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56875" y="1147225"/>
            <a:ext cx="6030249" cy="347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30e5c5688a_0_2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Context Switch</a:t>
            </a:r>
            <a:endParaRPr/>
          </a:p>
        </p:txBody>
      </p:sp>
      <p:sp>
        <p:nvSpPr>
          <p:cNvPr id="191" name="Google Shape;191;g330e5c5688a_0_22"/>
          <p:cNvSpPr txBox="1"/>
          <p:nvPr>
            <p:ph idx="1" type="body"/>
          </p:nvPr>
        </p:nvSpPr>
        <p:spPr>
          <a:xfrm>
            <a:off x="311700" y="1138125"/>
            <a:ext cx="8487900" cy="11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8571"/>
              <a:buNone/>
            </a:pPr>
            <a:r>
              <a:rPr lang="en" sz="1400">
                <a:latin typeface="Spectral"/>
                <a:ea typeface="Spectral"/>
                <a:cs typeface="Spectral"/>
                <a:sym typeface="Spectral"/>
              </a:rPr>
              <a:t>A </a:t>
            </a:r>
            <a:r>
              <a:rPr b="1" lang="en" sz="1400">
                <a:latin typeface="Spectral"/>
                <a:ea typeface="Spectral"/>
                <a:cs typeface="Spectral"/>
                <a:sym typeface="Spectral"/>
              </a:rPr>
              <a:t>context switch</a:t>
            </a:r>
            <a:r>
              <a:rPr lang="en" sz="1400">
                <a:latin typeface="Spectral"/>
                <a:ea typeface="Spectral"/>
                <a:cs typeface="Spectral"/>
                <a:sym typeface="Spectral"/>
              </a:rPr>
              <a:t> occurs when the CPU  switches from one process to another.</a:t>
            </a:r>
            <a:endParaRPr sz="14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ct val="128571"/>
              <a:buNone/>
            </a:pPr>
            <a:r>
              <a:rPr b="1" lang="en" sz="1400">
                <a:latin typeface="Spectral"/>
                <a:ea typeface="Spectral"/>
                <a:cs typeface="Spectral"/>
                <a:sym typeface="Spectral"/>
              </a:rPr>
              <a:t>Context Switch:</a:t>
            </a:r>
            <a:r>
              <a:rPr lang="en" sz="1400">
                <a:latin typeface="Spectral"/>
                <a:ea typeface="Spectral"/>
                <a:cs typeface="Spectral"/>
                <a:sym typeface="Spectral"/>
              </a:rPr>
              <a:t>  </a:t>
            </a:r>
            <a:endParaRPr sz="1400">
              <a:latin typeface="Spectral"/>
              <a:ea typeface="Spectral"/>
              <a:cs typeface="Spectral"/>
              <a:sym typeface="Spectral"/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ct val="128571"/>
              <a:buNone/>
            </a:pPr>
            <a:r>
              <a:rPr lang="en" sz="1400">
                <a:latin typeface="Spectral"/>
                <a:ea typeface="Spectral"/>
                <a:cs typeface="Spectral"/>
                <a:sym typeface="Spectral"/>
              </a:rPr>
              <a:t>1. Storing currently executed process context</a:t>
            </a:r>
            <a:endParaRPr sz="14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8571"/>
              <a:buNone/>
            </a:pPr>
            <a:r>
              <a:rPr lang="en" sz="1400">
                <a:latin typeface="Spectral"/>
                <a:ea typeface="Spectral"/>
                <a:cs typeface="Spectral"/>
                <a:sym typeface="Spectral"/>
              </a:rPr>
              <a:t>	          2. Restoring the next process context to execute </a:t>
            </a:r>
            <a:endParaRPr sz="1400">
              <a:latin typeface="Spectral"/>
              <a:ea typeface="Spectral"/>
              <a:cs typeface="Spectral"/>
              <a:sym typeface="Spectral"/>
            </a:endParaRPr>
          </a:p>
        </p:txBody>
      </p:sp>
      <p:pic>
        <p:nvPicPr>
          <p:cNvPr id="192" name="Google Shape;192;g330e5c5688a_0_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93813" y="2262275"/>
            <a:ext cx="5156374" cy="26622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3" name="Google Shape;193;g330e5c5688a_0_22"/>
          <p:cNvGrpSpPr/>
          <p:nvPr/>
        </p:nvGrpSpPr>
        <p:grpSpPr>
          <a:xfrm>
            <a:off x="1650350" y="2871675"/>
            <a:ext cx="5498575" cy="625850"/>
            <a:chOff x="1650350" y="2871675"/>
            <a:chExt cx="5498575" cy="625850"/>
          </a:xfrm>
        </p:grpSpPr>
        <p:cxnSp>
          <p:nvCxnSpPr>
            <p:cNvPr id="194" name="Google Shape;194;g330e5c5688a_0_22"/>
            <p:cNvCxnSpPr/>
            <p:nvPr/>
          </p:nvCxnSpPr>
          <p:spPr>
            <a:xfrm flipH="1" rot="10800000">
              <a:off x="2353425" y="2871675"/>
              <a:ext cx="4795500" cy="7200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5" name="Google Shape;195;g330e5c5688a_0_22"/>
            <p:cNvCxnSpPr/>
            <p:nvPr/>
          </p:nvCxnSpPr>
          <p:spPr>
            <a:xfrm flipH="1" rot="10800000">
              <a:off x="2353425" y="3490325"/>
              <a:ext cx="4795500" cy="7200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96" name="Google Shape;196;g330e5c5688a_0_22"/>
            <p:cNvSpPr txBox="1"/>
            <p:nvPr/>
          </p:nvSpPr>
          <p:spPr>
            <a:xfrm>
              <a:off x="1650350" y="2935900"/>
              <a:ext cx="1480200" cy="49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" sz="1000" u="none" cap="none" strike="noStrike">
                  <a:solidFill>
                    <a:srgbClr val="980000"/>
                  </a:solidFill>
                  <a:latin typeface="Nunito"/>
                  <a:ea typeface="Nunito"/>
                  <a:cs typeface="Nunito"/>
                  <a:sym typeface="Nunito"/>
                </a:rPr>
                <a:t>Overhead for context switch from P0 to P1</a:t>
              </a:r>
              <a:endParaRPr b="1" i="0" sz="1000" u="none" cap="none" strike="noStrike">
                <a:solidFill>
                  <a:srgbClr val="980000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197" name="Google Shape;197;g330e5c5688a_0_22"/>
          <p:cNvGrpSpPr/>
          <p:nvPr/>
        </p:nvGrpSpPr>
        <p:grpSpPr>
          <a:xfrm>
            <a:off x="1580725" y="4012775"/>
            <a:ext cx="5577800" cy="677650"/>
            <a:chOff x="1580725" y="4012775"/>
            <a:chExt cx="5577800" cy="677650"/>
          </a:xfrm>
        </p:grpSpPr>
        <p:cxnSp>
          <p:nvCxnSpPr>
            <p:cNvPr id="198" name="Google Shape;198;g330e5c5688a_0_22"/>
            <p:cNvCxnSpPr/>
            <p:nvPr/>
          </p:nvCxnSpPr>
          <p:spPr>
            <a:xfrm flipH="1" rot="10800000">
              <a:off x="2363025" y="4012775"/>
              <a:ext cx="4795500" cy="7200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9" name="Google Shape;199;g330e5c5688a_0_22"/>
            <p:cNvCxnSpPr/>
            <p:nvPr/>
          </p:nvCxnSpPr>
          <p:spPr>
            <a:xfrm flipH="1" rot="10800000">
              <a:off x="2323000" y="4683225"/>
              <a:ext cx="4795500" cy="7200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00" name="Google Shape;200;g330e5c5688a_0_22"/>
            <p:cNvSpPr txBox="1"/>
            <p:nvPr/>
          </p:nvSpPr>
          <p:spPr>
            <a:xfrm>
              <a:off x="1580725" y="4102900"/>
              <a:ext cx="1549800" cy="49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" sz="1000" u="none" cap="none" strike="noStrike">
                  <a:solidFill>
                    <a:srgbClr val="980000"/>
                  </a:solidFill>
                  <a:latin typeface="Nunito"/>
                  <a:ea typeface="Nunito"/>
                  <a:cs typeface="Nunito"/>
                  <a:sym typeface="Nunito"/>
                </a:rPr>
                <a:t>Overhead for context switch from P1 to P0</a:t>
              </a:r>
              <a:endParaRPr b="1" i="0" sz="1000" u="none" cap="none" strike="noStrike">
                <a:solidFill>
                  <a:srgbClr val="980000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30e5c5688a_0_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Context Switch</a:t>
            </a:r>
            <a:endParaRPr/>
          </a:p>
        </p:txBody>
      </p:sp>
      <p:sp>
        <p:nvSpPr>
          <p:cNvPr id="206" name="Google Shape;206;g330e5c5688a_0_16"/>
          <p:cNvSpPr txBox="1"/>
          <p:nvPr/>
        </p:nvSpPr>
        <p:spPr>
          <a:xfrm>
            <a:off x="311700" y="1108300"/>
            <a:ext cx="6398700" cy="3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Spectral"/>
              <a:buChar char="➔"/>
            </a:pPr>
            <a:r>
              <a:rPr b="0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When CPU switches to another process, the system must </a:t>
            </a:r>
            <a:r>
              <a:rPr b="1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save the state</a:t>
            </a:r>
            <a:r>
              <a:rPr b="0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 of the old process and </a:t>
            </a:r>
            <a:r>
              <a:rPr b="1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load the saved state</a:t>
            </a:r>
            <a:r>
              <a:rPr b="0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 for the new process via a </a:t>
            </a:r>
            <a:r>
              <a:rPr b="1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context switch</a:t>
            </a:r>
            <a:endParaRPr b="1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Spectral"/>
              <a:buChar char="➔"/>
            </a:pPr>
            <a:r>
              <a:rPr b="1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Context</a:t>
            </a:r>
            <a:r>
              <a:rPr b="0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 of a process represented in the PCB</a:t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Spectral"/>
              <a:buChar char="➔"/>
            </a:pPr>
            <a:r>
              <a:rPr b="0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Context-switch time is pure overhead; the system does no useful work while switching</a:t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Spectral"/>
              <a:buChar char="◆"/>
            </a:pPr>
            <a:r>
              <a:rPr b="0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The more complex the OS and the PCB </a:t>
            </a:r>
            <a:r>
              <a:rPr b="1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=&gt;</a:t>
            </a:r>
            <a:r>
              <a:rPr b="0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 the longer the context switch</a:t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Spectral"/>
              <a:buChar char="➔"/>
            </a:pPr>
            <a:r>
              <a:rPr b="0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Time dependent on hardware support</a:t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Spectral"/>
              <a:buChar char="◆"/>
            </a:pPr>
            <a:r>
              <a:rPr b="0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Some hardware provides multiple sets of registers per CPU </a:t>
            </a:r>
            <a:r>
              <a:rPr b="1" i="0" lang="en" sz="1400" u="none" cap="none" strike="noStrik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=&gt;</a:t>
            </a:r>
            <a:r>
              <a:rPr b="0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 multiple contexts loaded at once</a:t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2b02a4f0a3_0_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 sz="3600"/>
              <a:t>Dual Mode Operation</a:t>
            </a:r>
            <a:r>
              <a:rPr lang="en" sz="3600">
                <a:latin typeface="Impact"/>
                <a:ea typeface="Impact"/>
                <a:cs typeface="Impact"/>
                <a:sym typeface="Impact"/>
              </a:rPr>
              <a:t> </a:t>
            </a:r>
            <a:endParaRPr sz="3600"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12" name="Google Shape;212;g32b02a4f0a3_0_0"/>
          <p:cNvSpPr txBox="1"/>
          <p:nvPr>
            <p:ph idx="1" type="body"/>
          </p:nvPr>
        </p:nvSpPr>
        <p:spPr>
          <a:xfrm>
            <a:off x="311700" y="1147225"/>
            <a:ext cx="8520600" cy="17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Need to distinguish between the execution of operating-system code and user defined code.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A bit, called the mode bit, is added to the hardware of the computer to indicate the current mode: kernel (0) or user (1).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dual mode of operation provides protection of the operating system from errant users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this protection is provided by designating some of the machine instructions that may cause harm as privileged instructions that are executed only in kernel mode. 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3" name="Google Shape;213;g32b02a4f0a3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4137" y="2782725"/>
            <a:ext cx="5755726" cy="226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30e5c5688a_0_4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System Calls</a:t>
            </a:r>
            <a:endParaRPr/>
          </a:p>
        </p:txBody>
      </p:sp>
      <p:sp>
        <p:nvSpPr>
          <p:cNvPr id="219" name="Google Shape;219;g330e5c5688a_0_40"/>
          <p:cNvSpPr txBox="1"/>
          <p:nvPr>
            <p:ph idx="1" type="body"/>
          </p:nvPr>
        </p:nvSpPr>
        <p:spPr>
          <a:xfrm>
            <a:off x="311700" y="1147225"/>
            <a:ext cx="8520600" cy="31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ectral"/>
              <a:buChar char="●"/>
            </a:pPr>
            <a:r>
              <a:rPr lang="en" sz="1500">
                <a:latin typeface="Spectral"/>
                <a:ea typeface="Spectral"/>
                <a:cs typeface="Spectral"/>
                <a:sym typeface="Spectral"/>
              </a:rPr>
              <a:t>Programming interface to the services provided by the OS</a:t>
            </a:r>
            <a:endParaRPr sz="1500">
              <a:latin typeface="Spectral"/>
              <a:ea typeface="Spectral"/>
              <a:cs typeface="Spectral"/>
              <a:sym typeface="Spectral"/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ectral"/>
              <a:buChar char="●"/>
            </a:pPr>
            <a:r>
              <a:rPr lang="en" sz="1500">
                <a:latin typeface="Spectral"/>
                <a:ea typeface="Spectral"/>
                <a:cs typeface="Spectral"/>
                <a:sym typeface="Spectral"/>
              </a:rPr>
              <a:t>Typically written in a high-level language (C or C++)</a:t>
            </a:r>
            <a:endParaRPr sz="1500">
              <a:latin typeface="Spectral"/>
              <a:ea typeface="Spectral"/>
              <a:cs typeface="Spectral"/>
              <a:sym typeface="Spectral"/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ectral"/>
              <a:buChar char="●"/>
            </a:pPr>
            <a:r>
              <a:rPr lang="en" sz="1500">
                <a:latin typeface="Spectral"/>
                <a:ea typeface="Spectral"/>
                <a:cs typeface="Spectral"/>
                <a:sym typeface="Spectral"/>
              </a:rPr>
              <a:t>Mostly accessed by programs via a high-level Application Programming Interface (API) rather than direct system call use</a:t>
            </a:r>
            <a:endParaRPr sz="1500">
              <a:latin typeface="Spectral"/>
              <a:ea typeface="Spectral"/>
              <a:cs typeface="Spectral"/>
              <a:sym typeface="Spectral"/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ectral"/>
              <a:buChar char="●"/>
            </a:pPr>
            <a:r>
              <a:rPr lang="en" sz="1500">
                <a:latin typeface="Spectral"/>
                <a:ea typeface="Spectral"/>
                <a:cs typeface="Spectral"/>
                <a:sym typeface="Spectral"/>
              </a:rPr>
              <a:t>Three most common APIs are Win32 API for Windows, POSIX API for POSIX-based systems (including virtually all versions of UNIX, Linux, and Mac OS X), and Java API for the Java virtual machine (JVM)</a:t>
            </a:r>
            <a:endParaRPr sz="15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5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500">
                <a:latin typeface="Spectral"/>
                <a:ea typeface="Spectral"/>
                <a:cs typeface="Spectral"/>
                <a:sym typeface="Spectral"/>
              </a:rPr>
              <a:t>Note:</a:t>
            </a:r>
            <a:r>
              <a:rPr lang="en" sz="1500">
                <a:latin typeface="Spectral"/>
                <a:ea typeface="Spectral"/>
                <a:cs typeface="Spectral"/>
                <a:sym typeface="Spectral"/>
              </a:rPr>
              <a:t> the system-call names used throughout this text are generic</a:t>
            </a:r>
            <a:endParaRPr sz="15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5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2b02a4f0a3_0_79"/>
          <p:cNvSpPr txBox="1"/>
          <p:nvPr>
            <p:ph type="title"/>
          </p:nvPr>
        </p:nvSpPr>
        <p:spPr>
          <a:xfrm>
            <a:off x="311700" y="76700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System Call Interface</a:t>
            </a:r>
            <a:endParaRPr/>
          </a:p>
        </p:txBody>
      </p:sp>
      <p:sp>
        <p:nvSpPr>
          <p:cNvPr id="225" name="Google Shape;225;g32b02a4f0a3_0_79"/>
          <p:cNvSpPr txBox="1"/>
          <p:nvPr>
            <p:ph idx="1" type="body"/>
          </p:nvPr>
        </p:nvSpPr>
        <p:spPr>
          <a:xfrm>
            <a:off x="311700" y="908000"/>
            <a:ext cx="4413300" cy="39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ectral"/>
              <a:buChar char="➔"/>
            </a:pPr>
            <a:r>
              <a:rPr lang="en" sz="1400">
                <a:latin typeface="Spectral"/>
                <a:ea typeface="Spectral"/>
                <a:cs typeface="Spectral"/>
                <a:sym typeface="Spectral"/>
              </a:rPr>
              <a:t>Typically, a number is  associated with each system call</a:t>
            </a:r>
            <a:endParaRPr sz="1400">
              <a:latin typeface="Spectral"/>
              <a:ea typeface="Spectral"/>
              <a:cs typeface="Spectral"/>
              <a:sym typeface="Spectral"/>
            </a:endParaRPr>
          </a:p>
          <a:p>
            <a:pPr indent="-317500" lvl="1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ectral"/>
              <a:buChar char="◆"/>
            </a:pPr>
            <a:r>
              <a:rPr b="1" lang="en" sz="1400">
                <a:latin typeface="Spectral"/>
                <a:ea typeface="Spectral"/>
                <a:cs typeface="Spectral"/>
                <a:sym typeface="Spectral"/>
              </a:rPr>
              <a:t>System-call</a:t>
            </a:r>
            <a:r>
              <a:rPr lang="en" sz="1400">
                <a:latin typeface="Spectral"/>
                <a:ea typeface="Spectral"/>
                <a:cs typeface="Spectral"/>
                <a:sym typeface="Spectral"/>
              </a:rPr>
              <a:t> interface maintains a table indexed according to these numbers</a:t>
            </a:r>
            <a:endParaRPr sz="1400">
              <a:latin typeface="Spectral"/>
              <a:ea typeface="Spectral"/>
              <a:cs typeface="Spectral"/>
              <a:sym typeface="Spectral"/>
            </a:endParaRPr>
          </a:p>
          <a:p>
            <a:pPr indent="-3175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ectral"/>
              <a:buChar char="➔"/>
            </a:pPr>
            <a:r>
              <a:rPr lang="en" sz="1400">
                <a:latin typeface="Spectral"/>
                <a:ea typeface="Spectral"/>
                <a:cs typeface="Spectral"/>
                <a:sym typeface="Spectral"/>
              </a:rPr>
              <a:t>The system call interface invokes  the intended system call in OS kernel and returns status of the system call and any return values</a:t>
            </a:r>
            <a:endParaRPr sz="1400">
              <a:latin typeface="Spectral"/>
              <a:ea typeface="Spectral"/>
              <a:cs typeface="Spectral"/>
              <a:sym typeface="Spectral"/>
            </a:endParaRPr>
          </a:p>
          <a:p>
            <a:pPr indent="-3175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ectral"/>
              <a:buChar char="➔"/>
            </a:pPr>
            <a:r>
              <a:rPr lang="en" sz="1400">
                <a:latin typeface="Spectral"/>
                <a:ea typeface="Spectral"/>
                <a:cs typeface="Spectral"/>
                <a:sym typeface="Spectral"/>
              </a:rPr>
              <a:t>The caller need know nothing about how the system call is implemented</a:t>
            </a:r>
            <a:endParaRPr sz="1400">
              <a:latin typeface="Spectral"/>
              <a:ea typeface="Spectral"/>
              <a:cs typeface="Spectral"/>
              <a:sym typeface="Spectral"/>
            </a:endParaRPr>
          </a:p>
          <a:p>
            <a:pPr indent="-317500" lvl="1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ectral"/>
              <a:buChar char="◆"/>
            </a:pPr>
            <a:r>
              <a:rPr lang="en" sz="1400">
                <a:latin typeface="Spectral"/>
                <a:ea typeface="Spectral"/>
                <a:cs typeface="Spectral"/>
                <a:sym typeface="Spectral"/>
              </a:rPr>
              <a:t>Just needs to obey API and understand what OS will do as a result call</a:t>
            </a:r>
            <a:endParaRPr sz="1400">
              <a:latin typeface="Spectral"/>
              <a:ea typeface="Spectral"/>
              <a:cs typeface="Spectral"/>
              <a:sym typeface="Spectral"/>
            </a:endParaRPr>
          </a:p>
          <a:p>
            <a:pPr indent="-317500" lvl="1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ectral"/>
              <a:buChar char="◆"/>
            </a:pPr>
            <a:r>
              <a:rPr lang="en" sz="1400">
                <a:latin typeface="Spectral"/>
                <a:ea typeface="Spectral"/>
                <a:cs typeface="Spectral"/>
                <a:sym typeface="Spectral"/>
              </a:rPr>
              <a:t>Most details of  OS interface hidden from programmer by API  </a:t>
            </a:r>
            <a:endParaRPr sz="1400">
              <a:latin typeface="Spectral"/>
              <a:ea typeface="Spectral"/>
              <a:cs typeface="Spectral"/>
              <a:sym typeface="Spectral"/>
            </a:endParaRPr>
          </a:p>
          <a:p>
            <a:pPr indent="-317500" lvl="2" marL="13716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ectral"/>
              <a:buChar char="●"/>
            </a:pPr>
            <a:r>
              <a:rPr lang="en" sz="1400">
                <a:latin typeface="Spectral"/>
                <a:ea typeface="Spectral"/>
                <a:cs typeface="Spectral"/>
                <a:sym typeface="Spectral"/>
              </a:rPr>
              <a:t>Managed by run-time support library (set of functions built into libraries included with compiler)</a:t>
            </a:r>
            <a:endParaRPr sz="14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latin typeface="Spectral"/>
              <a:ea typeface="Spectral"/>
              <a:cs typeface="Spectral"/>
              <a:sym typeface="Spectral"/>
            </a:endParaRPr>
          </a:p>
        </p:txBody>
      </p:sp>
      <p:pic>
        <p:nvPicPr>
          <p:cNvPr id="226" name="Google Shape;226;g32b02a4f0a3_0_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14775" y="960075"/>
            <a:ext cx="4114199" cy="322335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g32b02a4f0a3_0_79"/>
          <p:cNvSpPr txBox="1"/>
          <p:nvPr/>
        </p:nvSpPr>
        <p:spPr>
          <a:xfrm>
            <a:off x="5566525" y="4351050"/>
            <a:ext cx="28107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Figure:</a:t>
            </a:r>
            <a:r>
              <a:rPr b="0" i="0" lang="en" sz="1000" u="none" cap="none" strike="noStrike">
                <a:solidFill>
                  <a:schemeClr val="dk1"/>
                </a:solidFill>
                <a:latin typeface="Spectral Medium"/>
                <a:ea typeface="Spectral Medium"/>
                <a:cs typeface="Spectral Medium"/>
                <a:sym typeface="Spectral Medium"/>
              </a:rPr>
              <a:t> API – System Call – OS Relationship</a:t>
            </a:r>
            <a:endParaRPr b="0" i="0" sz="1000" u="none" cap="none" strike="noStrike">
              <a:solidFill>
                <a:schemeClr val="dk1"/>
              </a:solidFill>
              <a:latin typeface="Spectral Medium"/>
              <a:ea typeface="Spectral Medium"/>
              <a:cs typeface="Spectral Medium"/>
              <a:sym typeface="Spectral Medium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2b02a4f0a3_0_13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Types of System Call</a:t>
            </a:r>
            <a:endParaRPr/>
          </a:p>
        </p:txBody>
      </p:sp>
      <p:graphicFrame>
        <p:nvGraphicFramePr>
          <p:cNvPr id="233" name="Google Shape;233;g32b02a4f0a3_0_139"/>
          <p:cNvGraphicFramePr/>
          <p:nvPr/>
        </p:nvGraphicFramePr>
        <p:xfrm>
          <a:off x="1666650" y="1218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{9ABB81D5-187E-4447-BA3D-32485A7B1CFD}</a:tableStyleId>
              </a:tblPr>
              <a:tblGrid>
                <a:gridCol w="1936900"/>
                <a:gridCol w="2166300"/>
                <a:gridCol w="1707500"/>
              </a:tblGrid>
              <a:tr h="396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Type</a:t>
                      </a:r>
                      <a:endParaRPr b="1" sz="14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Windows OS</a:t>
                      </a:r>
                      <a:endParaRPr b="1" sz="14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Linux OS</a:t>
                      </a:r>
                      <a:endParaRPr b="1" sz="14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/>
                </a:tc>
              </a:tr>
              <a:tr h="915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Process Control</a:t>
                      </a:r>
                      <a:endParaRPr sz="14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CreateProcess()</a:t>
                      </a:r>
                      <a:endParaRPr b="1" sz="14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ExitProcess() </a:t>
                      </a:r>
                      <a:endParaRPr b="1" sz="14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WaitForSingleObject() </a:t>
                      </a:r>
                      <a:endParaRPr b="1" sz="14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fork()</a:t>
                      </a:r>
                      <a:endParaRPr b="1" sz="14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exit()</a:t>
                      </a:r>
                      <a:endParaRPr b="1" sz="14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wait()</a:t>
                      </a:r>
                      <a:endParaRPr b="1" sz="14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/>
                </a:tc>
              </a:tr>
              <a:tr h="1096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File Manipulation</a:t>
                      </a:r>
                      <a:endParaRPr sz="14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CreateFile() </a:t>
                      </a:r>
                      <a:endParaRPr b="1" sz="14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ReadFile() </a:t>
                      </a:r>
                      <a:endParaRPr b="1" sz="14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WriteFile() </a:t>
                      </a:r>
                      <a:endParaRPr b="1" sz="14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CloseHandle() </a:t>
                      </a:r>
                      <a:endParaRPr b="1" sz="14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open()</a:t>
                      </a:r>
                      <a:endParaRPr b="1" sz="14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read()</a:t>
                      </a:r>
                      <a:endParaRPr b="1" sz="14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write()</a:t>
                      </a:r>
                      <a:endParaRPr b="1" sz="14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close()</a:t>
                      </a:r>
                      <a:endParaRPr b="1" sz="14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/>
                </a:tc>
              </a:tr>
              <a:tr h="93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Device Manipulation </a:t>
                      </a:r>
                      <a:endParaRPr sz="14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SetConsoleMode() </a:t>
                      </a:r>
                      <a:endParaRPr b="1" sz="14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ReadConsole() </a:t>
                      </a:r>
                      <a:endParaRPr b="1" sz="14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WriteConsole() </a:t>
                      </a:r>
                      <a:endParaRPr b="1" sz="14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ioctl()</a:t>
                      </a:r>
                      <a:endParaRPr b="1" sz="14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read()</a:t>
                      </a:r>
                      <a:endParaRPr b="1" sz="14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write()</a:t>
                      </a:r>
                      <a:endParaRPr b="1" sz="14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2b02a4f0a3_0_14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Types of System Call</a:t>
            </a:r>
            <a:endParaRPr/>
          </a:p>
        </p:txBody>
      </p:sp>
      <p:graphicFrame>
        <p:nvGraphicFramePr>
          <p:cNvPr id="239" name="Google Shape;239;g32b02a4f0a3_0_144"/>
          <p:cNvGraphicFramePr/>
          <p:nvPr/>
        </p:nvGraphicFramePr>
        <p:xfrm>
          <a:off x="1582525" y="1266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{9ABB81D5-187E-4447-BA3D-32485A7B1CFD}</a:tableStyleId>
              </a:tblPr>
              <a:tblGrid>
                <a:gridCol w="1593025"/>
                <a:gridCol w="3530550"/>
                <a:gridCol w="1290275"/>
              </a:tblGrid>
              <a:tr h="396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Type</a:t>
                      </a:r>
                      <a:endParaRPr b="1" sz="14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Windows OS</a:t>
                      </a:r>
                      <a:endParaRPr b="1" sz="14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Linux OS</a:t>
                      </a:r>
                      <a:endParaRPr b="1" sz="14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/>
                </a:tc>
              </a:tr>
              <a:tr h="915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Information Maintenance</a:t>
                      </a:r>
                      <a:endParaRPr sz="14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GetCurrentProcessID() </a:t>
                      </a:r>
                      <a:endParaRPr b="1" sz="14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SetTimer() </a:t>
                      </a:r>
                      <a:endParaRPr b="1" sz="14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Sleep() </a:t>
                      </a:r>
                      <a:endParaRPr b="1" sz="14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getpid()</a:t>
                      </a:r>
                      <a:endParaRPr b="1" sz="14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alarm()</a:t>
                      </a:r>
                      <a:endParaRPr b="1" sz="14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sleep()</a:t>
                      </a:r>
                      <a:endParaRPr b="1" sz="14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/>
                </a:tc>
              </a:tr>
              <a:tr h="1096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Communication</a:t>
                      </a:r>
                      <a:endParaRPr sz="14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CreatePipe() </a:t>
                      </a:r>
                      <a:endParaRPr b="1" sz="14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CreateFileMapping() </a:t>
                      </a:r>
                      <a:endParaRPr b="1" sz="14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MapViewOfFile() </a:t>
                      </a:r>
                      <a:endParaRPr b="1" sz="14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pipe()</a:t>
                      </a:r>
                      <a:endParaRPr b="1" sz="14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shm_open()</a:t>
                      </a:r>
                      <a:endParaRPr b="1" sz="14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mmap()</a:t>
                      </a:r>
                      <a:endParaRPr b="1" sz="14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/>
                </a:tc>
              </a:tr>
              <a:tr h="93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Protection</a:t>
                      </a:r>
                      <a:endParaRPr sz="14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SetFileSecurity() InitlializeSecurityDescriptor() </a:t>
                      </a:r>
                      <a:endParaRPr b="1" sz="14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SetSecurityDescriptorGroup() </a:t>
                      </a:r>
                      <a:endParaRPr b="1" sz="14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chmod()</a:t>
                      </a:r>
                      <a:endParaRPr b="1" sz="14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umask()</a:t>
                      </a:r>
                      <a:endParaRPr b="1" sz="14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chown()</a:t>
                      </a:r>
                      <a:endParaRPr b="1" sz="14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7"/>
          <p:cNvSpPr txBox="1"/>
          <p:nvPr>
            <p:ph type="ctrTitle"/>
          </p:nvPr>
        </p:nvSpPr>
        <p:spPr>
          <a:xfrm>
            <a:off x="2196600" y="1916700"/>
            <a:ext cx="4750800" cy="1310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 sz="3000"/>
              <a:t>Operating Systems</a:t>
            </a:r>
            <a:endParaRPr sz="30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b="1" lang="en">
                <a:solidFill>
                  <a:srgbClr val="38761D"/>
                </a:solidFill>
              </a:rPr>
              <a:t>Operations on Process</a:t>
            </a:r>
            <a:endParaRPr b="1">
              <a:solidFill>
                <a:srgbClr val="38761D"/>
              </a:solidFill>
            </a:endParaRPr>
          </a:p>
        </p:txBody>
      </p:sp>
      <p:sp>
        <p:nvSpPr>
          <p:cNvPr id="245" name="Google Shape;245;p17"/>
          <p:cNvSpPr txBox="1"/>
          <p:nvPr/>
        </p:nvSpPr>
        <p:spPr>
          <a:xfrm>
            <a:off x="8281425" y="4595850"/>
            <a:ext cx="555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FBA</a:t>
            </a:r>
            <a:endParaRPr b="0" i="0" sz="13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30e5c5688a_0_4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Operations on Processes</a:t>
            </a:r>
            <a:endParaRPr/>
          </a:p>
        </p:txBody>
      </p:sp>
      <p:sp>
        <p:nvSpPr>
          <p:cNvPr id="251" name="Google Shape;251;g330e5c5688a_0_49"/>
          <p:cNvSpPr txBox="1"/>
          <p:nvPr>
            <p:ph idx="1" type="body"/>
          </p:nvPr>
        </p:nvSpPr>
        <p:spPr>
          <a:xfrm>
            <a:off x="311700" y="1147225"/>
            <a:ext cx="8520600" cy="31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500">
                <a:latin typeface="Spectral"/>
                <a:ea typeface="Spectral"/>
                <a:cs typeface="Spectral"/>
                <a:sym typeface="Spectral"/>
              </a:rPr>
              <a:t>System must provide mechanisms for:</a:t>
            </a:r>
            <a:endParaRPr sz="1500">
              <a:latin typeface="Spectral"/>
              <a:ea typeface="Spectral"/>
              <a:cs typeface="Spectral"/>
              <a:sym typeface="Spectral"/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ectral"/>
              <a:buChar char="●"/>
            </a:pPr>
            <a:r>
              <a:rPr lang="en" sz="1500">
                <a:latin typeface="Spectral"/>
                <a:ea typeface="Spectral"/>
                <a:cs typeface="Spectral"/>
                <a:sym typeface="Spectral"/>
              </a:rPr>
              <a:t> Process creation</a:t>
            </a:r>
            <a:endParaRPr sz="1500">
              <a:latin typeface="Spectral"/>
              <a:ea typeface="Spectral"/>
              <a:cs typeface="Spectral"/>
              <a:sym typeface="Spectral"/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ectral"/>
              <a:buChar char="●"/>
            </a:pPr>
            <a:r>
              <a:rPr lang="en" sz="1500">
                <a:latin typeface="Spectral"/>
                <a:ea typeface="Spectral"/>
                <a:cs typeface="Spectral"/>
                <a:sym typeface="Spectral"/>
              </a:rPr>
              <a:t> Process termination</a:t>
            </a:r>
            <a:endParaRPr sz="15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5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5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Process Creation</a:t>
            </a:r>
            <a:endParaRPr/>
          </a:p>
        </p:txBody>
      </p:sp>
      <p:sp>
        <p:nvSpPr>
          <p:cNvPr id="257" name="Google Shape;257;p18"/>
          <p:cNvSpPr txBox="1"/>
          <p:nvPr/>
        </p:nvSpPr>
        <p:spPr>
          <a:xfrm>
            <a:off x="311700" y="1147225"/>
            <a:ext cx="7030500" cy="7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Spectral"/>
              <a:buChar char="➔"/>
            </a:pPr>
            <a:r>
              <a:rPr b="1" i="0" lang="en" sz="11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Parent</a:t>
            </a:r>
            <a:r>
              <a:rPr b="0" i="0" lang="en" sz="11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 process create </a:t>
            </a:r>
            <a:r>
              <a:rPr b="1" i="0" lang="en" sz="11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children</a:t>
            </a:r>
            <a:r>
              <a:rPr b="0" i="0" lang="en" sz="11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 processes, which, in turn create other processes, forming a </a:t>
            </a:r>
            <a:r>
              <a:rPr b="1" i="0" lang="en" sz="11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tree</a:t>
            </a:r>
            <a:r>
              <a:rPr b="0" i="0" lang="en" sz="11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 of processes</a:t>
            </a:r>
            <a:endParaRPr b="0" i="0" sz="11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Spectral"/>
              <a:buChar char="➔"/>
            </a:pPr>
            <a:r>
              <a:rPr b="0" i="0" lang="en" sz="11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Generally, process identified and managed via a </a:t>
            </a:r>
            <a:r>
              <a:rPr b="1" i="0" lang="en" sz="11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process identifier (pid)</a:t>
            </a:r>
            <a:endParaRPr b="1" i="0" sz="11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grpSp>
        <p:nvGrpSpPr>
          <p:cNvPr id="258" name="Google Shape;258;p18"/>
          <p:cNvGrpSpPr/>
          <p:nvPr/>
        </p:nvGrpSpPr>
        <p:grpSpPr>
          <a:xfrm>
            <a:off x="5356263" y="2038000"/>
            <a:ext cx="3435525" cy="1755350"/>
            <a:chOff x="3029525" y="2257325"/>
            <a:chExt cx="3435525" cy="1755350"/>
          </a:xfrm>
        </p:grpSpPr>
        <p:sp>
          <p:nvSpPr>
            <p:cNvPr id="259" name="Google Shape;259;p18"/>
            <p:cNvSpPr/>
            <p:nvPr/>
          </p:nvSpPr>
          <p:spPr>
            <a:xfrm>
              <a:off x="4701263" y="2257325"/>
              <a:ext cx="540250" cy="318250"/>
            </a:xfrm>
            <a:prstGeom prst="flowChartProcess">
              <a:avLst/>
            </a:prstGeom>
            <a:solidFill>
              <a:srgbClr val="EFEFE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P1</a:t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pid = 1</a:t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18"/>
            <p:cNvSpPr/>
            <p:nvPr/>
          </p:nvSpPr>
          <p:spPr>
            <a:xfrm>
              <a:off x="3529175" y="2935175"/>
              <a:ext cx="540250" cy="318250"/>
            </a:xfrm>
            <a:prstGeom prst="flowChartProcess">
              <a:avLst/>
            </a:prstGeom>
            <a:solidFill>
              <a:srgbClr val="EFEFE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P2</a:t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pid = 8</a:t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p18"/>
            <p:cNvSpPr/>
            <p:nvPr/>
          </p:nvSpPr>
          <p:spPr>
            <a:xfrm>
              <a:off x="4651250" y="2935175"/>
              <a:ext cx="640275" cy="318250"/>
            </a:xfrm>
            <a:prstGeom prst="flowChartProcess">
              <a:avLst/>
            </a:prstGeom>
            <a:solidFill>
              <a:srgbClr val="EFEFE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P3</a:t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pid = 58</a:t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18"/>
            <p:cNvSpPr/>
            <p:nvPr/>
          </p:nvSpPr>
          <p:spPr>
            <a:xfrm>
              <a:off x="5824775" y="2935175"/>
              <a:ext cx="640275" cy="318250"/>
            </a:xfrm>
            <a:prstGeom prst="flowChartProcess">
              <a:avLst/>
            </a:prstGeom>
            <a:solidFill>
              <a:srgbClr val="EFEFE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P4</a:t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pid = 63</a:t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63" name="Google Shape;263;p18"/>
            <p:cNvCxnSpPr>
              <a:stCxn id="259" idx="2"/>
              <a:endCxn id="261" idx="0"/>
            </p:cNvCxnSpPr>
            <p:nvPr/>
          </p:nvCxnSpPr>
          <p:spPr>
            <a:xfrm>
              <a:off x="4971388" y="2575575"/>
              <a:ext cx="0" cy="359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64" name="Google Shape;264;p18"/>
            <p:cNvCxnSpPr>
              <a:stCxn id="259" idx="2"/>
              <a:endCxn id="260" idx="0"/>
            </p:cNvCxnSpPr>
            <p:nvPr/>
          </p:nvCxnSpPr>
          <p:spPr>
            <a:xfrm flipH="1">
              <a:off x="3799288" y="2575575"/>
              <a:ext cx="1172100" cy="359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65" name="Google Shape;265;p18"/>
            <p:cNvCxnSpPr>
              <a:stCxn id="259" idx="2"/>
              <a:endCxn id="262" idx="0"/>
            </p:cNvCxnSpPr>
            <p:nvPr/>
          </p:nvCxnSpPr>
          <p:spPr>
            <a:xfrm>
              <a:off x="4971388" y="2575575"/>
              <a:ext cx="1173600" cy="359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66" name="Google Shape;266;p18"/>
            <p:cNvSpPr/>
            <p:nvPr/>
          </p:nvSpPr>
          <p:spPr>
            <a:xfrm>
              <a:off x="3029525" y="3694425"/>
              <a:ext cx="640275" cy="318250"/>
            </a:xfrm>
            <a:prstGeom prst="flowChartProcess">
              <a:avLst/>
            </a:prstGeom>
            <a:solidFill>
              <a:srgbClr val="EFEFE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P5</a:t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pid = 51</a:t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p18"/>
            <p:cNvSpPr/>
            <p:nvPr/>
          </p:nvSpPr>
          <p:spPr>
            <a:xfrm>
              <a:off x="3875550" y="3694425"/>
              <a:ext cx="640275" cy="318250"/>
            </a:xfrm>
            <a:prstGeom prst="flowChartProcess">
              <a:avLst/>
            </a:prstGeom>
            <a:solidFill>
              <a:srgbClr val="EFEFE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P6</a:t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pid = 38</a:t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68" name="Google Shape;268;p18"/>
            <p:cNvCxnSpPr>
              <a:stCxn id="260" idx="2"/>
              <a:endCxn id="267" idx="0"/>
            </p:cNvCxnSpPr>
            <p:nvPr/>
          </p:nvCxnSpPr>
          <p:spPr>
            <a:xfrm>
              <a:off x="3799300" y="3253425"/>
              <a:ext cx="396300" cy="441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69" name="Google Shape;269;p18"/>
            <p:cNvCxnSpPr>
              <a:stCxn id="260" idx="2"/>
              <a:endCxn id="266" idx="0"/>
            </p:cNvCxnSpPr>
            <p:nvPr/>
          </p:nvCxnSpPr>
          <p:spPr>
            <a:xfrm flipH="1">
              <a:off x="3349600" y="3253425"/>
              <a:ext cx="449700" cy="441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70" name="Google Shape;270;p18"/>
            <p:cNvSpPr/>
            <p:nvPr/>
          </p:nvSpPr>
          <p:spPr>
            <a:xfrm>
              <a:off x="5504725" y="3694425"/>
              <a:ext cx="640275" cy="318250"/>
            </a:xfrm>
            <a:prstGeom prst="flowChartProcess">
              <a:avLst/>
            </a:prstGeom>
            <a:solidFill>
              <a:srgbClr val="EFEFE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P7</a:t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pid = 55</a:t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71" name="Google Shape;271;p18"/>
            <p:cNvCxnSpPr>
              <a:stCxn id="262" idx="2"/>
              <a:endCxn id="270" idx="0"/>
            </p:cNvCxnSpPr>
            <p:nvPr/>
          </p:nvCxnSpPr>
          <p:spPr>
            <a:xfrm flipH="1">
              <a:off x="5824813" y="3253425"/>
              <a:ext cx="320100" cy="441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72" name="Google Shape;272;p18"/>
          <p:cNvGrpSpPr/>
          <p:nvPr/>
        </p:nvGrpSpPr>
        <p:grpSpPr>
          <a:xfrm>
            <a:off x="3835199" y="2828075"/>
            <a:ext cx="2020704" cy="1620006"/>
            <a:chOff x="1776171" y="3133044"/>
            <a:chExt cx="3774900" cy="1057238"/>
          </a:xfrm>
        </p:grpSpPr>
        <p:sp>
          <p:nvSpPr>
            <p:cNvPr id="273" name="Google Shape;273;p18"/>
            <p:cNvSpPr txBox="1"/>
            <p:nvPr/>
          </p:nvSpPr>
          <p:spPr>
            <a:xfrm>
              <a:off x="1776171" y="3133044"/>
              <a:ext cx="1452600" cy="318300"/>
            </a:xfrm>
            <a:prstGeom prst="rect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" sz="1000" u="none" cap="none" strike="noStrike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Parent process</a:t>
              </a:r>
              <a:endParaRPr b="0" i="0" sz="10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274" name="Google Shape;274;p18"/>
            <p:cNvSpPr txBox="1"/>
            <p:nvPr/>
          </p:nvSpPr>
          <p:spPr>
            <a:xfrm>
              <a:off x="1776173" y="3871982"/>
              <a:ext cx="1452600" cy="318300"/>
            </a:xfrm>
            <a:prstGeom prst="rect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" sz="1000" u="none" cap="none" strike="noStrike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Child process</a:t>
              </a:r>
              <a:endParaRPr b="0" i="0" sz="10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  <p:cxnSp>
          <p:nvCxnSpPr>
            <p:cNvPr id="275" name="Google Shape;275;p18"/>
            <p:cNvCxnSpPr>
              <a:stCxn id="273" idx="3"/>
              <a:endCxn id="260" idx="1"/>
            </p:cNvCxnSpPr>
            <p:nvPr/>
          </p:nvCxnSpPr>
          <p:spPr>
            <a:xfrm flipH="1" rot="10800000">
              <a:off x="3228771" y="3163794"/>
              <a:ext cx="2322300" cy="128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76" name="Google Shape;276;p18"/>
            <p:cNvCxnSpPr>
              <a:stCxn id="274" idx="3"/>
              <a:endCxn id="266" idx="1"/>
            </p:cNvCxnSpPr>
            <p:nvPr/>
          </p:nvCxnSpPr>
          <p:spPr>
            <a:xfrm flipH="1" rot="10800000">
              <a:off x="3228773" y="3659132"/>
              <a:ext cx="1389000" cy="372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277" name="Google Shape;277;p18"/>
          <p:cNvSpPr txBox="1"/>
          <p:nvPr/>
        </p:nvSpPr>
        <p:spPr>
          <a:xfrm>
            <a:off x="311700" y="1839125"/>
            <a:ext cx="3351600" cy="21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Spectral"/>
              <a:buChar char="➔"/>
            </a:pPr>
            <a:r>
              <a:rPr b="0" i="0" lang="en" sz="11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Resource sharing options</a:t>
            </a:r>
            <a:endParaRPr b="0" i="0" sz="11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Spectral"/>
              <a:buChar char="◆"/>
            </a:pPr>
            <a:r>
              <a:rPr b="0" i="0" lang="en" sz="11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Parent and children share all resources</a:t>
            </a:r>
            <a:endParaRPr b="0" i="0" sz="11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Spectral"/>
              <a:buChar char="◆"/>
            </a:pPr>
            <a:r>
              <a:rPr b="0" i="0" lang="en" sz="11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Children share subset of parent’s resources</a:t>
            </a:r>
            <a:endParaRPr b="0" i="0" sz="11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Spectral"/>
              <a:buChar char="◆"/>
            </a:pPr>
            <a:r>
              <a:rPr b="0" i="0" lang="en" sz="11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Parent and child share no resources</a:t>
            </a:r>
            <a:endParaRPr b="0" i="0" sz="11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Spectral"/>
              <a:buChar char="➔"/>
            </a:pPr>
            <a:r>
              <a:rPr b="0" i="0" lang="en" sz="11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Execution options</a:t>
            </a:r>
            <a:endParaRPr b="0" i="0" sz="11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Spectral"/>
              <a:buChar char="◆"/>
            </a:pPr>
            <a:r>
              <a:rPr b="0" i="0" lang="en" sz="11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Parent and children execute concurrently</a:t>
            </a:r>
            <a:endParaRPr b="0" i="0" sz="11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Spectral"/>
              <a:buChar char="◆"/>
            </a:pPr>
            <a:r>
              <a:rPr b="0" i="0" lang="en" sz="11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Parent waits until children terminate</a:t>
            </a:r>
            <a:endParaRPr b="0" i="0" sz="11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7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7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7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7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7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7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7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Process Creation</a:t>
            </a:r>
            <a:endParaRPr/>
          </a:p>
        </p:txBody>
      </p:sp>
      <p:sp>
        <p:nvSpPr>
          <p:cNvPr id="283" name="Google Shape;283;p19"/>
          <p:cNvSpPr txBox="1"/>
          <p:nvPr>
            <p:ph idx="1" type="body"/>
          </p:nvPr>
        </p:nvSpPr>
        <p:spPr>
          <a:xfrm>
            <a:off x="311700" y="1349850"/>
            <a:ext cx="7030500" cy="12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ectral"/>
              <a:buChar char="●"/>
            </a:pPr>
            <a:r>
              <a:rPr lang="en" sz="1400">
                <a:latin typeface="Spectral"/>
                <a:ea typeface="Spectral"/>
                <a:cs typeface="Spectral"/>
                <a:sym typeface="Spectral"/>
              </a:rPr>
              <a:t>When a process creates new process - </a:t>
            </a:r>
            <a:endParaRPr sz="14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latin typeface="Spectral"/>
                <a:ea typeface="Spectral"/>
                <a:cs typeface="Spectral"/>
                <a:sym typeface="Spectral"/>
              </a:rPr>
              <a:t>The parent continues to execute concurrently with its children </a:t>
            </a:r>
            <a:endParaRPr sz="14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latin typeface="Spectral"/>
                <a:ea typeface="Spectral"/>
                <a:cs typeface="Spectral"/>
                <a:sym typeface="Spectral"/>
              </a:rPr>
              <a:t>Or, </a:t>
            </a:r>
            <a:endParaRPr sz="14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latin typeface="Spectral"/>
                <a:ea typeface="Spectral"/>
                <a:cs typeface="Spectral"/>
                <a:sym typeface="Spectral"/>
              </a:rPr>
              <a:t>The parent waits until some or all of its children have terminated</a:t>
            </a:r>
            <a:endParaRPr sz="1400"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284" name="Google Shape;284;p19"/>
          <p:cNvSpPr txBox="1"/>
          <p:nvPr/>
        </p:nvSpPr>
        <p:spPr>
          <a:xfrm>
            <a:off x="311700" y="3056475"/>
            <a:ext cx="7030500" cy="10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Spectral"/>
              <a:buChar char="●"/>
            </a:pPr>
            <a:r>
              <a:rPr b="0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Two address-space possibilities for the new process - </a:t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The child process is a duplicate of the parent process</a:t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Or</a:t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The child process has a new program loaded into it.</a:t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Process creation in UNIX </a:t>
            </a:r>
            <a:endParaRPr/>
          </a:p>
        </p:txBody>
      </p:sp>
      <p:sp>
        <p:nvSpPr>
          <p:cNvPr id="290" name="Google Shape;290;p20"/>
          <p:cNvSpPr txBox="1"/>
          <p:nvPr>
            <p:ph idx="1" type="body"/>
          </p:nvPr>
        </p:nvSpPr>
        <p:spPr>
          <a:xfrm>
            <a:off x="311700" y="1263700"/>
            <a:ext cx="7030500" cy="17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400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System Call:</a:t>
            </a:r>
            <a:r>
              <a:rPr lang="en" sz="1400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 </a:t>
            </a:r>
            <a:r>
              <a:rPr lang="en" sz="1400">
                <a:solidFill>
                  <a:srgbClr val="000000"/>
                </a:solidFill>
                <a:highlight>
                  <a:srgbClr val="FFFFFF"/>
                </a:highlight>
                <a:latin typeface="Spectral"/>
                <a:ea typeface="Spectral"/>
                <a:cs typeface="Spectral"/>
                <a:sym typeface="Spectral"/>
              </a:rPr>
              <a:t> offers the services of the operating system to the user programs.</a:t>
            </a:r>
            <a:endParaRPr sz="1400">
              <a:solidFill>
                <a:srgbClr val="000000"/>
              </a:solidFill>
              <a:highlight>
                <a:srgbClr val="FFFFFF"/>
              </a:highlight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i="1" lang="en" sz="1400">
                <a:solidFill>
                  <a:srgbClr val="000000"/>
                </a:solidFill>
                <a:highlight>
                  <a:srgbClr val="FFFFFF"/>
                </a:highlight>
                <a:latin typeface="Spectral"/>
                <a:ea typeface="Spectral"/>
                <a:cs typeface="Spectral"/>
                <a:sym typeface="Spectral"/>
              </a:rPr>
              <a:t>fork()</a:t>
            </a:r>
            <a:r>
              <a:rPr b="1" lang="en" sz="1400">
                <a:solidFill>
                  <a:srgbClr val="000000"/>
                </a:solidFill>
                <a:highlight>
                  <a:srgbClr val="FFFFFF"/>
                </a:highlight>
                <a:latin typeface="Spectral"/>
                <a:ea typeface="Spectral"/>
                <a:cs typeface="Spectral"/>
                <a:sym typeface="Spectral"/>
              </a:rPr>
              <a:t>:</a:t>
            </a:r>
            <a:r>
              <a:rPr lang="en" sz="1400">
                <a:solidFill>
                  <a:srgbClr val="000000"/>
                </a:solidFill>
                <a:highlight>
                  <a:srgbClr val="FFFFFF"/>
                </a:highlight>
                <a:latin typeface="Spectral"/>
                <a:ea typeface="Spectral"/>
                <a:cs typeface="Spectral"/>
                <a:sym typeface="Spectral"/>
              </a:rPr>
              <a:t> create a new process, which becomes the child process of the caller</a:t>
            </a:r>
            <a:endParaRPr sz="1400">
              <a:solidFill>
                <a:srgbClr val="000000"/>
              </a:solidFill>
              <a:highlight>
                <a:srgbClr val="FFFFFF"/>
              </a:highlight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i="1" lang="en" sz="1400">
                <a:solidFill>
                  <a:srgbClr val="000000"/>
                </a:solidFill>
                <a:highlight>
                  <a:srgbClr val="FFFFFF"/>
                </a:highlight>
                <a:latin typeface="Spectral"/>
                <a:ea typeface="Spectral"/>
                <a:cs typeface="Spectral"/>
                <a:sym typeface="Spectral"/>
              </a:rPr>
              <a:t>exec()</a:t>
            </a:r>
            <a:r>
              <a:rPr b="1" lang="en" sz="1400">
                <a:solidFill>
                  <a:srgbClr val="000000"/>
                </a:solidFill>
                <a:highlight>
                  <a:srgbClr val="FFFFFF"/>
                </a:highlight>
                <a:latin typeface="Spectral"/>
                <a:ea typeface="Spectral"/>
                <a:cs typeface="Spectral"/>
                <a:sym typeface="Spectral"/>
              </a:rPr>
              <a:t>:</a:t>
            </a:r>
            <a:r>
              <a:rPr lang="en" sz="1400">
                <a:solidFill>
                  <a:srgbClr val="000000"/>
                </a:solidFill>
                <a:highlight>
                  <a:srgbClr val="FFFFFF"/>
                </a:highlight>
                <a:latin typeface="Spectral"/>
                <a:ea typeface="Spectral"/>
                <a:cs typeface="Spectral"/>
                <a:sym typeface="Spectral"/>
              </a:rPr>
              <a:t> runs an executable file , replacing the previous executable</a:t>
            </a:r>
            <a:endParaRPr sz="1400">
              <a:solidFill>
                <a:srgbClr val="000000"/>
              </a:solidFill>
              <a:highlight>
                <a:srgbClr val="FFFFFF"/>
              </a:highlight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b="1" i="1" lang="en" sz="1400">
                <a:solidFill>
                  <a:srgbClr val="000000"/>
                </a:solidFill>
                <a:highlight>
                  <a:srgbClr val="FFFFFF"/>
                </a:highlight>
                <a:latin typeface="Spectral"/>
                <a:ea typeface="Spectral"/>
                <a:cs typeface="Spectral"/>
                <a:sym typeface="Spectral"/>
              </a:rPr>
              <a:t>wait()</a:t>
            </a:r>
            <a:r>
              <a:rPr b="1" lang="en" sz="1400">
                <a:solidFill>
                  <a:srgbClr val="000000"/>
                </a:solidFill>
                <a:highlight>
                  <a:srgbClr val="FFFFFF"/>
                </a:highlight>
                <a:latin typeface="Spectral"/>
                <a:ea typeface="Spectral"/>
                <a:cs typeface="Spectral"/>
                <a:sym typeface="Spectral"/>
              </a:rPr>
              <a:t>:</a:t>
            </a:r>
            <a:r>
              <a:rPr lang="en" sz="1400">
                <a:solidFill>
                  <a:srgbClr val="000000"/>
                </a:solidFill>
                <a:highlight>
                  <a:srgbClr val="FFFFFF"/>
                </a:highlight>
                <a:latin typeface="Spectral"/>
                <a:ea typeface="Spectral"/>
                <a:cs typeface="Spectral"/>
                <a:sym typeface="Spectral"/>
              </a:rPr>
              <a:t> suspends execution of the current process until one of its children terminates.</a:t>
            </a:r>
            <a:endParaRPr sz="1400">
              <a:solidFill>
                <a:srgbClr val="000000"/>
              </a:solidFill>
              <a:highlight>
                <a:srgbClr val="FFFFFF"/>
              </a:highlight>
              <a:latin typeface="Spectral"/>
              <a:ea typeface="Spectral"/>
              <a:cs typeface="Spectral"/>
              <a:sym typeface="Spectral"/>
            </a:endParaRPr>
          </a:p>
        </p:txBody>
      </p:sp>
      <p:grpSp>
        <p:nvGrpSpPr>
          <p:cNvPr id="291" name="Google Shape;291;p20"/>
          <p:cNvGrpSpPr/>
          <p:nvPr/>
        </p:nvGrpSpPr>
        <p:grpSpPr>
          <a:xfrm>
            <a:off x="1079275" y="2966500"/>
            <a:ext cx="6833899" cy="1845275"/>
            <a:chOff x="1303800" y="3082975"/>
            <a:chExt cx="6833899" cy="1845275"/>
          </a:xfrm>
        </p:grpSpPr>
        <p:pic>
          <p:nvPicPr>
            <p:cNvPr id="292" name="Google Shape;292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303800" y="3082975"/>
              <a:ext cx="6833899" cy="13310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3" name="Google Shape;293;p20"/>
            <p:cNvSpPr txBox="1"/>
            <p:nvPr/>
          </p:nvSpPr>
          <p:spPr>
            <a:xfrm>
              <a:off x="3420300" y="4430850"/>
              <a:ext cx="2797500" cy="49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" sz="1000" u="none" cap="none" strike="noStrike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Fig: Process creation using fork() system call</a:t>
              </a:r>
              <a:endParaRPr b="1" i="0" sz="10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Google Shape;29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5901" y="69847"/>
            <a:ext cx="4477459" cy="45172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2"/>
          <p:cNvSpPr txBox="1"/>
          <p:nvPr/>
        </p:nvSpPr>
        <p:spPr>
          <a:xfrm>
            <a:off x="395204" y="418838"/>
            <a:ext cx="2830995" cy="176507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1143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 main(){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143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fork();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143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fork();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143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printf(“A”);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143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8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4" name="Google Shape;304;p22"/>
          <p:cNvSpPr txBox="1"/>
          <p:nvPr/>
        </p:nvSpPr>
        <p:spPr>
          <a:xfrm>
            <a:off x="395204" y="2373404"/>
            <a:ext cx="2830995" cy="233472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1143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 main(){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143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fork();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143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fork();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143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fork();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143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printf(“A”);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143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8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3"/>
          <p:cNvSpPr txBox="1"/>
          <p:nvPr>
            <p:ph idx="1" type="body"/>
          </p:nvPr>
        </p:nvSpPr>
        <p:spPr>
          <a:xfrm>
            <a:off x="391599" y="319703"/>
            <a:ext cx="2830995" cy="2095023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8107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int main(){</a:t>
            </a:r>
            <a:endParaRPr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8107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	a = fork();</a:t>
            </a:r>
            <a:endParaRPr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8107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	if(a==0)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8107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fork();</a:t>
            </a:r>
            <a:endParaRPr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8107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	fork();</a:t>
            </a:r>
            <a:endParaRPr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8107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	printf(“A”);</a:t>
            </a:r>
            <a:endParaRPr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8107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  <p:sp>
        <p:nvSpPr>
          <p:cNvPr id="310" name="Google Shape;310;p23"/>
          <p:cNvSpPr txBox="1"/>
          <p:nvPr/>
        </p:nvSpPr>
        <p:spPr>
          <a:xfrm>
            <a:off x="475104" y="2559941"/>
            <a:ext cx="2830995" cy="233472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1143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 main(){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143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fork();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143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a = fork();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143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if(a==0) </a:t>
            </a:r>
            <a:endParaRPr b="0" i="0" sz="18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143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b="0" i="0" lang="en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fork();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143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printf(“A”);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143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8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85ee8f0eb0_2_5"/>
          <p:cNvSpPr txBox="1"/>
          <p:nvPr>
            <p:ph idx="1" type="body"/>
          </p:nvPr>
        </p:nvSpPr>
        <p:spPr>
          <a:xfrm>
            <a:off x="115410" y="390723"/>
            <a:ext cx="5530800" cy="3834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main: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x = 1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a = fork()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if (a == 0) {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    x = x - 1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    print("value of x is:", x)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	 }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else if (a &gt; 0) {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    wait(NULL)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    x = x + 1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    print("value of x is:", x)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	 }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85ee8f0eb0_2_62"/>
          <p:cNvSpPr txBox="1"/>
          <p:nvPr>
            <p:ph idx="1" type="body"/>
          </p:nvPr>
        </p:nvSpPr>
        <p:spPr>
          <a:xfrm>
            <a:off x="115400" y="390725"/>
            <a:ext cx="5530800" cy="4584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main: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x = 1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a = fork()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if (a == 0) {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		 print(“Child”)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    x = x - 1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else if (a &gt; 0) {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    print(“Parent”)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		 </a:t>
            </a: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= x + 1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    wait(NULL)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    x = x + 1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	 }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print("value of x is:", x)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Process Termination</a:t>
            </a:r>
            <a:endParaRPr/>
          </a:p>
        </p:txBody>
      </p:sp>
      <p:sp>
        <p:nvSpPr>
          <p:cNvPr id="326" name="Google Shape;326;p25"/>
          <p:cNvSpPr txBox="1"/>
          <p:nvPr>
            <p:ph idx="1" type="body"/>
          </p:nvPr>
        </p:nvSpPr>
        <p:spPr>
          <a:xfrm>
            <a:off x="311700" y="1057700"/>
            <a:ext cx="8435400" cy="39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-307340" lvl="0" marL="4572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Spectral"/>
              <a:buChar char="➔"/>
            </a:pPr>
            <a:r>
              <a:rPr lang="en" sz="1600">
                <a:latin typeface="Spectral"/>
                <a:ea typeface="Spectral"/>
                <a:cs typeface="Spectral"/>
                <a:sym typeface="Spectral"/>
              </a:rPr>
              <a:t>Process executes last statement and then asks the operating system to delete it using the </a:t>
            </a:r>
            <a:r>
              <a:rPr b="1" lang="en" sz="1600">
                <a:latin typeface="Nunito"/>
                <a:ea typeface="Nunito"/>
                <a:cs typeface="Nunito"/>
                <a:sym typeface="Nunito"/>
              </a:rPr>
              <a:t>exit() </a:t>
            </a:r>
            <a:r>
              <a:rPr lang="en" sz="1600">
                <a:latin typeface="Spectral"/>
                <a:ea typeface="Spectral"/>
                <a:cs typeface="Spectral"/>
                <a:sym typeface="Spectral"/>
              </a:rPr>
              <a:t>system call</a:t>
            </a:r>
            <a:endParaRPr sz="1600">
              <a:latin typeface="Spectral"/>
              <a:ea typeface="Spectral"/>
              <a:cs typeface="Spectral"/>
              <a:sym typeface="Spectral"/>
            </a:endParaRPr>
          </a:p>
          <a:p>
            <a:pPr indent="-307340" lvl="1" marL="9144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Spectral"/>
              <a:buChar char="◆"/>
            </a:pPr>
            <a:r>
              <a:rPr lang="en" sz="1600">
                <a:latin typeface="Spectral"/>
                <a:ea typeface="Spectral"/>
                <a:cs typeface="Spectral"/>
                <a:sym typeface="Spectral"/>
              </a:rPr>
              <a:t>Returns  status data from child to parent (via </a:t>
            </a:r>
            <a:r>
              <a:rPr b="1" lang="en" sz="1600">
                <a:latin typeface="Nunito"/>
                <a:ea typeface="Nunito"/>
                <a:cs typeface="Nunito"/>
                <a:sym typeface="Nunito"/>
              </a:rPr>
              <a:t>wait()</a:t>
            </a:r>
            <a:r>
              <a:rPr lang="en" sz="1600">
                <a:latin typeface="Spectral"/>
                <a:ea typeface="Spectral"/>
                <a:cs typeface="Spectral"/>
                <a:sym typeface="Spectral"/>
              </a:rPr>
              <a:t>)</a:t>
            </a:r>
            <a:endParaRPr sz="1600">
              <a:latin typeface="Spectral"/>
              <a:ea typeface="Spectral"/>
              <a:cs typeface="Spectral"/>
              <a:sym typeface="Spectral"/>
            </a:endParaRPr>
          </a:p>
          <a:p>
            <a:pPr indent="-307340" lvl="1" marL="9144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Spectral"/>
              <a:buChar char="◆"/>
            </a:pPr>
            <a:r>
              <a:rPr lang="en" sz="1600">
                <a:latin typeface="Spectral"/>
                <a:ea typeface="Spectral"/>
                <a:cs typeface="Spectral"/>
                <a:sym typeface="Spectral"/>
              </a:rPr>
              <a:t>Process’ resources are deallocated by operating system</a:t>
            </a:r>
            <a:endParaRPr sz="16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9144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ct val="145161"/>
              <a:buNone/>
            </a:pPr>
            <a:r>
              <a:t/>
            </a:r>
            <a:endParaRPr sz="1600">
              <a:latin typeface="Spectral"/>
              <a:ea typeface="Spectral"/>
              <a:cs typeface="Spectral"/>
              <a:sym typeface="Spectral"/>
            </a:endParaRPr>
          </a:p>
          <a:p>
            <a:pPr indent="-307340" lvl="0" marL="4572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Spectral"/>
              <a:buChar char="➔"/>
            </a:pPr>
            <a:r>
              <a:rPr lang="en" sz="1600">
                <a:latin typeface="Spectral"/>
                <a:ea typeface="Spectral"/>
                <a:cs typeface="Spectral"/>
                <a:sym typeface="Spectral"/>
              </a:rPr>
              <a:t>Parent </a:t>
            </a:r>
            <a:r>
              <a:rPr lang="en" sz="1600">
                <a:latin typeface="Spectral"/>
                <a:ea typeface="Spectral"/>
                <a:cs typeface="Spectral"/>
                <a:sym typeface="Spectral"/>
              </a:rPr>
              <a:t>may terminate the execution of children processes  using the </a:t>
            </a:r>
            <a:r>
              <a:rPr lang="en" sz="1600">
                <a:latin typeface="Nunito"/>
                <a:ea typeface="Nunito"/>
                <a:cs typeface="Nunito"/>
                <a:sym typeface="Nunito"/>
              </a:rPr>
              <a:t>appropriate</a:t>
            </a:r>
            <a:r>
              <a:rPr b="1" lang="en" sz="1600"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" sz="1600">
                <a:latin typeface="Spectral"/>
                <a:ea typeface="Spectral"/>
                <a:cs typeface="Spectral"/>
                <a:sym typeface="Spectral"/>
              </a:rPr>
              <a:t>system call (Ex. </a:t>
            </a:r>
            <a:r>
              <a:rPr b="1" lang="en" sz="1600">
                <a:latin typeface="Spectral"/>
                <a:ea typeface="Spectral"/>
                <a:cs typeface="Spectral"/>
                <a:sym typeface="Spectral"/>
              </a:rPr>
              <a:t>kill()</a:t>
            </a:r>
            <a:r>
              <a:rPr lang="en" sz="1600">
                <a:latin typeface="Spectral"/>
                <a:ea typeface="Spectral"/>
                <a:cs typeface="Spectral"/>
                <a:sym typeface="Spectral"/>
              </a:rPr>
              <a:t> in UNIX/Linux/macOS, </a:t>
            </a:r>
            <a:r>
              <a:rPr b="1" lang="en" sz="1600">
                <a:latin typeface="Spectral"/>
                <a:ea typeface="Spectral"/>
                <a:cs typeface="Spectral"/>
                <a:sym typeface="Spectral"/>
              </a:rPr>
              <a:t>TerminateProcess()</a:t>
            </a:r>
            <a:r>
              <a:rPr lang="en" sz="1600">
                <a:latin typeface="Spectral"/>
                <a:ea typeface="Spectral"/>
                <a:cs typeface="Spectral"/>
                <a:sym typeface="Spectral"/>
              </a:rPr>
              <a:t> in Windows). </a:t>
            </a:r>
            <a:r>
              <a:rPr lang="en" sz="1600">
                <a:latin typeface="Spectral"/>
                <a:ea typeface="Spectral"/>
                <a:cs typeface="Spectral"/>
                <a:sym typeface="Spectral"/>
              </a:rPr>
              <a:t>.  Some reasons for doing so:</a:t>
            </a:r>
            <a:endParaRPr sz="1600">
              <a:latin typeface="Spectral"/>
              <a:ea typeface="Spectral"/>
              <a:cs typeface="Spectral"/>
              <a:sym typeface="Spectral"/>
            </a:endParaRPr>
          </a:p>
          <a:p>
            <a:pPr indent="-307340" lvl="1" marL="9144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Spectral"/>
              <a:buChar char="◆"/>
            </a:pPr>
            <a:r>
              <a:rPr lang="en" sz="1600">
                <a:latin typeface="Spectral"/>
                <a:ea typeface="Spectral"/>
                <a:cs typeface="Spectral"/>
                <a:sym typeface="Spectral"/>
              </a:rPr>
              <a:t>Child has exceeded allocated resources</a:t>
            </a:r>
            <a:endParaRPr sz="1600">
              <a:latin typeface="Spectral"/>
              <a:ea typeface="Spectral"/>
              <a:cs typeface="Spectral"/>
              <a:sym typeface="Spectral"/>
            </a:endParaRPr>
          </a:p>
          <a:p>
            <a:pPr indent="-307340" lvl="1" marL="9144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Spectral"/>
              <a:buChar char="◆"/>
            </a:pPr>
            <a:r>
              <a:rPr lang="en" sz="1600">
                <a:latin typeface="Spectral"/>
                <a:ea typeface="Spectral"/>
                <a:cs typeface="Spectral"/>
                <a:sym typeface="Spectral"/>
              </a:rPr>
              <a:t>Task assigned to child is no longer required</a:t>
            </a:r>
            <a:endParaRPr sz="1600">
              <a:latin typeface="Spectral"/>
              <a:ea typeface="Spectral"/>
              <a:cs typeface="Spectral"/>
              <a:sym typeface="Spectral"/>
            </a:endParaRPr>
          </a:p>
          <a:p>
            <a:pPr indent="-307340" lvl="1" marL="9144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Spectral"/>
              <a:buChar char="◆"/>
            </a:pPr>
            <a:r>
              <a:rPr lang="en" sz="1600">
                <a:latin typeface="Spectral"/>
                <a:ea typeface="Spectral"/>
                <a:cs typeface="Spectral"/>
                <a:sym typeface="Spectral"/>
              </a:rPr>
              <a:t>The parent is exiting, and the operating systems does not allow  a child to continue if its parent terminates</a:t>
            </a:r>
            <a:endParaRPr sz="16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ct val="145161"/>
              <a:buNone/>
            </a:pPr>
            <a:r>
              <a:t/>
            </a:r>
            <a:endParaRPr sz="1600">
              <a:latin typeface="Spectral"/>
              <a:ea typeface="Spectral"/>
              <a:cs typeface="Spectral"/>
              <a:sym typeface="Spectral"/>
            </a:endParaRPr>
          </a:p>
          <a:p>
            <a:pPr indent="-307340" lvl="0" marL="4572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Spectral"/>
              <a:buChar char="➔"/>
            </a:pPr>
            <a:r>
              <a:rPr lang="en" sz="1600">
                <a:latin typeface="Spectral"/>
                <a:ea typeface="Spectral"/>
                <a:cs typeface="Spectral"/>
                <a:sym typeface="Spectral"/>
              </a:rPr>
              <a:t>Some operating systems do not allow child to exists if its parent has terminated.  If a process terminates, then all its children must also be terminated.</a:t>
            </a:r>
            <a:endParaRPr sz="1600">
              <a:latin typeface="Spectral"/>
              <a:ea typeface="Spectral"/>
              <a:cs typeface="Spectral"/>
              <a:sym typeface="Spectral"/>
            </a:endParaRPr>
          </a:p>
          <a:p>
            <a:pPr indent="-307340" lvl="1" marL="9144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Spectral"/>
              <a:buChar char="◆"/>
            </a:pPr>
            <a:r>
              <a:rPr b="1" lang="en" sz="1600">
                <a:latin typeface="Spectral"/>
                <a:ea typeface="Spectral"/>
                <a:cs typeface="Spectral"/>
                <a:sym typeface="Spectral"/>
              </a:rPr>
              <a:t>Cascading termination:</a:t>
            </a:r>
            <a:r>
              <a:rPr lang="en" sz="1600">
                <a:latin typeface="Spectral"/>
                <a:ea typeface="Spectral"/>
                <a:cs typeface="Spectral"/>
                <a:sym typeface="Spectral"/>
              </a:rPr>
              <a:t>  All children, grandchildren, etc.,  are  terminated.</a:t>
            </a:r>
            <a:endParaRPr sz="1600">
              <a:latin typeface="Spectral"/>
              <a:ea typeface="Spectral"/>
              <a:cs typeface="Spectral"/>
              <a:sym typeface="Spectral"/>
            </a:endParaRPr>
          </a:p>
          <a:p>
            <a:pPr indent="-307340" lvl="1" marL="9144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Spectral"/>
              <a:buChar char="◆"/>
            </a:pPr>
            <a:r>
              <a:rPr lang="en" sz="1600">
                <a:latin typeface="Spectral"/>
                <a:ea typeface="Spectral"/>
                <a:cs typeface="Spectral"/>
                <a:sym typeface="Spectral"/>
              </a:rPr>
              <a:t>The termination is initiated by the operating system.</a:t>
            </a:r>
            <a:endParaRPr sz="16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9144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ct val="145161"/>
              <a:buNone/>
            </a:pPr>
            <a:r>
              <a:t/>
            </a:r>
            <a:endParaRPr sz="1600">
              <a:latin typeface="Spectral"/>
              <a:ea typeface="Spectral"/>
              <a:cs typeface="Spectral"/>
              <a:sym typeface="Spectral"/>
            </a:endParaRPr>
          </a:p>
          <a:p>
            <a:pPr indent="-307340" lvl="0" marL="4572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Spectral"/>
              <a:buChar char="➔"/>
            </a:pPr>
            <a:r>
              <a:rPr lang="en" sz="1600">
                <a:latin typeface="Spectral"/>
                <a:ea typeface="Spectral"/>
                <a:cs typeface="Spectral"/>
                <a:sym typeface="Spectral"/>
              </a:rPr>
              <a:t>The parent process may wait for termination of a child process by using the </a:t>
            </a:r>
            <a:r>
              <a:rPr b="1" lang="en" sz="1600">
                <a:latin typeface="Nunito"/>
                <a:ea typeface="Nunito"/>
                <a:cs typeface="Nunito"/>
                <a:sym typeface="Nunito"/>
              </a:rPr>
              <a:t>wait()</a:t>
            </a:r>
            <a:r>
              <a:rPr lang="en" sz="1600">
                <a:latin typeface="Spectral"/>
                <a:ea typeface="Spectral"/>
                <a:cs typeface="Spectral"/>
                <a:sym typeface="Spectral"/>
              </a:rPr>
              <a:t> system call. The call returns status information and the id of the terminated process</a:t>
            </a:r>
            <a:endParaRPr sz="1600">
              <a:latin typeface="Spectral"/>
              <a:ea typeface="Spectral"/>
              <a:cs typeface="Spectral"/>
              <a:sym typeface="Spectral"/>
            </a:endParaRPr>
          </a:p>
          <a:p>
            <a:pPr indent="457200" lvl="0" marL="18288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ct val="145161"/>
              <a:buNone/>
            </a:pPr>
            <a:r>
              <a:t/>
            </a:r>
            <a:endParaRPr sz="1600">
              <a:latin typeface="Spectral"/>
              <a:ea typeface="Spectral"/>
              <a:cs typeface="Spectral"/>
              <a:sym typeface="Spectral"/>
            </a:endParaRPr>
          </a:p>
          <a:p>
            <a:pPr indent="457200" lvl="0" marL="18288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ct val="145161"/>
              <a:buNone/>
            </a:pPr>
            <a:r>
              <a:rPr b="1" lang="en" sz="1600">
                <a:latin typeface="Nunito"/>
                <a:ea typeface="Nunito"/>
                <a:cs typeface="Nunito"/>
                <a:sym typeface="Nunito"/>
              </a:rPr>
              <a:t>pid = wait(&amp;status); </a:t>
            </a:r>
            <a:endParaRPr b="1" sz="1600">
              <a:latin typeface="Nunito"/>
              <a:ea typeface="Nunito"/>
              <a:cs typeface="Nunito"/>
              <a:sym typeface="Nunito"/>
            </a:endParaRPr>
          </a:p>
          <a:p>
            <a:pPr indent="457200" lvl="0" marL="18288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ct val="145161"/>
              <a:buNone/>
            </a:pPr>
            <a:r>
              <a:t/>
            </a:r>
            <a:endParaRPr sz="1600">
              <a:latin typeface="Spectral"/>
              <a:ea typeface="Spectral"/>
              <a:cs typeface="Spectral"/>
              <a:sym typeface="Spectral"/>
            </a:endParaRPr>
          </a:p>
          <a:p>
            <a:pPr indent="-307340" lvl="0" marL="4572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Spectral"/>
              <a:buChar char="➔"/>
            </a:pPr>
            <a:r>
              <a:rPr lang="en" sz="1600">
                <a:latin typeface="Spectral"/>
                <a:ea typeface="Spectral"/>
                <a:cs typeface="Spectral"/>
                <a:sym typeface="Spectral"/>
              </a:rPr>
              <a:t>If no parent waiting (did not invoke </a:t>
            </a:r>
            <a:r>
              <a:rPr b="1" lang="en" sz="1600">
                <a:latin typeface="Nunito"/>
                <a:ea typeface="Nunito"/>
                <a:cs typeface="Nunito"/>
                <a:sym typeface="Nunito"/>
              </a:rPr>
              <a:t>wait()</a:t>
            </a:r>
            <a:r>
              <a:rPr lang="en" sz="1600">
                <a:latin typeface="Spectral"/>
                <a:ea typeface="Spectral"/>
                <a:cs typeface="Spectral"/>
                <a:sym typeface="Spectral"/>
              </a:rPr>
              <a:t>) process is a </a:t>
            </a:r>
            <a:r>
              <a:rPr b="1" lang="en" sz="1600">
                <a:latin typeface="Spectral"/>
                <a:ea typeface="Spectral"/>
                <a:cs typeface="Spectral"/>
                <a:sym typeface="Spectral"/>
              </a:rPr>
              <a:t>zombie</a:t>
            </a:r>
            <a:endParaRPr b="1" sz="1600">
              <a:latin typeface="Spectral"/>
              <a:ea typeface="Spectral"/>
              <a:cs typeface="Spectral"/>
              <a:sym typeface="Spectral"/>
            </a:endParaRPr>
          </a:p>
          <a:p>
            <a:pPr indent="-307340" lvl="0" marL="4572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Spectral"/>
              <a:buChar char="➔"/>
            </a:pPr>
            <a:r>
              <a:rPr lang="en" sz="1600">
                <a:latin typeface="Spectral"/>
                <a:ea typeface="Spectral"/>
                <a:cs typeface="Spectral"/>
                <a:sym typeface="Spectral"/>
              </a:rPr>
              <a:t>If parent terminated without invoking </a:t>
            </a:r>
            <a:r>
              <a:rPr b="1" lang="en" sz="1600">
                <a:latin typeface="Nunito"/>
                <a:ea typeface="Nunito"/>
                <a:cs typeface="Nunito"/>
                <a:sym typeface="Nunito"/>
              </a:rPr>
              <a:t>wait()</a:t>
            </a:r>
            <a:r>
              <a:rPr lang="en" sz="1600">
                <a:latin typeface="Spectral"/>
                <a:ea typeface="Spectral"/>
                <a:cs typeface="Spectral"/>
                <a:sym typeface="Spectral"/>
              </a:rPr>
              <a:t>, process is an </a:t>
            </a:r>
            <a:r>
              <a:rPr b="1" lang="en" sz="1600">
                <a:latin typeface="Spectral"/>
                <a:ea typeface="Spectral"/>
                <a:cs typeface="Spectral"/>
                <a:sym typeface="Spectral"/>
              </a:rPr>
              <a:t>orphan</a:t>
            </a:r>
            <a:endParaRPr b="1" sz="16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ct val="162418"/>
              <a:buNone/>
            </a:pPr>
            <a:r>
              <a:t/>
            </a:r>
            <a:endParaRPr b="1" sz="143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ct val="65383"/>
              <a:buNone/>
            </a:pPr>
            <a:r>
              <a:t/>
            </a:r>
            <a:endParaRPr sz="1430"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6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6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6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6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6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end="15" st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6">
                                            <p:txEl>
                                              <p:pRg end="15" st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end="16" st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6">
                                            <p:txEl>
                                              <p:pRg end="16" st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end="17" st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6">
                                            <p:txEl>
                                              <p:pRg end="17" st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end="18" st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6">
                                            <p:txEl>
                                              <p:pRg end="18" st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end="19" st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6">
                                            <p:txEl>
                                              <p:pRg end="19" st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end="20" st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6">
                                            <p:txEl>
                                              <p:pRg end="20" st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7"/>
          <p:cNvSpPr txBox="1"/>
          <p:nvPr>
            <p:ph type="ctrTitle"/>
          </p:nvPr>
        </p:nvSpPr>
        <p:spPr>
          <a:xfrm>
            <a:off x="2196600" y="1757500"/>
            <a:ext cx="5034900" cy="1469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55555"/>
              <a:buNone/>
            </a:pPr>
            <a:r>
              <a:rPr lang="en" sz="3000"/>
              <a:t>Operating Systems</a:t>
            </a:r>
            <a:endParaRPr sz="30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">
                <a:solidFill>
                  <a:srgbClr val="38761D"/>
                </a:solidFill>
              </a:rPr>
              <a:t>Interprocess Communication</a:t>
            </a:r>
            <a:endParaRPr b="1">
              <a:solidFill>
                <a:srgbClr val="38761D"/>
              </a:solidFill>
            </a:endParaRPr>
          </a:p>
        </p:txBody>
      </p:sp>
      <p:sp>
        <p:nvSpPr>
          <p:cNvPr id="332" name="Google Shape;332;p27"/>
          <p:cNvSpPr txBox="1"/>
          <p:nvPr/>
        </p:nvSpPr>
        <p:spPr>
          <a:xfrm>
            <a:off x="8281425" y="4595850"/>
            <a:ext cx="555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FBA</a:t>
            </a:r>
            <a:endParaRPr b="0" i="0" sz="13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8"/>
          <p:cNvSpPr txBox="1"/>
          <p:nvPr>
            <p:ph type="title"/>
          </p:nvPr>
        </p:nvSpPr>
        <p:spPr>
          <a:xfrm>
            <a:off x="541525" y="598625"/>
            <a:ext cx="7030500" cy="689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Processes in the system</a:t>
            </a:r>
            <a:endParaRPr/>
          </a:p>
        </p:txBody>
      </p:sp>
      <p:sp>
        <p:nvSpPr>
          <p:cNvPr id="338" name="Google Shape;338;p28"/>
          <p:cNvSpPr txBox="1"/>
          <p:nvPr/>
        </p:nvSpPr>
        <p:spPr>
          <a:xfrm>
            <a:off x="541525" y="1335750"/>
            <a:ext cx="7030500" cy="14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Processes running concurrently may be - </a:t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1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Independent </a:t>
            </a:r>
            <a:r>
              <a:rPr b="0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(cannot affect or be affected by other process)</a:t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Or </a:t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1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Cooperating </a:t>
            </a:r>
            <a:r>
              <a:rPr b="0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(can affect or be affected by other process)</a:t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339" name="Google Shape;339;p28"/>
          <p:cNvSpPr txBox="1"/>
          <p:nvPr/>
        </p:nvSpPr>
        <p:spPr>
          <a:xfrm>
            <a:off x="541525" y="2889300"/>
            <a:ext cx="6497700" cy="17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Process cooperation is needed for - </a:t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17500" lvl="0" marL="2286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Spectral"/>
              <a:buChar char="➔"/>
            </a:pPr>
            <a:r>
              <a:rPr b="0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Information sharing</a:t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17500" lvl="0" marL="2286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Spectral"/>
              <a:buChar char="➔"/>
            </a:pPr>
            <a:r>
              <a:rPr b="0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Computational speedup</a:t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17500" lvl="0" marL="2286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Spectral"/>
              <a:buChar char="➔"/>
            </a:pPr>
            <a:r>
              <a:rPr b="0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Modularity</a:t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17500" lvl="0" marL="2286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Spectral"/>
              <a:buChar char="➔"/>
            </a:pPr>
            <a:r>
              <a:rPr b="0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Convenience</a:t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Inter Process Communication</a:t>
            </a:r>
            <a:endParaRPr/>
          </a:p>
        </p:txBody>
      </p:sp>
      <p:sp>
        <p:nvSpPr>
          <p:cNvPr id="345" name="Google Shape;345;p29"/>
          <p:cNvSpPr txBox="1"/>
          <p:nvPr>
            <p:ph idx="1" type="body"/>
          </p:nvPr>
        </p:nvSpPr>
        <p:spPr>
          <a:xfrm>
            <a:off x="311700" y="1247850"/>
            <a:ext cx="70305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3789"/>
              <a:buNone/>
            </a:pPr>
            <a:r>
              <a:rPr lang="en" sz="1200">
                <a:latin typeface="Spectral"/>
                <a:ea typeface="Spectral"/>
                <a:cs typeface="Spectral"/>
                <a:sym typeface="Spectral"/>
              </a:rPr>
              <a:t>IPC is a </a:t>
            </a:r>
            <a:r>
              <a:rPr b="1" i="1" lang="en" sz="1200">
                <a:latin typeface="Spectral"/>
                <a:ea typeface="Spectral"/>
                <a:cs typeface="Spectral"/>
                <a:sym typeface="Spectral"/>
              </a:rPr>
              <a:t>mechanism </a:t>
            </a:r>
            <a:r>
              <a:rPr lang="en" sz="1200">
                <a:latin typeface="Spectral"/>
                <a:ea typeface="Spectral"/>
                <a:cs typeface="Spectral"/>
                <a:sym typeface="Spectral"/>
              </a:rPr>
              <a:t>to exchange data and information among processes. </a:t>
            </a:r>
            <a:endParaRPr sz="1200"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346" name="Google Shape;346;p29"/>
          <p:cNvSpPr txBox="1"/>
          <p:nvPr/>
        </p:nvSpPr>
        <p:spPr>
          <a:xfrm>
            <a:off x="311700" y="1685250"/>
            <a:ext cx="7030500" cy="10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Two fundamental model of IPC - </a:t>
            </a:r>
            <a:endParaRPr b="0" i="0" sz="13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11150" lvl="0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Spectral"/>
              <a:buAutoNum type="arabicPeriod"/>
            </a:pPr>
            <a:r>
              <a:rPr b="0" i="0" lang="en" sz="13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Shared Memory</a:t>
            </a:r>
            <a:endParaRPr b="0" i="0" sz="13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11150" lvl="0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Spectral"/>
              <a:buAutoNum type="arabicPeriod"/>
            </a:pPr>
            <a:r>
              <a:rPr b="0" i="0" lang="en" sz="13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Message Passing</a:t>
            </a:r>
            <a:endParaRPr b="0" i="0" sz="13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pic>
        <p:nvPicPr>
          <p:cNvPr id="347" name="Google Shape;347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49900" y="2782650"/>
            <a:ext cx="3612915" cy="2056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Shared Memory System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33332"/>
              <a:buNone/>
            </a:pPr>
            <a:r>
              <a:rPr lang="en" sz="2000"/>
              <a:t>(Producer-Consumer Problem)</a:t>
            </a:r>
            <a:endParaRPr sz="2000"/>
          </a:p>
        </p:txBody>
      </p:sp>
      <p:sp>
        <p:nvSpPr>
          <p:cNvPr id="353" name="Google Shape;353;p30"/>
          <p:cNvSpPr txBox="1"/>
          <p:nvPr>
            <p:ph idx="1" type="body"/>
          </p:nvPr>
        </p:nvSpPr>
        <p:spPr>
          <a:xfrm>
            <a:off x="311700" y="1242575"/>
            <a:ext cx="7030500" cy="9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500">
                <a:solidFill>
                  <a:srgbClr val="000000"/>
                </a:solidFill>
                <a:highlight>
                  <a:srgbClr val="FFFFFF"/>
                </a:highlight>
                <a:latin typeface="Spectral"/>
                <a:ea typeface="Spectral"/>
                <a:cs typeface="Spectral"/>
                <a:sym typeface="Spectral"/>
              </a:rPr>
              <a:t>Producer: produces products for consumer</a:t>
            </a:r>
            <a:endParaRPr sz="1500">
              <a:solidFill>
                <a:srgbClr val="000000"/>
              </a:solidFill>
              <a:highlight>
                <a:srgbClr val="FFFFFF"/>
              </a:highlight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" sz="1500">
                <a:solidFill>
                  <a:srgbClr val="000000"/>
                </a:solidFill>
                <a:highlight>
                  <a:srgbClr val="FFFFFF"/>
                </a:highlight>
                <a:latin typeface="Spectral"/>
                <a:ea typeface="Spectral"/>
                <a:cs typeface="Spectral"/>
                <a:sym typeface="Spectral"/>
              </a:rPr>
              <a:t>Consumer: consumes products provided by producer</a:t>
            </a:r>
            <a:endParaRPr sz="1500">
              <a:solidFill>
                <a:srgbClr val="000000"/>
              </a:solidFill>
              <a:highlight>
                <a:srgbClr val="FFFFFF"/>
              </a:highlight>
              <a:latin typeface="Spectral"/>
              <a:ea typeface="Spectral"/>
              <a:cs typeface="Spectral"/>
              <a:sym typeface="Spectral"/>
            </a:endParaRPr>
          </a:p>
        </p:txBody>
      </p:sp>
      <p:grpSp>
        <p:nvGrpSpPr>
          <p:cNvPr id="354" name="Google Shape;354;p30"/>
          <p:cNvGrpSpPr/>
          <p:nvPr/>
        </p:nvGrpSpPr>
        <p:grpSpPr>
          <a:xfrm>
            <a:off x="1596250" y="2441400"/>
            <a:ext cx="5552175" cy="1048675"/>
            <a:chOff x="1810875" y="3233275"/>
            <a:chExt cx="5552175" cy="1048675"/>
          </a:xfrm>
        </p:grpSpPr>
        <p:sp>
          <p:nvSpPr>
            <p:cNvPr id="355" name="Google Shape;355;p30"/>
            <p:cNvSpPr/>
            <p:nvPr/>
          </p:nvSpPr>
          <p:spPr>
            <a:xfrm>
              <a:off x="3865237" y="3271100"/>
              <a:ext cx="1413525" cy="762275"/>
            </a:xfrm>
            <a:prstGeom prst="flowChartMagneticDisk">
              <a:avLst/>
            </a:prstGeom>
            <a:solidFill>
              <a:srgbClr val="EFEFE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Share Space /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Buffer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p30"/>
            <p:cNvSpPr/>
            <p:nvPr/>
          </p:nvSpPr>
          <p:spPr>
            <a:xfrm>
              <a:off x="1938975" y="3322925"/>
              <a:ext cx="584700" cy="532800"/>
            </a:xfrm>
            <a:prstGeom prst="smileyFace">
              <a:avLst>
                <a:gd fmla="val -60" name="adj"/>
              </a:avLst>
            </a:prstGeom>
            <a:solidFill>
              <a:srgbClr val="D9D9D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" name="Google Shape;357;p30"/>
            <p:cNvSpPr/>
            <p:nvPr/>
          </p:nvSpPr>
          <p:spPr>
            <a:xfrm>
              <a:off x="6650250" y="3293350"/>
              <a:ext cx="584700" cy="532800"/>
            </a:xfrm>
            <a:prstGeom prst="smileyFace">
              <a:avLst>
                <a:gd fmla="val 4653" name="adj"/>
              </a:avLst>
            </a:prstGeom>
            <a:solidFill>
              <a:srgbClr val="CCCC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58" name="Google Shape;358;p30"/>
            <p:cNvCxnSpPr>
              <a:stCxn id="356" idx="6"/>
            </p:cNvCxnSpPr>
            <p:nvPr/>
          </p:nvCxnSpPr>
          <p:spPr>
            <a:xfrm>
              <a:off x="2523675" y="3589325"/>
              <a:ext cx="1509600" cy="1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59" name="Google Shape;359;p30"/>
            <p:cNvCxnSpPr>
              <a:endCxn id="357" idx="2"/>
            </p:cNvCxnSpPr>
            <p:nvPr/>
          </p:nvCxnSpPr>
          <p:spPr>
            <a:xfrm flipH="1" rot="10800000">
              <a:off x="5098950" y="3559750"/>
              <a:ext cx="1551300" cy="22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360" name="Google Shape;360;p30"/>
            <p:cNvSpPr txBox="1"/>
            <p:nvPr/>
          </p:nvSpPr>
          <p:spPr>
            <a:xfrm>
              <a:off x="2774000" y="3271100"/>
              <a:ext cx="840900" cy="33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1100" u="none" cap="none" strike="noStrike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Produce</a:t>
              </a:r>
              <a:endParaRPr b="0" i="0" sz="11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361" name="Google Shape;361;p30"/>
            <p:cNvSpPr txBox="1"/>
            <p:nvPr/>
          </p:nvSpPr>
          <p:spPr>
            <a:xfrm>
              <a:off x="5544038" y="3233275"/>
              <a:ext cx="840900" cy="33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1100" u="none" cap="none" strike="noStrike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Consume</a:t>
              </a:r>
              <a:endParaRPr b="0" i="0" sz="11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362" name="Google Shape;362;p30"/>
            <p:cNvSpPr txBox="1"/>
            <p:nvPr/>
          </p:nvSpPr>
          <p:spPr>
            <a:xfrm>
              <a:off x="1810875" y="3948950"/>
              <a:ext cx="840900" cy="33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1100" u="none" cap="none" strike="noStrike">
                  <a:solidFill>
                    <a:srgbClr val="000000"/>
                  </a:solidFill>
                  <a:latin typeface="Cambria Math"/>
                  <a:ea typeface="Cambria Math"/>
                  <a:cs typeface="Cambria Math"/>
                  <a:sym typeface="Cambria Math"/>
                </a:rPr>
                <a:t>Producer</a:t>
              </a:r>
              <a:endParaRPr b="0" i="0" sz="110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endParaRPr>
            </a:p>
          </p:txBody>
        </p:sp>
        <p:sp>
          <p:nvSpPr>
            <p:cNvPr id="363" name="Google Shape;363;p30"/>
            <p:cNvSpPr txBox="1"/>
            <p:nvPr/>
          </p:nvSpPr>
          <p:spPr>
            <a:xfrm>
              <a:off x="6522150" y="3948950"/>
              <a:ext cx="840900" cy="33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1100" u="none" cap="none" strike="noStrike">
                  <a:solidFill>
                    <a:srgbClr val="000000"/>
                  </a:solidFill>
                  <a:latin typeface="Cambria Math"/>
                  <a:ea typeface="Cambria Math"/>
                  <a:cs typeface="Cambria Math"/>
                  <a:sym typeface="Cambria Math"/>
                </a:rPr>
                <a:t>Consumer</a:t>
              </a:r>
              <a:endParaRPr b="0" i="0" sz="110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 sz="2600"/>
              <a:t>Producer-Consumer Problem (Producer)</a:t>
            </a:r>
            <a:endParaRPr sz="2600"/>
          </a:p>
        </p:txBody>
      </p:sp>
      <p:pic>
        <p:nvPicPr>
          <p:cNvPr id="369" name="Google Shape;36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82600" y="1361700"/>
            <a:ext cx="3176482" cy="16977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70" name="Google Shape;370;p31"/>
          <p:cNvSpPr txBox="1"/>
          <p:nvPr/>
        </p:nvSpPr>
        <p:spPr>
          <a:xfrm>
            <a:off x="5496900" y="1514100"/>
            <a:ext cx="2837400" cy="14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in</a:t>
            </a:r>
            <a:r>
              <a:rPr b="0" i="0" lang="en" sz="12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: next free position in buffer</a:t>
            </a:r>
            <a:endParaRPr b="0" i="0" sz="12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out</a:t>
            </a:r>
            <a:r>
              <a:rPr b="0" i="0" lang="en" sz="12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: first full position in buffer</a:t>
            </a:r>
            <a:endParaRPr b="0" i="0" sz="12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Both initialized with 0. </a:t>
            </a:r>
            <a:endParaRPr b="0" i="0" sz="12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in = 0</a:t>
            </a:r>
            <a:endParaRPr b="0" i="0" sz="12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out = 0</a:t>
            </a:r>
            <a:endParaRPr b="0" i="0" sz="12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grpSp>
        <p:nvGrpSpPr>
          <p:cNvPr id="371" name="Google Shape;371;p31"/>
          <p:cNvGrpSpPr/>
          <p:nvPr/>
        </p:nvGrpSpPr>
        <p:grpSpPr>
          <a:xfrm>
            <a:off x="1303800" y="3221050"/>
            <a:ext cx="3454800" cy="1284150"/>
            <a:chOff x="1303800" y="1849450"/>
            <a:chExt cx="3454800" cy="1284150"/>
          </a:xfrm>
        </p:grpSpPr>
        <p:sp>
          <p:nvSpPr>
            <p:cNvPr id="372" name="Google Shape;372;p31"/>
            <p:cNvSpPr/>
            <p:nvPr/>
          </p:nvSpPr>
          <p:spPr>
            <a:xfrm>
              <a:off x="1388325" y="2807800"/>
              <a:ext cx="480900" cy="207300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373" name="Google Shape;373;p31"/>
            <p:cNvSpPr/>
            <p:nvPr/>
          </p:nvSpPr>
          <p:spPr>
            <a:xfrm>
              <a:off x="1852413" y="2807800"/>
              <a:ext cx="480900" cy="207300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374" name="Google Shape;374;p31"/>
            <p:cNvSpPr/>
            <p:nvPr/>
          </p:nvSpPr>
          <p:spPr>
            <a:xfrm>
              <a:off x="2333325" y="2807800"/>
              <a:ext cx="480900" cy="207300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375" name="Google Shape;375;p31"/>
            <p:cNvSpPr/>
            <p:nvPr/>
          </p:nvSpPr>
          <p:spPr>
            <a:xfrm>
              <a:off x="2814225" y="2807800"/>
              <a:ext cx="480900" cy="207300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376" name="Google Shape;376;p31"/>
            <p:cNvSpPr/>
            <p:nvPr/>
          </p:nvSpPr>
          <p:spPr>
            <a:xfrm>
              <a:off x="3278313" y="2807800"/>
              <a:ext cx="480900" cy="207300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377" name="Google Shape;377;p31"/>
            <p:cNvSpPr/>
            <p:nvPr/>
          </p:nvSpPr>
          <p:spPr>
            <a:xfrm>
              <a:off x="3759225" y="2807800"/>
              <a:ext cx="480900" cy="207300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378" name="Google Shape;378;p31"/>
            <p:cNvSpPr/>
            <p:nvPr/>
          </p:nvSpPr>
          <p:spPr>
            <a:xfrm>
              <a:off x="4223325" y="2807800"/>
              <a:ext cx="480900" cy="2073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379" name="Google Shape;379;p31"/>
            <p:cNvSpPr txBox="1"/>
            <p:nvPr/>
          </p:nvSpPr>
          <p:spPr>
            <a:xfrm>
              <a:off x="1303800" y="1849450"/>
              <a:ext cx="3454800" cy="82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1100" u="none" cap="none" strike="noStrik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Here, BUFFER_SIZE = 7</a:t>
              </a:r>
              <a:endParaRPr b="0" i="0" sz="11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 cap="none" strike="noStrik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When buffer is full, </a:t>
              </a:r>
              <a:endParaRPr b="0" i="0" sz="12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 cap="none" strike="noStrik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in = 6 , out = 0 </a:t>
              </a:r>
              <a:endParaRPr b="0" i="0" sz="12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380" name="Google Shape;380;p31"/>
            <p:cNvSpPr txBox="1"/>
            <p:nvPr/>
          </p:nvSpPr>
          <p:spPr>
            <a:xfrm>
              <a:off x="1440950" y="2926300"/>
              <a:ext cx="3241500" cy="20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[0]      [1]       [2]        [3]       [4]      [5]     [6]</a:t>
              </a:r>
              <a:endParaRPr b="0" i="0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</p:grpSp>
      <p:grpSp>
        <p:nvGrpSpPr>
          <p:cNvPr id="381" name="Google Shape;381;p31"/>
          <p:cNvGrpSpPr/>
          <p:nvPr/>
        </p:nvGrpSpPr>
        <p:grpSpPr>
          <a:xfrm>
            <a:off x="5190000" y="3522750"/>
            <a:ext cx="3567300" cy="1057225"/>
            <a:chOff x="1380000" y="3522750"/>
            <a:chExt cx="3567300" cy="1057225"/>
          </a:xfrm>
        </p:grpSpPr>
        <p:sp>
          <p:nvSpPr>
            <p:cNvPr id="382" name="Google Shape;382;p31"/>
            <p:cNvSpPr txBox="1"/>
            <p:nvPr/>
          </p:nvSpPr>
          <p:spPr>
            <a:xfrm>
              <a:off x="1380000" y="3522750"/>
              <a:ext cx="3567300" cy="49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en" sz="1300" u="none" cap="none" strike="noStrik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When buffer is not full,  </a:t>
              </a:r>
              <a:endParaRPr b="0" i="0" sz="13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en" sz="1300" u="none" cap="none" strike="noStrik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		In = 4, out = 0</a:t>
              </a:r>
              <a:endParaRPr b="0" i="0" sz="13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383" name="Google Shape;383;p31"/>
            <p:cNvSpPr/>
            <p:nvPr/>
          </p:nvSpPr>
          <p:spPr>
            <a:xfrm>
              <a:off x="1440950" y="4254175"/>
              <a:ext cx="480900" cy="207300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384" name="Google Shape;384;p31"/>
            <p:cNvSpPr/>
            <p:nvPr/>
          </p:nvSpPr>
          <p:spPr>
            <a:xfrm>
              <a:off x="1905038" y="4254175"/>
              <a:ext cx="480900" cy="207300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385" name="Google Shape;385;p31"/>
            <p:cNvSpPr/>
            <p:nvPr/>
          </p:nvSpPr>
          <p:spPr>
            <a:xfrm>
              <a:off x="2385950" y="4254175"/>
              <a:ext cx="480900" cy="207300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386" name="Google Shape;386;p31"/>
            <p:cNvSpPr/>
            <p:nvPr/>
          </p:nvSpPr>
          <p:spPr>
            <a:xfrm>
              <a:off x="2866850" y="4254175"/>
              <a:ext cx="480900" cy="207300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387" name="Google Shape;387;p31"/>
            <p:cNvSpPr/>
            <p:nvPr/>
          </p:nvSpPr>
          <p:spPr>
            <a:xfrm>
              <a:off x="3330938" y="4254175"/>
              <a:ext cx="480900" cy="2073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388" name="Google Shape;388;p31"/>
            <p:cNvSpPr/>
            <p:nvPr/>
          </p:nvSpPr>
          <p:spPr>
            <a:xfrm>
              <a:off x="3811850" y="4254175"/>
              <a:ext cx="480900" cy="2073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389" name="Google Shape;389;p31"/>
            <p:cNvSpPr/>
            <p:nvPr/>
          </p:nvSpPr>
          <p:spPr>
            <a:xfrm>
              <a:off x="4275950" y="4254175"/>
              <a:ext cx="480900" cy="2073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390" name="Google Shape;390;p31"/>
            <p:cNvSpPr txBox="1"/>
            <p:nvPr/>
          </p:nvSpPr>
          <p:spPr>
            <a:xfrm>
              <a:off x="1493575" y="4372675"/>
              <a:ext cx="3241500" cy="20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[0]       [1]       [2]       [3]      [4]       [5]      [6]</a:t>
              </a:r>
              <a:endParaRPr b="0" i="0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 sz="2600"/>
              <a:t>Producer-Consumer Problem (Consumer)</a:t>
            </a:r>
            <a:endParaRPr sz="2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t/>
            </a:r>
            <a:endParaRPr sz="2600"/>
          </a:p>
        </p:txBody>
      </p:sp>
      <p:pic>
        <p:nvPicPr>
          <p:cNvPr id="396" name="Google Shape;396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87375" y="1477248"/>
            <a:ext cx="3257200" cy="1704602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97" name="Google Shape;397;p32"/>
          <p:cNvSpPr txBox="1"/>
          <p:nvPr/>
        </p:nvSpPr>
        <p:spPr>
          <a:xfrm>
            <a:off x="5591950" y="1597875"/>
            <a:ext cx="2837400" cy="14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in</a:t>
            </a:r>
            <a:r>
              <a:rPr b="0" i="0" lang="en" sz="12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: next free position in buffer</a:t>
            </a:r>
            <a:endParaRPr b="0" i="0" sz="12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out</a:t>
            </a:r>
            <a:r>
              <a:rPr b="0" i="0" lang="en" sz="12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: first full position in buffer</a:t>
            </a:r>
            <a:endParaRPr b="0" i="0" sz="12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Both initialized with 0. </a:t>
            </a:r>
            <a:endParaRPr b="0" i="0" sz="12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in = 0</a:t>
            </a:r>
            <a:endParaRPr b="0" i="0" sz="12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out = 0</a:t>
            </a:r>
            <a:endParaRPr b="0" i="0" sz="12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grpSp>
        <p:nvGrpSpPr>
          <p:cNvPr id="398" name="Google Shape;398;p32"/>
          <p:cNvGrpSpPr/>
          <p:nvPr/>
        </p:nvGrpSpPr>
        <p:grpSpPr>
          <a:xfrm>
            <a:off x="1303800" y="3295825"/>
            <a:ext cx="3454800" cy="1284150"/>
            <a:chOff x="1303800" y="1849450"/>
            <a:chExt cx="3454800" cy="1284150"/>
          </a:xfrm>
        </p:grpSpPr>
        <p:sp>
          <p:nvSpPr>
            <p:cNvPr id="399" name="Google Shape;399;p32"/>
            <p:cNvSpPr/>
            <p:nvPr/>
          </p:nvSpPr>
          <p:spPr>
            <a:xfrm>
              <a:off x="1388325" y="2807800"/>
              <a:ext cx="480900" cy="2073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" name="Google Shape;400;p32"/>
            <p:cNvSpPr/>
            <p:nvPr/>
          </p:nvSpPr>
          <p:spPr>
            <a:xfrm>
              <a:off x="1852413" y="2807800"/>
              <a:ext cx="480900" cy="2073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" name="Google Shape;401;p32"/>
            <p:cNvSpPr/>
            <p:nvPr/>
          </p:nvSpPr>
          <p:spPr>
            <a:xfrm>
              <a:off x="2333325" y="2807800"/>
              <a:ext cx="480900" cy="2073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" name="Google Shape;402;p32"/>
            <p:cNvSpPr/>
            <p:nvPr/>
          </p:nvSpPr>
          <p:spPr>
            <a:xfrm>
              <a:off x="2814225" y="2807800"/>
              <a:ext cx="480900" cy="2073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" name="Google Shape;403;p32"/>
            <p:cNvSpPr/>
            <p:nvPr/>
          </p:nvSpPr>
          <p:spPr>
            <a:xfrm>
              <a:off x="3278313" y="2807800"/>
              <a:ext cx="480900" cy="2073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" name="Google Shape;404;p32"/>
            <p:cNvSpPr/>
            <p:nvPr/>
          </p:nvSpPr>
          <p:spPr>
            <a:xfrm>
              <a:off x="3759225" y="2807800"/>
              <a:ext cx="480900" cy="2073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" name="Google Shape;405;p32"/>
            <p:cNvSpPr/>
            <p:nvPr/>
          </p:nvSpPr>
          <p:spPr>
            <a:xfrm>
              <a:off x="4223325" y="2807800"/>
              <a:ext cx="480900" cy="2073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" name="Google Shape;406;p32"/>
            <p:cNvSpPr txBox="1"/>
            <p:nvPr/>
          </p:nvSpPr>
          <p:spPr>
            <a:xfrm>
              <a:off x="1303800" y="1849450"/>
              <a:ext cx="3454800" cy="82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1100" u="none" cap="none" strike="noStrik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Here, BUFFER_SIZE = 7</a:t>
              </a:r>
              <a:endParaRPr b="0" i="0" sz="11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 cap="none" strike="noStrik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When buffer is empty, </a:t>
              </a:r>
              <a:endParaRPr b="0" i="0" sz="12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 cap="none" strike="noStrik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in = 0 , out = 0 </a:t>
              </a:r>
              <a:endParaRPr b="0" i="0" sz="12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407" name="Google Shape;407;p32"/>
            <p:cNvSpPr txBox="1"/>
            <p:nvPr/>
          </p:nvSpPr>
          <p:spPr>
            <a:xfrm>
              <a:off x="1440950" y="2926300"/>
              <a:ext cx="3241500" cy="20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[0]     [1]      [2]     [3]      [4]      [5]     [6]</a:t>
              </a:r>
              <a:endParaRPr b="0" i="0" sz="14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408" name="Google Shape;408;p32"/>
          <p:cNvGrpSpPr/>
          <p:nvPr/>
        </p:nvGrpSpPr>
        <p:grpSpPr>
          <a:xfrm>
            <a:off x="5190000" y="3522750"/>
            <a:ext cx="3567300" cy="1057225"/>
            <a:chOff x="1380000" y="3522750"/>
            <a:chExt cx="3567300" cy="1057225"/>
          </a:xfrm>
        </p:grpSpPr>
        <p:sp>
          <p:nvSpPr>
            <p:cNvPr id="409" name="Google Shape;409;p32"/>
            <p:cNvSpPr txBox="1"/>
            <p:nvPr/>
          </p:nvSpPr>
          <p:spPr>
            <a:xfrm>
              <a:off x="1380000" y="3522750"/>
              <a:ext cx="3567300" cy="49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en" sz="1300" u="none" cap="none" strike="noStrik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When buffer is not empty,  </a:t>
              </a:r>
              <a:endParaRPr b="0" i="0" sz="13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en" sz="1300" u="none" cap="none" strike="noStrik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		In = 5, out = 0</a:t>
              </a:r>
              <a:endParaRPr b="0" i="0" sz="13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410" name="Google Shape;410;p32"/>
            <p:cNvSpPr/>
            <p:nvPr/>
          </p:nvSpPr>
          <p:spPr>
            <a:xfrm>
              <a:off x="1440950" y="4254175"/>
              <a:ext cx="480900" cy="207300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" name="Google Shape;411;p32"/>
            <p:cNvSpPr/>
            <p:nvPr/>
          </p:nvSpPr>
          <p:spPr>
            <a:xfrm>
              <a:off x="1905038" y="4254175"/>
              <a:ext cx="480900" cy="207300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" name="Google Shape;412;p32"/>
            <p:cNvSpPr/>
            <p:nvPr/>
          </p:nvSpPr>
          <p:spPr>
            <a:xfrm>
              <a:off x="2385950" y="4254175"/>
              <a:ext cx="480900" cy="207300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" name="Google Shape;413;p32"/>
            <p:cNvSpPr/>
            <p:nvPr/>
          </p:nvSpPr>
          <p:spPr>
            <a:xfrm>
              <a:off x="2866850" y="4254175"/>
              <a:ext cx="480900" cy="207300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" name="Google Shape;414;p32"/>
            <p:cNvSpPr/>
            <p:nvPr/>
          </p:nvSpPr>
          <p:spPr>
            <a:xfrm>
              <a:off x="3330938" y="4254175"/>
              <a:ext cx="480900" cy="207300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" name="Google Shape;415;p32"/>
            <p:cNvSpPr/>
            <p:nvPr/>
          </p:nvSpPr>
          <p:spPr>
            <a:xfrm>
              <a:off x="3811850" y="4254175"/>
              <a:ext cx="480900" cy="2073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" name="Google Shape;416;p32"/>
            <p:cNvSpPr/>
            <p:nvPr/>
          </p:nvSpPr>
          <p:spPr>
            <a:xfrm>
              <a:off x="4275950" y="4254175"/>
              <a:ext cx="480900" cy="2073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" name="Google Shape;417;p32"/>
            <p:cNvSpPr txBox="1"/>
            <p:nvPr/>
          </p:nvSpPr>
          <p:spPr>
            <a:xfrm>
              <a:off x="1493575" y="4372675"/>
              <a:ext cx="3241500" cy="20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[0]     [1]      [2]     [3]      [4]      [5]     [6]</a:t>
              </a:r>
              <a:endParaRPr b="0" i="0" sz="14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33"/>
          <p:cNvSpPr txBox="1"/>
          <p:nvPr>
            <p:ph type="title"/>
          </p:nvPr>
        </p:nvSpPr>
        <p:spPr>
          <a:xfrm>
            <a:off x="437925" y="517175"/>
            <a:ext cx="7030500" cy="69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Message Passing System</a:t>
            </a:r>
            <a:endParaRPr/>
          </a:p>
        </p:txBody>
      </p:sp>
      <p:sp>
        <p:nvSpPr>
          <p:cNvPr id="423" name="Google Shape;423;p33"/>
          <p:cNvSpPr txBox="1"/>
          <p:nvPr/>
        </p:nvSpPr>
        <p:spPr>
          <a:xfrm>
            <a:off x="437925" y="1309525"/>
            <a:ext cx="7480800" cy="11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If processes P and Q want to communicate, they must </a:t>
            </a:r>
            <a:r>
              <a:rPr b="0" i="1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send </a:t>
            </a:r>
            <a:r>
              <a:rPr b="0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messages to and </a:t>
            </a:r>
            <a:r>
              <a:rPr b="0" i="1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receive </a:t>
            </a:r>
            <a:r>
              <a:rPr b="0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messages from each other. </a:t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A communication link must exist between P and Q. </a:t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grpSp>
        <p:nvGrpSpPr>
          <p:cNvPr id="424" name="Google Shape;424;p33"/>
          <p:cNvGrpSpPr/>
          <p:nvPr/>
        </p:nvGrpSpPr>
        <p:grpSpPr>
          <a:xfrm>
            <a:off x="2079600" y="2605875"/>
            <a:ext cx="4970325" cy="1360425"/>
            <a:chOff x="2079600" y="3063075"/>
            <a:chExt cx="4970325" cy="1360425"/>
          </a:xfrm>
        </p:grpSpPr>
        <p:sp>
          <p:nvSpPr>
            <p:cNvPr id="425" name="Google Shape;425;p33"/>
            <p:cNvSpPr/>
            <p:nvPr/>
          </p:nvSpPr>
          <p:spPr>
            <a:xfrm>
              <a:off x="3433925" y="3722550"/>
              <a:ext cx="577200" cy="3183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" name="Google Shape;426;p33"/>
            <p:cNvSpPr/>
            <p:nvPr/>
          </p:nvSpPr>
          <p:spPr>
            <a:xfrm>
              <a:off x="4011125" y="3722550"/>
              <a:ext cx="577200" cy="3183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427;p33"/>
            <p:cNvSpPr/>
            <p:nvPr/>
          </p:nvSpPr>
          <p:spPr>
            <a:xfrm>
              <a:off x="4588325" y="3722550"/>
              <a:ext cx="577200" cy="3183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428;p33"/>
            <p:cNvSpPr/>
            <p:nvPr/>
          </p:nvSpPr>
          <p:spPr>
            <a:xfrm>
              <a:off x="5165525" y="3722550"/>
              <a:ext cx="577200" cy="3183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" name="Google Shape;429;p33"/>
            <p:cNvSpPr/>
            <p:nvPr/>
          </p:nvSpPr>
          <p:spPr>
            <a:xfrm>
              <a:off x="2079600" y="3582000"/>
              <a:ext cx="629100" cy="599400"/>
            </a:xfrm>
            <a:prstGeom prst="ellipse">
              <a:avLst/>
            </a:prstGeom>
            <a:solidFill>
              <a:srgbClr val="D9D9D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" name="Google Shape;430;p33"/>
            <p:cNvSpPr/>
            <p:nvPr/>
          </p:nvSpPr>
          <p:spPr>
            <a:xfrm>
              <a:off x="6420825" y="3582000"/>
              <a:ext cx="629100" cy="599400"/>
            </a:xfrm>
            <a:prstGeom prst="ellipse">
              <a:avLst/>
            </a:prstGeom>
            <a:solidFill>
              <a:srgbClr val="D9D9D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Q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31" name="Google Shape;431;p33"/>
            <p:cNvCxnSpPr>
              <a:stCxn id="429" idx="0"/>
              <a:endCxn id="426" idx="0"/>
            </p:cNvCxnSpPr>
            <p:nvPr/>
          </p:nvCxnSpPr>
          <p:spPr>
            <a:xfrm flipH="1" rot="-5400000">
              <a:off x="3276600" y="2699550"/>
              <a:ext cx="140700" cy="1905600"/>
            </a:xfrm>
            <a:prstGeom prst="bentConnector3">
              <a:avLst>
                <a:gd fmla="val 2105386" name="adj1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32" name="Google Shape;432;p33"/>
            <p:cNvCxnSpPr>
              <a:endCxn id="430" idx="4"/>
            </p:cNvCxnSpPr>
            <p:nvPr/>
          </p:nvCxnSpPr>
          <p:spPr>
            <a:xfrm>
              <a:off x="4299675" y="4055700"/>
              <a:ext cx="2435700" cy="125700"/>
            </a:xfrm>
            <a:prstGeom prst="bentConnector4">
              <a:avLst>
                <a:gd fmla="val 310" name="adj1"/>
                <a:gd fmla="val 2835500" name="adj2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33" name="Google Shape;433;p33"/>
            <p:cNvSpPr txBox="1"/>
            <p:nvPr/>
          </p:nvSpPr>
          <p:spPr>
            <a:xfrm>
              <a:off x="2639000" y="3063075"/>
              <a:ext cx="1253700" cy="31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" sz="11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send(message)</a:t>
              </a:r>
              <a:endParaRPr b="1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4" name="Google Shape;434;p33"/>
            <p:cNvSpPr txBox="1"/>
            <p:nvPr/>
          </p:nvSpPr>
          <p:spPr>
            <a:xfrm>
              <a:off x="4803075" y="4105200"/>
              <a:ext cx="1373400" cy="31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" sz="11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receive(message)</a:t>
              </a:r>
              <a:endParaRPr b="1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35" name="Google Shape;435;p33"/>
          <p:cNvSpPr txBox="1"/>
          <p:nvPr/>
        </p:nvSpPr>
        <p:spPr>
          <a:xfrm>
            <a:off x="437925" y="4139175"/>
            <a:ext cx="5750400" cy="6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Spectral"/>
              <a:buChar char="●"/>
            </a:pPr>
            <a:r>
              <a:rPr b="0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Useful for exchanging small amount of data</a:t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Spectral"/>
              <a:buChar char="●"/>
            </a:pPr>
            <a:r>
              <a:rPr b="0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More suited for distributed systems than shared memory </a:t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2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2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2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2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2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2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